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ink/ink1.xml" ContentType="application/inkml+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47" r:id="rId4"/>
    <p:sldMasterId id="2147485551" r:id="rId5"/>
  </p:sldMasterIdLst>
  <p:notesMasterIdLst>
    <p:notesMasterId r:id="rId49"/>
  </p:notesMasterIdLst>
  <p:handoutMasterIdLst>
    <p:handoutMasterId r:id="rId50"/>
  </p:handoutMasterIdLst>
  <p:sldIdLst>
    <p:sldId id="1661" r:id="rId6"/>
    <p:sldId id="2147482839" r:id="rId7"/>
    <p:sldId id="2147481890" r:id="rId8"/>
    <p:sldId id="2147481887" r:id="rId9"/>
    <p:sldId id="262" r:id="rId10"/>
    <p:sldId id="2147482842" r:id="rId11"/>
    <p:sldId id="2147482829" r:id="rId12"/>
    <p:sldId id="2147482841" r:id="rId13"/>
    <p:sldId id="2147481906" r:id="rId14"/>
    <p:sldId id="2147482834" r:id="rId15"/>
    <p:sldId id="2147482852" r:id="rId16"/>
    <p:sldId id="2147482854" r:id="rId17"/>
    <p:sldId id="2147482856" r:id="rId18"/>
    <p:sldId id="2147482855" r:id="rId19"/>
    <p:sldId id="2147482858" r:id="rId20"/>
    <p:sldId id="2147482859" r:id="rId21"/>
    <p:sldId id="2147482860" r:id="rId22"/>
    <p:sldId id="2147482857" r:id="rId23"/>
    <p:sldId id="2147482861" r:id="rId24"/>
    <p:sldId id="2147482837" r:id="rId25"/>
    <p:sldId id="2147482880" r:id="rId26"/>
    <p:sldId id="304" r:id="rId27"/>
    <p:sldId id="306" r:id="rId28"/>
    <p:sldId id="307" r:id="rId29"/>
    <p:sldId id="2147482863" r:id="rId30"/>
    <p:sldId id="2147482881" r:id="rId31"/>
    <p:sldId id="2147482882" r:id="rId32"/>
    <p:sldId id="2147482883" r:id="rId33"/>
    <p:sldId id="2147482884" r:id="rId34"/>
    <p:sldId id="2147482846" r:id="rId35"/>
    <p:sldId id="2147481848" r:id="rId36"/>
    <p:sldId id="2147482849" r:id="rId37"/>
    <p:sldId id="2147481867" r:id="rId38"/>
    <p:sldId id="2147481905" r:id="rId39"/>
    <p:sldId id="2147481895" r:id="rId40"/>
    <p:sldId id="2147481888" r:id="rId41"/>
    <p:sldId id="2147482847" r:id="rId42"/>
    <p:sldId id="297" r:id="rId43"/>
    <p:sldId id="2147481876" r:id="rId44"/>
    <p:sldId id="292" r:id="rId45"/>
    <p:sldId id="2147481827" r:id="rId46"/>
    <p:sldId id="2147481900" r:id="rId47"/>
    <p:sldId id="260" r:id="rId48"/>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Microsoft AI Tour 16:9 Template Light" id="{38B656EC-D568-4EF7-8842-9FA1AE1192C9}">
          <p14:sldIdLst>
            <p14:sldId id="1661"/>
            <p14:sldId id="2147482839"/>
            <p14:sldId id="2147481890"/>
            <p14:sldId id="2147481887"/>
            <p14:sldId id="262"/>
            <p14:sldId id="2147482842"/>
            <p14:sldId id="2147482829"/>
            <p14:sldId id="2147482841"/>
            <p14:sldId id="2147481906"/>
            <p14:sldId id="2147482834"/>
            <p14:sldId id="2147482852"/>
            <p14:sldId id="2147482854"/>
            <p14:sldId id="2147482856"/>
            <p14:sldId id="2147482855"/>
            <p14:sldId id="2147482858"/>
            <p14:sldId id="2147482859"/>
            <p14:sldId id="2147482860"/>
            <p14:sldId id="2147482857"/>
            <p14:sldId id="2147482861"/>
            <p14:sldId id="2147482837"/>
            <p14:sldId id="2147482880"/>
            <p14:sldId id="304"/>
            <p14:sldId id="306"/>
            <p14:sldId id="307"/>
            <p14:sldId id="2147482863"/>
            <p14:sldId id="2147482881"/>
            <p14:sldId id="2147482882"/>
            <p14:sldId id="2147482883"/>
            <p14:sldId id="2147482884"/>
            <p14:sldId id="2147482846"/>
            <p14:sldId id="2147481848"/>
            <p14:sldId id="2147482849"/>
            <p14:sldId id="2147481867"/>
            <p14:sldId id="2147481905"/>
            <p14:sldId id="2147481895"/>
            <p14:sldId id="2147481888"/>
            <p14:sldId id="2147482847"/>
            <p14:sldId id="297"/>
            <p14:sldId id="2147481876"/>
            <p14:sldId id="292"/>
            <p14:sldId id="2147481827"/>
            <p14:sldId id="2147481900"/>
            <p14:sldId id="26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8591A8B-A833-CFD2-9EA7-F5CE82A0E9EC}" name="Josh Oh" initials="JO" userId="S::joshoh@microsoft.com::234851e1-8e4d-4451-8a2f-bc80193e3756" providerId="AD"/>
  <p188:author id="{201CA29D-D065-D46C-4D71-1AC81FFA7C1A}" name="Farzad Sunavala" initials="FS" userId="S::fsunavala@microsoft.com::c7b9be82-5bba-4f43-b49e-53051c7debcd" providerId="AD"/>
  <p188:author id="{526DF9A2-33C5-A206-06EC-FB815EEEF4C6}" name="Pamela Fox" initials="PF" userId="S::pamelafox@microsoft.com::05c421f6-d446-4f2a-8ee0-1060b47b1543" providerId="AD"/>
  <p188:author id="{6AFA61D8-796F-555E-A395-B33F90AAF99E}" name="Monica Lueder" initials="ML" userId="S::monical@microsoft.com::75969e72-ba9c-4e32-a4ac-c8f3aeff9ba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CEA8"/>
    <a:srgbClr val="CE9178"/>
    <a:srgbClr val="D9D9D6"/>
    <a:srgbClr val="399A91"/>
    <a:srgbClr val="BFBFBF"/>
    <a:srgbClr val="005A9F"/>
    <a:srgbClr val="2A446F"/>
    <a:srgbClr val="4D3677"/>
    <a:srgbClr val="8661C5"/>
    <a:srgbClr val="D4EC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3D1501-96B1-4E36-B678-A1E62D2F7C0C}" v="559" dt="2025-04-22T22:25:11.569"/>
    <p1510:client id="{45B4D3A7-AA6A-4523-875D-9BC123E49A2C}" v="470" dt="2025-04-23T18:29:54.647"/>
    <p1510:client id="{6A62E32B-CE5E-C240-8883-6B8ACBD792C7}" v="53" dt="2025-04-23T18:40:26.6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12"/>
    <p:restoredTop sz="94660"/>
  </p:normalViewPr>
  <p:slideViewPr>
    <p:cSldViewPr snapToGrid="0">
      <p:cViewPr varScale="1">
        <p:scale>
          <a:sx n="156" d="100"/>
          <a:sy n="156" d="100"/>
        </p:scale>
        <p:origin x="696" y="480"/>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microsoft.com/office/2015/10/relationships/revisionInfo" Target="revisionInfo.xml"/><Relationship Id="rId8" Type="http://schemas.openxmlformats.org/officeDocument/2006/relationships/slide" Target="slides/slide3.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notesMaster" Target="notesMasters/notesMaster1.xml"/><Relationship Id="rId57" Type="http://schemas.microsoft.com/office/2018/10/relationships/authors" Target="author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678856134573488"/>
          <c:y val="2.7013267342917438E-2"/>
          <c:w val="0.7338792392497826"/>
          <c:h val="0.70909965342890235"/>
        </c:manualLayout>
      </c:layout>
      <c:barChart>
        <c:barDir val="col"/>
        <c:grouping val="clustered"/>
        <c:varyColors val="0"/>
        <c:ser>
          <c:idx val="0"/>
          <c:order val="0"/>
          <c:tx>
            <c:strRef>
              <c:f>Sheet2!$B$20</c:f>
              <c:strCache>
                <c:ptCount val="1"/>
                <c:pt idx="0">
                  <c:v>Previous Vector Limit</c:v>
                </c:pt>
              </c:strCache>
            </c:strRef>
          </c:tx>
          <c:spPr>
            <a:gradFill flip="none" rotWithShape="1">
              <a:gsLst>
                <a:gs pos="0">
                  <a:srgbClr val="1E8AB1"/>
                </a:gs>
                <a:gs pos="64000">
                  <a:srgbClr val="399A91"/>
                </a:gs>
              </a:gsLst>
              <a:lin ang="5400000" scaled="0"/>
              <a:tileRect/>
            </a:gra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c:spPr>
          <c:invertIfNegative val="0"/>
          <c:cat>
            <c:strRef>
              <c:f>Sheet2!$A$21:$A$26</c:f>
              <c:strCache>
                <c:ptCount val="6"/>
                <c:pt idx="0">
                  <c:v>Basic</c:v>
                </c:pt>
                <c:pt idx="1">
                  <c:v>S1</c:v>
                </c:pt>
                <c:pt idx="2">
                  <c:v>S2</c:v>
                </c:pt>
                <c:pt idx="3">
                  <c:v>S3</c:v>
                </c:pt>
                <c:pt idx="4">
                  <c:v>L1</c:v>
                </c:pt>
                <c:pt idx="5">
                  <c:v>L2</c:v>
                </c:pt>
              </c:strCache>
            </c:strRef>
          </c:cat>
          <c:val>
            <c:numRef>
              <c:f>Sheet2!$B$21:$B$26</c:f>
              <c:numCache>
                <c:formatCode>General</c:formatCode>
                <c:ptCount val="6"/>
                <c:pt idx="0">
                  <c:v>1</c:v>
                </c:pt>
                <c:pt idx="1">
                  <c:v>36</c:v>
                </c:pt>
                <c:pt idx="2">
                  <c:v>144</c:v>
                </c:pt>
                <c:pt idx="3">
                  <c:v>432</c:v>
                </c:pt>
                <c:pt idx="4">
                  <c:v>144</c:v>
                </c:pt>
                <c:pt idx="5">
                  <c:v>432</c:v>
                </c:pt>
              </c:numCache>
            </c:numRef>
          </c:val>
          <c:extLst>
            <c:ext xmlns:c16="http://schemas.microsoft.com/office/drawing/2014/chart" uri="{C3380CC4-5D6E-409C-BE32-E72D297353CC}">
              <c16:uniqueId val="{00000000-EC99-4841-BC43-BA5967664309}"/>
            </c:ext>
          </c:extLst>
        </c:ser>
        <c:ser>
          <c:idx val="1"/>
          <c:order val="1"/>
          <c:tx>
            <c:strRef>
              <c:f>Sheet2!$C$20</c:f>
              <c:strCache>
                <c:ptCount val="1"/>
                <c:pt idx="0">
                  <c:v>New Vector Limit</c:v>
                </c:pt>
              </c:strCache>
            </c:strRef>
          </c:tx>
          <c:spPr>
            <a:gradFill flip="none" rotWithShape="1">
              <a:gsLst>
                <a:gs pos="0">
                  <a:srgbClr val="C03BC4"/>
                </a:gs>
                <a:gs pos="100000">
                  <a:srgbClr val="0078D4"/>
                </a:gs>
              </a:gsLst>
              <a:lin ang="5400000" scaled="0"/>
              <a:tileRect/>
            </a:gra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c:spPr>
          <c:invertIfNegative val="0"/>
          <c:cat>
            <c:strRef>
              <c:f>Sheet2!$A$21:$A$26</c:f>
              <c:strCache>
                <c:ptCount val="6"/>
                <c:pt idx="0">
                  <c:v>Basic</c:v>
                </c:pt>
                <c:pt idx="1">
                  <c:v>S1</c:v>
                </c:pt>
                <c:pt idx="2">
                  <c:v>S2</c:v>
                </c:pt>
                <c:pt idx="3">
                  <c:v>S3</c:v>
                </c:pt>
                <c:pt idx="4">
                  <c:v>L1</c:v>
                </c:pt>
                <c:pt idx="5">
                  <c:v>L2</c:v>
                </c:pt>
              </c:strCache>
            </c:strRef>
          </c:cat>
          <c:val>
            <c:numRef>
              <c:f>Sheet2!$C$21:$C$26</c:f>
              <c:numCache>
                <c:formatCode>General</c:formatCode>
                <c:ptCount val="6"/>
                <c:pt idx="0">
                  <c:v>5</c:v>
                </c:pt>
                <c:pt idx="1">
                  <c:v>420</c:v>
                </c:pt>
                <c:pt idx="2">
                  <c:v>1800</c:v>
                </c:pt>
                <c:pt idx="3">
                  <c:v>3600</c:v>
                </c:pt>
                <c:pt idx="4">
                  <c:v>1800</c:v>
                </c:pt>
                <c:pt idx="5">
                  <c:v>3600</c:v>
                </c:pt>
              </c:numCache>
            </c:numRef>
          </c:val>
          <c:extLst>
            <c:ext xmlns:c16="http://schemas.microsoft.com/office/drawing/2014/chart" uri="{C3380CC4-5D6E-409C-BE32-E72D297353CC}">
              <c16:uniqueId val="{00000001-EC99-4841-BC43-BA5967664309}"/>
            </c:ext>
          </c:extLst>
        </c:ser>
        <c:dLbls>
          <c:showLegendKey val="0"/>
          <c:showVal val="0"/>
          <c:showCatName val="0"/>
          <c:showSerName val="0"/>
          <c:showPercent val="0"/>
          <c:showBubbleSize val="0"/>
        </c:dLbls>
        <c:gapWidth val="21"/>
        <c:overlap val="11"/>
        <c:axId val="140111248"/>
        <c:axId val="140112688"/>
      </c:barChart>
      <c:catAx>
        <c:axId val="140111248"/>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lang="ja-JP" sz="1200" b="0" i="0" u="none" strike="noStrike" kern="1200" baseline="0">
                <a:solidFill>
                  <a:schemeClr val="tx1"/>
                </a:solidFill>
                <a:latin typeface="+mn-lt"/>
                <a:ea typeface="+mn-ea"/>
                <a:cs typeface="+mn-cs"/>
              </a:defRPr>
            </a:pPr>
            <a:endParaRPr lang="en-US"/>
          </a:p>
        </c:txPr>
        <c:crossAx val="140112688"/>
        <c:crosses val="autoZero"/>
        <c:auto val="1"/>
        <c:lblAlgn val="ctr"/>
        <c:lblOffset val="100"/>
        <c:noMultiLvlLbl val="0"/>
      </c:catAx>
      <c:valAx>
        <c:axId val="140112688"/>
        <c:scaling>
          <c:orientation val="minMax"/>
          <c:max val="3700"/>
          <c:min val="0"/>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lang="ja-JP" sz="1200" b="0" i="0" u="none" strike="noStrike" kern="1200" cap="all" baseline="0">
                    <a:solidFill>
                      <a:schemeClr val="tx1"/>
                    </a:solidFill>
                    <a:latin typeface="+mj-lt"/>
                    <a:ea typeface="+mn-ea"/>
                    <a:cs typeface="+mn-cs"/>
                  </a:defRPr>
                </a:pPr>
                <a:r>
                  <a:rPr lang="en-US" b="0" cap="none" baseline="0">
                    <a:latin typeface="+mj-lt"/>
                  </a:rPr>
                  <a:t>Total vector limit (GB/service)</a:t>
                </a:r>
              </a:p>
            </c:rich>
          </c:tx>
          <c:layout>
            <c:manualLayout>
              <c:xMode val="edge"/>
              <c:yMode val="edge"/>
              <c:x val="3.5756706876779037E-2"/>
              <c:y val="5.4801729865215955E-2"/>
            </c:manualLayout>
          </c:layout>
          <c:overlay val="0"/>
          <c:spPr>
            <a:noFill/>
            <a:ln>
              <a:noFill/>
            </a:ln>
            <a:effectLst/>
          </c:spPr>
          <c:txPr>
            <a:bodyPr rot="-5400000" spcFirstLastPara="1" vertOverflow="ellipsis" vert="horz" wrap="square" anchor="ctr" anchorCtr="1"/>
            <a:lstStyle/>
            <a:p>
              <a:pPr>
                <a:defRPr lang="ja-JP" sz="1200" b="0" i="0" u="none" strike="noStrike" kern="1200" cap="all" baseline="0">
                  <a:solidFill>
                    <a:schemeClr val="tx1"/>
                  </a:solidFill>
                  <a:latin typeface="+mj-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1200" b="0" i="0" u="none" strike="noStrike" kern="1200" baseline="0">
                <a:solidFill>
                  <a:schemeClr val="tx1"/>
                </a:solidFill>
                <a:latin typeface="+mn-lt"/>
                <a:ea typeface="+mn-ea"/>
                <a:cs typeface="+mn-cs"/>
              </a:defRPr>
            </a:pPr>
            <a:endParaRPr lang="en-US"/>
          </a:p>
        </c:txPr>
        <c:crossAx val="140111248"/>
        <c:crosses val="autoZero"/>
        <c:crossBetween val="between"/>
      </c:valAx>
      <c:spPr>
        <a:noFill/>
        <a:ln>
          <a:noFill/>
        </a:ln>
        <a:effectLst/>
      </c:spPr>
    </c:plotArea>
    <c:legend>
      <c:legendPos val="b"/>
      <c:layout>
        <c:manualLayout>
          <c:xMode val="edge"/>
          <c:yMode val="edge"/>
          <c:x val="0.29080714129315277"/>
          <c:y val="0.91122249759324925"/>
          <c:w val="0.56145725920024192"/>
          <c:h val="4.6932808940087549E-2"/>
        </c:manualLayout>
      </c:layout>
      <c:overlay val="0"/>
      <c:spPr>
        <a:noFill/>
        <a:ln>
          <a:noFill/>
        </a:ln>
        <a:effectLst/>
      </c:spPr>
      <c:txPr>
        <a:bodyPr rot="0" spcFirstLastPara="1" vertOverflow="ellipsis" vert="horz" wrap="square" anchor="ctr" anchorCtr="1"/>
        <a:lstStyle/>
        <a:p>
          <a:pPr>
            <a:defRPr lang="ja-JP" sz="105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sz="1200">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4/22/25 3:29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0T23:55:51.027"/>
    </inkml:context>
    <inkml:brush xml:id="br0">
      <inkml:brushProperty name="width" value="0.1" units="cm"/>
      <inkml:brushProperty name="height" value="0.1" units="cm"/>
    </inkml:brush>
  </inkml:definitions>
  <inkml:trace contextRef="#ctx0" brushRef="#br0">9562 2503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4/22/25 3:29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microsoft.sharepoint.com/:p:/t/EventSessionUploads/ETBI2pK5v7hDvH2vlQZ2WnQBQdCgziR7rnSQYpw7asrNHQ?e=WpsQvZ"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our session on building production-ready RAG applications with Azure AI Search! I'm ____, from the ___ team, and I'm excited to be in ____ today.</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2C61DAB-D93E-49CA-B245-379601CFE8D0}" type="datetime8">
              <a:rPr lang="en-US" smtClean="0"/>
              <a:t>4/22/25 3:29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442526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We're going to start off today with an introduction to RAG and an overview of vector embeddings and vector search. Then we'll see how to use Azure AI Search for state-of-the-art retrieval, how to setup the optimal data ingestion pipeline, and finally, how to evaluate answer quality and productionize your application.</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3236734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F5641-DF5C-0242-0E12-C470F2A32F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F141BD-0C8C-6A34-0A49-710CF5F4E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8C6357-36A1-EA67-1912-E1DED3257B0D}"/>
              </a:ext>
            </a:extLst>
          </p:cNvPr>
          <p:cNvSpPr>
            <a:spLocks noGrp="1"/>
          </p:cNvSpPr>
          <p:nvPr>
            <p:ph type="body" idx="1"/>
          </p:nvPr>
        </p:nvSpPr>
        <p:spPr/>
        <p:txBody>
          <a:bodyPr/>
          <a:lstStyle/>
          <a:p>
            <a:r>
              <a:rPr lang="en-US"/>
              <a:t>Let's talk about RAG, Retrieval-Augmented Generation. </a:t>
            </a:r>
          </a:p>
        </p:txBody>
      </p:sp>
      <p:sp>
        <p:nvSpPr>
          <p:cNvPr id="4" name="Header Placeholder 3">
            <a:extLst>
              <a:ext uri="{FF2B5EF4-FFF2-40B4-BE49-F238E27FC236}">
                <a16:creationId xmlns:a16="http://schemas.microsoft.com/office/drawing/2014/main" id="{B03F848D-EBB4-BFAC-47B9-2FC888867997}"/>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541B379E-995B-AD48-7D8A-79600A1E93E6}"/>
              </a:ext>
            </a:extLst>
          </p:cNvPr>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4ED90844-28EA-D1DE-4FFD-858E76753951}"/>
              </a:ext>
            </a:extLst>
          </p:cNvPr>
          <p:cNvSpPr>
            <a:spLocks noGrp="1"/>
          </p:cNvSpPr>
          <p:nvPr>
            <p:ph type="dt" idx="12"/>
          </p:nvPr>
        </p:nvSpPr>
        <p:spPr/>
        <p:txBody>
          <a:bodyPr/>
          <a:lstStyle/>
          <a:p>
            <a:fld id="{E2F19A73-88F5-4B80-A929-CF8E66EE5449}" type="datetime8">
              <a:rPr lang="en-US" smtClean="0"/>
              <a:t>4/22/25 3:29 PM</a:t>
            </a:fld>
            <a:endParaRPr lang="en-US"/>
          </a:p>
        </p:txBody>
      </p:sp>
      <p:sp>
        <p:nvSpPr>
          <p:cNvPr id="7" name="Slide Number Placeholder 6">
            <a:extLst>
              <a:ext uri="{FF2B5EF4-FFF2-40B4-BE49-F238E27FC236}">
                <a16:creationId xmlns:a16="http://schemas.microsoft.com/office/drawing/2014/main" id="{F853ACF6-0632-E7BA-C5FC-E175ABEFD5EE}"/>
              </a:ext>
            </a:extLst>
          </p:cNvPr>
          <p:cNvSpPr>
            <a:spLocks noGrp="1"/>
          </p:cNvSpPr>
          <p:nvPr>
            <p:ph type="sldNum" sz="quarter" idx="13"/>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1005844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D53DB-FBEF-02C5-0633-D9A512D4A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79C0BC-C24E-F033-9A59-7BBD849199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39AB58-2FFB-294B-09DE-07D5C58A3A3D}"/>
              </a:ext>
            </a:extLst>
          </p:cNvPr>
          <p:cNvSpPr>
            <a:spLocks noGrp="1"/>
          </p:cNvSpPr>
          <p:nvPr>
            <p:ph type="body" idx="1"/>
          </p:nvPr>
        </p:nvSpPr>
        <p:spPr/>
        <p:txBody>
          <a:bodyPr/>
          <a:lstStyle/>
          <a:p>
            <a:r>
              <a:rPr lang="en-US"/>
              <a:t>LLMs are basically next-word predictors. They're very good at writing text fluently in many languages, but they're not guaranteed to produce text that is relevant or accurate.</a:t>
            </a:r>
          </a:p>
          <a:p>
            <a:endParaRPr lang="en-US"/>
          </a:p>
          <a:p>
            <a:r>
              <a:rPr lang="en-US"/>
              <a:t>For example, we might ask an LLM to write code for a Python package. It will write code according to what it's seen most in its training data, even if that doesn't reflect the current documentation.</a:t>
            </a:r>
          </a:p>
          <a:p>
            <a:r>
              <a:rPr lang="en-US"/>
              <a:t>In the example in the screenshot, it produced outdated code based on an older version of the package.</a:t>
            </a:r>
          </a:p>
          <a:p>
            <a:endParaRPr lang="en-US"/>
          </a:p>
          <a:p>
            <a:r>
              <a:rPr lang="en-US"/>
              <a:t>That is an example of public knowledge, and it can potentially be resolved by updating to a newer version of the model. </a:t>
            </a:r>
          </a:p>
          <a:p>
            <a:endParaRPr lang="en-US"/>
          </a:p>
          <a:p>
            <a:r>
              <a:rPr lang="en-US"/>
              <a:t>What about private knowledge? LLMs don't inherently have any access to internal knowledge, like company documents, so they will answer based off what they saw in their training data. And they will still answer confidently, so people can easily be convinced that the answer is correct.</a:t>
            </a:r>
          </a:p>
          <a:p>
            <a:endParaRPr lang="en-US"/>
          </a:p>
          <a:p>
            <a:r>
              <a:rPr lang="en-US"/>
              <a:t>So we need to find a way to bring in internal knowledge or updated public knowledge.</a:t>
            </a:r>
          </a:p>
          <a:p>
            <a:endParaRPr lang="en-US" sz="850">
              <a:cs typeface="Segoe UI"/>
            </a:endParaRPr>
          </a:p>
        </p:txBody>
      </p:sp>
      <p:sp>
        <p:nvSpPr>
          <p:cNvPr id="4" name="Header Placeholder 3">
            <a:extLst>
              <a:ext uri="{FF2B5EF4-FFF2-40B4-BE49-F238E27FC236}">
                <a16:creationId xmlns:a16="http://schemas.microsoft.com/office/drawing/2014/main" id="{7A46AC3D-1DCF-F89D-53A4-37664332E65C}"/>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562A4696-1725-EC18-DCF8-FAF7B4869F82}"/>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07CB1EC-1670-4CC8-8E55-1205C9AB4108}"/>
              </a:ext>
            </a:extLst>
          </p:cNvPr>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a:extLst>
              <a:ext uri="{FF2B5EF4-FFF2-40B4-BE49-F238E27FC236}">
                <a16:creationId xmlns:a16="http://schemas.microsoft.com/office/drawing/2014/main" id="{1E9FD912-54EC-4DF8-9274-6A75D7386432}"/>
              </a:ext>
            </a:extLst>
          </p:cNvPr>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2100369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can you incorporate domain knowledge?</a:t>
            </a:r>
          </a:p>
          <a:p>
            <a:endParaRPr lang="en-US"/>
          </a:p>
          <a:p>
            <a:pPr marL="228600" indent="-228600">
              <a:buAutoNum type="arabicPeriod"/>
            </a:pPr>
            <a:r>
              <a:rPr lang="en-US"/>
              <a:t>Prompt engineering:. Be very </a:t>
            </a:r>
            <a:r>
              <a:rPr lang="en-US" err="1"/>
              <a:t>very</a:t>
            </a:r>
            <a:r>
              <a:rPr lang="en-US"/>
              <a:t> specific. Tell it the version, give it written examples. This only works if the answer is somewhere in it’s weights.</a:t>
            </a:r>
          </a:p>
          <a:p>
            <a:pPr marL="228600" indent="-228600">
              <a:buAutoNum type="arabicPeriod"/>
            </a:pPr>
            <a:r>
              <a:rPr lang="en-US"/>
              <a:t>Fine-tuning: Start with a base model and add at least 200 examples and run training again. Fine tuning is expensive both in the training process and in the usage. </a:t>
            </a:r>
          </a:p>
          <a:p>
            <a:pPr marL="228600" indent="-228600">
              <a:buAutoNum type="arabicPeriod"/>
            </a:pPr>
            <a:r>
              <a:rPr lang="en-US"/>
              <a:t>RAG enables learning new facts temporarily by doing a retrieval and adding/augmenting the question to the LLM with the data.</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2502804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a:t>We're focusing on the RAG approach in this session, as it's the most popular and cost-effective of the options. </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a:t>Let's walk through a simple RAG flow.</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a:t>First, the user asks a question. We use that question to search a knowledge base, and get back the top results.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a:t>We then concatenate the user question with the search results, and send both of those to an LLM, with a system prompt that tells it to answer according to the results.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a:t>We get an accurate answer back that includes citations pointing at the results.</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4/22/25 3:29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1069884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move on to an advanced RAG flow, where we'll introduce a new stage: query rewriting.</a:t>
            </a:r>
          </a:p>
          <a:p>
            <a:endParaRPr lang="en-US"/>
          </a:p>
          <a:p>
            <a:r>
              <a:rPr lang="en-US"/>
              <a:t>This time, when the user asks a question, we send their question along with the conversation history to an LLM and ask it to suggest the best search query.</a:t>
            </a:r>
          </a:p>
          <a:p>
            <a:r>
              <a:rPr lang="en-US"/>
              <a:t>This rewriting step is helpful for correcting spelling errors, translating to the language of the knowledge base, and incorporating context in multi-turn conversations.</a:t>
            </a:r>
          </a:p>
          <a:p>
            <a:r>
              <a:rPr lang="en-US"/>
              <a:t>This query rewriting step can also be used for filter building, agentic behavior, etc.</a:t>
            </a:r>
          </a:p>
          <a:p>
            <a:endParaRPr lang="en-US"/>
          </a:p>
          <a:p>
            <a:r>
              <a:rPr lang="en-US"/>
              <a:t>We use the suggested query to search the knowledge base, and the rest of the flow is the same.</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4789048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see an example of RAG on documents in action, using Azure AI Search as the retriever.</a:t>
            </a:r>
          </a:p>
          <a:p>
            <a:r>
              <a:rPr lang="en-US"/>
              <a:t>We can ask a question, and see the citation is to a document. We click that citation to see the full document, and it jumps to the page with the relevant chunk.</a:t>
            </a:r>
          </a:p>
          <a:p>
            <a:endParaRPr lang="en-US"/>
          </a:p>
          <a:p>
            <a:r>
              <a:rPr lang="en-US"/>
              <a:t>This demo is from a full repository that you can deploy yourself and customize with your own data. Check it out at </a:t>
            </a:r>
            <a:r>
              <a:rPr lang="en-US" err="1"/>
              <a:t>aka.ms</a:t>
            </a:r>
            <a:r>
              <a:rPr lang="en-US"/>
              <a:t>/</a:t>
            </a:r>
            <a:r>
              <a:rPr lang="en-US" err="1"/>
              <a:t>ragchat</a:t>
            </a:r>
            <a:endParaRPr lang="en-US"/>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3326860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we build a RAG application, there are three main ingredients that affect the quality:</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We need powerful search functionality, to be able to search massive data sets. For optimal results, we need hybrid search, a combination of vector search and full text search.</a:t>
            </a:r>
          </a:p>
          <a:p>
            <a:pPr marL="171450" indent="-171450">
              <a:buFont typeface="Arial" panose="020B0604020202020204" pitchFamily="34" charset="0"/>
              <a:buChar char="•"/>
            </a:pPr>
            <a:r>
              <a:rPr lang="en-US"/>
              <a:t>We need well prepared data in our search index. The document chunks should be a reasonable size, not too big, not too small, and the vectors should be high signal, low noise.</a:t>
            </a:r>
          </a:p>
          <a:p>
            <a:pPr marL="171450" indent="-171450">
              <a:buFont typeface="Arial" panose="020B0604020202020204" pitchFamily="34" charset="0"/>
              <a:buChar char="•"/>
            </a:pPr>
            <a:r>
              <a:rPr lang="en-US"/>
              <a:t>We need a frontier level LLM that can adhere to the system prompt, stay on-topic, and ideally support function calling for use in the query rewriting stage.</a:t>
            </a:r>
          </a:p>
          <a:p>
            <a:endParaRPr lang="en-US"/>
          </a:p>
          <a:p>
            <a:r>
              <a:rPr lang="en-US"/>
              <a:t>We're going to dive into these components today, to share everything we've learned about building high quality RAG applications.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3679941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9B102-0856-59BF-3C54-0048360E85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8AA1E1-62CF-BAFB-8F0F-0F3736B58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AC6714-12A8-FF2D-341C-315D96CC2140}"/>
              </a:ext>
            </a:extLst>
          </p:cNvPr>
          <p:cNvSpPr>
            <a:spLocks noGrp="1"/>
          </p:cNvSpPr>
          <p:nvPr>
            <p:ph type="body" idx="1"/>
          </p:nvPr>
        </p:nvSpPr>
        <p:spPr/>
        <p:txBody>
          <a:bodyPr/>
          <a:lstStyle/>
          <a:p>
            <a:r>
              <a:rPr lang="en-US"/>
              <a:t>First, let's step back and make sure we all understand vector embeddings, since we'll need to use vectors for both indexing and searching.</a:t>
            </a:r>
          </a:p>
        </p:txBody>
      </p:sp>
      <p:sp>
        <p:nvSpPr>
          <p:cNvPr id="4" name="Header Placeholder 3">
            <a:extLst>
              <a:ext uri="{FF2B5EF4-FFF2-40B4-BE49-F238E27FC236}">
                <a16:creationId xmlns:a16="http://schemas.microsoft.com/office/drawing/2014/main" id="{715D6D9A-4152-EB30-23DE-DA2D4E8D9DD1}"/>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E9371BA3-C230-5ED7-6D18-EFE206BD8DF5}"/>
              </a:ext>
            </a:extLst>
          </p:cNvPr>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7C6DF35-EE82-2CB5-E71E-14F8EFFF41FE}"/>
              </a:ext>
            </a:extLst>
          </p:cNvPr>
          <p:cNvSpPr>
            <a:spLocks noGrp="1"/>
          </p:cNvSpPr>
          <p:nvPr>
            <p:ph type="dt" idx="12"/>
          </p:nvPr>
        </p:nvSpPr>
        <p:spPr/>
        <p:txBody>
          <a:bodyPr/>
          <a:lstStyle/>
          <a:p>
            <a:fld id="{E2F19A73-88F5-4B80-A929-CF8E66EE5449}" type="datetime8">
              <a:rPr lang="en-US" smtClean="0"/>
              <a:t>4/22/25 3:29 PM</a:t>
            </a:fld>
            <a:endParaRPr lang="en-US"/>
          </a:p>
        </p:txBody>
      </p:sp>
      <p:sp>
        <p:nvSpPr>
          <p:cNvPr id="7" name="Slide Number Placeholder 6">
            <a:extLst>
              <a:ext uri="{FF2B5EF4-FFF2-40B4-BE49-F238E27FC236}">
                <a16:creationId xmlns:a16="http://schemas.microsoft.com/office/drawing/2014/main" id="{D6700472-80EE-E40D-EA7B-86942A90CB53}"/>
              </a:ext>
            </a:extLst>
          </p:cNvPr>
          <p:cNvSpPr>
            <a:spLocks noGrp="1"/>
          </p:cNvSpPr>
          <p:nvPr>
            <p:ph type="sldNum" sz="quarter" idx="13"/>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2689458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A0D68-1CFA-45E8-D3E9-AE6ECC634E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995FC-AD1D-0832-C285-D7BF3A2641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1F3D45-7B58-5B98-DD28-0B843C916398}"/>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a:t>We're focusing on the RAG approach in this session, as it's the most popular and cost-effective of the options. </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a:t>Let's walk through a simple RAG flow.</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a:t>First, the user asks a question. We use that question to search a knowledge base, and get back the top results.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a:t>We then concatenate the user question with the search results, and send both of those to an LLM, with a system prompt that tells it to answer according to the results.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a:t>We get an accurate answer back that includes citations pointing at the results.</a:t>
            </a:r>
          </a:p>
        </p:txBody>
      </p:sp>
      <p:sp>
        <p:nvSpPr>
          <p:cNvPr id="4" name="Header Placeholder 3">
            <a:extLst>
              <a:ext uri="{FF2B5EF4-FFF2-40B4-BE49-F238E27FC236}">
                <a16:creationId xmlns:a16="http://schemas.microsoft.com/office/drawing/2014/main" id="{967935E8-9EA3-3DE6-BF7B-CD2A0C796B18}"/>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9B28EF1C-36A0-9251-4DFF-BF0C35DE0B70}"/>
              </a:ext>
            </a:extLst>
          </p:cNvPr>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A822AB0C-C098-7099-B194-1BA33BA9C974}"/>
              </a:ext>
            </a:extLst>
          </p:cNvPr>
          <p:cNvSpPr>
            <a:spLocks noGrp="1"/>
          </p:cNvSpPr>
          <p:nvPr>
            <p:ph type="dt" idx="12"/>
          </p:nvPr>
        </p:nvSpPr>
        <p:spPr/>
        <p:txBody>
          <a:bodyPr/>
          <a:lstStyle/>
          <a:p>
            <a:fld id="{9427A7F7-BB1E-479D-AFAA-B52F4D0C99F2}" type="datetime8">
              <a:rPr lang="en-US" smtClean="0"/>
              <a:t>4/22/25 3:29 PM</a:t>
            </a:fld>
            <a:endParaRPr lang="en-US"/>
          </a:p>
        </p:txBody>
      </p:sp>
      <p:sp>
        <p:nvSpPr>
          <p:cNvPr id="7" name="Slide Number Placeholder 6">
            <a:extLst>
              <a:ext uri="{FF2B5EF4-FFF2-40B4-BE49-F238E27FC236}">
                <a16:creationId xmlns:a16="http://schemas.microsoft.com/office/drawing/2014/main" id="{95553EF0-8495-9656-57DB-2D94E8AE6A99}"/>
              </a:ext>
            </a:extLst>
          </p:cNvPr>
          <p:cNvSpPr>
            <a:spLocks noGrp="1"/>
          </p:cNvSpPr>
          <p:nvPr>
            <p:ph type="sldNum" sz="quarter" idx="13"/>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35441796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BE7ED-BD9E-7858-5406-BD1B078C6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F63AEE-EC49-135C-1B27-CAD2A29B8B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D3827A-5F34-78F3-FCBA-147F42F431D3}"/>
              </a:ext>
            </a:extLst>
          </p:cNvPr>
          <p:cNvSpPr>
            <a:spLocks noGrp="1"/>
          </p:cNvSpPr>
          <p:nvPr>
            <p:ph type="body" idx="1"/>
          </p:nvPr>
        </p:nvSpPr>
        <p:spPr/>
        <p:txBody>
          <a:bodyPr/>
          <a:lstStyle/>
          <a:p>
            <a:r>
              <a:rPr lang="en-US"/>
              <a:t>When we build a RAG application, there are three main ingredients that affect the quality:</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We need powerful search functionality, to be able to search massive data sets. For optimal results, we need hybrid search, a combination of vector search and full text search.</a:t>
            </a:r>
          </a:p>
          <a:p>
            <a:pPr marL="171450" indent="-171450">
              <a:buFont typeface="Arial" panose="020B0604020202020204" pitchFamily="34" charset="0"/>
              <a:buChar char="•"/>
            </a:pPr>
            <a:r>
              <a:rPr lang="en-US"/>
              <a:t>We need well prepared data in our search index. The document chunks should be a reasonable size, not too big, not too small, and the vectors should be high signal, low noise.</a:t>
            </a:r>
          </a:p>
          <a:p>
            <a:pPr marL="171450" indent="-171450">
              <a:buFont typeface="Arial" panose="020B0604020202020204" pitchFamily="34" charset="0"/>
              <a:buChar char="•"/>
            </a:pPr>
            <a:r>
              <a:rPr lang="en-US"/>
              <a:t>We need a frontier level LLM that can adhere to the system prompt, stay on-topic, and ideally support function calling for use in the query rewriting stage.</a:t>
            </a:r>
          </a:p>
          <a:p>
            <a:endParaRPr lang="en-US"/>
          </a:p>
          <a:p>
            <a:r>
              <a:rPr lang="en-US"/>
              <a:t>We're going to dive into these components today, to share everything we've learned about building high quality RAG applications.</a:t>
            </a:r>
          </a:p>
        </p:txBody>
      </p:sp>
      <p:sp>
        <p:nvSpPr>
          <p:cNvPr id="4" name="Header Placeholder 3">
            <a:extLst>
              <a:ext uri="{FF2B5EF4-FFF2-40B4-BE49-F238E27FC236}">
                <a16:creationId xmlns:a16="http://schemas.microsoft.com/office/drawing/2014/main" id="{9701433E-0ED2-F2CB-27A6-C61EEC765CFE}"/>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E55B4D07-4482-786C-F317-AB9FA7A909AF}"/>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D9AB761-C848-F0D9-4365-346D9D3B1490}"/>
              </a:ext>
            </a:extLst>
          </p:cNvPr>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a:extLst>
              <a:ext uri="{FF2B5EF4-FFF2-40B4-BE49-F238E27FC236}">
                <a16:creationId xmlns:a16="http://schemas.microsoft.com/office/drawing/2014/main" id="{9A5E7FD7-A2FC-B83A-BC66-82216FB5F364}"/>
              </a:ext>
            </a:extLst>
          </p:cNvPr>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2163557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4346A-70A1-0D07-2BF3-02931EFB5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F55CD-248B-DBC9-60AA-98EC997B2A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DE8E81-E93C-1330-B051-D47D16323DC8}"/>
              </a:ext>
            </a:extLst>
          </p:cNvPr>
          <p:cNvSpPr>
            <a:spLocks noGrp="1"/>
          </p:cNvSpPr>
          <p:nvPr>
            <p:ph type="body" idx="1"/>
          </p:nvPr>
        </p:nvSpPr>
        <p:spPr/>
        <p:txBody>
          <a:bodyPr/>
          <a:lstStyle/>
          <a:p>
            <a:r>
              <a:rPr lang="en-US"/>
              <a:t>First, let's step back and make sure we all understand vector embeddings, since we'll need to use vectors for both indexing and searching.</a:t>
            </a:r>
          </a:p>
        </p:txBody>
      </p:sp>
      <p:sp>
        <p:nvSpPr>
          <p:cNvPr id="4" name="Header Placeholder 3">
            <a:extLst>
              <a:ext uri="{FF2B5EF4-FFF2-40B4-BE49-F238E27FC236}">
                <a16:creationId xmlns:a16="http://schemas.microsoft.com/office/drawing/2014/main" id="{3266ECC1-2A0D-0F01-80B3-17B0BC6330C4}"/>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33D60EFC-3AC8-5DA4-3A8B-EC289C626767}"/>
              </a:ext>
            </a:extLst>
          </p:cNvPr>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0C25009-C38E-F12E-00F3-DCCF17BC4C92}"/>
              </a:ext>
            </a:extLst>
          </p:cNvPr>
          <p:cNvSpPr>
            <a:spLocks noGrp="1"/>
          </p:cNvSpPr>
          <p:nvPr>
            <p:ph type="dt" idx="12"/>
          </p:nvPr>
        </p:nvSpPr>
        <p:spPr/>
        <p:txBody>
          <a:bodyPr/>
          <a:lstStyle/>
          <a:p>
            <a:fld id="{E2F19A73-88F5-4B80-A929-CF8E66EE5449}" type="datetime8">
              <a:rPr lang="en-US" smtClean="0"/>
              <a:t>4/22/25 3:29 PM</a:t>
            </a:fld>
            <a:endParaRPr lang="en-US"/>
          </a:p>
        </p:txBody>
      </p:sp>
      <p:sp>
        <p:nvSpPr>
          <p:cNvPr id="7" name="Slide Number Placeholder 6">
            <a:extLst>
              <a:ext uri="{FF2B5EF4-FFF2-40B4-BE49-F238E27FC236}">
                <a16:creationId xmlns:a16="http://schemas.microsoft.com/office/drawing/2014/main" id="{7063B4CF-2798-78A9-E77E-77787B7249D1}"/>
              </a:ext>
            </a:extLst>
          </p:cNvPr>
          <p:cNvSpPr>
            <a:spLocks noGrp="1"/>
          </p:cNvSpPr>
          <p:nvPr>
            <p:ph type="sldNum" sz="quarter" idx="13"/>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3438293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FC7AC-B5A0-6F36-99D6-19BA9128AF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D5CDFA-4B6C-C207-F55A-980CA11F38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45AF28-B47C-8D7F-4290-861E246D8074}"/>
              </a:ext>
            </a:extLst>
          </p:cNvPr>
          <p:cNvSpPr>
            <a:spLocks noGrp="1"/>
          </p:cNvSpPr>
          <p:nvPr>
            <p:ph type="body" idx="1"/>
          </p:nvPr>
        </p:nvSpPr>
        <p:spPr/>
        <p:txBody>
          <a:bodyPr/>
          <a:lstStyle/>
          <a:p>
            <a:r>
              <a:rPr lang="en-US"/>
              <a:t>Let's wrap things up!</a:t>
            </a:r>
          </a:p>
        </p:txBody>
      </p:sp>
      <p:sp>
        <p:nvSpPr>
          <p:cNvPr id="4" name="Header Placeholder 3">
            <a:extLst>
              <a:ext uri="{FF2B5EF4-FFF2-40B4-BE49-F238E27FC236}">
                <a16:creationId xmlns:a16="http://schemas.microsoft.com/office/drawing/2014/main" id="{48BA7696-C0B8-7CB8-8A70-3EF9A099B38F}"/>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6CD76880-A69A-45DF-4E1F-15637606FD00}"/>
              </a:ext>
            </a:extLst>
          </p:cNvPr>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93597B8C-F2A3-5635-9390-7B305FC94C19}"/>
              </a:ext>
            </a:extLst>
          </p:cNvPr>
          <p:cNvSpPr>
            <a:spLocks noGrp="1"/>
          </p:cNvSpPr>
          <p:nvPr>
            <p:ph type="dt" idx="12"/>
          </p:nvPr>
        </p:nvSpPr>
        <p:spPr/>
        <p:txBody>
          <a:bodyPr/>
          <a:lstStyle/>
          <a:p>
            <a:fld id="{E2F19A73-88F5-4B80-A929-CF8E66EE5449}" type="datetime8">
              <a:rPr lang="en-US" smtClean="0"/>
              <a:t>4/22/25 3:29 PM</a:t>
            </a:fld>
            <a:endParaRPr lang="en-US"/>
          </a:p>
        </p:txBody>
      </p:sp>
      <p:sp>
        <p:nvSpPr>
          <p:cNvPr id="7" name="Slide Number Placeholder 6">
            <a:extLst>
              <a:ext uri="{FF2B5EF4-FFF2-40B4-BE49-F238E27FC236}">
                <a16:creationId xmlns:a16="http://schemas.microsoft.com/office/drawing/2014/main" id="{535B76C9-EECB-4B4D-4D4E-6FDA21A20818}"/>
              </a:ext>
            </a:extLst>
          </p:cNvPr>
          <p:cNvSpPr>
            <a:spLocks noGrp="1"/>
          </p:cNvSpPr>
          <p:nvPr>
            <p:ph type="sldNum" sz="quarter" idx="13"/>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1084945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we put our RAG app into production, we need to run evaluations to make sure the answers are high enough quality.</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4299725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34549-F5F6-D73A-3642-CDF9325F3E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BB1C7-B10E-DD40-618B-2DC25C6CC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79D3EA-34ED-E3BE-CFB2-DC5B2C0645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4F7A44-C858-6371-49E9-A43F57D05368}"/>
              </a:ext>
            </a:extLst>
          </p:cNvPr>
          <p:cNvSpPr>
            <a:spLocks noGrp="1"/>
          </p:cNvSpPr>
          <p:nvPr>
            <p:ph type="sldNum" sz="quarter" idx="5"/>
          </p:nvPr>
        </p:nvSpPr>
        <p:spPr/>
        <p:txBody>
          <a:bodyPr/>
          <a:lstStyle/>
          <a:p>
            <a:fld id="{9A859BAB-C71C-5948-B622-39FF4D2AFBDC}" type="slidenum">
              <a:rPr lang="en-US" smtClean="0"/>
              <a:t>21</a:t>
            </a:fld>
            <a:endParaRPr lang="en-US"/>
          </a:p>
        </p:txBody>
      </p:sp>
    </p:spTree>
    <p:extLst>
      <p:ext uri="{BB962C8B-B14F-4D97-AF65-F5344CB8AC3E}">
        <p14:creationId xmlns:p14="http://schemas.microsoft.com/office/powerpoint/2010/main" val="1365072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6E403-4EC8-DD06-2ECE-1E76C654D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7222CF-DE51-D86B-11D2-D101F9F8D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A74C23-507B-2134-0946-0EA728ED03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6A942F-37DA-3063-9BB7-B69983EC2DA8}"/>
              </a:ext>
            </a:extLst>
          </p:cNvPr>
          <p:cNvSpPr>
            <a:spLocks noGrp="1"/>
          </p:cNvSpPr>
          <p:nvPr>
            <p:ph type="sldNum" sz="quarter" idx="5"/>
          </p:nvPr>
        </p:nvSpPr>
        <p:spPr/>
        <p:txBody>
          <a:bodyPr/>
          <a:lstStyle/>
          <a:p>
            <a:fld id="{9A859BAB-C71C-5948-B622-39FF4D2AFBDC}" type="slidenum">
              <a:rPr lang="en-US" smtClean="0"/>
              <a:t>22</a:t>
            </a:fld>
            <a:endParaRPr lang="en-US"/>
          </a:p>
        </p:txBody>
      </p:sp>
    </p:spTree>
    <p:extLst>
      <p:ext uri="{BB962C8B-B14F-4D97-AF65-F5344CB8AC3E}">
        <p14:creationId xmlns:p14="http://schemas.microsoft.com/office/powerpoint/2010/main" val="6899762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6E403-4EC8-DD06-2ECE-1E76C654D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7222CF-DE51-D86B-11D2-D101F9F8D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A74C23-507B-2134-0946-0EA728ED03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6A942F-37DA-3063-9BB7-B69983EC2DA8}"/>
              </a:ext>
            </a:extLst>
          </p:cNvPr>
          <p:cNvSpPr>
            <a:spLocks noGrp="1"/>
          </p:cNvSpPr>
          <p:nvPr>
            <p:ph type="sldNum" sz="quarter" idx="5"/>
          </p:nvPr>
        </p:nvSpPr>
        <p:spPr/>
        <p:txBody>
          <a:bodyPr/>
          <a:lstStyle/>
          <a:p>
            <a:fld id="{9A859BAB-C71C-5948-B622-39FF4D2AFBDC}" type="slidenum">
              <a:rPr lang="en-US" smtClean="0"/>
              <a:t>23</a:t>
            </a:fld>
            <a:endParaRPr lang="en-US"/>
          </a:p>
        </p:txBody>
      </p:sp>
    </p:spTree>
    <p:extLst>
      <p:ext uri="{BB962C8B-B14F-4D97-AF65-F5344CB8AC3E}">
        <p14:creationId xmlns:p14="http://schemas.microsoft.com/office/powerpoint/2010/main" val="18066631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6E403-4EC8-DD06-2ECE-1E76C654D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7222CF-DE51-D86B-11D2-D101F9F8D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A74C23-507B-2134-0946-0EA728ED03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6A942F-37DA-3063-9BB7-B69983EC2DA8}"/>
              </a:ext>
            </a:extLst>
          </p:cNvPr>
          <p:cNvSpPr>
            <a:spLocks noGrp="1"/>
          </p:cNvSpPr>
          <p:nvPr>
            <p:ph type="sldNum" sz="quarter" idx="5"/>
          </p:nvPr>
        </p:nvSpPr>
        <p:spPr/>
        <p:txBody>
          <a:bodyPr/>
          <a:lstStyle/>
          <a:p>
            <a:fld id="{9A859BAB-C71C-5948-B622-39FF4D2AFBDC}" type="slidenum">
              <a:rPr lang="en-US" smtClean="0"/>
              <a:t>24</a:t>
            </a:fld>
            <a:endParaRPr lang="en-US"/>
          </a:p>
        </p:txBody>
      </p:sp>
    </p:spTree>
    <p:extLst>
      <p:ext uri="{BB962C8B-B14F-4D97-AF65-F5344CB8AC3E}">
        <p14:creationId xmlns:p14="http://schemas.microsoft.com/office/powerpoint/2010/main" val="15884811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6E403-4EC8-DD06-2ECE-1E76C654D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7222CF-DE51-D86B-11D2-D101F9F8D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A74C23-507B-2134-0946-0EA728ED03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6A942F-37DA-3063-9BB7-B69983EC2DA8}"/>
              </a:ext>
            </a:extLst>
          </p:cNvPr>
          <p:cNvSpPr>
            <a:spLocks noGrp="1"/>
          </p:cNvSpPr>
          <p:nvPr>
            <p:ph type="sldNum" sz="quarter" idx="5"/>
          </p:nvPr>
        </p:nvSpPr>
        <p:spPr/>
        <p:txBody>
          <a:bodyPr/>
          <a:lstStyle/>
          <a:p>
            <a:fld id="{9A859BAB-C71C-5948-B622-39FF4D2AFBDC}" type="slidenum">
              <a:rPr lang="en-US" smtClean="0"/>
              <a:t>25</a:t>
            </a:fld>
            <a:endParaRPr lang="en-US"/>
          </a:p>
        </p:txBody>
      </p:sp>
    </p:spTree>
    <p:extLst>
      <p:ext uri="{BB962C8B-B14F-4D97-AF65-F5344CB8AC3E}">
        <p14:creationId xmlns:p14="http://schemas.microsoft.com/office/powerpoint/2010/main" val="31146549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66D3E-D908-F691-6734-6432E9D37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83E67D-7336-1F51-064C-0F9915CB23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47164-57ED-A0E1-3C0E-C93A83A2F24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3B40E3-B9F7-1FBB-6DE6-5C07CF68C22B}"/>
              </a:ext>
            </a:extLst>
          </p:cNvPr>
          <p:cNvSpPr>
            <a:spLocks noGrp="1"/>
          </p:cNvSpPr>
          <p:nvPr>
            <p:ph type="sldNum" sz="quarter" idx="5"/>
          </p:nvPr>
        </p:nvSpPr>
        <p:spPr/>
        <p:txBody>
          <a:bodyPr/>
          <a:lstStyle/>
          <a:p>
            <a:fld id="{9A859BAB-C71C-5948-B622-39FF4D2AFBDC}" type="slidenum">
              <a:rPr lang="en-US" smtClean="0"/>
              <a:t>26</a:t>
            </a:fld>
            <a:endParaRPr lang="en-US"/>
          </a:p>
        </p:txBody>
      </p:sp>
    </p:spTree>
    <p:extLst>
      <p:ext uri="{BB962C8B-B14F-4D97-AF65-F5344CB8AC3E}">
        <p14:creationId xmlns:p14="http://schemas.microsoft.com/office/powerpoint/2010/main" val="25620685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78963-34CF-448B-2276-53AEF2C95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7E4E7-17DD-7965-912C-5122F1F872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49E369-1767-0BCE-6B38-BBF04F2EA4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68C1B0E-7059-7853-7EA6-FE1F53E29573}"/>
              </a:ext>
            </a:extLst>
          </p:cNvPr>
          <p:cNvSpPr>
            <a:spLocks noGrp="1"/>
          </p:cNvSpPr>
          <p:nvPr>
            <p:ph type="sldNum" sz="quarter" idx="5"/>
          </p:nvPr>
        </p:nvSpPr>
        <p:spPr/>
        <p:txBody>
          <a:bodyPr/>
          <a:lstStyle/>
          <a:p>
            <a:fld id="{9A859BAB-C71C-5948-B622-39FF4D2AFBDC}" type="slidenum">
              <a:rPr lang="en-US" smtClean="0"/>
              <a:t>27</a:t>
            </a:fld>
            <a:endParaRPr lang="en-US"/>
          </a:p>
        </p:txBody>
      </p:sp>
    </p:spTree>
    <p:extLst>
      <p:ext uri="{BB962C8B-B14F-4D97-AF65-F5344CB8AC3E}">
        <p14:creationId xmlns:p14="http://schemas.microsoft.com/office/powerpoint/2010/main" val="25527246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B80A5-2326-1DAE-7F47-4F0FD635D2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181D80-8AAD-70AF-5AA7-C50D5E276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F18E78-F641-6475-74FF-69C6DDC9B4BB}"/>
              </a:ext>
            </a:extLst>
          </p:cNvPr>
          <p:cNvSpPr>
            <a:spLocks noGrp="1"/>
          </p:cNvSpPr>
          <p:nvPr>
            <p:ph type="body" idx="1"/>
          </p:nvPr>
        </p:nvSpPr>
        <p:spPr/>
        <p:txBody>
          <a:bodyPr/>
          <a:lstStyle/>
          <a:p>
            <a:r>
              <a:rPr lang="en-US"/>
              <a:t>Before we put our RAG app into production, we need to run evaluations to make sure the answers are high enough quality.</a:t>
            </a:r>
          </a:p>
        </p:txBody>
      </p:sp>
      <p:sp>
        <p:nvSpPr>
          <p:cNvPr id="4" name="Header Placeholder 3">
            <a:extLst>
              <a:ext uri="{FF2B5EF4-FFF2-40B4-BE49-F238E27FC236}">
                <a16:creationId xmlns:a16="http://schemas.microsoft.com/office/drawing/2014/main" id="{9EAC26D4-4BC6-73DD-0310-4277D097390C}"/>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08C7ED3E-E1B1-97FB-EE78-F70F573F2CC7}"/>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017026B-D9C1-54CF-5878-0F8B44916C9B}"/>
              </a:ext>
            </a:extLst>
          </p:cNvPr>
          <p:cNvSpPr>
            <a:spLocks noGrp="1"/>
          </p:cNvSpPr>
          <p:nvPr>
            <p:ph type="dt" idx="1"/>
          </p:nvPr>
        </p:nvSpPr>
        <p:spPr/>
        <p:txBody>
          <a:bodyPr/>
          <a:lstStyle/>
          <a:p>
            <a:fld id="{386CE63F-9E7F-4C04-9D0D-FCA25A8E9E86}" type="datetime8">
              <a:rPr lang="en-US" smtClean="0"/>
              <a:t>4/23/25 11:23 AM</a:t>
            </a:fld>
            <a:endParaRPr lang="en-US"/>
          </a:p>
        </p:txBody>
      </p:sp>
      <p:sp>
        <p:nvSpPr>
          <p:cNvPr id="7" name="Slide Number Placeholder 6">
            <a:extLst>
              <a:ext uri="{FF2B5EF4-FFF2-40B4-BE49-F238E27FC236}">
                <a16:creationId xmlns:a16="http://schemas.microsoft.com/office/drawing/2014/main" id="{CE5CB0EF-349A-CF56-5EFB-2F45CF5D7646}"/>
              </a:ext>
            </a:extLst>
          </p:cNvPr>
          <p:cNvSpPr>
            <a:spLocks noGrp="1"/>
          </p:cNvSpPr>
          <p:nvPr>
            <p:ph type="sldNum" sz="quarter" idx="5"/>
          </p:nvPr>
        </p:nvSpPr>
        <p:spPr/>
        <p:txBody>
          <a:bodyPr/>
          <a:lstStyle/>
          <a:p>
            <a:fld id="{B4008EB6-D09E-4580-8CD6-DDB14511944F}" type="slidenum">
              <a:rPr lang="en-US" smtClean="0"/>
              <a:pPr/>
              <a:t>28</a:t>
            </a:fld>
            <a:endParaRPr lang="en-US"/>
          </a:p>
        </p:txBody>
      </p:sp>
    </p:spTree>
    <p:extLst>
      <p:ext uri="{BB962C8B-B14F-4D97-AF65-F5344CB8AC3E}">
        <p14:creationId xmlns:p14="http://schemas.microsoft.com/office/powerpoint/2010/main" val="3105394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0B748-139F-6166-087F-DC5B023C9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50261-35D6-3246-523B-40EF224A21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4406D9-3F72-293C-2A69-8E4951ACAD11}"/>
              </a:ext>
            </a:extLst>
          </p:cNvPr>
          <p:cNvSpPr>
            <a:spLocks noGrp="1"/>
          </p:cNvSpPr>
          <p:nvPr>
            <p:ph type="body" idx="1"/>
          </p:nvPr>
        </p:nvSpPr>
        <p:spPr/>
        <p:txBody>
          <a:bodyPr/>
          <a:lstStyle/>
          <a:p>
            <a:pPr>
              <a:buFont typeface="Arial"/>
              <a:buChar char="•"/>
            </a:pPr>
            <a:r>
              <a:rPr lang="en-US"/>
              <a:t>Azure AI Search is a comprehensive search solution and includes features built specifically with RAG applications in mind. Azure AI Search integerated with all the popular open source orchestrations like Langchain, Llamaindex, Semantic Kernel, as well as Azure services like Azure OpenAI and Azure AI Studio. Basically, wherever you are building your RAG apps, you can use Azure AI Search.</a:t>
            </a:r>
          </a:p>
          <a:p>
            <a:pPr>
              <a:buFont typeface="Arial"/>
              <a:buChar char="•"/>
            </a:pPr>
            <a:endParaRPr lang="en-US"/>
          </a:p>
          <a:p>
            <a:pPr>
              <a:buFont typeface="Arial"/>
              <a:buChar char="•"/>
            </a:pPr>
            <a:r>
              <a:rPr lang="en-US"/>
              <a:t>AI Search introduced vector search a year ago, and it's generally available to everyone. Let's walk through a few examples that show it in action.</a:t>
            </a:r>
            <a:endParaRPr lang="en-US" sz="850">
              <a:cs typeface="Segoe UI"/>
            </a:endParaRPr>
          </a:p>
          <a:p>
            <a:pPr>
              <a:buFont typeface="Arial"/>
              <a:buChar char="•"/>
            </a:pPr>
            <a:endParaRPr lang="en-US" sz="850">
              <a:cs typeface="Segoe UI"/>
            </a:endParaRPr>
          </a:p>
          <a:p>
            <a:pPr>
              <a:buFont typeface="Arial"/>
              <a:buChar char="•"/>
            </a:pPr>
            <a:r>
              <a:rPr lang="en-US" sz="850">
                <a:cs typeface="Segoe UI"/>
              </a:rPr>
              <a:t>DEMO script: </a:t>
            </a:r>
          </a:p>
          <a:p>
            <a:pPr>
              <a:buFont typeface="Arial"/>
              <a:buChar char="•"/>
            </a:pPr>
            <a:r>
              <a:rPr lang="en-US" sz="850">
                <a:cs typeface="Segoe UI"/>
              </a:rPr>
              <a:t> Clear the notebook cells.</a:t>
            </a:r>
          </a:p>
          <a:p>
            <a:pPr>
              <a:buFont typeface="Arial"/>
              <a:buChar char="•"/>
            </a:pPr>
            <a:r>
              <a:rPr lang="en-US" sz="850">
                <a:cs typeface="Segoe UI"/>
              </a:rPr>
              <a:t>Go through the notebook, cell by cell, explaining each cell</a:t>
            </a:r>
          </a:p>
        </p:txBody>
      </p:sp>
      <p:sp>
        <p:nvSpPr>
          <p:cNvPr id="4" name="Header Placeholder 3">
            <a:extLst>
              <a:ext uri="{FF2B5EF4-FFF2-40B4-BE49-F238E27FC236}">
                <a16:creationId xmlns:a16="http://schemas.microsoft.com/office/drawing/2014/main" id="{E07FA5E7-D38D-1274-3778-A51166ECFD8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72B316A5-A4C9-07CE-3D04-68575040723E}"/>
              </a:ext>
            </a:extLst>
          </p:cNvPr>
          <p:cNvSpPr>
            <a:spLocks noGrp="1"/>
          </p:cNvSpPr>
          <p:nvPr>
            <p:ph type="ftr" sz="quarter" idx="4"/>
          </p:nvPr>
        </p:nvSpPr>
        <p:spPr/>
        <p:txBody>
          <a:bodyPr/>
          <a:lstStyle/>
          <a:p>
            <a:pPr marL="578415" marR="0" lvl="0" indent="0" algn="l" defTabSz="925160"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53D095C-80A4-A50E-4298-C9FE00130176}"/>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4/22/25 3:29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3804D32C-857B-2326-F992-000D7B71EC0D}"/>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8496796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BDAFD-A597-1A11-E9C5-27A92D964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73B2B7-2A07-F64C-12BB-51E7C89F0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89510-01EA-2026-3834-9B453260B4F3}"/>
              </a:ext>
            </a:extLst>
          </p:cNvPr>
          <p:cNvSpPr>
            <a:spLocks noGrp="1"/>
          </p:cNvSpPr>
          <p:nvPr>
            <p:ph type="body" idx="1"/>
          </p:nvPr>
        </p:nvSpPr>
        <p:spPr/>
        <p:txBody>
          <a:bodyPr/>
          <a:lstStyle/>
          <a:p>
            <a:r>
              <a:rPr lang="en-US" sz="850">
                <a:latin typeface="Segoe UI"/>
                <a:cs typeface="Segoe UI"/>
              </a:rPr>
              <a:t>Aure AI search supports two different vector retrieval strategies. One is approximate nearest neighbor search, or ANN search. This will give you a fast and scalable retrieval strategy. When we use an index for retrieval, we are trading off perfect recall for performance. These are approximate techniques, and in this case we use a well-known approach called HNSW (Hierarchical Navegable Small Worlds).</a:t>
            </a:r>
            <a:endParaRPr lang="en-US"/>
          </a:p>
          <a:p>
            <a:r>
              <a:rPr lang="en-US" sz="850">
                <a:latin typeface="Segoe UI"/>
                <a:cs typeface="Segoe UI"/>
              </a:rPr>
              <a:t>Think of it as a probabilistic data structure that builds a graph-type thing, and it allows us to answer questions very fast with a good performance recall trade-off. </a:t>
            </a:r>
            <a:endParaRPr lang="en-US" sz="850">
              <a:cs typeface="Segoe UI"/>
            </a:endParaRPr>
          </a:p>
          <a:p>
            <a:r>
              <a:rPr lang="en-US" sz="850">
                <a:latin typeface="Segoe UI"/>
                <a:cs typeface="Segoe UI"/>
              </a:rPr>
              <a:t>We pick good defaults, so you typically don't have to worry about this. But if you actually know what HNSW means and you want to dig into the details, we also give you access to all the parameters so you can fine-tune exactly what we do. </a:t>
            </a:r>
            <a:endParaRPr lang="en-US" sz="850">
              <a:cs typeface="Segoe UI"/>
            </a:endParaRPr>
          </a:p>
          <a:p>
            <a:r>
              <a:rPr lang="en-US" sz="850">
                <a:latin typeface="Segoe UI"/>
                <a:cs typeface="Segoe UI"/>
              </a:rPr>
              <a:t>In some other cases, actually it's useful to scan vectors exhaustively, comparing each one of them by computing the distance. </a:t>
            </a:r>
            <a:endParaRPr lang="en-US" sz="850">
              <a:cs typeface="Segoe UI"/>
            </a:endParaRPr>
          </a:p>
          <a:p>
            <a:r>
              <a:rPr lang="en-US" sz="850">
                <a:latin typeface="Segoe UI"/>
                <a:cs typeface="Segoe UI"/>
              </a:rPr>
              <a:t>This is typically used to compute a recall base because if you exhaustively review all the vectors, then your recall is perfect, so you can compute the difference between that and your particular scenario. Then there are some corner cases, a very large-scale, and multi-tenancy situations where it actually can be faster to use exhaustive retrieval when your filter selectivity is very high. </a:t>
            </a:r>
            <a:endParaRPr lang="en-US" sz="850">
              <a:cs typeface="Segoe UI"/>
            </a:endParaRPr>
          </a:p>
          <a:p>
            <a:endParaRPr lang="en-US" sz="850">
              <a:cs typeface="Segoe UI"/>
            </a:endParaRPr>
          </a:p>
          <a:p>
            <a:r>
              <a:rPr lang="en-US" sz="850">
                <a:cs typeface="Segoe UI"/>
              </a:rPr>
              <a:t>// Dont do the demo here, assuming you did it on previous slide!</a:t>
            </a:r>
          </a:p>
        </p:txBody>
      </p:sp>
      <p:sp>
        <p:nvSpPr>
          <p:cNvPr id="4" name="Header Placeholder 3">
            <a:extLst>
              <a:ext uri="{FF2B5EF4-FFF2-40B4-BE49-F238E27FC236}">
                <a16:creationId xmlns:a16="http://schemas.microsoft.com/office/drawing/2014/main" id="{A144B0B9-3276-D7DE-C46A-2B1317739AB1}"/>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3BE9D3F4-E19F-9611-3F8D-D07693E1AE5F}"/>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326F631-801D-2393-06DE-FFEEBD830368}"/>
              </a:ext>
            </a:extLst>
          </p:cNvPr>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a:extLst>
              <a:ext uri="{FF2B5EF4-FFF2-40B4-BE49-F238E27FC236}">
                <a16:creationId xmlns:a16="http://schemas.microsoft.com/office/drawing/2014/main" id="{C6C16CBF-8295-9055-4DA1-1E4CF8B7DBC7}"/>
              </a:ext>
            </a:extLst>
          </p:cNvPr>
          <p:cNvSpPr>
            <a:spLocks noGrp="1"/>
          </p:cNvSpPr>
          <p:nvPr>
            <p:ph type="sldNum" sz="quarter" idx="5"/>
          </p:nvPr>
        </p:nvSpPr>
        <p:spPr/>
        <p:txBody>
          <a:bodyPr/>
          <a:lstStyle/>
          <a:p>
            <a:fld id="{B4008EB6-D09E-4580-8CD6-DDB14511944F}" type="slidenum">
              <a:rPr lang="en-US" smtClean="0"/>
              <a:pPr/>
              <a:t>31</a:t>
            </a:fld>
            <a:endParaRPr lang="en-US"/>
          </a:p>
        </p:txBody>
      </p:sp>
    </p:spTree>
    <p:extLst>
      <p:ext uri="{BB962C8B-B14F-4D97-AF65-F5344CB8AC3E}">
        <p14:creationId xmlns:p14="http://schemas.microsoft.com/office/powerpoint/2010/main" val="37803699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A5CAF-3257-C7EC-DD1E-6FF84200CE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3B771-1D37-AD6C-2999-C6445FDC3A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DD3248-0C42-E2BC-F543-4F9FCFEA3539}"/>
              </a:ext>
            </a:extLst>
          </p:cNvPr>
          <p:cNvSpPr>
            <a:spLocks noGrp="1"/>
          </p:cNvSpPr>
          <p:nvPr>
            <p:ph type="body" idx="1"/>
          </p:nvPr>
        </p:nvSpPr>
        <p:spPr/>
        <p:txBody>
          <a:bodyPr/>
          <a:lstStyle/>
          <a:p>
            <a:r>
              <a:rPr lang="en-US"/>
              <a:t>For optimal results, we need more than just vector search: we need a full hybrid search. That means that we do a vector search with the embedding, we do a full-text search with the keywords, we merge those results with an algorithm, and then finally, we apply a re-ranking model that sorts the results according to the user query. That re-ranking model is called "semantic ranker" in Azure AI search, and it's based on the same ranking technology used by Bing search. </a:t>
            </a:r>
          </a:p>
          <a:p>
            <a:endParaRPr lang="en-US"/>
          </a:p>
          <a:p>
            <a:r>
              <a:rPr lang="en-US"/>
              <a:t>// Demo: The best way to see the differences between search retrieval strategies is to see it for yourself. Let's go through this notebook.</a:t>
            </a:r>
          </a:p>
          <a:p>
            <a:r>
              <a:rPr lang="en-US"/>
              <a:t>// Run cells, explaining each one.</a:t>
            </a:r>
          </a:p>
        </p:txBody>
      </p:sp>
      <p:sp>
        <p:nvSpPr>
          <p:cNvPr id="4" name="Slide Number Placeholder 3">
            <a:extLst>
              <a:ext uri="{FF2B5EF4-FFF2-40B4-BE49-F238E27FC236}">
                <a16:creationId xmlns:a16="http://schemas.microsoft.com/office/drawing/2014/main" id="{ED605C30-AAB6-4CD5-193A-DD491F0C80B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2DF14D4-BA41-4370-B9A4-5B34AB29945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493534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A5CAF-3257-C7EC-DD1E-6FF84200CE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3B771-1D37-AD6C-2999-C6445FDC3A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DD3248-0C42-E2BC-F543-4F9FCFEA3539}"/>
              </a:ext>
            </a:extLst>
          </p:cNvPr>
          <p:cNvSpPr>
            <a:spLocks noGrp="1"/>
          </p:cNvSpPr>
          <p:nvPr>
            <p:ph type="body" idx="1"/>
          </p:nvPr>
        </p:nvSpPr>
        <p:spPr/>
        <p:txBody>
          <a:bodyPr/>
          <a:lstStyle/>
          <a:p>
            <a:r>
              <a:rPr lang="en-US"/>
              <a:t>For optimal results, we need more than just vector search: we need a full hybrid search. That means that we do a vector search with the embedding, we do a full-text search with the keywords, we merge those results with an algorithm, and then finally, we apply a re-ranking model that sorts the results according to the user query. That re-ranking model is called "semantic ranker" in Azure AI search, and it's based on the same ranking technology used by Bing search. </a:t>
            </a:r>
          </a:p>
          <a:p>
            <a:endParaRPr lang="en-US"/>
          </a:p>
          <a:p>
            <a:r>
              <a:rPr lang="en-US"/>
              <a:t>// Demo: The best way to see the differences between search retrieval strategies is to see it for yourself. Let's go through this notebook.</a:t>
            </a:r>
          </a:p>
          <a:p>
            <a:r>
              <a:rPr lang="en-US"/>
              <a:t>// Run cells, explaining each one.</a:t>
            </a:r>
          </a:p>
        </p:txBody>
      </p:sp>
      <p:sp>
        <p:nvSpPr>
          <p:cNvPr id="4" name="Slide Number Placeholder 3">
            <a:extLst>
              <a:ext uri="{FF2B5EF4-FFF2-40B4-BE49-F238E27FC236}">
                <a16:creationId xmlns:a16="http://schemas.microsoft.com/office/drawing/2014/main" id="{ED605C30-AAB6-4CD5-193A-DD491F0C80B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2DF14D4-BA41-4370-B9A4-5B34AB29945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493534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E3D84-64BF-D92B-40BE-4A43B568D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FD4B9B-D044-8191-F4BC-F0972D608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2E5845-919F-D5C7-89DC-4F5905FAA6BC}"/>
              </a:ext>
            </a:extLst>
          </p:cNvPr>
          <p:cNvSpPr>
            <a:spLocks noGrp="1"/>
          </p:cNvSpPr>
          <p:nvPr>
            <p:ph type="body" idx="1"/>
          </p:nvPr>
        </p:nvSpPr>
        <p:spPr/>
        <p:txBody>
          <a:bodyPr/>
          <a:lstStyle/>
          <a:p>
            <a:r>
              <a:rPr lang="en-US"/>
              <a:t>Another benefit of the semantic ranking step is that it assigns each of the results a score from 0 to 4, with 0 being very poor match and 4 being the best match. If you find that your application is often finding low scored matches, which can often happen once you bring vector search into the mix, you can set a score threshold and filter out the matches with too low of a score.</a:t>
            </a:r>
          </a:p>
        </p:txBody>
      </p:sp>
      <p:sp>
        <p:nvSpPr>
          <p:cNvPr id="4" name="Header Placeholder 3">
            <a:extLst>
              <a:ext uri="{FF2B5EF4-FFF2-40B4-BE49-F238E27FC236}">
                <a16:creationId xmlns:a16="http://schemas.microsoft.com/office/drawing/2014/main" id="{2584940D-7104-D4D7-17C1-7D85636C33E0}"/>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2FF818F1-6728-E136-1E4A-C79B88000BC8}"/>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A746F17-597F-0E1A-8E3F-3847E3056E05}"/>
              </a:ext>
            </a:extLst>
          </p:cNvPr>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a:extLst>
              <a:ext uri="{FF2B5EF4-FFF2-40B4-BE49-F238E27FC236}">
                <a16:creationId xmlns:a16="http://schemas.microsoft.com/office/drawing/2014/main" id="{80F4C23F-7D78-F775-1562-4A133DD1288A}"/>
              </a:ext>
            </a:extLst>
          </p:cNvPr>
          <p:cNvSpPr>
            <a:spLocks noGrp="1"/>
          </p:cNvSpPr>
          <p:nvPr>
            <p:ph type="sldNum" sz="quarter" idx="5"/>
          </p:nvPr>
        </p:nvSpPr>
        <p:spPr/>
        <p:txBody>
          <a:bodyPr/>
          <a:lstStyle/>
          <a:p>
            <a:fld id="{B4008EB6-D09E-4580-8CD6-DDB14511944F}" type="slidenum">
              <a:rPr lang="en-US" smtClean="0"/>
              <a:pPr/>
              <a:t>34</a:t>
            </a:fld>
            <a:endParaRPr lang="en-US"/>
          </a:p>
        </p:txBody>
      </p:sp>
    </p:spTree>
    <p:extLst>
      <p:ext uri="{BB962C8B-B14F-4D97-AF65-F5344CB8AC3E}">
        <p14:creationId xmlns:p14="http://schemas.microsoft.com/office/powerpoint/2010/main" val="30865137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54F6A-96E8-3EAA-9507-0EF0DB953F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B7B517-2A88-6A8D-FF7B-2F869AB2A0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60D434-D535-3B4F-EF9D-EC36314AD8B8}"/>
              </a:ext>
            </a:extLst>
          </p:cNvPr>
          <p:cNvSpPr>
            <a:spLocks noGrp="1"/>
          </p:cNvSpPr>
          <p:nvPr>
            <p:ph type="body" idx="1"/>
          </p:nvPr>
        </p:nvSpPr>
        <p:spPr/>
        <p:txBody>
          <a:bodyPr/>
          <a:lstStyle/>
          <a:p>
            <a:r>
              <a:rPr lang="en-US"/>
              <a:t>Let's wrap things up!</a:t>
            </a:r>
          </a:p>
        </p:txBody>
      </p:sp>
      <p:sp>
        <p:nvSpPr>
          <p:cNvPr id="4" name="Header Placeholder 3">
            <a:extLst>
              <a:ext uri="{FF2B5EF4-FFF2-40B4-BE49-F238E27FC236}">
                <a16:creationId xmlns:a16="http://schemas.microsoft.com/office/drawing/2014/main" id="{E167F33C-C40B-AA5A-51E3-57C727F83926}"/>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8F5551BD-1506-9506-7032-ACACC1083651}"/>
              </a:ext>
            </a:extLst>
          </p:cNvPr>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3BBFA818-7CC2-A874-8970-8F85ACC62954}"/>
              </a:ext>
            </a:extLst>
          </p:cNvPr>
          <p:cNvSpPr>
            <a:spLocks noGrp="1"/>
          </p:cNvSpPr>
          <p:nvPr>
            <p:ph type="dt" idx="12"/>
          </p:nvPr>
        </p:nvSpPr>
        <p:spPr/>
        <p:txBody>
          <a:bodyPr/>
          <a:lstStyle/>
          <a:p>
            <a:fld id="{E2F19A73-88F5-4B80-A929-CF8E66EE5449}" type="datetime8">
              <a:rPr lang="en-US" smtClean="0"/>
              <a:t>4/22/25 3:29 PM</a:t>
            </a:fld>
            <a:endParaRPr lang="en-US"/>
          </a:p>
        </p:txBody>
      </p:sp>
      <p:sp>
        <p:nvSpPr>
          <p:cNvPr id="7" name="Slide Number Placeholder 6">
            <a:extLst>
              <a:ext uri="{FF2B5EF4-FFF2-40B4-BE49-F238E27FC236}">
                <a16:creationId xmlns:a16="http://schemas.microsoft.com/office/drawing/2014/main" id="{4DB7FE45-F9A9-1928-6A00-8D8D32A6E6C2}"/>
              </a:ext>
            </a:extLst>
          </p:cNvPr>
          <p:cNvSpPr>
            <a:spLocks noGrp="1"/>
          </p:cNvSpPr>
          <p:nvPr>
            <p:ph type="sldNum" sz="quarter" idx="13"/>
          </p:nvPr>
        </p:nvSpPr>
        <p:spPr/>
        <p:txBody>
          <a:bodyPr/>
          <a:lstStyle/>
          <a:p>
            <a:fld id="{B4008EB6-D09E-4580-8CD6-DDB14511944F}" type="slidenum">
              <a:rPr lang="en-US" smtClean="0"/>
              <a:pPr/>
              <a:t>35</a:t>
            </a:fld>
            <a:endParaRPr lang="en-US"/>
          </a:p>
        </p:txBody>
      </p:sp>
    </p:spTree>
    <p:extLst>
      <p:ext uri="{BB962C8B-B14F-4D97-AF65-F5344CB8AC3E}">
        <p14:creationId xmlns:p14="http://schemas.microsoft.com/office/powerpoint/2010/main" val="36620918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2E27D-BF41-72B7-747F-16F057F6C1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6BD90-AB2E-35A1-0754-56EFC307E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9E8ABC-65F6-A3CC-BF3B-D3AA72B83424}"/>
              </a:ext>
            </a:extLst>
          </p:cNvPr>
          <p:cNvSpPr>
            <a:spLocks noGrp="1"/>
          </p:cNvSpPr>
          <p:nvPr>
            <p:ph type="body" idx="1"/>
          </p:nvPr>
        </p:nvSpPr>
        <p:spPr/>
        <p:txBody>
          <a:bodyPr/>
          <a:lstStyle/>
          <a:p>
            <a:r>
              <a:rPr lang="en-US"/>
              <a:t>We've seen thousands of developers deploy this app for a wide number of use cases, like internal HR help, customer sales help chatbots, product manuals, and more.</a:t>
            </a:r>
          </a:p>
        </p:txBody>
      </p:sp>
      <p:sp>
        <p:nvSpPr>
          <p:cNvPr id="4" name="Header Placeholder 3">
            <a:extLst>
              <a:ext uri="{FF2B5EF4-FFF2-40B4-BE49-F238E27FC236}">
                <a16:creationId xmlns:a16="http://schemas.microsoft.com/office/drawing/2014/main" id="{1985D74E-FA9D-BE3F-9D13-40376E9280F4}"/>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94AC5897-F405-CEF8-B44C-CB6A63FBEC10}"/>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AC531A97-EB38-7F1E-9B26-4B52814F85AE}"/>
              </a:ext>
            </a:extLst>
          </p:cNvPr>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a:extLst>
              <a:ext uri="{FF2B5EF4-FFF2-40B4-BE49-F238E27FC236}">
                <a16:creationId xmlns:a16="http://schemas.microsoft.com/office/drawing/2014/main" id="{B815D949-9C8F-431C-5B27-E6958BA8DBED}"/>
              </a:ext>
            </a:extLst>
          </p:cNvPr>
          <p:cNvSpPr>
            <a:spLocks noGrp="1"/>
          </p:cNvSpPr>
          <p:nvPr>
            <p:ph type="sldNum" sz="quarter" idx="5"/>
          </p:nvPr>
        </p:nvSpPr>
        <p:spPr/>
        <p:txBody>
          <a:bodyPr/>
          <a:lstStyle/>
          <a:p>
            <a:fld id="{B4008EB6-D09E-4580-8CD6-DDB14511944F}" type="slidenum">
              <a:rPr lang="en-US" smtClean="0"/>
              <a:pPr/>
              <a:t>36</a:t>
            </a:fld>
            <a:endParaRPr lang="en-US"/>
          </a:p>
        </p:txBody>
      </p:sp>
    </p:spTree>
    <p:extLst>
      <p:ext uri="{BB962C8B-B14F-4D97-AF65-F5344CB8AC3E}">
        <p14:creationId xmlns:p14="http://schemas.microsoft.com/office/powerpoint/2010/main" val="12198450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a:t>If you want to get started, check out our documentation, our research, and our open-source end-to-end RAG solution. </a:t>
            </a:r>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37</a:t>
            </a:fld>
            <a:endParaRPr lang="en-US"/>
          </a:p>
        </p:txBody>
      </p:sp>
    </p:spTree>
    <p:extLst>
      <p:ext uri="{BB962C8B-B14F-4D97-AF65-F5344CB8AC3E}">
        <p14:creationId xmlns:p14="http://schemas.microsoft.com/office/powerpoint/2010/main" val="23326475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First, let's talk about scale. If you're building a RAG app on a huge document store, then you'll find yourself storing a large number of vector embeddings. Azure AI Search now offers multiple ways to reduce your storage size, so that you can reduce your costs. One approach is quantization, which lets you reduce the floating point numbers to 8-bit integers or even to single bits. According to our studies, you can still achieve high recall while reducing your storage by a mangitude of 32x.</a:t>
            </a:r>
          </a:p>
          <a:p>
            <a:endParaRPr lang="en-US">
              <a:hlinkClick r:id="rId3"/>
            </a:endParaRPr>
          </a:p>
          <a:p>
            <a:r>
              <a:rPr lang="en-US">
                <a:hlinkClick r:id="rId3"/>
              </a:rPr>
              <a:t>BRK108 - RAG at scale.pptx</a:t>
            </a: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38</a:t>
            </a:fld>
            <a:endParaRPr lang="en-US"/>
          </a:p>
        </p:txBody>
      </p:sp>
    </p:spTree>
    <p:extLst>
      <p:ext uri="{BB962C8B-B14F-4D97-AF65-F5344CB8AC3E}">
        <p14:creationId xmlns:p14="http://schemas.microsoft.com/office/powerpoint/2010/main" val="17002348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EC1A9-C2DB-D6D2-D37F-930AD735BE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B1D34D-01DA-F7E3-6B1B-BAF5B68D6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7479FC-7209-103D-793F-94C0B9916233}"/>
              </a:ext>
            </a:extLst>
          </p:cNvPr>
          <p:cNvSpPr>
            <a:spLocks noGrp="1"/>
          </p:cNvSpPr>
          <p:nvPr>
            <p:ph type="body" idx="1"/>
          </p:nvPr>
        </p:nvSpPr>
        <p:spPr/>
        <p:txBody>
          <a:bodyPr/>
          <a:lstStyle/>
          <a:p>
            <a:r>
              <a:rPr lang="en-US"/>
              <a:t>Like all Azure services, Azure AI Search offers all this.. </a:t>
            </a:r>
          </a:p>
          <a:p>
            <a:r>
              <a:rPr lang="en-US"/>
              <a:t>Things like multiple options for data encryption, authentication, including managed identities, my favorite way of not having to deal with API keys, network isolation, and extensive compliance certifications are all part of this offering. All of these things are checked off from the very beginning as you're building solutions for this space. </a:t>
            </a:r>
            <a:endParaRPr lang="en-US" sz="850">
              <a:cs typeface="Segoe UI"/>
            </a:endParaRPr>
          </a:p>
        </p:txBody>
      </p:sp>
      <p:sp>
        <p:nvSpPr>
          <p:cNvPr id="4" name="Header Placeholder 3">
            <a:extLst>
              <a:ext uri="{FF2B5EF4-FFF2-40B4-BE49-F238E27FC236}">
                <a16:creationId xmlns:a16="http://schemas.microsoft.com/office/drawing/2014/main" id="{CDB48653-4005-6E6B-7A1C-8C0B62307E43}"/>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2B6549AC-5CCF-C956-B4C1-97AA4F7D6D66}"/>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38AFE66-F30C-8048-A43B-F56267E7072E}"/>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4/22/25 3:29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F3502452-2016-5985-E44B-081D11DAB208}"/>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27689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40</a:t>
            </a:fld>
            <a:endParaRPr lang="en-US"/>
          </a:p>
        </p:txBody>
      </p:sp>
    </p:spTree>
    <p:extLst>
      <p:ext uri="{BB962C8B-B14F-4D97-AF65-F5344CB8AC3E}">
        <p14:creationId xmlns:p14="http://schemas.microsoft.com/office/powerpoint/2010/main" val="22359235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RAG is only as good as the retrieval and that depends on the data you have and how simple it is to search.</a:t>
            </a:r>
          </a:p>
          <a:p>
            <a:endParaRPr lang="en-US"/>
          </a:p>
          <a:p>
            <a:r>
              <a:rPr lang="en-US"/>
              <a:t>If you’re used to search engines, you’re familiar with keyword search. </a:t>
            </a:r>
          </a:p>
          <a:p>
            <a:endParaRPr lang="en-US"/>
          </a:p>
          <a:p>
            <a:r>
              <a:rPr lang="en-US"/>
              <a:t>In the example. “underwater activities” would not return Scuba or Snorkeling.</a:t>
            </a:r>
          </a:p>
          <a:p>
            <a:endParaRPr lang="en-US"/>
          </a:p>
          <a:p>
            <a:r>
              <a:rPr lang="en-US"/>
              <a:t>Vector-based retrieval does semantic similarity. It would know those terms are semantically similar.</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41</a:t>
            </a:fld>
            <a:endParaRPr lang="en-US"/>
          </a:p>
        </p:txBody>
      </p:sp>
    </p:spTree>
    <p:extLst>
      <p:ext uri="{BB962C8B-B14F-4D97-AF65-F5344CB8AC3E}">
        <p14:creationId xmlns:p14="http://schemas.microsoft.com/office/powerpoint/2010/main" val="30239036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5"/>
          </p:nvPr>
        </p:nvSpPr>
        <p:spPr/>
        <p:txBody>
          <a:bodyPr/>
          <a:lstStyle/>
          <a:p>
            <a:pPr marL="0" marR="0" lvl="0" indent="0" algn="r" defTabSz="966516" rtl="0" eaLnBrk="1" fontAlgn="auto" latinLnBrk="0" hangingPunct="1">
              <a:lnSpc>
                <a:spcPct val="100000"/>
              </a:lnSpc>
              <a:spcBef>
                <a:spcPts val="0"/>
              </a:spcBef>
              <a:spcAft>
                <a:spcPts val="0"/>
              </a:spcAft>
              <a:buClrTx/>
              <a:buSzTx/>
              <a:buFontTx/>
              <a:buNone/>
              <a:tabLst/>
              <a:defRPr/>
            </a:pPr>
            <a:fld id="{577E7C3F-570D-674B-A591-D32D552AFC0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516"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26429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4/22/25 3:29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43</a:t>
            </a:fld>
            <a:endParaRPr lang="en-US"/>
          </a:p>
        </p:txBody>
      </p:sp>
    </p:spTree>
    <p:extLst>
      <p:ext uri="{BB962C8B-B14F-4D97-AF65-F5344CB8AC3E}">
        <p14:creationId xmlns:p14="http://schemas.microsoft.com/office/powerpoint/2010/main" val="34920878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1.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1.xml"/><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1.xml"/><Relationship Id="rId6" Type="http://schemas.openxmlformats.org/officeDocument/2006/relationships/image" Target="../media/image22.jpeg"/><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1.jpe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1.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11.jpe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2.xml"/><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17.jpe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2.xml"/><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2.xml"/><Relationship Id="rId6" Type="http://schemas.openxmlformats.org/officeDocument/2006/relationships/image" Target="../media/image22.jpeg"/><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11.jpe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2.xml"/><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2.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B1067A-E7AA-45D2-1010-A0D1FCB960D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1" name="MS logo gray - EMF" descr="Microsoft logo, gray text version">
            <a:extLst>
              <a:ext uri="{FF2B5EF4-FFF2-40B4-BE49-F238E27FC236}">
                <a16:creationId xmlns:a16="http://schemas.microsoft.com/office/drawing/2014/main" id="{F37CD61D-D807-6B33-7D19-B0A417D0600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6" name="Freeform: Shape 5">
            <a:extLst>
              <a:ext uri="{FF2B5EF4-FFF2-40B4-BE49-F238E27FC236}">
                <a16:creationId xmlns:a16="http://schemas.microsoft.com/office/drawing/2014/main" id="{94AFC23E-201F-B57E-8828-724D2D999B22}"/>
              </a:ext>
            </a:extLst>
          </p:cNvPr>
          <p:cNvSpPr/>
          <p:nvPr userDrawn="1"/>
        </p:nvSpPr>
        <p:spPr>
          <a:xfrm>
            <a:off x="529053" y="2663856"/>
            <a:ext cx="3414297" cy="1504926"/>
          </a:xfrm>
          <a:custGeom>
            <a:avLst/>
            <a:gdLst>
              <a:gd name="connsiteX0" fmla="*/ 542449 w 3308032"/>
              <a:gd name="connsiteY0" fmla="*/ 193453 h 1458087"/>
              <a:gd name="connsiteX1" fmla="*/ 543401 w 3308032"/>
              <a:gd name="connsiteY1" fmla="*/ 148971 h 1458087"/>
              <a:gd name="connsiteX2" fmla="*/ 541211 w 3308032"/>
              <a:gd name="connsiteY2" fmla="*/ 148971 h 1458087"/>
              <a:gd name="connsiteX3" fmla="*/ 534924 w 3308032"/>
              <a:gd name="connsiteY3" fmla="*/ 168497 h 1458087"/>
              <a:gd name="connsiteX4" fmla="*/ 528257 w 3308032"/>
              <a:gd name="connsiteY4" fmla="*/ 186214 h 1458087"/>
              <a:gd name="connsiteX5" fmla="*/ 374618 w 3308032"/>
              <a:gd name="connsiteY5" fmla="*/ 572834 h 1458087"/>
              <a:gd name="connsiteX6" fmla="*/ 310229 w 3308032"/>
              <a:gd name="connsiteY6" fmla="*/ 572834 h 1458087"/>
              <a:gd name="connsiteX7" fmla="*/ 155448 w 3308032"/>
              <a:gd name="connsiteY7" fmla="*/ 189643 h 1458087"/>
              <a:gd name="connsiteX8" fmla="*/ 149352 w 3308032"/>
              <a:gd name="connsiteY8" fmla="*/ 172307 h 1458087"/>
              <a:gd name="connsiteX9" fmla="*/ 141351 w 3308032"/>
              <a:gd name="connsiteY9" fmla="*/ 149066 h 1458087"/>
              <a:gd name="connsiteX10" fmla="*/ 139160 w 3308032"/>
              <a:gd name="connsiteY10" fmla="*/ 149066 h 1458087"/>
              <a:gd name="connsiteX11" fmla="*/ 140303 w 3308032"/>
              <a:gd name="connsiteY11" fmla="*/ 195739 h 1458087"/>
              <a:gd name="connsiteX12" fmla="*/ 140684 w 3308032"/>
              <a:gd name="connsiteY12" fmla="*/ 246507 h 1458087"/>
              <a:gd name="connsiteX13" fmla="*/ 140684 w 3308032"/>
              <a:gd name="connsiteY13" fmla="*/ 572834 h 1458087"/>
              <a:gd name="connsiteX14" fmla="*/ 55817 w 3308032"/>
              <a:gd name="connsiteY14" fmla="*/ 572834 h 1458087"/>
              <a:gd name="connsiteX15" fmla="*/ 55817 w 3308032"/>
              <a:gd name="connsiteY15" fmla="*/ 39243 h 1458087"/>
              <a:gd name="connsiteX16" fmla="*/ 185642 w 3308032"/>
              <a:gd name="connsiteY16" fmla="*/ 39243 h 1458087"/>
              <a:gd name="connsiteX17" fmla="*/ 322231 w 3308032"/>
              <a:gd name="connsiteY17" fmla="*/ 383381 h 1458087"/>
              <a:gd name="connsiteX18" fmla="*/ 334709 w 3308032"/>
              <a:gd name="connsiteY18" fmla="*/ 415576 h 1458087"/>
              <a:gd name="connsiteX19" fmla="*/ 343853 w 3308032"/>
              <a:gd name="connsiteY19" fmla="*/ 444817 h 1458087"/>
              <a:gd name="connsiteX20" fmla="*/ 346043 w 3308032"/>
              <a:gd name="connsiteY20" fmla="*/ 444817 h 1458087"/>
              <a:gd name="connsiteX21" fmla="*/ 358140 w 3308032"/>
              <a:gd name="connsiteY21" fmla="*/ 412433 h 1458087"/>
              <a:gd name="connsiteX22" fmla="*/ 369475 w 3308032"/>
              <a:gd name="connsiteY22" fmla="*/ 382334 h 1458087"/>
              <a:gd name="connsiteX23" fmla="*/ 507873 w 3308032"/>
              <a:gd name="connsiteY23" fmla="*/ 39243 h 1458087"/>
              <a:gd name="connsiteX24" fmla="*/ 632555 w 3308032"/>
              <a:gd name="connsiteY24" fmla="*/ 39243 h 1458087"/>
              <a:gd name="connsiteX25" fmla="*/ 632555 w 3308032"/>
              <a:gd name="connsiteY25" fmla="*/ 572834 h 1458087"/>
              <a:gd name="connsiteX26" fmla="*/ 542163 w 3308032"/>
              <a:gd name="connsiteY26" fmla="*/ 572834 h 1458087"/>
              <a:gd name="connsiteX27" fmla="*/ 542163 w 3308032"/>
              <a:gd name="connsiteY27" fmla="*/ 234220 h 1458087"/>
              <a:gd name="connsiteX28" fmla="*/ 542735 w 3308032"/>
              <a:gd name="connsiteY28" fmla="*/ 193453 h 1458087"/>
              <a:gd name="connsiteX29" fmla="*/ 768001 w 3308032"/>
              <a:gd name="connsiteY29" fmla="*/ 14383 h 1458087"/>
              <a:gd name="connsiteX30" fmla="*/ 728567 w 3308032"/>
              <a:gd name="connsiteY30" fmla="*/ 29623 h 1458087"/>
              <a:gd name="connsiteX31" fmla="*/ 713327 w 3308032"/>
              <a:gd name="connsiteY31" fmla="*/ 67247 h 1458087"/>
              <a:gd name="connsiteX32" fmla="*/ 728567 w 3308032"/>
              <a:gd name="connsiteY32" fmla="*/ 104966 h 1458087"/>
              <a:gd name="connsiteX33" fmla="*/ 768001 w 3308032"/>
              <a:gd name="connsiteY33" fmla="*/ 120777 h 1458087"/>
              <a:gd name="connsiteX34" fmla="*/ 808196 w 3308032"/>
              <a:gd name="connsiteY34" fmla="*/ 105537 h 1458087"/>
              <a:gd name="connsiteX35" fmla="*/ 823436 w 3308032"/>
              <a:gd name="connsiteY35" fmla="*/ 67627 h 1458087"/>
              <a:gd name="connsiteX36" fmla="*/ 808196 w 3308032"/>
              <a:gd name="connsiteY36" fmla="*/ 29718 h 1458087"/>
              <a:gd name="connsiteX37" fmla="*/ 768001 w 3308032"/>
              <a:gd name="connsiteY37" fmla="*/ 14478 h 1458087"/>
              <a:gd name="connsiteX38" fmla="*/ 723329 w 3308032"/>
              <a:gd name="connsiteY38" fmla="*/ 572834 h 1458087"/>
              <a:gd name="connsiteX39" fmla="*/ 812292 w 3308032"/>
              <a:gd name="connsiteY39" fmla="*/ 572834 h 1458087"/>
              <a:gd name="connsiteX40" fmla="*/ 812292 w 3308032"/>
              <a:gd name="connsiteY40" fmla="*/ 191834 h 1458087"/>
              <a:gd name="connsiteX41" fmla="*/ 723329 w 3308032"/>
              <a:gd name="connsiteY41" fmla="*/ 191834 h 1458087"/>
              <a:gd name="connsiteX42" fmla="*/ 723329 w 3308032"/>
              <a:gd name="connsiteY42" fmla="*/ 572834 h 1458087"/>
              <a:gd name="connsiteX43" fmla="*/ 1079278 w 3308032"/>
              <a:gd name="connsiteY43" fmla="*/ 581787 h 1458087"/>
              <a:gd name="connsiteX44" fmla="*/ 1169099 w 3308032"/>
              <a:gd name="connsiteY44" fmla="*/ 561689 h 1458087"/>
              <a:gd name="connsiteX45" fmla="*/ 1234726 w 3308032"/>
              <a:gd name="connsiteY45" fmla="*/ 500253 h 1458087"/>
              <a:gd name="connsiteX46" fmla="*/ 1165860 w 3308032"/>
              <a:gd name="connsiteY46" fmla="*/ 461582 h 1458087"/>
              <a:gd name="connsiteX47" fmla="*/ 1127951 w 3308032"/>
              <a:gd name="connsiteY47" fmla="*/ 497110 h 1458087"/>
              <a:gd name="connsiteX48" fmla="*/ 1081469 w 3308032"/>
              <a:gd name="connsiteY48" fmla="*/ 507683 h 1458087"/>
              <a:gd name="connsiteX49" fmla="*/ 1004126 w 3308032"/>
              <a:gd name="connsiteY49" fmla="*/ 475298 h 1458087"/>
              <a:gd name="connsiteX50" fmla="*/ 975074 w 3308032"/>
              <a:gd name="connsiteY50" fmla="*/ 383000 h 1458087"/>
              <a:gd name="connsiteX51" fmla="*/ 1004506 w 3308032"/>
              <a:gd name="connsiteY51" fmla="*/ 288512 h 1458087"/>
              <a:gd name="connsiteX52" fmla="*/ 1079278 w 3308032"/>
              <a:gd name="connsiteY52" fmla="*/ 254699 h 1458087"/>
              <a:gd name="connsiteX53" fmla="*/ 1125379 w 3308032"/>
              <a:gd name="connsiteY53" fmla="*/ 265462 h 1458087"/>
              <a:gd name="connsiteX54" fmla="*/ 1162622 w 3308032"/>
              <a:gd name="connsiteY54" fmla="*/ 301943 h 1458087"/>
              <a:gd name="connsiteX55" fmla="*/ 1232535 w 3308032"/>
              <a:gd name="connsiteY55" fmla="*/ 267367 h 1458087"/>
              <a:gd name="connsiteX56" fmla="*/ 1172432 w 3308032"/>
              <a:gd name="connsiteY56" fmla="*/ 204311 h 1458087"/>
              <a:gd name="connsiteX57" fmla="*/ 1082231 w 3308032"/>
              <a:gd name="connsiteY57" fmla="*/ 182880 h 1458087"/>
              <a:gd name="connsiteX58" fmla="*/ 939356 w 3308032"/>
              <a:gd name="connsiteY58" fmla="*/ 238125 h 1458087"/>
              <a:gd name="connsiteX59" fmla="*/ 884301 w 3308032"/>
              <a:gd name="connsiteY59" fmla="*/ 389001 h 1458087"/>
              <a:gd name="connsiteX60" fmla="*/ 936022 w 3308032"/>
              <a:gd name="connsiteY60" fmla="*/ 528923 h 1458087"/>
              <a:gd name="connsiteX61" fmla="*/ 1079278 w 3308032"/>
              <a:gd name="connsiteY61" fmla="*/ 581787 h 1458087"/>
              <a:gd name="connsiteX62" fmla="*/ 1393031 w 3308032"/>
              <a:gd name="connsiteY62" fmla="*/ 384524 h 1458087"/>
              <a:gd name="connsiteX63" fmla="*/ 1416653 w 3308032"/>
              <a:gd name="connsiteY63" fmla="*/ 296323 h 1458087"/>
              <a:gd name="connsiteX64" fmla="*/ 1478566 w 3308032"/>
              <a:gd name="connsiteY64" fmla="*/ 262795 h 1458087"/>
              <a:gd name="connsiteX65" fmla="*/ 1501807 w 3308032"/>
              <a:gd name="connsiteY65" fmla="*/ 265176 h 1458087"/>
              <a:gd name="connsiteX66" fmla="*/ 1523619 w 3308032"/>
              <a:gd name="connsiteY66" fmla="*/ 271653 h 1458087"/>
              <a:gd name="connsiteX67" fmla="*/ 1547432 w 3308032"/>
              <a:gd name="connsiteY67" fmla="*/ 195739 h 1458087"/>
              <a:gd name="connsiteX68" fmla="*/ 1521047 w 3308032"/>
              <a:gd name="connsiteY68" fmla="*/ 187166 h 1458087"/>
              <a:gd name="connsiteX69" fmla="*/ 1494282 w 3308032"/>
              <a:gd name="connsiteY69" fmla="*/ 184975 h 1458087"/>
              <a:gd name="connsiteX70" fmla="*/ 1433989 w 3308032"/>
              <a:gd name="connsiteY70" fmla="*/ 204502 h 1458087"/>
              <a:gd name="connsiteX71" fmla="*/ 1394555 w 3308032"/>
              <a:gd name="connsiteY71" fmla="*/ 260509 h 1458087"/>
              <a:gd name="connsiteX72" fmla="*/ 1393031 w 3308032"/>
              <a:gd name="connsiteY72" fmla="*/ 260509 h 1458087"/>
              <a:gd name="connsiteX73" fmla="*/ 1393031 w 3308032"/>
              <a:gd name="connsiteY73" fmla="*/ 191643 h 1458087"/>
              <a:gd name="connsiteX74" fmla="*/ 1304068 w 3308032"/>
              <a:gd name="connsiteY74" fmla="*/ 191643 h 1458087"/>
              <a:gd name="connsiteX75" fmla="*/ 1304068 w 3308032"/>
              <a:gd name="connsiteY75" fmla="*/ 572643 h 1458087"/>
              <a:gd name="connsiteX76" fmla="*/ 1393031 w 3308032"/>
              <a:gd name="connsiteY76" fmla="*/ 572643 h 1458087"/>
              <a:gd name="connsiteX77" fmla="*/ 1393031 w 3308032"/>
              <a:gd name="connsiteY77" fmla="*/ 384334 h 1458087"/>
              <a:gd name="connsiteX78" fmla="*/ 1621917 w 3308032"/>
              <a:gd name="connsiteY78" fmla="*/ 528542 h 1458087"/>
              <a:gd name="connsiteX79" fmla="*/ 1568482 w 3308032"/>
              <a:gd name="connsiteY79" fmla="*/ 385286 h 1458087"/>
              <a:gd name="connsiteX80" fmla="*/ 1625060 w 3308032"/>
              <a:gd name="connsiteY80" fmla="*/ 238506 h 1458087"/>
              <a:gd name="connsiteX81" fmla="*/ 1771269 w 3308032"/>
              <a:gd name="connsiteY81" fmla="*/ 182880 h 1458087"/>
              <a:gd name="connsiteX82" fmla="*/ 1914335 w 3308032"/>
              <a:gd name="connsiteY82" fmla="*/ 237554 h 1458087"/>
              <a:gd name="connsiteX83" fmla="*/ 1966627 w 3308032"/>
              <a:gd name="connsiteY83" fmla="*/ 378905 h 1458087"/>
              <a:gd name="connsiteX84" fmla="*/ 1911572 w 3308032"/>
              <a:gd name="connsiteY84" fmla="*/ 524542 h 1458087"/>
              <a:gd name="connsiteX85" fmla="*/ 1766126 w 3308032"/>
              <a:gd name="connsiteY85" fmla="*/ 581692 h 1458087"/>
              <a:gd name="connsiteX86" fmla="*/ 1621917 w 3308032"/>
              <a:gd name="connsiteY86" fmla="*/ 528447 h 1458087"/>
              <a:gd name="connsiteX87" fmla="*/ 1659350 w 3308032"/>
              <a:gd name="connsiteY87" fmla="*/ 383477 h 1458087"/>
              <a:gd name="connsiteX88" fmla="*/ 1688973 w 3308032"/>
              <a:gd name="connsiteY88" fmla="*/ 476155 h 1458087"/>
              <a:gd name="connsiteX89" fmla="*/ 1769555 w 3308032"/>
              <a:gd name="connsiteY89" fmla="*/ 509969 h 1458087"/>
              <a:gd name="connsiteX90" fmla="*/ 1847850 w 3308032"/>
              <a:gd name="connsiteY90" fmla="*/ 475012 h 1458087"/>
              <a:gd name="connsiteX91" fmla="*/ 1875568 w 3308032"/>
              <a:gd name="connsiteY91" fmla="*/ 381286 h 1458087"/>
              <a:gd name="connsiteX92" fmla="*/ 1847660 w 3308032"/>
              <a:gd name="connsiteY92" fmla="*/ 289750 h 1458087"/>
              <a:gd name="connsiteX93" fmla="*/ 1769174 w 3308032"/>
              <a:gd name="connsiteY93" fmla="*/ 255175 h 1458087"/>
              <a:gd name="connsiteX94" fmla="*/ 1689354 w 3308032"/>
              <a:gd name="connsiteY94" fmla="*/ 290894 h 1458087"/>
              <a:gd name="connsiteX95" fmla="*/ 1659446 w 3308032"/>
              <a:gd name="connsiteY95" fmla="*/ 383572 h 1458087"/>
              <a:gd name="connsiteX96" fmla="*/ 2267426 w 3308032"/>
              <a:gd name="connsiteY96" fmla="*/ 547878 h 1458087"/>
              <a:gd name="connsiteX97" fmla="*/ 2308003 w 3308032"/>
              <a:gd name="connsiteY97" fmla="*/ 458915 h 1458087"/>
              <a:gd name="connsiteX98" fmla="*/ 2276761 w 3308032"/>
              <a:gd name="connsiteY98" fmla="*/ 380048 h 1458087"/>
              <a:gd name="connsiteX99" fmla="*/ 2182273 w 3308032"/>
              <a:gd name="connsiteY99" fmla="*/ 339471 h 1458087"/>
              <a:gd name="connsiteX100" fmla="*/ 2127028 w 3308032"/>
              <a:gd name="connsiteY100" fmla="*/ 321278 h 1458087"/>
              <a:gd name="connsiteX101" fmla="*/ 2112359 w 3308032"/>
              <a:gd name="connsiteY101" fmla="*/ 292227 h 1458087"/>
              <a:gd name="connsiteX102" fmla="*/ 2126456 w 3308032"/>
              <a:gd name="connsiteY102" fmla="*/ 261366 h 1458087"/>
              <a:gd name="connsiteX103" fmla="*/ 2167795 w 3308032"/>
              <a:gd name="connsiteY103" fmla="*/ 249460 h 1458087"/>
              <a:gd name="connsiteX104" fmla="*/ 2211515 w 3308032"/>
              <a:gd name="connsiteY104" fmla="*/ 258413 h 1458087"/>
              <a:gd name="connsiteX105" fmla="*/ 2247043 w 3308032"/>
              <a:gd name="connsiteY105" fmla="*/ 285179 h 1458087"/>
              <a:gd name="connsiteX106" fmla="*/ 2298764 w 3308032"/>
              <a:gd name="connsiteY106" fmla="*/ 238316 h 1458087"/>
              <a:gd name="connsiteX107" fmla="*/ 2243328 w 3308032"/>
              <a:gd name="connsiteY107" fmla="*/ 196596 h 1458087"/>
              <a:gd name="connsiteX108" fmla="*/ 2170367 w 3308032"/>
              <a:gd name="connsiteY108" fmla="*/ 182785 h 1458087"/>
              <a:gd name="connsiteX109" fmla="*/ 2069211 w 3308032"/>
              <a:gd name="connsiteY109" fmla="*/ 214598 h 1458087"/>
              <a:gd name="connsiteX110" fmla="*/ 2029015 w 3308032"/>
              <a:gd name="connsiteY110" fmla="*/ 302228 h 1458087"/>
              <a:gd name="connsiteX111" fmla="*/ 2058638 w 3308032"/>
              <a:gd name="connsiteY111" fmla="*/ 375380 h 1458087"/>
              <a:gd name="connsiteX112" fmla="*/ 2163032 w 3308032"/>
              <a:gd name="connsiteY112" fmla="*/ 417957 h 1458087"/>
              <a:gd name="connsiteX113" fmla="*/ 2208943 w 3308032"/>
              <a:gd name="connsiteY113" fmla="*/ 435959 h 1458087"/>
              <a:gd name="connsiteX114" fmla="*/ 2224373 w 3308032"/>
              <a:gd name="connsiteY114" fmla="*/ 467011 h 1458087"/>
              <a:gd name="connsiteX115" fmla="*/ 2207990 w 3308032"/>
              <a:gd name="connsiteY115" fmla="*/ 502158 h 1458087"/>
              <a:gd name="connsiteX116" fmla="*/ 2162271 w 3308032"/>
              <a:gd name="connsiteY116" fmla="*/ 514636 h 1458087"/>
              <a:gd name="connsiteX117" fmla="*/ 2112645 w 3308032"/>
              <a:gd name="connsiteY117" fmla="*/ 502920 h 1458087"/>
              <a:gd name="connsiteX118" fmla="*/ 2068163 w 3308032"/>
              <a:gd name="connsiteY118" fmla="*/ 463677 h 1458087"/>
              <a:gd name="connsiteX119" fmla="*/ 2014633 w 3308032"/>
              <a:gd name="connsiteY119" fmla="*/ 511683 h 1458087"/>
              <a:gd name="connsiteX120" fmla="*/ 2074926 w 3308032"/>
              <a:gd name="connsiteY120" fmla="*/ 563785 h 1458087"/>
              <a:gd name="connsiteX121" fmla="*/ 2161604 w 3308032"/>
              <a:gd name="connsiteY121" fmla="*/ 581692 h 1458087"/>
              <a:gd name="connsiteX122" fmla="*/ 2267617 w 3308032"/>
              <a:gd name="connsiteY122" fmla="*/ 547878 h 1458087"/>
              <a:gd name="connsiteX123" fmla="*/ 2717292 w 3308032"/>
              <a:gd name="connsiteY123" fmla="*/ 237554 h 1458087"/>
              <a:gd name="connsiteX124" fmla="*/ 2769584 w 3308032"/>
              <a:gd name="connsiteY124" fmla="*/ 378905 h 1458087"/>
              <a:gd name="connsiteX125" fmla="*/ 2714530 w 3308032"/>
              <a:gd name="connsiteY125" fmla="*/ 524542 h 1458087"/>
              <a:gd name="connsiteX126" fmla="*/ 2569083 w 3308032"/>
              <a:gd name="connsiteY126" fmla="*/ 581692 h 1458087"/>
              <a:gd name="connsiteX127" fmla="*/ 2424875 w 3308032"/>
              <a:gd name="connsiteY127" fmla="*/ 528447 h 1458087"/>
              <a:gd name="connsiteX128" fmla="*/ 2371439 w 3308032"/>
              <a:gd name="connsiteY128" fmla="*/ 385191 h 1458087"/>
              <a:gd name="connsiteX129" fmla="*/ 2428018 w 3308032"/>
              <a:gd name="connsiteY129" fmla="*/ 238411 h 1458087"/>
              <a:gd name="connsiteX130" fmla="*/ 2574227 w 3308032"/>
              <a:gd name="connsiteY130" fmla="*/ 182785 h 1458087"/>
              <a:gd name="connsiteX131" fmla="*/ 2717292 w 3308032"/>
              <a:gd name="connsiteY131" fmla="*/ 237458 h 1458087"/>
              <a:gd name="connsiteX132" fmla="*/ 2678430 w 3308032"/>
              <a:gd name="connsiteY132" fmla="*/ 381191 h 1458087"/>
              <a:gd name="connsiteX133" fmla="*/ 2650522 w 3308032"/>
              <a:gd name="connsiteY133" fmla="*/ 289655 h 1458087"/>
              <a:gd name="connsiteX134" fmla="*/ 2572036 w 3308032"/>
              <a:gd name="connsiteY134" fmla="*/ 255079 h 1458087"/>
              <a:gd name="connsiteX135" fmla="*/ 2492216 w 3308032"/>
              <a:gd name="connsiteY135" fmla="*/ 290798 h 1458087"/>
              <a:gd name="connsiteX136" fmla="*/ 2462308 w 3308032"/>
              <a:gd name="connsiteY136" fmla="*/ 383477 h 1458087"/>
              <a:gd name="connsiteX137" fmla="*/ 2491931 w 3308032"/>
              <a:gd name="connsiteY137" fmla="*/ 476155 h 1458087"/>
              <a:gd name="connsiteX138" fmla="*/ 2572512 w 3308032"/>
              <a:gd name="connsiteY138" fmla="*/ 509969 h 1458087"/>
              <a:gd name="connsiteX139" fmla="*/ 2650808 w 3308032"/>
              <a:gd name="connsiteY139" fmla="*/ 475012 h 1458087"/>
              <a:gd name="connsiteX140" fmla="*/ 2678525 w 3308032"/>
              <a:gd name="connsiteY140" fmla="*/ 381286 h 1458087"/>
              <a:gd name="connsiteX141" fmla="*/ 3280410 w 3308032"/>
              <a:gd name="connsiteY141" fmla="*/ 494729 h 1458087"/>
              <a:gd name="connsiteX142" fmla="*/ 3257360 w 3308032"/>
              <a:gd name="connsiteY142" fmla="*/ 507397 h 1458087"/>
              <a:gd name="connsiteX143" fmla="*/ 3236500 w 3308032"/>
              <a:gd name="connsiteY143" fmla="*/ 511112 h 1458087"/>
              <a:gd name="connsiteX144" fmla="*/ 3205258 w 3308032"/>
              <a:gd name="connsiteY144" fmla="*/ 497872 h 1458087"/>
              <a:gd name="connsiteX145" fmla="*/ 3194114 w 3308032"/>
              <a:gd name="connsiteY145" fmla="*/ 456724 h 1458087"/>
              <a:gd name="connsiteX146" fmla="*/ 3194114 w 3308032"/>
              <a:gd name="connsiteY146" fmla="*/ 260985 h 1458087"/>
              <a:gd name="connsiteX147" fmla="*/ 3291269 w 3308032"/>
              <a:gd name="connsiteY147" fmla="*/ 260985 h 1458087"/>
              <a:gd name="connsiteX148" fmla="*/ 3291269 w 3308032"/>
              <a:gd name="connsiteY148" fmla="*/ 191738 h 1458087"/>
              <a:gd name="connsiteX149" fmla="*/ 3194114 w 3308032"/>
              <a:gd name="connsiteY149" fmla="*/ 191738 h 1458087"/>
              <a:gd name="connsiteX150" fmla="*/ 3194114 w 3308032"/>
              <a:gd name="connsiteY150" fmla="*/ 82677 h 1458087"/>
              <a:gd name="connsiteX151" fmla="*/ 3105150 w 3308032"/>
              <a:gd name="connsiteY151" fmla="*/ 98298 h 1458087"/>
              <a:gd name="connsiteX152" fmla="*/ 3105150 w 3308032"/>
              <a:gd name="connsiteY152" fmla="*/ 191643 h 1458087"/>
              <a:gd name="connsiteX153" fmla="*/ 2957227 w 3308032"/>
              <a:gd name="connsiteY153" fmla="*/ 191643 h 1458087"/>
              <a:gd name="connsiteX154" fmla="*/ 2957227 w 3308032"/>
              <a:gd name="connsiteY154" fmla="*/ 130969 h 1458087"/>
              <a:gd name="connsiteX155" fmla="*/ 2970086 w 3308032"/>
              <a:gd name="connsiteY155" fmla="*/ 86297 h 1458087"/>
              <a:gd name="connsiteX156" fmla="*/ 3006757 w 3308032"/>
              <a:gd name="connsiteY156" fmla="*/ 71438 h 1458087"/>
              <a:gd name="connsiteX157" fmla="*/ 3029236 w 3308032"/>
              <a:gd name="connsiteY157" fmla="*/ 74962 h 1458087"/>
              <a:gd name="connsiteX158" fmla="*/ 3049143 w 3308032"/>
              <a:gd name="connsiteY158" fmla="*/ 84868 h 1458087"/>
              <a:gd name="connsiteX159" fmla="*/ 3085624 w 3308032"/>
              <a:gd name="connsiteY159" fmla="*/ 20479 h 1458087"/>
              <a:gd name="connsiteX160" fmla="*/ 3045429 w 3308032"/>
              <a:gd name="connsiteY160" fmla="*/ 5048 h 1458087"/>
              <a:gd name="connsiteX161" fmla="*/ 3003042 w 3308032"/>
              <a:gd name="connsiteY161" fmla="*/ 0 h 1458087"/>
              <a:gd name="connsiteX162" fmla="*/ 2903887 w 3308032"/>
              <a:gd name="connsiteY162" fmla="*/ 34957 h 1458087"/>
              <a:gd name="connsiteX163" fmla="*/ 2868740 w 3308032"/>
              <a:gd name="connsiteY163" fmla="*/ 130207 h 1458087"/>
              <a:gd name="connsiteX164" fmla="*/ 2868740 w 3308032"/>
              <a:gd name="connsiteY164" fmla="*/ 191643 h 1458087"/>
              <a:gd name="connsiteX165" fmla="*/ 2803970 w 3308032"/>
              <a:gd name="connsiteY165" fmla="*/ 191643 h 1458087"/>
              <a:gd name="connsiteX166" fmla="*/ 2803970 w 3308032"/>
              <a:gd name="connsiteY166" fmla="*/ 260890 h 1458087"/>
              <a:gd name="connsiteX167" fmla="*/ 2868740 w 3308032"/>
              <a:gd name="connsiteY167" fmla="*/ 260890 h 1458087"/>
              <a:gd name="connsiteX168" fmla="*/ 2868740 w 3308032"/>
              <a:gd name="connsiteY168" fmla="*/ 572643 h 1458087"/>
              <a:gd name="connsiteX169" fmla="*/ 2957322 w 3308032"/>
              <a:gd name="connsiteY169" fmla="*/ 572643 h 1458087"/>
              <a:gd name="connsiteX170" fmla="*/ 2957322 w 3308032"/>
              <a:gd name="connsiteY170" fmla="*/ 260890 h 1458087"/>
              <a:gd name="connsiteX171" fmla="*/ 3105246 w 3308032"/>
              <a:gd name="connsiteY171" fmla="*/ 260890 h 1458087"/>
              <a:gd name="connsiteX172" fmla="*/ 3105246 w 3308032"/>
              <a:gd name="connsiteY172" fmla="*/ 469297 h 1458087"/>
              <a:gd name="connsiteX173" fmla="*/ 3133535 w 3308032"/>
              <a:gd name="connsiteY173" fmla="*/ 553022 h 1458087"/>
              <a:gd name="connsiteX174" fmla="*/ 3218021 w 3308032"/>
              <a:gd name="connsiteY174" fmla="*/ 581692 h 1458087"/>
              <a:gd name="connsiteX175" fmla="*/ 3269171 w 3308032"/>
              <a:gd name="connsiteY175" fmla="*/ 574453 h 1458087"/>
              <a:gd name="connsiteX176" fmla="*/ 3308033 w 3308032"/>
              <a:gd name="connsiteY176" fmla="*/ 554926 h 1458087"/>
              <a:gd name="connsiteX177" fmla="*/ 3280505 w 3308032"/>
              <a:gd name="connsiteY177" fmla="*/ 494633 h 1458087"/>
              <a:gd name="connsiteX178" fmla="*/ 301181 w 3308032"/>
              <a:gd name="connsiteY178" fmla="*/ 915543 h 1458087"/>
              <a:gd name="connsiteX179" fmla="*/ 497300 w 3308032"/>
              <a:gd name="connsiteY179" fmla="*/ 1449134 h 1458087"/>
              <a:gd name="connsiteX180" fmla="*/ 399860 w 3308032"/>
              <a:gd name="connsiteY180" fmla="*/ 1449134 h 1458087"/>
              <a:gd name="connsiteX181" fmla="*/ 354139 w 3308032"/>
              <a:gd name="connsiteY181" fmla="*/ 1324166 h 1458087"/>
              <a:gd name="connsiteX182" fmla="*/ 140970 w 3308032"/>
              <a:gd name="connsiteY182" fmla="*/ 1324166 h 1458087"/>
              <a:gd name="connsiteX183" fmla="*/ 97441 w 3308032"/>
              <a:gd name="connsiteY183" fmla="*/ 1449134 h 1458087"/>
              <a:gd name="connsiteX184" fmla="*/ 0 w 3308032"/>
              <a:gd name="connsiteY184" fmla="*/ 1449134 h 1458087"/>
              <a:gd name="connsiteX185" fmla="*/ 197930 w 3308032"/>
              <a:gd name="connsiteY185" fmla="*/ 915543 h 1458087"/>
              <a:gd name="connsiteX186" fmla="*/ 301371 w 3308032"/>
              <a:gd name="connsiteY186" fmla="*/ 915543 h 1458087"/>
              <a:gd name="connsiteX187" fmla="*/ 329851 w 3308032"/>
              <a:gd name="connsiteY187" fmla="*/ 1247108 h 1458087"/>
              <a:gd name="connsiteX188" fmla="*/ 257651 w 3308032"/>
              <a:gd name="connsiteY188" fmla="*/ 1037654 h 1458087"/>
              <a:gd name="connsiteX189" fmla="*/ 252984 w 3308032"/>
              <a:gd name="connsiteY189" fmla="*/ 1022795 h 1458087"/>
              <a:gd name="connsiteX190" fmla="*/ 248317 w 3308032"/>
              <a:gd name="connsiteY190" fmla="*/ 1006412 h 1458087"/>
              <a:gd name="connsiteX191" fmla="*/ 246126 w 3308032"/>
              <a:gd name="connsiteY191" fmla="*/ 1006412 h 1458087"/>
              <a:gd name="connsiteX192" fmla="*/ 241459 w 3308032"/>
              <a:gd name="connsiteY192" fmla="*/ 1022223 h 1458087"/>
              <a:gd name="connsiteX193" fmla="*/ 236411 w 3308032"/>
              <a:gd name="connsiteY193" fmla="*/ 1037654 h 1458087"/>
              <a:gd name="connsiteX194" fmla="*/ 164973 w 3308032"/>
              <a:gd name="connsiteY194" fmla="*/ 1247108 h 1458087"/>
              <a:gd name="connsiteX195" fmla="*/ 329756 w 3308032"/>
              <a:gd name="connsiteY195" fmla="*/ 1247108 h 1458087"/>
              <a:gd name="connsiteX196" fmla="*/ 557403 w 3308032"/>
              <a:gd name="connsiteY196" fmla="*/ 1449134 h 1458087"/>
              <a:gd name="connsiteX197" fmla="*/ 648557 w 3308032"/>
              <a:gd name="connsiteY197" fmla="*/ 1449134 h 1458087"/>
              <a:gd name="connsiteX198" fmla="*/ 648557 w 3308032"/>
              <a:gd name="connsiteY198" fmla="*/ 915543 h 1458087"/>
              <a:gd name="connsiteX199" fmla="*/ 557403 w 3308032"/>
              <a:gd name="connsiteY199" fmla="*/ 915543 h 1458087"/>
              <a:gd name="connsiteX200" fmla="*/ 557403 w 3308032"/>
              <a:gd name="connsiteY200" fmla="*/ 1449134 h 1458087"/>
              <a:gd name="connsiteX201" fmla="*/ 1271778 w 3308032"/>
              <a:gd name="connsiteY201" fmla="*/ 915543 h 1458087"/>
              <a:gd name="connsiteX202" fmla="*/ 883730 w 3308032"/>
              <a:gd name="connsiteY202" fmla="*/ 915543 h 1458087"/>
              <a:gd name="connsiteX203" fmla="*/ 883730 w 3308032"/>
              <a:gd name="connsiteY203" fmla="*/ 992600 h 1458087"/>
              <a:gd name="connsiteX204" fmla="*/ 1031843 w 3308032"/>
              <a:gd name="connsiteY204" fmla="*/ 992600 h 1458087"/>
              <a:gd name="connsiteX205" fmla="*/ 1031843 w 3308032"/>
              <a:gd name="connsiteY205" fmla="*/ 1449134 h 1458087"/>
              <a:gd name="connsiteX206" fmla="*/ 1122998 w 3308032"/>
              <a:gd name="connsiteY206" fmla="*/ 1449134 h 1458087"/>
              <a:gd name="connsiteX207" fmla="*/ 1122998 w 3308032"/>
              <a:gd name="connsiteY207" fmla="*/ 992600 h 1458087"/>
              <a:gd name="connsiteX208" fmla="*/ 1271778 w 3308032"/>
              <a:gd name="connsiteY208" fmla="*/ 992600 h 1458087"/>
              <a:gd name="connsiteX209" fmla="*/ 1271778 w 3308032"/>
              <a:gd name="connsiteY209" fmla="*/ 915543 h 1458087"/>
              <a:gd name="connsiteX210" fmla="*/ 1581340 w 3308032"/>
              <a:gd name="connsiteY210" fmla="*/ 1113854 h 1458087"/>
              <a:gd name="connsiteX211" fmla="*/ 1633633 w 3308032"/>
              <a:gd name="connsiteY211" fmla="*/ 1255205 h 1458087"/>
              <a:gd name="connsiteX212" fmla="*/ 1578578 w 3308032"/>
              <a:gd name="connsiteY212" fmla="*/ 1400842 h 1458087"/>
              <a:gd name="connsiteX213" fmla="*/ 1433132 w 3308032"/>
              <a:gd name="connsiteY213" fmla="*/ 1457992 h 1458087"/>
              <a:gd name="connsiteX214" fmla="*/ 1288923 w 3308032"/>
              <a:gd name="connsiteY214" fmla="*/ 1404747 h 1458087"/>
              <a:gd name="connsiteX215" fmla="*/ 1235488 w 3308032"/>
              <a:gd name="connsiteY215" fmla="*/ 1261491 h 1458087"/>
              <a:gd name="connsiteX216" fmla="*/ 1292066 w 3308032"/>
              <a:gd name="connsiteY216" fmla="*/ 1114711 h 1458087"/>
              <a:gd name="connsiteX217" fmla="*/ 1438275 w 3308032"/>
              <a:gd name="connsiteY217" fmla="*/ 1059085 h 1458087"/>
              <a:gd name="connsiteX218" fmla="*/ 1581340 w 3308032"/>
              <a:gd name="connsiteY218" fmla="*/ 1113758 h 1458087"/>
              <a:gd name="connsiteX219" fmla="*/ 1542479 w 3308032"/>
              <a:gd name="connsiteY219" fmla="*/ 1257491 h 1458087"/>
              <a:gd name="connsiteX220" fmla="*/ 1514570 w 3308032"/>
              <a:gd name="connsiteY220" fmla="*/ 1165955 h 1458087"/>
              <a:gd name="connsiteX221" fmla="*/ 1436084 w 3308032"/>
              <a:gd name="connsiteY221" fmla="*/ 1131380 h 1458087"/>
              <a:gd name="connsiteX222" fmla="*/ 1356265 w 3308032"/>
              <a:gd name="connsiteY222" fmla="*/ 1167098 h 1458087"/>
              <a:gd name="connsiteX223" fmla="*/ 1326356 w 3308032"/>
              <a:gd name="connsiteY223" fmla="*/ 1259777 h 1458087"/>
              <a:gd name="connsiteX224" fmla="*/ 1355979 w 3308032"/>
              <a:gd name="connsiteY224" fmla="*/ 1352455 h 1458087"/>
              <a:gd name="connsiteX225" fmla="*/ 1436561 w 3308032"/>
              <a:gd name="connsiteY225" fmla="*/ 1386269 h 1458087"/>
              <a:gd name="connsiteX226" fmla="*/ 1514856 w 3308032"/>
              <a:gd name="connsiteY226" fmla="*/ 1351312 h 1458087"/>
              <a:gd name="connsiteX227" fmla="*/ 1542574 w 3308032"/>
              <a:gd name="connsiteY227" fmla="*/ 1257586 h 1458087"/>
              <a:gd name="connsiteX228" fmla="*/ 1951577 w 3308032"/>
              <a:gd name="connsiteY228" fmla="*/ 1285399 h 1458087"/>
              <a:gd name="connsiteX229" fmla="*/ 1926622 w 3308032"/>
              <a:gd name="connsiteY229" fmla="*/ 1357598 h 1458087"/>
              <a:gd name="connsiteX230" fmla="*/ 1862233 w 3308032"/>
              <a:gd name="connsiteY230" fmla="*/ 1386269 h 1458087"/>
              <a:gd name="connsiteX231" fmla="*/ 1805273 w 3308032"/>
              <a:gd name="connsiteY231" fmla="*/ 1362266 h 1458087"/>
              <a:gd name="connsiteX232" fmla="*/ 1787081 w 3308032"/>
              <a:gd name="connsiteY232" fmla="*/ 1290638 h 1458087"/>
              <a:gd name="connsiteX233" fmla="*/ 1787081 w 3308032"/>
              <a:gd name="connsiteY233" fmla="*/ 1068134 h 1458087"/>
              <a:gd name="connsiteX234" fmla="*/ 1698498 w 3308032"/>
              <a:gd name="connsiteY234" fmla="*/ 1068134 h 1458087"/>
              <a:gd name="connsiteX235" fmla="*/ 1698498 w 3308032"/>
              <a:gd name="connsiteY235" fmla="*/ 1302544 h 1458087"/>
              <a:gd name="connsiteX236" fmla="*/ 1732502 w 3308032"/>
              <a:gd name="connsiteY236" fmla="*/ 1418463 h 1458087"/>
              <a:gd name="connsiteX237" fmla="*/ 1833563 w 3308032"/>
              <a:gd name="connsiteY237" fmla="*/ 1458087 h 1458087"/>
              <a:gd name="connsiteX238" fmla="*/ 1899571 w 3308032"/>
              <a:gd name="connsiteY238" fmla="*/ 1441514 h 1458087"/>
              <a:gd name="connsiteX239" fmla="*/ 1949577 w 3308032"/>
              <a:gd name="connsiteY239" fmla="*/ 1397413 h 1458087"/>
              <a:gd name="connsiteX240" fmla="*/ 1951482 w 3308032"/>
              <a:gd name="connsiteY240" fmla="*/ 1397413 h 1458087"/>
              <a:gd name="connsiteX241" fmla="*/ 1951482 w 3308032"/>
              <a:gd name="connsiteY241" fmla="*/ 1449134 h 1458087"/>
              <a:gd name="connsiteX242" fmla="*/ 2040446 w 3308032"/>
              <a:gd name="connsiteY242" fmla="*/ 1449134 h 1458087"/>
              <a:gd name="connsiteX243" fmla="*/ 2040446 w 3308032"/>
              <a:gd name="connsiteY243" fmla="*/ 1068134 h 1458087"/>
              <a:gd name="connsiteX244" fmla="*/ 1951482 w 3308032"/>
              <a:gd name="connsiteY244" fmla="*/ 1068134 h 1458087"/>
              <a:gd name="connsiteX245" fmla="*/ 1951482 w 3308032"/>
              <a:gd name="connsiteY245" fmla="*/ 1285399 h 1458087"/>
              <a:gd name="connsiteX246" fmla="*/ 2326767 w 3308032"/>
              <a:gd name="connsiteY246" fmla="*/ 1061466 h 1458087"/>
              <a:gd name="connsiteX247" fmla="*/ 2266474 w 3308032"/>
              <a:gd name="connsiteY247" fmla="*/ 1080992 h 1458087"/>
              <a:gd name="connsiteX248" fmla="*/ 2227040 w 3308032"/>
              <a:gd name="connsiteY248" fmla="*/ 1136999 h 1458087"/>
              <a:gd name="connsiteX249" fmla="*/ 2225516 w 3308032"/>
              <a:gd name="connsiteY249" fmla="*/ 1136999 h 1458087"/>
              <a:gd name="connsiteX250" fmla="*/ 2225516 w 3308032"/>
              <a:gd name="connsiteY250" fmla="*/ 1068134 h 1458087"/>
              <a:gd name="connsiteX251" fmla="*/ 2136553 w 3308032"/>
              <a:gd name="connsiteY251" fmla="*/ 1068134 h 1458087"/>
              <a:gd name="connsiteX252" fmla="*/ 2136553 w 3308032"/>
              <a:gd name="connsiteY252" fmla="*/ 1449134 h 1458087"/>
              <a:gd name="connsiteX253" fmla="*/ 2225516 w 3308032"/>
              <a:gd name="connsiteY253" fmla="*/ 1449134 h 1458087"/>
              <a:gd name="connsiteX254" fmla="*/ 2225516 w 3308032"/>
              <a:gd name="connsiteY254" fmla="*/ 1260824 h 1458087"/>
              <a:gd name="connsiteX255" fmla="*/ 2249138 w 3308032"/>
              <a:gd name="connsiteY255" fmla="*/ 1172623 h 1458087"/>
              <a:gd name="connsiteX256" fmla="*/ 2311051 w 3308032"/>
              <a:gd name="connsiteY256" fmla="*/ 1139095 h 1458087"/>
              <a:gd name="connsiteX257" fmla="*/ 2334292 w 3308032"/>
              <a:gd name="connsiteY257" fmla="*/ 1141476 h 1458087"/>
              <a:gd name="connsiteX258" fmla="*/ 2356104 w 3308032"/>
              <a:gd name="connsiteY258" fmla="*/ 1147953 h 1458087"/>
              <a:gd name="connsiteX259" fmla="*/ 2379917 w 3308032"/>
              <a:gd name="connsiteY259" fmla="*/ 1072039 h 1458087"/>
              <a:gd name="connsiteX260" fmla="*/ 2353532 w 3308032"/>
              <a:gd name="connsiteY260" fmla="*/ 1063466 h 1458087"/>
              <a:gd name="connsiteX261" fmla="*/ 2326767 w 3308032"/>
              <a:gd name="connsiteY261" fmla="*/ 1061276 h 145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Lst>
            <a:rect l="l" t="t" r="r" b="b"/>
            <a:pathLst>
              <a:path w="3308032" h="1458087">
                <a:moveTo>
                  <a:pt x="542449" y="193453"/>
                </a:moveTo>
                <a:cubicBezTo>
                  <a:pt x="542830" y="180404"/>
                  <a:pt x="543116" y="165640"/>
                  <a:pt x="543401" y="148971"/>
                </a:cubicBezTo>
                <a:lnTo>
                  <a:pt x="541211" y="148971"/>
                </a:lnTo>
                <a:cubicBezTo>
                  <a:pt x="539020" y="156400"/>
                  <a:pt x="536829" y="162877"/>
                  <a:pt x="534924" y="168497"/>
                </a:cubicBezTo>
                <a:cubicBezTo>
                  <a:pt x="532924" y="174117"/>
                  <a:pt x="530733" y="180023"/>
                  <a:pt x="528257" y="186214"/>
                </a:cubicBezTo>
                <a:lnTo>
                  <a:pt x="374618" y="572834"/>
                </a:lnTo>
                <a:lnTo>
                  <a:pt x="310229" y="572834"/>
                </a:lnTo>
                <a:lnTo>
                  <a:pt x="155448" y="189643"/>
                </a:lnTo>
                <a:cubicBezTo>
                  <a:pt x="153448" y="183928"/>
                  <a:pt x="151447" y="178213"/>
                  <a:pt x="149352" y="172307"/>
                </a:cubicBezTo>
                <a:cubicBezTo>
                  <a:pt x="147257" y="166497"/>
                  <a:pt x="144589" y="158687"/>
                  <a:pt x="141351" y="149066"/>
                </a:cubicBezTo>
                <a:lnTo>
                  <a:pt x="139160" y="149066"/>
                </a:lnTo>
                <a:cubicBezTo>
                  <a:pt x="139637" y="164497"/>
                  <a:pt x="140018" y="180023"/>
                  <a:pt x="140303" y="195739"/>
                </a:cubicBezTo>
                <a:cubicBezTo>
                  <a:pt x="140589" y="211455"/>
                  <a:pt x="140684" y="228410"/>
                  <a:pt x="140684" y="246507"/>
                </a:cubicBezTo>
                <a:lnTo>
                  <a:pt x="140684" y="572834"/>
                </a:lnTo>
                <a:lnTo>
                  <a:pt x="55817" y="572834"/>
                </a:lnTo>
                <a:lnTo>
                  <a:pt x="55817" y="39243"/>
                </a:lnTo>
                <a:lnTo>
                  <a:pt x="185642" y="39243"/>
                </a:lnTo>
                <a:lnTo>
                  <a:pt x="322231" y="383381"/>
                </a:lnTo>
                <a:cubicBezTo>
                  <a:pt x="327470" y="396050"/>
                  <a:pt x="331565" y="406813"/>
                  <a:pt x="334709" y="415576"/>
                </a:cubicBezTo>
                <a:cubicBezTo>
                  <a:pt x="337852" y="424339"/>
                  <a:pt x="340805" y="434150"/>
                  <a:pt x="343853" y="444817"/>
                </a:cubicBezTo>
                <a:lnTo>
                  <a:pt x="346043" y="444817"/>
                </a:lnTo>
                <a:cubicBezTo>
                  <a:pt x="350520" y="432911"/>
                  <a:pt x="354520" y="422148"/>
                  <a:pt x="358140" y="412433"/>
                </a:cubicBezTo>
                <a:cubicBezTo>
                  <a:pt x="361760" y="402717"/>
                  <a:pt x="365474" y="392716"/>
                  <a:pt x="369475" y="382334"/>
                </a:cubicBezTo>
                <a:lnTo>
                  <a:pt x="507873" y="39243"/>
                </a:lnTo>
                <a:lnTo>
                  <a:pt x="632555" y="39243"/>
                </a:lnTo>
                <a:lnTo>
                  <a:pt x="632555" y="572834"/>
                </a:lnTo>
                <a:lnTo>
                  <a:pt x="542163" y="572834"/>
                </a:lnTo>
                <a:lnTo>
                  <a:pt x="542163" y="234220"/>
                </a:lnTo>
                <a:cubicBezTo>
                  <a:pt x="542163" y="220123"/>
                  <a:pt x="542354" y="206502"/>
                  <a:pt x="542735" y="193453"/>
                </a:cubicBezTo>
                <a:close/>
                <a:moveTo>
                  <a:pt x="768001" y="14383"/>
                </a:moveTo>
                <a:cubicBezTo>
                  <a:pt x="751904" y="14383"/>
                  <a:pt x="738759" y="19431"/>
                  <a:pt x="728567" y="29623"/>
                </a:cubicBezTo>
                <a:cubicBezTo>
                  <a:pt x="718376" y="39815"/>
                  <a:pt x="713327" y="52292"/>
                  <a:pt x="713327" y="67247"/>
                </a:cubicBezTo>
                <a:cubicBezTo>
                  <a:pt x="713327" y="82201"/>
                  <a:pt x="718376" y="94488"/>
                  <a:pt x="728567" y="104966"/>
                </a:cubicBezTo>
                <a:cubicBezTo>
                  <a:pt x="738759" y="115538"/>
                  <a:pt x="751904" y="120777"/>
                  <a:pt x="768001" y="120777"/>
                </a:cubicBezTo>
                <a:cubicBezTo>
                  <a:pt x="784098" y="120777"/>
                  <a:pt x="798005" y="115729"/>
                  <a:pt x="808196" y="105537"/>
                </a:cubicBezTo>
                <a:cubicBezTo>
                  <a:pt x="818388" y="95345"/>
                  <a:pt x="823436" y="82677"/>
                  <a:pt x="823436" y="67627"/>
                </a:cubicBezTo>
                <a:cubicBezTo>
                  <a:pt x="823436" y="52578"/>
                  <a:pt x="818388" y="39815"/>
                  <a:pt x="808196" y="29718"/>
                </a:cubicBezTo>
                <a:cubicBezTo>
                  <a:pt x="798005" y="19526"/>
                  <a:pt x="784669" y="14478"/>
                  <a:pt x="768001" y="14478"/>
                </a:cubicBezTo>
                <a:close/>
                <a:moveTo>
                  <a:pt x="723329" y="572834"/>
                </a:moveTo>
                <a:lnTo>
                  <a:pt x="812292" y="572834"/>
                </a:lnTo>
                <a:lnTo>
                  <a:pt x="812292" y="191834"/>
                </a:lnTo>
                <a:lnTo>
                  <a:pt x="723329" y="191834"/>
                </a:lnTo>
                <a:lnTo>
                  <a:pt x="723329" y="572834"/>
                </a:lnTo>
                <a:close/>
                <a:moveTo>
                  <a:pt x="1079278" y="581787"/>
                </a:moveTo>
                <a:cubicBezTo>
                  <a:pt x="1112234" y="581787"/>
                  <a:pt x="1142238" y="575120"/>
                  <a:pt x="1169099" y="561689"/>
                </a:cubicBezTo>
                <a:cubicBezTo>
                  <a:pt x="1195959" y="548259"/>
                  <a:pt x="1217867" y="527876"/>
                  <a:pt x="1234726" y="500253"/>
                </a:cubicBezTo>
                <a:lnTo>
                  <a:pt x="1165860" y="461582"/>
                </a:lnTo>
                <a:cubicBezTo>
                  <a:pt x="1154716" y="478250"/>
                  <a:pt x="1142048" y="490061"/>
                  <a:pt x="1127951" y="497110"/>
                </a:cubicBezTo>
                <a:cubicBezTo>
                  <a:pt x="1113854" y="504158"/>
                  <a:pt x="1098328" y="507683"/>
                  <a:pt x="1081469" y="507683"/>
                </a:cubicBezTo>
                <a:cubicBezTo>
                  <a:pt x="1049179" y="507683"/>
                  <a:pt x="1023461" y="496919"/>
                  <a:pt x="1004126" y="475298"/>
                </a:cubicBezTo>
                <a:cubicBezTo>
                  <a:pt x="984790" y="453676"/>
                  <a:pt x="975074" y="423005"/>
                  <a:pt x="975074" y="383000"/>
                </a:cubicBezTo>
                <a:cubicBezTo>
                  <a:pt x="975074" y="342995"/>
                  <a:pt x="984885" y="311087"/>
                  <a:pt x="1004506" y="288512"/>
                </a:cubicBezTo>
                <a:cubicBezTo>
                  <a:pt x="1024128" y="265938"/>
                  <a:pt x="1048988" y="254699"/>
                  <a:pt x="1079278" y="254699"/>
                </a:cubicBezTo>
                <a:cubicBezTo>
                  <a:pt x="1096613" y="254699"/>
                  <a:pt x="1112044" y="258318"/>
                  <a:pt x="1125379" y="265462"/>
                </a:cubicBezTo>
                <a:cubicBezTo>
                  <a:pt x="1138809" y="272701"/>
                  <a:pt x="1151192" y="284798"/>
                  <a:pt x="1162622" y="301943"/>
                </a:cubicBezTo>
                <a:lnTo>
                  <a:pt x="1232535" y="267367"/>
                </a:lnTo>
                <a:cubicBezTo>
                  <a:pt x="1219105" y="239554"/>
                  <a:pt x="1199102" y="218599"/>
                  <a:pt x="1172432" y="204311"/>
                </a:cubicBezTo>
                <a:cubicBezTo>
                  <a:pt x="1145762" y="190024"/>
                  <a:pt x="1115663" y="182880"/>
                  <a:pt x="1082231" y="182880"/>
                </a:cubicBezTo>
                <a:cubicBezTo>
                  <a:pt x="1023652" y="182880"/>
                  <a:pt x="976027" y="201263"/>
                  <a:pt x="939356" y="238125"/>
                </a:cubicBezTo>
                <a:cubicBezTo>
                  <a:pt x="902589" y="274987"/>
                  <a:pt x="884301" y="325279"/>
                  <a:pt x="884301" y="389001"/>
                </a:cubicBezTo>
                <a:cubicBezTo>
                  <a:pt x="884301" y="447008"/>
                  <a:pt x="901541" y="493681"/>
                  <a:pt x="936022" y="528923"/>
                </a:cubicBezTo>
                <a:cubicBezTo>
                  <a:pt x="970502" y="564166"/>
                  <a:pt x="1018223" y="581787"/>
                  <a:pt x="1079278" y="581787"/>
                </a:cubicBezTo>
                <a:close/>
                <a:moveTo>
                  <a:pt x="1393031" y="384524"/>
                </a:moveTo>
                <a:cubicBezTo>
                  <a:pt x="1393031" y="348044"/>
                  <a:pt x="1400937" y="318707"/>
                  <a:pt x="1416653" y="296323"/>
                </a:cubicBezTo>
                <a:cubicBezTo>
                  <a:pt x="1432370" y="274034"/>
                  <a:pt x="1453039" y="262795"/>
                  <a:pt x="1478566" y="262795"/>
                </a:cubicBezTo>
                <a:cubicBezTo>
                  <a:pt x="1486757" y="262795"/>
                  <a:pt x="1494473" y="263557"/>
                  <a:pt x="1501807" y="265176"/>
                </a:cubicBezTo>
                <a:cubicBezTo>
                  <a:pt x="1509141" y="266795"/>
                  <a:pt x="1516380" y="268986"/>
                  <a:pt x="1523619" y="271653"/>
                </a:cubicBezTo>
                <a:lnTo>
                  <a:pt x="1547432" y="195739"/>
                </a:lnTo>
                <a:cubicBezTo>
                  <a:pt x="1538002" y="191548"/>
                  <a:pt x="1529239" y="188690"/>
                  <a:pt x="1521047" y="187166"/>
                </a:cubicBezTo>
                <a:cubicBezTo>
                  <a:pt x="1512856" y="185642"/>
                  <a:pt x="1503902" y="184975"/>
                  <a:pt x="1494282" y="184975"/>
                </a:cubicBezTo>
                <a:cubicBezTo>
                  <a:pt x="1471422" y="184975"/>
                  <a:pt x="1451324" y="191452"/>
                  <a:pt x="1433989" y="204502"/>
                </a:cubicBezTo>
                <a:cubicBezTo>
                  <a:pt x="1416653" y="217551"/>
                  <a:pt x="1403509" y="236220"/>
                  <a:pt x="1394555" y="260509"/>
                </a:cubicBezTo>
                <a:lnTo>
                  <a:pt x="1393031" y="260509"/>
                </a:lnTo>
                <a:lnTo>
                  <a:pt x="1393031" y="191643"/>
                </a:lnTo>
                <a:lnTo>
                  <a:pt x="1304068" y="191643"/>
                </a:lnTo>
                <a:lnTo>
                  <a:pt x="1304068" y="572643"/>
                </a:lnTo>
                <a:lnTo>
                  <a:pt x="1393031" y="572643"/>
                </a:lnTo>
                <a:lnTo>
                  <a:pt x="1393031" y="384334"/>
                </a:lnTo>
                <a:close/>
                <a:moveTo>
                  <a:pt x="1621917" y="528542"/>
                </a:moveTo>
                <a:cubicBezTo>
                  <a:pt x="1586294" y="493109"/>
                  <a:pt x="1568482" y="445294"/>
                  <a:pt x="1568482" y="385286"/>
                </a:cubicBezTo>
                <a:cubicBezTo>
                  <a:pt x="1568768" y="324517"/>
                  <a:pt x="1587532" y="275558"/>
                  <a:pt x="1625060" y="238506"/>
                </a:cubicBezTo>
                <a:cubicBezTo>
                  <a:pt x="1662494" y="201454"/>
                  <a:pt x="1711262" y="182880"/>
                  <a:pt x="1771269" y="182880"/>
                </a:cubicBezTo>
                <a:cubicBezTo>
                  <a:pt x="1831277" y="182880"/>
                  <a:pt x="1879473" y="201073"/>
                  <a:pt x="1914335" y="237554"/>
                </a:cubicBezTo>
                <a:cubicBezTo>
                  <a:pt x="1949196" y="274034"/>
                  <a:pt x="1966627" y="321183"/>
                  <a:pt x="1966627" y="378905"/>
                </a:cubicBezTo>
                <a:cubicBezTo>
                  <a:pt x="1966627" y="436626"/>
                  <a:pt x="1948244" y="486537"/>
                  <a:pt x="1911572" y="524542"/>
                </a:cubicBezTo>
                <a:cubicBezTo>
                  <a:pt x="1874901" y="562642"/>
                  <a:pt x="1826324" y="581692"/>
                  <a:pt x="1766126" y="581692"/>
                </a:cubicBezTo>
                <a:cubicBezTo>
                  <a:pt x="1705928" y="581692"/>
                  <a:pt x="1657540" y="563975"/>
                  <a:pt x="1621917" y="528447"/>
                </a:cubicBezTo>
                <a:close/>
                <a:moveTo>
                  <a:pt x="1659350" y="383477"/>
                </a:moveTo>
                <a:cubicBezTo>
                  <a:pt x="1659350" y="422720"/>
                  <a:pt x="1669256" y="453580"/>
                  <a:pt x="1688973" y="476155"/>
                </a:cubicBezTo>
                <a:cubicBezTo>
                  <a:pt x="1708690" y="498729"/>
                  <a:pt x="1735550" y="509969"/>
                  <a:pt x="1769555" y="509969"/>
                </a:cubicBezTo>
                <a:cubicBezTo>
                  <a:pt x="1803559" y="509969"/>
                  <a:pt x="1829372" y="498348"/>
                  <a:pt x="1847850" y="475012"/>
                </a:cubicBezTo>
                <a:cubicBezTo>
                  <a:pt x="1866329" y="451675"/>
                  <a:pt x="1875568" y="420434"/>
                  <a:pt x="1875568" y="381286"/>
                </a:cubicBezTo>
                <a:cubicBezTo>
                  <a:pt x="1875568" y="342138"/>
                  <a:pt x="1866233" y="312801"/>
                  <a:pt x="1847660" y="289750"/>
                </a:cubicBezTo>
                <a:cubicBezTo>
                  <a:pt x="1829086" y="266700"/>
                  <a:pt x="1802892" y="255175"/>
                  <a:pt x="1769174" y="255175"/>
                </a:cubicBezTo>
                <a:cubicBezTo>
                  <a:pt x="1735455" y="255175"/>
                  <a:pt x="1709357" y="267081"/>
                  <a:pt x="1689354" y="290894"/>
                </a:cubicBezTo>
                <a:cubicBezTo>
                  <a:pt x="1669352" y="314706"/>
                  <a:pt x="1659446" y="345567"/>
                  <a:pt x="1659446" y="383572"/>
                </a:cubicBezTo>
                <a:close/>
                <a:moveTo>
                  <a:pt x="2267426" y="547878"/>
                </a:moveTo>
                <a:cubicBezTo>
                  <a:pt x="2294477" y="525304"/>
                  <a:pt x="2308003" y="495681"/>
                  <a:pt x="2308003" y="458915"/>
                </a:cubicBezTo>
                <a:cubicBezTo>
                  <a:pt x="2308003" y="426149"/>
                  <a:pt x="2297621" y="399859"/>
                  <a:pt x="2276761" y="380048"/>
                </a:cubicBezTo>
                <a:cubicBezTo>
                  <a:pt x="2255901" y="360236"/>
                  <a:pt x="2224373" y="346710"/>
                  <a:pt x="2182273" y="339471"/>
                </a:cubicBezTo>
                <a:cubicBezTo>
                  <a:pt x="2155222" y="334232"/>
                  <a:pt x="2136839" y="328232"/>
                  <a:pt x="2127028" y="321278"/>
                </a:cubicBezTo>
                <a:cubicBezTo>
                  <a:pt x="2117217" y="314325"/>
                  <a:pt x="2112359" y="304705"/>
                  <a:pt x="2112359" y="292227"/>
                </a:cubicBezTo>
                <a:cubicBezTo>
                  <a:pt x="2112359" y="279749"/>
                  <a:pt x="2117027" y="269272"/>
                  <a:pt x="2126456" y="261366"/>
                </a:cubicBezTo>
                <a:cubicBezTo>
                  <a:pt x="2135886" y="253460"/>
                  <a:pt x="2149602" y="249460"/>
                  <a:pt x="2167795" y="249460"/>
                </a:cubicBezTo>
                <a:cubicBezTo>
                  <a:pt x="2184654" y="249460"/>
                  <a:pt x="2199227" y="252413"/>
                  <a:pt x="2211515" y="258413"/>
                </a:cubicBezTo>
                <a:cubicBezTo>
                  <a:pt x="2223802" y="264414"/>
                  <a:pt x="2235613" y="273272"/>
                  <a:pt x="2247043" y="285179"/>
                </a:cubicBezTo>
                <a:lnTo>
                  <a:pt x="2298764" y="238316"/>
                </a:lnTo>
                <a:cubicBezTo>
                  <a:pt x="2284381" y="219742"/>
                  <a:pt x="2265902" y="205835"/>
                  <a:pt x="2243328" y="196596"/>
                </a:cubicBezTo>
                <a:cubicBezTo>
                  <a:pt x="2220754" y="187452"/>
                  <a:pt x="2196465" y="182785"/>
                  <a:pt x="2170367" y="182785"/>
                </a:cubicBezTo>
                <a:cubicBezTo>
                  <a:pt x="2129695" y="182785"/>
                  <a:pt x="2095976" y="193358"/>
                  <a:pt x="2069211" y="214598"/>
                </a:cubicBezTo>
                <a:cubicBezTo>
                  <a:pt x="2042446" y="235839"/>
                  <a:pt x="2029015" y="264986"/>
                  <a:pt x="2029015" y="302228"/>
                </a:cubicBezTo>
                <a:cubicBezTo>
                  <a:pt x="2029015" y="331280"/>
                  <a:pt x="2038922" y="355664"/>
                  <a:pt x="2058638" y="375380"/>
                </a:cubicBezTo>
                <a:cubicBezTo>
                  <a:pt x="2078355" y="395097"/>
                  <a:pt x="2113121" y="409289"/>
                  <a:pt x="2163032" y="417957"/>
                </a:cubicBezTo>
                <a:cubicBezTo>
                  <a:pt x="2183321" y="421672"/>
                  <a:pt x="2198656" y="427673"/>
                  <a:pt x="2208943" y="435959"/>
                </a:cubicBezTo>
                <a:cubicBezTo>
                  <a:pt x="2219230" y="444246"/>
                  <a:pt x="2224373" y="454628"/>
                  <a:pt x="2224373" y="467011"/>
                </a:cubicBezTo>
                <a:cubicBezTo>
                  <a:pt x="2224373" y="482155"/>
                  <a:pt x="2218944" y="493871"/>
                  <a:pt x="2207990" y="502158"/>
                </a:cubicBezTo>
                <a:cubicBezTo>
                  <a:pt x="2197037" y="510445"/>
                  <a:pt x="2181797" y="514636"/>
                  <a:pt x="2162271" y="514636"/>
                </a:cubicBezTo>
                <a:cubicBezTo>
                  <a:pt x="2144935" y="514636"/>
                  <a:pt x="2128361" y="510730"/>
                  <a:pt x="2112645" y="502920"/>
                </a:cubicBezTo>
                <a:cubicBezTo>
                  <a:pt x="2096929" y="495109"/>
                  <a:pt x="2082070" y="482060"/>
                  <a:pt x="2068163" y="463677"/>
                </a:cubicBezTo>
                <a:lnTo>
                  <a:pt x="2014633" y="511683"/>
                </a:lnTo>
                <a:cubicBezTo>
                  <a:pt x="2028730" y="534543"/>
                  <a:pt x="2048828" y="551879"/>
                  <a:pt x="2074926" y="563785"/>
                </a:cubicBezTo>
                <a:cubicBezTo>
                  <a:pt x="2101025" y="575691"/>
                  <a:pt x="2129885" y="581692"/>
                  <a:pt x="2161604" y="581692"/>
                </a:cubicBezTo>
                <a:cubicBezTo>
                  <a:pt x="2205228" y="581692"/>
                  <a:pt x="2240566" y="570452"/>
                  <a:pt x="2267617" y="547878"/>
                </a:cubicBezTo>
                <a:close/>
                <a:moveTo>
                  <a:pt x="2717292" y="237554"/>
                </a:moveTo>
                <a:cubicBezTo>
                  <a:pt x="2752154" y="274034"/>
                  <a:pt x="2769584" y="321183"/>
                  <a:pt x="2769584" y="378905"/>
                </a:cubicBezTo>
                <a:cubicBezTo>
                  <a:pt x="2769584" y="436626"/>
                  <a:pt x="2751201" y="486537"/>
                  <a:pt x="2714530" y="524542"/>
                </a:cubicBezTo>
                <a:cubicBezTo>
                  <a:pt x="2677859" y="562642"/>
                  <a:pt x="2629281" y="581692"/>
                  <a:pt x="2569083" y="581692"/>
                </a:cubicBezTo>
                <a:cubicBezTo>
                  <a:pt x="2508885" y="581692"/>
                  <a:pt x="2460498" y="563975"/>
                  <a:pt x="2424875" y="528447"/>
                </a:cubicBezTo>
                <a:cubicBezTo>
                  <a:pt x="2389251" y="493014"/>
                  <a:pt x="2371439" y="445199"/>
                  <a:pt x="2371439" y="385191"/>
                </a:cubicBezTo>
                <a:cubicBezTo>
                  <a:pt x="2371725" y="324422"/>
                  <a:pt x="2390489" y="275463"/>
                  <a:pt x="2428018" y="238411"/>
                </a:cubicBezTo>
                <a:cubicBezTo>
                  <a:pt x="2465451" y="201359"/>
                  <a:pt x="2514219" y="182785"/>
                  <a:pt x="2574227" y="182785"/>
                </a:cubicBezTo>
                <a:cubicBezTo>
                  <a:pt x="2634234" y="182785"/>
                  <a:pt x="2682431" y="200977"/>
                  <a:pt x="2717292" y="237458"/>
                </a:cubicBezTo>
                <a:close/>
                <a:moveTo>
                  <a:pt x="2678430" y="381191"/>
                </a:moveTo>
                <a:cubicBezTo>
                  <a:pt x="2678430" y="343281"/>
                  <a:pt x="2669096" y="312706"/>
                  <a:pt x="2650522" y="289655"/>
                </a:cubicBezTo>
                <a:cubicBezTo>
                  <a:pt x="2631948" y="266605"/>
                  <a:pt x="2605754" y="255079"/>
                  <a:pt x="2572036" y="255079"/>
                </a:cubicBezTo>
                <a:cubicBezTo>
                  <a:pt x="2538317" y="255079"/>
                  <a:pt x="2512219" y="266986"/>
                  <a:pt x="2492216" y="290798"/>
                </a:cubicBezTo>
                <a:cubicBezTo>
                  <a:pt x="2472214" y="314611"/>
                  <a:pt x="2462308" y="345472"/>
                  <a:pt x="2462308" y="383477"/>
                </a:cubicBezTo>
                <a:cubicBezTo>
                  <a:pt x="2462308" y="421481"/>
                  <a:pt x="2472214" y="453580"/>
                  <a:pt x="2491931" y="476155"/>
                </a:cubicBezTo>
                <a:cubicBezTo>
                  <a:pt x="2511647" y="498729"/>
                  <a:pt x="2538508" y="509969"/>
                  <a:pt x="2572512" y="509969"/>
                </a:cubicBezTo>
                <a:cubicBezTo>
                  <a:pt x="2606516" y="509969"/>
                  <a:pt x="2632329" y="498348"/>
                  <a:pt x="2650808" y="475012"/>
                </a:cubicBezTo>
                <a:cubicBezTo>
                  <a:pt x="2669286" y="451675"/>
                  <a:pt x="2678525" y="420434"/>
                  <a:pt x="2678525" y="381286"/>
                </a:cubicBezTo>
                <a:close/>
                <a:moveTo>
                  <a:pt x="3280410" y="494729"/>
                </a:moveTo>
                <a:cubicBezTo>
                  <a:pt x="3272028" y="500634"/>
                  <a:pt x="3264313" y="504920"/>
                  <a:pt x="3257360" y="507397"/>
                </a:cubicBezTo>
                <a:cubicBezTo>
                  <a:pt x="3250406" y="509873"/>
                  <a:pt x="3243453" y="511112"/>
                  <a:pt x="3236500" y="511112"/>
                </a:cubicBezTo>
                <a:cubicBezTo>
                  <a:pt x="3223070" y="511112"/>
                  <a:pt x="3212687" y="506730"/>
                  <a:pt x="3205258" y="497872"/>
                </a:cubicBezTo>
                <a:cubicBezTo>
                  <a:pt x="3197829" y="489109"/>
                  <a:pt x="3194114" y="475393"/>
                  <a:pt x="3194114" y="456724"/>
                </a:cubicBezTo>
                <a:lnTo>
                  <a:pt x="3194114" y="260985"/>
                </a:lnTo>
                <a:lnTo>
                  <a:pt x="3291269" y="260985"/>
                </a:lnTo>
                <a:lnTo>
                  <a:pt x="3291269" y="191738"/>
                </a:lnTo>
                <a:lnTo>
                  <a:pt x="3194114" y="191738"/>
                </a:lnTo>
                <a:lnTo>
                  <a:pt x="3194114" y="82677"/>
                </a:lnTo>
                <a:lnTo>
                  <a:pt x="3105150" y="98298"/>
                </a:lnTo>
                <a:lnTo>
                  <a:pt x="3105150" y="191643"/>
                </a:lnTo>
                <a:lnTo>
                  <a:pt x="2957227" y="191643"/>
                </a:lnTo>
                <a:lnTo>
                  <a:pt x="2957227" y="130969"/>
                </a:lnTo>
                <a:cubicBezTo>
                  <a:pt x="2957227" y="111157"/>
                  <a:pt x="2961513" y="96202"/>
                  <a:pt x="2970086" y="86297"/>
                </a:cubicBezTo>
                <a:cubicBezTo>
                  <a:pt x="2978658" y="76391"/>
                  <a:pt x="2990850" y="71438"/>
                  <a:pt x="3006757" y="71438"/>
                </a:cubicBezTo>
                <a:cubicBezTo>
                  <a:pt x="3014948" y="71438"/>
                  <a:pt x="3022473" y="72581"/>
                  <a:pt x="3029236" y="74962"/>
                </a:cubicBezTo>
                <a:cubicBezTo>
                  <a:pt x="3036094" y="77343"/>
                  <a:pt x="3042666" y="80581"/>
                  <a:pt x="3049143" y="84868"/>
                </a:cubicBezTo>
                <a:lnTo>
                  <a:pt x="3085624" y="20479"/>
                </a:lnTo>
                <a:cubicBezTo>
                  <a:pt x="3072479" y="13525"/>
                  <a:pt x="3059049" y="8382"/>
                  <a:pt x="3045429" y="5048"/>
                </a:cubicBezTo>
                <a:cubicBezTo>
                  <a:pt x="3031808" y="1715"/>
                  <a:pt x="3017615" y="0"/>
                  <a:pt x="3003042" y="0"/>
                </a:cubicBezTo>
                <a:cubicBezTo>
                  <a:pt x="2960370" y="0"/>
                  <a:pt x="2927318" y="11621"/>
                  <a:pt x="2903887" y="34957"/>
                </a:cubicBezTo>
                <a:cubicBezTo>
                  <a:pt x="2880455" y="58293"/>
                  <a:pt x="2868740" y="90011"/>
                  <a:pt x="2868740" y="130207"/>
                </a:cubicBezTo>
                <a:lnTo>
                  <a:pt x="2868740" y="191643"/>
                </a:lnTo>
                <a:lnTo>
                  <a:pt x="2803970" y="191643"/>
                </a:lnTo>
                <a:lnTo>
                  <a:pt x="2803970" y="260890"/>
                </a:lnTo>
                <a:lnTo>
                  <a:pt x="2868740" y="260890"/>
                </a:lnTo>
                <a:lnTo>
                  <a:pt x="2868740" y="572643"/>
                </a:lnTo>
                <a:lnTo>
                  <a:pt x="2957322" y="572643"/>
                </a:lnTo>
                <a:lnTo>
                  <a:pt x="2957322" y="260890"/>
                </a:lnTo>
                <a:lnTo>
                  <a:pt x="3105246" y="260890"/>
                </a:lnTo>
                <a:lnTo>
                  <a:pt x="3105246" y="469297"/>
                </a:lnTo>
                <a:cubicBezTo>
                  <a:pt x="3105246" y="505968"/>
                  <a:pt x="3114675" y="533876"/>
                  <a:pt x="3133535" y="553022"/>
                </a:cubicBezTo>
                <a:cubicBezTo>
                  <a:pt x="3152394" y="572167"/>
                  <a:pt x="3180588" y="581692"/>
                  <a:pt x="3218021" y="581692"/>
                </a:cubicBezTo>
                <a:cubicBezTo>
                  <a:pt x="3236405" y="581692"/>
                  <a:pt x="3253454" y="579311"/>
                  <a:pt x="3269171" y="574453"/>
                </a:cubicBezTo>
                <a:cubicBezTo>
                  <a:pt x="3284887" y="569595"/>
                  <a:pt x="3297841" y="563118"/>
                  <a:pt x="3308033" y="554926"/>
                </a:cubicBezTo>
                <a:lnTo>
                  <a:pt x="3280505" y="494633"/>
                </a:lnTo>
                <a:close/>
                <a:moveTo>
                  <a:pt x="301181" y="915543"/>
                </a:moveTo>
                <a:lnTo>
                  <a:pt x="497300" y="1449134"/>
                </a:lnTo>
                <a:lnTo>
                  <a:pt x="399860" y="1449134"/>
                </a:lnTo>
                <a:lnTo>
                  <a:pt x="354139" y="1324166"/>
                </a:lnTo>
                <a:lnTo>
                  <a:pt x="140970" y="1324166"/>
                </a:lnTo>
                <a:lnTo>
                  <a:pt x="97441" y="1449134"/>
                </a:lnTo>
                <a:lnTo>
                  <a:pt x="0" y="1449134"/>
                </a:lnTo>
                <a:lnTo>
                  <a:pt x="197930" y="915543"/>
                </a:lnTo>
                <a:lnTo>
                  <a:pt x="301371" y="915543"/>
                </a:lnTo>
                <a:close/>
                <a:moveTo>
                  <a:pt x="329851" y="1247108"/>
                </a:moveTo>
                <a:lnTo>
                  <a:pt x="257651" y="1037654"/>
                </a:lnTo>
                <a:cubicBezTo>
                  <a:pt x="255937" y="1032224"/>
                  <a:pt x="254318" y="1027271"/>
                  <a:pt x="252984" y="1022795"/>
                </a:cubicBezTo>
                <a:cubicBezTo>
                  <a:pt x="251651" y="1018318"/>
                  <a:pt x="250031" y="1012888"/>
                  <a:pt x="248317" y="1006412"/>
                </a:cubicBezTo>
                <a:lnTo>
                  <a:pt x="246126" y="1006412"/>
                </a:lnTo>
                <a:cubicBezTo>
                  <a:pt x="244412" y="1012317"/>
                  <a:pt x="242792" y="1017651"/>
                  <a:pt x="241459" y="1022223"/>
                </a:cubicBezTo>
                <a:cubicBezTo>
                  <a:pt x="240125" y="1026795"/>
                  <a:pt x="238411" y="1031938"/>
                  <a:pt x="236411" y="1037654"/>
                </a:cubicBezTo>
                <a:lnTo>
                  <a:pt x="164973" y="1247108"/>
                </a:lnTo>
                <a:lnTo>
                  <a:pt x="329756" y="1247108"/>
                </a:lnTo>
                <a:close/>
                <a:moveTo>
                  <a:pt x="557403" y="1449134"/>
                </a:moveTo>
                <a:lnTo>
                  <a:pt x="648557" y="1449134"/>
                </a:lnTo>
                <a:lnTo>
                  <a:pt x="648557" y="915543"/>
                </a:lnTo>
                <a:lnTo>
                  <a:pt x="557403" y="915543"/>
                </a:lnTo>
                <a:lnTo>
                  <a:pt x="557403" y="1449134"/>
                </a:lnTo>
                <a:close/>
                <a:moveTo>
                  <a:pt x="1271778" y="915543"/>
                </a:moveTo>
                <a:lnTo>
                  <a:pt x="883730" y="915543"/>
                </a:lnTo>
                <a:lnTo>
                  <a:pt x="883730" y="992600"/>
                </a:lnTo>
                <a:lnTo>
                  <a:pt x="1031843" y="992600"/>
                </a:lnTo>
                <a:lnTo>
                  <a:pt x="1031843" y="1449134"/>
                </a:lnTo>
                <a:lnTo>
                  <a:pt x="1122998" y="1449134"/>
                </a:lnTo>
                <a:lnTo>
                  <a:pt x="1122998" y="992600"/>
                </a:lnTo>
                <a:lnTo>
                  <a:pt x="1271778" y="992600"/>
                </a:lnTo>
                <a:lnTo>
                  <a:pt x="1271778" y="915543"/>
                </a:lnTo>
                <a:close/>
                <a:moveTo>
                  <a:pt x="1581340" y="1113854"/>
                </a:moveTo>
                <a:cubicBezTo>
                  <a:pt x="1616202" y="1150334"/>
                  <a:pt x="1633633" y="1197483"/>
                  <a:pt x="1633633" y="1255205"/>
                </a:cubicBezTo>
                <a:cubicBezTo>
                  <a:pt x="1633633" y="1312926"/>
                  <a:pt x="1615250" y="1362837"/>
                  <a:pt x="1578578" y="1400842"/>
                </a:cubicBezTo>
                <a:cubicBezTo>
                  <a:pt x="1541812" y="1438942"/>
                  <a:pt x="1493330" y="1457992"/>
                  <a:pt x="1433132" y="1457992"/>
                </a:cubicBezTo>
                <a:cubicBezTo>
                  <a:pt x="1372934" y="1457992"/>
                  <a:pt x="1324547" y="1440275"/>
                  <a:pt x="1288923" y="1404747"/>
                </a:cubicBezTo>
                <a:cubicBezTo>
                  <a:pt x="1253300" y="1369314"/>
                  <a:pt x="1235488" y="1321499"/>
                  <a:pt x="1235488" y="1261491"/>
                </a:cubicBezTo>
                <a:cubicBezTo>
                  <a:pt x="1235774" y="1200722"/>
                  <a:pt x="1254538" y="1151763"/>
                  <a:pt x="1292066" y="1114711"/>
                </a:cubicBezTo>
                <a:cubicBezTo>
                  <a:pt x="1329500" y="1077659"/>
                  <a:pt x="1378268" y="1059085"/>
                  <a:pt x="1438275" y="1059085"/>
                </a:cubicBezTo>
                <a:cubicBezTo>
                  <a:pt x="1498283" y="1059085"/>
                  <a:pt x="1546479" y="1077278"/>
                  <a:pt x="1581340" y="1113758"/>
                </a:cubicBezTo>
                <a:close/>
                <a:moveTo>
                  <a:pt x="1542479" y="1257491"/>
                </a:moveTo>
                <a:cubicBezTo>
                  <a:pt x="1542479" y="1219581"/>
                  <a:pt x="1533144" y="1189006"/>
                  <a:pt x="1514570" y="1165955"/>
                </a:cubicBezTo>
                <a:cubicBezTo>
                  <a:pt x="1495997" y="1142905"/>
                  <a:pt x="1469803" y="1131380"/>
                  <a:pt x="1436084" y="1131380"/>
                </a:cubicBezTo>
                <a:cubicBezTo>
                  <a:pt x="1402366" y="1131380"/>
                  <a:pt x="1376267" y="1143286"/>
                  <a:pt x="1356265" y="1167098"/>
                </a:cubicBezTo>
                <a:cubicBezTo>
                  <a:pt x="1336262" y="1190911"/>
                  <a:pt x="1326356" y="1221772"/>
                  <a:pt x="1326356" y="1259777"/>
                </a:cubicBezTo>
                <a:cubicBezTo>
                  <a:pt x="1326356" y="1297781"/>
                  <a:pt x="1336262" y="1329881"/>
                  <a:pt x="1355979" y="1352455"/>
                </a:cubicBezTo>
                <a:cubicBezTo>
                  <a:pt x="1375696" y="1375029"/>
                  <a:pt x="1402556" y="1386269"/>
                  <a:pt x="1436561" y="1386269"/>
                </a:cubicBezTo>
                <a:cubicBezTo>
                  <a:pt x="1470565" y="1386269"/>
                  <a:pt x="1496378" y="1374648"/>
                  <a:pt x="1514856" y="1351312"/>
                </a:cubicBezTo>
                <a:cubicBezTo>
                  <a:pt x="1533335" y="1327976"/>
                  <a:pt x="1542574" y="1296734"/>
                  <a:pt x="1542574" y="1257586"/>
                </a:cubicBezTo>
                <a:close/>
                <a:moveTo>
                  <a:pt x="1951577" y="1285399"/>
                </a:moveTo>
                <a:cubicBezTo>
                  <a:pt x="1951577" y="1314450"/>
                  <a:pt x="1943290" y="1338453"/>
                  <a:pt x="1926622" y="1357598"/>
                </a:cubicBezTo>
                <a:cubicBezTo>
                  <a:pt x="1910048" y="1376744"/>
                  <a:pt x="1888522" y="1386269"/>
                  <a:pt x="1862233" y="1386269"/>
                </a:cubicBezTo>
                <a:cubicBezTo>
                  <a:pt x="1835944" y="1386269"/>
                  <a:pt x="1817465" y="1378268"/>
                  <a:pt x="1805273" y="1362266"/>
                </a:cubicBezTo>
                <a:cubicBezTo>
                  <a:pt x="1793081" y="1346264"/>
                  <a:pt x="1787081" y="1322356"/>
                  <a:pt x="1787081" y="1290638"/>
                </a:cubicBezTo>
                <a:lnTo>
                  <a:pt x="1787081" y="1068134"/>
                </a:lnTo>
                <a:lnTo>
                  <a:pt x="1698498" y="1068134"/>
                </a:lnTo>
                <a:lnTo>
                  <a:pt x="1698498" y="1302544"/>
                </a:lnTo>
                <a:cubicBezTo>
                  <a:pt x="1698498" y="1353407"/>
                  <a:pt x="1709833" y="1391984"/>
                  <a:pt x="1732502" y="1418463"/>
                </a:cubicBezTo>
                <a:cubicBezTo>
                  <a:pt x="1755172" y="1444943"/>
                  <a:pt x="1788890" y="1458087"/>
                  <a:pt x="1833563" y="1458087"/>
                </a:cubicBezTo>
                <a:cubicBezTo>
                  <a:pt x="1856423" y="1458087"/>
                  <a:pt x="1878425" y="1452563"/>
                  <a:pt x="1899571" y="1441514"/>
                </a:cubicBezTo>
                <a:cubicBezTo>
                  <a:pt x="1920716" y="1430465"/>
                  <a:pt x="1937480" y="1415796"/>
                  <a:pt x="1949577" y="1397413"/>
                </a:cubicBezTo>
                <a:lnTo>
                  <a:pt x="1951482" y="1397413"/>
                </a:lnTo>
                <a:lnTo>
                  <a:pt x="1951482" y="1449134"/>
                </a:lnTo>
                <a:lnTo>
                  <a:pt x="2040446" y="1449134"/>
                </a:lnTo>
                <a:lnTo>
                  <a:pt x="2040446" y="1068134"/>
                </a:lnTo>
                <a:lnTo>
                  <a:pt x="1951482" y="1068134"/>
                </a:lnTo>
                <a:lnTo>
                  <a:pt x="1951482" y="1285399"/>
                </a:lnTo>
                <a:close/>
                <a:moveTo>
                  <a:pt x="2326767" y="1061466"/>
                </a:moveTo>
                <a:cubicBezTo>
                  <a:pt x="2303907" y="1061466"/>
                  <a:pt x="2283809" y="1067943"/>
                  <a:pt x="2266474" y="1080992"/>
                </a:cubicBezTo>
                <a:cubicBezTo>
                  <a:pt x="2249138" y="1094042"/>
                  <a:pt x="2235994" y="1112711"/>
                  <a:pt x="2227040" y="1136999"/>
                </a:cubicBezTo>
                <a:lnTo>
                  <a:pt x="2225516" y="1136999"/>
                </a:lnTo>
                <a:lnTo>
                  <a:pt x="2225516" y="1068134"/>
                </a:lnTo>
                <a:lnTo>
                  <a:pt x="2136553" y="1068134"/>
                </a:lnTo>
                <a:lnTo>
                  <a:pt x="2136553" y="1449134"/>
                </a:lnTo>
                <a:lnTo>
                  <a:pt x="2225516" y="1449134"/>
                </a:lnTo>
                <a:lnTo>
                  <a:pt x="2225516" y="1260824"/>
                </a:lnTo>
                <a:cubicBezTo>
                  <a:pt x="2225516" y="1224344"/>
                  <a:pt x="2233422" y="1195007"/>
                  <a:pt x="2249138" y="1172623"/>
                </a:cubicBezTo>
                <a:cubicBezTo>
                  <a:pt x="2264855" y="1150334"/>
                  <a:pt x="2285524" y="1139095"/>
                  <a:pt x="2311051" y="1139095"/>
                </a:cubicBezTo>
                <a:cubicBezTo>
                  <a:pt x="2319242" y="1139095"/>
                  <a:pt x="2326958" y="1139857"/>
                  <a:pt x="2334292" y="1141476"/>
                </a:cubicBezTo>
                <a:cubicBezTo>
                  <a:pt x="2341626" y="1143095"/>
                  <a:pt x="2348865" y="1145286"/>
                  <a:pt x="2356104" y="1147953"/>
                </a:cubicBezTo>
                <a:lnTo>
                  <a:pt x="2379917" y="1072039"/>
                </a:lnTo>
                <a:cubicBezTo>
                  <a:pt x="2370487" y="1067848"/>
                  <a:pt x="2361724" y="1064990"/>
                  <a:pt x="2353532" y="1063466"/>
                </a:cubicBezTo>
                <a:cubicBezTo>
                  <a:pt x="2345341" y="1061942"/>
                  <a:pt x="2336387" y="1061276"/>
                  <a:pt x="2326767" y="1061276"/>
                </a:cubicBezTo>
                <a:close/>
              </a:path>
            </a:pathLst>
          </a:custGeom>
          <a:gradFill>
            <a:gsLst>
              <a:gs pos="0">
                <a:srgbClr val="4D3677"/>
              </a:gs>
              <a:gs pos="72000">
                <a:srgbClr val="8661C5"/>
              </a:gs>
            </a:gsLst>
            <a:lin ang="2700000" scaled="0"/>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7567346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9668AE-5CD6-D782-C7B5-872E7248B94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itle 1"/>
          <p:cNvSpPr>
            <a:spLocks noGrp="1"/>
          </p:cNvSpPr>
          <p:nvPr>
            <p:ph type="title" hasCustomPrompt="1"/>
          </p:nvPr>
        </p:nvSpPr>
        <p:spPr bwMode="white">
          <a:xfrm>
            <a:off x="584200" y="2425780"/>
            <a:ext cx="557784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rgbClr val="4D3677"/>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Event name or presentation title </a:t>
            </a:r>
          </a:p>
        </p:txBody>
      </p:sp>
      <p:sp>
        <p:nvSpPr>
          <p:cNvPr id="5" name="Text Placeholder 4"/>
          <p:cNvSpPr>
            <a:spLocks noGrp="1"/>
          </p:cNvSpPr>
          <p:nvPr>
            <p:ph type="body" sz="quarter" idx="12" hasCustomPrompt="1"/>
          </p:nvPr>
        </p:nvSpPr>
        <p:spPr bwMode="white">
          <a:xfrm>
            <a:off x="584200" y="3962400"/>
            <a:ext cx="5577840" cy="276999"/>
          </a:xfrm>
          <a:noFill/>
        </p:spPr>
        <p:txBody>
          <a:bodyPr wrap="square" lIns="0" tIns="0" rIns="0" bIns="0">
            <a:spAutoFit/>
          </a:bodyPr>
          <a:lstStyle>
            <a:lvl1pPr marL="0" indent="0">
              <a:spcBef>
                <a:spcPts val="0"/>
              </a:spcBef>
              <a:buNone/>
              <a:defRPr sz="1800" spc="0" baseline="0">
                <a:solidFill>
                  <a:srgbClr val="091F2C"/>
                </a:solidFill>
                <a:latin typeface="+mn-lt"/>
                <a:cs typeface="Segoe UI" panose="020B0502040204020203" pitchFamily="34" charset="0"/>
              </a:defRPr>
            </a:lvl1pPr>
          </a:lstStyle>
          <a:p>
            <a:pPr lvl="0"/>
            <a:r>
              <a:rPr lang="en-US"/>
              <a:t>Speaker name or subtitle text</a:t>
            </a:r>
          </a:p>
        </p:txBody>
      </p:sp>
      <p:pic>
        <p:nvPicPr>
          <p:cNvPr id="2" name="MS logo gray - EMF" descr="Microsoft logo, gray text version">
            <a:extLst>
              <a:ext uri="{FF2B5EF4-FFF2-40B4-BE49-F238E27FC236}">
                <a16:creationId xmlns:a16="http://schemas.microsoft.com/office/drawing/2014/main" id="{4B2684EB-34E2-E67F-1ABA-8374FB1B885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33138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2">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534397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65798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3091465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62421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613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568972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711343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52656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032442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03172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42816267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330333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74472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59681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638885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46173974"/>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40605611"/>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8480577"/>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5432860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229000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682386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1357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9186953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661383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368245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01018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367421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12362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389390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5728226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21736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544228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684861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57639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928592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578402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864169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emo slide">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1A31B0-DA79-E282-BD21-42CF3B67D8EA}"/>
              </a:ext>
            </a:extLst>
          </p:cNvPr>
          <p:cNvPicPr>
            <a:picLocks noChangeAspect="1"/>
          </p:cNvPicPr>
          <p:nvPr userDrawn="1"/>
        </p:nvPicPr>
        <p:blipFill>
          <a:blip r:embed="rId2"/>
          <a:srcRect/>
          <a:stretch/>
        </p:blipFill>
        <p:spPr>
          <a:xfrm>
            <a:off x="0" y="762"/>
            <a:ext cx="12189291" cy="6856476"/>
          </a:xfrm>
          <a:prstGeom prst="rect">
            <a:avLst/>
          </a:prstGeom>
        </p:spPr>
      </p:pic>
      <p:sp>
        <p:nvSpPr>
          <p:cNvPr id="2" name="Title 1"/>
          <p:cNvSpPr>
            <a:spLocks noGrp="1"/>
          </p:cNvSpPr>
          <p:nvPr>
            <p:ph type="title" hasCustomPrompt="1"/>
          </p:nvPr>
        </p:nvSpPr>
        <p:spPr>
          <a:xfrm>
            <a:off x="585216" y="2977823"/>
            <a:ext cx="62179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621792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rgbClr val="FFFFFF"/>
                </a:solidFill>
                <a:latin typeface="+mn-lt"/>
              </a:defRPr>
            </a:lvl1pPr>
          </a:lstStyle>
          <a:p>
            <a:pPr lvl="0"/>
            <a:r>
              <a:rPr lang="en-US"/>
              <a:t>Speaker name</a:t>
            </a:r>
          </a:p>
        </p:txBody>
      </p:sp>
    </p:spTree>
    <p:extLst>
      <p:ext uri="{BB962C8B-B14F-4D97-AF65-F5344CB8AC3E}">
        <p14:creationId xmlns:p14="http://schemas.microsoft.com/office/powerpoint/2010/main" val="15560318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emo slide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8127639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091F2C"/>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5AB3C7-DD87-C9B0-751D-F81E1404C834}"/>
              </a:ext>
            </a:extLst>
          </p:cNvPr>
          <p:cNvPicPr>
            <a:picLocks noChangeAspect="1"/>
          </p:cNvPicPr>
          <p:nvPr userDrawn="1"/>
        </p:nvPicPr>
        <p:blipFill>
          <a:blip r:embed="rId2"/>
          <a:srcRect/>
          <a:stretch/>
        </p:blipFill>
        <p:spPr>
          <a:xfrm>
            <a:off x="1354" y="762"/>
            <a:ext cx="12189291" cy="6856476"/>
          </a:xfrm>
          <a:prstGeom prst="rect">
            <a:avLst/>
          </a:prstGeom>
        </p:spPr>
      </p:pic>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975556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ection Title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846281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535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2602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594519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654741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95056137"/>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9527704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A7684-434C-A855-1735-B9633A6DBB76}"/>
              </a:ext>
            </a:extLst>
          </p:cNvPr>
          <p:cNvSpPr>
            <a:spLocks noGrp="1"/>
          </p:cNvSpPr>
          <p:nvPr>
            <p:ph type="title"/>
          </p:nvPr>
        </p:nvSpPr>
        <p:spPr/>
        <p:txBody>
          <a:bodyPr/>
          <a:lstStyle>
            <a:lvl1pPr>
              <a:defRPr b="1" i="0">
                <a:latin typeface="Segoe UI Semibold" panose="020B0502040204020203" pitchFamily="34" charset="0"/>
                <a:cs typeface="Segoe UI Semibold" panose="020B05020402040202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07B0029D-B014-DC7C-DF05-2B75B8C712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ECD79-50EF-2EAC-E599-76381E68A367}"/>
              </a:ext>
            </a:extLst>
          </p:cNvPr>
          <p:cNvSpPr>
            <a:spLocks noGrp="1"/>
          </p:cNvSpPr>
          <p:nvPr>
            <p:ph type="dt" sz="half" idx="10"/>
          </p:nvPr>
        </p:nvSpPr>
        <p:spPr/>
        <p:txBody>
          <a:bodyPr/>
          <a:lstStyle/>
          <a:p>
            <a:fld id="{D005F56A-89C3-3B4A-8599-35AF97015F77}" type="datetimeFigureOut">
              <a:t>4/23/25</a:t>
            </a:fld>
            <a:endParaRPr lang="en-US"/>
          </a:p>
        </p:txBody>
      </p:sp>
      <p:sp>
        <p:nvSpPr>
          <p:cNvPr id="5" name="Footer Placeholder 4">
            <a:extLst>
              <a:ext uri="{FF2B5EF4-FFF2-40B4-BE49-F238E27FC236}">
                <a16:creationId xmlns:a16="http://schemas.microsoft.com/office/drawing/2014/main" id="{4509E32B-2796-9CD7-4024-1032334FE3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AE69FF-00CE-466B-68E4-1E9FCB548AD1}"/>
              </a:ext>
            </a:extLst>
          </p:cNvPr>
          <p:cNvSpPr>
            <a:spLocks noGrp="1"/>
          </p:cNvSpPr>
          <p:nvPr>
            <p:ph type="sldNum" sz="quarter" idx="12"/>
          </p:nvPr>
        </p:nvSpPr>
        <p:spPr/>
        <p:txBody>
          <a:bodyPr/>
          <a:lstStyle/>
          <a:p>
            <a:fld id="{5518F31B-5C7C-0447-B0D0-79B66EFEBBD9}" type="slidenum">
              <a:t>‹#›</a:t>
            </a:fld>
            <a:endParaRPr lang="en-US"/>
          </a:p>
        </p:txBody>
      </p:sp>
    </p:spTree>
    <p:extLst>
      <p:ext uri="{BB962C8B-B14F-4D97-AF65-F5344CB8AC3E}">
        <p14:creationId xmlns:p14="http://schemas.microsoft.com/office/powerpoint/2010/main" val="352085776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6EAEB1-715D-AF8F-10FB-F3D16AC485E3}"/>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MS logo white - EMF" descr="Microsoft logo white text version">
            <a:extLst>
              <a:ext uri="{FF2B5EF4-FFF2-40B4-BE49-F238E27FC236}">
                <a16:creationId xmlns:a16="http://schemas.microsoft.com/office/drawing/2014/main" id="{913BA90D-EA3B-29E8-A239-C61ACB3DEFA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44" name="Freeform: Shape 43">
            <a:extLst>
              <a:ext uri="{FF2B5EF4-FFF2-40B4-BE49-F238E27FC236}">
                <a16:creationId xmlns:a16="http://schemas.microsoft.com/office/drawing/2014/main" id="{2118BF19-0035-C321-183A-836CC8060775}"/>
              </a:ext>
            </a:extLst>
          </p:cNvPr>
          <p:cNvSpPr/>
          <p:nvPr userDrawn="1"/>
        </p:nvSpPr>
        <p:spPr>
          <a:xfrm>
            <a:off x="529053" y="2663856"/>
            <a:ext cx="3414297" cy="1504926"/>
          </a:xfrm>
          <a:custGeom>
            <a:avLst/>
            <a:gdLst>
              <a:gd name="connsiteX0" fmla="*/ 542449 w 3308032"/>
              <a:gd name="connsiteY0" fmla="*/ 193453 h 1458087"/>
              <a:gd name="connsiteX1" fmla="*/ 543401 w 3308032"/>
              <a:gd name="connsiteY1" fmla="*/ 148971 h 1458087"/>
              <a:gd name="connsiteX2" fmla="*/ 541211 w 3308032"/>
              <a:gd name="connsiteY2" fmla="*/ 148971 h 1458087"/>
              <a:gd name="connsiteX3" fmla="*/ 534924 w 3308032"/>
              <a:gd name="connsiteY3" fmla="*/ 168497 h 1458087"/>
              <a:gd name="connsiteX4" fmla="*/ 528257 w 3308032"/>
              <a:gd name="connsiteY4" fmla="*/ 186214 h 1458087"/>
              <a:gd name="connsiteX5" fmla="*/ 374618 w 3308032"/>
              <a:gd name="connsiteY5" fmla="*/ 572834 h 1458087"/>
              <a:gd name="connsiteX6" fmla="*/ 310229 w 3308032"/>
              <a:gd name="connsiteY6" fmla="*/ 572834 h 1458087"/>
              <a:gd name="connsiteX7" fmla="*/ 155448 w 3308032"/>
              <a:gd name="connsiteY7" fmla="*/ 189643 h 1458087"/>
              <a:gd name="connsiteX8" fmla="*/ 149352 w 3308032"/>
              <a:gd name="connsiteY8" fmla="*/ 172307 h 1458087"/>
              <a:gd name="connsiteX9" fmla="*/ 141351 w 3308032"/>
              <a:gd name="connsiteY9" fmla="*/ 149066 h 1458087"/>
              <a:gd name="connsiteX10" fmla="*/ 139160 w 3308032"/>
              <a:gd name="connsiteY10" fmla="*/ 149066 h 1458087"/>
              <a:gd name="connsiteX11" fmla="*/ 140303 w 3308032"/>
              <a:gd name="connsiteY11" fmla="*/ 195739 h 1458087"/>
              <a:gd name="connsiteX12" fmla="*/ 140684 w 3308032"/>
              <a:gd name="connsiteY12" fmla="*/ 246507 h 1458087"/>
              <a:gd name="connsiteX13" fmla="*/ 140684 w 3308032"/>
              <a:gd name="connsiteY13" fmla="*/ 572834 h 1458087"/>
              <a:gd name="connsiteX14" fmla="*/ 55817 w 3308032"/>
              <a:gd name="connsiteY14" fmla="*/ 572834 h 1458087"/>
              <a:gd name="connsiteX15" fmla="*/ 55817 w 3308032"/>
              <a:gd name="connsiteY15" fmla="*/ 39243 h 1458087"/>
              <a:gd name="connsiteX16" fmla="*/ 185642 w 3308032"/>
              <a:gd name="connsiteY16" fmla="*/ 39243 h 1458087"/>
              <a:gd name="connsiteX17" fmla="*/ 322231 w 3308032"/>
              <a:gd name="connsiteY17" fmla="*/ 383381 h 1458087"/>
              <a:gd name="connsiteX18" fmla="*/ 334709 w 3308032"/>
              <a:gd name="connsiteY18" fmla="*/ 415576 h 1458087"/>
              <a:gd name="connsiteX19" fmla="*/ 343853 w 3308032"/>
              <a:gd name="connsiteY19" fmla="*/ 444817 h 1458087"/>
              <a:gd name="connsiteX20" fmla="*/ 346043 w 3308032"/>
              <a:gd name="connsiteY20" fmla="*/ 444817 h 1458087"/>
              <a:gd name="connsiteX21" fmla="*/ 358140 w 3308032"/>
              <a:gd name="connsiteY21" fmla="*/ 412433 h 1458087"/>
              <a:gd name="connsiteX22" fmla="*/ 369475 w 3308032"/>
              <a:gd name="connsiteY22" fmla="*/ 382334 h 1458087"/>
              <a:gd name="connsiteX23" fmla="*/ 507873 w 3308032"/>
              <a:gd name="connsiteY23" fmla="*/ 39243 h 1458087"/>
              <a:gd name="connsiteX24" fmla="*/ 632555 w 3308032"/>
              <a:gd name="connsiteY24" fmla="*/ 39243 h 1458087"/>
              <a:gd name="connsiteX25" fmla="*/ 632555 w 3308032"/>
              <a:gd name="connsiteY25" fmla="*/ 572834 h 1458087"/>
              <a:gd name="connsiteX26" fmla="*/ 542163 w 3308032"/>
              <a:gd name="connsiteY26" fmla="*/ 572834 h 1458087"/>
              <a:gd name="connsiteX27" fmla="*/ 542163 w 3308032"/>
              <a:gd name="connsiteY27" fmla="*/ 234220 h 1458087"/>
              <a:gd name="connsiteX28" fmla="*/ 542735 w 3308032"/>
              <a:gd name="connsiteY28" fmla="*/ 193453 h 1458087"/>
              <a:gd name="connsiteX29" fmla="*/ 768001 w 3308032"/>
              <a:gd name="connsiteY29" fmla="*/ 14383 h 1458087"/>
              <a:gd name="connsiteX30" fmla="*/ 728567 w 3308032"/>
              <a:gd name="connsiteY30" fmla="*/ 29623 h 1458087"/>
              <a:gd name="connsiteX31" fmla="*/ 713327 w 3308032"/>
              <a:gd name="connsiteY31" fmla="*/ 67247 h 1458087"/>
              <a:gd name="connsiteX32" fmla="*/ 728567 w 3308032"/>
              <a:gd name="connsiteY32" fmla="*/ 104966 h 1458087"/>
              <a:gd name="connsiteX33" fmla="*/ 768001 w 3308032"/>
              <a:gd name="connsiteY33" fmla="*/ 120777 h 1458087"/>
              <a:gd name="connsiteX34" fmla="*/ 808196 w 3308032"/>
              <a:gd name="connsiteY34" fmla="*/ 105537 h 1458087"/>
              <a:gd name="connsiteX35" fmla="*/ 823436 w 3308032"/>
              <a:gd name="connsiteY35" fmla="*/ 67627 h 1458087"/>
              <a:gd name="connsiteX36" fmla="*/ 808196 w 3308032"/>
              <a:gd name="connsiteY36" fmla="*/ 29718 h 1458087"/>
              <a:gd name="connsiteX37" fmla="*/ 768001 w 3308032"/>
              <a:gd name="connsiteY37" fmla="*/ 14478 h 1458087"/>
              <a:gd name="connsiteX38" fmla="*/ 723329 w 3308032"/>
              <a:gd name="connsiteY38" fmla="*/ 572834 h 1458087"/>
              <a:gd name="connsiteX39" fmla="*/ 812292 w 3308032"/>
              <a:gd name="connsiteY39" fmla="*/ 572834 h 1458087"/>
              <a:gd name="connsiteX40" fmla="*/ 812292 w 3308032"/>
              <a:gd name="connsiteY40" fmla="*/ 191834 h 1458087"/>
              <a:gd name="connsiteX41" fmla="*/ 723329 w 3308032"/>
              <a:gd name="connsiteY41" fmla="*/ 191834 h 1458087"/>
              <a:gd name="connsiteX42" fmla="*/ 723329 w 3308032"/>
              <a:gd name="connsiteY42" fmla="*/ 572834 h 1458087"/>
              <a:gd name="connsiteX43" fmla="*/ 1079278 w 3308032"/>
              <a:gd name="connsiteY43" fmla="*/ 581787 h 1458087"/>
              <a:gd name="connsiteX44" fmla="*/ 1169099 w 3308032"/>
              <a:gd name="connsiteY44" fmla="*/ 561689 h 1458087"/>
              <a:gd name="connsiteX45" fmla="*/ 1234726 w 3308032"/>
              <a:gd name="connsiteY45" fmla="*/ 500253 h 1458087"/>
              <a:gd name="connsiteX46" fmla="*/ 1165860 w 3308032"/>
              <a:gd name="connsiteY46" fmla="*/ 461582 h 1458087"/>
              <a:gd name="connsiteX47" fmla="*/ 1127951 w 3308032"/>
              <a:gd name="connsiteY47" fmla="*/ 497110 h 1458087"/>
              <a:gd name="connsiteX48" fmla="*/ 1081469 w 3308032"/>
              <a:gd name="connsiteY48" fmla="*/ 507683 h 1458087"/>
              <a:gd name="connsiteX49" fmla="*/ 1004126 w 3308032"/>
              <a:gd name="connsiteY49" fmla="*/ 475298 h 1458087"/>
              <a:gd name="connsiteX50" fmla="*/ 975074 w 3308032"/>
              <a:gd name="connsiteY50" fmla="*/ 383000 h 1458087"/>
              <a:gd name="connsiteX51" fmla="*/ 1004506 w 3308032"/>
              <a:gd name="connsiteY51" fmla="*/ 288512 h 1458087"/>
              <a:gd name="connsiteX52" fmla="*/ 1079278 w 3308032"/>
              <a:gd name="connsiteY52" fmla="*/ 254699 h 1458087"/>
              <a:gd name="connsiteX53" fmla="*/ 1125379 w 3308032"/>
              <a:gd name="connsiteY53" fmla="*/ 265462 h 1458087"/>
              <a:gd name="connsiteX54" fmla="*/ 1162622 w 3308032"/>
              <a:gd name="connsiteY54" fmla="*/ 301943 h 1458087"/>
              <a:gd name="connsiteX55" fmla="*/ 1232535 w 3308032"/>
              <a:gd name="connsiteY55" fmla="*/ 267367 h 1458087"/>
              <a:gd name="connsiteX56" fmla="*/ 1172432 w 3308032"/>
              <a:gd name="connsiteY56" fmla="*/ 204311 h 1458087"/>
              <a:gd name="connsiteX57" fmla="*/ 1082231 w 3308032"/>
              <a:gd name="connsiteY57" fmla="*/ 182880 h 1458087"/>
              <a:gd name="connsiteX58" fmla="*/ 939356 w 3308032"/>
              <a:gd name="connsiteY58" fmla="*/ 238125 h 1458087"/>
              <a:gd name="connsiteX59" fmla="*/ 884301 w 3308032"/>
              <a:gd name="connsiteY59" fmla="*/ 389001 h 1458087"/>
              <a:gd name="connsiteX60" fmla="*/ 936022 w 3308032"/>
              <a:gd name="connsiteY60" fmla="*/ 528923 h 1458087"/>
              <a:gd name="connsiteX61" fmla="*/ 1079278 w 3308032"/>
              <a:gd name="connsiteY61" fmla="*/ 581787 h 1458087"/>
              <a:gd name="connsiteX62" fmla="*/ 1393031 w 3308032"/>
              <a:gd name="connsiteY62" fmla="*/ 384524 h 1458087"/>
              <a:gd name="connsiteX63" fmla="*/ 1416653 w 3308032"/>
              <a:gd name="connsiteY63" fmla="*/ 296323 h 1458087"/>
              <a:gd name="connsiteX64" fmla="*/ 1478566 w 3308032"/>
              <a:gd name="connsiteY64" fmla="*/ 262795 h 1458087"/>
              <a:gd name="connsiteX65" fmla="*/ 1501807 w 3308032"/>
              <a:gd name="connsiteY65" fmla="*/ 265176 h 1458087"/>
              <a:gd name="connsiteX66" fmla="*/ 1523619 w 3308032"/>
              <a:gd name="connsiteY66" fmla="*/ 271653 h 1458087"/>
              <a:gd name="connsiteX67" fmla="*/ 1547432 w 3308032"/>
              <a:gd name="connsiteY67" fmla="*/ 195739 h 1458087"/>
              <a:gd name="connsiteX68" fmla="*/ 1521047 w 3308032"/>
              <a:gd name="connsiteY68" fmla="*/ 187166 h 1458087"/>
              <a:gd name="connsiteX69" fmla="*/ 1494282 w 3308032"/>
              <a:gd name="connsiteY69" fmla="*/ 184975 h 1458087"/>
              <a:gd name="connsiteX70" fmla="*/ 1433989 w 3308032"/>
              <a:gd name="connsiteY70" fmla="*/ 204502 h 1458087"/>
              <a:gd name="connsiteX71" fmla="*/ 1394555 w 3308032"/>
              <a:gd name="connsiteY71" fmla="*/ 260509 h 1458087"/>
              <a:gd name="connsiteX72" fmla="*/ 1393031 w 3308032"/>
              <a:gd name="connsiteY72" fmla="*/ 260509 h 1458087"/>
              <a:gd name="connsiteX73" fmla="*/ 1393031 w 3308032"/>
              <a:gd name="connsiteY73" fmla="*/ 191643 h 1458087"/>
              <a:gd name="connsiteX74" fmla="*/ 1304068 w 3308032"/>
              <a:gd name="connsiteY74" fmla="*/ 191643 h 1458087"/>
              <a:gd name="connsiteX75" fmla="*/ 1304068 w 3308032"/>
              <a:gd name="connsiteY75" fmla="*/ 572643 h 1458087"/>
              <a:gd name="connsiteX76" fmla="*/ 1393031 w 3308032"/>
              <a:gd name="connsiteY76" fmla="*/ 572643 h 1458087"/>
              <a:gd name="connsiteX77" fmla="*/ 1393031 w 3308032"/>
              <a:gd name="connsiteY77" fmla="*/ 384334 h 1458087"/>
              <a:gd name="connsiteX78" fmla="*/ 1621917 w 3308032"/>
              <a:gd name="connsiteY78" fmla="*/ 528542 h 1458087"/>
              <a:gd name="connsiteX79" fmla="*/ 1568482 w 3308032"/>
              <a:gd name="connsiteY79" fmla="*/ 385286 h 1458087"/>
              <a:gd name="connsiteX80" fmla="*/ 1625060 w 3308032"/>
              <a:gd name="connsiteY80" fmla="*/ 238506 h 1458087"/>
              <a:gd name="connsiteX81" fmla="*/ 1771269 w 3308032"/>
              <a:gd name="connsiteY81" fmla="*/ 182880 h 1458087"/>
              <a:gd name="connsiteX82" fmla="*/ 1914335 w 3308032"/>
              <a:gd name="connsiteY82" fmla="*/ 237554 h 1458087"/>
              <a:gd name="connsiteX83" fmla="*/ 1966627 w 3308032"/>
              <a:gd name="connsiteY83" fmla="*/ 378905 h 1458087"/>
              <a:gd name="connsiteX84" fmla="*/ 1911572 w 3308032"/>
              <a:gd name="connsiteY84" fmla="*/ 524542 h 1458087"/>
              <a:gd name="connsiteX85" fmla="*/ 1766126 w 3308032"/>
              <a:gd name="connsiteY85" fmla="*/ 581692 h 1458087"/>
              <a:gd name="connsiteX86" fmla="*/ 1621917 w 3308032"/>
              <a:gd name="connsiteY86" fmla="*/ 528447 h 1458087"/>
              <a:gd name="connsiteX87" fmla="*/ 1659350 w 3308032"/>
              <a:gd name="connsiteY87" fmla="*/ 383477 h 1458087"/>
              <a:gd name="connsiteX88" fmla="*/ 1688973 w 3308032"/>
              <a:gd name="connsiteY88" fmla="*/ 476155 h 1458087"/>
              <a:gd name="connsiteX89" fmla="*/ 1769555 w 3308032"/>
              <a:gd name="connsiteY89" fmla="*/ 509969 h 1458087"/>
              <a:gd name="connsiteX90" fmla="*/ 1847850 w 3308032"/>
              <a:gd name="connsiteY90" fmla="*/ 475012 h 1458087"/>
              <a:gd name="connsiteX91" fmla="*/ 1875568 w 3308032"/>
              <a:gd name="connsiteY91" fmla="*/ 381286 h 1458087"/>
              <a:gd name="connsiteX92" fmla="*/ 1847660 w 3308032"/>
              <a:gd name="connsiteY92" fmla="*/ 289750 h 1458087"/>
              <a:gd name="connsiteX93" fmla="*/ 1769174 w 3308032"/>
              <a:gd name="connsiteY93" fmla="*/ 255175 h 1458087"/>
              <a:gd name="connsiteX94" fmla="*/ 1689354 w 3308032"/>
              <a:gd name="connsiteY94" fmla="*/ 290894 h 1458087"/>
              <a:gd name="connsiteX95" fmla="*/ 1659446 w 3308032"/>
              <a:gd name="connsiteY95" fmla="*/ 383572 h 1458087"/>
              <a:gd name="connsiteX96" fmla="*/ 2267426 w 3308032"/>
              <a:gd name="connsiteY96" fmla="*/ 547878 h 1458087"/>
              <a:gd name="connsiteX97" fmla="*/ 2308003 w 3308032"/>
              <a:gd name="connsiteY97" fmla="*/ 458915 h 1458087"/>
              <a:gd name="connsiteX98" fmla="*/ 2276761 w 3308032"/>
              <a:gd name="connsiteY98" fmla="*/ 380048 h 1458087"/>
              <a:gd name="connsiteX99" fmla="*/ 2182273 w 3308032"/>
              <a:gd name="connsiteY99" fmla="*/ 339471 h 1458087"/>
              <a:gd name="connsiteX100" fmla="*/ 2127028 w 3308032"/>
              <a:gd name="connsiteY100" fmla="*/ 321278 h 1458087"/>
              <a:gd name="connsiteX101" fmla="*/ 2112359 w 3308032"/>
              <a:gd name="connsiteY101" fmla="*/ 292227 h 1458087"/>
              <a:gd name="connsiteX102" fmla="*/ 2126456 w 3308032"/>
              <a:gd name="connsiteY102" fmla="*/ 261366 h 1458087"/>
              <a:gd name="connsiteX103" fmla="*/ 2167795 w 3308032"/>
              <a:gd name="connsiteY103" fmla="*/ 249460 h 1458087"/>
              <a:gd name="connsiteX104" fmla="*/ 2211515 w 3308032"/>
              <a:gd name="connsiteY104" fmla="*/ 258413 h 1458087"/>
              <a:gd name="connsiteX105" fmla="*/ 2247043 w 3308032"/>
              <a:gd name="connsiteY105" fmla="*/ 285179 h 1458087"/>
              <a:gd name="connsiteX106" fmla="*/ 2298764 w 3308032"/>
              <a:gd name="connsiteY106" fmla="*/ 238316 h 1458087"/>
              <a:gd name="connsiteX107" fmla="*/ 2243328 w 3308032"/>
              <a:gd name="connsiteY107" fmla="*/ 196596 h 1458087"/>
              <a:gd name="connsiteX108" fmla="*/ 2170367 w 3308032"/>
              <a:gd name="connsiteY108" fmla="*/ 182785 h 1458087"/>
              <a:gd name="connsiteX109" fmla="*/ 2069211 w 3308032"/>
              <a:gd name="connsiteY109" fmla="*/ 214598 h 1458087"/>
              <a:gd name="connsiteX110" fmla="*/ 2029015 w 3308032"/>
              <a:gd name="connsiteY110" fmla="*/ 302228 h 1458087"/>
              <a:gd name="connsiteX111" fmla="*/ 2058638 w 3308032"/>
              <a:gd name="connsiteY111" fmla="*/ 375380 h 1458087"/>
              <a:gd name="connsiteX112" fmla="*/ 2163032 w 3308032"/>
              <a:gd name="connsiteY112" fmla="*/ 417957 h 1458087"/>
              <a:gd name="connsiteX113" fmla="*/ 2208943 w 3308032"/>
              <a:gd name="connsiteY113" fmla="*/ 435959 h 1458087"/>
              <a:gd name="connsiteX114" fmla="*/ 2224373 w 3308032"/>
              <a:gd name="connsiteY114" fmla="*/ 467011 h 1458087"/>
              <a:gd name="connsiteX115" fmla="*/ 2207990 w 3308032"/>
              <a:gd name="connsiteY115" fmla="*/ 502158 h 1458087"/>
              <a:gd name="connsiteX116" fmla="*/ 2162271 w 3308032"/>
              <a:gd name="connsiteY116" fmla="*/ 514636 h 1458087"/>
              <a:gd name="connsiteX117" fmla="*/ 2112645 w 3308032"/>
              <a:gd name="connsiteY117" fmla="*/ 502920 h 1458087"/>
              <a:gd name="connsiteX118" fmla="*/ 2068163 w 3308032"/>
              <a:gd name="connsiteY118" fmla="*/ 463677 h 1458087"/>
              <a:gd name="connsiteX119" fmla="*/ 2014633 w 3308032"/>
              <a:gd name="connsiteY119" fmla="*/ 511683 h 1458087"/>
              <a:gd name="connsiteX120" fmla="*/ 2074926 w 3308032"/>
              <a:gd name="connsiteY120" fmla="*/ 563785 h 1458087"/>
              <a:gd name="connsiteX121" fmla="*/ 2161604 w 3308032"/>
              <a:gd name="connsiteY121" fmla="*/ 581692 h 1458087"/>
              <a:gd name="connsiteX122" fmla="*/ 2267617 w 3308032"/>
              <a:gd name="connsiteY122" fmla="*/ 547878 h 1458087"/>
              <a:gd name="connsiteX123" fmla="*/ 2717292 w 3308032"/>
              <a:gd name="connsiteY123" fmla="*/ 237554 h 1458087"/>
              <a:gd name="connsiteX124" fmla="*/ 2769584 w 3308032"/>
              <a:gd name="connsiteY124" fmla="*/ 378905 h 1458087"/>
              <a:gd name="connsiteX125" fmla="*/ 2714530 w 3308032"/>
              <a:gd name="connsiteY125" fmla="*/ 524542 h 1458087"/>
              <a:gd name="connsiteX126" fmla="*/ 2569083 w 3308032"/>
              <a:gd name="connsiteY126" fmla="*/ 581692 h 1458087"/>
              <a:gd name="connsiteX127" fmla="*/ 2424875 w 3308032"/>
              <a:gd name="connsiteY127" fmla="*/ 528447 h 1458087"/>
              <a:gd name="connsiteX128" fmla="*/ 2371439 w 3308032"/>
              <a:gd name="connsiteY128" fmla="*/ 385191 h 1458087"/>
              <a:gd name="connsiteX129" fmla="*/ 2428018 w 3308032"/>
              <a:gd name="connsiteY129" fmla="*/ 238411 h 1458087"/>
              <a:gd name="connsiteX130" fmla="*/ 2574227 w 3308032"/>
              <a:gd name="connsiteY130" fmla="*/ 182785 h 1458087"/>
              <a:gd name="connsiteX131" fmla="*/ 2717292 w 3308032"/>
              <a:gd name="connsiteY131" fmla="*/ 237458 h 1458087"/>
              <a:gd name="connsiteX132" fmla="*/ 2678430 w 3308032"/>
              <a:gd name="connsiteY132" fmla="*/ 381191 h 1458087"/>
              <a:gd name="connsiteX133" fmla="*/ 2650522 w 3308032"/>
              <a:gd name="connsiteY133" fmla="*/ 289655 h 1458087"/>
              <a:gd name="connsiteX134" fmla="*/ 2572036 w 3308032"/>
              <a:gd name="connsiteY134" fmla="*/ 255079 h 1458087"/>
              <a:gd name="connsiteX135" fmla="*/ 2492216 w 3308032"/>
              <a:gd name="connsiteY135" fmla="*/ 290798 h 1458087"/>
              <a:gd name="connsiteX136" fmla="*/ 2462308 w 3308032"/>
              <a:gd name="connsiteY136" fmla="*/ 383477 h 1458087"/>
              <a:gd name="connsiteX137" fmla="*/ 2491931 w 3308032"/>
              <a:gd name="connsiteY137" fmla="*/ 476155 h 1458087"/>
              <a:gd name="connsiteX138" fmla="*/ 2572512 w 3308032"/>
              <a:gd name="connsiteY138" fmla="*/ 509969 h 1458087"/>
              <a:gd name="connsiteX139" fmla="*/ 2650808 w 3308032"/>
              <a:gd name="connsiteY139" fmla="*/ 475012 h 1458087"/>
              <a:gd name="connsiteX140" fmla="*/ 2678525 w 3308032"/>
              <a:gd name="connsiteY140" fmla="*/ 381286 h 1458087"/>
              <a:gd name="connsiteX141" fmla="*/ 3280410 w 3308032"/>
              <a:gd name="connsiteY141" fmla="*/ 494729 h 1458087"/>
              <a:gd name="connsiteX142" fmla="*/ 3257360 w 3308032"/>
              <a:gd name="connsiteY142" fmla="*/ 507397 h 1458087"/>
              <a:gd name="connsiteX143" fmla="*/ 3236500 w 3308032"/>
              <a:gd name="connsiteY143" fmla="*/ 511112 h 1458087"/>
              <a:gd name="connsiteX144" fmla="*/ 3205258 w 3308032"/>
              <a:gd name="connsiteY144" fmla="*/ 497872 h 1458087"/>
              <a:gd name="connsiteX145" fmla="*/ 3194114 w 3308032"/>
              <a:gd name="connsiteY145" fmla="*/ 456724 h 1458087"/>
              <a:gd name="connsiteX146" fmla="*/ 3194114 w 3308032"/>
              <a:gd name="connsiteY146" fmla="*/ 260985 h 1458087"/>
              <a:gd name="connsiteX147" fmla="*/ 3291269 w 3308032"/>
              <a:gd name="connsiteY147" fmla="*/ 260985 h 1458087"/>
              <a:gd name="connsiteX148" fmla="*/ 3291269 w 3308032"/>
              <a:gd name="connsiteY148" fmla="*/ 191738 h 1458087"/>
              <a:gd name="connsiteX149" fmla="*/ 3194114 w 3308032"/>
              <a:gd name="connsiteY149" fmla="*/ 191738 h 1458087"/>
              <a:gd name="connsiteX150" fmla="*/ 3194114 w 3308032"/>
              <a:gd name="connsiteY150" fmla="*/ 82677 h 1458087"/>
              <a:gd name="connsiteX151" fmla="*/ 3105150 w 3308032"/>
              <a:gd name="connsiteY151" fmla="*/ 98298 h 1458087"/>
              <a:gd name="connsiteX152" fmla="*/ 3105150 w 3308032"/>
              <a:gd name="connsiteY152" fmla="*/ 191643 h 1458087"/>
              <a:gd name="connsiteX153" fmla="*/ 2957227 w 3308032"/>
              <a:gd name="connsiteY153" fmla="*/ 191643 h 1458087"/>
              <a:gd name="connsiteX154" fmla="*/ 2957227 w 3308032"/>
              <a:gd name="connsiteY154" fmla="*/ 130969 h 1458087"/>
              <a:gd name="connsiteX155" fmla="*/ 2970086 w 3308032"/>
              <a:gd name="connsiteY155" fmla="*/ 86297 h 1458087"/>
              <a:gd name="connsiteX156" fmla="*/ 3006757 w 3308032"/>
              <a:gd name="connsiteY156" fmla="*/ 71438 h 1458087"/>
              <a:gd name="connsiteX157" fmla="*/ 3029236 w 3308032"/>
              <a:gd name="connsiteY157" fmla="*/ 74962 h 1458087"/>
              <a:gd name="connsiteX158" fmla="*/ 3049143 w 3308032"/>
              <a:gd name="connsiteY158" fmla="*/ 84868 h 1458087"/>
              <a:gd name="connsiteX159" fmla="*/ 3085624 w 3308032"/>
              <a:gd name="connsiteY159" fmla="*/ 20479 h 1458087"/>
              <a:gd name="connsiteX160" fmla="*/ 3045429 w 3308032"/>
              <a:gd name="connsiteY160" fmla="*/ 5048 h 1458087"/>
              <a:gd name="connsiteX161" fmla="*/ 3003042 w 3308032"/>
              <a:gd name="connsiteY161" fmla="*/ 0 h 1458087"/>
              <a:gd name="connsiteX162" fmla="*/ 2903887 w 3308032"/>
              <a:gd name="connsiteY162" fmla="*/ 34957 h 1458087"/>
              <a:gd name="connsiteX163" fmla="*/ 2868740 w 3308032"/>
              <a:gd name="connsiteY163" fmla="*/ 130207 h 1458087"/>
              <a:gd name="connsiteX164" fmla="*/ 2868740 w 3308032"/>
              <a:gd name="connsiteY164" fmla="*/ 191643 h 1458087"/>
              <a:gd name="connsiteX165" fmla="*/ 2803970 w 3308032"/>
              <a:gd name="connsiteY165" fmla="*/ 191643 h 1458087"/>
              <a:gd name="connsiteX166" fmla="*/ 2803970 w 3308032"/>
              <a:gd name="connsiteY166" fmla="*/ 260890 h 1458087"/>
              <a:gd name="connsiteX167" fmla="*/ 2868740 w 3308032"/>
              <a:gd name="connsiteY167" fmla="*/ 260890 h 1458087"/>
              <a:gd name="connsiteX168" fmla="*/ 2868740 w 3308032"/>
              <a:gd name="connsiteY168" fmla="*/ 572643 h 1458087"/>
              <a:gd name="connsiteX169" fmla="*/ 2957322 w 3308032"/>
              <a:gd name="connsiteY169" fmla="*/ 572643 h 1458087"/>
              <a:gd name="connsiteX170" fmla="*/ 2957322 w 3308032"/>
              <a:gd name="connsiteY170" fmla="*/ 260890 h 1458087"/>
              <a:gd name="connsiteX171" fmla="*/ 3105246 w 3308032"/>
              <a:gd name="connsiteY171" fmla="*/ 260890 h 1458087"/>
              <a:gd name="connsiteX172" fmla="*/ 3105246 w 3308032"/>
              <a:gd name="connsiteY172" fmla="*/ 469297 h 1458087"/>
              <a:gd name="connsiteX173" fmla="*/ 3133535 w 3308032"/>
              <a:gd name="connsiteY173" fmla="*/ 553022 h 1458087"/>
              <a:gd name="connsiteX174" fmla="*/ 3218021 w 3308032"/>
              <a:gd name="connsiteY174" fmla="*/ 581692 h 1458087"/>
              <a:gd name="connsiteX175" fmla="*/ 3269171 w 3308032"/>
              <a:gd name="connsiteY175" fmla="*/ 574453 h 1458087"/>
              <a:gd name="connsiteX176" fmla="*/ 3308033 w 3308032"/>
              <a:gd name="connsiteY176" fmla="*/ 554926 h 1458087"/>
              <a:gd name="connsiteX177" fmla="*/ 3280505 w 3308032"/>
              <a:gd name="connsiteY177" fmla="*/ 494633 h 1458087"/>
              <a:gd name="connsiteX178" fmla="*/ 301181 w 3308032"/>
              <a:gd name="connsiteY178" fmla="*/ 915543 h 1458087"/>
              <a:gd name="connsiteX179" fmla="*/ 497300 w 3308032"/>
              <a:gd name="connsiteY179" fmla="*/ 1449134 h 1458087"/>
              <a:gd name="connsiteX180" fmla="*/ 399860 w 3308032"/>
              <a:gd name="connsiteY180" fmla="*/ 1449134 h 1458087"/>
              <a:gd name="connsiteX181" fmla="*/ 354139 w 3308032"/>
              <a:gd name="connsiteY181" fmla="*/ 1324166 h 1458087"/>
              <a:gd name="connsiteX182" fmla="*/ 140970 w 3308032"/>
              <a:gd name="connsiteY182" fmla="*/ 1324166 h 1458087"/>
              <a:gd name="connsiteX183" fmla="*/ 97441 w 3308032"/>
              <a:gd name="connsiteY183" fmla="*/ 1449134 h 1458087"/>
              <a:gd name="connsiteX184" fmla="*/ 0 w 3308032"/>
              <a:gd name="connsiteY184" fmla="*/ 1449134 h 1458087"/>
              <a:gd name="connsiteX185" fmla="*/ 197930 w 3308032"/>
              <a:gd name="connsiteY185" fmla="*/ 915543 h 1458087"/>
              <a:gd name="connsiteX186" fmla="*/ 301371 w 3308032"/>
              <a:gd name="connsiteY186" fmla="*/ 915543 h 1458087"/>
              <a:gd name="connsiteX187" fmla="*/ 329851 w 3308032"/>
              <a:gd name="connsiteY187" fmla="*/ 1247108 h 1458087"/>
              <a:gd name="connsiteX188" fmla="*/ 257651 w 3308032"/>
              <a:gd name="connsiteY188" fmla="*/ 1037654 h 1458087"/>
              <a:gd name="connsiteX189" fmla="*/ 252984 w 3308032"/>
              <a:gd name="connsiteY189" fmla="*/ 1022795 h 1458087"/>
              <a:gd name="connsiteX190" fmla="*/ 248317 w 3308032"/>
              <a:gd name="connsiteY190" fmla="*/ 1006412 h 1458087"/>
              <a:gd name="connsiteX191" fmla="*/ 246126 w 3308032"/>
              <a:gd name="connsiteY191" fmla="*/ 1006412 h 1458087"/>
              <a:gd name="connsiteX192" fmla="*/ 241459 w 3308032"/>
              <a:gd name="connsiteY192" fmla="*/ 1022223 h 1458087"/>
              <a:gd name="connsiteX193" fmla="*/ 236411 w 3308032"/>
              <a:gd name="connsiteY193" fmla="*/ 1037654 h 1458087"/>
              <a:gd name="connsiteX194" fmla="*/ 164973 w 3308032"/>
              <a:gd name="connsiteY194" fmla="*/ 1247108 h 1458087"/>
              <a:gd name="connsiteX195" fmla="*/ 329756 w 3308032"/>
              <a:gd name="connsiteY195" fmla="*/ 1247108 h 1458087"/>
              <a:gd name="connsiteX196" fmla="*/ 557403 w 3308032"/>
              <a:gd name="connsiteY196" fmla="*/ 1449134 h 1458087"/>
              <a:gd name="connsiteX197" fmla="*/ 648557 w 3308032"/>
              <a:gd name="connsiteY197" fmla="*/ 1449134 h 1458087"/>
              <a:gd name="connsiteX198" fmla="*/ 648557 w 3308032"/>
              <a:gd name="connsiteY198" fmla="*/ 915543 h 1458087"/>
              <a:gd name="connsiteX199" fmla="*/ 557403 w 3308032"/>
              <a:gd name="connsiteY199" fmla="*/ 915543 h 1458087"/>
              <a:gd name="connsiteX200" fmla="*/ 557403 w 3308032"/>
              <a:gd name="connsiteY200" fmla="*/ 1449134 h 1458087"/>
              <a:gd name="connsiteX201" fmla="*/ 1271778 w 3308032"/>
              <a:gd name="connsiteY201" fmla="*/ 915543 h 1458087"/>
              <a:gd name="connsiteX202" fmla="*/ 883730 w 3308032"/>
              <a:gd name="connsiteY202" fmla="*/ 915543 h 1458087"/>
              <a:gd name="connsiteX203" fmla="*/ 883730 w 3308032"/>
              <a:gd name="connsiteY203" fmla="*/ 992600 h 1458087"/>
              <a:gd name="connsiteX204" fmla="*/ 1031843 w 3308032"/>
              <a:gd name="connsiteY204" fmla="*/ 992600 h 1458087"/>
              <a:gd name="connsiteX205" fmla="*/ 1031843 w 3308032"/>
              <a:gd name="connsiteY205" fmla="*/ 1449134 h 1458087"/>
              <a:gd name="connsiteX206" fmla="*/ 1122998 w 3308032"/>
              <a:gd name="connsiteY206" fmla="*/ 1449134 h 1458087"/>
              <a:gd name="connsiteX207" fmla="*/ 1122998 w 3308032"/>
              <a:gd name="connsiteY207" fmla="*/ 992600 h 1458087"/>
              <a:gd name="connsiteX208" fmla="*/ 1271778 w 3308032"/>
              <a:gd name="connsiteY208" fmla="*/ 992600 h 1458087"/>
              <a:gd name="connsiteX209" fmla="*/ 1271778 w 3308032"/>
              <a:gd name="connsiteY209" fmla="*/ 915543 h 1458087"/>
              <a:gd name="connsiteX210" fmla="*/ 1581340 w 3308032"/>
              <a:gd name="connsiteY210" fmla="*/ 1113854 h 1458087"/>
              <a:gd name="connsiteX211" fmla="*/ 1633633 w 3308032"/>
              <a:gd name="connsiteY211" fmla="*/ 1255205 h 1458087"/>
              <a:gd name="connsiteX212" fmla="*/ 1578578 w 3308032"/>
              <a:gd name="connsiteY212" fmla="*/ 1400842 h 1458087"/>
              <a:gd name="connsiteX213" fmla="*/ 1433132 w 3308032"/>
              <a:gd name="connsiteY213" fmla="*/ 1457992 h 1458087"/>
              <a:gd name="connsiteX214" fmla="*/ 1288923 w 3308032"/>
              <a:gd name="connsiteY214" fmla="*/ 1404747 h 1458087"/>
              <a:gd name="connsiteX215" fmla="*/ 1235488 w 3308032"/>
              <a:gd name="connsiteY215" fmla="*/ 1261491 h 1458087"/>
              <a:gd name="connsiteX216" fmla="*/ 1292066 w 3308032"/>
              <a:gd name="connsiteY216" fmla="*/ 1114711 h 1458087"/>
              <a:gd name="connsiteX217" fmla="*/ 1438275 w 3308032"/>
              <a:gd name="connsiteY217" fmla="*/ 1059085 h 1458087"/>
              <a:gd name="connsiteX218" fmla="*/ 1581340 w 3308032"/>
              <a:gd name="connsiteY218" fmla="*/ 1113758 h 1458087"/>
              <a:gd name="connsiteX219" fmla="*/ 1542479 w 3308032"/>
              <a:gd name="connsiteY219" fmla="*/ 1257491 h 1458087"/>
              <a:gd name="connsiteX220" fmla="*/ 1514570 w 3308032"/>
              <a:gd name="connsiteY220" fmla="*/ 1165955 h 1458087"/>
              <a:gd name="connsiteX221" fmla="*/ 1436084 w 3308032"/>
              <a:gd name="connsiteY221" fmla="*/ 1131380 h 1458087"/>
              <a:gd name="connsiteX222" fmla="*/ 1356265 w 3308032"/>
              <a:gd name="connsiteY222" fmla="*/ 1167098 h 1458087"/>
              <a:gd name="connsiteX223" fmla="*/ 1326356 w 3308032"/>
              <a:gd name="connsiteY223" fmla="*/ 1259777 h 1458087"/>
              <a:gd name="connsiteX224" fmla="*/ 1355979 w 3308032"/>
              <a:gd name="connsiteY224" fmla="*/ 1352455 h 1458087"/>
              <a:gd name="connsiteX225" fmla="*/ 1436561 w 3308032"/>
              <a:gd name="connsiteY225" fmla="*/ 1386269 h 1458087"/>
              <a:gd name="connsiteX226" fmla="*/ 1514856 w 3308032"/>
              <a:gd name="connsiteY226" fmla="*/ 1351312 h 1458087"/>
              <a:gd name="connsiteX227" fmla="*/ 1542574 w 3308032"/>
              <a:gd name="connsiteY227" fmla="*/ 1257586 h 1458087"/>
              <a:gd name="connsiteX228" fmla="*/ 1951577 w 3308032"/>
              <a:gd name="connsiteY228" fmla="*/ 1285399 h 1458087"/>
              <a:gd name="connsiteX229" fmla="*/ 1926622 w 3308032"/>
              <a:gd name="connsiteY229" fmla="*/ 1357598 h 1458087"/>
              <a:gd name="connsiteX230" fmla="*/ 1862233 w 3308032"/>
              <a:gd name="connsiteY230" fmla="*/ 1386269 h 1458087"/>
              <a:gd name="connsiteX231" fmla="*/ 1805273 w 3308032"/>
              <a:gd name="connsiteY231" fmla="*/ 1362266 h 1458087"/>
              <a:gd name="connsiteX232" fmla="*/ 1787081 w 3308032"/>
              <a:gd name="connsiteY232" fmla="*/ 1290638 h 1458087"/>
              <a:gd name="connsiteX233" fmla="*/ 1787081 w 3308032"/>
              <a:gd name="connsiteY233" fmla="*/ 1068134 h 1458087"/>
              <a:gd name="connsiteX234" fmla="*/ 1698498 w 3308032"/>
              <a:gd name="connsiteY234" fmla="*/ 1068134 h 1458087"/>
              <a:gd name="connsiteX235" fmla="*/ 1698498 w 3308032"/>
              <a:gd name="connsiteY235" fmla="*/ 1302544 h 1458087"/>
              <a:gd name="connsiteX236" fmla="*/ 1732502 w 3308032"/>
              <a:gd name="connsiteY236" fmla="*/ 1418463 h 1458087"/>
              <a:gd name="connsiteX237" fmla="*/ 1833563 w 3308032"/>
              <a:gd name="connsiteY237" fmla="*/ 1458087 h 1458087"/>
              <a:gd name="connsiteX238" fmla="*/ 1899571 w 3308032"/>
              <a:gd name="connsiteY238" fmla="*/ 1441514 h 1458087"/>
              <a:gd name="connsiteX239" fmla="*/ 1949577 w 3308032"/>
              <a:gd name="connsiteY239" fmla="*/ 1397413 h 1458087"/>
              <a:gd name="connsiteX240" fmla="*/ 1951482 w 3308032"/>
              <a:gd name="connsiteY240" fmla="*/ 1397413 h 1458087"/>
              <a:gd name="connsiteX241" fmla="*/ 1951482 w 3308032"/>
              <a:gd name="connsiteY241" fmla="*/ 1449134 h 1458087"/>
              <a:gd name="connsiteX242" fmla="*/ 2040446 w 3308032"/>
              <a:gd name="connsiteY242" fmla="*/ 1449134 h 1458087"/>
              <a:gd name="connsiteX243" fmla="*/ 2040446 w 3308032"/>
              <a:gd name="connsiteY243" fmla="*/ 1068134 h 1458087"/>
              <a:gd name="connsiteX244" fmla="*/ 1951482 w 3308032"/>
              <a:gd name="connsiteY244" fmla="*/ 1068134 h 1458087"/>
              <a:gd name="connsiteX245" fmla="*/ 1951482 w 3308032"/>
              <a:gd name="connsiteY245" fmla="*/ 1285399 h 1458087"/>
              <a:gd name="connsiteX246" fmla="*/ 2326767 w 3308032"/>
              <a:gd name="connsiteY246" fmla="*/ 1061466 h 1458087"/>
              <a:gd name="connsiteX247" fmla="*/ 2266474 w 3308032"/>
              <a:gd name="connsiteY247" fmla="*/ 1080992 h 1458087"/>
              <a:gd name="connsiteX248" fmla="*/ 2227040 w 3308032"/>
              <a:gd name="connsiteY248" fmla="*/ 1136999 h 1458087"/>
              <a:gd name="connsiteX249" fmla="*/ 2225516 w 3308032"/>
              <a:gd name="connsiteY249" fmla="*/ 1136999 h 1458087"/>
              <a:gd name="connsiteX250" fmla="*/ 2225516 w 3308032"/>
              <a:gd name="connsiteY250" fmla="*/ 1068134 h 1458087"/>
              <a:gd name="connsiteX251" fmla="*/ 2136553 w 3308032"/>
              <a:gd name="connsiteY251" fmla="*/ 1068134 h 1458087"/>
              <a:gd name="connsiteX252" fmla="*/ 2136553 w 3308032"/>
              <a:gd name="connsiteY252" fmla="*/ 1449134 h 1458087"/>
              <a:gd name="connsiteX253" fmla="*/ 2225516 w 3308032"/>
              <a:gd name="connsiteY253" fmla="*/ 1449134 h 1458087"/>
              <a:gd name="connsiteX254" fmla="*/ 2225516 w 3308032"/>
              <a:gd name="connsiteY254" fmla="*/ 1260824 h 1458087"/>
              <a:gd name="connsiteX255" fmla="*/ 2249138 w 3308032"/>
              <a:gd name="connsiteY255" fmla="*/ 1172623 h 1458087"/>
              <a:gd name="connsiteX256" fmla="*/ 2311051 w 3308032"/>
              <a:gd name="connsiteY256" fmla="*/ 1139095 h 1458087"/>
              <a:gd name="connsiteX257" fmla="*/ 2334292 w 3308032"/>
              <a:gd name="connsiteY257" fmla="*/ 1141476 h 1458087"/>
              <a:gd name="connsiteX258" fmla="*/ 2356104 w 3308032"/>
              <a:gd name="connsiteY258" fmla="*/ 1147953 h 1458087"/>
              <a:gd name="connsiteX259" fmla="*/ 2379917 w 3308032"/>
              <a:gd name="connsiteY259" fmla="*/ 1072039 h 1458087"/>
              <a:gd name="connsiteX260" fmla="*/ 2353532 w 3308032"/>
              <a:gd name="connsiteY260" fmla="*/ 1063466 h 1458087"/>
              <a:gd name="connsiteX261" fmla="*/ 2326767 w 3308032"/>
              <a:gd name="connsiteY261" fmla="*/ 1061276 h 145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Lst>
            <a:rect l="l" t="t" r="r" b="b"/>
            <a:pathLst>
              <a:path w="3308032" h="1458087">
                <a:moveTo>
                  <a:pt x="542449" y="193453"/>
                </a:moveTo>
                <a:cubicBezTo>
                  <a:pt x="542830" y="180404"/>
                  <a:pt x="543116" y="165640"/>
                  <a:pt x="543401" y="148971"/>
                </a:cubicBezTo>
                <a:lnTo>
                  <a:pt x="541211" y="148971"/>
                </a:lnTo>
                <a:cubicBezTo>
                  <a:pt x="539020" y="156400"/>
                  <a:pt x="536829" y="162877"/>
                  <a:pt x="534924" y="168497"/>
                </a:cubicBezTo>
                <a:cubicBezTo>
                  <a:pt x="532924" y="174117"/>
                  <a:pt x="530733" y="180023"/>
                  <a:pt x="528257" y="186214"/>
                </a:cubicBezTo>
                <a:lnTo>
                  <a:pt x="374618" y="572834"/>
                </a:lnTo>
                <a:lnTo>
                  <a:pt x="310229" y="572834"/>
                </a:lnTo>
                <a:lnTo>
                  <a:pt x="155448" y="189643"/>
                </a:lnTo>
                <a:cubicBezTo>
                  <a:pt x="153448" y="183928"/>
                  <a:pt x="151447" y="178213"/>
                  <a:pt x="149352" y="172307"/>
                </a:cubicBezTo>
                <a:cubicBezTo>
                  <a:pt x="147257" y="166497"/>
                  <a:pt x="144589" y="158687"/>
                  <a:pt x="141351" y="149066"/>
                </a:cubicBezTo>
                <a:lnTo>
                  <a:pt x="139160" y="149066"/>
                </a:lnTo>
                <a:cubicBezTo>
                  <a:pt x="139637" y="164497"/>
                  <a:pt x="140018" y="180023"/>
                  <a:pt x="140303" y="195739"/>
                </a:cubicBezTo>
                <a:cubicBezTo>
                  <a:pt x="140589" y="211455"/>
                  <a:pt x="140684" y="228410"/>
                  <a:pt x="140684" y="246507"/>
                </a:cubicBezTo>
                <a:lnTo>
                  <a:pt x="140684" y="572834"/>
                </a:lnTo>
                <a:lnTo>
                  <a:pt x="55817" y="572834"/>
                </a:lnTo>
                <a:lnTo>
                  <a:pt x="55817" y="39243"/>
                </a:lnTo>
                <a:lnTo>
                  <a:pt x="185642" y="39243"/>
                </a:lnTo>
                <a:lnTo>
                  <a:pt x="322231" y="383381"/>
                </a:lnTo>
                <a:cubicBezTo>
                  <a:pt x="327470" y="396050"/>
                  <a:pt x="331565" y="406813"/>
                  <a:pt x="334709" y="415576"/>
                </a:cubicBezTo>
                <a:cubicBezTo>
                  <a:pt x="337852" y="424339"/>
                  <a:pt x="340805" y="434150"/>
                  <a:pt x="343853" y="444817"/>
                </a:cubicBezTo>
                <a:lnTo>
                  <a:pt x="346043" y="444817"/>
                </a:lnTo>
                <a:cubicBezTo>
                  <a:pt x="350520" y="432911"/>
                  <a:pt x="354520" y="422148"/>
                  <a:pt x="358140" y="412433"/>
                </a:cubicBezTo>
                <a:cubicBezTo>
                  <a:pt x="361760" y="402717"/>
                  <a:pt x="365474" y="392716"/>
                  <a:pt x="369475" y="382334"/>
                </a:cubicBezTo>
                <a:lnTo>
                  <a:pt x="507873" y="39243"/>
                </a:lnTo>
                <a:lnTo>
                  <a:pt x="632555" y="39243"/>
                </a:lnTo>
                <a:lnTo>
                  <a:pt x="632555" y="572834"/>
                </a:lnTo>
                <a:lnTo>
                  <a:pt x="542163" y="572834"/>
                </a:lnTo>
                <a:lnTo>
                  <a:pt x="542163" y="234220"/>
                </a:lnTo>
                <a:cubicBezTo>
                  <a:pt x="542163" y="220123"/>
                  <a:pt x="542354" y="206502"/>
                  <a:pt x="542735" y="193453"/>
                </a:cubicBezTo>
                <a:close/>
                <a:moveTo>
                  <a:pt x="768001" y="14383"/>
                </a:moveTo>
                <a:cubicBezTo>
                  <a:pt x="751904" y="14383"/>
                  <a:pt x="738759" y="19431"/>
                  <a:pt x="728567" y="29623"/>
                </a:cubicBezTo>
                <a:cubicBezTo>
                  <a:pt x="718376" y="39815"/>
                  <a:pt x="713327" y="52292"/>
                  <a:pt x="713327" y="67247"/>
                </a:cubicBezTo>
                <a:cubicBezTo>
                  <a:pt x="713327" y="82201"/>
                  <a:pt x="718376" y="94488"/>
                  <a:pt x="728567" y="104966"/>
                </a:cubicBezTo>
                <a:cubicBezTo>
                  <a:pt x="738759" y="115538"/>
                  <a:pt x="751904" y="120777"/>
                  <a:pt x="768001" y="120777"/>
                </a:cubicBezTo>
                <a:cubicBezTo>
                  <a:pt x="784098" y="120777"/>
                  <a:pt x="798005" y="115729"/>
                  <a:pt x="808196" y="105537"/>
                </a:cubicBezTo>
                <a:cubicBezTo>
                  <a:pt x="818388" y="95345"/>
                  <a:pt x="823436" y="82677"/>
                  <a:pt x="823436" y="67627"/>
                </a:cubicBezTo>
                <a:cubicBezTo>
                  <a:pt x="823436" y="52578"/>
                  <a:pt x="818388" y="39815"/>
                  <a:pt x="808196" y="29718"/>
                </a:cubicBezTo>
                <a:cubicBezTo>
                  <a:pt x="798005" y="19526"/>
                  <a:pt x="784669" y="14478"/>
                  <a:pt x="768001" y="14478"/>
                </a:cubicBezTo>
                <a:close/>
                <a:moveTo>
                  <a:pt x="723329" y="572834"/>
                </a:moveTo>
                <a:lnTo>
                  <a:pt x="812292" y="572834"/>
                </a:lnTo>
                <a:lnTo>
                  <a:pt x="812292" y="191834"/>
                </a:lnTo>
                <a:lnTo>
                  <a:pt x="723329" y="191834"/>
                </a:lnTo>
                <a:lnTo>
                  <a:pt x="723329" y="572834"/>
                </a:lnTo>
                <a:close/>
                <a:moveTo>
                  <a:pt x="1079278" y="581787"/>
                </a:moveTo>
                <a:cubicBezTo>
                  <a:pt x="1112234" y="581787"/>
                  <a:pt x="1142238" y="575120"/>
                  <a:pt x="1169099" y="561689"/>
                </a:cubicBezTo>
                <a:cubicBezTo>
                  <a:pt x="1195959" y="548259"/>
                  <a:pt x="1217867" y="527876"/>
                  <a:pt x="1234726" y="500253"/>
                </a:cubicBezTo>
                <a:lnTo>
                  <a:pt x="1165860" y="461582"/>
                </a:lnTo>
                <a:cubicBezTo>
                  <a:pt x="1154716" y="478250"/>
                  <a:pt x="1142048" y="490061"/>
                  <a:pt x="1127951" y="497110"/>
                </a:cubicBezTo>
                <a:cubicBezTo>
                  <a:pt x="1113854" y="504158"/>
                  <a:pt x="1098328" y="507683"/>
                  <a:pt x="1081469" y="507683"/>
                </a:cubicBezTo>
                <a:cubicBezTo>
                  <a:pt x="1049179" y="507683"/>
                  <a:pt x="1023461" y="496919"/>
                  <a:pt x="1004126" y="475298"/>
                </a:cubicBezTo>
                <a:cubicBezTo>
                  <a:pt x="984790" y="453676"/>
                  <a:pt x="975074" y="423005"/>
                  <a:pt x="975074" y="383000"/>
                </a:cubicBezTo>
                <a:cubicBezTo>
                  <a:pt x="975074" y="342995"/>
                  <a:pt x="984885" y="311087"/>
                  <a:pt x="1004506" y="288512"/>
                </a:cubicBezTo>
                <a:cubicBezTo>
                  <a:pt x="1024128" y="265938"/>
                  <a:pt x="1048988" y="254699"/>
                  <a:pt x="1079278" y="254699"/>
                </a:cubicBezTo>
                <a:cubicBezTo>
                  <a:pt x="1096613" y="254699"/>
                  <a:pt x="1112044" y="258318"/>
                  <a:pt x="1125379" y="265462"/>
                </a:cubicBezTo>
                <a:cubicBezTo>
                  <a:pt x="1138809" y="272701"/>
                  <a:pt x="1151192" y="284798"/>
                  <a:pt x="1162622" y="301943"/>
                </a:cubicBezTo>
                <a:lnTo>
                  <a:pt x="1232535" y="267367"/>
                </a:lnTo>
                <a:cubicBezTo>
                  <a:pt x="1219105" y="239554"/>
                  <a:pt x="1199102" y="218599"/>
                  <a:pt x="1172432" y="204311"/>
                </a:cubicBezTo>
                <a:cubicBezTo>
                  <a:pt x="1145762" y="190024"/>
                  <a:pt x="1115663" y="182880"/>
                  <a:pt x="1082231" y="182880"/>
                </a:cubicBezTo>
                <a:cubicBezTo>
                  <a:pt x="1023652" y="182880"/>
                  <a:pt x="976027" y="201263"/>
                  <a:pt x="939356" y="238125"/>
                </a:cubicBezTo>
                <a:cubicBezTo>
                  <a:pt x="902589" y="274987"/>
                  <a:pt x="884301" y="325279"/>
                  <a:pt x="884301" y="389001"/>
                </a:cubicBezTo>
                <a:cubicBezTo>
                  <a:pt x="884301" y="447008"/>
                  <a:pt x="901541" y="493681"/>
                  <a:pt x="936022" y="528923"/>
                </a:cubicBezTo>
                <a:cubicBezTo>
                  <a:pt x="970502" y="564166"/>
                  <a:pt x="1018223" y="581787"/>
                  <a:pt x="1079278" y="581787"/>
                </a:cubicBezTo>
                <a:close/>
                <a:moveTo>
                  <a:pt x="1393031" y="384524"/>
                </a:moveTo>
                <a:cubicBezTo>
                  <a:pt x="1393031" y="348044"/>
                  <a:pt x="1400937" y="318707"/>
                  <a:pt x="1416653" y="296323"/>
                </a:cubicBezTo>
                <a:cubicBezTo>
                  <a:pt x="1432370" y="274034"/>
                  <a:pt x="1453039" y="262795"/>
                  <a:pt x="1478566" y="262795"/>
                </a:cubicBezTo>
                <a:cubicBezTo>
                  <a:pt x="1486757" y="262795"/>
                  <a:pt x="1494473" y="263557"/>
                  <a:pt x="1501807" y="265176"/>
                </a:cubicBezTo>
                <a:cubicBezTo>
                  <a:pt x="1509141" y="266795"/>
                  <a:pt x="1516380" y="268986"/>
                  <a:pt x="1523619" y="271653"/>
                </a:cubicBezTo>
                <a:lnTo>
                  <a:pt x="1547432" y="195739"/>
                </a:lnTo>
                <a:cubicBezTo>
                  <a:pt x="1538002" y="191548"/>
                  <a:pt x="1529239" y="188690"/>
                  <a:pt x="1521047" y="187166"/>
                </a:cubicBezTo>
                <a:cubicBezTo>
                  <a:pt x="1512856" y="185642"/>
                  <a:pt x="1503902" y="184975"/>
                  <a:pt x="1494282" y="184975"/>
                </a:cubicBezTo>
                <a:cubicBezTo>
                  <a:pt x="1471422" y="184975"/>
                  <a:pt x="1451324" y="191452"/>
                  <a:pt x="1433989" y="204502"/>
                </a:cubicBezTo>
                <a:cubicBezTo>
                  <a:pt x="1416653" y="217551"/>
                  <a:pt x="1403509" y="236220"/>
                  <a:pt x="1394555" y="260509"/>
                </a:cubicBezTo>
                <a:lnTo>
                  <a:pt x="1393031" y="260509"/>
                </a:lnTo>
                <a:lnTo>
                  <a:pt x="1393031" y="191643"/>
                </a:lnTo>
                <a:lnTo>
                  <a:pt x="1304068" y="191643"/>
                </a:lnTo>
                <a:lnTo>
                  <a:pt x="1304068" y="572643"/>
                </a:lnTo>
                <a:lnTo>
                  <a:pt x="1393031" y="572643"/>
                </a:lnTo>
                <a:lnTo>
                  <a:pt x="1393031" y="384334"/>
                </a:lnTo>
                <a:close/>
                <a:moveTo>
                  <a:pt x="1621917" y="528542"/>
                </a:moveTo>
                <a:cubicBezTo>
                  <a:pt x="1586294" y="493109"/>
                  <a:pt x="1568482" y="445294"/>
                  <a:pt x="1568482" y="385286"/>
                </a:cubicBezTo>
                <a:cubicBezTo>
                  <a:pt x="1568768" y="324517"/>
                  <a:pt x="1587532" y="275558"/>
                  <a:pt x="1625060" y="238506"/>
                </a:cubicBezTo>
                <a:cubicBezTo>
                  <a:pt x="1662494" y="201454"/>
                  <a:pt x="1711262" y="182880"/>
                  <a:pt x="1771269" y="182880"/>
                </a:cubicBezTo>
                <a:cubicBezTo>
                  <a:pt x="1831277" y="182880"/>
                  <a:pt x="1879473" y="201073"/>
                  <a:pt x="1914335" y="237554"/>
                </a:cubicBezTo>
                <a:cubicBezTo>
                  <a:pt x="1949196" y="274034"/>
                  <a:pt x="1966627" y="321183"/>
                  <a:pt x="1966627" y="378905"/>
                </a:cubicBezTo>
                <a:cubicBezTo>
                  <a:pt x="1966627" y="436626"/>
                  <a:pt x="1948244" y="486537"/>
                  <a:pt x="1911572" y="524542"/>
                </a:cubicBezTo>
                <a:cubicBezTo>
                  <a:pt x="1874901" y="562642"/>
                  <a:pt x="1826324" y="581692"/>
                  <a:pt x="1766126" y="581692"/>
                </a:cubicBezTo>
                <a:cubicBezTo>
                  <a:pt x="1705928" y="581692"/>
                  <a:pt x="1657540" y="563975"/>
                  <a:pt x="1621917" y="528447"/>
                </a:cubicBezTo>
                <a:close/>
                <a:moveTo>
                  <a:pt x="1659350" y="383477"/>
                </a:moveTo>
                <a:cubicBezTo>
                  <a:pt x="1659350" y="422720"/>
                  <a:pt x="1669256" y="453580"/>
                  <a:pt x="1688973" y="476155"/>
                </a:cubicBezTo>
                <a:cubicBezTo>
                  <a:pt x="1708690" y="498729"/>
                  <a:pt x="1735550" y="509969"/>
                  <a:pt x="1769555" y="509969"/>
                </a:cubicBezTo>
                <a:cubicBezTo>
                  <a:pt x="1803559" y="509969"/>
                  <a:pt x="1829372" y="498348"/>
                  <a:pt x="1847850" y="475012"/>
                </a:cubicBezTo>
                <a:cubicBezTo>
                  <a:pt x="1866329" y="451675"/>
                  <a:pt x="1875568" y="420434"/>
                  <a:pt x="1875568" y="381286"/>
                </a:cubicBezTo>
                <a:cubicBezTo>
                  <a:pt x="1875568" y="342138"/>
                  <a:pt x="1866233" y="312801"/>
                  <a:pt x="1847660" y="289750"/>
                </a:cubicBezTo>
                <a:cubicBezTo>
                  <a:pt x="1829086" y="266700"/>
                  <a:pt x="1802892" y="255175"/>
                  <a:pt x="1769174" y="255175"/>
                </a:cubicBezTo>
                <a:cubicBezTo>
                  <a:pt x="1735455" y="255175"/>
                  <a:pt x="1709357" y="267081"/>
                  <a:pt x="1689354" y="290894"/>
                </a:cubicBezTo>
                <a:cubicBezTo>
                  <a:pt x="1669352" y="314706"/>
                  <a:pt x="1659446" y="345567"/>
                  <a:pt x="1659446" y="383572"/>
                </a:cubicBezTo>
                <a:close/>
                <a:moveTo>
                  <a:pt x="2267426" y="547878"/>
                </a:moveTo>
                <a:cubicBezTo>
                  <a:pt x="2294477" y="525304"/>
                  <a:pt x="2308003" y="495681"/>
                  <a:pt x="2308003" y="458915"/>
                </a:cubicBezTo>
                <a:cubicBezTo>
                  <a:pt x="2308003" y="426149"/>
                  <a:pt x="2297621" y="399859"/>
                  <a:pt x="2276761" y="380048"/>
                </a:cubicBezTo>
                <a:cubicBezTo>
                  <a:pt x="2255901" y="360236"/>
                  <a:pt x="2224373" y="346710"/>
                  <a:pt x="2182273" y="339471"/>
                </a:cubicBezTo>
                <a:cubicBezTo>
                  <a:pt x="2155222" y="334232"/>
                  <a:pt x="2136839" y="328232"/>
                  <a:pt x="2127028" y="321278"/>
                </a:cubicBezTo>
                <a:cubicBezTo>
                  <a:pt x="2117217" y="314325"/>
                  <a:pt x="2112359" y="304705"/>
                  <a:pt x="2112359" y="292227"/>
                </a:cubicBezTo>
                <a:cubicBezTo>
                  <a:pt x="2112359" y="279749"/>
                  <a:pt x="2117027" y="269272"/>
                  <a:pt x="2126456" y="261366"/>
                </a:cubicBezTo>
                <a:cubicBezTo>
                  <a:pt x="2135886" y="253460"/>
                  <a:pt x="2149602" y="249460"/>
                  <a:pt x="2167795" y="249460"/>
                </a:cubicBezTo>
                <a:cubicBezTo>
                  <a:pt x="2184654" y="249460"/>
                  <a:pt x="2199227" y="252413"/>
                  <a:pt x="2211515" y="258413"/>
                </a:cubicBezTo>
                <a:cubicBezTo>
                  <a:pt x="2223802" y="264414"/>
                  <a:pt x="2235613" y="273272"/>
                  <a:pt x="2247043" y="285179"/>
                </a:cubicBezTo>
                <a:lnTo>
                  <a:pt x="2298764" y="238316"/>
                </a:lnTo>
                <a:cubicBezTo>
                  <a:pt x="2284381" y="219742"/>
                  <a:pt x="2265902" y="205835"/>
                  <a:pt x="2243328" y="196596"/>
                </a:cubicBezTo>
                <a:cubicBezTo>
                  <a:pt x="2220754" y="187452"/>
                  <a:pt x="2196465" y="182785"/>
                  <a:pt x="2170367" y="182785"/>
                </a:cubicBezTo>
                <a:cubicBezTo>
                  <a:pt x="2129695" y="182785"/>
                  <a:pt x="2095976" y="193358"/>
                  <a:pt x="2069211" y="214598"/>
                </a:cubicBezTo>
                <a:cubicBezTo>
                  <a:pt x="2042446" y="235839"/>
                  <a:pt x="2029015" y="264986"/>
                  <a:pt x="2029015" y="302228"/>
                </a:cubicBezTo>
                <a:cubicBezTo>
                  <a:pt x="2029015" y="331280"/>
                  <a:pt x="2038922" y="355664"/>
                  <a:pt x="2058638" y="375380"/>
                </a:cubicBezTo>
                <a:cubicBezTo>
                  <a:pt x="2078355" y="395097"/>
                  <a:pt x="2113121" y="409289"/>
                  <a:pt x="2163032" y="417957"/>
                </a:cubicBezTo>
                <a:cubicBezTo>
                  <a:pt x="2183321" y="421672"/>
                  <a:pt x="2198656" y="427673"/>
                  <a:pt x="2208943" y="435959"/>
                </a:cubicBezTo>
                <a:cubicBezTo>
                  <a:pt x="2219230" y="444246"/>
                  <a:pt x="2224373" y="454628"/>
                  <a:pt x="2224373" y="467011"/>
                </a:cubicBezTo>
                <a:cubicBezTo>
                  <a:pt x="2224373" y="482155"/>
                  <a:pt x="2218944" y="493871"/>
                  <a:pt x="2207990" y="502158"/>
                </a:cubicBezTo>
                <a:cubicBezTo>
                  <a:pt x="2197037" y="510445"/>
                  <a:pt x="2181797" y="514636"/>
                  <a:pt x="2162271" y="514636"/>
                </a:cubicBezTo>
                <a:cubicBezTo>
                  <a:pt x="2144935" y="514636"/>
                  <a:pt x="2128361" y="510730"/>
                  <a:pt x="2112645" y="502920"/>
                </a:cubicBezTo>
                <a:cubicBezTo>
                  <a:pt x="2096929" y="495109"/>
                  <a:pt x="2082070" y="482060"/>
                  <a:pt x="2068163" y="463677"/>
                </a:cubicBezTo>
                <a:lnTo>
                  <a:pt x="2014633" y="511683"/>
                </a:lnTo>
                <a:cubicBezTo>
                  <a:pt x="2028730" y="534543"/>
                  <a:pt x="2048828" y="551879"/>
                  <a:pt x="2074926" y="563785"/>
                </a:cubicBezTo>
                <a:cubicBezTo>
                  <a:pt x="2101025" y="575691"/>
                  <a:pt x="2129885" y="581692"/>
                  <a:pt x="2161604" y="581692"/>
                </a:cubicBezTo>
                <a:cubicBezTo>
                  <a:pt x="2205228" y="581692"/>
                  <a:pt x="2240566" y="570452"/>
                  <a:pt x="2267617" y="547878"/>
                </a:cubicBezTo>
                <a:close/>
                <a:moveTo>
                  <a:pt x="2717292" y="237554"/>
                </a:moveTo>
                <a:cubicBezTo>
                  <a:pt x="2752154" y="274034"/>
                  <a:pt x="2769584" y="321183"/>
                  <a:pt x="2769584" y="378905"/>
                </a:cubicBezTo>
                <a:cubicBezTo>
                  <a:pt x="2769584" y="436626"/>
                  <a:pt x="2751201" y="486537"/>
                  <a:pt x="2714530" y="524542"/>
                </a:cubicBezTo>
                <a:cubicBezTo>
                  <a:pt x="2677859" y="562642"/>
                  <a:pt x="2629281" y="581692"/>
                  <a:pt x="2569083" y="581692"/>
                </a:cubicBezTo>
                <a:cubicBezTo>
                  <a:pt x="2508885" y="581692"/>
                  <a:pt x="2460498" y="563975"/>
                  <a:pt x="2424875" y="528447"/>
                </a:cubicBezTo>
                <a:cubicBezTo>
                  <a:pt x="2389251" y="493014"/>
                  <a:pt x="2371439" y="445199"/>
                  <a:pt x="2371439" y="385191"/>
                </a:cubicBezTo>
                <a:cubicBezTo>
                  <a:pt x="2371725" y="324422"/>
                  <a:pt x="2390489" y="275463"/>
                  <a:pt x="2428018" y="238411"/>
                </a:cubicBezTo>
                <a:cubicBezTo>
                  <a:pt x="2465451" y="201359"/>
                  <a:pt x="2514219" y="182785"/>
                  <a:pt x="2574227" y="182785"/>
                </a:cubicBezTo>
                <a:cubicBezTo>
                  <a:pt x="2634234" y="182785"/>
                  <a:pt x="2682431" y="200977"/>
                  <a:pt x="2717292" y="237458"/>
                </a:cubicBezTo>
                <a:close/>
                <a:moveTo>
                  <a:pt x="2678430" y="381191"/>
                </a:moveTo>
                <a:cubicBezTo>
                  <a:pt x="2678430" y="343281"/>
                  <a:pt x="2669096" y="312706"/>
                  <a:pt x="2650522" y="289655"/>
                </a:cubicBezTo>
                <a:cubicBezTo>
                  <a:pt x="2631948" y="266605"/>
                  <a:pt x="2605754" y="255079"/>
                  <a:pt x="2572036" y="255079"/>
                </a:cubicBezTo>
                <a:cubicBezTo>
                  <a:pt x="2538317" y="255079"/>
                  <a:pt x="2512219" y="266986"/>
                  <a:pt x="2492216" y="290798"/>
                </a:cubicBezTo>
                <a:cubicBezTo>
                  <a:pt x="2472214" y="314611"/>
                  <a:pt x="2462308" y="345472"/>
                  <a:pt x="2462308" y="383477"/>
                </a:cubicBezTo>
                <a:cubicBezTo>
                  <a:pt x="2462308" y="421481"/>
                  <a:pt x="2472214" y="453580"/>
                  <a:pt x="2491931" y="476155"/>
                </a:cubicBezTo>
                <a:cubicBezTo>
                  <a:pt x="2511647" y="498729"/>
                  <a:pt x="2538508" y="509969"/>
                  <a:pt x="2572512" y="509969"/>
                </a:cubicBezTo>
                <a:cubicBezTo>
                  <a:pt x="2606516" y="509969"/>
                  <a:pt x="2632329" y="498348"/>
                  <a:pt x="2650808" y="475012"/>
                </a:cubicBezTo>
                <a:cubicBezTo>
                  <a:pt x="2669286" y="451675"/>
                  <a:pt x="2678525" y="420434"/>
                  <a:pt x="2678525" y="381286"/>
                </a:cubicBezTo>
                <a:close/>
                <a:moveTo>
                  <a:pt x="3280410" y="494729"/>
                </a:moveTo>
                <a:cubicBezTo>
                  <a:pt x="3272028" y="500634"/>
                  <a:pt x="3264313" y="504920"/>
                  <a:pt x="3257360" y="507397"/>
                </a:cubicBezTo>
                <a:cubicBezTo>
                  <a:pt x="3250406" y="509873"/>
                  <a:pt x="3243453" y="511112"/>
                  <a:pt x="3236500" y="511112"/>
                </a:cubicBezTo>
                <a:cubicBezTo>
                  <a:pt x="3223070" y="511112"/>
                  <a:pt x="3212687" y="506730"/>
                  <a:pt x="3205258" y="497872"/>
                </a:cubicBezTo>
                <a:cubicBezTo>
                  <a:pt x="3197829" y="489109"/>
                  <a:pt x="3194114" y="475393"/>
                  <a:pt x="3194114" y="456724"/>
                </a:cubicBezTo>
                <a:lnTo>
                  <a:pt x="3194114" y="260985"/>
                </a:lnTo>
                <a:lnTo>
                  <a:pt x="3291269" y="260985"/>
                </a:lnTo>
                <a:lnTo>
                  <a:pt x="3291269" y="191738"/>
                </a:lnTo>
                <a:lnTo>
                  <a:pt x="3194114" y="191738"/>
                </a:lnTo>
                <a:lnTo>
                  <a:pt x="3194114" y="82677"/>
                </a:lnTo>
                <a:lnTo>
                  <a:pt x="3105150" y="98298"/>
                </a:lnTo>
                <a:lnTo>
                  <a:pt x="3105150" y="191643"/>
                </a:lnTo>
                <a:lnTo>
                  <a:pt x="2957227" y="191643"/>
                </a:lnTo>
                <a:lnTo>
                  <a:pt x="2957227" y="130969"/>
                </a:lnTo>
                <a:cubicBezTo>
                  <a:pt x="2957227" y="111157"/>
                  <a:pt x="2961513" y="96202"/>
                  <a:pt x="2970086" y="86297"/>
                </a:cubicBezTo>
                <a:cubicBezTo>
                  <a:pt x="2978658" y="76391"/>
                  <a:pt x="2990850" y="71438"/>
                  <a:pt x="3006757" y="71438"/>
                </a:cubicBezTo>
                <a:cubicBezTo>
                  <a:pt x="3014948" y="71438"/>
                  <a:pt x="3022473" y="72581"/>
                  <a:pt x="3029236" y="74962"/>
                </a:cubicBezTo>
                <a:cubicBezTo>
                  <a:pt x="3036094" y="77343"/>
                  <a:pt x="3042666" y="80581"/>
                  <a:pt x="3049143" y="84868"/>
                </a:cubicBezTo>
                <a:lnTo>
                  <a:pt x="3085624" y="20479"/>
                </a:lnTo>
                <a:cubicBezTo>
                  <a:pt x="3072479" y="13525"/>
                  <a:pt x="3059049" y="8382"/>
                  <a:pt x="3045429" y="5048"/>
                </a:cubicBezTo>
                <a:cubicBezTo>
                  <a:pt x="3031808" y="1715"/>
                  <a:pt x="3017615" y="0"/>
                  <a:pt x="3003042" y="0"/>
                </a:cubicBezTo>
                <a:cubicBezTo>
                  <a:pt x="2960370" y="0"/>
                  <a:pt x="2927318" y="11621"/>
                  <a:pt x="2903887" y="34957"/>
                </a:cubicBezTo>
                <a:cubicBezTo>
                  <a:pt x="2880455" y="58293"/>
                  <a:pt x="2868740" y="90011"/>
                  <a:pt x="2868740" y="130207"/>
                </a:cubicBezTo>
                <a:lnTo>
                  <a:pt x="2868740" y="191643"/>
                </a:lnTo>
                <a:lnTo>
                  <a:pt x="2803970" y="191643"/>
                </a:lnTo>
                <a:lnTo>
                  <a:pt x="2803970" y="260890"/>
                </a:lnTo>
                <a:lnTo>
                  <a:pt x="2868740" y="260890"/>
                </a:lnTo>
                <a:lnTo>
                  <a:pt x="2868740" y="572643"/>
                </a:lnTo>
                <a:lnTo>
                  <a:pt x="2957322" y="572643"/>
                </a:lnTo>
                <a:lnTo>
                  <a:pt x="2957322" y="260890"/>
                </a:lnTo>
                <a:lnTo>
                  <a:pt x="3105246" y="260890"/>
                </a:lnTo>
                <a:lnTo>
                  <a:pt x="3105246" y="469297"/>
                </a:lnTo>
                <a:cubicBezTo>
                  <a:pt x="3105246" y="505968"/>
                  <a:pt x="3114675" y="533876"/>
                  <a:pt x="3133535" y="553022"/>
                </a:cubicBezTo>
                <a:cubicBezTo>
                  <a:pt x="3152394" y="572167"/>
                  <a:pt x="3180588" y="581692"/>
                  <a:pt x="3218021" y="581692"/>
                </a:cubicBezTo>
                <a:cubicBezTo>
                  <a:pt x="3236405" y="581692"/>
                  <a:pt x="3253454" y="579311"/>
                  <a:pt x="3269171" y="574453"/>
                </a:cubicBezTo>
                <a:cubicBezTo>
                  <a:pt x="3284887" y="569595"/>
                  <a:pt x="3297841" y="563118"/>
                  <a:pt x="3308033" y="554926"/>
                </a:cubicBezTo>
                <a:lnTo>
                  <a:pt x="3280505" y="494633"/>
                </a:lnTo>
                <a:close/>
                <a:moveTo>
                  <a:pt x="301181" y="915543"/>
                </a:moveTo>
                <a:lnTo>
                  <a:pt x="497300" y="1449134"/>
                </a:lnTo>
                <a:lnTo>
                  <a:pt x="399860" y="1449134"/>
                </a:lnTo>
                <a:lnTo>
                  <a:pt x="354139" y="1324166"/>
                </a:lnTo>
                <a:lnTo>
                  <a:pt x="140970" y="1324166"/>
                </a:lnTo>
                <a:lnTo>
                  <a:pt x="97441" y="1449134"/>
                </a:lnTo>
                <a:lnTo>
                  <a:pt x="0" y="1449134"/>
                </a:lnTo>
                <a:lnTo>
                  <a:pt x="197930" y="915543"/>
                </a:lnTo>
                <a:lnTo>
                  <a:pt x="301371" y="915543"/>
                </a:lnTo>
                <a:close/>
                <a:moveTo>
                  <a:pt x="329851" y="1247108"/>
                </a:moveTo>
                <a:lnTo>
                  <a:pt x="257651" y="1037654"/>
                </a:lnTo>
                <a:cubicBezTo>
                  <a:pt x="255937" y="1032224"/>
                  <a:pt x="254318" y="1027271"/>
                  <a:pt x="252984" y="1022795"/>
                </a:cubicBezTo>
                <a:cubicBezTo>
                  <a:pt x="251651" y="1018318"/>
                  <a:pt x="250031" y="1012888"/>
                  <a:pt x="248317" y="1006412"/>
                </a:cubicBezTo>
                <a:lnTo>
                  <a:pt x="246126" y="1006412"/>
                </a:lnTo>
                <a:cubicBezTo>
                  <a:pt x="244412" y="1012317"/>
                  <a:pt x="242792" y="1017651"/>
                  <a:pt x="241459" y="1022223"/>
                </a:cubicBezTo>
                <a:cubicBezTo>
                  <a:pt x="240125" y="1026795"/>
                  <a:pt x="238411" y="1031938"/>
                  <a:pt x="236411" y="1037654"/>
                </a:cubicBezTo>
                <a:lnTo>
                  <a:pt x="164973" y="1247108"/>
                </a:lnTo>
                <a:lnTo>
                  <a:pt x="329756" y="1247108"/>
                </a:lnTo>
                <a:close/>
                <a:moveTo>
                  <a:pt x="557403" y="1449134"/>
                </a:moveTo>
                <a:lnTo>
                  <a:pt x="648557" y="1449134"/>
                </a:lnTo>
                <a:lnTo>
                  <a:pt x="648557" y="915543"/>
                </a:lnTo>
                <a:lnTo>
                  <a:pt x="557403" y="915543"/>
                </a:lnTo>
                <a:lnTo>
                  <a:pt x="557403" y="1449134"/>
                </a:lnTo>
                <a:close/>
                <a:moveTo>
                  <a:pt x="1271778" y="915543"/>
                </a:moveTo>
                <a:lnTo>
                  <a:pt x="883730" y="915543"/>
                </a:lnTo>
                <a:lnTo>
                  <a:pt x="883730" y="992600"/>
                </a:lnTo>
                <a:lnTo>
                  <a:pt x="1031843" y="992600"/>
                </a:lnTo>
                <a:lnTo>
                  <a:pt x="1031843" y="1449134"/>
                </a:lnTo>
                <a:lnTo>
                  <a:pt x="1122998" y="1449134"/>
                </a:lnTo>
                <a:lnTo>
                  <a:pt x="1122998" y="992600"/>
                </a:lnTo>
                <a:lnTo>
                  <a:pt x="1271778" y="992600"/>
                </a:lnTo>
                <a:lnTo>
                  <a:pt x="1271778" y="915543"/>
                </a:lnTo>
                <a:close/>
                <a:moveTo>
                  <a:pt x="1581340" y="1113854"/>
                </a:moveTo>
                <a:cubicBezTo>
                  <a:pt x="1616202" y="1150334"/>
                  <a:pt x="1633633" y="1197483"/>
                  <a:pt x="1633633" y="1255205"/>
                </a:cubicBezTo>
                <a:cubicBezTo>
                  <a:pt x="1633633" y="1312926"/>
                  <a:pt x="1615250" y="1362837"/>
                  <a:pt x="1578578" y="1400842"/>
                </a:cubicBezTo>
                <a:cubicBezTo>
                  <a:pt x="1541812" y="1438942"/>
                  <a:pt x="1493330" y="1457992"/>
                  <a:pt x="1433132" y="1457992"/>
                </a:cubicBezTo>
                <a:cubicBezTo>
                  <a:pt x="1372934" y="1457992"/>
                  <a:pt x="1324547" y="1440275"/>
                  <a:pt x="1288923" y="1404747"/>
                </a:cubicBezTo>
                <a:cubicBezTo>
                  <a:pt x="1253300" y="1369314"/>
                  <a:pt x="1235488" y="1321499"/>
                  <a:pt x="1235488" y="1261491"/>
                </a:cubicBezTo>
                <a:cubicBezTo>
                  <a:pt x="1235774" y="1200722"/>
                  <a:pt x="1254538" y="1151763"/>
                  <a:pt x="1292066" y="1114711"/>
                </a:cubicBezTo>
                <a:cubicBezTo>
                  <a:pt x="1329500" y="1077659"/>
                  <a:pt x="1378268" y="1059085"/>
                  <a:pt x="1438275" y="1059085"/>
                </a:cubicBezTo>
                <a:cubicBezTo>
                  <a:pt x="1498283" y="1059085"/>
                  <a:pt x="1546479" y="1077278"/>
                  <a:pt x="1581340" y="1113758"/>
                </a:cubicBezTo>
                <a:close/>
                <a:moveTo>
                  <a:pt x="1542479" y="1257491"/>
                </a:moveTo>
                <a:cubicBezTo>
                  <a:pt x="1542479" y="1219581"/>
                  <a:pt x="1533144" y="1189006"/>
                  <a:pt x="1514570" y="1165955"/>
                </a:cubicBezTo>
                <a:cubicBezTo>
                  <a:pt x="1495997" y="1142905"/>
                  <a:pt x="1469803" y="1131380"/>
                  <a:pt x="1436084" y="1131380"/>
                </a:cubicBezTo>
                <a:cubicBezTo>
                  <a:pt x="1402366" y="1131380"/>
                  <a:pt x="1376267" y="1143286"/>
                  <a:pt x="1356265" y="1167098"/>
                </a:cubicBezTo>
                <a:cubicBezTo>
                  <a:pt x="1336262" y="1190911"/>
                  <a:pt x="1326356" y="1221772"/>
                  <a:pt x="1326356" y="1259777"/>
                </a:cubicBezTo>
                <a:cubicBezTo>
                  <a:pt x="1326356" y="1297781"/>
                  <a:pt x="1336262" y="1329881"/>
                  <a:pt x="1355979" y="1352455"/>
                </a:cubicBezTo>
                <a:cubicBezTo>
                  <a:pt x="1375696" y="1375029"/>
                  <a:pt x="1402556" y="1386269"/>
                  <a:pt x="1436561" y="1386269"/>
                </a:cubicBezTo>
                <a:cubicBezTo>
                  <a:pt x="1470565" y="1386269"/>
                  <a:pt x="1496378" y="1374648"/>
                  <a:pt x="1514856" y="1351312"/>
                </a:cubicBezTo>
                <a:cubicBezTo>
                  <a:pt x="1533335" y="1327976"/>
                  <a:pt x="1542574" y="1296734"/>
                  <a:pt x="1542574" y="1257586"/>
                </a:cubicBezTo>
                <a:close/>
                <a:moveTo>
                  <a:pt x="1951577" y="1285399"/>
                </a:moveTo>
                <a:cubicBezTo>
                  <a:pt x="1951577" y="1314450"/>
                  <a:pt x="1943290" y="1338453"/>
                  <a:pt x="1926622" y="1357598"/>
                </a:cubicBezTo>
                <a:cubicBezTo>
                  <a:pt x="1910048" y="1376744"/>
                  <a:pt x="1888522" y="1386269"/>
                  <a:pt x="1862233" y="1386269"/>
                </a:cubicBezTo>
                <a:cubicBezTo>
                  <a:pt x="1835944" y="1386269"/>
                  <a:pt x="1817465" y="1378268"/>
                  <a:pt x="1805273" y="1362266"/>
                </a:cubicBezTo>
                <a:cubicBezTo>
                  <a:pt x="1793081" y="1346264"/>
                  <a:pt x="1787081" y="1322356"/>
                  <a:pt x="1787081" y="1290638"/>
                </a:cubicBezTo>
                <a:lnTo>
                  <a:pt x="1787081" y="1068134"/>
                </a:lnTo>
                <a:lnTo>
                  <a:pt x="1698498" y="1068134"/>
                </a:lnTo>
                <a:lnTo>
                  <a:pt x="1698498" y="1302544"/>
                </a:lnTo>
                <a:cubicBezTo>
                  <a:pt x="1698498" y="1353407"/>
                  <a:pt x="1709833" y="1391984"/>
                  <a:pt x="1732502" y="1418463"/>
                </a:cubicBezTo>
                <a:cubicBezTo>
                  <a:pt x="1755172" y="1444943"/>
                  <a:pt x="1788890" y="1458087"/>
                  <a:pt x="1833563" y="1458087"/>
                </a:cubicBezTo>
                <a:cubicBezTo>
                  <a:pt x="1856423" y="1458087"/>
                  <a:pt x="1878425" y="1452563"/>
                  <a:pt x="1899571" y="1441514"/>
                </a:cubicBezTo>
                <a:cubicBezTo>
                  <a:pt x="1920716" y="1430465"/>
                  <a:pt x="1937480" y="1415796"/>
                  <a:pt x="1949577" y="1397413"/>
                </a:cubicBezTo>
                <a:lnTo>
                  <a:pt x="1951482" y="1397413"/>
                </a:lnTo>
                <a:lnTo>
                  <a:pt x="1951482" y="1449134"/>
                </a:lnTo>
                <a:lnTo>
                  <a:pt x="2040446" y="1449134"/>
                </a:lnTo>
                <a:lnTo>
                  <a:pt x="2040446" y="1068134"/>
                </a:lnTo>
                <a:lnTo>
                  <a:pt x="1951482" y="1068134"/>
                </a:lnTo>
                <a:lnTo>
                  <a:pt x="1951482" y="1285399"/>
                </a:lnTo>
                <a:close/>
                <a:moveTo>
                  <a:pt x="2326767" y="1061466"/>
                </a:moveTo>
                <a:cubicBezTo>
                  <a:pt x="2303907" y="1061466"/>
                  <a:pt x="2283809" y="1067943"/>
                  <a:pt x="2266474" y="1080992"/>
                </a:cubicBezTo>
                <a:cubicBezTo>
                  <a:pt x="2249138" y="1094042"/>
                  <a:pt x="2235994" y="1112711"/>
                  <a:pt x="2227040" y="1136999"/>
                </a:cubicBezTo>
                <a:lnTo>
                  <a:pt x="2225516" y="1136999"/>
                </a:lnTo>
                <a:lnTo>
                  <a:pt x="2225516" y="1068134"/>
                </a:lnTo>
                <a:lnTo>
                  <a:pt x="2136553" y="1068134"/>
                </a:lnTo>
                <a:lnTo>
                  <a:pt x="2136553" y="1449134"/>
                </a:lnTo>
                <a:lnTo>
                  <a:pt x="2225516" y="1449134"/>
                </a:lnTo>
                <a:lnTo>
                  <a:pt x="2225516" y="1260824"/>
                </a:lnTo>
                <a:cubicBezTo>
                  <a:pt x="2225516" y="1224344"/>
                  <a:pt x="2233422" y="1195007"/>
                  <a:pt x="2249138" y="1172623"/>
                </a:cubicBezTo>
                <a:cubicBezTo>
                  <a:pt x="2264855" y="1150334"/>
                  <a:pt x="2285524" y="1139095"/>
                  <a:pt x="2311051" y="1139095"/>
                </a:cubicBezTo>
                <a:cubicBezTo>
                  <a:pt x="2319242" y="1139095"/>
                  <a:pt x="2326958" y="1139857"/>
                  <a:pt x="2334292" y="1141476"/>
                </a:cubicBezTo>
                <a:cubicBezTo>
                  <a:pt x="2341626" y="1143095"/>
                  <a:pt x="2348865" y="1145286"/>
                  <a:pt x="2356104" y="1147953"/>
                </a:cubicBezTo>
                <a:lnTo>
                  <a:pt x="2379917" y="1072039"/>
                </a:lnTo>
                <a:cubicBezTo>
                  <a:pt x="2370487" y="1067848"/>
                  <a:pt x="2361724" y="1064990"/>
                  <a:pt x="2353532" y="1063466"/>
                </a:cubicBezTo>
                <a:cubicBezTo>
                  <a:pt x="2345341" y="1061942"/>
                  <a:pt x="2336387" y="1061276"/>
                  <a:pt x="2326767" y="1061276"/>
                </a:cubicBezTo>
                <a:close/>
              </a:path>
            </a:pathLst>
          </a:custGeom>
          <a:gradFill>
            <a:gsLst>
              <a:gs pos="0">
                <a:srgbClr val="FFFFFF"/>
              </a:gs>
              <a:gs pos="33000">
                <a:srgbClr val="FFFFFF"/>
              </a:gs>
              <a:gs pos="69000">
                <a:srgbClr val="D4EC8E"/>
              </a:gs>
            </a:gsLst>
            <a:lin ang="2700000" scaled="0"/>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419323006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D3C8DE-A151-6229-4ABB-693D018AB92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itle 1"/>
          <p:cNvSpPr>
            <a:spLocks noGrp="1"/>
          </p:cNvSpPr>
          <p:nvPr>
            <p:ph type="title" hasCustomPrompt="1"/>
          </p:nvPr>
        </p:nvSpPr>
        <p:spPr bwMode="white">
          <a:xfrm>
            <a:off x="584200" y="2425781"/>
            <a:ext cx="5577840" cy="1107996"/>
          </a:xfrm>
          <a:noFill/>
        </p:spPr>
        <p:txBody>
          <a:bodyPr vert="horz" wrap="square" lIns="0" tIns="0" rIns="0" bIns="0" rtlCol="0" anchor="b" anchorCtr="0">
            <a:spAutoFit/>
          </a:bodyPr>
          <a:lstStyle>
            <a:lvl1pPr>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Event name or presentation title </a:t>
            </a:r>
          </a:p>
        </p:txBody>
      </p:sp>
      <p:sp>
        <p:nvSpPr>
          <p:cNvPr id="5" name="Text Placeholder 4"/>
          <p:cNvSpPr>
            <a:spLocks noGrp="1"/>
          </p:cNvSpPr>
          <p:nvPr>
            <p:ph type="body" sz="quarter" idx="12" hasCustomPrompt="1"/>
          </p:nvPr>
        </p:nvSpPr>
        <p:spPr bwMode="white">
          <a:xfrm>
            <a:off x="584200" y="3962400"/>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Speaker name or subtitle text</a:t>
            </a:r>
          </a:p>
        </p:txBody>
      </p:sp>
      <p:pic>
        <p:nvPicPr>
          <p:cNvPr id="7" name="MS logo white - EMF" descr="Microsoft logo white text version">
            <a:extLst>
              <a:ext uri="{FF2B5EF4-FFF2-40B4-BE49-F238E27FC236}">
                <a16:creationId xmlns:a16="http://schemas.microsoft.com/office/drawing/2014/main" id="{7402CA17-47CB-D841-851F-EAC4B87C209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219791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070971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841492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461658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860430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28207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793915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1490282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044051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256659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486421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959220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6309365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7312234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77231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4226294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5264823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43531980"/>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6525697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308441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7957656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14317633"/>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2754542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339366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5940904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35983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0247878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2886318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803741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746176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9336055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6313127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747303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6231142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76101998"/>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694826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15480499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84326624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8140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2A446F"/>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D30A553-BFB8-57D4-AE28-9398552BB451}"/>
              </a:ext>
            </a:extLst>
          </p:cNvPr>
          <p:cNvPicPr>
            <a:picLocks noChangeAspect="1"/>
          </p:cNvPicPr>
          <p:nvPr userDrawn="1"/>
        </p:nvPicPr>
        <p:blipFill>
          <a:blip r:embed="rId2"/>
          <a:srcRect/>
          <a:stretch/>
        </p:blipFill>
        <p:spPr>
          <a:xfrm>
            <a:off x="592" y="333"/>
            <a:ext cx="12190815" cy="6857333"/>
          </a:xfrm>
          <a:prstGeom prst="rect">
            <a:avLst/>
          </a:prstGeom>
        </p:spPr>
      </p:pic>
      <p:sp>
        <p:nvSpPr>
          <p:cNvPr id="2" name="Title 1"/>
          <p:cNvSpPr>
            <a:spLocks noGrp="1"/>
          </p:cNvSpPr>
          <p:nvPr>
            <p:ph type="title" hasCustomPrompt="1"/>
          </p:nvPr>
        </p:nvSpPr>
        <p:spPr>
          <a:xfrm>
            <a:off x="585216" y="2977823"/>
            <a:ext cx="62179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091F2C"/>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621792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rgbClr val="091F2C"/>
                </a:solidFill>
                <a:latin typeface="+mn-lt"/>
              </a:defRPr>
            </a:lvl1pPr>
          </a:lstStyle>
          <a:p>
            <a:pPr lvl="0"/>
            <a:r>
              <a:rPr lang="en-US"/>
              <a:t>Speaker name</a:t>
            </a:r>
          </a:p>
        </p:txBody>
      </p:sp>
    </p:spTree>
    <p:extLst>
      <p:ext uri="{BB962C8B-B14F-4D97-AF65-F5344CB8AC3E}">
        <p14:creationId xmlns:p14="http://schemas.microsoft.com/office/powerpoint/2010/main" val="18596676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559631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2A446F"/>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13ECED-2129-6B62-31D3-80AD61D9A422}"/>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091F2C"/>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6769858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67374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3786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831411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2458089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52310958"/>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3292971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4.xml"/><Relationship Id="rId18" Type="http://schemas.openxmlformats.org/officeDocument/2006/relationships/slideLayout" Target="../slideLayouts/slideLayout69.xml"/><Relationship Id="rId26" Type="http://schemas.openxmlformats.org/officeDocument/2006/relationships/slideLayout" Target="../slideLayouts/slideLayout77.xml"/><Relationship Id="rId39" Type="http://schemas.openxmlformats.org/officeDocument/2006/relationships/slideLayout" Target="../slideLayouts/slideLayout90.xml"/><Relationship Id="rId21" Type="http://schemas.openxmlformats.org/officeDocument/2006/relationships/slideLayout" Target="../slideLayouts/slideLayout72.xml"/><Relationship Id="rId34" Type="http://schemas.openxmlformats.org/officeDocument/2006/relationships/slideLayout" Target="../slideLayouts/slideLayout85.xml"/><Relationship Id="rId42" Type="http://schemas.openxmlformats.org/officeDocument/2006/relationships/slideLayout" Target="../slideLayouts/slideLayout93.xml"/><Relationship Id="rId47" Type="http://schemas.openxmlformats.org/officeDocument/2006/relationships/slideLayout" Target="../slideLayouts/slideLayout98.xml"/><Relationship Id="rId50" Type="http://schemas.openxmlformats.org/officeDocument/2006/relationships/theme" Target="../theme/theme2.xml"/><Relationship Id="rId7" Type="http://schemas.openxmlformats.org/officeDocument/2006/relationships/slideLayout" Target="../slideLayouts/slideLayout5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9" Type="http://schemas.openxmlformats.org/officeDocument/2006/relationships/slideLayout" Target="../slideLayouts/slideLayout80.xml"/><Relationship Id="rId11" Type="http://schemas.openxmlformats.org/officeDocument/2006/relationships/slideLayout" Target="../slideLayouts/slideLayout62.xml"/><Relationship Id="rId24" Type="http://schemas.openxmlformats.org/officeDocument/2006/relationships/slideLayout" Target="../slideLayouts/slideLayout75.xml"/><Relationship Id="rId32" Type="http://schemas.openxmlformats.org/officeDocument/2006/relationships/slideLayout" Target="../slideLayouts/slideLayout83.xml"/><Relationship Id="rId37" Type="http://schemas.openxmlformats.org/officeDocument/2006/relationships/slideLayout" Target="../slideLayouts/slideLayout88.xml"/><Relationship Id="rId40" Type="http://schemas.openxmlformats.org/officeDocument/2006/relationships/slideLayout" Target="../slideLayouts/slideLayout91.xml"/><Relationship Id="rId45" Type="http://schemas.openxmlformats.org/officeDocument/2006/relationships/slideLayout" Target="../slideLayouts/slideLayout96.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slideLayout" Target="../slideLayouts/slideLayout74.xml"/><Relationship Id="rId28" Type="http://schemas.openxmlformats.org/officeDocument/2006/relationships/slideLayout" Target="../slideLayouts/slideLayout79.xml"/><Relationship Id="rId36" Type="http://schemas.openxmlformats.org/officeDocument/2006/relationships/slideLayout" Target="../slideLayouts/slideLayout87.xml"/><Relationship Id="rId49" Type="http://schemas.openxmlformats.org/officeDocument/2006/relationships/slideLayout" Target="../slideLayouts/slideLayout100.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31" Type="http://schemas.openxmlformats.org/officeDocument/2006/relationships/slideLayout" Target="../slideLayouts/slideLayout82.xml"/><Relationship Id="rId44" Type="http://schemas.openxmlformats.org/officeDocument/2006/relationships/slideLayout" Target="../slideLayouts/slideLayout95.xml"/><Relationship Id="rId52" Type="http://schemas.openxmlformats.org/officeDocument/2006/relationships/image" Target="../media/image2.svg"/><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slideLayout" Target="../slideLayouts/slideLayout73.xml"/><Relationship Id="rId27" Type="http://schemas.openxmlformats.org/officeDocument/2006/relationships/slideLayout" Target="../slideLayouts/slideLayout78.xml"/><Relationship Id="rId30" Type="http://schemas.openxmlformats.org/officeDocument/2006/relationships/slideLayout" Target="../slideLayouts/slideLayout81.xml"/><Relationship Id="rId35" Type="http://schemas.openxmlformats.org/officeDocument/2006/relationships/slideLayout" Target="../slideLayouts/slideLayout86.xml"/><Relationship Id="rId43" Type="http://schemas.openxmlformats.org/officeDocument/2006/relationships/slideLayout" Target="../slideLayouts/slideLayout94.xml"/><Relationship Id="rId48" Type="http://schemas.openxmlformats.org/officeDocument/2006/relationships/slideLayout" Target="../slideLayouts/slideLayout99.xml"/><Relationship Id="rId8" Type="http://schemas.openxmlformats.org/officeDocument/2006/relationships/slideLayout" Target="../slideLayouts/slideLayout59.xml"/><Relationship Id="rId51" Type="http://schemas.openxmlformats.org/officeDocument/2006/relationships/image" Target="../media/image1.png"/><Relationship Id="rId3" Type="http://schemas.openxmlformats.org/officeDocument/2006/relationships/slideLayout" Target="../slideLayouts/slideLayout54.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slideLayout" Target="../slideLayouts/slideLayout76.xml"/><Relationship Id="rId33" Type="http://schemas.openxmlformats.org/officeDocument/2006/relationships/slideLayout" Target="../slideLayouts/slideLayout84.xml"/><Relationship Id="rId38" Type="http://schemas.openxmlformats.org/officeDocument/2006/relationships/slideLayout" Target="../slideLayouts/slideLayout89.xml"/><Relationship Id="rId46" Type="http://schemas.openxmlformats.org/officeDocument/2006/relationships/slideLayout" Target="../slideLayouts/slideLayout97.xml"/><Relationship Id="rId20" Type="http://schemas.openxmlformats.org/officeDocument/2006/relationships/slideLayout" Target="../slideLayouts/slideLayout71.xml"/><Relationship Id="rId41" Type="http://schemas.openxmlformats.org/officeDocument/2006/relationships/slideLayout" Target="../slideLayouts/slideLayout92.xml"/><Relationship Id="rId1" Type="http://schemas.openxmlformats.org/officeDocument/2006/relationships/slideLayout" Target="../slideLayouts/slideLayout52.xml"/><Relationship Id="rId6"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53">
            <a:extLst>
              <a:ext uri="{96DAC541-7B7A-43D3-8B79-37D633B846F1}">
                <asvg:svgBlip xmlns:asvg="http://schemas.microsoft.com/office/drawing/2016/SVG/main" r:embed="rId5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497" r:id="rId1"/>
    <p:sldLayoutId id="2147485450" r:id="rId2"/>
    <p:sldLayoutId id="2147485451" r:id="rId3"/>
    <p:sldLayoutId id="2147485452" r:id="rId4"/>
    <p:sldLayoutId id="2147485453" r:id="rId5"/>
    <p:sldLayoutId id="2147485454" r:id="rId6"/>
    <p:sldLayoutId id="2147485455" r:id="rId7"/>
    <p:sldLayoutId id="2147485456" r:id="rId8"/>
    <p:sldLayoutId id="2147485457" r:id="rId9"/>
    <p:sldLayoutId id="2147485458" r:id="rId10"/>
    <p:sldLayoutId id="2147485459" r:id="rId11"/>
    <p:sldLayoutId id="2147485460" r:id="rId12"/>
    <p:sldLayoutId id="2147485461" r:id="rId13"/>
    <p:sldLayoutId id="2147485462" r:id="rId14"/>
    <p:sldLayoutId id="2147485463" r:id="rId15"/>
    <p:sldLayoutId id="2147485464" r:id="rId16"/>
    <p:sldLayoutId id="2147485465" r:id="rId17"/>
    <p:sldLayoutId id="2147485466" r:id="rId18"/>
    <p:sldLayoutId id="2147485467" r:id="rId19"/>
    <p:sldLayoutId id="2147485468" r:id="rId20"/>
    <p:sldLayoutId id="2147485469" r:id="rId21"/>
    <p:sldLayoutId id="2147485470" r:id="rId22"/>
    <p:sldLayoutId id="2147485471" r:id="rId23"/>
    <p:sldLayoutId id="2147485472" r:id="rId24"/>
    <p:sldLayoutId id="2147485473" r:id="rId25"/>
    <p:sldLayoutId id="2147485474" r:id="rId26"/>
    <p:sldLayoutId id="2147485475" r:id="rId27"/>
    <p:sldLayoutId id="2147485476" r:id="rId28"/>
    <p:sldLayoutId id="2147485477" r:id="rId29"/>
    <p:sldLayoutId id="2147485478" r:id="rId30"/>
    <p:sldLayoutId id="2147485479" r:id="rId31"/>
    <p:sldLayoutId id="2147485480" r:id="rId32"/>
    <p:sldLayoutId id="2147485481" r:id="rId33"/>
    <p:sldLayoutId id="2147485482" r:id="rId34"/>
    <p:sldLayoutId id="2147485483" r:id="rId35"/>
    <p:sldLayoutId id="2147485484" r:id="rId36"/>
    <p:sldLayoutId id="2147485485" r:id="rId37"/>
    <p:sldLayoutId id="2147485486" r:id="rId38"/>
    <p:sldLayoutId id="2147485487" r:id="rId39"/>
    <p:sldLayoutId id="2147485488" r:id="rId40"/>
    <p:sldLayoutId id="2147485489" r:id="rId41"/>
    <p:sldLayoutId id="2147485490" r:id="rId42"/>
    <p:sldLayoutId id="2147485491" r:id="rId43"/>
    <p:sldLayoutId id="2147485492" r:id="rId44"/>
    <p:sldLayoutId id="2147485493" r:id="rId45"/>
    <p:sldLayoutId id="2147485494" r:id="rId46"/>
    <p:sldLayoutId id="2147485495" r:id="rId47"/>
    <p:sldLayoutId id="2147485496" r:id="rId48"/>
    <p:sldLayoutId id="2147485603" r:id="rId49"/>
    <p:sldLayoutId id="2147485605" r:id="rId50"/>
    <p:sldLayoutId id="2147485606" r:id="rId5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51">
            <a:extLst>
              <a:ext uri="{96DAC541-7B7A-43D3-8B79-37D633B846F1}">
                <asvg:svgBlip xmlns:asvg="http://schemas.microsoft.com/office/drawing/2016/SVG/main" r:embed="rId52"/>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963631770"/>
      </p:ext>
    </p:extLst>
  </p:cSld>
  <p:clrMap bg1="dk1" tx1="lt1" bg2="dk2" tx2="lt2" accent1="accent1" accent2="accent2" accent3="accent3" accent4="accent4" accent5="accent5" accent6="accent6" hlink="hlink" folHlink="folHlink"/>
  <p:sldLayoutIdLst>
    <p:sldLayoutId id="2147485601" r:id="rId1"/>
    <p:sldLayoutId id="2147485554" r:id="rId2"/>
    <p:sldLayoutId id="2147485555" r:id="rId3"/>
    <p:sldLayoutId id="2147485556" r:id="rId4"/>
    <p:sldLayoutId id="2147485557" r:id="rId5"/>
    <p:sldLayoutId id="2147485558" r:id="rId6"/>
    <p:sldLayoutId id="2147485559" r:id="rId7"/>
    <p:sldLayoutId id="2147485560" r:id="rId8"/>
    <p:sldLayoutId id="2147485561" r:id="rId9"/>
    <p:sldLayoutId id="2147485562" r:id="rId10"/>
    <p:sldLayoutId id="2147485563" r:id="rId11"/>
    <p:sldLayoutId id="2147485564" r:id="rId12"/>
    <p:sldLayoutId id="2147485565" r:id="rId13"/>
    <p:sldLayoutId id="2147485566" r:id="rId14"/>
    <p:sldLayoutId id="2147485567" r:id="rId15"/>
    <p:sldLayoutId id="2147485568" r:id="rId16"/>
    <p:sldLayoutId id="2147485569" r:id="rId17"/>
    <p:sldLayoutId id="2147485570" r:id="rId18"/>
    <p:sldLayoutId id="2147485571" r:id="rId19"/>
    <p:sldLayoutId id="2147485572" r:id="rId20"/>
    <p:sldLayoutId id="2147485573" r:id="rId21"/>
    <p:sldLayoutId id="2147485574" r:id="rId22"/>
    <p:sldLayoutId id="2147485575" r:id="rId23"/>
    <p:sldLayoutId id="2147485576" r:id="rId24"/>
    <p:sldLayoutId id="2147485577" r:id="rId25"/>
    <p:sldLayoutId id="2147485578" r:id="rId26"/>
    <p:sldLayoutId id="2147485579" r:id="rId27"/>
    <p:sldLayoutId id="2147485580" r:id="rId28"/>
    <p:sldLayoutId id="2147485581" r:id="rId29"/>
    <p:sldLayoutId id="2147485582" r:id="rId30"/>
    <p:sldLayoutId id="2147485583" r:id="rId31"/>
    <p:sldLayoutId id="2147485584" r:id="rId32"/>
    <p:sldLayoutId id="2147485585" r:id="rId33"/>
    <p:sldLayoutId id="2147485586" r:id="rId34"/>
    <p:sldLayoutId id="2147485587" r:id="rId35"/>
    <p:sldLayoutId id="2147485588" r:id="rId36"/>
    <p:sldLayoutId id="2147485589" r:id="rId37"/>
    <p:sldLayoutId id="2147485590" r:id="rId38"/>
    <p:sldLayoutId id="2147485591" r:id="rId39"/>
    <p:sldLayoutId id="2147485592" r:id="rId40"/>
    <p:sldLayoutId id="2147485593" r:id="rId41"/>
    <p:sldLayoutId id="2147485594" r:id="rId42"/>
    <p:sldLayoutId id="2147485595" r:id="rId43"/>
    <p:sldLayoutId id="2147485596" r:id="rId44"/>
    <p:sldLayoutId id="2147485597" r:id="rId45"/>
    <p:sldLayoutId id="2147485598" r:id="rId46"/>
    <p:sldLayoutId id="2147485599" r:id="rId47"/>
    <p:sldLayoutId id="2147485600" r:id="rId48"/>
    <p:sldLayoutId id="2147485602" r:id="rId49"/>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hyperlink" Target="https://aka.ms/ragchat/demo" TargetMode="External"/><Relationship Id="rId4" Type="http://schemas.openxmlformats.org/officeDocument/2006/relationships/hyperlink" Target="https://aka.ms/ragchat"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3.xml"/></Relationships>
</file>

<file path=ppt/slides/_rels/slide21.xml.rels><?xml version="1.0" encoding="UTF-8" standalone="yes"?>
<Relationships xmlns="http://schemas.openxmlformats.org/package/2006/relationships"><Relationship Id="rId3" Type="http://schemas.openxmlformats.org/officeDocument/2006/relationships/hyperlink" Target="https://aka.ms/ragchat/evaluation" TargetMode="External"/><Relationship Id="rId2" Type="http://schemas.openxmlformats.org/officeDocument/2006/relationships/notesSlide" Target="../notesSlides/notesSlide16.xml"/><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svg"/><Relationship Id="rId2" Type="http://schemas.openxmlformats.org/officeDocument/2006/relationships/notesSlide" Target="../notesSlides/notesSlide17.xml"/><Relationship Id="rId1" Type="http://schemas.openxmlformats.org/officeDocument/2006/relationships/slideLayout" Target="../slideLayouts/slideLayout5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svg"/><Relationship Id="rId9" Type="http://schemas.openxmlformats.org/officeDocument/2006/relationships/image" Target="../media/image46.svg"/></Relationships>
</file>

<file path=ppt/slides/_rels/slide23.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7.png"/><Relationship Id="rId7" Type="http://schemas.openxmlformats.org/officeDocument/2006/relationships/image" Target="../media/image50.svg"/><Relationship Id="rId2" Type="http://schemas.openxmlformats.org/officeDocument/2006/relationships/notesSlide" Target="../notesSlides/notesSlide18.xml"/><Relationship Id="rId1" Type="http://schemas.openxmlformats.org/officeDocument/2006/relationships/slideLayout" Target="../slideLayouts/slideLayout51.xml"/><Relationship Id="rId6" Type="http://schemas.openxmlformats.org/officeDocument/2006/relationships/image" Target="../media/image49.png"/><Relationship Id="rId5" Type="http://schemas.openxmlformats.org/officeDocument/2006/relationships/image" Target="../media/image42.png"/><Relationship Id="rId4" Type="http://schemas.openxmlformats.org/officeDocument/2006/relationships/image" Target="../media/image48.svg"/><Relationship Id="rId9" Type="http://schemas.openxmlformats.org/officeDocument/2006/relationships/image" Target="../media/image46.svg"/></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51.xml"/></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51.xml"/></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1.xml"/><Relationship Id="rId1" Type="http://schemas.openxmlformats.org/officeDocument/2006/relationships/slideLayout" Target="../slideLayouts/slideLayout51.xml"/><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55.gif"/><Relationship Id="rId2" Type="http://schemas.openxmlformats.org/officeDocument/2006/relationships/notesSlide" Target="../notesSlides/notesSlide22.xml"/><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4.xml"/><Relationship Id="rId6" Type="http://schemas.openxmlformats.org/officeDocument/2006/relationships/hyperlink" Target="https://aka.ms/aitour/azure-search" TargetMode="External"/><Relationship Id="rId5" Type="http://schemas.openxmlformats.org/officeDocument/2006/relationships/hyperlink" Target="https://github.com/mattgotteiner/rag-with-azure-ai-search-notebooks/blob/main/azure_ai_search.ipynb" TargetMode="External"/><Relationship Id="rId4" Type="http://schemas.openxmlformats.org/officeDocument/2006/relationships/image" Target="../media/image41.svg"/></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mattgotteiner/rag-with-azure-ai-search-notebooks/blob/main/azure_ai_search.ipynb" TargetMode="External"/><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hyperlink" Target="https://aka.ms/aitour/azure-search"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mattgotteiner/rag-with-azure-ai-search-notebooks/blob/main/search_relevance.ipynb" TargetMode="External"/><Relationship Id="rId2" Type="http://schemas.openxmlformats.org/officeDocument/2006/relationships/notesSlide" Target="../notesSlides/notesSlide26.xml"/><Relationship Id="rId1" Type="http://schemas.openxmlformats.org/officeDocument/2006/relationships/slideLayout" Target="../slideLayouts/slideLayout50.xml"/><Relationship Id="rId4" Type="http://schemas.openxmlformats.org/officeDocument/2006/relationships/hyperlink" Target="https://aka.ms/aitour/search-relevance" TargetMode="External"/></Relationships>
</file>

<file path=ppt/slides/_rels/slide33.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hyperlink" Target="https://github.com/mattgotteiner/rag-with-azure-ai-search-notebooks/blob/main/search_relevance.ipynb" TargetMode="External"/><Relationship Id="rId7"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520.png"/><Relationship Id="rId5" Type="http://schemas.openxmlformats.org/officeDocument/2006/relationships/customXml" Target="../ink/ink1.xml"/><Relationship Id="rId4" Type="http://schemas.openxmlformats.org/officeDocument/2006/relationships/hyperlink" Target="https://aka.ms/aitour/search-relevance"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4.xml"/></Relationships>
</file>

<file path=ppt/slides/_rels/slide36.xml.rels><?xml version="1.0" encoding="UTF-8" standalone="yes"?>
<Relationships xmlns="http://schemas.openxmlformats.org/package/2006/relationships"><Relationship Id="rId8" Type="http://schemas.openxmlformats.org/officeDocument/2006/relationships/image" Target="../media/image63.svg"/><Relationship Id="rId13" Type="http://schemas.openxmlformats.org/officeDocument/2006/relationships/image" Target="../media/image68.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svg"/><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image" Target="../media/image61.sv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svg"/><Relationship Id="rId4" Type="http://schemas.openxmlformats.org/officeDocument/2006/relationships/image" Target="../media/image59.svg"/><Relationship Id="rId9" Type="http://schemas.openxmlformats.org/officeDocument/2006/relationships/image" Target="../media/image64.png"/><Relationship Id="rId14" Type="http://schemas.openxmlformats.org/officeDocument/2006/relationships/hyperlink" Target="https://customers.microsoft.com/en-us/story/1778147923888814642-pwc-azure-ai-document-intelligence-professional-services-en-united-states"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aka.ms/AzureAISearch" TargetMode="External"/><Relationship Id="rId2" Type="http://schemas.openxmlformats.org/officeDocument/2006/relationships/notesSlide" Target="../notesSlides/notesSlide31.xml"/><Relationship Id="rId1" Type="http://schemas.openxmlformats.org/officeDocument/2006/relationships/slideLayout" Target="../slideLayouts/slideLayout14.xml"/><Relationship Id="rId6" Type="http://schemas.openxmlformats.org/officeDocument/2006/relationships/hyperlink" Target="https://aka.ms/AzureAIStudio" TargetMode="External"/><Relationship Id="rId5" Type="http://schemas.openxmlformats.org/officeDocument/2006/relationships/hyperlink" Target="https://aka.ms/azai/python" TargetMode="External"/><Relationship Id="rId4" Type="http://schemas.openxmlformats.org/officeDocument/2006/relationships/hyperlink" Target="https://aka.ms/ragrelevance"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cohere.com/blog/int8-binary-embeddings" TargetMode="External"/><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image" Target="../media/image72.svg"/><Relationship Id="rId5" Type="http://schemas.openxmlformats.org/officeDocument/2006/relationships/image" Target="../media/image71.png"/><Relationship Id="rId10" Type="http://schemas.openxmlformats.org/officeDocument/2006/relationships/image" Target="../media/image76.svg"/><Relationship Id="rId4" Type="http://schemas.openxmlformats.org/officeDocument/2006/relationships/image" Target="../media/image70.svg"/><Relationship Id="rId9" Type="http://schemas.openxmlformats.org/officeDocument/2006/relationships/image" Target="../media/image7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6.xml"/><Relationship Id="rId1" Type="http://schemas.openxmlformats.org/officeDocument/2006/relationships/slideLayout" Target="../slideLayouts/slideLayout4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584200" y="2619911"/>
            <a:ext cx="5577840" cy="1231106"/>
          </a:xfrm>
        </p:spPr>
        <p:txBody>
          <a:bodyPr/>
          <a:lstStyle/>
          <a:p>
            <a:r>
              <a:rPr lang="en-US" b="1" dirty="0">
                <a:latin typeface="Segoe UI Semibold" panose="020B0502040204020203" pitchFamily="34" charset="0"/>
                <a:cs typeface="Segoe UI Semibold" panose="020B0502040204020203" pitchFamily="34" charset="0"/>
              </a:rPr>
              <a:t>Agentic RAG with Reflection</a:t>
            </a:r>
          </a:p>
        </p:txBody>
      </p:sp>
      <p:sp>
        <p:nvSpPr>
          <p:cNvPr id="5" name="Text Placeholder 4"/>
          <p:cNvSpPr>
            <a:spLocks noGrp="1"/>
          </p:cNvSpPr>
          <p:nvPr>
            <p:ph type="body" sz="quarter" idx="12"/>
          </p:nvPr>
        </p:nvSpPr>
        <p:spPr>
          <a:xfrm>
            <a:off x="584200" y="4279641"/>
            <a:ext cx="2282753" cy="830997"/>
          </a:xfrm>
        </p:spPr>
        <p:txBody>
          <a:bodyPr/>
          <a:lstStyle/>
          <a:p>
            <a:r>
              <a:rPr lang="en-US" dirty="0"/>
              <a:t>Matthew Gotteiner</a:t>
            </a:r>
          </a:p>
          <a:p>
            <a:r>
              <a:rPr lang="en-US" dirty="0"/>
              <a:t>Program Manager</a:t>
            </a:r>
          </a:p>
          <a:p>
            <a:r>
              <a:rPr lang="en-US" dirty="0"/>
              <a:t>Azure AI Search</a:t>
            </a:r>
          </a:p>
        </p:txBody>
      </p:sp>
      <p:sp>
        <p:nvSpPr>
          <p:cNvPr id="2" name="Text Placeholder 4">
            <a:extLst>
              <a:ext uri="{FF2B5EF4-FFF2-40B4-BE49-F238E27FC236}">
                <a16:creationId xmlns:a16="http://schemas.microsoft.com/office/drawing/2014/main" id="{B1265CF5-C7F8-8E72-791D-3EC01544277C}"/>
              </a:ext>
            </a:extLst>
          </p:cNvPr>
          <p:cNvSpPr txBox="1">
            <a:spLocks/>
          </p:cNvSpPr>
          <p:nvPr/>
        </p:nvSpPr>
        <p:spPr bwMode="white">
          <a:xfrm>
            <a:off x="3452299" y="4279641"/>
            <a:ext cx="3292260" cy="553998"/>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solidFill>
                  <a:srgbClr val="091F2C"/>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Pamela Fox</a:t>
            </a:r>
          </a:p>
          <a:p>
            <a:r>
              <a:rPr lang="en-US" dirty="0"/>
              <a:t>Principal Cloud Advocate</a:t>
            </a:r>
          </a:p>
        </p:txBody>
      </p:sp>
    </p:spTree>
    <p:extLst>
      <p:ext uri="{BB962C8B-B14F-4D97-AF65-F5344CB8AC3E}">
        <p14:creationId xmlns:p14="http://schemas.microsoft.com/office/powerpoint/2010/main" val="179507853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29CA6B-0225-EF15-51AB-1D9086CE4E5A}"/>
              </a:ext>
            </a:extLst>
          </p:cNvPr>
          <p:cNvSpPr>
            <a:spLocks noGrp="1"/>
          </p:cNvSpPr>
          <p:nvPr>
            <p:ph type="title"/>
          </p:nvPr>
        </p:nvSpPr>
        <p:spPr>
          <a:xfrm>
            <a:off x="588264" y="3152001"/>
            <a:ext cx="4127692" cy="553998"/>
          </a:xfrm>
        </p:spPr>
        <p:txBody>
          <a:bodyPr/>
          <a:lstStyle/>
          <a:p>
            <a:r>
              <a:rPr lang="en-US"/>
              <a:t>Agenda</a:t>
            </a:r>
          </a:p>
        </p:txBody>
      </p:sp>
      <p:grpSp>
        <p:nvGrpSpPr>
          <p:cNvPr id="11" name="Group 10">
            <a:extLst>
              <a:ext uri="{FF2B5EF4-FFF2-40B4-BE49-F238E27FC236}">
                <a16:creationId xmlns:a16="http://schemas.microsoft.com/office/drawing/2014/main" id="{D72FA855-6095-094D-279B-BCEDE54E6659}"/>
              </a:ext>
              <a:ext uri="{C183D7F6-B498-43B3-948B-1728B52AA6E4}">
                <adec:decorative xmlns:adec="http://schemas.microsoft.com/office/drawing/2017/decorative" val="1"/>
              </a:ext>
            </a:extLst>
          </p:cNvPr>
          <p:cNvGrpSpPr/>
          <p:nvPr/>
        </p:nvGrpSpPr>
        <p:grpSpPr>
          <a:xfrm>
            <a:off x="4626888" y="1816599"/>
            <a:ext cx="612826" cy="3087538"/>
            <a:chOff x="5547448" y="1111566"/>
            <a:chExt cx="612826" cy="3087538"/>
          </a:xfrm>
          <a:gradFill flip="none" rotWithShape="1">
            <a:gsLst>
              <a:gs pos="0">
                <a:srgbClr val="FF5C39"/>
              </a:gs>
              <a:gs pos="32000">
                <a:srgbClr val="C03BC4"/>
              </a:gs>
              <a:gs pos="68000">
                <a:srgbClr val="0078D4"/>
              </a:gs>
              <a:gs pos="100000">
                <a:srgbClr val="399A91"/>
              </a:gs>
            </a:gsLst>
            <a:lin ang="16200000" scaled="1"/>
            <a:tileRect/>
          </a:gradFill>
        </p:grpSpPr>
        <p:sp>
          <p:nvSpPr>
            <p:cNvPr id="5" name="Oval 4">
              <a:extLst>
                <a:ext uri="{FF2B5EF4-FFF2-40B4-BE49-F238E27FC236}">
                  <a16:creationId xmlns:a16="http://schemas.microsoft.com/office/drawing/2014/main" id="{B519101B-9C3F-1CB8-69E1-BBF14A38EBC3}"/>
                </a:ext>
                <a:ext uri="{C183D7F6-B498-43B3-948B-1728B52AA6E4}">
                  <adec:decorative xmlns:adec="http://schemas.microsoft.com/office/drawing/2017/decorative" val="1"/>
                </a:ext>
              </a:extLst>
            </p:cNvPr>
            <p:cNvSpPr/>
            <p:nvPr/>
          </p:nvSpPr>
          <p:spPr bwMode="auto">
            <a:xfrm>
              <a:off x="5547448" y="1111566"/>
              <a:ext cx="612826" cy="612826"/>
            </a:xfrm>
            <a:prstGeom prst="ellipse">
              <a:avLst/>
            </a:prstGeom>
            <a:grp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r>
                <a:rPr lang="en-US" sz="2400">
                  <a:gradFill>
                    <a:gsLst>
                      <a:gs pos="1399">
                        <a:srgbClr val="FFFFFF"/>
                      </a:gs>
                      <a:gs pos="17000">
                        <a:srgbClr val="FFFFFF"/>
                      </a:gs>
                    </a:gsLst>
                    <a:path path="circle">
                      <a:fillToRect l="100000" t="100000"/>
                    </a:path>
                  </a:gradFill>
                  <a:latin typeface="+mj-lt"/>
                  <a:cs typeface="Segoe UI" panose="020B0502040204020203" pitchFamily="34" charset="0"/>
                </a:rPr>
                <a:t>1</a:t>
              </a:r>
            </a:p>
          </p:txBody>
        </p:sp>
        <p:sp>
          <p:nvSpPr>
            <p:cNvPr id="6" name="Oval 5">
              <a:extLst>
                <a:ext uri="{FF2B5EF4-FFF2-40B4-BE49-F238E27FC236}">
                  <a16:creationId xmlns:a16="http://schemas.microsoft.com/office/drawing/2014/main" id="{C7130AE8-620E-AAAC-CF0A-D95FC048BC80}"/>
                </a:ext>
                <a:ext uri="{C183D7F6-B498-43B3-948B-1728B52AA6E4}">
                  <adec:decorative xmlns:adec="http://schemas.microsoft.com/office/drawing/2017/decorative" val="1"/>
                </a:ext>
              </a:extLst>
            </p:cNvPr>
            <p:cNvSpPr/>
            <p:nvPr/>
          </p:nvSpPr>
          <p:spPr bwMode="auto">
            <a:xfrm>
              <a:off x="5547448" y="1936470"/>
              <a:ext cx="612826" cy="612826"/>
            </a:xfrm>
            <a:prstGeom prst="ellipse">
              <a:avLst/>
            </a:prstGeom>
            <a:grp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r>
                <a:rPr lang="en-US" sz="2400">
                  <a:gradFill>
                    <a:gsLst>
                      <a:gs pos="1399">
                        <a:srgbClr val="FFFFFF"/>
                      </a:gs>
                      <a:gs pos="17000">
                        <a:srgbClr val="FFFFFF"/>
                      </a:gs>
                    </a:gsLst>
                    <a:path path="circle">
                      <a:fillToRect l="100000" t="100000"/>
                    </a:path>
                  </a:gradFill>
                  <a:latin typeface="+mj-lt"/>
                  <a:cs typeface="Segoe UI" panose="020B0502040204020203" pitchFamily="34" charset="0"/>
                </a:rPr>
                <a:t>2</a:t>
              </a:r>
            </a:p>
          </p:txBody>
        </p:sp>
        <p:sp>
          <p:nvSpPr>
            <p:cNvPr id="7" name="Oval 6">
              <a:extLst>
                <a:ext uri="{FF2B5EF4-FFF2-40B4-BE49-F238E27FC236}">
                  <a16:creationId xmlns:a16="http://schemas.microsoft.com/office/drawing/2014/main" id="{089E4399-08E5-7CF6-8A2A-EBEFA4365D8D}"/>
                </a:ext>
                <a:ext uri="{C183D7F6-B498-43B3-948B-1728B52AA6E4}">
                  <adec:decorative xmlns:adec="http://schemas.microsoft.com/office/drawing/2017/decorative" val="1"/>
                </a:ext>
              </a:extLst>
            </p:cNvPr>
            <p:cNvSpPr/>
            <p:nvPr/>
          </p:nvSpPr>
          <p:spPr bwMode="auto">
            <a:xfrm>
              <a:off x="5547448" y="2761374"/>
              <a:ext cx="612826" cy="612826"/>
            </a:xfrm>
            <a:prstGeom prst="ellipse">
              <a:avLst/>
            </a:prstGeom>
            <a:grp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r>
                <a:rPr lang="en-US" sz="2400">
                  <a:gradFill>
                    <a:gsLst>
                      <a:gs pos="1399">
                        <a:srgbClr val="FFFFFF"/>
                      </a:gs>
                      <a:gs pos="17000">
                        <a:srgbClr val="FFFFFF"/>
                      </a:gs>
                    </a:gsLst>
                    <a:path path="circle">
                      <a:fillToRect l="100000" t="100000"/>
                    </a:path>
                  </a:gradFill>
                  <a:latin typeface="+mj-lt"/>
                  <a:cs typeface="Segoe UI" panose="020B0502040204020203" pitchFamily="34" charset="0"/>
                </a:rPr>
                <a:t>3</a:t>
              </a:r>
            </a:p>
          </p:txBody>
        </p:sp>
        <p:sp>
          <p:nvSpPr>
            <p:cNvPr id="8" name="Oval 7">
              <a:extLst>
                <a:ext uri="{FF2B5EF4-FFF2-40B4-BE49-F238E27FC236}">
                  <a16:creationId xmlns:a16="http://schemas.microsoft.com/office/drawing/2014/main" id="{97220C63-CCB3-13D0-EA35-29873FC706C7}"/>
                </a:ext>
                <a:ext uri="{C183D7F6-B498-43B3-948B-1728B52AA6E4}">
                  <adec:decorative xmlns:adec="http://schemas.microsoft.com/office/drawing/2017/decorative" val="1"/>
                </a:ext>
              </a:extLst>
            </p:cNvPr>
            <p:cNvSpPr/>
            <p:nvPr/>
          </p:nvSpPr>
          <p:spPr bwMode="auto">
            <a:xfrm>
              <a:off x="5547448" y="3586278"/>
              <a:ext cx="612826" cy="612826"/>
            </a:xfrm>
            <a:prstGeom prst="ellipse">
              <a:avLst/>
            </a:prstGeom>
            <a:grp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r>
                <a:rPr lang="en-US" sz="2400">
                  <a:gradFill>
                    <a:gsLst>
                      <a:gs pos="1399">
                        <a:srgbClr val="FFFFFF"/>
                      </a:gs>
                      <a:gs pos="17000">
                        <a:srgbClr val="FFFFFF"/>
                      </a:gs>
                    </a:gsLst>
                    <a:path path="circle">
                      <a:fillToRect l="100000" t="100000"/>
                    </a:path>
                  </a:gradFill>
                  <a:latin typeface="+mj-lt"/>
                  <a:cs typeface="Segoe UI" panose="020B0502040204020203" pitchFamily="34" charset="0"/>
                </a:rPr>
                <a:t>4</a:t>
              </a:r>
            </a:p>
          </p:txBody>
        </p:sp>
      </p:grpSp>
      <p:sp>
        <p:nvSpPr>
          <p:cNvPr id="13" name="TextBox 12">
            <a:extLst>
              <a:ext uri="{FF2B5EF4-FFF2-40B4-BE49-F238E27FC236}">
                <a16:creationId xmlns:a16="http://schemas.microsoft.com/office/drawing/2014/main" id="{C0881685-20CC-7C8B-1764-DAB850D122B6}"/>
              </a:ext>
            </a:extLst>
          </p:cNvPr>
          <p:cNvSpPr txBox="1"/>
          <p:nvPr/>
        </p:nvSpPr>
        <p:spPr>
          <a:xfrm>
            <a:off x="5566591" y="1936918"/>
            <a:ext cx="6181181" cy="369332"/>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l">
              <a:defRPr/>
            </a:pPr>
            <a:r>
              <a:rPr lang="en-US" dirty="0">
                <a:gradFill>
                  <a:gsLst>
                    <a:gs pos="6993">
                      <a:srgbClr val="000000"/>
                    </a:gs>
                    <a:gs pos="20280">
                      <a:srgbClr val="000000"/>
                    </a:gs>
                  </a:gsLst>
                  <a:lin ang="0" scaled="0"/>
                </a:gradFill>
              </a:rPr>
              <a:t>Retrieval-Augmented Generation (RAG)</a:t>
            </a:r>
          </a:p>
        </p:txBody>
      </p:sp>
      <p:sp>
        <p:nvSpPr>
          <p:cNvPr id="14" name="TextBox 13">
            <a:extLst>
              <a:ext uri="{FF2B5EF4-FFF2-40B4-BE49-F238E27FC236}">
                <a16:creationId xmlns:a16="http://schemas.microsoft.com/office/drawing/2014/main" id="{B12EBEF7-2E79-C49B-3948-955DB109B71A}"/>
              </a:ext>
            </a:extLst>
          </p:cNvPr>
          <p:cNvSpPr txBox="1"/>
          <p:nvPr/>
        </p:nvSpPr>
        <p:spPr>
          <a:xfrm>
            <a:off x="5566591" y="2759878"/>
            <a:ext cx="5135273" cy="369332"/>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l">
              <a:defRPr/>
            </a:pPr>
            <a:r>
              <a:rPr lang="en-US" dirty="0">
                <a:gradFill>
                  <a:gsLst>
                    <a:gs pos="6993">
                      <a:srgbClr val="000000"/>
                    </a:gs>
                    <a:gs pos="20280">
                      <a:srgbClr val="000000"/>
                    </a:gs>
                  </a:gsLst>
                  <a:lin ang="0" scaled="0"/>
                </a:gradFill>
              </a:rPr>
              <a:t>Agentic RAG</a:t>
            </a:r>
          </a:p>
        </p:txBody>
      </p:sp>
      <p:sp>
        <p:nvSpPr>
          <p:cNvPr id="15" name="TextBox 14">
            <a:extLst>
              <a:ext uri="{FF2B5EF4-FFF2-40B4-BE49-F238E27FC236}">
                <a16:creationId xmlns:a16="http://schemas.microsoft.com/office/drawing/2014/main" id="{2749E8D0-358F-654F-8B44-0CFFDBF20167}"/>
              </a:ext>
            </a:extLst>
          </p:cNvPr>
          <p:cNvSpPr txBox="1"/>
          <p:nvPr/>
        </p:nvSpPr>
        <p:spPr>
          <a:xfrm>
            <a:off x="5566591" y="3582838"/>
            <a:ext cx="5723981" cy="369332"/>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l">
              <a:defRPr/>
            </a:pPr>
            <a:r>
              <a:rPr lang="en-US" dirty="0">
                <a:gradFill>
                  <a:gsLst>
                    <a:gs pos="6993">
                      <a:srgbClr val="000000"/>
                    </a:gs>
                    <a:gs pos="20280">
                      <a:srgbClr val="000000"/>
                    </a:gs>
                  </a:gsLst>
                  <a:lin ang="0" scaled="0"/>
                </a:gradFill>
              </a:rPr>
              <a:t>Single and Multi Step Reflection</a:t>
            </a:r>
          </a:p>
        </p:txBody>
      </p:sp>
      <p:sp>
        <p:nvSpPr>
          <p:cNvPr id="16" name="TextBox 15">
            <a:extLst>
              <a:ext uri="{FF2B5EF4-FFF2-40B4-BE49-F238E27FC236}">
                <a16:creationId xmlns:a16="http://schemas.microsoft.com/office/drawing/2014/main" id="{E75880E0-A45F-E9E4-B781-1D401F5FB918}"/>
              </a:ext>
            </a:extLst>
          </p:cNvPr>
          <p:cNvSpPr txBox="1"/>
          <p:nvPr/>
        </p:nvSpPr>
        <p:spPr>
          <a:xfrm>
            <a:off x="5566591" y="4405798"/>
            <a:ext cx="5135273" cy="369332"/>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l">
              <a:defRPr/>
            </a:pPr>
            <a:r>
              <a:rPr lang="en-US" dirty="0">
                <a:gradFill>
                  <a:gsLst>
                    <a:gs pos="6993">
                      <a:srgbClr val="000000"/>
                    </a:gs>
                    <a:gs pos="20280">
                      <a:srgbClr val="000000"/>
                    </a:gs>
                  </a:gsLst>
                  <a:lin ang="0" scaled="0"/>
                </a:gradFill>
              </a:rPr>
              <a:t>Demo</a:t>
            </a:r>
          </a:p>
        </p:txBody>
      </p:sp>
    </p:spTree>
    <p:extLst>
      <p:ext uri="{BB962C8B-B14F-4D97-AF65-F5344CB8AC3E}">
        <p14:creationId xmlns:p14="http://schemas.microsoft.com/office/powerpoint/2010/main" val="10611435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42" presetClass="path" presetSubtype="0" decel="100000" fill="hold" grpId="1" nodeType="withEffect">
                                  <p:stCondLst>
                                    <p:cond delay="100"/>
                                  </p:stCondLst>
                                  <p:childTnLst>
                                    <p:animMotion origin="layout" path="M 1.875E-6 4.44444E-6 L 1.875E-6 0.03541 " pathEditMode="relative" rAng="0" ptsTypes="AA">
                                      <p:cBhvr>
                                        <p:cTn id="9" dur="700" spd="-100000" fill="hold"/>
                                        <p:tgtEl>
                                          <p:spTgt spid="13"/>
                                        </p:tgtEl>
                                        <p:attrNameLst>
                                          <p:attrName>ppt_x</p:attrName>
                                          <p:attrName>ppt_y</p:attrName>
                                        </p:attrNameLst>
                                      </p:cBhvr>
                                      <p:rCtr x="0" y="1759"/>
                                    </p:animMotion>
                                  </p:childTnLst>
                                </p:cTn>
                              </p:par>
                              <p:par>
                                <p:cTn id="10" presetID="10" presetClass="entr" presetSubtype="0" fill="hold" grpId="0" nodeType="withEffect">
                                  <p:stCondLst>
                                    <p:cond delay="10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42" presetClass="path" presetSubtype="0" decel="100000" fill="hold" grpId="1" nodeType="withEffect">
                                  <p:stCondLst>
                                    <p:cond delay="100"/>
                                  </p:stCondLst>
                                  <p:childTnLst>
                                    <p:animMotion origin="layout" path="M 1.875E-6 4.44444E-6 L 1.875E-6 0.03541 " pathEditMode="relative" rAng="0" ptsTypes="AA">
                                      <p:cBhvr>
                                        <p:cTn id="14" dur="700" spd="-100000" fill="hold"/>
                                        <p:tgtEl>
                                          <p:spTgt spid="14"/>
                                        </p:tgtEl>
                                        <p:attrNameLst>
                                          <p:attrName>ppt_x</p:attrName>
                                          <p:attrName>ppt_y</p:attrName>
                                        </p:attrNameLst>
                                      </p:cBhvr>
                                      <p:rCtr x="0" y="1759"/>
                                    </p:animMotion>
                                  </p:childTnLst>
                                </p:cTn>
                              </p:par>
                              <p:par>
                                <p:cTn id="15" presetID="10" presetClass="entr" presetSubtype="0" fill="hold" grpId="0" nodeType="withEffect">
                                  <p:stCondLst>
                                    <p:cond delay="10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42" presetClass="path" presetSubtype="0" decel="100000" fill="hold" grpId="1" nodeType="withEffect">
                                  <p:stCondLst>
                                    <p:cond delay="100"/>
                                  </p:stCondLst>
                                  <p:childTnLst>
                                    <p:animMotion origin="layout" path="M 1.875E-6 4.44444E-6 L 1.875E-6 0.03541 " pathEditMode="relative" rAng="0" ptsTypes="AA">
                                      <p:cBhvr>
                                        <p:cTn id="19" dur="700" spd="-100000" fill="hold"/>
                                        <p:tgtEl>
                                          <p:spTgt spid="15"/>
                                        </p:tgtEl>
                                        <p:attrNameLst>
                                          <p:attrName>ppt_x</p:attrName>
                                          <p:attrName>ppt_y</p:attrName>
                                        </p:attrNameLst>
                                      </p:cBhvr>
                                      <p:rCtr x="0" y="1759"/>
                                    </p:animMotion>
                                  </p:childTnLst>
                                </p:cTn>
                              </p:par>
                              <p:par>
                                <p:cTn id="20" presetID="10" presetClass="entr" presetSubtype="0" fill="hold" grpId="0" nodeType="withEffect">
                                  <p:stCondLst>
                                    <p:cond delay="10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42" presetClass="path" presetSubtype="0" decel="100000" fill="hold" grpId="1" nodeType="withEffect">
                                  <p:stCondLst>
                                    <p:cond delay="100"/>
                                  </p:stCondLst>
                                  <p:childTnLst>
                                    <p:animMotion origin="layout" path="M 1.875E-6 4.44444E-6 L 1.875E-6 0.03541 " pathEditMode="relative" rAng="0" ptsTypes="AA">
                                      <p:cBhvr>
                                        <p:cTn id="24" dur="700" spd="-100000" fill="hold"/>
                                        <p:tgtEl>
                                          <p:spTgt spid="16"/>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14" grpId="0"/>
      <p:bldP spid="14" grpId="1"/>
      <p:bldP spid="15" grpId="0"/>
      <p:bldP spid="15" grpId="1"/>
      <p:bldP spid="16" grpId="0"/>
      <p:bldP spid="16"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1E8C7-8C2D-3E18-65FF-0DB8E3C08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13394-F2BE-BAD2-ABE2-06D9EBF648F8}"/>
              </a:ext>
            </a:extLst>
          </p:cNvPr>
          <p:cNvSpPr>
            <a:spLocks noGrp="1"/>
          </p:cNvSpPr>
          <p:nvPr>
            <p:ph type="title"/>
          </p:nvPr>
        </p:nvSpPr>
        <p:spPr>
          <a:xfrm>
            <a:off x="585216" y="2875002"/>
            <a:ext cx="9144000" cy="1107996"/>
          </a:xfrm>
        </p:spPr>
        <p:txBody>
          <a:bodyPr/>
          <a:lstStyle/>
          <a:p>
            <a:r>
              <a:rPr lang="en-US"/>
              <a:t>Retrieval-augmented </a:t>
            </a:r>
            <a:br>
              <a:rPr lang="en-US"/>
            </a:br>
            <a:r>
              <a:rPr lang="en-US"/>
              <a:t>generation (RAG)​</a:t>
            </a:r>
          </a:p>
        </p:txBody>
      </p:sp>
    </p:spTree>
    <p:extLst>
      <p:ext uri="{BB962C8B-B14F-4D97-AF65-F5344CB8AC3E}">
        <p14:creationId xmlns:p14="http://schemas.microsoft.com/office/powerpoint/2010/main" val="238422963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CCBA1-765A-E30B-407E-1F5A1DD492EE}"/>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F80FA4EB-7C10-E0B1-B2AF-30842616ABFE}"/>
              </a:ext>
              <a:ext uri="{C183D7F6-B498-43B3-948B-1728B52AA6E4}">
                <adec:decorative xmlns:adec="http://schemas.microsoft.com/office/drawing/2017/decorative" val="1"/>
              </a:ext>
            </a:extLst>
          </p:cNvPr>
          <p:cNvSpPr/>
          <p:nvPr/>
        </p:nvSpPr>
        <p:spPr bwMode="auto">
          <a:xfrm>
            <a:off x="5580821" y="1315534"/>
            <a:ext cx="4657461" cy="676856"/>
          </a:xfrm>
          <a:prstGeom prst="roundRect">
            <a:avLst/>
          </a:prstGeom>
          <a:ln w="19050" cap="rnd">
            <a:gradFill flip="none" rotWithShape="1">
              <a:gsLst>
                <a:gs pos="0">
                  <a:srgbClr val="FF5C39"/>
                </a:gs>
                <a:gs pos="32000">
                  <a:srgbClr val="C03BC4"/>
                </a:gs>
                <a:gs pos="68000">
                  <a:srgbClr val="0078D4"/>
                </a:gs>
                <a:gs pos="100000">
                  <a:srgbClr val="399A91"/>
                </a:gs>
              </a:gsLst>
              <a:path path="circle">
                <a:fillToRect l="100000" t="100000"/>
              </a:path>
              <a:tileRect r="-100000" b="-100000"/>
            </a:gradFill>
            <a:headEnd type="none" w="lg" len="sm"/>
            <a:tailEnd type="none" w="lg" len="sm"/>
          </a:ln>
          <a:effectLst>
            <a:outerShdw blurRad="63500" dist="63500" dir="2700000" algn="tl" rotWithShape="0">
              <a:srgbClr val="454142">
                <a:alpha val="20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73397" tIns="138718" rIns="173397" bIns="138718" numCol="1" spcCol="0" rtlCol="0" fromWordArt="0" anchor="ctr" anchorCtr="0" forceAA="0" compatLnSpc="1">
            <a:prstTxWarp prst="textNoShape">
              <a:avLst/>
            </a:prstTxWarp>
            <a:noAutofit/>
          </a:bodyPr>
          <a:lstStyle/>
          <a:p>
            <a:pPr algn="ctr" defTabSz="884207" fontAlgn="base">
              <a:spcBef>
                <a:spcPct val="0"/>
              </a:spcBef>
              <a:spcAft>
                <a:spcPct val="0"/>
              </a:spcAft>
            </a:pPr>
            <a:endParaRPr lang="en-US" sz="900" kern="0">
              <a:solidFill>
                <a:srgbClr val="FFFFFF"/>
              </a:solidFill>
              <a:latin typeface="Segoe UI"/>
              <a:cs typeface="Segoe UI" pitchFamily="34" charset="0"/>
            </a:endParaRPr>
          </a:p>
        </p:txBody>
      </p:sp>
      <p:sp>
        <p:nvSpPr>
          <p:cNvPr id="1055" name="Title 1054">
            <a:extLst>
              <a:ext uri="{FF2B5EF4-FFF2-40B4-BE49-F238E27FC236}">
                <a16:creationId xmlns:a16="http://schemas.microsoft.com/office/drawing/2014/main" id="{F6A6E71A-0F38-F8BF-6256-EB87D0669210}"/>
              </a:ext>
            </a:extLst>
          </p:cNvPr>
          <p:cNvSpPr>
            <a:spLocks noGrp="1"/>
          </p:cNvSpPr>
          <p:nvPr>
            <p:ph type="title"/>
          </p:nvPr>
        </p:nvSpPr>
        <p:spPr/>
        <p:txBody>
          <a:bodyPr/>
          <a:lstStyle/>
          <a:p>
            <a:r>
              <a:rPr lang="en-US"/>
              <a:t>The limitations of LLMS</a:t>
            </a:r>
          </a:p>
        </p:txBody>
      </p:sp>
      <p:pic>
        <p:nvPicPr>
          <p:cNvPr id="12" name="Picture 11" descr="Screenshot of a conversation with an LLM demonstrating outdated public knowledge.">
            <a:extLst>
              <a:ext uri="{FF2B5EF4-FFF2-40B4-BE49-F238E27FC236}">
                <a16:creationId xmlns:a16="http://schemas.microsoft.com/office/drawing/2014/main" id="{88295E90-5364-2D96-AF4D-D3F2525A36F3}"/>
              </a:ext>
            </a:extLst>
          </p:cNvPr>
          <p:cNvPicPr>
            <a:picLocks noChangeAspect="1"/>
          </p:cNvPicPr>
          <p:nvPr/>
        </p:nvPicPr>
        <p:blipFill>
          <a:blip r:embed="rId3"/>
          <a:srcRect/>
          <a:stretch/>
        </p:blipFill>
        <p:spPr>
          <a:xfrm>
            <a:off x="588263" y="1449811"/>
            <a:ext cx="5597594" cy="2951922"/>
          </a:xfrm>
          <a:prstGeom prst="roundRect">
            <a:avLst>
              <a:gd name="adj" fmla="val 5061"/>
            </a:avLst>
          </a:prstGeom>
          <a:gradFill flip="none" rotWithShape="1">
            <a:gsLst>
              <a:gs pos="79000">
                <a:srgbClr val="F4364C"/>
              </a:gs>
              <a:gs pos="0">
                <a:srgbClr val="8661C5"/>
              </a:gs>
            </a:gsLst>
            <a:path path="circle">
              <a:fillToRect l="100000" t="100000"/>
            </a:path>
            <a:tileRect r="-100000" b="-100000"/>
          </a:gradFill>
          <a:ln w="6350" cap="flat">
            <a:solidFill>
              <a:srgbClr val="BFBFBF"/>
            </a:solidFill>
            <a:prstDash val="solid"/>
            <a:miter/>
          </a:ln>
          <a:effectLst>
            <a:outerShdw blurRad="63500" dist="63500" dir="2700000" algn="tl" rotWithShape="0">
              <a:srgbClr val="454142">
                <a:alpha val="20000"/>
              </a:srgbClr>
            </a:outerShdw>
          </a:effectLst>
        </p:spPr>
      </p:pic>
      <p:sp>
        <p:nvSpPr>
          <p:cNvPr id="15" name="TextBox 14">
            <a:extLst>
              <a:ext uri="{FF2B5EF4-FFF2-40B4-BE49-F238E27FC236}">
                <a16:creationId xmlns:a16="http://schemas.microsoft.com/office/drawing/2014/main" id="{4BEFDC18-7B27-93E1-3BA9-0EA4394C1CC2}"/>
              </a:ext>
            </a:extLst>
          </p:cNvPr>
          <p:cNvSpPr txBox="1"/>
          <p:nvPr/>
        </p:nvSpPr>
        <p:spPr>
          <a:xfrm>
            <a:off x="6619534" y="1500074"/>
            <a:ext cx="3273368" cy="307777"/>
          </a:xfrm>
          <a:prstGeom prst="rect">
            <a:avLst/>
          </a:prstGeom>
          <a:noFill/>
        </p:spPr>
        <p:txBody>
          <a:bodyPr wrap="square" lIns="0" tIns="0" rIns="0" bIns="0" rtlCol="0">
            <a:spAutoFit/>
          </a:bodyPr>
          <a:lstStyle/>
          <a:p>
            <a:pPr algn="l"/>
            <a:r>
              <a:rPr lang="en-US" sz="2000">
                <a:latin typeface="+mj-lt"/>
              </a:rPr>
              <a:t>Outdated public knowledge</a:t>
            </a:r>
          </a:p>
        </p:txBody>
      </p:sp>
      <p:sp>
        <p:nvSpPr>
          <p:cNvPr id="2" name="Rounded Rectangle 1">
            <a:extLst>
              <a:ext uri="{FF2B5EF4-FFF2-40B4-BE49-F238E27FC236}">
                <a16:creationId xmlns:a16="http://schemas.microsoft.com/office/drawing/2014/main" id="{A317F408-D441-E352-5942-E5E6509A326D}"/>
              </a:ext>
              <a:ext uri="{C183D7F6-B498-43B3-948B-1728B52AA6E4}">
                <adec:decorative xmlns:adec="http://schemas.microsoft.com/office/drawing/2017/decorative" val="1"/>
              </a:ext>
            </a:extLst>
          </p:cNvPr>
          <p:cNvSpPr/>
          <p:nvPr/>
        </p:nvSpPr>
        <p:spPr bwMode="auto">
          <a:xfrm>
            <a:off x="1193298" y="5248642"/>
            <a:ext cx="4387523" cy="676856"/>
          </a:xfrm>
          <a:prstGeom prst="roundRect">
            <a:avLst/>
          </a:prstGeom>
          <a:ln w="19050" cap="rnd">
            <a:gradFill flip="none" rotWithShape="1">
              <a:gsLst>
                <a:gs pos="0">
                  <a:srgbClr val="FF5C39"/>
                </a:gs>
                <a:gs pos="32000">
                  <a:srgbClr val="C03BC4"/>
                </a:gs>
                <a:gs pos="68000">
                  <a:srgbClr val="0078D4"/>
                </a:gs>
                <a:gs pos="100000">
                  <a:srgbClr val="399A91"/>
                </a:gs>
              </a:gsLst>
              <a:path path="circle">
                <a:fillToRect l="100000" t="100000"/>
              </a:path>
              <a:tileRect r="-100000" b="-100000"/>
            </a:gradFill>
            <a:headEnd type="none" w="lg" len="sm"/>
            <a:tailEnd type="none" w="lg" len="sm"/>
          </a:ln>
          <a:effectLst>
            <a:outerShdw blurRad="63500" dist="63500" dir="2700000" algn="tl" rotWithShape="0">
              <a:srgbClr val="454142">
                <a:alpha val="20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73397" tIns="138718" rIns="173397" bIns="138718" numCol="1" spcCol="0" rtlCol="0" fromWordArt="0" anchor="ctr" anchorCtr="0" forceAA="0" compatLnSpc="1">
            <a:prstTxWarp prst="textNoShape">
              <a:avLst/>
            </a:prstTxWarp>
            <a:noAutofit/>
          </a:bodyPr>
          <a:lstStyle/>
          <a:p>
            <a:pPr algn="ctr" defTabSz="884207" fontAlgn="base">
              <a:spcBef>
                <a:spcPct val="0"/>
              </a:spcBef>
              <a:spcAft>
                <a:spcPct val="0"/>
              </a:spcAft>
            </a:pPr>
            <a:endParaRPr lang="en-US" sz="900" kern="0">
              <a:solidFill>
                <a:srgbClr val="FFFFFF"/>
              </a:solidFill>
              <a:latin typeface="Segoe UI"/>
              <a:cs typeface="Segoe UI" pitchFamily="34" charset="0"/>
            </a:endParaRPr>
          </a:p>
        </p:txBody>
      </p:sp>
      <p:sp>
        <p:nvSpPr>
          <p:cNvPr id="16" name="TextBox 15">
            <a:extLst>
              <a:ext uri="{FF2B5EF4-FFF2-40B4-BE49-F238E27FC236}">
                <a16:creationId xmlns:a16="http://schemas.microsoft.com/office/drawing/2014/main" id="{5753A5FD-7E94-10DD-E116-A1F997498A11}"/>
              </a:ext>
            </a:extLst>
          </p:cNvPr>
          <p:cNvSpPr txBox="1"/>
          <p:nvPr/>
        </p:nvSpPr>
        <p:spPr>
          <a:xfrm>
            <a:off x="1540622" y="5433182"/>
            <a:ext cx="2703524" cy="307777"/>
          </a:xfrm>
          <a:prstGeom prst="rect">
            <a:avLst/>
          </a:prstGeom>
          <a:noFill/>
        </p:spPr>
        <p:txBody>
          <a:bodyPr wrap="square" lIns="0" tIns="0" rIns="0" bIns="0" rtlCol="0">
            <a:spAutoFit/>
          </a:bodyPr>
          <a:lstStyle/>
          <a:p>
            <a:pPr algn="l"/>
            <a:r>
              <a:rPr lang="en-US" sz="2000">
                <a:latin typeface="+mj-lt"/>
              </a:rPr>
              <a:t>No internal knowledge</a:t>
            </a:r>
          </a:p>
        </p:txBody>
      </p:sp>
      <p:pic>
        <p:nvPicPr>
          <p:cNvPr id="14" name="Picture 13" descr="Screenshot of a conversation with an LLM demonstrating no internal knowledge.">
            <a:extLst>
              <a:ext uri="{FF2B5EF4-FFF2-40B4-BE49-F238E27FC236}">
                <a16:creationId xmlns:a16="http://schemas.microsoft.com/office/drawing/2014/main" id="{4FB544E2-8250-63CD-D360-CDF0F736942D}"/>
              </a:ext>
            </a:extLst>
          </p:cNvPr>
          <p:cNvPicPr>
            <a:picLocks noChangeAspect="1"/>
          </p:cNvPicPr>
          <p:nvPr/>
        </p:nvPicPr>
        <p:blipFill>
          <a:blip r:embed="rId4"/>
          <a:srcRect t="3024"/>
          <a:stretch/>
        </p:blipFill>
        <p:spPr>
          <a:xfrm>
            <a:off x="4908699" y="3023616"/>
            <a:ext cx="6695038" cy="3137342"/>
          </a:xfrm>
          <a:prstGeom prst="roundRect">
            <a:avLst>
              <a:gd name="adj" fmla="val 5547"/>
            </a:avLst>
          </a:prstGeom>
          <a:solidFill>
            <a:schemeClr val="bg1"/>
          </a:solidFill>
          <a:ln w="6350" cap="flat">
            <a:solidFill>
              <a:srgbClr val="BFBFBF"/>
            </a:solidFill>
            <a:prstDash val="solid"/>
            <a:miter/>
          </a:ln>
          <a:effectLst>
            <a:outerShdw blurRad="63500" dist="63500" dir="2700000" algn="tl" rotWithShape="0">
              <a:srgbClr val="454142">
                <a:alpha val="20000"/>
              </a:srgbClr>
            </a:outerShdw>
          </a:effectLst>
        </p:spPr>
      </p:pic>
    </p:spTree>
    <p:extLst>
      <p:ext uri="{BB962C8B-B14F-4D97-AF65-F5344CB8AC3E}">
        <p14:creationId xmlns:p14="http://schemas.microsoft.com/office/powerpoint/2010/main" val="2594983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42" presetClass="path" presetSubtype="0" decel="100000" fill="hold" nodeType="withEffect">
                                  <p:stCondLst>
                                    <p:cond delay="0"/>
                                  </p:stCondLst>
                                  <p:childTnLst>
                                    <p:animMotion origin="layout" path="M -3.54167E-6 7.40741E-7 L -3.54167E-6 0.03542 " pathEditMode="relative" rAng="0" ptsTypes="AA">
                                      <p:cBhvr>
                                        <p:cTn id="9" dur="700" spd="-100000" fill="hold"/>
                                        <p:tgtEl>
                                          <p:spTgt spid="12"/>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42" presetClass="path" presetSubtype="0" decel="100000" fill="hold" grpId="1" nodeType="withEffect">
                                  <p:stCondLst>
                                    <p:cond delay="0"/>
                                  </p:stCondLst>
                                  <p:childTnLst>
                                    <p:animMotion origin="layout" path="M -3.54167E-6 7.40741E-7 L -3.54167E-6 0.03542 " pathEditMode="relative" rAng="0" ptsTypes="AA">
                                      <p:cBhvr>
                                        <p:cTn id="14" dur="700" spd="-100000" fill="hold"/>
                                        <p:tgtEl>
                                          <p:spTgt spid="15"/>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42" presetClass="path" presetSubtype="0" decel="100000" fill="hold" grpId="1" nodeType="withEffect">
                                  <p:stCondLst>
                                    <p:cond delay="0"/>
                                  </p:stCondLst>
                                  <p:childTnLst>
                                    <p:animMotion origin="layout" path="M -3.54167E-6 7.40741E-7 L -3.54167E-6 0.03542 " pathEditMode="relative" rAng="0" ptsTypes="AA">
                                      <p:cBhvr>
                                        <p:cTn id="19" dur="700" spd="-100000" fill="hold"/>
                                        <p:tgtEl>
                                          <p:spTgt spid="3"/>
                                        </p:tgtEl>
                                        <p:attrNameLst>
                                          <p:attrName>ppt_x</p:attrName>
                                          <p:attrName>ppt_y</p:attrName>
                                        </p:attrNameLst>
                                      </p:cBhvr>
                                      <p:rCtr x="0" y="1759"/>
                                    </p:animMotion>
                                  </p:childTnLst>
                                </p:cTn>
                              </p:par>
                              <p:par>
                                <p:cTn id="20" presetID="10" presetClass="entr" presetSubtype="0" fill="hold" nodeType="withEffect">
                                  <p:stCondLst>
                                    <p:cond delay="2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42" presetClass="path" presetSubtype="0" decel="100000" fill="hold" nodeType="withEffect">
                                  <p:stCondLst>
                                    <p:cond delay="200"/>
                                  </p:stCondLst>
                                  <p:childTnLst>
                                    <p:animMotion origin="layout" path="M -3.54167E-6 7.40741E-7 L -3.54167E-6 0.03542 " pathEditMode="relative" rAng="0" ptsTypes="AA">
                                      <p:cBhvr>
                                        <p:cTn id="24" dur="700" spd="-100000" fill="hold"/>
                                        <p:tgtEl>
                                          <p:spTgt spid="14"/>
                                        </p:tgtEl>
                                        <p:attrNameLst>
                                          <p:attrName>ppt_x</p:attrName>
                                          <p:attrName>ppt_y</p:attrName>
                                        </p:attrNameLst>
                                      </p:cBhvr>
                                      <p:rCtr x="0" y="1759"/>
                                    </p:animMotion>
                                  </p:childTnLst>
                                </p:cTn>
                              </p:par>
                              <p:par>
                                <p:cTn id="25" presetID="10" presetClass="entr" presetSubtype="0" fill="hold" grpId="0" nodeType="withEffect">
                                  <p:stCondLst>
                                    <p:cond delay="20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par>
                                <p:cTn id="28" presetID="42" presetClass="path" presetSubtype="0" decel="100000" fill="hold" grpId="1" nodeType="withEffect">
                                  <p:stCondLst>
                                    <p:cond delay="200"/>
                                  </p:stCondLst>
                                  <p:childTnLst>
                                    <p:animMotion origin="layout" path="M -3.54167E-6 7.40741E-7 L -3.54167E-6 0.03542 " pathEditMode="relative" rAng="0" ptsTypes="AA">
                                      <p:cBhvr>
                                        <p:cTn id="29" dur="700" spd="-100000" fill="hold"/>
                                        <p:tgtEl>
                                          <p:spTgt spid="2"/>
                                        </p:tgtEl>
                                        <p:attrNameLst>
                                          <p:attrName>ppt_x</p:attrName>
                                          <p:attrName>ppt_y</p:attrName>
                                        </p:attrNameLst>
                                      </p:cBhvr>
                                      <p:rCtr x="0" y="1759"/>
                                    </p:animMotion>
                                  </p:childTnLst>
                                </p:cTn>
                              </p:par>
                              <p:par>
                                <p:cTn id="30" presetID="10" presetClass="entr" presetSubtype="0" fill="hold" grpId="0" nodeType="withEffect">
                                  <p:stCondLst>
                                    <p:cond delay="20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42" presetClass="path" presetSubtype="0" decel="100000" fill="hold" grpId="1" nodeType="withEffect">
                                  <p:stCondLst>
                                    <p:cond delay="200"/>
                                  </p:stCondLst>
                                  <p:childTnLst>
                                    <p:animMotion origin="layout" path="M 6.25E-7 -3.33333E-6 L 6.25E-7 0.03542 " pathEditMode="relative" rAng="0" ptsTypes="AA">
                                      <p:cBhvr>
                                        <p:cTn id="34" dur="700" spd="-100000" fill="hold"/>
                                        <p:tgtEl>
                                          <p:spTgt spid="16"/>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15" grpId="0"/>
      <p:bldP spid="15" grpId="1"/>
      <p:bldP spid="2" grpId="0" animBg="1"/>
      <p:bldP spid="2" grpId="1" animBg="1"/>
      <p:bldP spid="16" grpId="0"/>
      <p:bldP spid="16"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B8B0E-38F9-E460-22B7-2DF3B32B811E}"/>
              </a:ext>
            </a:extLst>
          </p:cNvPr>
          <p:cNvSpPr>
            <a:spLocks noGrp="1"/>
          </p:cNvSpPr>
          <p:nvPr>
            <p:ph type="title"/>
          </p:nvPr>
        </p:nvSpPr>
        <p:spPr/>
        <p:txBody>
          <a:bodyPr wrap="square" anchor="t">
            <a:normAutofit/>
          </a:bodyPr>
          <a:lstStyle/>
          <a:p>
            <a:pPr algn="ctr"/>
            <a:r>
              <a:rPr lang="en-US"/>
              <a:t>Incorporating domain knowledge</a:t>
            </a:r>
          </a:p>
        </p:txBody>
      </p:sp>
      <p:sp>
        <p:nvSpPr>
          <p:cNvPr id="5" name="Rounded Rectangle 5">
            <a:extLst>
              <a:ext uri="{FF2B5EF4-FFF2-40B4-BE49-F238E27FC236}">
                <a16:creationId xmlns:a16="http://schemas.microsoft.com/office/drawing/2014/main" id="{D6F313BB-F5E3-6408-056F-4C33D5C23470}"/>
              </a:ext>
              <a:ext uri="{C183D7F6-B498-43B3-948B-1728B52AA6E4}">
                <adec:decorative xmlns:adec="http://schemas.microsoft.com/office/drawing/2017/decorative" val="1"/>
              </a:ext>
            </a:extLst>
          </p:cNvPr>
          <p:cNvSpPr/>
          <p:nvPr/>
        </p:nvSpPr>
        <p:spPr bwMode="auto">
          <a:xfrm>
            <a:off x="810461" y="2039889"/>
            <a:ext cx="3291840" cy="3644855"/>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16" name="Oval 15">
            <a:extLst>
              <a:ext uri="{FF2B5EF4-FFF2-40B4-BE49-F238E27FC236}">
                <a16:creationId xmlns:a16="http://schemas.microsoft.com/office/drawing/2014/main" id="{A71FE902-CD2B-79C8-07D7-DF2FEF1BDB19}"/>
              </a:ext>
              <a:ext uri="{C183D7F6-B498-43B3-948B-1728B52AA6E4}">
                <adec:decorative xmlns:adec="http://schemas.microsoft.com/office/drawing/2017/decorative" val="1"/>
              </a:ext>
            </a:extLst>
          </p:cNvPr>
          <p:cNvSpPr/>
          <p:nvPr/>
        </p:nvSpPr>
        <p:spPr bwMode="auto">
          <a:xfrm>
            <a:off x="1786995" y="1625102"/>
            <a:ext cx="1338773" cy="1338773"/>
          </a:xfrm>
          <a:prstGeom prst="ellipse">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00"/>
            <a:endParaRPr lang="en-US" sz="700">
              <a:solidFill>
                <a:srgbClr val="FFFFFF"/>
              </a:solidFill>
              <a:latin typeface="Segoe UI"/>
            </a:endParaRPr>
          </a:p>
        </p:txBody>
      </p:sp>
      <p:sp>
        <p:nvSpPr>
          <p:cNvPr id="20" name="Graphic 13" descr="Chat with gear icon">
            <a:extLst>
              <a:ext uri="{FF2B5EF4-FFF2-40B4-BE49-F238E27FC236}">
                <a16:creationId xmlns:a16="http://schemas.microsoft.com/office/drawing/2014/main" id="{5D8E2E9E-6143-9973-A3F7-F22BC81E55C4}"/>
              </a:ext>
            </a:extLst>
          </p:cNvPr>
          <p:cNvSpPr/>
          <p:nvPr/>
        </p:nvSpPr>
        <p:spPr>
          <a:xfrm>
            <a:off x="2209634" y="2050027"/>
            <a:ext cx="493495" cy="488922"/>
          </a:xfrm>
          <a:custGeom>
            <a:avLst/>
            <a:gdLst>
              <a:gd name="connsiteX0" fmla="*/ 231767 w 482444"/>
              <a:gd name="connsiteY0" fmla="*/ 0 h 477972"/>
              <a:gd name="connsiteX1" fmla="*/ 463534 w 482444"/>
              <a:gd name="connsiteY1" fmla="*/ 231767 h 477972"/>
              <a:gd name="connsiteX2" fmla="*/ 462838 w 482444"/>
              <a:gd name="connsiteY2" fmla="*/ 249844 h 477972"/>
              <a:gd name="connsiteX3" fmla="*/ 249845 w 482444"/>
              <a:gd name="connsiteY3" fmla="*/ 254700 h 477972"/>
              <a:gd name="connsiteX4" fmla="*/ 249845 w 482444"/>
              <a:gd name="connsiteY4" fmla="*/ 462838 h 477972"/>
              <a:gd name="connsiteX5" fmla="*/ 124111 w 482444"/>
              <a:gd name="connsiteY5" fmla="*/ 437066 h 477972"/>
              <a:gd name="connsiteX6" fmla="*/ 24683 w 482444"/>
              <a:gd name="connsiteY6" fmla="*/ 462954 h 477972"/>
              <a:gd name="connsiteX7" fmla="*/ 695 w 482444"/>
              <a:gd name="connsiteY7" fmla="*/ 448784 h 477972"/>
              <a:gd name="connsiteX8" fmla="*/ 695 w 482444"/>
              <a:gd name="connsiteY8" fmla="*/ 438966 h 477972"/>
              <a:gd name="connsiteX9" fmla="*/ 26561 w 482444"/>
              <a:gd name="connsiteY9" fmla="*/ 339561 h 477972"/>
              <a:gd name="connsiteX10" fmla="*/ 0 w 482444"/>
              <a:gd name="connsiteY10" fmla="*/ 231767 h 477972"/>
              <a:gd name="connsiteX11" fmla="*/ 231767 w 482444"/>
              <a:gd name="connsiteY11" fmla="*/ 0 h 477972"/>
              <a:gd name="connsiteX12" fmla="*/ 284563 w 482444"/>
              <a:gd name="connsiteY12" fmla="*/ 277564 h 477972"/>
              <a:gd name="connsiteX13" fmla="*/ 252881 w 482444"/>
              <a:gd name="connsiteY13" fmla="*/ 334954 h 477972"/>
              <a:gd name="connsiteX14" fmla="*/ 251166 w 482444"/>
              <a:gd name="connsiteY14" fmla="*/ 335413 h 477972"/>
              <a:gd name="connsiteX15" fmla="*/ 237631 w 482444"/>
              <a:gd name="connsiteY15" fmla="*/ 338750 h 477972"/>
              <a:gd name="connsiteX16" fmla="*/ 237770 w 482444"/>
              <a:gd name="connsiteY16" fmla="*/ 380630 h 477972"/>
              <a:gd name="connsiteX17" fmla="*/ 250285 w 482444"/>
              <a:gd name="connsiteY17" fmla="*/ 383643 h 477972"/>
              <a:gd name="connsiteX18" fmla="*/ 284494 w 482444"/>
              <a:gd name="connsiteY18" fmla="*/ 439562 h 477972"/>
              <a:gd name="connsiteX19" fmla="*/ 283891 w 482444"/>
              <a:gd name="connsiteY19" fmla="*/ 441817 h 477972"/>
              <a:gd name="connsiteX20" fmla="*/ 279557 w 482444"/>
              <a:gd name="connsiteY20" fmla="*/ 456464 h 477972"/>
              <a:gd name="connsiteX21" fmla="*/ 313951 w 482444"/>
              <a:gd name="connsiteY21" fmla="*/ 477833 h 477972"/>
              <a:gd name="connsiteX22" fmla="*/ 325401 w 482444"/>
              <a:gd name="connsiteY22" fmla="*/ 465781 h 477972"/>
              <a:gd name="connsiteX23" fmla="*/ 390933 w 482444"/>
              <a:gd name="connsiteY23" fmla="*/ 464148 h 477972"/>
              <a:gd name="connsiteX24" fmla="*/ 392590 w 482444"/>
              <a:gd name="connsiteY24" fmla="*/ 465805 h 477972"/>
              <a:gd name="connsiteX25" fmla="*/ 404132 w 482444"/>
              <a:gd name="connsiteY25" fmla="*/ 477972 h 477972"/>
              <a:gd name="connsiteX26" fmla="*/ 438503 w 482444"/>
              <a:gd name="connsiteY26" fmla="*/ 456812 h 477972"/>
              <a:gd name="connsiteX27" fmla="*/ 433914 w 482444"/>
              <a:gd name="connsiteY27" fmla="*/ 440913 h 477972"/>
              <a:gd name="connsiteX28" fmla="*/ 465596 w 482444"/>
              <a:gd name="connsiteY28" fmla="*/ 383523 h 477972"/>
              <a:gd name="connsiteX29" fmla="*/ 467311 w 482444"/>
              <a:gd name="connsiteY29" fmla="*/ 383064 h 477972"/>
              <a:gd name="connsiteX30" fmla="*/ 480847 w 482444"/>
              <a:gd name="connsiteY30" fmla="*/ 379727 h 477972"/>
              <a:gd name="connsiteX31" fmla="*/ 480707 w 482444"/>
              <a:gd name="connsiteY31" fmla="*/ 337823 h 477972"/>
              <a:gd name="connsiteX32" fmla="*/ 468192 w 482444"/>
              <a:gd name="connsiteY32" fmla="*/ 334810 h 477972"/>
              <a:gd name="connsiteX33" fmla="*/ 433983 w 482444"/>
              <a:gd name="connsiteY33" fmla="*/ 278892 h 477972"/>
              <a:gd name="connsiteX34" fmla="*/ 434586 w 482444"/>
              <a:gd name="connsiteY34" fmla="*/ 276637 h 477972"/>
              <a:gd name="connsiteX35" fmla="*/ 438920 w 482444"/>
              <a:gd name="connsiteY35" fmla="*/ 262035 h 477972"/>
              <a:gd name="connsiteX36" fmla="*/ 404526 w 482444"/>
              <a:gd name="connsiteY36" fmla="*/ 240667 h 477972"/>
              <a:gd name="connsiteX37" fmla="*/ 393100 w 482444"/>
              <a:gd name="connsiteY37" fmla="*/ 252672 h 477972"/>
              <a:gd name="connsiteX38" fmla="*/ 327568 w 482444"/>
              <a:gd name="connsiteY38" fmla="*/ 254352 h 477972"/>
              <a:gd name="connsiteX39" fmla="*/ 325887 w 482444"/>
              <a:gd name="connsiteY39" fmla="*/ 252672 h 477972"/>
              <a:gd name="connsiteX40" fmla="*/ 314345 w 482444"/>
              <a:gd name="connsiteY40" fmla="*/ 240504 h 477972"/>
              <a:gd name="connsiteX41" fmla="*/ 279974 w 482444"/>
              <a:gd name="connsiteY41" fmla="*/ 261641 h 477972"/>
              <a:gd name="connsiteX42" fmla="*/ 284563 w 482444"/>
              <a:gd name="connsiteY42" fmla="*/ 277564 h 477972"/>
              <a:gd name="connsiteX43" fmla="*/ 359239 w 482444"/>
              <a:gd name="connsiteY43" fmla="*/ 324473 h 477972"/>
              <a:gd name="connsiteX44" fmla="*/ 392845 w 482444"/>
              <a:gd name="connsiteY44" fmla="*/ 359238 h 477972"/>
              <a:gd name="connsiteX45" fmla="*/ 359239 w 482444"/>
              <a:gd name="connsiteY45" fmla="*/ 394003 h 477972"/>
              <a:gd name="connsiteX46" fmla="*/ 325632 w 482444"/>
              <a:gd name="connsiteY46" fmla="*/ 359238 h 477972"/>
              <a:gd name="connsiteX47" fmla="*/ 359239 w 482444"/>
              <a:gd name="connsiteY47" fmla="*/ 324473 h 477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82444" h="477972">
                <a:moveTo>
                  <a:pt x="231767" y="0"/>
                </a:moveTo>
                <a:cubicBezTo>
                  <a:pt x="359772" y="0"/>
                  <a:pt x="463534" y="103762"/>
                  <a:pt x="463534" y="231767"/>
                </a:cubicBezTo>
                <a:cubicBezTo>
                  <a:pt x="463534" y="237862"/>
                  <a:pt x="463302" y="243888"/>
                  <a:pt x="462838" y="249844"/>
                </a:cubicBezTo>
                <a:cubicBezTo>
                  <a:pt x="402681" y="192369"/>
                  <a:pt x="307320" y="194543"/>
                  <a:pt x="249845" y="254700"/>
                </a:cubicBezTo>
                <a:cubicBezTo>
                  <a:pt x="194214" y="312927"/>
                  <a:pt x="194214" y="404611"/>
                  <a:pt x="249845" y="462838"/>
                </a:cubicBezTo>
                <a:cubicBezTo>
                  <a:pt x="206340" y="466305"/>
                  <a:pt x="162744" y="457368"/>
                  <a:pt x="124111" y="437066"/>
                </a:cubicBezTo>
                <a:lnTo>
                  <a:pt x="24683" y="462954"/>
                </a:lnTo>
                <a:cubicBezTo>
                  <a:pt x="14147" y="465666"/>
                  <a:pt x="3407" y="459322"/>
                  <a:pt x="695" y="448784"/>
                </a:cubicBezTo>
                <a:cubicBezTo>
                  <a:pt x="-133" y="445565"/>
                  <a:pt x="-133" y="442185"/>
                  <a:pt x="695" y="438966"/>
                </a:cubicBezTo>
                <a:lnTo>
                  <a:pt x="26561" y="339561"/>
                </a:lnTo>
                <a:cubicBezTo>
                  <a:pt x="9069" y="306326"/>
                  <a:pt x="-48" y="269324"/>
                  <a:pt x="0" y="231767"/>
                </a:cubicBezTo>
                <a:cubicBezTo>
                  <a:pt x="0" y="103762"/>
                  <a:pt x="103762" y="0"/>
                  <a:pt x="231767" y="0"/>
                </a:cubicBezTo>
                <a:close/>
                <a:moveTo>
                  <a:pt x="284563" y="277564"/>
                </a:moveTo>
                <a:cubicBezTo>
                  <a:pt x="291662" y="302161"/>
                  <a:pt x="277478" y="327855"/>
                  <a:pt x="252881" y="334954"/>
                </a:cubicBezTo>
                <a:cubicBezTo>
                  <a:pt x="252313" y="335116"/>
                  <a:pt x="251741" y="335271"/>
                  <a:pt x="251166" y="335413"/>
                </a:cubicBezTo>
                <a:lnTo>
                  <a:pt x="237631" y="338750"/>
                </a:lnTo>
                <a:cubicBezTo>
                  <a:pt x="235461" y="352631"/>
                  <a:pt x="235508" y="366766"/>
                  <a:pt x="237770" y="380630"/>
                </a:cubicBezTo>
                <a:lnTo>
                  <a:pt x="250285" y="383643"/>
                </a:lnTo>
                <a:cubicBezTo>
                  <a:pt x="275174" y="389639"/>
                  <a:pt x="290490" y="414675"/>
                  <a:pt x="284494" y="439562"/>
                </a:cubicBezTo>
                <a:cubicBezTo>
                  <a:pt x="284313" y="440320"/>
                  <a:pt x="284111" y="441071"/>
                  <a:pt x="283891" y="441817"/>
                </a:cubicBezTo>
                <a:lnTo>
                  <a:pt x="279557" y="456464"/>
                </a:lnTo>
                <a:cubicBezTo>
                  <a:pt x="289755" y="465411"/>
                  <a:pt x="301343" y="472665"/>
                  <a:pt x="313951" y="477833"/>
                </a:cubicBezTo>
                <a:lnTo>
                  <a:pt x="325401" y="465781"/>
                </a:lnTo>
                <a:cubicBezTo>
                  <a:pt x="343045" y="447233"/>
                  <a:pt x="372387" y="446503"/>
                  <a:pt x="390933" y="464148"/>
                </a:cubicBezTo>
                <a:cubicBezTo>
                  <a:pt x="391500" y="464685"/>
                  <a:pt x="392052" y="465239"/>
                  <a:pt x="392590" y="465805"/>
                </a:cubicBezTo>
                <a:lnTo>
                  <a:pt x="404132" y="477972"/>
                </a:lnTo>
                <a:cubicBezTo>
                  <a:pt x="416682" y="472869"/>
                  <a:pt x="428296" y="465719"/>
                  <a:pt x="438503" y="456812"/>
                </a:cubicBezTo>
                <a:lnTo>
                  <a:pt x="433914" y="440913"/>
                </a:lnTo>
                <a:cubicBezTo>
                  <a:pt x="426815" y="416316"/>
                  <a:pt x="440999" y="390622"/>
                  <a:pt x="465596" y="383523"/>
                </a:cubicBezTo>
                <a:cubicBezTo>
                  <a:pt x="466164" y="383361"/>
                  <a:pt x="466737" y="383205"/>
                  <a:pt x="467311" y="383064"/>
                </a:cubicBezTo>
                <a:lnTo>
                  <a:pt x="480847" y="379727"/>
                </a:lnTo>
                <a:cubicBezTo>
                  <a:pt x="483023" y="365839"/>
                  <a:pt x="482976" y="351694"/>
                  <a:pt x="480707" y="337823"/>
                </a:cubicBezTo>
                <a:lnTo>
                  <a:pt x="468192" y="334810"/>
                </a:lnTo>
                <a:cubicBezTo>
                  <a:pt x="443303" y="328814"/>
                  <a:pt x="427987" y="303779"/>
                  <a:pt x="433983" y="278892"/>
                </a:cubicBezTo>
                <a:cubicBezTo>
                  <a:pt x="434164" y="278134"/>
                  <a:pt x="434366" y="277383"/>
                  <a:pt x="434586" y="276637"/>
                </a:cubicBezTo>
                <a:lnTo>
                  <a:pt x="438920" y="262035"/>
                </a:lnTo>
                <a:cubicBezTo>
                  <a:pt x="428722" y="253052"/>
                  <a:pt x="417097" y="245830"/>
                  <a:pt x="404526" y="240667"/>
                </a:cubicBezTo>
                <a:lnTo>
                  <a:pt x="393100" y="252672"/>
                </a:lnTo>
                <a:cubicBezTo>
                  <a:pt x="375467" y="271232"/>
                  <a:pt x="346127" y="271985"/>
                  <a:pt x="327568" y="254352"/>
                </a:cubicBezTo>
                <a:cubicBezTo>
                  <a:pt x="326993" y="253808"/>
                  <a:pt x="326432" y="253247"/>
                  <a:pt x="325887" y="252672"/>
                </a:cubicBezTo>
                <a:lnTo>
                  <a:pt x="314345" y="240504"/>
                </a:lnTo>
                <a:cubicBezTo>
                  <a:pt x="301797" y="245599"/>
                  <a:pt x="290184" y="252742"/>
                  <a:pt x="279974" y="261641"/>
                </a:cubicBezTo>
                <a:lnTo>
                  <a:pt x="284563" y="277564"/>
                </a:lnTo>
                <a:close/>
                <a:moveTo>
                  <a:pt x="359239" y="324473"/>
                </a:moveTo>
                <a:cubicBezTo>
                  <a:pt x="377780" y="324473"/>
                  <a:pt x="392845" y="340048"/>
                  <a:pt x="392845" y="359238"/>
                </a:cubicBezTo>
                <a:cubicBezTo>
                  <a:pt x="392845" y="378429"/>
                  <a:pt x="377780" y="394003"/>
                  <a:pt x="359239" y="394003"/>
                </a:cubicBezTo>
                <a:cubicBezTo>
                  <a:pt x="340697" y="394003"/>
                  <a:pt x="325632" y="378429"/>
                  <a:pt x="325632" y="359238"/>
                </a:cubicBezTo>
                <a:cubicBezTo>
                  <a:pt x="325632" y="340048"/>
                  <a:pt x="340697" y="324473"/>
                  <a:pt x="359239" y="324473"/>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base">
              <a:lnSpc>
                <a:spcPct val="90000"/>
              </a:lnSpc>
              <a:spcBef>
                <a:spcPct val="0"/>
              </a:spcBef>
              <a:spcAft>
                <a:spcPct val="0"/>
              </a:spcAft>
            </a:pPr>
            <a:endParaRPr lang="en-US" sz="1600" b="1">
              <a:ln w="3175">
                <a:noFill/>
              </a:ln>
              <a:gradFill>
                <a:gsLst>
                  <a:gs pos="71910">
                    <a:srgbClr val="000000"/>
                  </a:gs>
                  <a:gs pos="53933">
                    <a:srgbClr val="000000"/>
                  </a:gs>
                </a:gsLst>
                <a:path path="circle">
                  <a:fillToRect l="100000" b="100000"/>
                </a:path>
              </a:gradFill>
              <a:latin typeface="+mj-lt"/>
              <a:cs typeface="Segoe UI" pitchFamily="34" charset="0"/>
            </a:endParaRPr>
          </a:p>
        </p:txBody>
      </p:sp>
      <p:sp>
        <p:nvSpPr>
          <p:cNvPr id="3" name="TextBox 2">
            <a:extLst>
              <a:ext uri="{FF2B5EF4-FFF2-40B4-BE49-F238E27FC236}">
                <a16:creationId xmlns:a16="http://schemas.microsoft.com/office/drawing/2014/main" id="{154C6649-6941-41B5-E5EB-7C7C40057A99}"/>
              </a:ext>
            </a:extLst>
          </p:cNvPr>
          <p:cNvSpPr txBox="1"/>
          <p:nvPr/>
        </p:nvSpPr>
        <p:spPr>
          <a:xfrm>
            <a:off x="810461" y="3429000"/>
            <a:ext cx="3291840" cy="664797"/>
          </a:xfrm>
          <a:prstGeom prst="rect">
            <a:avLst/>
          </a:prstGeom>
          <a:noFill/>
        </p:spPr>
        <p:txBody>
          <a:bodyPr wrap="square" lIns="0" tIns="0" rIns="0" bIns="0" rtlCol="0">
            <a:spAutoFit/>
          </a:bodyPr>
          <a:lstStyle/>
          <a:p>
            <a:pPr lvl="0" algn="ctr" defTabSz="932304" fontAlgn="base">
              <a:lnSpc>
                <a:spcPct val="90000"/>
              </a:lnSpc>
              <a:spcBef>
                <a:spcPct val="0"/>
              </a:spcBef>
              <a:spcAft>
                <a:spcPct val="0"/>
              </a:spcAft>
              <a:defRPr/>
            </a:pPr>
            <a:r>
              <a:rPr lang="en-US" sz="2400">
                <a:latin typeface="Segoe UI Semibold"/>
              </a:rPr>
              <a:t>Prompt</a:t>
            </a:r>
            <a:br>
              <a:rPr lang="en-US" sz="2400">
                <a:latin typeface="Segoe UI Semibold"/>
              </a:rPr>
            </a:br>
            <a:r>
              <a:rPr lang="en-US" sz="2400">
                <a:latin typeface="Segoe UI Semibold"/>
              </a:rPr>
              <a:t>engineering</a:t>
            </a:r>
          </a:p>
        </p:txBody>
      </p:sp>
      <p:sp>
        <p:nvSpPr>
          <p:cNvPr id="10" name="TextBox 9">
            <a:extLst>
              <a:ext uri="{FF2B5EF4-FFF2-40B4-BE49-F238E27FC236}">
                <a16:creationId xmlns:a16="http://schemas.microsoft.com/office/drawing/2014/main" id="{F5109C43-6590-376F-E6EC-87CF683D9D4B}"/>
              </a:ext>
            </a:extLst>
          </p:cNvPr>
          <p:cNvSpPr txBox="1"/>
          <p:nvPr/>
        </p:nvSpPr>
        <p:spPr>
          <a:xfrm>
            <a:off x="810461" y="4222932"/>
            <a:ext cx="3291840" cy="249299"/>
          </a:xfrm>
          <a:prstGeom prst="rect">
            <a:avLst/>
          </a:prstGeom>
          <a:noFill/>
        </p:spPr>
        <p:txBody>
          <a:bodyPr wrap="square" lIns="0" tIns="0" rIns="0" bIns="0" rtlCol="0">
            <a:spAutoFit/>
          </a:bodyPr>
          <a:lstStyle/>
          <a:p>
            <a:pPr lvl="0" algn="ctr" defTabSz="932304" fontAlgn="base">
              <a:lnSpc>
                <a:spcPct val="90000"/>
              </a:lnSpc>
              <a:spcBef>
                <a:spcPct val="0"/>
              </a:spcBef>
              <a:spcAft>
                <a:spcPct val="0"/>
              </a:spcAft>
              <a:defRPr/>
            </a:pPr>
            <a:r>
              <a:rPr lang="en-US" sz="1800"/>
              <a:t>In-context learning</a:t>
            </a:r>
          </a:p>
        </p:txBody>
      </p:sp>
      <p:sp>
        <p:nvSpPr>
          <p:cNvPr id="13" name="Rounded Rectangle 5">
            <a:extLst>
              <a:ext uri="{FF2B5EF4-FFF2-40B4-BE49-F238E27FC236}">
                <a16:creationId xmlns:a16="http://schemas.microsoft.com/office/drawing/2014/main" id="{0799BF2B-8C16-DB20-31A4-0AF813ECCC7F}"/>
              </a:ext>
              <a:ext uri="{C183D7F6-B498-43B3-948B-1728B52AA6E4}">
                <adec:decorative xmlns:adec="http://schemas.microsoft.com/office/drawing/2017/decorative" val="1"/>
              </a:ext>
            </a:extLst>
          </p:cNvPr>
          <p:cNvSpPr/>
          <p:nvPr/>
        </p:nvSpPr>
        <p:spPr bwMode="auto">
          <a:xfrm>
            <a:off x="4453954" y="2039889"/>
            <a:ext cx="3291840" cy="3644855"/>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19" name="Oval 18">
            <a:extLst>
              <a:ext uri="{FF2B5EF4-FFF2-40B4-BE49-F238E27FC236}">
                <a16:creationId xmlns:a16="http://schemas.microsoft.com/office/drawing/2014/main" id="{A2193D5E-A2AB-3CB3-64CA-9593FE0BC3A5}"/>
              </a:ext>
              <a:ext uri="{C183D7F6-B498-43B3-948B-1728B52AA6E4}">
                <adec:decorative xmlns:adec="http://schemas.microsoft.com/office/drawing/2017/decorative" val="1"/>
              </a:ext>
            </a:extLst>
          </p:cNvPr>
          <p:cNvSpPr/>
          <p:nvPr/>
        </p:nvSpPr>
        <p:spPr bwMode="auto">
          <a:xfrm>
            <a:off x="5430488" y="1625103"/>
            <a:ext cx="1338773" cy="1338773"/>
          </a:xfrm>
          <a:prstGeom prst="ellipse">
            <a:avLst/>
          </a:prstGeom>
          <a:gradFill flip="none" rotWithShape="1">
            <a:gsLst>
              <a:gs pos="0">
                <a:srgbClr val="C03BC4"/>
              </a:gs>
              <a:gs pos="80000">
                <a:srgbClr val="0078D4"/>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00"/>
            <a:endParaRPr lang="en-US" sz="700" err="1">
              <a:solidFill>
                <a:srgbClr val="FFFFFF"/>
              </a:solidFill>
              <a:latin typeface="Segoe UI"/>
            </a:endParaRPr>
          </a:p>
        </p:txBody>
      </p:sp>
      <p:sp>
        <p:nvSpPr>
          <p:cNvPr id="22" name="Graphic 18" descr="Brain icon">
            <a:extLst>
              <a:ext uri="{FF2B5EF4-FFF2-40B4-BE49-F238E27FC236}">
                <a16:creationId xmlns:a16="http://schemas.microsoft.com/office/drawing/2014/main" id="{DE9FA9BE-B5CA-8EED-4B1D-3722EE794A23}"/>
              </a:ext>
            </a:extLst>
          </p:cNvPr>
          <p:cNvSpPr/>
          <p:nvPr/>
        </p:nvSpPr>
        <p:spPr>
          <a:xfrm>
            <a:off x="5838526" y="2033272"/>
            <a:ext cx="522697" cy="522435"/>
          </a:xfrm>
          <a:custGeom>
            <a:avLst/>
            <a:gdLst>
              <a:gd name="connsiteX0" fmla="*/ 188658 w 463532"/>
              <a:gd name="connsiteY0" fmla="*/ 0 h 463300"/>
              <a:gd name="connsiteX1" fmla="*/ 214384 w 463532"/>
              <a:gd name="connsiteY1" fmla="*/ 32702 h 463300"/>
              <a:gd name="connsiteX2" fmla="*/ 214384 w 463532"/>
              <a:gd name="connsiteY2" fmla="*/ 133127 h 463300"/>
              <a:gd name="connsiteX3" fmla="*/ 193641 w 463532"/>
              <a:gd name="connsiteY3" fmla="*/ 133127 h 463300"/>
              <a:gd name="connsiteX4" fmla="*/ 133288 w 463532"/>
              <a:gd name="connsiteY4" fmla="*/ 107538 h 463300"/>
              <a:gd name="connsiteX5" fmla="*/ 107699 w 463532"/>
              <a:gd name="connsiteY5" fmla="*/ 167891 h 463300"/>
              <a:gd name="connsiteX6" fmla="*/ 168053 w 463532"/>
              <a:gd name="connsiteY6" fmla="*/ 193478 h 463300"/>
              <a:gd name="connsiteX7" fmla="*/ 193641 w 463532"/>
              <a:gd name="connsiteY7" fmla="*/ 167891 h 463300"/>
              <a:gd name="connsiteX8" fmla="*/ 214384 w 463532"/>
              <a:gd name="connsiteY8" fmla="*/ 167891 h 463300"/>
              <a:gd name="connsiteX9" fmla="*/ 214384 w 463532"/>
              <a:gd name="connsiteY9" fmla="*/ 420470 h 463300"/>
              <a:gd name="connsiteX10" fmla="*/ 196236 w 463532"/>
              <a:gd name="connsiteY10" fmla="*/ 454308 h 463300"/>
              <a:gd name="connsiteX11" fmla="*/ 160081 w 463532"/>
              <a:gd name="connsiteY11" fmla="*/ 463301 h 463300"/>
              <a:gd name="connsiteX12" fmla="*/ 82300 w 463532"/>
              <a:gd name="connsiteY12" fmla="*/ 424642 h 463300"/>
              <a:gd name="connsiteX13" fmla="*/ 58660 w 463532"/>
              <a:gd name="connsiteY13" fmla="*/ 375114 h 463300"/>
              <a:gd name="connsiteX14" fmla="*/ 29249 w 463532"/>
              <a:gd name="connsiteY14" fmla="*/ 359122 h 463300"/>
              <a:gd name="connsiteX15" fmla="*/ 0 w 463532"/>
              <a:gd name="connsiteY15" fmla="*/ 288781 h 463300"/>
              <a:gd name="connsiteX16" fmla="*/ 4404 w 463532"/>
              <a:gd name="connsiteY16" fmla="*/ 243216 h 463300"/>
              <a:gd name="connsiteX17" fmla="*/ 101977 w 463532"/>
              <a:gd name="connsiteY17" fmla="*/ 243216 h 463300"/>
              <a:gd name="connsiteX18" fmla="*/ 132918 w 463532"/>
              <a:gd name="connsiteY18" fmla="*/ 269892 h 463300"/>
              <a:gd name="connsiteX19" fmla="*/ 107805 w 463532"/>
              <a:gd name="connsiteY19" fmla="*/ 330445 h 463300"/>
              <a:gd name="connsiteX20" fmla="*/ 168358 w 463532"/>
              <a:gd name="connsiteY20" fmla="*/ 355557 h 463300"/>
              <a:gd name="connsiteX21" fmla="*/ 193472 w 463532"/>
              <a:gd name="connsiteY21" fmla="*/ 295004 h 463300"/>
              <a:gd name="connsiteX22" fmla="*/ 167845 w 463532"/>
              <a:gd name="connsiteY22" fmla="*/ 269683 h 463300"/>
              <a:gd name="connsiteX23" fmla="*/ 101977 w 463532"/>
              <a:gd name="connsiteY23" fmla="*/ 208451 h 463300"/>
              <a:gd name="connsiteX24" fmla="*/ 24104 w 463532"/>
              <a:gd name="connsiteY24" fmla="*/ 208451 h 463300"/>
              <a:gd name="connsiteX25" fmla="*/ 35576 w 463532"/>
              <a:gd name="connsiteY25" fmla="*/ 201451 h 463300"/>
              <a:gd name="connsiteX26" fmla="*/ 31451 w 463532"/>
              <a:gd name="connsiteY26" fmla="*/ 175331 h 463300"/>
              <a:gd name="connsiteX27" fmla="*/ 38288 w 463532"/>
              <a:gd name="connsiteY27" fmla="*/ 124783 h 463300"/>
              <a:gd name="connsiteX28" fmla="*/ 62345 w 463532"/>
              <a:gd name="connsiteY28" fmla="*/ 83668 h 463300"/>
              <a:gd name="connsiteX29" fmla="*/ 87747 w 463532"/>
              <a:gd name="connsiteY29" fmla="*/ 70526 h 463300"/>
              <a:gd name="connsiteX30" fmla="*/ 119105 w 463532"/>
              <a:gd name="connsiteY30" fmla="*/ 23316 h 463300"/>
              <a:gd name="connsiteX31" fmla="*/ 188635 w 463532"/>
              <a:gd name="connsiteY31" fmla="*/ 0 h 463300"/>
              <a:gd name="connsiteX32" fmla="*/ 249149 w 463532"/>
              <a:gd name="connsiteY32" fmla="*/ 347510 h 463300"/>
              <a:gd name="connsiteX33" fmla="*/ 287390 w 463532"/>
              <a:gd name="connsiteY33" fmla="*/ 347510 h 463300"/>
              <a:gd name="connsiteX34" fmla="*/ 353444 w 463532"/>
              <a:gd name="connsiteY34" fmla="*/ 281457 h 463300"/>
              <a:gd name="connsiteX35" fmla="*/ 353444 w 463532"/>
              <a:gd name="connsiteY35" fmla="*/ 239855 h 463300"/>
              <a:gd name="connsiteX36" fmla="*/ 379031 w 463532"/>
              <a:gd name="connsiteY36" fmla="*/ 179502 h 463300"/>
              <a:gd name="connsiteX37" fmla="*/ 318679 w 463532"/>
              <a:gd name="connsiteY37" fmla="*/ 153914 h 463300"/>
              <a:gd name="connsiteX38" fmla="*/ 293092 w 463532"/>
              <a:gd name="connsiteY38" fmla="*/ 214266 h 463300"/>
              <a:gd name="connsiteX39" fmla="*/ 318679 w 463532"/>
              <a:gd name="connsiteY39" fmla="*/ 239855 h 463300"/>
              <a:gd name="connsiteX40" fmla="*/ 318679 w 463532"/>
              <a:gd name="connsiteY40" fmla="*/ 281457 h 463300"/>
              <a:gd name="connsiteX41" fmla="*/ 287390 w 463532"/>
              <a:gd name="connsiteY41" fmla="*/ 312745 h 463300"/>
              <a:gd name="connsiteX42" fmla="*/ 249149 w 463532"/>
              <a:gd name="connsiteY42" fmla="*/ 312745 h 463300"/>
              <a:gd name="connsiteX43" fmla="*/ 249149 w 463532"/>
              <a:gd name="connsiteY43" fmla="*/ 32702 h 463300"/>
              <a:gd name="connsiteX44" fmla="*/ 274875 w 463532"/>
              <a:gd name="connsiteY44" fmla="*/ 0 h 463300"/>
              <a:gd name="connsiteX45" fmla="*/ 344428 w 463532"/>
              <a:gd name="connsiteY45" fmla="*/ 23316 h 463300"/>
              <a:gd name="connsiteX46" fmla="*/ 375786 w 463532"/>
              <a:gd name="connsiteY46" fmla="*/ 70526 h 463300"/>
              <a:gd name="connsiteX47" fmla="*/ 401187 w 463532"/>
              <a:gd name="connsiteY47" fmla="*/ 83668 h 463300"/>
              <a:gd name="connsiteX48" fmla="*/ 425245 w 463532"/>
              <a:gd name="connsiteY48" fmla="*/ 124783 h 463300"/>
              <a:gd name="connsiteX49" fmla="*/ 432082 w 463532"/>
              <a:gd name="connsiteY49" fmla="*/ 175331 h 463300"/>
              <a:gd name="connsiteX50" fmla="*/ 427956 w 463532"/>
              <a:gd name="connsiteY50" fmla="*/ 201451 h 463300"/>
              <a:gd name="connsiteX51" fmla="*/ 429486 w 463532"/>
              <a:gd name="connsiteY51" fmla="*/ 202147 h 463300"/>
              <a:gd name="connsiteX52" fmla="*/ 450206 w 463532"/>
              <a:gd name="connsiteY52" fmla="*/ 220920 h 463300"/>
              <a:gd name="connsiteX53" fmla="*/ 463533 w 463532"/>
              <a:gd name="connsiteY53" fmla="*/ 288781 h 463300"/>
              <a:gd name="connsiteX54" fmla="*/ 434284 w 463532"/>
              <a:gd name="connsiteY54" fmla="*/ 359122 h 463300"/>
              <a:gd name="connsiteX55" fmla="*/ 404849 w 463532"/>
              <a:gd name="connsiteY55" fmla="*/ 375114 h 463300"/>
              <a:gd name="connsiteX56" fmla="*/ 381232 w 463532"/>
              <a:gd name="connsiteY56" fmla="*/ 424642 h 463300"/>
              <a:gd name="connsiteX57" fmla="*/ 303428 w 463532"/>
              <a:gd name="connsiteY57" fmla="*/ 463301 h 463300"/>
              <a:gd name="connsiteX58" fmla="*/ 267273 w 463532"/>
              <a:gd name="connsiteY58" fmla="*/ 454331 h 463300"/>
              <a:gd name="connsiteX59" fmla="*/ 249149 w 463532"/>
              <a:gd name="connsiteY59" fmla="*/ 420470 h 463300"/>
              <a:gd name="connsiteX60" fmla="*/ 249149 w 463532"/>
              <a:gd name="connsiteY60" fmla="*/ 347510 h 463300"/>
              <a:gd name="connsiteX61" fmla="*/ 139060 w 463532"/>
              <a:gd name="connsiteY61" fmla="*/ 150509 h 463300"/>
              <a:gd name="connsiteX62" fmla="*/ 150648 w 463532"/>
              <a:gd name="connsiteY62" fmla="*/ 138921 h 463300"/>
              <a:gd name="connsiteX63" fmla="*/ 162236 w 463532"/>
              <a:gd name="connsiteY63" fmla="*/ 150509 h 463300"/>
              <a:gd name="connsiteX64" fmla="*/ 150648 w 463532"/>
              <a:gd name="connsiteY64" fmla="*/ 162097 h 463300"/>
              <a:gd name="connsiteX65" fmla="*/ 139060 w 463532"/>
              <a:gd name="connsiteY65" fmla="*/ 150509 h 463300"/>
              <a:gd name="connsiteX66" fmla="*/ 150648 w 463532"/>
              <a:gd name="connsiteY66" fmla="*/ 301157 h 463300"/>
              <a:gd name="connsiteX67" fmla="*/ 139060 w 463532"/>
              <a:gd name="connsiteY67" fmla="*/ 312745 h 463300"/>
              <a:gd name="connsiteX68" fmla="*/ 150648 w 463532"/>
              <a:gd name="connsiteY68" fmla="*/ 324334 h 463300"/>
              <a:gd name="connsiteX69" fmla="*/ 162236 w 463532"/>
              <a:gd name="connsiteY69" fmla="*/ 312745 h 463300"/>
              <a:gd name="connsiteX70" fmla="*/ 150648 w 463532"/>
              <a:gd name="connsiteY70" fmla="*/ 301157 h 463300"/>
              <a:gd name="connsiteX71" fmla="*/ 324473 w 463532"/>
              <a:gd name="connsiteY71" fmla="*/ 196862 h 463300"/>
              <a:gd name="connsiteX72" fmla="*/ 336061 w 463532"/>
              <a:gd name="connsiteY72" fmla="*/ 208451 h 463300"/>
              <a:gd name="connsiteX73" fmla="*/ 347649 w 463532"/>
              <a:gd name="connsiteY73" fmla="*/ 196862 h 463300"/>
              <a:gd name="connsiteX74" fmla="*/ 336061 w 463532"/>
              <a:gd name="connsiteY74" fmla="*/ 185274 h 463300"/>
              <a:gd name="connsiteX75" fmla="*/ 324473 w 463532"/>
              <a:gd name="connsiteY75" fmla="*/ 196862 h 46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63532" h="463300">
                <a:moveTo>
                  <a:pt x="188658" y="0"/>
                </a:moveTo>
                <a:cubicBezTo>
                  <a:pt x="205044" y="0"/>
                  <a:pt x="214384" y="16316"/>
                  <a:pt x="214384" y="32702"/>
                </a:cubicBezTo>
                <a:lnTo>
                  <a:pt x="214384" y="133127"/>
                </a:lnTo>
                <a:lnTo>
                  <a:pt x="193641" y="133127"/>
                </a:lnTo>
                <a:cubicBezTo>
                  <a:pt x="184041" y="109395"/>
                  <a:pt x="157020" y="97938"/>
                  <a:pt x="133288" y="107538"/>
                </a:cubicBezTo>
                <a:cubicBezTo>
                  <a:pt x="109556" y="117138"/>
                  <a:pt x="98099" y="144160"/>
                  <a:pt x="107699" y="167891"/>
                </a:cubicBezTo>
                <a:cubicBezTo>
                  <a:pt x="117299" y="191624"/>
                  <a:pt x="144321" y="203081"/>
                  <a:pt x="168053" y="193478"/>
                </a:cubicBezTo>
                <a:cubicBezTo>
                  <a:pt x="179696" y="188769"/>
                  <a:pt x="188931" y="179535"/>
                  <a:pt x="193641" y="167891"/>
                </a:cubicBezTo>
                <a:lnTo>
                  <a:pt x="214384" y="167891"/>
                </a:lnTo>
                <a:lnTo>
                  <a:pt x="214384" y="420470"/>
                </a:lnTo>
                <a:cubicBezTo>
                  <a:pt x="214384" y="434284"/>
                  <a:pt x="208543" y="448027"/>
                  <a:pt x="196236" y="454308"/>
                </a:cubicBezTo>
                <a:cubicBezTo>
                  <a:pt x="185077" y="460153"/>
                  <a:pt x="172678" y="463238"/>
                  <a:pt x="160081" y="463301"/>
                </a:cubicBezTo>
                <a:cubicBezTo>
                  <a:pt x="125084" y="463301"/>
                  <a:pt x="99057" y="445594"/>
                  <a:pt x="82300" y="424642"/>
                </a:cubicBezTo>
                <a:cubicBezTo>
                  <a:pt x="70695" y="410185"/>
                  <a:pt x="62603" y="393229"/>
                  <a:pt x="58660" y="375114"/>
                </a:cubicBezTo>
                <a:cubicBezTo>
                  <a:pt x="47837" y="371920"/>
                  <a:pt x="37813" y="366469"/>
                  <a:pt x="29249" y="359122"/>
                </a:cubicBezTo>
                <a:cubicBezTo>
                  <a:pt x="12793" y="344961"/>
                  <a:pt x="0" y="322248"/>
                  <a:pt x="0" y="288781"/>
                </a:cubicBezTo>
                <a:cubicBezTo>
                  <a:pt x="0" y="271282"/>
                  <a:pt x="1252" y="256032"/>
                  <a:pt x="4404" y="243216"/>
                </a:cubicBezTo>
                <a:lnTo>
                  <a:pt x="101977" y="243216"/>
                </a:lnTo>
                <a:cubicBezTo>
                  <a:pt x="117691" y="243216"/>
                  <a:pt x="130716" y="254804"/>
                  <a:pt x="132918" y="269892"/>
                </a:cubicBezTo>
                <a:cubicBezTo>
                  <a:pt x="109262" y="279679"/>
                  <a:pt x="98019" y="306789"/>
                  <a:pt x="107805" y="330445"/>
                </a:cubicBezTo>
                <a:cubicBezTo>
                  <a:pt x="117592" y="354099"/>
                  <a:pt x="144702" y="365342"/>
                  <a:pt x="168358" y="355557"/>
                </a:cubicBezTo>
                <a:cubicBezTo>
                  <a:pt x="192014" y="345770"/>
                  <a:pt x="203257" y="318660"/>
                  <a:pt x="193472" y="295004"/>
                </a:cubicBezTo>
                <a:cubicBezTo>
                  <a:pt x="188693" y="283455"/>
                  <a:pt x="179452" y="274323"/>
                  <a:pt x="167845" y="269683"/>
                </a:cubicBezTo>
                <a:cubicBezTo>
                  <a:pt x="165320" y="235169"/>
                  <a:pt x="136584" y="208455"/>
                  <a:pt x="101977" y="208451"/>
                </a:cubicBezTo>
                <a:lnTo>
                  <a:pt x="24104" y="208451"/>
                </a:lnTo>
                <a:cubicBezTo>
                  <a:pt x="27574" y="205581"/>
                  <a:pt x="31438" y="203224"/>
                  <a:pt x="35576" y="201451"/>
                </a:cubicBezTo>
                <a:cubicBezTo>
                  <a:pt x="33187" y="192936"/>
                  <a:pt x="31803" y="184169"/>
                  <a:pt x="31451" y="175331"/>
                </a:cubicBezTo>
                <a:cubicBezTo>
                  <a:pt x="30686" y="158296"/>
                  <a:pt x="33235" y="140566"/>
                  <a:pt x="38288" y="124783"/>
                </a:cubicBezTo>
                <a:cubicBezTo>
                  <a:pt x="43294" y="109255"/>
                  <a:pt x="51220" y="94120"/>
                  <a:pt x="62345" y="83668"/>
                </a:cubicBezTo>
                <a:cubicBezTo>
                  <a:pt x="69324" y="76868"/>
                  <a:pt x="78165" y="72294"/>
                  <a:pt x="87747" y="70526"/>
                </a:cubicBezTo>
                <a:cubicBezTo>
                  <a:pt x="92359" y="51058"/>
                  <a:pt x="104109" y="34974"/>
                  <a:pt x="119105" y="23316"/>
                </a:cubicBezTo>
                <a:cubicBezTo>
                  <a:pt x="138364" y="8297"/>
                  <a:pt x="163604" y="0"/>
                  <a:pt x="188635" y="0"/>
                </a:cubicBezTo>
                <a:close/>
                <a:moveTo>
                  <a:pt x="249149" y="347510"/>
                </a:moveTo>
                <a:lnTo>
                  <a:pt x="287390" y="347510"/>
                </a:lnTo>
                <a:cubicBezTo>
                  <a:pt x="323870" y="347510"/>
                  <a:pt x="353444" y="317937"/>
                  <a:pt x="353444" y="281457"/>
                </a:cubicBezTo>
                <a:lnTo>
                  <a:pt x="353444" y="239855"/>
                </a:lnTo>
                <a:cubicBezTo>
                  <a:pt x="377176" y="230255"/>
                  <a:pt x="388633" y="203234"/>
                  <a:pt x="379031" y="179502"/>
                </a:cubicBezTo>
                <a:cubicBezTo>
                  <a:pt x="369431" y="155770"/>
                  <a:pt x="342411" y="144314"/>
                  <a:pt x="318679" y="153914"/>
                </a:cubicBezTo>
                <a:cubicBezTo>
                  <a:pt x="294946" y="163514"/>
                  <a:pt x="283490" y="190535"/>
                  <a:pt x="293092" y="214266"/>
                </a:cubicBezTo>
                <a:cubicBezTo>
                  <a:pt x="297801" y="225912"/>
                  <a:pt x="307035" y="235145"/>
                  <a:pt x="318679" y="239855"/>
                </a:cubicBezTo>
                <a:lnTo>
                  <a:pt x="318679" y="281457"/>
                </a:lnTo>
                <a:cubicBezTo>
                  <a:pt x="318679" y="298737"/>
                  <a:pt x="304671" y="312745"/>
                  <a:pt x="287390" y="312745"/>
                </a:cubicBezTo>
                <a:lnTo>
                  <a:pt x="249149" y="312745"/>
                </a:lnTo>
                <a:lnTo>
                  <a:pt x="249149" y="32702"/>
                </a:lnTo>
                <a:cubicBezTo>
                  <a:pt x="249149" y="16316"/>
                  <a:pt x="258489" y="0"/>
                  <a:pt x="274875" y="0"/>
                </a:cubicBezTo>
                <a:cubicBezTo>
                  <a:pt x="299952" y="0"/>
                  <a:pt x="325168" y="8297"/>
                  <a:pt x="344428" y="23316"/>
                </a:cubicBezTo>
                <a:cubicBezTo>
                  <a:pt x="359423" y="34974"/>
                  <a:pt x="371174" y="51081"/>
                  <a:pt x="375786" y="70526"/>
                </a:cubicBezTo>
                <a:cubicBezTo>
                  <a:pt x="385520" y="72149"/>
                  <a:pt x="394188" y="77109"/>
                  <a:pt x="401187" y="83668"/>
                </a:cubicBezTo>
                <a:cubicBezTo>
                  <a:pt x="412312" y="94120"/>
                  <a:pt x="420239" y="109231"/>
                  <a:pt x="425245" y="124783"/>
                </a:cubicBezTo>
                <a:cubicBezTo>
                  <a:pt x="430297" y="140566"/>
                  <a:pt x="432847" y="158296"/>
                  <a:pt x="432082" y="175331"/>
                </a:cubicBezTo>
                <a:cubicBezTo>
                  <a:pt x="431688" y="184046"/>
                  <a:pt x="430413" y="192945"/>
                  <a:pt x="427956" y="201451"/>
                </a:cubicBezTo>
                <a:lnTo>
                  <a:pt x="429486" y="202147"/>
                </a:lnTo>
                <a:cubicBezTo>
                  <a:pt x="438061" y="206179"/>
                  <a:pt x="445014" y="212506"/>
                  <a:pt x="450206" y="220920"/>
                </a:cubicBezTo>
                <a:cubicBezTo>
                  <a:pt x="460056" y="236796"/>
                  <a:pt x="463533" y="259648"/>
                  <a:pt x="463533" y="288781"/>
                </a:cubicBezTo>
                <a:cubicBezTo>
                  <a:pt x="463533" y="322271"/>
                  <a:pt x="450739" y="345007"/>
                  <a:pt x="434284" y="359122"/>
                </a:cubicBezTo>
                <a:cubicBezTo>
                  <a:pt x="425713" y="366473"/>
                  <a:pt x="415680" y="371922"/>
                  <a:pt x="404849" y="375114"/>
                </a:cubicBezTo>
                <a:cubicBezTo>
                  <a:pt x="400912" y="393226"/>
                  <a:pt x="392828" y="410180"/>
                  <a:pt x="381232" y="424642"/>
                </a:cubicBezTo>
                <a:cubicBezTo>
                  <a:pt x="364476" y="445594"/>
                  <a:pt x="338448" y="463301"/>
                  <a:pt x="303428" y="463301"/>
                </a:cubicBezTo>
                <a:cubicBezTo>
                  <a:pt x="290832" y="463245"/>
                  <a:pt x="278435" y="460170"/>
                  <a:pt x="267273" y="454331"/>
                </a:cubicBezTo>
                <a:cubicBezTo>
                  <a:pt x="254989" y="448027"/>
                  <a:pt x="249149" y="434284"/>
                  <a:pt x="249149" y="420470"/>
                </a:cubicBezTo>
                <a:lnTo>
                  <a:pt x="249149" y="347510"/>
                </a:lnTo>
                <a:close/>
                <a:moveTo>
                  <a:pt x="139060" y="150509"/>
                </a:moveTo>
                <a:cubicBezTo>
                  <a:pt x="139060" y="144109"/>
                  <a:pt x="144248" y="138921"/>
                  <a:pt x="150648" y="138921"/>
                </a:cubicBezTo>
                <a:cubicBezTo>
                  <a:pt x="157048" y="138921"/>
                  <a:pt x="162236" y="144109"/>
                  <a:pt x="162236" y="150509"/>
                </a:cubicBezTo>
                <a:cubicBezTo>
                  <a:pt x="162236" y="156909"/>
                  <a:pt x="157048" y="162097"/>
                  <a:pt x="150648" y="162097"/>
                </a:cubicBezTo>
                <a:cubicBezTo>
                  <a:pt x="144248" y="162097"/>
                  <a:pt x="139060" y="156909"/>
                  <a:pt x="139060" y="150509"/>
                </a:cubicBezTo>
                <a:close/>
                <a:moveTo>
                  <a:pt x="150648" y="301157"/>
                </a:moveTo>
                <a:cubicBezTo>
                  <a:pt x="144248" y="301157"/>
                  <a:pt x="139060" y="306346"/>
                  <a:pt x="139060" y="312745"/>
                </a:cubicBezTo>
                <a:cubicBezTo>
                  <a:pt x="139060" y="319144"/>
                  <a:pt x="144248" y="324334"/>
                  <a:pt x="150648" y="324334"/>
                </a:cubicBezTo>
                <a:cubicBezTo>
                  <a:pt x="157048" y="324334"/>
                  <a:pt x="162236" y="319144"/>
                  <a:pt x="162236" y="312745"/>
                </a:cubicBezTo>
                <a:cubicBezTo>
                  <a:pt x="162236" y="306346"/>
                  <a:pt x="157048" y="301157"/>
                  <a:pt x="150648" y="301157"/>
                </a:cubicBezTo>
                <a:close/>
                <a:moveTo>
                  <a:pt x="324473" y="196862"/>
                </a:moveTo>
                <a:cubicBezTo>
                  <a:pt x="324473" y="203261"/>
                  <a:pt x="329662" y="208451"/>
                  <a:pt x="336061" y="208451"/>
                </a:cubicBezTo>
                <a:cubicBezTo>
                  <a:pt x="342460" y="208451"/>
                  <a:pt x="347649" y="203261"/>
                  <a:pt x="347649" y="196862"/>
                </a:cubicBezTo>
                <a:cubicBezTo>
                  <a:pt x="347649" y="190463"/>
                  <a:pt x="342460" y="185274"/>
                  <a:pt x="336061" y="185274"/>
                </a:cubicBezTo>
                <a:cubicBezTo>
                  <a:pt x="329662" y="185274"/>
                  <a:pt x="324473" y="190463"/>
                  <a:pt x="324473" y="196862"/>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base">
              <a:lnSpc>
                <a:spcPct val="90000"/>
              </a:lnSpc>
              <a:spcBef>
                <a:spcPct val="0"/>
              </a:spcBef>
              <a:spcAft>
                <a:spcPct val="0"/>
              </a:spcAft>
            </a:pPr>
            <a:endParaRPr lang="en-US" sz="1600" b="1">
              <a:ln w="3175">
                <a:noFill/>
              </a:ln>
              <a:gradFill>
                <a:gsLst>
                  <a:gs pos="71910">
                    <a:srgbClr val="000000"/>
                  </a:gs>
                  <a:gs pos="53933">
                    <a:srgbClr val="000000"/>
                  </a:gs>
                </a:gsLst>
                <a:path path="circle">
                  <a:fillToRect l="100000" b="100000"/>
                </a:path>
              </a:gradFill>
              <a:latin typeface="+mj-lt"/>
              <a:cs typeface="Segoe UI" pitchFamily="34" charset="0"/>
            </a:endParaRPr>
          </a:p>
        </p:txBody>
      </p:sp>
      <p:sp>
        <p:nvSpPr>
          <p:cNvPr id="4" name="TextBox 3">
            <a:extLst>
              <a:ext uri="{FF2B5EF4-FFF2-40B4-BE49-F238E27FC236}">
                <a16:creationId xmlns:a16="http://schemas.microsoft.com/office/drawing/2014/main" id="{91F0FE1B-09A4-5EAF-4672-4D9970936751}"/>
              </a:ext>
            </a:extLst>
          </p:cNvPr>
          <p:cNvSpPr txBox="1"/>
          <p:nvPr/>
        </p:nvSpPr>
        <p:spPr>
          <a:xfrm>
            <a:off x="4453954" y="3429000"/>
            <a:ext cx="3291840" cy="664797"/>
          </a:xfrm>
          <a:prstGeom prst="rect">
            <a:avLst/>
          </a:prstGeom>
          <a:noFill/>
        </p:spPr>
        <p:txBody>
          <a:bodyPr wrap="square" lIns="0" tIns="0" rIns="0" bIns="0" rtlCol="0">
            <a:spAutoFit/>
          </a:bodyPr>
          <a:lstStyle/>
          <a:p>
            <a:pPr lvl="0" algn="ctr" defTabSz="932304" fontAlgn="base">
              <a:lnSpc>
                <a:spcPct val="90000"/>
              </a:lnSpc>
              <a:spcBef>
                <a:spcPct val="0"/>
              </a:spcBef>
              <a:spcAft>
                <a:spcPct val="0"/>
              </a:spcAft>
              <a:defRPr/>
            </a:pPr>
            <a:r>
              <a:rPr lang="en-US" sz="2400">
                <a:latin typeface="Segoe UI Semibold"/>
              </a:rPr>
              <a:t>Fine</a:t>
            </a:r>
            <a:br>
              <a:rPr lang="en-US" sz="2400">
                <a:latin typeface="Segoe UI Semibold"/>
              </a:rPr>
            </a:br>
            <a:r>
              <a:rPr lang="en-US" sz="2400">
                <a:latin typeface="Segoe UI Semibold"/>
              </a:rPr>
              <a:t>tuning</a:t>
            </a:r>
          </a:p>
        </p:txBody>
      </p:sp>
      <p:sp>
        <p:nvSpPr>
          <p:cNvPr id="11" name="TextBox 10">
            <a:extLst>
              <a:ext uri="{FF2B5EF4-FFF2-40B4-BE49-F238E27FC236}">
                <a16:creationId xmlns:a16="http://schemas.microsoft.com/office/drawing/2014/main" id="{33586446-7A6D-ADFA-498D-A2886788676D}"/>
              </a:ext>
            </a:extLst>
          </p:cNvPr>
          <p:cNvSpPr txBox="1"/>
          <p:nvPr/>
        </p:nvSpPr>
        <p:spPr>
          <a:xfrm>
            <a:off x="4453954" y="4222932"/>
            <a:ext cx="3291840" cy="498598"/>
          </a:xfrm>
          <a:prstGeom prst="rect">
            <a:avLst/>
          </a:prstGeom>
          <a:noFill/>
        </p:spPr>
        <p:txBody>
          <a:bodyPr wrap="square" lIns="0" tIns="0" rIns="0" bIns="0" rtlCol="0">
            <a:spAutoFit/>
          </a:bodyPr>
          <a:lstStyle/>
          <a:p>
            <a:pPr lvl="0" algn="ctr" defTabSz="932304" fontAlgn="base">
              <a:lnSpc>
                <a:spcPct val="90000"/>
              </a:lnSpc>
              <a:spcBef>
                <a:spcPct val="0"/>
              </a:spcBef>
              <a:spcAft>
                <a:spcPct val="0"/>
              </a:spcAft>
              <a:defRPr/>
            </a:pPr>
            <a:r>
              <a:rPr lang="en-US" sz="1800"/>
              <a:t>Learn new skills</a:t>
            </a:r>
          </a:p>
          <a:p>
            <a:pPr lvl="0" algn="ctr" defTabSz="932304" fontAlgn="base">
              <a:lnSpc>
                <a:spcPct val="90000"/>
              </a:lnSpc>
              <a:spcBef>
                <a:spcPct val="0"/>
              </a:spcBef>
              <a:spcAft>
                <a:spcPct val="0"/>
              </a:spcAft>
              <a:defRPr/>
            </a:pPr>
            <a:r>
              <a:rPr lang="en-US" sz="1800"/>
              <a:t>(permanently)</a:t>
            </a:r>
          </a:p>
        </p:txBody>
      </p:sp>
      <p:sp>
        <p:nvSpPr>
          <p:cNvPr id="14" name="Rounded Rectangle 5">
            <a:extLst>
              <a:ext uri="{FF2B5EF4-FFF2-40B4-BE49-F238E27FC236}">
                <a16:creationId xmlns:a16="http://schemas.microsoft.com/office/drawing/2014/main" id="{FDB04B0F-6668-98D8-2FF8-EFC45C021656}"/>
              </a:ext>
              <a:ext uri="{C183D7F6-B498-43B3-948B-1728B52AA6E4}">
                <adec:decorative xmlns:adec="http://schemas.microsoft.com/office/drawing/2017/decorative" val="1"/>
              </a:ext>
            </a:extLst>
          </p:cNvPr>
          <p:cNvSpPr/>
          <p:nvPr/>
        </p:nvSpPr>
        <p:spPr bwMode="auto">
          <a:xfrm>
            <a:off x="8097447" y="2039889"/>
            <a:ext cx="3291840" cy="3644855"/>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25" name="Oval 24">
            <a:extLst>
              <a:ext uri="{FF2B5EF4-FFF2-40B4-BE49-F238E27FC236}">
                <a16:creationId xmlns:a16="http://schemas.microsoft.com/office/drawing/2014/main" id="{52D621B0-CF60-9355-FB17-1BD9400D6690}"/>
              </a:ext>
              <a:ext uri="{C183D7F6-B498-43B3-948B-1728B52AA6E4}">
                <adec:decorative xmlns:adec="http://schemas.microsoft.com/office/drawing/2017/decorative" val="1"/>
              </a:ext>
            </a:extLst>
          </p:cNvPr>
          <p:cNvSpPr/>
          <p:nvPr/>
        </p:nvSpPr>
        <p:spPr bwMode="auto">
          <a:xfrm>
            <a:off x="9073981" y="1625102"/>
            <a:ext cx="1338773" cy="1338773"/>
          </a:xfrm>
          <a:prstGeom prst="ellipse">
            <a:avLst/>
          </a:prstGeom>
          <a:gradFill flip="none" rotWithShape="1">
            <a:gsLst>
              <a:gs pos="0">
                <a:srgbClr val="FF5C39"/>
              </a:gs>
              <a:gs pos="80000">
                <a:srgbClr val="C03BC4"/>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00"/>
            <a:endParaRPr lang="en-US" sz="700" err="1">
              <a:solidFill>
                <a:srgbClr val="FFFFFF"/>
              </a:solidFill>
              <a:latin typeface="Segoe UI"/>
            </a:endParaRPr>
          </a:p>
        </p:txBody>
      </p:sp>
      <p:sp>
        <p:nvSpPr>
          <p:cNvPr id="21" name="Graphic 16" descr="Book with plus sign icon">
            <a:extLst>
              <a:ext uri="{FF2B5EF4-FFF2-40B4-BE49-F238E27FC236}">
                <a16:creationId xmlns:a16="http://schemas.microsoft.com/office/drawing/2014/main" id="{9BB6D89C-578F-9531-D800-1280C62E48CD}"/>
              </a:ext>
            </a:extLst>
          </p:cNvPr>
          <p:cNvSpPr/>
          <p:nvPr/>
        </p:nvSpPr>
        <p:spPr>
          <a:xfrm>
            <a:off x="9496945" y="2035745"/>
            <a:ext cx="492845" cy="517486"/>
          </a:xfrm>
          <a:custGeom>
            <a:avLst/>
            <a:gdLst>
              <a:gd name="connsiteX0" fmla="*/ 57942 w 463532"/>
              <a:gd name="connsiteY0" fmla="*/ 0 h 486709"/>
              <a:gd name="connsiteX1" fmla="*/ 0 w 463532"/>
              <a:gd name="connsiteY1" fmla="*/ 57942 h 486709"/>
              <a:gd name="connsiteX2" fmla="*/ 0 w 463532"/>
              <a:gd name="connsiteY2" fmla="*/ 405591 h 486709"/>
              <a:gd name="connsiteX3" fmla="*/ 57942 w 463532"/>
              <a:gd name="connsiteY3" fmla="*/ 463533 h 486709"/>
              <a:gd name="connsiteX4" fmla="*/ 227363 w 463532"/>
              <a:gd name="connsiteY4" fmla="*/ 463533 h 486709"/>
              <a:gd name="connsiteX5" fmla="*/ 202378 w 463532"/>
              <a:gd name="connsiteY5" fmla="*/ 428768 h 486709"/>
              <a:gd name="connsiteX6" fmla="*/ 57942 w 463532"/>
              <a:gd name="connsiteY6" fmla="*/ 428768 h 486709"/>
              <a:gd name="connsiteX7" fmla="*/ 34765 w 463532"/>
              <a:gd name="connsiteY7" fmla="*/ 405591 h 486709"/>
              <a:gd name="connsiteX8" fmla="*/ 192667 w 463532"/>
              <a:gd name="connsiteY8" fmla="*/ 405591 h 486709"/>
              <a:gd name="connsiteX9" fmla="*/ 289548 w 463532"/>
              <a:gd name="connsiteY9" fmla="*/ 215844 h 486709"/>
              <a:gd name="connsiteX10" fmla="*/ 382414 w 463532"/>
              <a:gd name="connsiteY10" fmla="*/ 215844 h 486709"/>
              <a:gd name="connsiteX11" fmla="*/ 382414 w 463532"/>
              <a:gd name="connsiteY11" fmla="*/ 57942 h 486709"/>
              <a:gd name="connsiteX12" fmla="*/ 324473 w 463532"/>
              <a:gd name="connsiteY12" fmla="*/ 0 h 486709"/>
              <a:gd name="connsiteX13" fmla="*/ 57942 w 463532"/>
              <a:gd name="connsiteY13" fmla="*/ 0 h 486709"/>
              <a:gd name="connsiteX14" fmla="*/ 92707 w 463532"/>
              <a:gd name="connsiteY14" fmla="*/ 69530 h 486709"/>
              <a:gd name="connsiteX15" fmla="*/ 278120 w 463532"/>
              <a:gd name="connsiteY15" fmla="*/ 69530 h 486709"/>
              <a:gd name="connsiteX16" fmla="*/ 301296 w 463532"/>
              <a:gd name="connsiteY16" fmla="*/ 92707 h 486709"/>
              <a:gd name="connsiteX17" fmla="*/ 301296 w 463532"/>
              <a:gd name="connsiteY17" fmla="*/ 115883 h 486709"/>
              <a:gd name="connsiteX18" fmla="*/ 278120 w 463532"/>
              <a:gd name="connsiteY18" fmla="*/ 139060 h 486709"/>
              <a:gd name="connsiteX19" fmla="*/ 92707 w 463532"/>
              <a:gd name="connsiteY19" fmla="*/ 139060 h 486709"/>
              <a:gd name="connsiteX20" fmla="*/ 69530 w 463532"/>
              <a:gd name="connsiteY20" fmla="*/ 115883 h 486709"/>
              <a:gd name="connsiteX21" fmla="*/ 69530 w 463532"/>
              <a:gd name="connsiteY21" fmla="*/ 92707 h 486709"/>
              <a:gd name="connsiteX22" fmla="*/ 92707 w 463532"/>
              <a:gd name="connsiteY22" fmla="*/ 69530 h 486709"/>
              <a:gd name="connsiteX23" fmla="*/ 463533 w 463532"/>
              <a:gd name="connsiteY23" fmla="*/ 359238 h 486709"/>
              <a:gd name="connsiteX24" fmla="*/ 336061 w 463532"/>
              <a:gd name="connsiteY24" fmla="*/ 231766 h 486709"/>
              <a:gd name="connsiteX25" fmla="*/ 208590 w 463532"/>
              <a:gd name="connsiteY25" fmla="*/ 359238 h 486709"/>
              <a:gd name="connsiteX26" fmla="*/ 336061 w 463532"/>
              <a:gd name="connsiteY26" fmla="*/ 486709 h 486709"/>
              <a:gd name="connsiteX27" fmla="*/ 463533 w 463532"/>
              <a:gd name="connsiteY27" fmla="*/ 359238 h 486709"/>
              <a:gd name="connsiteX28" fmla="*/ 347649 w 463532"/>
              <a:gd name="connsiteY28" fmla="*/ 370826 h 486709"/>
              <a:gd name="connsiteX29" fmla="*/ 347673 w 463532"/>
              <a:gd name="connsiteY29" fmla="*/ 428837 h 486709"/>
              <a:gd name="connsiteX30" fmla="*/ 336084 w 463532"/>
              <a:gd name="connsiteY30" fmla="*/ 440425 h 486709"/>
              <a:gd name="connsiteX31" fmla="*/ 324496 w 463532"/>
              <a:gd name="connsiteY31" fmla="*/ 428837 h 486709"/>
              <a:gd name="connsiteX32" fmla="*/ 324496 w 463532"/>
              <a:gd name="connsiteY32" fmla="*/ 370826 h 486709"/>
              <a:gd name="connsiteX33" fmla="*/ 266439 w 463532"/>
              <a:gd name="connsiteY33" fmla="*/ 370826 h 486709"/>
              <a:gd name="connsiteX34" fmla="*/ 254850 w 463532"/>
              <a:gd name="connsiteY34" fmla="*/ 359238 h 486709"/>
              <a:gd name="connsiteX35" fmla="*/ 266439 w 463532"/>
              <a:gd name="connsiteY35" fmla="*/ 347649 h 486709"/>
              <a:gd name="connsiteX36" fmla="*/ 324473 w 463532"/>
              <a:gd name="connsiteY36" fmla="*/ 347649 h 486709"/>
              <a:gd name="connsiteX37" fmla="*/ 324473 w 463532"/>
              <a:gd name="connsiteY37" fmla="*/ 289708 h 486709"/>
              <a:gd name="connsiteX38" fmla="*/ 336061 w 463532"/>
              <a:gd name="connsiteY38" fmla="*/ 278120 h 486709"/>
              <a:gd name="connsiteX39" fmla="*/ 347649 w 463532"/>
              <a:gd name="connsiteY39" fmla="*/ 289708 h 486709"/>
              <a:gd name="connsiteX40" fmla="*/ 347649 w 463532"/>
              <a:gd name="connsiteY40" fmla="*/ 347649 h 486709"/>
              <a:gd name="connsiteX41" fmla="*/ 405660 w 463532"/>
              <a:gd name="connsiteY41" fmla="*/ 347649 h 486709"/>
              <a:gd name="connsiteX42" fmla="*/ 417249 w 463532"/>
              <a:gd name="connsiteY42" fmla="*/ 359238 h 486709"/>
              <a:gd name="connsiteX43" fmla="*/ 405660 w 463532"/>
              <a:gd name="connsiteY43" fmla="*/ 370826 h 486709"/>
              <a:gd name="connsiteX44" fmla="*/ 347673 w 463532"/>
              <a:gd name="connsiteY44" fmla="*/ 370826 h 486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63532" h="486709">
                <a:moveTo>
                  <a:pt x="57942" y="0"/>
                </a:moveTo>
                <a:cubicBezTo>
                  <a:pt x="25941" y="0"/>
                  <a:pt x="0" y="25941"/>
                  <a:pt x="0" y="57942"/>
                </a:cubicBezTo>
                <a:lnTo>
                  <a:pt x="0" y="405591"/>
                </a:lnTo>
                <a:cubicBezTo>
                  <a:pt x="0" y="437591"/>
                  <a:pt x="25941" y="463533"/>
                  <a:pt x="57942" y="463533"/>
                </a:cubicBezTo>
                <a:lnTo>
                  <a:pt x="227363" y="463533"/>
                </a:lnTo>
                <a:cubicBezTo>
                  <a:pt x="217427" y="453189"/>
                  <a:pt x="209014" y="441482"/>
                  <a:pt x="202378" y="428768"/>
                </a:cubicBezTo>
                <a:lnTo>
                  <a:pt x="57942" y="428768"/>
                </a:lnTo>
                <a:cubicBezTo>
                  <a:pt x="45142" y="428768"/>
                  <a:pt x="34765" y="418391"/>
                  <a:pt x="34765" y="405591"/>
                </a:cubicBezTo>
                <a:lnTo>
                  <a:pt x="192667" y="405591"/>
                </a:lnTo>
                <a:cubicBezTo>
                  <a:pt x="167022" y="326440"/>
                  <a:pt x="210397" y="241489"/>
                  <a:pt x="289548" y="215844"/>
                </a:cubicBezTo>
                <a:cubicBezTo>
                  <a:pt x="319731" y="206066"/>
                  <a:pt x="352231" y="206066"/>
                  <a:pt x="382414" y="215844"/>
                </a:cubicBezTo>
                <a:lnTo>
                  <a:pt x="382414" y="57942"/>
                </a:lnTo>
                <a:cubicBezTo>
                  <a:pt x="382414" y="25941"/>
                  <a:pt x="356473" y="0"/>
                  <a:pt x="324473" y="0"/>
                </a:cubicBezTo>
                <a:lnTo>
                  <a:pt x="57942" y="0"/>
                </a:lnTo>
                <a:close/>
                <a:moveTo>
                  <a:pt x="92707" y="69530"/>
                </a:moveTo>
                <a:lnTo>
                  <a:pt x="278120" y="69530"/>
                </a:lnTo>
                <a:cubicBezTo>
                  <a:pt x="290920" y="69530"/>
                  <a:pt x="301296" y="79907"/>
                  <a:pt x="301296" y="92707"/>
                </a:cubicBezTo>
                <a:lnTo>
                  <a:pt x="301296" y="115883"/>
                </a:lnTo>
                <a:cubicBezTo>
                  <a:pt x="301296" y="128683"/>
                  <a:pt x="290920" y="139060"/>
                  <a:pt x="278120" y="139060"/>
                </a:cubicBezTo>
                <a:lnTo>
                  <a:pt x="92707" y="139060"/>
                </a:lnTo>
                <a:cubicBezTo>
                  <a:pt x="79907" y="139060"/>
                  <a:pt x="69530" y="128683"/>
                  <a:pt x="69530" y="115883"/>
                </a:cubicBezTo>
                <a:lnTo>
                  <a:pt x="69530" y="92707"/>
                </a:lnTo>
                <a:cubicBezTo>
                  <a:pt x="69530" y="79907"/>
                  <a:pt x="79907" y="69530"/>
                  <a:pt x="92707" y="69530"/>
                </a:cubicBezTo>
                <a:close/>
                <a:moveTo>
                  <a:pt x="463533" y="359238"/>
                </a:moveTo>
                <a:cubicBezTo>
                  <a:pt x="463533" y="288836"/>
                  <a:pt x="406462" y="231766"/>
                  <a:pt x="336061" y="231766"/>
                </a:cubicBezTo>
                <a:cubicBezTo>
                  <a:pt x="265660" y="231766"/>
                  <a:pt x="208590" y="288836"/>
                  <a:pt x="208590" y="359238"/>
                </a:cubicBezTo>
                <a:cubicBezTo>
                  <a:pt x="208590" y="429639"/>
                  <a:pt x="265660" y="486709"/>
                  <a:pt x="336061" y="486709"/>
                </a:cubicBezTo>
                <a:cubicBezTo>
                  <a:pt x="406462" y="486709"/>
                  <a:pt x="463533" y="429639"/>
                  <a:pt x="463533" y="359238"/>
                </a:cubicBezTo>
                <a:close/>
                <a:moveTo>
                  <a:pt x="347649" y="370826"/>
                </a:moveTo>
                <a:lnTo>
                  <a:pt x="347673" y="428837"/>
                </a:lnTo>
                <a:cubicBezTo>
                  <a:pt x="347673" y="435236"/>
                  <a:pt x="342483" y="440425"/>
                  <a:pt x="336084" y="440425"/>
                </a:cubicBezTo>
                <a:cubicBezTo>
                  <a:pt x="329685" y="440425"/>
                  <a:pt x="324496" y="435236"/>
                  <a:pt x="324496" y="428837"/>
                </a:cubicBezTo>
                <a:lnTo>
                  <a:pt x="324496" y="370826"/>
                </a:lnTo>
                <a:lnTo>
                  <a:pt x="266439" y="370826"/>
                </a:lnTo>
                <a:cubicBezTo>
                  <a:pt x="260039" y="370826"/>
                  <a:pt x="254850" y="365637"/>
                  <a:pt x="254850" y="359238"/>
                </a:cubicBezTo>
                <a:cubicBezTo>
                  <a:pt x="254850" y="352839"/>
                  <a:pt x="260039" y="347649"/>
                  <a:pt x="266439" y="347649"/>
                </a:cubicBezTo>
                <a:lnTo>
                  <a:pt x="324473" y="347649"/>
                </a:lnTo>
                <a:lnTo>
                  <a:pt x="324473" y="289708"/>
                </a:lnTo>
                <a:cubicBezTo>
                  <a:pt x="324473" y="283309"/>
                  <a:pt x="329662" y="278120"/>
                  <a:pt x="336061" y="278120"/>
                </a:cubicBezTo>
                <a:cubicBezTo>
                  <a:pt x="342460" y="278120"/>
                  <a:pt x="347649" y="283309"/>
                  <a:pt x="347649" y="289708"/>
                </a:cubicBezTo>
                <a:lnTo>
                  <a:pt x="347649" y="347649"/>
                </a:lnTo>
                <a:lnTo>
                  <a:pt x="405660" y="347649"/>
                </a:lnTo>
                <a:cubicBezTo>
                  <a:pt x="412060" y="347649"/>
                  <a:pt x="417249" y="352839"/>
                  <a:pt x="417249" y="359238"/>
                </a:cubicBezTo>
                <a:cubicBezTo>
                  <a:pt x="417249" y="365637"/>
                  <a:pt x="412060" y="370826"/>
                  <a:pt x="405660" y="370826"/>
                </a:cubicBezTo>
                <a:lnTo>
                  <a:pt x="347673" y="37082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base">
              <a:lnSpc>
                <a:spcPct val="90000"/>
              </a:lnSpc>
              <a:spcBef>
                <a:spcPct val="0"/>
              </a:spcBef>
              <a:spcAft>
                <a:spcPct val="0"/>
              </a:spcAft>
            </a:pPr>
            <a:endParaRPr lang="en-US" sz="1600" b="1">
              <a:ln w="3175">
                <a:noFill/>
              </a:ln>
              <a:gradFill>
                <a:gsLst>
                  <a:gs pos="71910">
                    <a:srgbClr val="000000"/>
                  </a:gs>
                  <a:gs pos="53933">
                    <a:srgbClr val="000000"/>
                  </a:gs>
                </a:gsLst>
                <a:path path="circle">
                  <a:fillToRect l="100000" b="100000"/>
                </a:path>
              </a:gradFill>
              <a:latin typeface="+mj-lt"/>
              <a:cs typeface="Segoe UI" pitchFamily="34" charset="0"/>
            </a:endParaRPr>
          </a:p>
        </p:txBody>
      </p:sp>
      <p:sp>
        <p:nvSpPr>
          <p:cNvPr id="6" name="TextBox 5">
            <a:extLst>
              <a:ext uri="{FF2B5EF4-FFF2-40B4-BE49-F238E27FC236}">
                <a16:creationId xmlns:a16="http://schemas.microsoft.com/office/drawing/2014/main" id="{B0DC43D9-B570-94A4-AB85-334FEFB5B4FB}"/>
              </a:ext>
            </a:extLst>
          </p:cNvPr>
          <p:cNvSpPr txBox="1"/>
          <p:nvPr/>
        </p:nvSpPr>
        <p:spPr>
          <a:xfrm>
            <a:off x="8097447" y="3429000"/>
            <a:ext cx="3291840" cy="664797"/>
          </a:xfrm>
          <a:prstGeom prst="rect">
            <a:avLst/>
          </a:prstGeom>
          <a:noFill/>
        </p:spPr>
        <p:txBody>
          <a:bodyPr wrap="square" lIns="0" tIns="0" rIns="0" bIns="0" rtlCol="0">
            <a:spAutoFit/>
          </a:bodyPr>
          <a:lstStyle/>
          <a:p>
            <a:pPr lvl="0" algn="ctr" defTabSz="932304" fontAlgn="base">
              <a:lnSpc>
                <a:spcPct val="90000"/>
              </a:lnSpc>
              <a:spcBef>
                <a:spcPct val="0"/>
              </a:spcBef>
              <a:spcAft>
                <a:spcPct val="0"/>
              </a:spcAft>
              <a:defRPr/>
            </a:pPr>
            <a:r>
              <a:rPr lang="en-US" sz="2400">
                <a:latin typeface="Segoe UI Semibold"/>
              </a:rPr>
              <a:t>Retrieval</a:t>
            </a:r>
            <a:br>
              <a:rPr lang="en-US" sz="2400">
                <a:latin typeface="Segoe UI Semibold"/>
              </a:rPr>
            </a:br>
            <a:r>
              <a:rPr lang="en-US" sz="2400">
                <a:latin typeface="Segoe UI Semibold"/>
              </a:rPr>
              <a:t>augmentation</a:t>
            </a:r>
          </a:p>
        </p:txBody>
      </p:sp>
      <p:sp>
        <p:nvSpPr>
          <p:cNvPr id="12" name="TextBox 11">
            <a:extLst>
              <a:ext uri="{FF2B5EF4-FFF2-40B4-BE49-F238E27FC236}">
                <a16:creationId xmlns:a16="http://schemas.microsoft.com/office/drawing/2014/main" id="{1EBF2F15-BC6D-693C-B214-525DAF1D464C}"/>
              </a:ext>
            </a:extLst>
          </p:cNvPr>
          <p:cNvSpPr txBox="1"/>
          <p:nvPr/>
        </p:nvSpPr>
        <p:spPr>
          <a:xfrm>
            <a:off x="8097447" y="4222932"/>
            <a:ext cx="3291840" cy="498598"/>
          </a:xfrm>
          <a:prstGeom prst="rect">
            <a:avLst/>
          </a:prstGeom>
          <a:noFill/>
        </p:spPr>
        <p:txBody>
          <a:bodyPr wrap="square" lIns="0" tIns="0" rIns="0" bIns="0" rtlCol="0">
            <a:spAutoFit/>
          </a:bodyPr>
          <a:lstStyle/>
          <a:p>
            <a:pPr lvl="0" algn="ctr" defTabSz="932304" fontAlgn="base">
              <a:lnSpc>
                <a:spcPct val="90000"/>
              </a:lnSpc>
              <a:spcBef>
                <a:spcPct val="0"/>
              </a:spcBef>
              <a:spcAft>
                <a:spcPct val="0"/>
              </a:spcAft>
              <a:defRPr/>
            </a:pPr>
            <a:r>
              <a:rPr lang="en-US" sz="1800"/>
              <a:t>Learn new facts</a:t>
            </a:r>
          </a:p>
          <a:p>
            <a:pPr lvl="0" algn="ctr" defTabSz="932304" fontAlgn="base">
              <a:lnSpc>
                <a:spcPct val="90000"/>
              </a:lnSpc>
              <a:spcBef>
                <a:spcPct val="0"/>
              </a:spcBef>
              <a:spcAft>
                <a:spcPct val="0"/>
              </a:spcAft>
              <a:defRPr/>
            </a:pPr>
            <a:r>
              <a:rPr lang="en-US" sz="1800"/>
              <a:t>(temporarily)</a:t>
            </a:r>
          </a:p>
        </p:txBody>
      </p:sp>
      <p:sp>
        <p:nvSpPr>
          <p:cNvPr id="8" name="Oval 7">
            <a:extLst>
              <a:ext uri="{FF2B5EF4-FFF2-40B4-BE49-F238E27FC236}">
                <a16:creationId xmlns:a16="http://schemas.microsoft.com/office/drawing/2014/main" id="{83B9F687-5AE8-7163-7DCD-4DD0A9822A31}"/>
              </a:ext>
              <a:ext uri="{C183D7F6-B498-43B3-948B-1728B52AA6E4}">
                <adec:decorative xmlns:adec="http://schemas.microsoft.com/office/drawing/2017/decorative" val="1"/>
              </a:ext>
            </a:extLst>
          </p:cNvPr>
          <p:cNvSpPr/>
          <p:nvPr/>
        </p:nvSpPr>
        <p:spPr bwMode="auto">
          <a:xfrm>
            <a:off x="10357942" y="-1697572"/>
            <a:ext cx="1338773" cy="1338773"/>
          </a:xfrm>
          <a:prstGeom prst="ellipse">
            <a:avLst/>
          </a:prstGeom>
          <a:gradFill flip="none" rotWithShape="1">
            <a:gsLst>
              <a:gs pos="0">
                <a:srgbClr val="C03BC4"/>
              </a:gs>
              <a:gs pos="80000">
                <a:srgbClr val="0078D4"/>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700" err="1">
              <a:solidFill>
                <a:srgbClr val="FFFFFF"/>
              </a:solidFill>
              <a:latin typeface="Segoe UI"/>
            </a:endParaRPr>
          </a:p>
        </p:txBody>
      </p:sp>
      <p:sp>
        <p:nvSpPr>
          <p:cNvPr id="9" name="Graphic 16" descr="Book with plus sign icon">
            <a:extLst>
              <a:ext uri="{FF2B5EF4-FFF2-40B4-BE49-F238E27FC236}">
                <a16:creationId xmlns:a16="http://schemas.microsoft.com/office/drawing/2014/main" id="{DC242482-D49D-5EA2-457D-4865EA8F360C}"/>
              </a:ext>
            </a:extLst>
          </p:cNvPr>
          <p:cNvSpPr/>
          <p:nvPr/>
        </p:nvSpPr>
        <p:spPr>
          <a:xfrm>
            <a:off x="10732353" y="-1396670"/>
            <a:ext cx="666991" cy="700339"/>
          </a:xfrm>
          <a:custGeom>
            <a:avLst/>
            <a:gdLst>
              <a:gd name="connsiteX0" fmla="*/ 57942 w 463532"/>
              <a:gd name="connsiteY0" fmla="*/ 0 h 486709"/>
              <a:gd name="connsiteX1" fmla="*/ 0 w 463532"/>
              <a:gd name="connsiteY1" fmla="*/ 57942 h 486709"/>
              <a:gd name="connsiteX2" fmla="*/ 0 w 463532"/>
              <a:gd name="connsiteY2" fmla="*/ 405591 h 486709"/>
              <a:gd name="connsiteX3" fmla="*/ 57942 w 463532"/>
              <a:gd name="connsiteY3" fmla="*/ 463533 h 486709"/>
              <a:gd name="connsiteX4" fmla="*/ 227363 w 463532"/>
              <a:gd name="connsiteY4" fmla="*/ 463533 h 486709"/>
              <a:gd name="connsiteX5" fmla="*/ 202378 w 463532"/>
              <a:gd name="connsiteY5" fmla="*/ 428768 h 486709"/>
              <a:gd name="connsiteX6" fmla="*/ 57942 w 463532"/>
              <a:gd name="connsiteY6" fmla="*/ 428768 h 486709"/>
              <a:gd name="connsiteX7" fmla="*/ 34765 w 463532"/>
              <a:gd name="connsiteY7" fmla="*/ 405591 h 486709"/>
              <a:gd name="connsiteX8" fmla="*/ 192667 w 463532"/>
              <a:gd name="connsiteY8" fmla="*/ 405591 h 486709"/>
              <a:gd name="connsiteX9" fmla="*/ 289548 w 463532"/>
              <a:gd name="connsiteY9" fmla="*/ 215844 h 486709"/>
              <a:gd name="connsiteX10" fmla="*/ 382414 w 463532"/>
              <a:gd name="connsiteY10" fmla="*/ 215844 h 486709"/>
              <a:gd name="connsiteX11" fmla="*/ 382414 w 463532"/>
              <a:gd name="connsiteY11" fmla="*/ 57942 h 486709"/>
              <a:gd name="connsiteX12" fmla="*/ 324473 w 463532"/>
              <a:gd name="connsiteY12" fmla="*/ 0 h 486709"/>
              <a:gd name="connsiteX13" fmla="*/ 57942 w 463532"/>
              <a:gd name="connsiteY13" fmla="*/ 0 h 486709"/>
              <a:gd name="connsiteX14" fmla="*/ 92707 w 463532"/>
              <a:gd name="connsiteY14" fmla="*/ 69530 h 486709"/>
              <a:gd name="connsiteX15" fmla="*/ 278120 w 463532"/>
              <a:gd name="connsiteY15" fmla="*/ 69530 h 486709"/>
              <a:gd name="connsiteX16" fmla="*/ 301296 w 463532"/>
              <a:gd name="connsiteY16" fmla="*/ 92707 h 486709"/>
              <a:gd name="connsiteX17" fmla="*/ 301296 w 463532"/>
              <a:gd name="connsiteY17" fmla="*/ 115883 h 486709"/>
              <a:gd name="connsiteX18" fmla="*/ 278120 w 463532"/>
              <a:gd name="connsiteY18" fmla="*/ 139060 h 486709"/>
              <a:gd name="connsiteX19" fmla="*/ 92707 w 463532"/>
              <a:gd name="connsiteY19" fmla="*/ 139060 h 486709"/>
              <a:gd name="connsiteX20" fmla="*/ 69530 w 463532"/>
              <a:gd name="connsiteY20" fmla="*/ 115883 h 486709"/>
              <a:gd name="connsiteX21" fmla="*/ 69530 w 463532"/>
              <a:gd name="connsiteY21" fmla="*/ 92707 h 486709"/>
              <a:gd name="connsiteX22" fmla="*/ 92707 w 463532"/>
              <a:gd name="connsiteY22" fmla="*/ 69530 h 486709"/>
              <a:gd name="connsiteX23" fmla="*/ 463533 w 463532"/>
              <a:gd name="connsiteY23" fmla="*/ 359238 h 486709"/>
              <a:gd name="connsiteX24" fmla="*/ 336061 w 463532"/>
              <a:gd name="connsiteY24" fmla="*/ 231766 h 486709"/>
              <a:gd name="connsiteX25" fmla="*/ 208590 w 463532"/>
              <a:gd name="connsiteY25" fmla="*/ 359238 h 486709"/>
              <a:gd name="connsiteX26" fmla="*/ 336061 w 463532"/>
              <a:gd name="connsiteY26" fmla="*/ 486709 h 486709"/>
              <a:gd name="connsiteX27" fmla="*/ 463533 w 463532"/>
              <a:gd name="connsiteY27" fmla="*/ 359238 h 486709"/>
              <a:gd name="connsiteX28" fmla="*/ 347649 w 463532"/>
              <a:gd name="connsiteY28" fmla="*/ 370826 h 486709"/>
              <a:gd name="connsiteX29" fmla="*/ 347673 w 463532"/>
              <a:gd name="connsiteY29" fmla="*/ 428837 h 486709"/>
              <a:gd name="connsiteX30" fmla="*/ 336084 w 463532"/>
              <a:gd name="connsiteY30" fmla="*/ 440425 h 486709"/>
              <a:gd name="connsiteX31" fmla="*/ 324496 w 463532"/>
              <a:gd name="connsiteY31" fmla="*/ 428837 h 486709"/>
              <a:gd name="connsiteX32" fmla="*/ 324496 w 463532"/>
              <a:gd name="connsiteY32" fmla="*/ 370826 h 486709"/>
              <a:gd name="connsiteX33" fmla="*/ 266439 w 463532"/>
              <a:gd name="connsiteY33" fmla="*/ 370826 h 486709"/>
              <a:gd name="connsiteX34" fmla="*/ 254850 w 463532"/>
              <a:gd name="connsiteY34" fmla="*/ 359238 h 486709"/>
              <a:gd name="connsiteX35" fmla="*/ 266439 w 463532"/>
              <a:gd name="connsiteY35" fmla="*/ 347649 h 486709"/>
              <a:gd name="connsiteX36" fmla="*/ 324473 w 463532"/>
              <a:gd name="connsiteY36" fmla="*/ 347649 h 486709"/>
              <a:gd name="connsiteX37" fmla="*/ 324473 w 463532"/>
              <a:gd name="connsiteY37" fmla="*/ 289708 h 486709"/>
              <a:gd name="connsiteX38" fmla="*/ 336061 w 463532"/>
              <a:gd name="connsiteY38" fmla="*/ 278120 h 486709"/>
              <a:gd name="connsiteX39" fmla="*/ 347649 w 463532"/>
              <a:gd name="connsiteY39" fmla="*/ 289708 h 486709"/>
              <a:gd name="connsiteX40" fmla="*/ 347649 w 463532"/>
              <a:gd name="connsiteY40" fmla="*/ 347649 h 486709"/>
              <a:gd name="connsiteX41" fmla="*/ 405660 w 463532"/>
              <a:gd name="connsiteY41" fmla="*/ 347649 h 486709"/>
              <a:gd name="connsiteX42" fmla="*/ 417249 w 463532"/>
              <a:gd name="connsiteY42" fmla="*/ 359238 h 486709"/>
              <a:gd name="connsiteX43" fmla="*/ 405660 w 463532"/>
              <a:gd name="connsiteY43" fmla="*/ 370826 h 486709"/>
              <a:gd name="connsiteX44" fmla="*/ 347673 w 463532"/>
              <a:gd name="connsiteY44" fmla="*/ 370826 h 486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63532" h="486709">
                <a:moveTo>
                  <a:pt x="57942" y="0"/>
                </a:moveTo>
                <a:cubicBezTo>
                  <a:pt x="25941" y="0"/>
                  <a:pt x="0" y="25941"/>
                  <a:pt x="0" y="57942"/>
                </a:cubicBezTo>
                <a:lnTo>
                  <a:pt x="0" y="405591"/>
                </a:lnTo>
                <a:cubicBezTo>
                  <a:pt x="0" y="437591"/>
                  <a:pt x="25941" y="463533"/>
                  <a:pt x="57942" y="463533"/>
                </a:cubicBezTo>
                <a:lnTo>
                  <a:pt x="227363" y="463533"/>
                </a:lnTo>
                <a:cubicBezTo>
                  <a:pt x="217427" y="453189"/>
                  <a:pt x="209014" y="441482"/>
                  <a:pt x="202378" y="428768"/>
                </a:cubicBezTo>
                <a:lnTo>
                  <a:pt x="57942" y="428768"/>
                </a:lnTo>
                <a:cubicBezTo>
                  <a:pt x="45142" y="428768"/>
                  <a:pt x="34765" y="418391"/>
                  <a:pt x="34765" y="405591"/>
                </a:cubicBezTo>
                <a:lnTo>
                  <a:pt x="192667" y="405591"/>
                </a:lnTo>
                <a:cubicBezTo>
                  <a:pt x="167022" y="326440"/>
                  <a:pt x="210397" y="241489"/>
                  <a:pt x="289548" y="215844"/>
                </a:cubicBezTo>
                <a:cubicBezTo>
                  <a:pt x="319731" y="206066"/>
                  <a:pt x="352231" y="206066"/>
                  <a:pt x="382414" y="215844"/>
                </a:cubicBezTo>
                <a:lnTo>
                  <a:pt x="382414" y="57942"/>
                </a:lnTo>
                <a:cubicBezTo>
                  <a:pt x="382414" y="25941"/>
                  <a:pt x="356473" y="0"/>
                  <a:pt x="324473" y="0"/>
                </a:cubicBezTo>
                <a:lnTo>
                  <a:pt x="57942" y="0"/>
                </a:lnTo>
                <a:close/>
                <a:moveTo>
                  <a:pt x="92707" y="69530"/>
                </a:moveTo>
                <a:lnTo>
                  <a:pt x="278120" y="69530"/>
                </a:lnTo>
                <a:cubicBezTo>
                  <a:pt x="290920" y="69530"/>
                  <a:pt x="301296" y="79907"/>
                  <a:pt x="301296" y="92707"/>
                </a:cubicBezTo>
                <a:lnTo>
                  <a:pt x="301296" y="115883"/>
                </a:lnTo>
                <a:cubicBezTo>
                  <a:pt x="301296" y="128683"/>
                  <a:pt x="290920" y="139060"/>
                  <a:pt x="278120" y="139060"/>
                </a:cubicBezTo>
                <a:lnTo>
                  <a:pt x="92707" y="139060"/>
                </a:lnTo>
                <a:cubicBezTo>
                  <a:pt x="79907" y="139060"/>
                  <a:pt x="69530" y="128683"/>
                  <a:pt x="69530" y="115883"/>
                </a:cubicBezTo>
                <a:lnTo>
                  <a:pt x="69530" y="92707"/>
                </a:lnTo>
                <a:cubicBezTo>
                  <a:pt x="69530" y="79907"/>
                  <a:pt x="79907" y="69530"/>
                  <a:pt x="92707" y="69530"/>
                </a:cubicBezTo>
                <a:close/>
                <a:moveTo>
                  <a:pt x="463533" y="359238"/>
                </a:moveTo>
                <a:cubicBezTo>
                  <a:pt x="463533" y="288836"/>
                  <a:pt x="406462" y="231766"/>
                  <a:pt x="336061" y="231766"/>
                </a:cubicBezTo>
                <a:cubicBezTo>
                  <a:pt x="265660" y="231766"/>
                  <a:pt x="208590" y="288836"/>
                  <a:pt x="208590" y="359238"/>
                </a:cubicBezTo>
                <a:cubicBezTo>
                  <a:pt x="208590" y="429639"/>
                  <a:pt x="265660" y="486709"/>
                  <a:pt x="336061" y="486709"/>
                </a:cubicBezTo>
                <a:cubicBezTo>
                  <a:pt x="406462" y="486709"/>
                  <a:pt x="463533" y="429639"/>
                  <a:pt x="463533" y="359238"/>
                </a:cubicBezTo>
                <a:close/>
                <a:moveTo>
                  <a:pt x="347649" y="370826"/>
                </a:moveTo>
                <a:lnTo>
                  <a:pt x="347673" y="428837"/>
                </a:lnTo>
                <a:cubicBezTo>
                  <a:pt x="347673" y="435236"/>
                  <a:pt x="342483" y="440425"/>
                  <a:pt x="336084" y="440425"/>
                </a:cubicBezTo>
                <a:cubicBezTo>
                  <a:pt x="329685" y="440425"/>
                  <a:pt x="324496" y="435236"/>
                  <a:pt x="324496" y="428837"/>
                </a:cubicBezTo>
                <a:lnTo>
                  <a:pt x="324496" y="370826"/>
                </a:lnTo>
                <a:lnTo>
                  <a:pt x="266439" y="370826"/>
                </a:lnTo>
                <a:cubicBezTo>
                  <a:pt x="260039" y="370826"/>
                  <a:pt x="254850" y="365637"/>
                  <a:pt x="254850" y="359238"/>
                </a:cubicBezTo>
                <a:cubicBezTo>
                  <a:pt x="254850" y="352839"/>
                  <a:pt x="260039" y="347649"/>
                  <a:pt x="266439" y="347649"/>
                </a:cubicBezTo>
                <a:lnTo>
                  <a:pt x="324473" y="347649"/>
                </a:lnTo>
                <a:lnTo>
                  <a:pt x="324473" y="289708"/>
                </a:lnTo>
                <a:cubicBezTo>
                  <a:pt x="324473" y="283309"/>
                  <a:pt x="329662" y="278120"/>
                  <a:pt x="336061" y="278120"/>
                </a:cubicBezTo>
                <a:cubicBezTo>
                  <a:pt x="342460" y="278120"/>
                  <a:pt x="347649" y="283309"/>
                  <a:pt x="347649" y="289708"/>
                </a:cubicBezTo>
                <a:lnTo>
                  <a:pt x="347649" y="347649"/>
                </a:lnTo>
                <a:lnTo>
                  <a:pt x="405660" y="347649"/>
                </a:lnTo>
                <a:cubicBezTo>
                  <a:pt x="412060" y="347649"/>
                  <a:pt x="417249" y="352839"/>
                  <a:pt x="417249" y="359238"/>
                </a:cubicBezTo>
                <a:cubicBezTo>
                  <a:pt x="417249" y="365637"/>
                  <a:pt x="412060" y="370826"/>
                  <a:pt x="405660" y="370826"/>
                </a:cubicBezTo>
                <a:lnTo>
                  <a:pt x="347673" y="37082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base">
              <a:lnSpc>
                <a:spcPct val="90000"/>
              </a:lnSpc>
              <a:spcBef>
                <a:spcPct val="0"/>
              </a:spcBef>
              <a:spcAft>
                <a:spcPct val="0"/>
              </a:spcAft>
            </a:pPr>
            <a:endParaRPr lang="en-US" sz="1600" b="1">
              <a:ln w="3175">
                <a:noFill/>
              </a:ln>
              <a:gradFill>
                <a:gsLst>
                  <a:gs pos="71910">
                    <a:srgbClr val="000000"/>
                  </a:gs>
                  <a:gs pos="53933">
                    <a:srgbClr val="000000"/>
                  </a:gs>
                </a:gsLst>
                <a:path path="circle">
                  <a:fillToRect l="100000" b="100000"/>
                </a:path>
              </a:gradFill>
              <a:latin typeface="+mj-lt"/>
              <a:cs typeface="Segoe UI" pitchFamily="34" charset="0"/>
            </a:endParaRPr>
          </a:p>
        </p:txBody>
      </p:sp>
    </p:spTree>
    <p:extLst>
      <p:ext uri="{BB962C8B-B14F-4D97-AF65-F5344CB8AC3E}">
        <p14:creationId xmlns:p14="http://schemas.microsoft.com/office/powerpoint/2010/main" val="19995295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100000" fill="hold" grpId="1" nodeType="withEffect">
                                  <p:stCondLst>
                                    <p:cond delay="0"/>
                                  </p:stCondLst>
                                  <p:childTnLst>
                                    <p:animMotion origin="layout" path="M -3.54167E-6 7.40741E-7 L -3.54167E-6 0.03542 " pathEditMode="relative" rAng="0" ptsTypes="AA">
                                      <p:cBhvr>
                                        <p:cTn id="9" dur="700" spd="-100000" fill="hold"/>
                                        <p:tgtEl>
                                          <p:spTgt spid="3"/>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42" presetClass="path" presetSubtype="0" decel="100000" fill="hold" grpId="1" nodeType="withEffect">
                                  <p:stCondLst>
                                    <p:cond delay="0"/>
                                  </p:stCondLst>
                                  <p:childTnLst>
                                    <p:animMotion origin="layout" path="M 5E-6 7.40741E-7 L 5E-6 0.03542 " pathEditMode="relative" rAng="0" ptsTypes="AA">
                                      <p:cBhvr>
                                        <p:cTn id="14" dur="700" spd="-100000" fill="hold"/>
                                        <p:tgtEl>
                                          <p:spTgt spid="20"/>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42" presetClass="path" presetSubtype="0" decel="100000" fill="hold" grpId="1" nodeType="withEffect">
                                  <p:stCondLst>
                                    <p:cond delay="0"/>
                                  </p:stCondLst>
                                  <p:childTnLst>
                                    <p:animMotion origin="layout" path="M -3.54167E-6 7.40741E-7 L -3.54167E-6 0.03542 " pathEditMode="relative" rAng="0" ptsTypes="AA">
                                      <p:cBhvr>
                                        <p:cTn id="19" dur="700" spd="-100000" fill="hold"/>
                                        <p:tgtEl>
                                          <p:spTgt spid="10"/>
                                        </p:tgtEl>
                                        <p:attrNameLst>
                                          <p:attrName>ppt_x</p:attrName>
                                          <p:attrName>ppt_y</p:attrName>
                                        </p:attrNameLst>
                                      </p:cBhvr>
                                      <p:rCtr x="0" y="1759"/>
                                    </p:animMotion>
                                  </p:childTnLst>
                                </p:cTn>
                              </p:par>
                              <p:par>
                                <p:cTn id="20" presetID="10" presetClass="entr" presetSubtype="0" fill="hold" grpId="0" nodeType="withEffect">
                                  <p:stCondLst>
                                    <p:cond delay="10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42" presetClass="path" presetSubtype="0" decel="100000" fill="hold" grpId="1" nodeType="withEffect">
                                  <p:stCondLst>
                                    <p:cond delay="100"/>
                                  </p:stCondLst>
                                  <p:childTnLst>
                                    <p:animMotion origin="layout" path="M 0 -3.33333E-6 L 0 0.03542 " pathEditMode="relative" rAng="0" ptsTypes="AA">
                                      <p:cBhvr>
                                        <p:cTn id="24" dur="700" spd="-100000" fill="hold"/>
                                        <p:tgtEl>
                                          <p:spTgt spid="22"/>
                                        </p:tgtEl>
                                        <p:attrNameLst>
                                          <p:attrName>ppt_x</p:attrName>
                                          <p:attrName>ppt_y</p:attrName>
                                        </p:attrNameLst>
                                      </p:cBhvr>
                                      <p:rCtr x="0" y="1759"/>
                                    </p:animMotion>
                                  </p:childTnLst>
                                </p:cTn>
                              </p:par>
                              <p:par>
                                <p:cTn id="25" presetID="10" presetClass="entr" presetSubtype="0" fill="hold" grpId="0" nodeType="withEffect">
                                  <p:stCondLst>
                                    <p:cond delay="10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par>
                                <p:cTn id="28" presetID="42" presetClass="path" presetSubtype="0" decel="100000" fill="hold" grpId="1" nodeType="withEffect">
                                  <p:stCondLst>
                                    <p:cond delay="100"/>
                                  </p:stCondLst>
                                  <p:childTnLst>
                                    <p:animMotion origin="layout" path="M -3.54167E-6 7.40741E-7 L -3.54167E-6 0.03542 " pathEditMode="relative" rAng="0" ptsTypes="AA">
                                      <p:cBhvr>
                                        <p:cTn id="29" dur="700" spd="-100000" fill="hold"/>
                                        <p:tgtEl>
                                          <p:spTgt spid="4"/>
                                        </p:tgtEl>
                                        <p:attrNameLst>
                                          <p:attrName>ppt_x</p:attrName>
                                          <p:attrName>ppt_y</p:attrName>
                                        </p:attrNameLst>
                                      </p:cBhvr>
                                      <p:rCtr x="0" y="1759"/>
                                    </p:animMotion>
                                  </p:childTnLst>
                                </p:cTn>
                              </p:par>
                              <p:par>
                                <p:cTn id="30" presetID="10" presetClass="entr" presetSubtype="0" fill="hold" grpId="0" nodeType="withEffect">
                                  <p:stCondLst>
                                    <p:cond delay="1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42" presetClass="path" presetSubtype="0" decel="100000" fill="hold" grpId="1" nodeType="withEffect">
                                  <p:stCondLst>
                                    <p:cond delay="100"/>
                                  </p:stCondLst>
                                  <p:childTnLst>
                                    <p:animMotion origin="layout" path="M -4.16667E-7 -2.96296E-6 L -4.16667E-7 0.03542 " pathEditMode="relative" rAng="0" ptsTypes="AA">
                                      <p:cBhvr>
                                        <p:cTn id="34" dur="700" spd="-100000" fill="hold"/>
                                        <p:tgtEl>
                                          <p:spTgt spid="11"/>
                                        </p:tgtEl>
                                        <p:attrNameLst>
                                          <p:attrName>ppt_x</p:attrName>
                                          <p:attrName>ppt_y</p:attrName>
                                        </p:attrNameLst>
                                      </p:cBhvr>
                                      <p:rCtr x="0" y="1759"/>
                                    </p:animMotion>
                                  </p:childTnLst>
                                </p:cTn>
                              </p:par>
                              <p:par>
                                <p:cTn id="35" presetID="10" presetClass="entr" presetSubtype="0" fill="hold" grpId="0" nodeType="withEffect">
                                  <p:stCondLst>
                                    <p:cond delay="20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38" presetID="42" presetClass="path" presetSubtype="0" decel="100000" fill="hold" grpId="1" nodeType="withEffect">
                                  <p:stCondLst>
                                    <p:cond delay="200"/>
                                  </p:stCondLst>
                                  <p:childTnLst>
                                    <p:animMotion origin="layout" path="M 1.45833E-6 -7.40741E-7 L 1.45833E-6 0.03542 " pathEditMode="relative" rAng="0" ptsTypes="AA">
                                      <p:cBhvr>
                                        <p:cTn id="39" dur="700" spd="-100000" fill="hold"/>
                                        <p:tgtEl>
                                          <p:spTgt spid="21"/>
                                        </p:tgtEl>
                                        <p:attrNameLst>
                                          <p:attrName>ppt_x</p:attrName>
                                          <p:attrName>ppt_y</p:attrName>
                                        </p:attrNameLst>
                                      </p:cBhvr>
                                      <p:rCtr x="0" y="1759"/>
                                    </p:animMotion>
                                  </p:childTnLst>
                                </p:cTn>
                              </p:par>
                              <p:par>
                                <p:cTn id="40" presetID="10" presetClass="entr" presetSubtype="0" fill="hold" grpId="0" nodeType="withEffect">
                                  <p:stCondLst>
                                    <p:cond delay="20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500"/>
                                        <p:tgtEl>
                                          <p:spTgt spid="6"/>
                                        </p:tgtEl>
                                      </p:cBhvr>
                                    </p:animEffect>
                                  </p:childTnLst>
                                </p:cTn>
                              </p:par>
                              <p:par>
                                <p:cTn id="43" presetID="42" presetClass="path" presetSubtype="0" decel="100000" fill="hold" grpId="1" nodeType="withEffect">
                                  <p:stCondLst>
                                    <p:cond delay="200"/>
                                  </p:stCondLst>
                                  <p:childTnLst>
                                    <p:animMotion origin="layout" path="M -3.54167E-6 7.40741E-7 L -3.54167E-6 0.03542 " pathEditMode="relative" rAng="0" ptsTypes="AA">
                                      <p:cBhvr>
                                        <p:cTn id="44" dur="700" spd="-100000" fill="hold"/>
                                        <p:tgtEl>
                                          <p:spTgt spid="6"/>
                                        </p:tgtEl>
                                        <p:attrNameLst>
                                          <p:attrName>ppt_x</p:attrName>
                                          <p:attrName>ppt_y</p:attrName>
                                        </p:attrNameLst>
                                      </p:cBhvr>
                                      <p:rCtr x="0" y="1759"/>
                                    </p:animMotion>
                                  </p:childTnLst>
                                </p:cTn>
                              </p:par>
                              <p:par>
                                <p:cTn id="45" presetID="10" presetClass="entr" presetSubtype="0" fill="hold" grpId="0" nodeType="withEffect">
                                  <p:stCondLst>
                                    <p:cond delay="2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par>
                                <p:cTn id="48" presetID="42" presetClass="path" presetSubtype="0" decel="100000" fill="hold" grpId="1" nodeType="withEffect">
                                  <p:stCondLst>
                                    <p:cond delay="200"/>
                                  </p:stCondLst>
                                  <p:childTnLst>
                                    <p:animMotion origin="layout" path="M 2.5E-6 -2.96296E-6 L 2.5E-6 0.03542 " pathEditMode="relative" rAng="0" ptsTypes="AA">
                                      <p:cBhvr>
                                        <p:cTn id="49" dur="700" spd="-100000" fill="hold"/>
                                        <p:tgtEl>
                                          <p:spTgt spid="12"/>
                                        </p:tgtEl>
                                        <p:attrNameLst>
                                          <p:attrName>ppt_x</p:attrName>
                                          <p:attrName>ppt_y</p:attrName>
                                        </p:attrNameLst>
                                      </p:cBhvr>
                                      <p:rCtr x="0" y="1759"/>
                                    </p:animMotion>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42" presetClass="path" presetSubtype="0" decel="100000" fill="hold" grpId="1" nodeType="withEffect">
                                  <p:stCondLst>
                                    <p:cond delay="0"/>
                                  </p:stCondLst>
                                  <p:childTnLst>
                                    <p:animMotion origin="layout" path="M 0 -2.59259E-6 L 0 0.03542 " pathEditMode="relative" rAng="0" ptsTypes="AA">
                                      <p:cBhvr>
                                        <p:cTn id="54" dur="700" spd="-100000" fill="hold"/>
                                        <p:tgtEl>
                                          <p:spTgt spid="16"/>
                                        </p:tgtEl>
                                        <p:attrNameLst>
                                          <p:attrName>ppt_x</p:attrName>
                                          <p:attrName>ppt_y</p:attrName>
                                        </p:attrNameLst>
                                      </p:cBhvr>
                                      <p:rCtr x="0" y="1759"/>
                                    </p:animMotion>
                                  </p:childTnLst>
                                </p:cTn>
                              </p:par>
                              <p:par>
                                <p:cTn id="55" presetID="10" presetClass="entr" presetSubtype="0" fill="hold" grpId="0" nodeType="withEffect">
                                  <p:stCondLst>
                                    <p:cond delay="10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42" presetClass="path" presetSubtype="0" decel="100000" fill="hold" grpId="1" nodeType="withEffect">
                                  <p:stCondLst>
                                    <p:cond delay="100"/>
                                  </p:stCondLst>
                                  <p:childTnLst>
                                    <p:animMotion origin="layout" path="M 0 -2.59259E-6 L 0 0.03542 " pathEditMode="relative" rAng="0" ptsTypes="AA">
                                      <p:cBhvr>
                                        <p:cTn id="59" dur="700" spd="-100000" fill="hold"/>
                                        <p:tgtEl>
                                          <p:spTgt spid="19"/>
                                        </p:tgtEl>
                                        <p:attrNameLst>
                                          <p:attrName>ppt_x</p:attrName>
                                          <p:attrName>ppt_y</p:attrName>
                                        </p:attrNameLst>
                                      </p:cBhvr>
                                      <p:rCtr x="0" y="1759"/>
                                    </p:animMotion>
                                  </p:childTnLst>
                                </p:cTn>
                              </p:par>
                              <p:par>
                                <p:cTn id="60" presetID="10" presetClass="entr" presetSubtype="0" fill="hold" grpId="0" nodeType="withEffect">
                                  <p:stCondLst>
                                    <p:cond delay="20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42" presetClass="path" presetSubtype="0" decel="100000" fill="hold" grpId="1" nodeType="withEffect">
                                  <p:stCondLst>
                                    <p:cond delay="200"/>
                                  </p:stCondLst>
                                  <p:childTnLst>
                                    <p:animMotion origin="layout" path="M 1.45833E-6 -7.40741E-7 L 1.45833E-6 0.03542 " pathEditMode="relative" rAng="0" ptsTypes="AA">
                                      <p:cBhvr>
                                        <p:cTn id="64" dur="700" spd="-100000" fill="hold"/>
                                        <p:tgtEl>
                                          <p:spTgt spid="25"/>
                                        </p:tgtEl>
                                        <p:attrNameLst>
                                          <p:attrName>ppt_x</p:attrName>
                                          <p:attrName>ppt_y</p:attrName>
                                        </p:attrNameLst>
                                      </p:cBhvr>
                                      <p:rCtr x="0" y="1759"/>
                                    </p:animMotion>
                                  </p:childTnLst>
                                </p:cTn>
                              </p:par>
                              <p:par>
                                <p:cTn id="65" presetID="10" presetClass="entr" presetSubtype="0" fill="hold" grpId="0" nodeType="with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fade">
                                      <p:cBhvr>
                                        <p:cTn id="67" dur="500"/>
                                        <p:tgtEl>
                                          <p:spTgt spid="5"/>
                                        </p:tgtEl>
                                      </p:cBhvr>
                                    </p:animEffect>
                                  </p:childTnLst>
                                </p:cTn>
                              </p:par>
                              <p:par>
                                <p:cTn id="68" presetID="42" presetClass="path" presetSubtype="0" decel="100000" fill="hold" grpId="1" nodeType="withEffect">
                                  <p:stCondLst>
                                    <p:cond delay="0"/>
                                  </p:stCondLst>
                                  <p:childTnLst>
                                    <p:animMotion origin="layout" path="M 0 -2.59259E-6 L 0 0.03542 " pathEditMode="relative" rAng="0" ptsTypes="AA">
                                      <p:cBhvr>
                                        <p:cTn id="69" dur="700" spd="-100000" fill="hold"/>
                                        <p:tgtEl>
                                          <p:spTgt spid="5"/>
                                        </p:tgtEl>
                                        <p:attrNameLst>
                                          <p:attrName>ppt_x</p:attrName>
                                          <p:attrName>ppt_y</p:attrName>
                                        </p:attrNameLst>
                                      </p:cBhvr>
                                      <p:rCtr x="0" y="1759"/>
                                    </p:animMotion>
                                  </p:childTnLst>
                                </p:cTn>
                              </p:par>
                              <p:par>
                                <p:cTn id="70" presetID="10" presetClass="entr" presetSubtype="0" fill="hold" grpId="0" nodeType="withEffect">
                                  <p:stCondLst>
                                    <p:cond delay="10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500"/>
                                        <p:tgtEl>
                                          <p:spTgt spid="13"/>
                                        </p:tgtEl>
                                      </p:cBhvr>
                                    </p:animEffect>
                                  </p:childTnLst>
                                </p:cTn>
                              </p:par>
                              <p:par>
                                <p:cTn id="73" presetID="42" presetClass="path" presetSubtype="0" decel="100000" fill="hold" grpId="1" nodeType="withEffect">
                                  <p:stCondLst>
                                    <p:cond delay="100"/>
                                  </p:stCondLst>
                                  <p:childTnLst>
                                    <p:animMotion origin="layout" path="M 0 -2.59259E-6 L 0 0.03542 " pathEditMode="relative" rAng="0" ptsTypes="AA">
                                      <p:cBhvr>
                                        <p:cTn id="74" dur="700" spd="-100000" fill="hold"/>
                                        <p:tgtEl>
                                          <p:spTgt spid="13"/>
                                        </p:tgtEl>
                                        <p:attrNameLst>
                                          <p:attrName>ppt_x</p:attrName>
                                          <p:attrName>ppt_y</p:attrName>
                                        </p:attrNameLst>
                                      </p:cBhvr>
                                      <p:rCtr x="0" y="1759"/>
                                    </p:animMotion>
                                  </p:childTnLst>
                                </p:cTn>
                              </p:par>
                              <p:par>
                                <p:cTn id="75" presetID="10" presetClass="entr" presetSubtype="0" fill="hold" grpId="0" nodeType="withEffect">
                                  <p:stCondLst>
                                    <p:cond delay="200"/>
                                  </p:stCondLst>
                                  <p:childTnLst>
                                    <p:set>
                                      <p:cBhvr>
                                        <p:cTn id="76" dur="1" fill="hold">
                                          <p:stCondLst>
                                            <p:cond delay="0"/>
                                          </p:stCondLst>
                                        </p:cTn>
                                        <p:tgtEl>
                                          <p:spTgt spid="14"/>
                                        </p:tgtEl>
                                        <p:attrNameLst>
                                          <p:attrName>style.visibility</p:attrName>
                                        </p:attrNameLst>
                                      </p:cBhvr>
                                      <p:to>
                                        <p:strVal val="visible"/>
                                      </p:to>
                                    </p:set>
                                    <p:animEffect transition="in" filter="fade">
                                      <p:cBhvr>
                                        <p:cTn id="77" dur="500"/>
                                        <p:tgtEl>
                                          <p:spTgt spid="14"/>
                                        </p:tgtEl>
                                      </p:cBhvr>
                                    </p:animEffect>
                                  </p:childTnLst>
                                </p:cTn>
                              </p:par>
                              <p:par>
                                <p:cTn id="78" presetID="42" presetClass="path" presetSubtype="0" decel="100000" fill="hold" grpId="1" nodeType="withEffect">
                                  <p:stCondLst>
                                    <p:cond delay="200"/>
                                  </p:stCondLst>
                                  <p:childTnLst>
                                    <p:animMotion origin="layout" path="M 0 -2.59259E-6 L 0 0.03542 " pathEditMode="relative" rAng="0" ptsTypes="AA">
                                      <p:cBhvr>
                                        <p:cTn id="79" dur="700" spd="-100000" fill="hold"/>
                                        <p:tgtEl>
                                          <p:spTgt spid="14"/>
                                        </p:tgtEl>
                                        <p:attrNameLst>
                                          <p:attrName>ppt_x</p:attrName>
                                          <p:attrName>ppt_y</p:attrName>
                                        </p:attrNameLst>
                                      </p:cBhvr>
                                      <p:rCtr x="0" y="1759"/>
                                    </p:animMotion>
                                  </p:childTnLst>
                                </p:cTn>
                              </p:par>
                              <p:par>
                                <p:cTn id="80" presetID="10" presetClass="entr" presetSubtype="0" fill="hold" grpId="0" nodeType="withEffect">
                                  <p:stCondLst>
                                    <p:cond delay="100"/>
                                  </p:stCondLst>
                                  <p:childTnLst>
                                    <p:set>
                                      <p:cBhvr>
                                        <p:cTn id="81" dur="1" fill="hold">
                                          <p:stCondLst>
                                            <p:cond delay="0"/>
                                          </p:stCondLst>
                                        </p:cTn>
                                        <p:tgtEl>
                                          <p:spTgt spid="8"/>
                                        </p:tgtEl>
                                        <p:attrNameLst>
                                          <p:attrName>style.visibility</p:attrName>
                                        </p:attrNameLst>
                                      </p:cBhvr>
                                      <p:to>
                                        <p:strVal val="visible"/>
                                      </p:to>
                                    </p:set>
                                    <p:animEffect transition="in" filter="fade">
                                      <p:cBhvr>
                                        <p:cTn id="82" dur="500"/>
                                        <p:tgtEl>
                                          <p:spTgt spid="8"/>
                                        </p:tgtEl>
                                      </p:cBhvr>
                                    </p:animEffect>
                                  </p:childTnLst>
                                </p:cTn>
                              </p:par>
                              <p:par>
                                <p:cTn id="83" presetID="42" presetClass="path" presetSubtype="0" decel="100000" fill="hold" grpId="1" nodeType="withEffect">
                                  <p:stCondLst>
                                    <p:cond delay="100"/>
                                  </p:stCondLst>
                                  <p:childTnLst>
                                    <p:animMotion origin="layout" path="M 2.91667E-6 -1.48148E-6 L 2.91667E-6 0.03542 " pathEditMode="relative" rAng="0" ptsTypes="AA">
                                      <p:cBhvr>
                                        <p:cTn id="84" dur="700" spd="-100000" fill="hold"/>
                                        <p:tgtEl>
                                          <p:spTgt spid="8"/>
                                        </p:tgtEl>
                                        <p:attrNameLst>
                                          <p:attrName>ppt_x</p:attrName>
                                          <p:attrName>ppt_y</p:attrName>
                                        </p:attrNameLst>
                                      </p:cBhvr>
                                      <p:rCtr x="0" y="1782"/>
                                    </p:animMotion>
                                  </p:childTnLst>
                                </p:cTn>
                              </p:par>
                              <p:par>
                                <p:cTn id="85" presetID="10" presetClass="entr" presetSubtype="0" fill="hold" grpId="0" nodeType="withEffect">
                                  <p:stCondLst>
                                    <p:cond delay="200"/>
                                  </p:stCondLst>
                                  <p:childTnLst>
                                    <p:set>
                                      <p:cBhvr>
                                        <p:cTn id="86" dur="1" fill="hold">
                                          <p:stCondLst>
                                            <p:cond delay="0"/>
                                          </p:stCondLst>
                                        </p:cTn>
                                        <p:tgtEl>
                                          <p:spTgt spid="9"/>
                                        </p:tgtEl>
                                        <p:attrNameLst>
                                          <p:attrName>style.visibility</p:attrName>
                                        </p:attrNameLst>
                                      </p:cBhvr>
                                      <p:to>
                                        <p:strVal val="visible"/>
                                      </p:to>
                                    </p:set>
                                    <p:animEffect transition="in" filter="fade">
                                      <p:cBhvr>
                                        <p:cTn id="87" dur="500"/>
                                        <p:tgtEl>
                                          <p:spTgt spid="9"/>
                                        </p:tgtEl>
                                      </p:cBhvr>
                                    </p:animEffect>
                                  </p:childTnLst>
                                </p:cTn>
                              </p:par>
                              <p:par>
                                <p:cTn id="88" presetID="42" presetClass="path" presetSubtype="0" decel="100000" fill="hold" grpId="1" nodeType="withEffect">
                                  <p:stCondLst>
                                    <p:cond delay="200"/>
                                  </p:stCondLst>
                                  <p:childTnLst>
                                    <p:animMotion origin="layout" path="M -2.29167E-6 -3.7037E-6 L -2.29167E-6 0.03542 " pathEditMode="relative" rAng="0" ptsTypes="AA">
                                      <p:cBhvr>
                                        <p:cTn id="89" dur="700" spd="-100000" fill="hold"/>
                                        <p:tgtEl>
                                          <p:spTgt spid="9"/>
                                        </p:tgtEl>
                                        <p:attrNameLst>
                                          <p:attrName>ppt_x</p:attrName>
                                          <p:attrName>ppt_y</p:attrName>
                                        </p:attrNameLst>
                                      </p:cBhvr>
                                      <p:rCtr x="0" y="178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6" grpId="0" animBg="1"/>
      <p:bldP spid="16" grpId="1" animBg="1"/>
      <p:bldP spid="20" grpId="0" animBg="1"/>
      <p:bldP spid="20" grpId="1" animBg="1"/>
      <p:bldP spid="3" grpId="0"/>
      <p:bldP spid="3" grpId="1"/>
      <p:bldP spid="10" grpId="0"/>
      <p:bldP spid="10" grpId="1"/>
      <p:bldP spid="13" grpId="0" animBg="1"/>
      <p:bldP spid="13" grpId="1" animBg="1"/>
      <p:bldP spid="19" grpId="0" animBg="1"/>
      <p:bldP spid="19" grpId="1" animBg="1"/>
      <p:bldP spid="22" grpId="0" animBg="1"/>
      <p:bldP spid="22" grpId="1" animBg="1"/>
      <p:bldP spid="4" grpId="0"/>
      <p:bldP spid="4" grpId="1"/>
      <p:bldP spid="11" grpId="0"/>
      <p:bldP spid="11" grpId="1"/>
      <p:bldP spid="14" grpId="0" animBg="1"/>
      <p:bldP spid="14" grpId="1" animBg="1"/>
      <p:bldP spid="25" grpId="0" animBg="1"/>
      <p:bldP spid="25" grpId="1" animBg="1"/>
      <p:bldP spid="21" grpId="0" animBg="1"/>
      <p:bldP spid="21" grpId="1" animBg="1"/>
      <p:bldP spid="6" grpId="0"/>
      <p:bldP spid="6" grpId="1"/>
      <p:bldP spid="12" grpId="0"/>
      <p:bldP spid="12" grpId="1"/>
      <p:bldP spid="8" grpId="0" animBg="1"/>
      <p:bldP spid="8" grpId="1" animBg="1"/>
      <p:bldP spid="9" grpId="0" animBg="1"/>
      <p:bldP spid="9"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3" y="457200"/>
            <a:ext cx="11175992" cy="553998"/>
          </a:xfrm>
        </p:spPr>
        <p:txBody>
          <a:bodyPr/>
          <a:lstStyle/>
          <a:p>
            <a:r>
              <a:rPr lang="en-US">
                <a:cs typeface="Segoe UI"/>
              </a:rPr>
              <a:t>RAG: </a:t>
            </a:r>
            <a:r>
              <a:rPr lang="en-US">
                <a:gradFill>
                  <a:gsLst>
                    <a:gs pos="0">
                      <a:srgbClr val="0078D4"/>
                    </a:gs>
                    <a:gs pos="80000">
                      <a:srgbClr val="399A91"/>
                    </a:gs>
                  </a:gsLst>
                  <a:path path="circle">
                    <a:fillToRect l="100000" t="100000"/>
                  </a:path>
                </a:gradFill>
                <a:cs typeface="Segoe UI"/>
              </a:rPr>
              <a:t>R</a:t>
            </a:r>
            <a:r>
              <a:rPr lang="en-US">
                <a:cs typeface="Segoe UI"/>
              </a:rPr>
              <a:t>etrieval </a:t>
            </a:r>
            <a:r>
              <a:rPr lang="en-US">
                <a:gradFill>
                  <a:gsLst>
                    <a:gs pos="0">
                      <a:srgbClr val="C03BC4"/>
                    </a:gs>
                    <a:gs pos="80000">
                      <a:srgbClr val="0078D4"/>
                    </a:gs>
                  </a:gsLst>
                  <a:path path="circle">
                    <a:fillToRect l="100000" t="100000"/>
                  </a:path>
                </a:gradFill>
                <a:cs typeface="Segoe UI"/>
              </a:rPr>
              <a:t>A</a:t>
            </a:r>
            <a:r>
              <a:rPr lang="en-US">
                <a:cs typeface="Segoe UI"/>
              </a:rPr>
              <a:t>ugmented </a:t>
            </a:r>
            <a:r>
              <a:rPr lang="en-US">
                <a:gradFill>
                  <a:gsLst>
                    <a:gs pos="0">
                      <a:srgbClr val="FF5C39"/>
                    </a:gs>
                    <a:gs pos="80000">
                      <a:srgbClr val="C03BC4"/>
                    </a:gs>
                  </a:gsLst>
                  <a:path path="circle">
                    <a:fillToRect l="100000" t="100000"/>
                  </a:path>
                </a:gradFill>
                <a:cs typeface="Segoe UI"/>
              </a:rPr>
              <a:t>G</a:t>
            </a:r>
            <a:r>
              <a:rPr lang="en-US">
                <a:cs typeface="Segoe UI"/>
              </a:rPr>
              <a:t>eneration</a:t>
            </a:r>
            <a:endParaRPr lang="en-US"/>
          </a:p>
        </p:txBody>
      </p:sp>
      <p:grpSp>
        <p:nvGrpSpPr>
          <p:cNvPr id="7" name="Group 6" descr="What’s the best shoe for hiking?">
            <a:extLst>
              <a:ext uri="{FF2B5EF4-FFF2-40B4-BE49-F238E27FC236}">
                <a16:creationId xmlns:a16="http://schemas.microsoft.com/office/drawing/2014/main" id="{A1D4F6EF-836F-645D-E355-F3125ECB8AD0}"/>
              </a:ext>
            </a:extLst>
          </p:cNvPr>
          <p:cNvGrpSpPr/>
          <p:nvPr/>
        </p:nvGrpSpPr>
        <p:grpSpPr>
          <a:xfrm>
            <a:off x="599808" y="1978178"/>
            <a:ext cx="1898415" cy="1175481"/>
            <a:chOff x="3449886" y="1978178"/>
            <a:chExt cx="1898415" cy="1175481"/>
          </a:xfrm>
        </p:grpSpPr>
        <p:sp>
          <p:nvSpPr>
            <p:cNvPr id="6" name="Freeform 5">
              <a:extLst>
                <a:ext uri="{FF2B5EF4-FFF2-40B4-BE49-F238E27FC236}">
                  <a16:creationId xmlns:a16="http://schemas.microsoft.com/office/drawing/2014/main" id="{6E5C9A12-892F-976E-EC90-44C0D58B7587}"/>
                </a:ext>
                <a:ext uri="{C183D7F6-B498-43B3-948B-1728B52AA6E4}">
                  <adec:decorative xmlns:adec="http://schemas.microsoft.com/office/drawing/2017/decorative" val="1"/>
                </a:ext>
              </a:extLst>
            </p:cNvPr>
            <p:cNvSpPr/>
            <p:nvPr/>
          </p:nvSpPr>
          <p:spPr bwMode="auto">
            <a:xfrm>
              <a:off x="3449886" y="1978178"/>
              <a:ext cx="1898415" cy="1175481"/>
            </a:xfrm>
            <a:custGeom>
              <a:avLst/>
              <a:gdLst>
                <a:gd name="connsiteX0" fmla="*/ 152403 w 1898415"/>
                <a:gd name="connsiteY0" fmla="*/ 0 h 1175481"/>
                <a:gd name="connsiteX1" fmla="*/ 1746012 w 1898415"/>
                <a:gd name="connsiteY1" fmla="*/ 0 h 1175481"/>
                <a:gd name="connsiteX2" fmla="*/ 1898415 w 1898415"/>
                <a:gd name="connsiteY2" fmla="*/ 152403 h 1175481"/>
                <a:gd name="connsiteX3" fmla="*/ 1898415 w 1898415"/>
                <a:gd name="connsiteY3" fmla="*/ 761997 h 1175481"/>
                <a:gd name="connsiteX4" fmla="*/ 1746012 w 1898415"/>
                <a:gd name="connsiteY4" fmla="*/ 914400 h 1175481"/>
                <a:gd name="connsiteX5" fmla="*/ 952123 w 1898415"/>
                <a:gd name="connsiteY5" fmla="*/ 914400 h 1175481"/>
                <a:gd name="connsiteX6" fmla="*/ 691042 w 1898415"/>
                <a:gd name="connsiteY6" fmla="*/ 1175481 h 1175481"/>
                <a:gd name="connsiteX7" fmla="*/ 691042 w 1898415"/>
                <a:gd name="connsiteY7" fmla="*/ 914400 h 1175481"/>
                <a:gd name="connsiteX8" fmla="*/ 152403 w 1898415"/>
                <a:gd name="connsiteY8" fmla="*/ 914400 h 1175481"/>
                <a:gd name="connsiteX9" fmla="*/ 0 w 1898415"/>
                <a:gd name="connsiteY9" fmla="*/ 761997 h 1175481"/>
                <a:gd name="connsiteX10" fmla="*/ 0 w 1898415"/>
                <a:gd name="connsiteY10" fmla="*/ 152403 h 1175481"/>
                <a:gd name="connsiteX11" fmla="*/ 152403 w 1898415"/>
                <a:gd name="connsiteY11" fmla="*/ 0 h 1175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98415" h="1175481">
                  <a:moveTo>
                    <a:pt x="152403" y="0"/>
                  </a:moveTo>
                  <a:lnTo>
                    <a:pt x="1746012" y="0"/>
                  </a:lnTo>
                  <a:cubicBezTo>
                    <a:pt x="1830182" y="0"/>
                    <a:pt x="1898415" y="68233"/>
                    <a:pt x="1898415" y="152403"/>
                  </a:cubicBezTo>
                  <a:lnTo>
                    <a:pt x="1898415" y="761997"/>
                  </a:lnTo>
                  <a:cubicBezTo>
                    <a:pt x="1898415" y="846167"/>
                    <a:pt x="1830182" y="914400"/>
                    <a:pt x="1746012" y="914400"/>
                  </a:cubicBezTo>
                  <a:lnTo>
                    <a:pt x="952123" y="914400"/>
                  </a:lnTo>
                  <a:lnTo>
                    <a:pt x="691042" y="1175481"/>
                  </a:lnTo>
                  <a:lnTo>
                    <a:pt x="691042" y="914400"/>
                  </a:lnTo>
                  <a:lnTo>
                    <a:pt x="152403" y="914400"/>
                  </a:lnTo>
                  <a:cubicBezTo>
                    <a:pt x="68233" y="914400"/>
                    <a:pt x="0" y="846167"/>
                    <a:pt x="0" y="761997"/>
                  </a:cubicBezTo>
                  <a:lnTo>
                    <a:pt x="0" y="152403"/>
                  </a:lnTo>
                  <a:cubicBezTo>
                    <a:pt x="0" y="68233"/>
                    <a:pt x="68233" y="0"/>
                    <a:pt x="152403" y="0"/>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err="1">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5" name="Text Placeholder 5">
              <a:extLst>
                <a:ext uri="{FF2B5EF4-FFF2-40B4-BE49-F238E27FC236}">
                  <a16:creationId xmlns:a16="http://schemas.microsoft.com/office/drawing/2014/main" id="{326A322F-E421-6E32-596D-EC276450AB81}"/>
                </a:ext>
                <a:ext uri="{C183D7F6-B498-43B3-948B-1728B52AA6E4}">
                  <adec:decorative xmlns:adec="http://schemas.microsoft.com/office/drawing/2017/decorative" val="1"/>
                </a:ext>
              </a:extLst>
            </p:cNvPr>
            <p:cNvSpPr txBox="1">
              <a:spLocks/>
            </p:cNvSpPr>
            <p:nvPr/>
          </p:nvSpPr>
          <p:spPr>
            <a:xfrm>
              <a:off x="3484560" y="2092067"/>
              <a:ext cx="1829067" cy="686622"/>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400">
                  <a:solidFill>
                    <a:schemeClr val="bg1"/>
                  </a:solidFill>
                  <a:latin typeface="Segoe UI"/>
                  <a:cs typeface="Segoe UI Semilight"/>
                </a:rPr>
                <a:t>What is included in my Northwind Health Plus plan that is not in standard?</a:t>
              </a:r>
              <a:endParaRPr lang="en-US" sz="1400">
                <a:solidFill>
                  <a:schemeClr val="bg1"/>
                </a:solidFill>
                <a:latin typeface="Segoe UI"/>
                <a:cs typeface="Segoe UI"/>
              </a:endParaRPr>
            </a:p>
          </p:txBody>
        </p:sp>
      </p:grpSp>
      <p:sp>
        <p:nvSpPr>
          <p:cNvPr id="41" name="Rounded Rectangle 5">
            <a:extLst>
              <a:ext uri="{FF2B5EF4-FFF2-40B4-BE49-F238E27FC236}">
                <a16:creationId xmlns:a16="http://schemas.microsoft.com/office/drawing/2014/main" id="{3BCA042F-0A84-147C-ED4B-93A2052B3F13}"/>
              </a:ext>
              <a:ext uri="{C183D7F6-B498-43B3-948B-1728B52AA6E4}">
                <adec:decorative xmlns:adec="http://schemas.microsoft.com/office/drawing/2017/decorative" val="1"/>
              </a:ext>
            </a:extLst>
          </p:cNvPr>
          <p:cNvSpPr/>
          <p:nvPr/>
        </p:nvSpPr>
        <p:spPr bwMode="auto">
          <a:xfrm>
            <a:off x="599815" y="3815013"/>
            <a:ext cx="1898415" cy="2123423"/>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33" name="Graphic 31" descr="Person with chat bubble icon">
            <a:extLst>
              <a:ext uri="{FF2B5EF4-FFF2-40B4-BE49-F238E27FC236}">
                <a16:creationId xmlns:a16="http://schemas.microsoft.com/office/drawing/2014/main" id="{305D067F-46C1-B981-BD1C-BCB4C3CCFA57}"/>
              </a:ext>
            </a:extLst>
          </p:cNvPr>
          <p:cNvSpPr/>
          <p:nvPr/>
        </p:nvSpPr>
        <p:spPr>
          <a:xfrm>
            <a:off x="1290850" y="4199030"/>
            <a:ext cx="516344" cy="570744"/>
          </a:xfrm>
          <a:custGeom>
            <a:avLst/>
            <a:gdLst>
              <a:gd name="connsiteX0" fmla="*/ 190150 w 516344"/>
              <a:gd name="connsiteY0" fmla="*/ 421201 h 570744"/>
              <a:gd name="connsiteX1" fmla="*/ 217924 w 516344"/>
              <a:gd name="connsiteY1" fmla="*/ 326058 h 570744"/>
              <a:gd name="connsiteX2" fmla="*/ 61146 w 516344"/>
              <a:gd name="connsiteY2" fmla="*/ 326058 h 570744"/>
              <a:gd name="connsiteX3" fmla="*/ 0 w 516344"/>
              <a:gd name="connsiteY3" fmla="*/ 387204 h 570744"/>
              <a:gd name="connsiteX4" fmla="*/ 0 w 516344"/>
              <a:gd name="connsiteY4" fmla="*/ 412206 h 570744"/>
              <a:gd name="connsiteX5" fmla="*/ 13860 w 516344"/>
              <a:gd name="connsiteY5" fmla="*/ 455578 h 570744"/>
              <a:gd name="connsiteX6" fmla="*/ 192678 w 516344"/>
              <a:gd name="connsiteY6" fmla="*/ 542813 h 570744"/>
              <a:gd name="connsiteX7" fmla="*/ 206864 w 516344"/>
              <a:gd name="connsiteY7" fmla="*/ 496261 h 570744"/>
              <a:gd name="connsiteX8" fmla="*/ 190150 w 516344"/>
              <a:gd name="connsiteY8" fmla="*/ 421201 h 570744"/>
              <a:gd name="connsiteX9" fmla="*/ 217354 w 516344"/>
              <a:gd name="connsiteY9" fmla="*/ 0 h 570744"/>
              <a:gd name="connsiteX10" fmla="*/ 353261 w 516344"/>
              <a:gd name="connsiteY10" fmla="*/ 135907 h 570744"/>
              <a:gd name="connsiteX11" fmla="*/ 217354 w 516344"/>
              <a:gd name="connsiteY11" fmla="*/ 271814 h 570744"/>
              <a:gd name="connsiteX12" fmla="*/ 81446 w 516344"/>
              <a:gd name="connsiteY12" fmla="*/ 135907 h 570744"/>
              <a:gd name="connsiteX13" fmla="*/ 217354 w 516344"/>
              <a:gd name="connsiteY13" fmla="*/ 0 h 570744"/>
              <a:gd name="connsiteX14" fmla="*/ 516344 w 516344"/>
              <a:gd name="connsiteY14" fmla="*/ 421201 h 570744"/>
              <a:gd name="connsiteX15" fmla="*/ 366898 w 516344"/>
              <a:gd name="connsiteY15" fmla="*/ 570745 h 570744"/>
              <a:gd name="connsiteX16" fmla="*/ 294370 w 516344"/>
              <a:gd name="connsiteY16" fmla="*/ 551999 h 570744"/>
              <a:gd name="connsiteX17" fmla="*/ 234937 w 516344"/>
              <a:gd name="connsiteY17" fmla="*/ 570071 h 570744"/>
              <a:gd name="connsiteX18" fmla="*/ 217979 w 516344"/>
              <a:gd name="connsiteY18" fmla="*/ 561032 h 570744"/>
              <a:gd name="connsiteX19" fmla="*/ 217979 w 516344"/>
              <a:gd name="connsiteY19" fmla="*/ 553113 h 570744"/>
              <a:gd name="connsiteX20" fmla="*/ 236078 w 516344"/>
              <a:gd name="connsiteY20" fmla="*/ 493679 h 570744"/>
              <a:gd name="connsiteX21" fmla="*/ 294408 w 516344"/>
              <a:gd name="connsiteY21" fmla="*/ 290468 h 570744"/>
              <a:gd name="connsiteX22" fmla="*/ 497620 w 516344"/>
              <a:gd name="connsiteY22" fmla="*/ 348796 h 570744"/>
              <a:gd name="connsiteX23" fmla="*/ 516344 w 516344"/>
              <a:gd name="connsiteY23" fmla="*/ 421174 h 570744"/>
              <a:gd name="connsiteX24" fmla="*/ 312470 w 516344"/>
              <a:gd name="connsiteY24" fmla="*/ 380437 h 570744"/>
              <a:gd name="connsiteX25" fmla="*/ 298882 w 516344"/>
              <a:gd name="connsiteY25" fmla="*/ 394025 h 570744"/>
              <a:gd name="connsiteX26" fmla="*/ 312470 w 516344"/>
              <a:gd name="connsiteY26" fmla="*/ 407613 h 570744"/>
              <a:gd name="connsiteX27" fmla="*/ 421228 w 516344"/>
              <a:gd name="connsiteY27" fmla="*/ 407613 h 570744"/>
              <a:gd name="connsiteX28" fmla="*/ 434816 w 516344"/>
              <a:gd name="connsiteY28" fmla="*/ 394025 h 570744"/>
              <a:gd name="connsiteX29" fmla="*/ 421228 w 516344"/>
              <a:gd name="connsiteY29" fmla="*/ 380437 h 570744"/>
              <a:gd name="connsiteX30" fmla="*/ 312524 w 516344"/>
              <a:gd name="connsiteY30" fmla="*/ 380437 h 570744"/>
              <a:gd name="connsiteX31" fmla="*/ 298882 w 516344"/>
              <a:gd name="connsiteY31" fmla="*/ 448377 h 570744"/>
              <a:gd name="connsiteX32" fmla="*/ 312470 w 516344"/>
              <a:gd name="connsiteY32" fmla="*/ 461965 h 570744"/>
              <a:gd name="connsiteX33" fmla="*/ 366822 w 516344"/>
              <a:gd name="connsiteY33" fmla="*/ 461965 h 570744"/>
              <a:gd name="connsiteX34" fmla="*/ 380410 w 516344"/>
              <a:gd name="connsiteY34" fmla="*/ 448377 h 570744"/>
              <a:gd name="connsiteX35" fmla="*/ 366822 w 516344"/>
              <a:gd name="connsiteY35" fmla="*/ 434789 h 570744"/>
              <a:gd name="connsiteX36" fmla="*/ 312470 w 516344"/>
              <a:gd name="connsiteY36" fmla="*/ 434789 h 570744"/>
              <a:gd name="connsiteX37" fmla="*/ 298882 w 516344"/>
              <a:gd name="connsiteY37" fmla="*/ 448377 h 570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16344" h="570744">
                <a:moveTo>
                  <a:pt x="190150" y="421201"/>
                </a:moveTo>
                <a:cubicBezTo>
                  <a:pt x="190150" y="386144"/>
                  <a:pt x="200341" y="353533"/>
                  <a:pt x="217924" y="326058"/>
                </a:cubicBezTo>
                <a:lnTo>
                  <a:pt x="61146" y="326058"/>
                </a:lnTo>
                <a:cubicBezTo>
                  <a:pt x="27376" y="326058"/>
                  <a:pt x="0" y="353435"/>
                  <a:pt x="0" y="387204"/>
                </a:cubicBezTo>
                <a:lnTo>
                  <a:pt x="0" y="412206"/>
                </a:lnTo>
                <a:cubicBezTo>
                  <a:pt x="0" y="427750"/>
                  <a:pt x="4837" y="442914"/>
                  <a:pt x="13860" y="455578"/>
                </a:cubicBezTo>
                <a:cubicBezTo>
                  <a:pt x="51988" y="509061"/>
                  <a:pt x="112155" y="538030"/>
                  <a:pt x="192678" y="542813"/>
                </a:cubicBezTo>
                <a:lnTo>
                  <a:pt x="206864" y="496261"/>
                </a:lnTo>
                <a:cubicBezTo>
                  <a:pt x="195830" y="472778"/>
                  <a:pt x="190123" y="447146"/>
                  <a:pt x="190150" y="421201"/>
                </a:cubicBezTo>
                <a:close/>
                <a:moveTo>
                  <a:pt x="217354" y="0"/>
                </a:moveTo>
                <a:cubicBezTo>
                  <a:pt x="292414" y="0"/>
                  <a:pt x="353261" y="60848"/>
                  <a:pt x="353261" y="135907"/>
                </a:cubicBezTo>
                <a:cubicBezTo>
                  <a:pt x="353261" y="210967"/>
                  <a:pt x="292414" y="271814"/>
                  <a:pt x="217354" y="271814"/>
                </a:cubicBezTo>
                <a:cubicBezTo>
                  <a:pt x="142294" y="271814"/>
                  <a:pt x="81446" y="210967"/>
                  <a:pt x="81446" y="135907"/>
                </a:cubicBezTo>
                <a:cubicBezTo>
                  <a:pt x="81446" y="60848"/>
                  <a:pt x="142294" y="0"/>
                  <a:pt x="217354" y="0"/>
                </a:cubicBezTo>
                <a:close/>
                <a:moveTo>
                  <a:pt x="516344" y="421201"/>
                </a:moveTo>
                <a:cubicBezTo>
                  <a:pt x="516371" y="503764"/>
                  <a:pt x="449461" y="570718"/>
                  <a:pt x="366898" y="570745"/>
                </a:cubicBezTo>
                <a:cubicBezTo>
                  <a:pt x="341521" y="570753"/>
                  <a:pt x="316562" y="564302"/>
                  <a:pt x="294370" y="551999"/>
                </a:cubicBezTo>
                <a:lnTo>
                  <a:pt x="234937" y="570071"/>
                </a:lnTo>
                <a:cubicBezTo>
                  <a:pt x="227757" y="572259"/>
                  <a:pt x="220166" y="568212"/>
                  <a:pt x="217979" y="561032"/>
                </a:cubicBezTo>
                <a:cubicBezTo>
                  <a:pt x="217193" y="558451"/>
                  <a:pt x="217193" y="555695"/>
                  <a:pt x="217979" y="553113"/>
                </a:cubicBezTo>
                <a:lnTo>
                  <a:pt x="236078" y="493679"/>
                </a:lnTo>
                <a:cubicBezTo>
                  <a:pt x="196069" y="421456"/>
                  <a:pt x="222186" y="330476"/>
                  <a:pt x="294408" y="290468"/>
                </a:cubicBezTo>
                <a:cubicBezTo>
                  <a:pt x="366631" y="250459"/>
                  <a:pt x="457611" y="276573"/>
                  <a:pt x="497620" y="348796"/>
                </a:cubicBezTo>
                <a:cubicBezTo>
                  <a:pt x="509890" y="370947"/>
                  <a:pt x="516333" y="395851"/>
                  <a:pt x="516344" y="421174"/>
                </a:cubicBezTo>
                <a:close/>
                <a:moveTo>
                  <a:pt x="312470" y="380437"/>
                </a:moveTo>
                <a:cubicBezTo>
                  <a:pt x="304966" y="380437"/>
                  <a:pt x="298882" y="386522"/>
                  <a:pt x="298882" y="394025"/>
                </a:cubicBezTo>
                <a:cubicBezTo>
                  <a:pt x="298882" y="401528"/>
                  <a:pt x="304966" y="407613"/>
                  <a:pt x="312470" y="407613"/>
                </a:cubicBezTo>
                <a:lnTo>
                  <a:pt x="421228" y="407613"/>
                </a:lnTo>
                <a:cubicBezTo>
                  <a:pt x="428731" y="407613"/>
                  <a:pt x="434816" y="401528"/>
                  <a:pt x="434816" y="394025"/>
                </a:cubicBezTo>
                <a:cubicBezTo>
                  <a:pt x="434816" y="386522"/>
                  <a:pt x="428731" y="380437"/>
                  <a:pt x="421228" y="380437"/>
                </a:cubicBezTo>
                <a:lnTo>
                  <a:pt x="312524" y="380437"/>
                </a:lnTo>
                <a:close/>
                <a:moveTo>
                  <a:pt x="298882" y="448377"/>
                </a:moveTo>
                <a:cubicBezTo>
                  <a:pt x="298882" y="455880"/>
                  <a:pt x="304966" y="461965"/>
                  <a:pt x="312470" y="461965"/>
                </a:cubicBezTo>
                <a:lnTo>
                  <a:pt x="366822" y="461965"/>
                </a:lnTo>
                <a:cubicBezTo>
                  <a:pt x="374325" y="461965"/>
                  <a:pt x="380410" y="455880"/>
                  <a:pt x="380410" y="448377"/>
                </a:cubicBezTo>
                <a:cubicBezTo>
                  <a:pt x="380410" y="440874"/>
                  <a:pt x="374325" y="434789"/>
                  <a:pt x="366822" y="434789"/>
                </a:cubicBezTo>
                <a:lnTo>
                  <a:pt x="312470" y="434789"/>
                </a:lnTo>
                <a:cubicBezTo>
                  <a:pt x="304966" y="434789"/>
                  <a:pt x="298882" y="440874"/>
                  <a:pt x="298882" y="448377"/>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77" name="Text Placeholder 5">
            <a:extLst>
              <a:ext uri="{FF2B5EF4-FFF2-40B4-BE49-F238E27FC236}">
                <a16:creationId xmlns:a16="http://schemas.microsoft.com/office/drawing/2014/main" id="{D9978F87-A17E-3000-4E2A-CAD8D348F98E}"/>
              </a:ext>
            </a:extLst>
          </p:cNvPr>
          <p:cNvSpPr txBox="1">
            <a:spLocks/>
          </p:cNvSpPr>
          <p:nvPr/>
        </p:nvSpPr>
        <p:spPr>
          <a:xfrm>
            <a:off x="909811" y="4963813"/>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latin typeface="+mj-lt"/>
                <a:cs typeface="Segoe UI Semilight"/>
              </a:rPr>
              <a:t>User</a:t>
            </a:r>
            <a:endParaRPr lang="en-US" sz="1800"/>
          </a:p>
          <a:p>
            <a:pPr marL="0" indent="0" algn="ctr" defTabSz="1865484">
              <a:buNone/>
              <a:defRPr/>
            </a:pPr>
            <a:r>
              <a:rPr lang="en-US" sz="1800">
                <a:latin typeface="+mj-lt"/>
                <a:cs typeface="Segoe UI Semilight"/>
              </a:rPr>
              <a:t>Question</a:t>
            </a:r>
            <a:endParaRPr lang="en-US" sz="1800">
              <a:cs typeface="Segoe UI Semilight"/>
            </a:endParaRPr>
          </a:p>
        </p:txBody>
      </p:sp>
      <p:sp>
        <p:nvSpPr>
          <p:cNvPr id="42" name="Rounded Rectangle 5">
            <a:extLst>
              <a:ext uri="{FF2B5EF4-FFF2-40B4-BE49-F238E27FC236}">
                <a16:creationId xmlns:a16="http://schemas.microsoft.com/office/drawing/2014/main" id="{0FA17A57-BB75-64DC-0737-EB7A4746E12A}"/>
              </a:ext>
              <a:ext uri="{C183D7F6-B498-43B3-948B-1728B52AA6E4}">
                <adec:decorative xmlns:adec="http://schemas.microsoft.com/office/drawing/2017/decorative" val="1"/>
              </a:ext>
            </a:extLst>
          </p:cNvPr>
          <p:cNvSpPr/>
          <p:nvPr/>
        </p:nvSpPr>
        <p:spPr bwMode="auto">
          <a:xfrm>
            <a:off x="3068652" y="3815013"/>
            <a:ext cx="3755862" cy="2123423"/>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34" name="Graphic 29" descr="Database with magnifying glass icon">
            <a:extLst>
              <a:ext uri="{FF2B5EF4-FFF2-40B4-BE49-F238E27FC236}">
                <a16:creationId xmlns:a16="http://schemas.microsoft.com/office/drawing/2014/main" id="{51B870E1-96A5-FB67-8A14-4ACA41E02B2C}"/>
              </a:ext>
            </a:extLst>
          </p:cNvPr>
          <p:cNvSpPr/>
          <p:nvPr/>
        </p:nvSpPr>
        <p:spPr>
          <a:xfrm>
            <a:off x="3677130" y="4198800"/>
            <a:ext cx="516852" cy="571204"/>
          </a:xfrm>
          <a:custGeom>
            <a:avLst/>
            <a:gdLst>
              <a:gd name="connsiteX0" fmla="*/ 217408 w 516852"/>
              <a:gd name="connsiteY0" fmla="*/ 217408 h 571204"/>
              <a:gd name="connsiteX1" fmla="*/ 434816 w 516852"/>
              <a:gd name="connsiteY1" fmla="*/ 108704 h 571204"/>
              <a:gd name="connsiteX2" fmla="*/ 217408 w 516852"/>
              <a:gd name="connsiteY2" fmla="*/ 0 h 571204"/>
              <a:gd name="connsiteX3" fmla="*/ 0 w 516852"/>
              <a:gd name="connsiteY3" fmla="*/ 108704 h 571204"/>
              <a:gd name="connsiteX4" fmla="*/ 217408 w 516852"/>
              <a:gd name="connsiteY4" fmla="*/ 217408 h 571204"/>
              <a:gd name="connsiteX5" fmla="*/ 389378 w 516852"/>
              <a:gd name="connsiteY5" fmla="*/ 222028 h 571204"/>
              <a:gd name="connsiteX6" fmla="*/ 434816 w 516852"/>
              <a:gd name="connsiteY6" fmla="*/ 191672 h 571204"/>
              <a:gd name="connsiteX7" fmla="*/ 434816 w 516852"/>
              <a:gd name="connsiteY7" fmla="*/ 278744 h 571204"/>
              <a:gd name="connsiteX8" fmla="*/ 325568 w 516852"/>
              <a:gd name="connsiteY8" fmla="*/ 245236 h 571204"/>
              <a:gd name="connsiteX9" fmla="*/ 389378 w 516852"/>
              <a:gd name="connsiteY9" fmla="*/ 222028 h 571204"/>
              <a:gd name="connsiteX10" fmla="*/ 190232 w 516852"/>
              <a:gd name="connsiteY10" fmla="*/ 394052 h 571204"/>
              <a:gd name="connsiteX11" fmla="*/ 294343 w 516852"/>
              <a:gd name="connsiteY11" fmla="*/ 536509 h 571204"/>
              <a:gd name="connsiteX12" fmla="*/ 217408 w 516852"/>
              <a:gd name="connsiteY12" fmla="*/ 543520 h 571204"/>
              <a:gd name="connsiteX13" fmla="*/ 0 w 516852"/>
              <a:gd name="connsiteY13" fmla="*/ 434816 h 571204"/>
              <a:gd name="connsiteX14" fmla="*/ 0 w 516852"/>
              <a:gd name="connsiteY14" fmla="*/ 191672 h 571204"/>
              <a:gd name="connsiteX15" fmla="*/ 45438 w 516852"/>
              <a:gd name="connsiteY15" fmla="*/ 222028 h 571204"/>
              <a:gd name="connsiteX16" fmla="*/ 217408 w 516852"/>
              <a:gd name="connsiteY16" fmla="*/ 258172 h 571204"/>
              <a:gd name="connsiteX17" fmla="*/ 292876 w 516852"/>
              <a:gd name="connsiteY17" fmla="*/ 252057 h 571204"/>
              <a:gd name="connsiteX18" fmla="*/ 190232 w 516852"/>
              <a:gd name="connsiteY18" fmla="*/ 394052 h 571204"/>
              <a:gd name="connsiteX19" fmla="*/ 339700 w 516852"/>
              <a:gd name="connsiteY19" fmla="*/ 516344 h 571204"/>
              <a:gd name="connsiteX20" fmla="*/ 410548 w 516852"/>
              <a:gd name="connsiteY20" fmla="*/ 493734 h 571204"/>
              <a:gd name="connsiteX21" fmla="*/ 481559 w 516852"/>
              <a:gd name="connsiteY21" fmla="*/ 564717 h 571204"/>
              <a:gd name="connsiteX22" fmla="*/ 510365 w 516852"/>
              <a:gd name="connsiteY22" fmla="*/ 565734 h 571204"/>
              <a:gd name="connsiteX23" fmla="*/ 511382 w 516852"/>
              <a:gd name="connsiteY23" fmla="*/ 536927 h 571204"/>
              <a:gd name="connsiteX24" fmla="*/ 510365 w 516852"/>
              <a:gd name="connsiteY24" fmla="*/ 535911 h 571204"/>
              <a:gd name="connsiteX25" fmla="*/ 439382 w 516852"/>
              <a:gd name="connsiteY25" fmla="*/ 464900 h 571204"/>
              <a:gd name="connsiteX26" fmla="*/ 410551 w 516852"/>
              <a:gd name="connsiteY26" fmla="*/ 294373 h 571204"/>
              <a:gd name="connsiteX27" fmla="*/ 240024 w 516852"/>
              <a:gd name="connsiteY27" fmla="*/ 323204 h 571204"/>
              <a:gd name="connsiteX28" fmla="*/ 268855 w 516852"/>
              <a:gd name="connsiteY28" fmla="*/ 493731 h 571204"/>
              <a:gd name="connsiteX29" fmla="*/ 339700 w 516852"/>
              <a:gd name="connsiteY29" fmla="*/ 516344 h 571204"/>
              <a:gd name="connsiteX30" fmla="*/ 339700 w 516852"/>
              <a:gd name="connsiteY30" fmla="*/ 475580 h 571204"/>
              <a:gd name="connsiteX31" fmla="*/ 258172 w 516852"/>
              <a:gd name="connsiteY31" fmla="*/ 394052 h 571204"/>
              <a:gd name="connsiteX32" fmla="*/ 339700 w 516852"/>
              <a:gd name="connsiteY32" fmla="*/ 312524 h 571204"/>
              <a:gd name="connsiteX33" fmla="*/ 421228 w 516852"/>
              <a:gd name="connsiteY33" fmla="*/ 394052 h 571204"/>
              <a:gd name="connsiteX34" fmla="*/ 339700 w 516852"/>
              <a:gd name="connsiteY34" fmla="*/ 475580 h 571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16852" h="571204">
                <a:moveTo>
                  <a:pt x="217408" y="217408"/>
                </a:moveTo>
                <a:cubicBezTo>
                  <a:pt x="337472" y="217408"/>
                  <a:pt x="434816" y="168763"/>
                  <a:pt x="434816" y="108704"/>
                </a:cubicBezTo>
                <a:cubicBezTo>
                  <a:pt x="434816" y="48645"/>
                  <a:pt x="337472" y="0"/>
                  <a:pt x="217408" y="0"/>
                </a:cubicBezTo>
                <a:cubicBezTo>
                  <a:pt x="97344" y="0"/>
                  <a:pt x="0" y="48645"/>
                  <a:pt x="0" y="108704"/>
                </a:cubicBezTo>
                <a:cubicBezTo>
                  <a:pt x="0" y="168763"/>
                  <a:pt x="97344" y="217408"/>
                  <a:pt x="217408" y="217408"/>
                </a:cubicBezTo>
                <a:close/>
                <a:moveTo>
                  <a:pt x="389378" y="222028"/>
                </a:moveTo>
                <a:cubicBezTo>
                  <a:pt x="405800" y="213964"/>
                  <a:pt x="421079" y="203756"/>
                  <a:pt x="434816" y="191672"/>
                </a:cubicBezTo>
                <a:lnTo>
                  <a:pt x="434816" y="278744"/>
                </a:lnTo>
                <a:cubicBezTo>
                  <a:pt x="404308" y="253484"/>
                  <a:pt x="364993" y="241426"/>
                  <a:pt x="325568" y="245236"/>
                </a:cubicBezTo>
                <a:cubicBezTo>
                  <a:pt x="347605" y="239804"/>
                  <a:pt x="368998" y="232023"/>
                  <a:pt x="389378" y="222028"/>
                </a:cubicBezTo>
                <a:close/>
                <a:moveTo>
                  <a:pt x="190232" y="394052"/>
                </a:moveTo>
                <a:cubicBezTo>
                  <a:pt x="190232" y="459136"/>
                  <a:pt x="232333" y="516744"/>
                  <a:pt x="294343" y="536509"/>
                </a:cubicBezTo>
                <a:cubicBezTo>
                  <a:pt x="270428" y="541047"/>
                  <a:pt x="244502" y="543520"/>
                  <a:pt x="217408" y="543520"/>
                </a:cubicBezTo>
                <a:cubicBezTo>
                  <a:pt x="97344" y="543520"/>
                  <a:pt x="0" y="494875"/>
                  <a:pt x="0" y="434816"/>
                </a:cubicBezTo>
                <a:lnTo>
                  <a:pt x="0" y="191672"/>
                </a:lnTo>
                <a:cubicBezTo>
                  <a:pt x="13737" y="203756"/>
                  <a:pt x="29016" y="213964"/>
                  <a:pt x="45438" y="222028"/>
                </a:cubicBezTo>
                <a:cubicBezTo>
                  <a:pt x="91583" y="245073"/>
                  <a:pt x="152403" y="258172"/>
                  <a:pt x="217408" y="258172"/>
                </a:cubicBezTo>
                <a:cubicBezTo>
                  <a:pt x="243443" y="258172"/>
                  <a:pt x="268825" y="256079"/>
                  <a:pt x="292876" y="252057"/>
                </a:cubicBezTo>
                <a:cubicBezTo>
                  <a:pt x="231610" y="272285"/>
                  <a:pt x="190227" y="329531"/>
                  <a:pt x="190232" y="394052"/>
                </a:cubicBezTo>
                <a:close/>
                <a:moveTo>
                  <a:pt x="339700" y="516344"/>
                </a:moveTo>
                <a:cubicBezTo>
                  <a:pt x="365096" y="516382"/>
                  <a:pt x="389867" y="508474"/>
                  <a:pt x="410548" y="493734"/>
                </a:cubicBezTo>
                <a:lnTo>
                  <a:pt x="481559" y="564717"/>
                </a:lnTo>
                <a:cubicBezTo>
                  <a:pt x="489233" y="572952"/>
                  <a:pt x="502131" y="573408"/>
                  <a:pt x="510365" y="565734"/>
                </a:cubicBezTo>
                <a:cubicBezTo>
                  <a:pt x="518600" y="558059"/>
                  <a:pt x="519056" y="545164"/>
                  <a:pt x="511382" y="536927"/>
                </a:cubicBezTo>
                <a:cubicBezTo>
                  <a:pt x="511056" y="536577"/>
                  <a:pt x="510716" y="536237"/>
                  <a:pt x="510365" y="535911"/>
                </a:cubicBezTo>
                <a:lnTo>
                  <a:pt x="439382" y="464900"/>
                </a:lnTo>
                <a:cubicBezTo>
                  <a:pt x="478510" y="409849"/>
                  <a:pt x="465601" y="333501"/>
                  <a:pt x="410551" y="294373"/>
                </a:cubicBezTo>
                <a:cubicBezTo>
                  <a:pt x="355500" y="255245"/>
                  <a:pt x="279152" y="268154"/>
                  <a:pt x="240024" y="323204"/>
                </a:cubicBezTo>
                <a:cubicBezTo>
                  <a:pt x="200896" y="378255"/>
                  <a:pt x="213804" y="454603"/>
                  <a:pt x="268855" y="493731"/>
                </a:cubicBezTo>
                <a:cubicBezTo>
                  <a:pt x="289549" y="508441"/>
                  <a:pt x="314309" y="516344"/>
                  <a:pt x="339700" y="516344"/>
                </a:cubicBezTo>
                <a:close/>
                <a:moveTo>
                  <a:pt x="339700" y="475580"/>
                </a:moveTo>
                <a:cubicBezTo>
                  <a:pt x="294672" y="475580"/>
                  <a:pt x="258172" y="439080"/>
                  <a:pt x="258172" y="394052"/>
                </a:cubicBezTo>
                <a:cubicBezTo>
                  <a:pt x="258172" y="349024"/>
                  <a:pt x="294672" y="312524"/>
                  <a:pt x="339700" y="312524"/>
                </a:cubicBezTo>
                <a:cubicBezTo>
                  <a:pt x="384728" y="312524"/>
                  <a:pt x="421228" y="349024"/>
                  <a:pt x="421228" y="394052"/>
                </a:cubicBezTo>
                <a:cubicBezTo>
                  <a:pt x="421228" y="439080"/>
                  <a:pt x="384728" y="475580"/>
                  <a:pt x="339700" y="475580"/>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47" name="Text Placeholder 5">
            <a:extLst>
              <a:ext uri="{FF2B5EF4-FFF2-40B4-BE49-F238E27FC236}">
                <a16:creationId xmlns:a16="http://schemas.microsoft.com/office/drawing/2014/main" id="{DD8F7215-A614-85E4-EC3E-48D4218FCEC1}"/>
              </a:ext>
            </a:extLst>
          </p:cNvPr>
          <p:cNvSpPr txBox="1">
            <a:spLocks/>
          </p:cNvSpPr>
          <p:nvPr/>
        </p:nvSpPr>
        <p:spPr>
          <a:xfrm>
            <a:off x="3296345" y="5007300"/>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latin typeface="+mj-lt"/>
                <a:cs typeface="Segoe UI Semilight"/>
              </a:rPr>
              <a:t>Search</a:t>
            </a:r>
            <a:endParaRPr lang="en-US" sz="1800">
              <a:cs typeface="Segoe UI Semilight"/>
            </a:endParaRPr>
          </a:p>
        </p:txBody>
      </p:sp>
      <p:sp>
        <p:nvSpPr>
          <p:cNvPr id="52" name="TextBox 7">
            <a:extLst>
              <a:ext uri="{FF2B5EF4-FFF2-40B4-BE49-F238E27FC236}">
                <a16:creationId xmlns:a16="http://schemas.microsoft.com/office/drawing/2014/main" id="{95AFEA5B-B156-02D5-8F18-D6805C99BF68}"/>
              </a:ext>
            </a:extLst>
          </p:cNvPr>
          <p:cNvSpPr txBox="1"/>
          <p:nvPr/>
        </p:nvSpPr>
        <p:spPr>
          <a:xfrm>
            <a:off x="4667076" y="4184227"/>
            <a:ext cx="2031662" cy="1077218"/>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3657965" rtl="0" eaLnBrk="1" latinLnBrk="0" hangingPunct="1">
              <a:defRPr sz="7200" kern="1200">
                <a:solidFill>
                  <a:schemeClr val="dk1"/>
                </a:solidFill>
                <a:latin typeface="+mn-lt"/>
                <a:ea typeface="+mn-ea"/>
                <a:cs typeface="+mn-cs"/>
              </a:defRPr>
            </a:lvl1pPr>
            <a:lvl2pPr marL="1828983" algn="l" defTabSz="3657965" rtl="0" eaLnBrk="1" latinLnBrk="0" hangingPunct="1">
              <a:defRPr sz="7200" kern="1200">
                <a:solidFill>
                  <a:schemeClr val="dk1"/>
                </a:solidFill>
                <a:latin typeface="+mn-lt"/>
                <a:ea typeface="+mn-ea"/>
                <a:cs typeface="+mn-cs"/>
              </a:defRPr>
            </a:lvl2pPr>
            <a:lvl3pPr marL="3657965" algn="l" defTabSz="3657965" rtl="0" eaLnBrk="1" latinLnBrk="0" hangingPunct="1">
              <a:defRPr sz="7200" kern="1200">
                <a:solidFill>
                  <a:schemeClr val="dk1"/>
                </a:solidFill>
                <a:latin typeface="+mn-lt"/>
                <a:ea typeface="+mn-ea"/>
                <a:cs typeface="+mn-cs"/>
              </a:defRPr>
            </a:lvl3pPr>
            <a:lvl4pPr marL="5486948" algn="l" defTabSz="3657965" rtl="0" eaLnBrk="1" latinLnBrk="0" hangingPunct="1">
              <a:defRPr sz="7200" kern="1200">
                <a:solidFill>
                  <a:schemeClr val="dk1"/>
                </a:solidFill>
                <a:latin typeface="+mn-lt"/>
                <a:ea typeface="+mn-ea"/>
                <a:cs typeface="+mn-cs"/>
              </a:defRPr>
            </a:lvl4pPr>
            <a:lvl5pPr marL="7315932" algn="l" defTabSz="3657965" rtl="0" eaLnBrk="1" latinLnBrk="0" hangingPunct="1">
              <a:defRPr sz="7200" kern="1200">
                <a:solidFill>
                  <a:schemeClr val="dk1"/>
                </a:solidFill>
                <a:latin typeface="+mn-lt"/>
                <a:ea typeface="+mn-ea"/>
                <a:cs typeface="+mn-cs"/>
              </a:defRPr>
            </a:lvl5pPr>
            <a:lvl6pPr marL="9144915" algn="l" defTabSz="3657965" rtl="0" eaLnBrk="1" latinLnBrk="0" hangingPunct="1">
              <a:defRPr sz="7200" kern="1200">
                <a:solidFill>
                  <a:schemeClr val="dk1"/>
                </a:solidFill>
                <a:latin typeface="+mn-lt"/>
                <a:ea typeface="+mn-ea"/>
                <a:cs typeface="+mn-cs"/>
              </a:defRPr>
            </a:lvl6pPr>
            <a:lvl7pPr marL="10973897" algn="l" defTabSz="3657965" rtl="0" eaLnBrk="1" latinLnBrk="0" hangingPunct="1">
              <a:defRPr sz="7200" kern="1200">
                <a:solidFill>
                  <a:schemeClr val="dk1"/>
                </a:solidFill>
                <a:latin typeface="+mn-lt"/>
                <a:ea typeface="+mn-ea"/>
                <a:cs typeface="+mn-cs"/>
              </a:defRPr>
            </a:lvl7pPr>
            <a:lvl8pPr marL="12802880" algn="l" defTabSz="3657965" rtl="0" eaLnBrk="1" latinLnBrk="0" hangingPunct="1">
              <a:defRPr sz="7200" kern="1200">
                <a:solidFill>
                  <a:schemeClr val="dk1"/>
                </a:solidFill>
                <a:latin typeface="+mn-lt"/>
                <a:ea typeface="+mn-ea"/>
                <a:cs typeface="+mn-cs"/>
              </a:defRPr>
            </a:lvl8pPr>
            <a:lvl9pPr marL="14631864" algn="l" defTabSz="3657965" rtl="0" eaLnBrk="1" latinLnBrk="0" hangingPunct="1">
              <a:defRPr sz="7200" kern="1200">
                <a:solidFill>
                  <a:schemeClr val="dk1"/>
                </a:solidFill>
                <a:latin typeface="+mn-lt"/>
                <a:ea typeface="+mn-ea"/>
                <a:cs typeface="+mn-cs"/>
              </a:defRPr>
            </a:lvl9pPr>
          </a:lstStyle>
          <a:p>
            <a:r>
              <a:rPr lang="en-US" sz="1000">
                <a:solidFill>
                  <a:schemeClr val="tx1"/>
                </a:solidFill>
                <a:ea typeface="+mn-lt"/>
                <a:cs typeface="+mn-lt"/>
              </a:rPr>
              <a:t>Both plans offer coverage for medical services. Northwind Health Plus offers coverage for hospital stays, doctor visits, lab tests, and X-rays. Northwind Standard only offers coverage for doctor visits and lab tests. …</a:t>
            </a:r>
          </a:p>
        </p:txBody>
      </p:sp>
      <p:sp>
        <p:nvSpPr>
          <p:cNvPr id="43" name="Rounded Rectangle 5">
            <a:extLst>
              <a:ext uri="{FF2B5EF4-FFF2-40B4-BE49-F238E27FC236}">
                <a16:creationId xmlns:a16="http://schemas.microsoft.com/office/drawing/2014/main" id="{8D00D928-A235-4B5E-4404-9598731F3E86}"/>
              </a:ext>
              <a:ext uri="{C183D7F6-B498-43B3-948B-1728B52AA6E4}">
                <adec:decorative xmlns:adec="http://schemas.microsoft.com/office/drawing/2017/decorative" val="1"/>
              </a:ext>
            </a:extLst>
          </p:cNvPr>
          <p:cNvSpPr/>
          <p:nvPr/>
        </p:nvSpPr>
        <p:spPr bwMode="auto">
          <a:xfrm>
            <a:off x="7380213" y="2518358"/>
            <a:ext cx="1898415" cy="3420078"/>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35" name="Graphic 22" descr="Large Language Model icon">
            <a:extLst>
              <a:ext uri="{FF2B5EF4-FFF2-40B4-BE49-F238E27FC236}">
                <a16:creationId xmlns:a16="http://schemas.microsoft.com/office/drawing/2014/main" id="{556DE26A-42F6-6DD8-C107-651B9C6506AE}"/>
              </a:ext>
            </a:extLst>
          </p:cNvPr>
          <p:cNvSpPr/>
          <p:nvPr/>
        </p:nvSpPr>
        <p:spPr>
          <a:xfrm>
            <a:off x="7931544" y="3084121"/>
            <a:ext cx="795753" cy="796201"/>
          </a:xfrm>
          <a:custGeom>
            <a:avLst/>
            <a:gdLst>
              <a:gd name="connsiteX0" fmla="*/ 461978 w 543510"/>
              <a:gd name="connsiteY0" fmla="*/ 67910 h 543815"/>
              <a:gd name="connsiteX1" fmla="*/ 394065 w 543510"/>
              <a:gd name="connsiteY1" fmla="*/ 135877 h 543815"/>
              <a:gd name="connsiteX2" fmla="*/ 380124 w 543510"/>
              <a:gd name="connsiteY2" fmla="*/ 134437 h 543815"/>
              <a:gd name="connsiteX3" fmla="*/ 345338 w 543510"/>
              <a:gd name="connsiteY3" fmla="*/ 191995 h 543815"/>
              <a:gd name="connsiteX4" fmla="*/ 380450 w 543510"/>
              <a:gd name="connsiteY4" fmla="*/ 271974 h 543815"/>
              <a:gd name="connsiteX5" fmla="*/ 380450 w 543510"/>
              <a:gd name="connsiteY5" fmla="*/ 273551 h 543815"/>
              <a:gd name="connsiteX6" fmla="*/ 415670 w 543510"/>
              <a:gd name="connsiteY6" fmla="*/ 280644 h 543815"/>
              <a:gd name="connsiteX7" fmla="*/ 507639 w 543510"/>
              <a:gd name="connsiteY7" fmla="*/ 252837 h 543815"/>
              <a:gd name="connsiteX8" fmla="*/ 535445 w 543510"/>
              <a:gd name="connsiteY8" fmla="*/ 344809 h 543815"/>
              <a:gd name="connsiteX9" fmla="*/ 443476 w 543510"/>
              <a:gd name="connsiteY9" fmla="*/ 372613 h 543815"/>
              <a:gd name="connsiteX10" fmla="*/ 408088 w 543510"/>
              <a:gd name="connsiteY10" fmla="*/ 320701 h 543815"/>
              <a:gd name="connsiteX11" fmla="*/ 372215 w 543510"/>
              <a:gd name="connsiteY11" fmla="*/ 313499 h 543815"/>
              <a:gd name="connsiteX12" fmla="*/ 324875 w 543510"/>
              <a:gd name="connsiteY12" fmla="*/ 366846 h 543815"/>
              <a:gd name="connsiteX13" fmla="*/ 338327 w 543510"/>
              <a:gd name="connsiteY13" fmla="*/ 407936 h 543815"/>
              <a:gd name="connsiteX14" fmla="*/ 339686 w 543510"/>
              <a:gd name="connsiteY14" fmla="*/ 407936 h 543815"/>
              <a:gd name="connsiteX15" fmla="*/ 407577 w 543510"/>
              <a:gd name="connsiteY15" fmla="*/ 475925 h 543815"/>
              <a:gd name="connsiteX16" fmla="*/ 339588 w 543510"/>
              <a:gd name="connsiteY16" fmla="*/ 543816 h 543815"/>
              <a:gd name="connsiteX17" fmla="*/ 271697 w 543510"/>
              <a:gd name="connsiteY17" fmla="*/ 475827 h 543815"/>
              <a:gd name="connsiteX18" fmla="*/ 299683 w 543510"/>
              <a:gd name="connsiteY18" fmla="*/ 420926 h 543815"/>
              <a:gd name="connsiteX19" fmla="*/ 286203 w 543510"/>
              <a:gd name="connsiteY19" fmla="*/ 379727 h 543815"/>
              <a:gd name="connsiteX20" fmla="*/ 184239 w 543510"/>
              <a:gd name="connsiteY20" fmla="*/ 336436 h 543815"/>
              <a:gd name="connsiteX21" fmla="*/ 135458 w 543510"/>
              <a:gd name="connsiteY21" fmla="*/ 359481 h 543815"/>
              <a:gd name="connsiteX22" fmla="*/ 75560 w 543510"/>
              <a:gd name="connsiteY22" fmla="*/ 434606 h 543815"/>
              <a:gd name="connsiteX23" fmla="*/ 434 w 543510"/>
              <a:gd name="connsiteY23" fmla="*/ 374711 h 543815"/>
              <a:gd name="connsiteX24" fmla="*/ 60332 w 543510"/>
              <a:gd name="connsiteY24" fmla="*/ 299582 h 543815"/>
              <a:gd name="connsiteX25" fmla="*/ 118935 w 543510"/>
              <a:gd name="connsiteY25" fmla="*/ 322196 h 543815"/>
              <a:gd name="connsiteX26" fmla="*/ 166602 w 543510"/>
              <a:gd name="connsiteY26" fmla="*/ 299694 h 543815"/>
              <a:gd name="connsiteX27" fmla="*/ 187908 w 543510"/>
              <a:gd name="connsiteY27" fmla="*/ 202757 h 543815"/>
              <a:gd name="connsiteX28" fmla="*/ 160976 w 543510"/>
              <a:gd name="connsiteY28" fmla="*/ 172048 h 543815"/>
              <a:gd name="connsiteX29" fmla="*/ 72738 w 543510"/>
              <a:gd name="connsiteY29" fmla="*/ 134026 h 543815"/>
              <a:gd name="connsiteX30" fmla="*/ 110761 w 543510"/>
              <a:gd name="connsiteY30" fmla="*/ 45788 h 543815"/>
              <a:gd name="connsiteX31" fmla="*/ 198999 w 543510"/>
              <a:gd name="connsiteY31" fmla="*/ 83810 h 543815"/>
              <a:gd name="connsiteX32" fmla="*/ 192609 w 543510"/>
              <a:gd name="connsiteY32" fmla="*/ 146285 h 543815"/>
              <a:gd name="connsiteX33" fmla="*/ 219323 w 543510"/>
              <a:gd name="connsiteY33" fmla="*/ 176722 h 543815"/>
              <a:gd name="connsiteX34" fmla="*/ 271746 w 543510"/>
              <a:gd name="connsiteY34" fmla="*/ 163270 h 543815"/>
              <a:gd name="connsiteX35" fmla="*/ 310716 w 543510"/>
              <a:gd name="connsiteY35" fmla="*/ 170472 h 543815"/>
              <a:gd name="connsiteX36" fmla="*/ 344550 w 543510"/>
              <a:gd name="connsiteY36" fmla="*/ 114489 h 543815"/>
              <a:gd name="connsiteX37" fmla="*/ 347488 w 543510"/>
              <a:gd name="connsiteY37" fmla="*/ 18453 h 543815"/>
              <a:gd name="connsiteX38" fmla="*/ 443525 w 543510"/>
              <a:gd name="connsiteY38" fmla="*/ 21391 h 543815"/>
              <a:gd name="connsiteX39" fmla="*/ 461978 w 543510"/>
              <a:gd name="connsiteY39" fmla="*/ 67937 h 54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43510" h="543815">
                <a:moveTo>
                  <a:pt x="461978" y="67910"/>
                </a:moveTo>
                <a:cubicBezTo>
                  <a:pt x="461991" y="105432"/>
                  <a:pt x="431587" y="135862"/>
                  <a:pt x="394065" y="135877"/>
                </a:cubicBezTo>
                <a:cubicBezTo>
                  <a:pt x="389380" y="135879"/>
                  <a:pt x="384708" y="135396"/>
                  <a:pt x="380124" y="134437"/>
                </a:cubicBezTo>
                <a:lnTo>
                  <a:pt x="345338" y="191995"/>
                </a:lnTo>
                <a:cubicBezTo>
                  <a:pt x="367737" y="212554"/>
                  <a:pt x="380477" y="241573"/>
                  <a:pt x="380450" y="271974"/>
                </a:cubicBezTo>
                <a:lnTo>
                  <a:pt x="380450" y="273551"/>
                </a:lnTo>
                <a:lnTo>
                  <a:pt x="415670" y="280644"/>
                </a:lnTo>
                <a:cubicBezTo>
                  <a:pt x="433389" y="247568"/>
                  <a:pt x="474566" y="235118"/>
                  <a:pt x="507639" y="252837"/>
                </a:cubicBezTo>
                <a:cubicBezTo>
                  <a:pt x="540715" y="270556"/>
                  <a:pt x="553164" y="311733"/>
                  <a:pt x="535445" y="344809"/>
                </a:cubicBezTo>
                <a:cubicBezTo>
                  <a:pt x="517727" y="377882"/>
                  <a:pt x="476552" y="390331"/>
                  <a:pt x="443476" y="372613"/>
                </a:cubicBezTo>
                <a:cubicBezTo>
                  <a:pt x="423907" y="362131"/>
                  <a:pt x="410694" y="342749"/>
                  <a:pt x="408088" y="320701"/>
                </a:cubicBezTo>
                <a:lnTo>
                  <a:pt x="372215" y="313499"/>
                </a:lnTo>
                <a:cubicBezTo>
                  <a:pt x="362856" y="336083"/>
                  <a:pt x="346186" y="354869"/>
                  <a:pt x="324875" y="366846"/>
                </a:cubicBezTo>
                <a:lnTo>
                  <a:pt x="338327" y="407936"/>
                </a:lnTo>
                <a:lnTo>
                  <a:pt x="339686" y="407936"/>
                </a:lnTo>
                <a:cubicBezTo>
                  <a:pt x="377208" y="407963"/>
                  <a:pt x="407604" y="438403"/>
                  <a:pt x="407577" y="475925"/>
                </a:cubicBezTo>
                <a:cubicBezTo>
                  <a:pt x="407550" y="513447"/>
                  <a:pt x="377110" y="543843"/>
                  <a:pt x="339588" y="543816"/>
                </a:cubicBezTo>
                <a:cubicBezTo>
                  <a:pt x="302066" y="543789"/>
                  <a:pt x="271670" y="513349"/>
                  <a:pt x="271697" y="475827"/>
                </a:cubicBezTo>
                <a:cubicBezTo>
                  <a:pt x="271713" y="454105"/>
                  <a:pt x="282113" y="433701"/>
                  <a:pt x="299683" y="420926"/>
                </a:cubicBezTo>
                <a:lnTo>
                  <a:pt x="286203" y="379727"/>
                </a:lnTo>
                <a:cubicBezTo>
                  <a:pt x="246855" y="385032"/>
                  <a:pt x="207751" y="368430"/>
                  <a:pt x="184239" y="336436"/>
                </a:cubicBezTo>
                <a:lnTo>
                  <a:pt x="135458" y="359481"/>
                </a:lnTo>
                <a:cubicBezTo>
                  <a:pt x="139663" y="396767"/>
                  <a:pt x="112846" y="430402"/>
                  <a:pt x="75560" y="434606"/>
                </a:cubicBezTo>
                <a:cubicBezTo>
                  <a:pt x="38274" y="438813"/>
                  <a:pt x="4639" y="411996"/>
                  <a:pt x="434" y="374711"/>
                </a:cubicBezTo>
                <a:cubicBezTo>
                  <a:pt x="-3771" y="337422"/>
                  <a:pt x="23046" y="303789"/>
                  <a:pt x="60332" y="299582"/>
                </a:cubicBezTo>
                <a:cubicBezTo>
                  <a:pt x="82387" y="297096"/>
                  <a:pt x="104267" y="305539"/>
                  <a:pt x="118935" y="322196"/>
                </a:cubicBezTo>
                <a:lnTo>
                  <a:pt x="166602" y="299694"/>
                </a:lnTo>
                <a:cubicBezTo>
                  <a:pt x="157705" y="265835"/>
                  <a:pt x="165633" y="229765"/>
                  <a:pt x="187908" y="202757"/>
                </a:cubicBezTo>
                <a:lnTo>
                  <a:pt x="160976" y="172048"/>
                </a:lnTo>
                <a:cubicBezTo>
                  <a:pt x="126110" y="185915"/>
                  <a:pt x="86605" y="168892"/>
                  <a:pt x="72738" y="134026"/>
                </a:cubicBezTo>
                <a:cubicBezTo>
                  <a:pt x="58872" y="99160"/>
                  <a:pt x="75895" y="59654"/>
                  <a:pt x="110761" y="45788"/>
                </a:cubicBezTo>
                <a:cubicBezTo>
                  <a:pt x="145627" y="31921"/>
                  <a:pt x="185132" y="48944"/>
                  <a:pt x="198999" y="83810"/>
                </a:cubicBezTo>
                <a:cubicBezTo>
                  <a:pt x="207199" y="104429"/>
                  <a:pt x="204814" y="127753"/>
                  <a:pt x="192609" y="146285"/>
                </a:cubicBezTo>
                <a:lnTo>
                  <a:pt x="219323" y="176722"/>
                </a:lnTo>
                <a:cubicBezTo>
                  <a:pt x="235376" y="167871"/>
                  <a:pt x="253416" y="163242"/>
                  <a:pt x="271746" y="163270"/>
                </a:cubicBezTo>
                <a:cubicBezTo>
                  <a:pt x="285470" y="163270"/>
                  <a:pt x="298650" y="165825"/>
                  <a:pt x="310716" y="170472"/>
                </a:cubicBezTo>
                <a:lnTo>
                  <a:pt x="344550" y="114489"/>
                </a:lnTo>
                <a:cubicBezTo>
                  <a:pt x="318842" y="87158"/>
                  <a:pt x="320157" y="44161"/>
                  <a:pt x="347488" y="18453"/>
                </a:cubicBezTo>
                <a:cubicBezTo>
                  <a:pt x="374819" y="-7256"/>
                  <a:pt x="417817" y="-5940"/>
                  <a:pt x="443525" y="21391"/>
                </a:cubicBezTo>
                <a:cubicBezTo>
                  <a:pt x="455377" y="33991"/>
                  <a:pt x="461978" y="50638"/>
                  <a:pt x="461978" y="67937"/>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54" name="Text Placeholder 5">
            <a:extLst>
              <a:ext uri="{FF2B5EF4-FFF2-40B4-BE49-F238E27FC236}">
                <a16:creationId xmlns:a16="http://schemas.microsoft.com/office/drawing/2014/main" id="{D701FF38-F1BA-EE45-6291-A1CFE7800716}"/>
              </a:ext>
            </a:extLst>
          </p:cNvPr>
          <p:cNvSpPr txBox="1">
            <a:spLocks/>
          </p:cNvSpPr>
          <p:nvPr/>
        </p:nvSpPr>
        <p:spPr>
          <a:xfrm>
            <a:off x="7690209" y="4105234"/>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latin typeface="+mj-lt"/>
                <a:cs typeface="Segoe UI Semilight"/>
              </a:rPr>
              <a:t>Large Language Model</a:t>
            </a:r>
          </a:p>
        </p:txBody>
      </p:sp>
      <p:grpSp>
        <p:nvGrpSpPr>
          <p:cNvPr id="14" name="Group 13" descr="For great hiking shoes, consider the TrekExtreme Hiking Shoes1  or the Trailblaze Steel-Blue Hiking Shoes2&#10;">
            <a:extLst>
              <a:ext uri="{FF2B5EF4-FFF2-40B4-BE49-F238E27FC236}">
                <a16:creationId xmlns:a16="http://schemas.microsoft.com/office/drawing/2014/main" id="{4BF689E4-12B2-A58D-8C07-D073C3EB1D0C}"/>
              </a:ext>
            </a:extLst>
          </p:cNvPr>
          <p:cNvGrpSpPr/>
          <p:nvPr/>
        </p:nvGrpSpPr>
        <p:grpSpPr>
          <a:xfrm>
            <a:off x="9018953" y="1196810"/>
            <a:ext cx="2948076" cy="1422279"/>
            <a:chOff x="9018953" y="-798245"/>
            <a:chExt cx="2948076" cy="1422279"/>
          </a:xfrm>
        </p:grpSpPr>
        <p:sp>
          <p:nvSpPr>
            <p:cNvPr id="13" name="Freeform 12">
              <a:extLst>
                <a:ext uri="{FF2B5EF4-FFF2-40B4-BE49-F238E27FC236}">
                  <a16:creationId xmlns:a16="http://schemas.microsoft.com/office/drawing/2014/main" id="{BD6B2EDF-FBF3-68F5-E70B-3E4CBF4B0D18}"/>
                </a:ext>
                <a:ext uri="{C183D7F6-B498-43B3-948B-1728B52AA6E4}">
                  <adec:decorative xmlns:adec="http://schemas.microsoft.com/office/drawing/2017/decorative" val="1"/>
                </a:ext>
              </a:extLst>
            </p:cNvPr>
            <p:cNvSpPr/>
            <p:nvPr/>
          </p:nvSpPr>
          <p:spPr bwMode="auto">
            <a:xfrm>
              <a:off x="9018953" y="-789893"/>
              <a:ext cx="2948076" cy="1413927"/>
            </a:xfrm>
            <a:custGeom>
              <a:avLst/>
              <a:gdLst>
                <a:gd name="connsiteX0" fmla="*/ 192145 w 2948076"/>
                <a:gd name="connsiteY0" fmla="*/ 0 h 1413927"/>
                <a:gd name="connsiteX1" fmla="*/ 2755931 w 2948076"/>
                <a:gd name="connsiteY1" fmla="*/ 0 h 1413927"/>
                <a:gd name="connsiteX2" fmla="*/ 2948076 w 2948076"/>
                <a:gd name="connsiteY2" fmla="*/ 192145 h 1413927"/>
                <a:gd name="connsiteX3" fmla="*/ 2948076 w 2948076"/>
                <a:gd name="connsiteY3" fmla="*/ 960701 h 1413927"/>
                <a:gd name="connsiteX4" fmla="*/ 2755931 w 2948076"/>
                <a:gd name="connsiteY4" fmla="*/ 1152846 h 1413927"/>
                <a:gd name="connsiteX5" fmla="*/ 1814482 w 2948076"/>
                <a:gd name="connsiteY5" fmla="*/ 1152846 h 1413927"/>
                <a:gd name="connsiteX6" fmla="*/ 1814482 w 2948076"/>
                <a:gd name="connsiteY6" fmla="*/ 1413927 h 1413927"/>
                <a:gd name="connsiteX7" fmla="*/ 1553401 w 2948076"/>
                <a:gd name="connsiteY7" fmla="*/ 1152846 h 1413927"/>
                <a:gd name="connsiteX8" fmla="*/ 192145 w 2948076"/>
                <a:gd name="connsiteY8" fmla="*/ 1152846 h 1413927"/>
                <a:gd name="connsiteX9" fmla="*/ 0 w 2948076"/>
                <a:gd name="connsiteY9" fmla="*/ 960701 h 1413927"/>
                <a:gd name="connsiteX10" fmla="*/ 0 w 2948076"/>
                <a:gd name="connsiteY10" fmla="*/ 192145 h 1413927"/>
                <a:gd name="connsiteX11" fmla="*/ 192145 w 2948076"/>
                <a:gd name="connsiteY11" fmla="*/ 0 h 14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48076" h="1413927">
                  <a:moveTo>
                    <a:pt x="192145" y="0"/>
                  </a:moveTo>
                  <a:lnTo>
                    <a:pt x="2755931" y="0"/>
                  </a:lnTo>
                  <a:cubicBezTo>
                    <a:pt x="2862050" y="0"/>
                    <a:pt x="2948076" y="86026"/>
                    <a:pt x="2948076" y="192145"/>
                  </a:cubicBezTo>
                  <a:lnTo>
                    <a:pt x="2948076" y="960701"/>
                  </a:lnTo>
                  <a:cubicBezTo>
                    <a:pt x="2948076" y="1066820"/>
                    <a:pt x="2862050" y="1152846"/>
                    <a:pt x="2755931" y="1152846"/>
                  </a:cubicBezTo>
                  <a:lnTo>
                    <a:pt x="1814482" y="1152846"/>
                  </a:lnTo>
                  <a:lnTo>
                    <a:pt x="1814482" y="1413927"/>
                  </a:lnTo>
                  <a:lnTo>
                    <a:pt x="1553401" y="1152846"/>
                  </a:lnTo>
                  <a:lnTo>
                    <a:pt x="192145" y="1152846"/>
                  </a:lnTo>
                  <a:cubicBezTo>
                    <a:pt x="86026" y="1152846"/>
                    <a:pt x="0" y="1066820"/>
                    <a:pt x="0" y="960701"/>
                  </a:cubicBezTo>
                  <a:lnTo>
                    <a:pt x="0" y="192145"/>
                  </a:lnTo>
                  <a:cubicBezTo>
                    <a:pt x="0" y="86026"/>
                    <a:pt x="86026" y="0"/>
                    <a:pt x="192145" y="0"/>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err="1">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10" name="Text Placeholder 5">
              <a:extLst>
                <a:ext uri="{FF2B5EF4-FFF2-40B4-BE49-F238E27FC236}">
                  <a16:creationId xmlns:a16="http://schemas.microsoft.com/office/drawing/2014/main" id="{EFE70F22-A9C6-F80D-9A1E-4602581F8AF0}"/>
                </a:ext>
                <a:ext uri="{C183D7F6-B498-43B3-948B-1728B52AA6E4}">
                  <adec:decorative xmlns:adec="http://schemas.microsoft.com/office/drawing/2017/decorative" val="1"/>
                </a:ext>
              </a:extLst>
            </p:cNvPr>
            <p:cNvSpPr txBox="1">
              <a:spLocks/>
            </p:cNvSpPr>
            <p:nvPr/>
          </p:nvSpPr>
          <p:spPr>
            <a:xfrm>
              <a:off x="9127811" y="-798245"/>
              <a:ext cx="2730360" cy="1169551"/>
            </a:xfrm>
            <a:prstGeom prst="rect">
              <a:avLst/>
            </a:prstGeom>
          </p:spPr>
          <p:txBody>
            <a:bodyPr lIns="91440" tIns="45720" rIns="91440" bIns="45720" anchor="ctr">
              <a:spAutoFit/>
            </a:bodyP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400">
                  <a:solidFill>
                    <a:schemeClr val="bg1"/>
                  </a:solidFill>
                  <a:latin typeface="Segoe UI"/>
                  <a:cs typeface="Segoe UI Semilight"/>
                </a:rPr>
                <a:t>Both plans offer coverage for medical services, such as doctor visits and lab tests, but the Health Plus plan also covers hospital stays and X-rays</a:t>
              </a:r>
              <a:r>
                <a:rPr lang="en-US" sz="1400" baseline="30000">
                  <a:solidFill>
                    <a:schemeClr val="bg1"/>
                  </a:solidFill>
                  <a:latin typeface="Segoe UI"/>
                  <a:cs typeface="Segoe UI Semilight"/>
                </a:rPr>
                <a:t>1</a:t>
              </a:r>
            </a:p>
          </p:txBody>
        </p:sp>
      </p:grpSp>
      <p:grpSp>
        <p:nvGrpSpPr>
          <p:cNvPr id="82" name="Group 81">
            <a:extLst>
              <a:ext uri="{FF2B5EF4-FFF2-40B4-BE49-F238E27FC236}">
                <a16:creationId xmlns:a16="http://schemas.microsoft.com/office/drawing/2014/main" id="{436D6F88-12BD-684E-027D-0D511DC0DBCA}"/>
              </a:ext>
              <a:ext uri="{C183D7F6-B498-43B3-948B-1728B52AA6E4}">
                <adec:decorative xmlns:adec="http://schemas.microsoft.com/office/drawing/2017/decorative" val="1"/>
              </a:ext>
            </a:extLst>
          </p:cNvPr>
          <p:cNvGrpSpPr/>
          <p:nvPr/>
        </p:nvGrpSpPr>
        <p:grpSpPr>
          <a:xfrm>
            <a:off x="9280038" y="3377891"/>
            <a:ext cx="674005" cy="219834"/>
            <a:chOff x="9280038" y="3377891"/>
            <a:chExt cx="674005" cy="219834"/>
          </a:xfrm>
        </p:grpSpPr>
        <p:cxnSp>
          <p:nvCxnSpPr>
            <p:cNvPr id="55" name="Straight Connector 54">
              <a:extLst>
                <a:ext uri="{FF2B5EF4-FFF2-40B4-BE49-F238E27FC236}">
                  <a16:creationId xmlns:a16="http://schemas.microsoft.com/office/drawing/2014/main" id="{48175A78-CC51-6659-8C5D-A058BF6DEBFB}"/>
                </a:ext>
                <a:ext uri="{C183D7F6-B498-43B3-948B-1728B52AA6E4}">
                  <adec:decorative xmlns:adec="http://schemas.microsoft.com/office/drawing/2017/decorative" val="1"/>
                </a:ext>
              </a:extLst>
            </p:cNvPr>
            <p:cNvCxnSpPr>
              <a:cxnSpLocks/>
            </p:cNvCxnSpPr>
            <p:nvPr/>
          </p:nvCxnSpPr>
          <p:spPr>
            <a:xfrm>
              <a:off x="9280038" y="3487808"/>
              <a:ext cx="570422" cy="0"/>
            </a:xfrm>
            <a:prstGeom prst="line">
              <a:avLst/>
            </a:prstGeom>
            <a:noFill/>
            <a:ln w="15875">
              <a:gradFill>
                <a:gsLst>
                  <a:gs pos="0">
                    <a:srgbClr val="F4364C"/>
                  </a:gs>
                  <a:gs pos="100000">
                    <a:srgbClr val="49C5B1"/>
                  </a:gs>
                  <a:gs pos="80000">
                    <a:srgbClr val="0078D4"/>
                  </a:gs>
                  <a:gs pos="26000">
                    <a:srgbClr val="C03BC4"/>
                  </a:gs>
                </a:gsLst>
                <a:lin ang="10800000" scaled="0"/>
              </a:gradFill>
              <a:headEnd type="oval" w="med" len="med"/>
              <a:tailEnd type="oval" w="lg" len="lg"/>
            </a:ln>
            <a:effectLst/>
          </p:spPr>
          <p:style>
            <a:lnRef idx="1">
              <a:schemeClr val="accent2"/>
            </a:lnRef>
            <a:fillRef idx="3">
              <a:schemeClr val="accent2"/>
            </a:fillRef>
            <a:effectRef idx="2">
              <a:schemeClr val="accent2"/>
            </a:effectRef>
            <a:fontRef idx="minor">
              <a:schemeClr val="lt1"/>
            </a:fontRef>
          </p:style>
        </p:cxnSp>
        <p:grpSp>
          <p:nvGrpSpPr>
            <p:cNvPr id="56" name="Group 55">
              <a:extLst>
                <a:ext uri="{FF2B5EF4-FFF2-40B4-BE49-F238E27FC236}">
                  <a16:creationId xmlns:a16="http://schemas.microsoft.com/office/drawing/2014/main" id="{D0464E0B-D697-7168-38C2-81439E0C5863}"/>
                </a:ext>
              </a:extLst>
            </p:cNvPr>
            <p:cNvGrpSpPr/>
            <p:nvPr/>
          </p:nvGrpSpPr>
          <p:grpSpPr>
            <a:xfrm>
              <a:off x="9734208" y="3377891"/>
              <a:ext cx="219835" cy="219834"/>
              <a:chOff x="1613419" y="2537559"/>
              <a:chExt cx="339399" cy="339399"/>
            </a:xfrm>
          </p:grpSpPr>
          <p:sp>
            <p:nvSpPr>
              <p:cNvPr id="57" name="Oval 56">
                <a:extLst>
                  <a:ext uri="{FF2B5EF4-FFF2-40B4-BE49-F238E27FC236}">
                    <a16:creationId xmlns:a16="http://schemas.microsoft.com/office/drawing/2014/main" id="{EB8F7753-758C-CBE6-698C-53C63E89B15F}"/>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58" name="Oval 57">
                <a:extLst>
                  <a:ext uri="{FF2B5EF4-FFF2-40B4-BE49-F238E27FC236}">
                    <a16:creationId xmlns:a16="http://schemas.microsoft.com/office/drawing/2014/main" id="{03387472-4C79-EBBD-42B0-006E06E3C121}"/>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grpSp>
      <p:sp>
        <p:nvSpPr>
          <p:cNvPr id="36" name="Graphic 27" descr="Robot icon">
            <a:extLst>
              <a:ext uri="{FF2B5EF4-FFF2-40B4-BE49-F238E27FC236}">
                <a16:creationId xmlns:a16="http://schemas.microsoft.com/office/drawing/2014/main" id="{8DF032A0-A39E-4698-739F-D5C4FA274C36}"/>
              </a:ext>
            </a:extLst>
          </p:cNvPr>
          <p:cNvSpPr/>
          <p:nvPr/>
        </p:nvSpPr>
        <p:spPr>
          <a:xfrm>
            <a:off x="10192368" y="3006368"/>
            <a:ext cx="770305" cy="962880"/>
          </a:xfrm>
          <a:custGeom>
            <a:avLst/>
            <a:gdLst>
              <a:gd name="connsiteX0" fmla="*/ 373670 w 434816"/>
              <a:gd name="connsiteY0" fmla="*/ 326112 h 543520"/>
              <a:gd name="connsiteX1" fmla="*/ 434816 w 434816"/>
              <a:gd name="connsiteY1" fmla="*/ 387258 h 543520"/>
              <a:gd name="connsiteX2" fmla="*/ 434816 w 434816"/>
              <a:gd name="connsiteY2" fmla="*/ 411852 h 543520"/>
              <a:gd name="connsiteX3" fmla="*/ 399297 w 434816"/>
              <a:gd name="connsiteY3" fmla="*/ 489195 h 543520"/>
              <a:gd name="connsiteX4" fmla="*/ 217326 w 434816"/>
              <a:gd name="connsiteY4" fmla="*/ 543520 h 543520"/>
              <a:gd name="connsiteX5" fmla="*/ 35492 w 434816"/>
              <a:gd name="connsiteY5" fmla="*/ 489168 h 543520"/>
              <a:gd name="connsiteX6" fmla="*/ 0 w 434816"/>
              <a:gd name="connsiteY6" fmla="*/ 411907 h 543520"/>
              <a:gd name="connsiteX7" fmla="*/ 0 w 434816"/>
              <a:gd name="connsiteY7" fmla="*/ 387231 h 543520"/>
              <a:gd name="connsiteX8" fmla="*/ 61146 w 434816"/>
              <a:gd name="connsiteY8" fmla="*/ 326112 h 543520"/>
              <a:gd name="connsiteX9" fmla="*/ 373670 w 434816"/>
              <a:gd name="connsiteY9" fmla="*/ 326112 h 543520"/>
              <a:gd name="connsiteX10" fmla="*/ 214555 w 434816"/>
              <a:gd name="connsiteY10" fmla="*/ 217 h 543520"/>
              <a:gd name="connsiteX11" fmla="*/ 217326 w 434816"/>
              <a:gd name="connsiteY11" fmla="*/ 0 h 543520"/>
              <a:gd name="connsiteX12" fmla="*/ 237518 w 434816"/>
              <a:gd name="connsiteY12" fmla="*/ 17610 h 543520"/>
              <a:gd name="connsiteX13" fmla="*/ 237708 w 434816"/>
              <a:gd name="connsiteY13" fmla="*/ 20382 h 543520"/>
              <a:gd name="connsiteX14" fmla="*/ 237708 w 434816"/>
              <a:gd name="connsiteY14" fmla="*/ 40764 h 543520"/>
              <a:gd name="connsiteX15" fmla="*/ 332824 w 434816"/>
              <a:gd name="connsiteY15" fmla="*/ 40764 h 543520"/>
              <a:gd name="connsiteX16" fmla="*/ 393970 w 434816"/>
              <a:gd name="connsiteY16" fmla="*/ 101910 h 543520"/>
              <a:gd name="connsiteX17" fmla="*/ 393970 w 434816"/>
              <a:gd name="connsiteY17" fmla="*/ 224338 h 543520"/>
              <a:gd name="connsiteX18" fmla="*/ 332824 w 434816"/>
              <a:gd name="connsiteY18" fmla="*/ 285484 h 543520"/>
              <a:gd name="connsiteX19" fmla="*/ 101828 w 434816"/>
              <a:gd name="connsiteY19" fmla="*/ 285484 h 543520"/>
              <a:gd name="connsiteX20" fmla="*/ 40682 w 434816"/>
              <a:gd name="connsiteY20" fmla="*/ 224338 h 543520"/>
              <a:gd name="connsiteX21" fmla="*/ 40682 w 434816"/>
              <a:gd name="connsiteY21" fmla="*/ 101910 h 543520"/>
              <a:gd name="connsiteX22" fmla="*/ 101828 w 434816"/>
              <a:gd name="connsiteY22" fmla="*/ 40764 h 543520"/>
              <a:gd name="connsiteX23" fmla="*/ 196944 w 434816"/>
              <a:gd name="connsiteY23" fmla="*/ 40764 h 543520"/>
              <a:gd name="connsiteX24" fmla="*/ 196944 w 434816"/>
              <a:gd name="connsiteY24" fmla="*/ 20409 h 543520"/>
              <a:gd name="connsiteX25" fmla="*/ 214555 w 434816"/>
              <a:gd name="connsiteY25" fmla="*/ 217 h 543520"/>
              <a:gd name="connsiteX26" fmla="*/ 217326 w 434816"/>
              <a:gd name="connsiteY26" fmla="*/ 0 h 543520"/>
              <a:gd name="connsiteX27" fmla="*/ 214555 w 434816"/>
              <a:gd name="connsiteY27" fmla="*/ 190 h 543520"/>
              <a:gd name="connsiteX28" fmla="*/ 156180 w 434816"/>
              <a:gd name="connsiteY28" fmla="*/ 122292 h 543520"/>
              <a:gd name="connsiteX29" fmla="*/ 122210 w 434816"/>
              <a:gd name="connsiteY29" fmla="*/ 156262 h 543520"/>
              <a:gd name="connsiteX30" fmla="*/ 156180 w 434816"/>
              <a:gd name="connsiteY30" fmla="*/ 190232 h 543520"/>
              <a:gd name="connsiteX31" fmla="*/ 190150 w 434816"/>
              <a:gd name="connsiteY31" fmla="*/ 156262 h 543520"/>
              <a:gd name="connsiteX32" fmla="*/ 156180 w 434816"/>
              <a:gd name="connsiteY32" fmla="*/ 122292 h 543520"/>
              <a:gd name="connsiteX33" fmla="*/ 278282 w 434816"/>
              <a:gd name="connsiteY33" fmla="*/ 122292 h 543520"/>
              <a:gd name="connsiteX34" fmla="*/ 243364 w 434816"/>
              <a:gd name="connsiteY34" fmla="*/ 155288 h 543520"/>
              <a:gd name="connsiteX35" fmla="*/ 276361 w 434816"/>
              <a:gd name="connsiteY35" fmla="*/ 190205 h 543520"/>
              <a:gd name="connsiteX36" fmla="*/ 278282 w 434816"/>
              <a:gd name="connsiteY36" fmla="*/ 190205 h 543520"/>
              <a:gd name="connsiteX37" fmla="*/ 311277 w 434816"/>
              <a:gd name="connsiteY37" fmla="*/ 155288 h 543520"/>
              <a:gd name="connsiteX38" fmla="*/ 278282 w 434816"/>
              <a:gd name="connsiteY38" fmla="*/ 122292 h 543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34816" h="543520">
                <a:moveTo>
                  <a:pt x="373670" y="326112"/>
                </a:moveTo>
                <a:cubicBezTo>
                  <a:pt x="407439" y="326112"/>
                  <a:pt x="434816" y="353489"/>
                  <a:pt x="434816" y="387258"/>
                </a:cubicBezTo>
                <a:lnTo>
                  <a:pt x="434816" y="411852"/>
                </a:lnTo>
                <a:cubicBezTo>
                  <a:pt x="434824" y="441580"/>
                  <a:pt x="421850" y="469830"/>
                  <a:pt x="399297" y="489195"/>
                </a:cubicBezTo>
                <a:cubicBezTo>
                  <a:pt x="356739" y="525720"/>
                  <a:pt x="295865" y="543520"/>
                  <a:pt x="217326" y="543520"/>
                </a:cubicBezTo>
                <a:cubicBezTo>
                  <a:pt x="138788" y="543520"/>
                  <a:pt x="77968" y="525693"/>
                  <a:pt x="35492" y="489168"/>
                </a:cubicBezTo>
                <a:cubicBezTo>
                  <a:pt x="12970" y="469816"/>
                  <a:pt x="9" y="441602"/>
                  <a:pt x="0" y="411907"/>
                </a:cubicBezTo>
                <a:lnTo>
                  <a:pt x="0" y="387231"/>
                </a:lnTo>
                <a:cubicBezTo>
                  <a:pt x="15" y="353473"/>
                  <a:pt x="27387" y="326112"/>
                  <a:pt x="61146" y="326112"/>
                </a:cubicBezTo>
                <a:lnTo>
                  <a:pt x="373670" y="326112"/>
                </a:lnTo>
                <a:close/>
                <a:moveTo>
                  <a:pt x="214555" y="217"/>
                </a:moveTo>
                <a:lnTo>
                  <a:pt x="217326" y="0"/>
                </a:lnTo>
                <a:cubicBezTo>
                  <a:pt x="227512" y="1"/>
                  <a:pt x="236132" y="7520"/>
                  <a:pt x="237518" y="17610"/>
                </a:cubicBezTo>
                <a:lnTo>
                  <a:pt x="237708" y="20382"/>
                </a:lnTo>
                <a:lnTo>
                  <a:pt x="237708" y="40764"/>
                </a:lnTo>
                <a:lnTo>
                  <a:pt x="332824" y="40764"/>
                </a:lnTo>
                <a:cubicBezTo>
                  <a:pt x="366593" y="40764"/>
                  <a:pt x="393970" y="68140"/>
                  <a:pt x="393970" y="101910"/>
                </a:cubicBezTo>
                <a:lnTo>
                  <a:pt x="393970" y="224338"/>
                </a:lnTo>
                <a:cubicBezTo>
                  <a:pt x="393970" y="258107"/>
                  <a:pt x="366593" y="285484"/>
                  <a:pt x="332824" y="285484"/>
                </a:cubicBezTo>
                <a:lnTo>
                  <a:pt x="101828" y="285484"/>
                </a:lnTo>
                <a:cubicBezTo>
                  <a:pt x="68058" y="285484"/>
                  <a:pt x="40682" y="258107"/>
                  <a:pt x="40682" y="224338"/>
                </a:cubicBezTo>
                <a:lnTo>
                  <a:pt x="40682" y="101910"/>
                </a:lnTo>
                <a:cubicBezTo>
                  <a:pt x="40682" y="68140"/>
                  <a:pt x="68058" y="40764"/>
                  <a:pt x="101828" y="40764"/>
                </a:cubicBezTo>
                <a:lnTo>
                  <a:pt x="196944" y="40764"/>
                </a:lnTo>
                <a:lnTo>
                  <a:pt x="196944" y="20409"/>
                </a:lnTo>
                <a:cubicBezTo>
                  <a:pt x="196944" y="10224"/>
                  <a:pt x="204464" y="1603"/>
                  <a:pt x="214555" y="217"/>
                </a:cubicBezTo>
                <a:lnTo>
                  <a:pt x="217326" y="0"/>
                </a:lnTo>
                <a:lnTo>
                  <a:pt x="214555" y="190"/>
                </a:lnTo>
                <a:close/>
                <a:moveTo>
                  <a:pt x="156180" y="122292"/>
                </a:moveTo>
                <a:cubicBezTo>
                  <a:pt x="137419" y="122292"/>
                  <a:pt x="122210" y="137501"/>
                  <a:pt x="122210" y="156262"/>
                </a:cubicBezTo>
                <a:cubicBezTo>
                  <a:pt x="122210" y="175023"/>
                  <a:pt x="137419" y="190232"/>
                  <a:pt x="156180" y="190232"/>
                </a:cubicBezTo>
                <a:cubicBezTo>
                  <a:pt x="174943" y="190232"/>
                  <a:pt x="190150" y="175023"/>
                  <a:pt x="190150" y="156262"/>
                </a:cubicBezTo>
                <a:cubicBezTo>
                  <a:pt x="190150" y="137501"/>
                  <a:pt x="174943" y="122292"/>
                  <a:pt x="156180" y="122292"/>
                </a:cubicBezTo>
                <a:close/>
                <a:moveTo>
                  <a:pt x="278282" y="122292"/>
                </a:moveTo>
                <a:cubicBezTo>
                  <a:pt x="259528" y="121762"/>
                  <a:pt x="243896" y="136534"/>
                  <a:pt x="243364" y="155288"/>
                </a:cubicBezTo>
                <a:cubicBezTo>
                  <a:pt x="242834" y="174041"/>
                  <a:pt x="257607" y="189674"/>
                  <a:pt x="276361" y="190205"/>
                </a:cubicBezTo>
                <a:cubicBezTo>
                  <a:pt x="277002" y="190223"/>
                  <a:pt x="277641" y="190223"/>
                  <a:pt x="278282" y="190205"/>
                </a:cubicBezTo>
                <a:cubicBezTo>
                  <a:pt x="297036" y="189674"/>
                  <a:pt x="311809" y="174041"/>
                  <a:pt x="311277" y="155288"/>
                </a:cubicBezTo>
                <a:cubicBezTo>
                  <a:pt x="310768" y="137280"/>
                  <a:pt x="296289" y="122802"/>
                  <a:pt x="278282" y="122292"/>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nvGrpSpPr>
          <p:cNvPr id="81" name="Group 80">
            <a:extLst>
              <a:ext uri="{FF2B5EF4-FFF2-40B4-BE49-F238E27FC236}">
                <a16:creationId xmlns:a16="http://schemas.microsoft.com/office/drawing/2014/main" id="{92B7D7CD-057F-106B-8F04-74D30293429B}"/>
              </a:ext>
              <a:ext uri="{C183D7F6-B498-43B3-948B-1728B52AA6E4}">
                <adec:decorative xmlns:adec="http://schemas.microsoft.com/office/drawing/2017/decorative" val="1"/>
              </a:ext>
            </a:extLst>
          </p:cNvPr>
          <p:cNvGrpSpPr/>
          <p:nvPr/>
        </p:nvGrpSpPr>
        <p:grpSpPr>
          <a:xfrm>
            <a:off x="1543084" y="3226588"/>
            <a:ext cx="5955435" cy="588425"/>
            <a:chOff x="1543084" y="3226588"/>
            <a:chExt cx="5955435" cy="588425"/>
          </a:xfrm>
        </p:grpSpPr>
        <p:cxnSp>
          <p:nvCxnSpPr>
            <p:cNvPr id="59" name="Straight Connector 58">
              <a:extLst>
                <a:ext uri="{FF2B5EF4-FFF2-40B4-BE49-F238E27FC236}">
                  <a16:creationId xmlns:a16="http://schemas.microsoft.com/office/drawing/2014/main" id="{4963FA52-425D-1362-00DA-B566F3B18D05}"/>
                </a:ext>
                <a:ext uri="{C183D7F6-B498-43B3-948B-1728B52AA6E4}">
                  <adec:decorative xmlns:adec="http://schemas.microsoft.com/office/drawing/2017/decorative" val="1"/>
                </a:ext>
              </a:extLst>
            </p:cNvPr>
            <p:cNvCxnSpPr>
              <a:cxnSpLocks/>
            </p:cNvCxnSpPr>
            <p:nvPr/>
          </p:nvCxnSpPr>
          <p:spPr>
            <a:xfrm>
              <a:off x="1543084" y="3336505"/>
              <a:ext cx="5845914" cy="0"/>
            </a:xfrm>
            <a:prstGeom prst="line">
              <a:avLst/>
            </a:prstGeom>
            <a:noFill/>
            <a:ln w="15875">
              <a:gradFill>
                <a:gsLst>
                  <a:gs pos="0">
                    <a:srgbClr val="F4364C"/>
                  </a:gs>
                  <a:gs pos="100000">
                    <a:srgbClr val="49C5B1"/>
                  </a:gs>
                  <a:gs pos="80000">
                    <a:srgbClr val="0078D4"/>
                  </a:gs>
                  <a:gs pos="26000">
                    <a:srgbClr val="C03BC4"/>
                  </a:gs>
                </a:gsLst>
                <a:lin ang="10800000" scaled="0"/>
              </a:gradFill>
              <a:headEnd type="none" w="med" len="med"/>
              <a:tailEnd type="none" w="lg" len="lg"/>
            </a:ln>
            <a:effectLst/>
          </p:spPr>
          <p:style>
            <a:lnRef idx="1">
              <a:schemeClr val="accent2"/>
            </a:lnRef>
            <a:fillRef idx="3">
              <a:schemeClr val="accent2"/>
            </a:fillRef>
            <a:effectRef idx="2">
              <a:schemeClr val="accent2"/>
            </a:effectRef>
            <a:fontRef idx="minor">
              <a:schemeClr val="lt1"/>
            </a:fontRef>
          </p:style>
        </p:cxnSp>
        <p:grpSp>
          <p:nvGrpSpPr>
            <p:cNvPr id="60" name="Group 59">
              <a:extLst>
                <a:ext uri="{FF2B5EF4-FFF2-40B4-BE49-F238E27FC236}">
                  <a16:creationId xmlns:a16="http://schemas.microsoft.com/office/drawing/2014/main" id="{7E792956-46D5-0A92-E012-49072807B279}"/>
                </a:ext>
              </a:extLst>
            </p:cNvPr>
            <p:cNvGrpSpPr/>
            <p:nvPr/>
          </p:nvGrpSpPr>
          <p:grpSpPr>
            <a:xfrm>
              <a:off x="7278684" y="3226588"/>
              <a:ext cx="219835" cy="219834"/>
              <a:chOff x="1613419" y="2537559"/>
              <a:chExt cx="339399" cy="339399"/>
            </a:xfrm>
          </p:grpSpPr>
          <p:sp>
            <p:nvSpPr>
              <p:cNvPr id="61" name="Oval 60">
                <a:extLst>
                  <a:ext uri="{FF2B5EF4-FFF2-40B4-BE49-F238E27FC236}">
                    <a16:creationId xmlns:a16="http://schemas.microsoft.com/office/drawing/2014/main" id="{ABC4D56F-02BD-17F3-5E2D-475106635AD6}"/>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62" name="Oval 61">
                <a:extLst>
                  <a:ext uri="{FF2B5EF4-FFF2-40B4-BE49-F238E27FC236}">
                    <a16:creationId xmlns:a16="http://schemas.microsoft.com/office/drawing/2014/main" id="{2E9C3136-3FDB-AEF9-7523-206D691C7784}"/>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cxnSp>
          <p:nvCxnSpPr>
            <p:cNvPr id="64" name="Straight Connector 63">
              <a:extLst>
                <a:ext uri="{FF2B5EF4-FFF2-40B4-BE49-F238E27FC236}">
                  <a16:creationId xmlns:a16="http://schemas.microsoft.com/office/drawing/2014/main" id="{E205E0C9-6C5D-6A97-FFB2-4C0D95A46481}"/>
                </a:ext>
                <a:ext uri="{C183D7F6-B498-43B3-948B-1728B52AA6E4}">
                  <adec:decorative xmlns:adec="http://schemas.microsoft.com/office/drawing/2017/decorative" val="1"/>
                </a:ext>
              </a:extLst>
            </p:cNvPr>
            <p:cNvCxnSpPr>
              <a:cxnSpLocks/>
            </p:cNvCxnSpPr>
            <p:nvPr/>
          </p:nvCxnSpPr>
          <p:spPr>
            <a:xfrm flipV="1">
              <a:off x="1549022" y="3336505"/>
              <a:ext cx="0" cy="478508"/>
            </a:xfrm>
            <a:prstGeom prst="line">
              <a:avLst/>
            </a:prstGeom>
            <a:noFill/>
            <a:ln w="15875">
              <a:solidFill>
                <a:srgbClr val="399A91"/>
              </a:solidFill>
              <a:headEnd type="oval" w="med" len="med"/>
              <a:tailEnd type="none" w="lg" len="lg"/>
            </a:ln>
            <a:effectLst/>
          </p:spPr>
          <p:style>
            <a:lnRef idx="1">
              <a:schemeClr val="accent2"/>
            </a:lnRef>
            <a:fillRef idx="3">
              <a:schemeClr val="accent2"/>
            </a:fillRef>
            <a:effectRef idx="2">
              <a:schemeClr val="accent2"/>
            </a:effectRef>
            <a:fontRef idx="minor">
              <a:schemeClr val="lt1"/>
            </a:fontRef>
          </p:style>
        </p:cxnSp>
      </p:grpSp>
      <p:grpSp>
        <p:nvGrpSpPr>
          <p:cNvPr id="79" name="Group 78">
            <a:extLst>
              <a:ext uri="{FF2B5EF4-FFF2-40B4-BE49-F238E27FC236}">
                <a16:creationId xmlns:a16="http://schemas.microsoft.com/office/drawing/2014/main" id="{B20AF503-00B1-143E-63E4-DBD82B52C89A}"/>
              </a:ext>
              <a:ext uri="{C183D7F6-B498-43B3-948B-1728B52AA6E4}">
                <adec:decorative xmlns:adec="http://schemas.microsoft.com/office/drawing/2017/decorative" val="1"/>
              </a:ext>
            </a:extLst>
          </p:cNvPr>
          <p:cNvGrpSpPr/>
          <p:nvPr/>
        </p:nvGrpSpPr>
        <p:grpSpPr>
          <a:xfrm>
            <a:off x="2498230" y="4374485"/>
            <a:ext cx="674005" cy="219834"/>
            <a:chOff x="2498230" y="4374485"/>
            <a:chExt cx="674005" cy="219834"/>
          </a:xfrm>
        </p:grpSpPr>
        <p:cxnSp>
          <p:nvCxnSpPr>
            <p:cNvPr id="45" name="Straight Connector 44">
              <a:extLst>
                <a:ext uri="{FF2B5EF4-FFF2-40B4-BE49-F238E27FC236}">
                  <a16:creationId xmlns:a16="http://schemas.microsoft.com/office/drawing/2014/main" id="{0FE2A575-BF94-269D-D249-DC7A3B10ED7B}"/>
                </a:ext>
                <a:ext uri="{C183D7F6-B498-43B3-948B-1728B52AA6E4}">
                  <adec:decorative xmlns:adec="http://schemas.microsoft.com/office/drawing/2017/decorative" val="1"/>
                </a:ext>
              </a:extLst>
            </p:cNvPr>
            <p:cNvCxnSpPr>
              <a:cxnSpLocks/>
            </p:cNvCxnSpPr>
            <p:nvPr/>
          </p:nvCxnSpPr>
          <p:spPr>
            <a:xfrm>
              <a:off x="2498230" y="4484402"/>
              <a:ext cx="570422" cy="0"/>
            </a:xfrm>
            <a:prstGeom prst="line">
              <a:avLst/>
            </a:prstGeom>
            <a:noFill/>
            <a:ln w="15875">
              <a:gradFill>
                <a:gsLst>
                  <a:gs pos="0">
                    <a:srgbClr val="F4364C"/>
                  </a:gs>
                  <a:gs pos="100000">
                    <a:srgbClr val="49C5B1"/>
                  </a:gs>
                  <a:gs pos="80000">
                    <a:srgbClr val="0078D4"/>
                  </a:gs>
                  <a:gs pos="26000">
                    <a:srgbClr val="C03BC4"/>
                  </a:gs>
                </a:gsLst>
                <a:lin ang="10800000" scaled="0"/>
              </a:gradFill>
              <a:headEnd type="oval" w="med" len="med"/>
              <a:tailEnd type="oval" w="lg" len="lg"/>
            </a:ln>
            <a:effectLst/>
          </p:spPr>
          <p:style>
            <a:lnRef idx="1">
              <a:schemeClr val="accent2"/>
            </a:lnRef>
            <a:fillRef idx="3">
              <a:schemeClr val="accent2"/>
            </a:fillRef>
            <a:effectRef idx="2">
              <a:schemeClr val="accent2"/>
            </a:effectRef>
            <a:fontRef idx="minor">
              <a:schemeClr val="lt1"/>
            </a:fontRef>
          </p:style>
        </p:cxnSp>
        <p:grpSp>
          <p:nvGrpSpPr>
            <p:cNvPr id="38" name="Group 37">
              <a:extLst>
                <a:ext uri="{FF2B5EF4-FFF2-40B4-BE49-F238E27FC236}">
                  <a16:creationId xmlns:a16="http://schemas.microsoft.com/office/drawing/2014/main" id="{CA3B11C7-268D-F157-3E0F-6B5330423823}"/>
                </a:ext>
              </a:extLst>
            </p:cNvPr>
            <p:cNvGrpSpPr/>
            <p:nvPr/>
          </p:nvGrpSpPr>
          <p:grpSpPr>
            <a:xfrm>
              <a:off x="2952400" y="4374485"/>
              <a:ext cx="219835" cy="219834"/>
              <a:chOff x="1613419" y="2537559"/>
              <a:chExt cx="339399" cy="339399"/>
            </a:xfrm>
          </p:grpSpPr>
          <p:sp>
            <p:nvSpPr>
              <p:cNvPr id="39" name="Oval 38">
                <a:extLst>
                  <a:ext uri="{FF2B5EF4-FFF2-40B4-BE49-F238E27FC236}">
                    <a16:creationId xmlns:a16="http://schemas.microsoft.com/office/drawing/2014/main" id="{E9207D60-1DB2-03D1-F9C3-75C6ABACCF7F}"/>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40" name="Oval 39">
                <a:extLst>
                  <a:ext uri="{FF2B5EF4-FFF2-40B4-BE49-F238E27FC236}">
                    <a16:creationId xmlns:a16="http://schemas.microsoft.com/office/drawing/2014/main" id="{44D2B83A-C7A2-117D-7C41-5E6A7D8B83B3}"/>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grpSp>
      <p:grpSp>
        <p:nvGrpSpPr>
          <p:cNvPr id="80" name="Group 79">
            <a:extLst>
              <a:ext uri="{FF2B5EF4-FFF2-40B4-BE49-F238E27FC236}">
                <a16:creationId xmlns:a16="http://schemas.microsoft.com/office/drawing/2014/main" id="{DE379EB7-7093-2D95-5EE2-2568FA1552BA}"/>
              </a:ext>
              <a:ext uri="{C183D7F6-B498-43B3-948B-1728B52AA6E4}">
                <adec:decorative xmlns:adec="http://schemas.microsoft.com/office/drawing/2017/decorative" val="1"/>
              </a:ext>
            </a:extLst>
          </p:cNvPr>
          <p:cNvGrpSpPr/>
          <p:nvPr/>
        </p:nvGrpSpPr>
        <p:grpSpPr>
          <a:xfrm>
            <a:off x="6824514" y="4374485"/>
            <a:ext cx="674005" cy="219834"/>
            <a:chOff x="6824514" y="4374485"/>
            <a:chExt cx="674005" cy="219834"/>
          </a:xfrm>
        </p:grpSpPr>
        <p:cxnSp>
          <p:nvCxnSpPr>
            <p:cNvPr id="48" name="Straight Connector 47">
              <a:extLst>
                <a:ext uri="{FF2B5EF4-FFF2-40B4-BE49-F238E27FC236}">
                  <a16:creationId xmlns:a16="http://schemas.microsoft.com/office/drawing/2014/main" id="{D558ED82-5BC2-44EA-7CC0-4026124832DE}"/>
                </a:ext>
                <a:ext uri="{C183D7F6-B498-43B3-948B-1728B52AA6E4}">
                  <adec:decorative xmlns:adec="http://schemas.microsoft.com/office/drawing/2017/decorative" val="1"/>
                </a:ext>
              </a:extLst>
            </p:cNvPr>
            <p:cNvCxnSpPr>
              <a:cxnSpLocks/>
            </p:cNvCxnSpPr>
            <p:nvPr/>
          </p:nvCxnSpPr>
          <p:spPr>
            <a:xfrm>
              <a:off x="6824514" y="4484402"/>
              <a:ext cx="570422" cy="0"/>
            </a:xfrm>
            <a:prstGeom prst="line">
              <a:avLst/>
            </a:prstGeom>
            <a:noFill/>
            <a:ln w="15875">
              <a:gradFill>
                <a:gsLst>
                  <a:gs pos="0">
                    <a:srgbClr val="F4364C"/>
                  </a:gs>
                  <a:gs pos="100000">
                    <a:srgbClr val="49C5B1"/>
                  </a:gs>
                  <a:gs pos="80000">
                    <a:srgbClr val="0078D4"/>
                  </a:gs>
                  <a:gs pos="26000">
                    <a:srgbClr val="C03BC4"/>
                  </a:gs>
                </a:gsLst>
                <a:lin ang="10800000" scaled="0"/>
              </a:gradFill>
              <a:headEnd type="oval" w="med" len="med"/>
              <a:tailEnd type="oval" w="lg" len="lg"/>
            </a:ln>
            <a:effectLst/>
          </p:spPr>
          <p:style>
            <a:lnRef idx="1">
              <a:schemeClr val="accent2"/>
            </a:lnRef>
            <a:fillRef idx="3">
              <a:schemeClr val="accent2"/>
            </a:fillRef>
            <a:effectRef idx="2">
              <a:schemeClr val="accent2"/>
            </a:effectRef>
            <a:fontRef idx="minor">
              <a:schemeClr val="lt1"/>
            </a:fontRef>
          </p:style>
        </p:cxnSp>
        <p:grpSp>
          <p:nvGrpSpPr>
            <p:cNvPr id="49" name="Group 48">
              <a:extLst>
                <a:ext uri="{FF2B5EF4-FFF2-40B4-BE49-F238E27FC236}">
                  <a16:creationId xmlns:a16="http://schemas.microsoft.com/office/drawing/2014/main" id="{43591792-B649-EC18-502C-CE59CD4128C5}"/>
                </a:ext>
              </a:extLst>
            </p:cNvPr>
            <p:cNvGrpSpPr/>
            <p:nvPr/>
          </p:nvGrpSpPr>
          <p:grpSpPr>
            <a:xfrm>
              <a:off x="7278684" y="4374485"/>
              <a:ext cx="219835" cy="219834"/>
              <a:chOff x="1613419" y="2537559"/>
              <a:chExt cx="339399" cy="339399"/>
            </a:xfrm>
          </p:grpSpPr>
          <p:sp>
            <p:nvSpPr>
              <p:cNvPr id="50" name="Oval 49">
                <a:extLst>
                  <a:ext uri="{FF2B5EF4-FFF2-40B4-BE49-F238E27FC236}">
                    <a16:creationId xmlns:a16="http://schemas.microsoft.com/office/drawing/2014/main" id="{11C5F321-A31C-D79A-94F6-C53B80E40068}"/>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51" name="Oval 50">
                <a:extLst>
                  <a:ext uri="{FF2B5EF4-FFF2-40B4-BE49-F238E27FC236}">
                    <a16:creationId xmlns:a16="http://schemas.microsoft.com/office/drawing/2014/main" id="{BA645CBF-A50B-D011-1644-1AF063B0AADD}"/>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grpSp>
    </p:spTree>
    <p:extLst>
      <p:ext uri="{BB962C8B-B14F-4D97-AF65-F5344CB8AC3E}">
        <p14:creationId xmlns:p14="http://schemas.microsoft.com/office/powerpoint/2010/main" val="37413478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42" presetClass="path" presetSubtype="0" decel="100000" fill="hold" grpId="1" nodeType="withEffect">
                                  <p:stCondLst>
                                    <p:cond delay="0"/>
                                  </p:stCondLst>
                                  <p:childTnLst>
                                    <p:animMotion origin="layout" path="M 0 -2.59259E-6 L 0 0.03542 " pathEditMode="relative" rAng="0" ptsTypes="AA">
                                      <p:cBhvr>
                                        <p:cTn id="9" dur="700" spd="-100000" fill="hold"/>
                                        <p:tgtEl>
                                          <p:spTgt spid="33"/>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fade">
                                      <p:cBhvr>
                                        <p:cTn id="12" dur="500"/>
                                        <p:tgtEl>
                                          <p:spTgt spid="77"/>
                                        </p:tgtEl>
                                      </p:cBhvr>
                                    </p:animEffect>
                                  </p:childTnLst>
                                </p:cTn>
                              </p:par>
                              <p:par>
                                <p:cTn id="13" presetID="42" presetClass="path" presetSubtype="0" decel="100000" fill="hold" grpId="1" nodeType="withEffect">
                                  <p:stCondLst>
                                    <p:cond delay="0"/>
                                  </p:stCondLst>
                                  <p:childTnLst>
                                    <p:animMotion origin="layout" path="M 0 -2.59259E-6 L 0 0.03542 " pathEditMode="relative" rAng="0" ptsTypes="AA">
                                      <p:cBhvr>
                                        <p:cTn id="14" dur="700" spd="-100000" fill="hold"/>
                                        <p:tgtEl>
                                          <p:spTgt spid="77"/>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500"/>
                                        <p:tgtEl>
                                          <p:spTgt spid="41"/>
                                        </p:tgtEl>
                                      </p:cBhvr>
                                    </p:animEffect>
                                  </p:childTnLst>
                                </p:cTn>
                              </p:par>
                              <p:par>
                                <p:cTn id="18" presetID="42" presetClass="path" presetSubtype="0" decel="100000" fill="hold" grpId="1" nodeType="withEffect">
                                  <p:stCondLst>
                                    <p:cond delay="0"/>
                                  </p:stCondLst>
                                  <p:childTnLst>
                                    <p:animMotion origin="layout" path="M 0 -2.59259E-6 L 0 0.03542 " pathEditMode="relative" rAng="0" ptsTypes="AA">
                                      <p:cBhvr>
                                        <p:cTn id="19" dur="700" spd="-100000" fill="hold"/>
                                        <p:tgtEl>
                                          <p:spTgt spid="41"/>
                                        </p:tgtEl>
                                        <p:attrNameLst>
                                          <p:attrName>ppt_x</p:attrName>
                                          <p:attrName>ppt_y</p:attrName>
                                        </p:attrNameLst>
                                      </p:cBhvr>
                                      <p:rCtr x="0" y="1759"/>
                                    </p:animMotion>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42" presetClass="path" presetSubtype="0" decel="100000" fill="hold" nodeType="withEffect">
                                  <p:stCondLst>
                                    <p:cond delay="0"/>
                                  </p:stCondLst>
                                  <p:childTnLst>
                                    <p:animMotion origin="layout" path="M -3.33333E-6 -4.07407E-6 L -3.33333E-6 0.03542 " pathEditMode="relative" rAng="0" ptsTypes="AA">
                                      <p:cBhvr>
                                        <p:cTn id="24" dur="700" spd="-100000" fill="hold"/>
                                        <p:tgtEl>
                                          <p:spTgt spid="7"/>
                                        </p:tgtEl>
                                        <p:attrNameLst>
                                          <p:attrName>ppt_x</p:attrName>
                                          <p:attrName>ppt_y</p:attrName>
                                        </p:attrNameLst>
                                      </p:cBhvr>
                                      <p:rCtr x="0" y="1759"/>
                                    </p:animMotion>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9"/>
                                        </p:tgtEl>
                                        <p:attrNameLst>
                                          <p:attrName>style.visibility</p:attrName>
                                        </p:attrNameLst>
                                      </p:cBhvr>
                                      <p:to>
                                        <p:strVal val="visible"/>
                                      </p:to>
                                    </p:set>
                                    <p:animEffect transition="in" filter="fade">
                                      <p:cBhvr>
                                        <p:cTn id="29" dur="500"/>
                                        <p:tgtEl>
                                          <p:spTgt spid="79"/>
                                        </p:tgtEl>
                                      </p:cBhvr>
                                    </p:animEffect>
                                  </p:childTnLst>
                                </p:cTn>
                              </p:par>
                              <p:par>
                                <p:cTn id="30" presetID="42" presetClass="path" presetSubtype="0" decel="100000" fill="hold" nodeType="withEffect">
                                  <p:stCondLst>
                                    <p:cond delay="0"/>
                                  </p:stCondLst>
                                  <p:childTnLst>
                                    <p:animMotion origin="layout" path="M 0 -2.59259E-6 L 0 0.03542 " pathEditMode="relative" rAng="0" ptsTypes="AA">
                                      <p:cBhvr>
                                        <p:cTn id="31" dur="700" spd="-100000" fill="hold"/>
                                        <p:tgtEl>
                                          <p:spTgt spid="79"/>
                                        </p:tgtEl>
                                        <p:attrNameLst>
                                          <p:attrName>ppt_x</p:attrName>
                                          <p:attrName>ppt_y</p:attrName>
                                        </p:attrNameLst>
                                      </p:cBhvr>
                                      <p:rCtr x="0" y="1759"/>
                                    </p:animMotion>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par>
                                <p:cTn id="35" presetID="42" presetClass="path" presetSubtype="0" decel="100000" fill="hold" grpId="1" nodeType="withEffect">
                                  <p:stCondLst>
                                    <p:cond delay="0"/>
                                  </p:stCondLst>
                                  <p:childTnLst>
                                    <p:animMotion origin="layout" path="M 0 -2.59259E-6 L 0 0.03542 " pathEditMode="relative" rAng="0" ptsTypes="AA">
                                      <p:cBhvr>
                                        <p:cTn id="36" dur="700" spd="-100000" fill="hold"/>
                                        <p:tgtEl>
                                          <p:spTgt spid="34"/>
                                        </p:tgtEl>
                                        <p:attrNameLst>
                                          <p:attrName>ppt_x</p:attrName>
                                          <p:attrName>ppt_y</p:attrName>
                                        </p:attrNameLst>
                                      </p:cBhvr>
                                      <p:rCtr x="0" y="1759"/>
                                    </p:animMotion>
                                  </p:childTnLst>
                                </p:cTn>
                              </p:par>
                              <p:par>
                                <p:cTn id="37" presetID="10" presetClass="entr" presetSubtype="0"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fade">
                                      <p:cBhvr>
                                        <p:cTn id="39" dur="500"/>
                                        <p:tgtEl>
                                          <p:spTgt spid="47"/>
                                        </p:tgtEl>
                                      </p:cBhvr>
                                    </p:animEffect>
                                  </p:childTnLst>
                                </p:cTn>
                              </p:par>
                              <p:par>
                                <p:cTn id="40" presetID="42" presetClass="path" presetSubtype="0" decel="100000" fill="hold" grpId="1" nodeType="withEffect">
                                  <p:stCondLst>
                                    <p:cond delay="0"/>
                                  </p:stCondLst>
                                  <p:childTnLst>
                                    <p:animMotion origin="layout" path="M 0 -2.59259E-6 L 0 0.03542 " pathEditMode="relative" rAng="0" ptsTypes="AA">
                                      <p:cBhvr>
                                        <p:cTn id="41" dur="700" spd="-100000" fill="hold"/>
                                        <p:tgtEl>
                                          <p:spTgt spid="47"/>
                                        </p:tgtEl>
                                        <p:attrNameLst>
                                          <p:attrName>ppt_x</p:attrName>
                                          <p:attrName>ppt_y</p:attrName>
                                        </p:attrNameLst>
                                      </p:cBhvr>
                                      <p:rCtr x="0" y="1759"/>
                                    </p:animMotion>
                                  </p:childTnLst>
                                </p:cTn>
                              </p:par>
                              <p:par>
                                <p:cTn id="42" presetID="10" presetClass="entr" presetSubtype="0" fill="hold" grpId="0" nodeType="with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fade">
                                      <p:cBhvr>
                                        <p:cTn id="44" dur="500"/>
                                        <p:tgtEl>
                                          <p:spTgt spid="52"/>
                                        </p:tgtEl>
                                      </p:cBhvr>
                                    </p:animEffect>
                                  </p:childTnLst>
                                </p:cTn>
                              </p:par>
                              <p:par>
                                <p:cTn id="45" presetID="42" presetClass="path" presetSubtype="0" decel="100000" fill="hold" grpId="1" nodeType="withEffect">
                                  <p:stCondLst>
                                    <p:cond delay="0"/>
                                  </p:stCondLst>
                                  <p:childTnLst>
                                    <p:animMotion origin="layout" path="M 0 -2.59259E-6 L 0 0.03542 " pathEditMode="relative" rAng="0" ptsTypes="AA">
                                      <p:cBhvr>
                                        <p:cTn id="46" dur="700" spd="-100000" fill="hold"/>
                                        <p:tgtEl>
                                          <p:spTgt spid="52"/>
                                        </p:tgtEl>
                                        <p:attrNameLst>
                                          <p:attrName>ppt_x</p:attrName>
                                          <p:attrName>ppt_y</p:attrName>
                                        </p:attrNameLst>
                                      </p:cBhvr>
                                      <p:rCtr x="0" y="1759"/>
                                    </p:animMotion>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500"/>
                                        <p:tgtEl>
                                          <p:spTgt spid="42"/>
                                        </p:tgtEl>
                                      </p:cBhvr>
                                    </p:animEffect>
                                  </p:childTnLst>
                                </p:cTn>
                              </p:par>
                              <p:par>
                                <p:cTn id="50" presetID="42" presetClass="path" presetSubtype="0" decel="100000" fill="hold" grpId="1" nodeType="withEffect">
                                  <p:stCondLst>
                                    <p:cond delay="0"/>
                                  </p:stCondLst>
                                  <p:childTnLst>
                                    <p:animMotion origin="layout" path="M 0 -2.59259E-6 L 0 0.03542 " pathEditMode="relative" rAng="0" ptsTypes="AA">
                                      <p:cBhvr>
                                        <p:cTn id="51" dur="700" spd="-100000" fill="hold"/>
                                        <p:tgtEl>
                                          <p:spTgt spid="42"/>
                                        </p:tgtEl>
                                        <p:attrNameLst>
                                          <p:attrName>ppt_x</p:attrName>
                                          <p:attrName>ppt_y</p:attrName>
                                        </p:attrNameLst>
                                      </p:cBhvr>
                                      <p:rCtr x="0" y="1759"/>
                                    </p:animMotion>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80"/>
                                        </p:tgtEl>
                                        <p:attrNameLst>
                                          <p:attrName>style.visibility</p:attrName>
                                        </p:attrNameLst>
                                      </p:cBhvr>
                                      <p:to>
                                        <p:strVal val="visible"/>
                                      </p:to>
                                    </p:set>
                                    <p:animEffect transition="in" filter="fade">
                                      <p:cBhvr>
                                        <p:cTn id="56" dur="500"/>
                                        <p:tgtEl>
                                          <p:spTgt spid="80"/>
                                        </p:tgtEl>
                                      </p:cBhvr>
                                    </p:animEffect>
                                  </p:childTnLst>
                                </p:cTn>
                              </p:par>
                              <p:par>
                                <p:cTn id="57" presetID="42" presetClass="path" presetSubtype="0" decel="100000" fill="hold" nodeType="withEffect">
                                  <p:stCondLst>
                                    <p:cond delay="0"/>
                                  </p:stCondLst>
                                  <p:childTnLst>
                                    <p:animMotion origin="layout" path="M 0 -2.59259E-6 L 0 0.03542 " pathEditMode="relative" rAng="0" ptsTypes="AA">
                                      <p:cBhvr>
                                        <p:cTn id="58" dur="700" spd="-100000" fill="hold"/>
                                        <p:tgtEl>
                                          <p:spTgt spid="80"/>
                                        </p:tgtEl>
                                        <p:attrNameLst>
                                          <p:attrName>ppt_x</p:attrName>
                                          <p:attrName>ppt_y</p:attrName>
                                        </p:attrNameLst>
                                      </p:cBhvr>
                                      <p:rCtr x="0" y="1759"/>
                                    </p:animMotion>
                                  </p:childTnLst>
                                </p:cTn>
                              </p:par>
                              <p:par>
                                <p:cTn id="59" presetID="10" presetClass="entr" presetSubtype="0" fill="hold" nodeType="withEffect">
                                  <p:stCondLst>
                                    <p:cond delay="0"/>
                                  </p:stCondLst>
                                  <p:childTnLst>
                                    <p:set>
                                      <p:cBhvr>
                                        <p:cTn id="60" dur="1" fill="hold">
                                          <p:stCondLst>
                                            <p:cond delay="0"/>
                                          </p:stCondLst>
                                        </p:cTn>
                                        <p:tgtEl>
                                          <p:spTgt spid="81"/>
                                        </p:tgtEl>
                                        <p:attrNameLst>
                                          <p:attrName>style.visibility</p:attrName>
                                        </p:attrNameLst>
                                      </p:cBhvr>
                                      <p:to>
                                        <p:strVal val="visible"/>
                                      </p:to>
                                    </p:set>
                                    <p:animEffect transition="in" filter="fade">
                                      <p:cBhvr>
                                        <p:cTn id="61" dur="500"/>
                                        <p:tgtEl>
                                          <p:spTgt spid="81"/>
                                        </p:tgtEl>
                                      </p:cBhvr>
                                    </p:animEffect>
                                  </p:childTnLst>
                                </p:cTn>
                              </p:par>
                              <p:par>
                                <p:cTn id="62" presetID="42" presetClass="path" presetSubtype="0" decel="100000" fill="hold" nodeType="withEffect">
                                  <p:stCondLst>
                                    <p:cond delay="0"/>
                                  </p:stCondLst>
                                  <p:childTnLst>
                                    <p:animMotion origin="layout" path="M 0 -2.59259E-6 L 0 0.03542 " pathEditMode="relative" rAng="0" ptsTypes="AA">
                                      <p:cBhvr>
                                        <p:cTn id="63" dur="700" spd="-100000" fill="hold"/>
                                        <p:tgtEl>
                                          <p:spTgt spid="81"/>
                                        </p:tgtEl>
                                        <p:attrNameLst>
                                          <p:attrName>ppt_x</p:attrName>
                                          <p:attrName>ppt_y</p:attrName>
                                        </p:attrNameLst>
                                      </p:cBhvr>
                                      <p:rCtr x="0" y="1759"/>
                                    </p:animMotion>
                                  </p:childTnLst>
                                </p:cTn>
                              </p:par>
                              <p:par>
                                <p:cTn id="64" presetID="10" presetClass="entr" presetSubtype="0" fill="hold" grpId="0"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500"/>
                                        <p:tgtEl>
                                          <p:spTgt spid="35"/>
                                        </p:tgtEl>
                                      </p:cBhvr>
                                    </p:animEffect>
                                  </p:childTnLst>
                                </p:cTn>
                              </p:par>
                              <p:par>
                                <p:cTn id="67" presetID="42" presetClass="path" presetSubtype="0" decel="100000" fill="hold" grpId="1" nodeType="withEffect">
                                  <p:stCondLst>
                                    <p:cond delay="0"/>
                                  </p:stCondLst>
                                  <p:childTnLst>
                                    <p:animMotion origin="layout" path="M 0 -2.59259E-6 L 0 0.03542 " pathEditMode="relative" rAng="0" ptsTypes="AA">
                                      <p:cBhvr>
                                        <p:cTn id="68" dur="700" spd="-100000" fill="hold"/>
                                        <p:tgtEl>
                                          <p:spTgt spid="35"/>
                                        </p:tgtEl>
                                        <p:attrNameLst>
                                          <p:attrName>ppt_x</p:attrName>
                                          <p:attrName>ppt_y</p:attrName>
                                        </p:attrNameLst>
                                      </p:cBhvr>
                                      <p:rCtr x="0" y="1759"/>
                                    </p:animMotion>
                                  </p:childTnLst>
                                </p:cTn>
                              </p:par>
                              <p:par>
                                <p:cTn id="69" presetID="10" presetClass="entr" presetSubtype="0" fill="hold" grpId="0" nodeType="withEffect">
                                  <p:stCondLst>
                                    <p:cond delay="0"/>
                                  </p:stCondLst>
                                  <p:childTnLst>
                                    <p:set>
                                      <p:cBhvr>
                                        <p:cTn id="70" dur="1" fill="hold">
                                          <p:stCondLst>
                                            <p:cond delay="0"/>
                                          </p:stCondLst>
                                        </p:cTn>
                                        <p:tgtEl>
                                          <p:spTgt spid="54"/>
                                        </p:tgtEl>
                                        <p:attrNameLst>
                                          <p:attrName>style.visibility</p:attrName>
                                        </p:attrNameLst>
                                      </p:cBhvr>
                                      <p:to>
                                        <p:strVal val="visible"/>
                                      </p:to>
                                    </p:set>
                                    <p:animEffect transition="in" filter="fade">
                                      <p:cBhvr>
                                        <p:cTn id="71" dur="500"/>
                                        <p:tgtEl>
                                          <p:spTgt spid="54"/>
                                        </p:tgtEl>
                                      </p:cBhvr>
                                    </p:animEffect>
                                  </p:childTnLst>
                                </p:cTn>
                              </p:par>
                              <p:par>
                                <p:cTn id="72" presetID="42" presetClass="path" presetSubtype="0" decel="100000" fill="hold" grpId="1" nodeType="withEffect">
                                  <p:stCondLst>
                                    <p:cond delay="0"/>
                                  </p:stCondLst>
                                  <p:childTnLst>
                                    <p:animMotion origin="layout" path="M 0 -2.59259E-6 L 0 0.03542 " pathEditMode="relative" rAng="0" ptsTypes="AA">
                                      <p:cBhvr>
                                        <p:cTn id="73" dur="700" spd="-100000" fill="hold"/>
                                        <p:tgtEl>
                                          <p:spTgt spid="54"/>
                                        </p:tgtEl>
                                        <p:attrNameLst>
                                          <p:attrName>ppt_x</p:attrName>
                                          <p:attrName>ppt_y</p:attrName>
                                        </p:attrNameLst>
                                      </p:cBhvr>
                                      <p:rCtr x="0" y="1759"/>
                                    </p:animMotion>
                                  </p:childTnLst>
                                </p:cTn>
                              </p:par>
                              <p:par>
                                <p:cTn id="74" presetID="10" presetClass="entr" presetSubtype="0" fill="hold" grpId="0" nodeType="withEffect">
                                  <p:stCondLst>
                                    <p:cond delay="0"/>
                                  </p:stCondLst>
                                  <p:childTnLst>
                                    <p:set>
                                      <p:cBhvr>
                                        <p:cTn id="75" dur="1" fill="hold">
                                          <p:stCondLst>
                                            <p:cond delay="0"/>
                                          </p:stCondLst>
                                        </p:cTn>
                                        <p:tgtEl>
                                          <p:spTgt spid="43"/>
                                        </p:tgtEl>
                                        <p:attrNameLst>
                                          <p:attrName>style.visibility</p:attrName>
                                        </p:attrNameLst>
                                      </p:cBhvr>
                                      <p:to>
                                        <p:strVal val="visible"/>
                                      </p:to>
                                    </p:set>
                                    <p:animEffect transition="in" filter="fade">
                                      <p:cBhvr>
                                        <p:cTn id="76" dur="500"/>
                                        <p:tgtEl>
                                          <p:spTgt spid="43"/>
                                        </p:tgtEl>
                                      </p:cBhvr>
                                    </p:animEffect>
                                  </p:childTnLst>
                                </p:cTn>
                              </p:par>
                              <p:par>
                                <p:cTn id="77" presetID="42" presetClass="path" presetSubtype="0" decel="100000" fill="hold" grpId="1" nodeType="withEffect">
                                  <p:stCondLst>
                                    <p:cond delay="0"/>
                                  </p:stCondLst>
                                  <p:childTnLst>
                                    <p:animMotion origin="layout" path="M 0 -2.59259E-6 L 0 0.03542 " pathEditMode="relative" rAng="0" ptsTypes="AA">
                                      <p:cBhvr>
                                        <p:cTn id="78" dur="700" spd="-100000" fill="hold"/>
                                        <p:tgtEl>
                                          <p:spTgt spid="43"/>
                                        </p:tgtEl>
                                        <p:attrNameLst>
                                          <p:attrName>ppt_x</p:attrName>
                                          <p:attrName>ppt_y</p:attrName>
                                        </p:attrNameLst>
                                      </p:cBhvr>
                                      <p:rCtr x="0" y="1759"/>
                                    </p:animMotion>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82"/>
                                        </p:tgtEl>
                                        <p:attrNameLst>
                                          <p:attrName>style.visibility</p:attrName>
                                        </p:attrNameLst>
                                      </p:cBhvr>
                                      <p:to>
                                        <p:strVal val="visible"/>
                                      </p:to>
                                    </p:set>
                                    <p:animEffect transition="in" filter="fade">
                                      <p:cBhvr>
                                        <p:cTn id="83" dur="500"/>
                                        <p:tgtEl>
                                          <p:spTgt spid="82"/>
                                        </p:tgtEl>
                                      </p:cBhvr>
                                    </p:animEffect>
                                  </p:childTnLst>
                                </p:cTn>
                              </p:par>
                              <p:par>
                                <p:cTn id="84" presetID="42" presetClass="path" presetSubtype="0" decel="100000" fill="hold" nodeType="withEffect">
                                  <p:stCondLst>
                                    <p:cond delay="0"/>
                                  </p:stCondLst>
                                  <p:childTnLst>
                                    <p:animMotion origin="layout" path="M 0 -2.59259E-6 L 0 0.03542 " pathEditMode="relative" rAng="0" ptsTypes="AA">
                                      <p:cBhvr>
                                        <p:cTn id="85" dur="700" spd="-100000" fill="hold"/>
                                        <p:tgtEl>
                                          <p:spTgt spid="82"/>
                                        </p:tgtEl>
                                        <p:attrNameLst>
                                          <p:attrName>ppt_x</p:attrName>
                                          <p:attrName>ppt_y</p:attrName>
                                        </p:attrNameLst>
                                      </p:cBhvr>
                                      <p:rCtr x="0" y="1759"/>
                                    </p:animMotion>
                                  </p:childTnLst>
                                </p:cTn>
                              </p:par>
                              <p:par>
                                <p:cTn id="86" presetID="10" presetClass="entr" presetSubtype="0" fill="hold" grpId="0" nodeType="with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fade">
                                      <p:cBhvr>
                                        <p:cTn id="88" dur="500"/>
                                        <p:tgtEl>
                                          <p:spTgt spid="36"/>
                                        </p:tgtEl>
                                      </p:cBhvr>
                                    </p:animEffect>
                                  </p:childTnLst>
                                </p:cTn>
                              </p:par>
                              <p:par>
                                <p:cTn id="89" presetID="42" presetClass="path" presetSubtype="0" decel="100000" fill="hold" grpId="1" nodeType="withEffect">
                                  <p:stCondLst>
                                    <p:cond delay="0"/>
                                  </p:stCondLst>
                                  <p:childTnLst>
                                    <p:animMotion origin="layout" path="M 0 -2.59259E-6 L 0 0.03542 " pathEditMode="relative" rAng="0" ptsTypes="AA">
                                      <p:cBhvr>
                                        <p:cTn id="90" dur="700" spd="-100000" fill="hold"/>
                                        <p:tgtEl>
                                          <p:spTgt spid="36"/>
                                        </p:tgtEl>
                                        <p:attrNameLst>
                                          <p:attrName>ppt_x</p:attrName>
                                          <p:attrName>ppt_y</p:attrName>
                                        </p:attrNameLst>
                                      </p:cBhvr>
                                      <p:rCtr x="0" y="1759"/>
                                    </p:animMotion>
                                  </p:childTnLst>
                                </p:cTn>
                              </p:par>
                              <p:par>
                                <p:cTn id="91" presetID="10" presetClass="entr" presetSubtype="0" fill="hold" nodeType="withEffect">
                                  <p:stCondLst>
                                    <p:cond delay="0"/>
                                  </p:stCondLst>
                                  <p:childTnLst>
                                    <p:set>
                                      <p:cBhvr>
                                        <p:cTn id="92" dur="1" fill="hold">
                                          <p:stCondLst>
                                            <p:cond delay="0"/>
                                          </p:stCondLst>
                                        </p:cTn>
                                        <p:tgtEl>
                                          <p:spTgt spid="14"/>
                                        </p:tgtEl>
                                        <p:attrNameLst>
                                          <p:attrName>style.visibility</p:attrName>
                                        </p:attrNameLst>
                                      </p:cBhvr>
                                      <p:to>
                                        <p:strVal val="visible"/>
                                      </p:to>
                                    </p:set>
                                    <p:animEffect transition="in" filter="fade">
                                      <p:cBhvr>
                                        <p:cTn id="93" dur="500"/>
                                        <p:tgtEl>
                                          <p:spTgt spid="14"/>
                                        </p:tgtEl>
                                      </p:cBhvr>
                                    </p:animEffect>
                                  </p:childTnLst>
                                </p:cTn>
                              </p:par>
                              <p:par>
                                <p:cTn id="94" presetID="42" presetClass="path" presetSubtype="0" decel="100000" fill="hold" nodeType="withEffect">
                                  <p:stCondLst>
                                    <p:cond delay="0"/>
                                  </p:stCondLst>
                                  <p:childTnLst>
                                    <p:animMotion origin="layout" path="M 3.125E-6 -3.7037E-6 L 3.125E-6 0.03542 " pathEditMode="relative" rAng="0" ptsTypes="AA">
                                      <p:cBhvr>
                                        <p:cTn id="95" dur="700" spd="-100000" fill="hold"/>
                                        <p:tgtEl>
                                          <p:spTgt spid="14"/>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1" grpId="1" animBg="1"/>
      <p:bldP spid="33" grpId="0" animBg="1"/>
      <p:bldP spid="33" grpId="1" animBg="1"/>
      <p:bldP spid="77" grpId="0"/>
      <p:bldP spid="77" grpId="1"/>
      <p:bldP spid="42" grpId="0" animBg="1"/>
      <p:bldP spid="42" grpId="1" animBg="1"/>
      <p:bldP spid="34" grpId="0" animBg="1"/>
      <p:bldP spid="34" grpId="1" animBg="1"/>
      <p:bldP spid="47" grpId="0"/>
      <p:bldP spid="47" grpId="1"/>
      <p:bldP spid="52" grpId="0"/>
      <p:bldP spid="52" grpId="1"/>
      <p:bldP spid="43" grpId="0" animBg="1"/>
      <p:bldP spid="43" grpId="1" animBg="1"/>
      <p:bldP spid="35" grpId="0" animBg="1"/>
      <p:bldP spid="35" grpId="1" animBg="1"/>
      <p:bldP spid="54" grpId="0"/>
      <p:bldP spid="54" grpId="1"/>
      <p:bldP spid="36" grpId="0" animBg="1"/>
      <p:bldP spid="36"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ounded Rectangle 5">
            <a:extLst>
              <a:ext uri="{FF2B5EF4-FFF2-40B4-BE49-F238E27FC236}">
                <a16:creationId xmlns:a16="http://schemas.microsoft.com/office/drawing/2014/main" id="{7B90614F-10FB-6A53-4EBE-E7B327042C08}"/>
              </a:ext>
              <a:ext uri="{C183D7F6-B498-43B3-948B-1728B52AA6E4}">
                <adec:decorative xmlns:adec="http://schemas.microsoft.com/office/drawing/2017/decorative" val="1"/>
              </a:ext>
            </a:extLst>
          </p:cNvPr>
          <p:cNvSpPr/>
          <p:nvPr/>
        </p:nvSpPr>
        <p:spPr bwMode="auto">
          <a:xfrm>
            <a:off x="4288220" y="3606567"/>
            <a:ext cx="3210300" cy="2340850"/>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2" name="Title 1">
            <a:extLst>
              <a:ext uri="{FF2B5EF4-FFF2-40B4-BE49-F238E27FC236}">
                <a16:creationId xmlns:a16="http://schemas.microsoft.com/office/drawing/2014/main" id="{3D52996A-1183-AE38-E08F-41591EAC1F0D}"/>
              </a:ext>
            </a:extLst>
          </p:cNvPr>
          <p:cNvSpPr>
            <a:spLocks noGrp="1"/>
          </p:cNvSpPr>
          <p:nvPr>
            <p:ph type="title"/>
          </p:nvPr>
        </p:nvSpPr>
        <p:spPr/>
        <p:txBody>
          <a:bodyPr/>
          <a:lstStyle/>
          <a:p>
            <a:r>
              <a:rPr lang="en-US"/>
              <a:t>Advanced RAG with query rewriting</a:t>
            </a:r>
          </a:p>
        </p:txBody>
      </p:sp>
      <p:grpSp>
        <p:nvGrpSpPr>
          <p:cNvPr id="22" name="Group 21" descr="What's a good shoe for a mountain trale?&#10;">
            <a:extLst>
              <a:ext uri="{FF2B5EF4-FFF2-40B4-BE49-F238E27FC236}">
                <a16:creationId xmlns:a16="http://schemas.microsoft.com/office/drawing/2014/main" id="{277F2210-2A9D-5175-C96A-C5857044C367}"/>
              </a:ext>
            </a:extLst>
          </p:cNvPr>
          <p:cNvGrpSpPr/>
          <p:nvPr/>
        </p:nvGrpSpPr>
        <p:grpSpPr>
          <a:xfrm>
            <a:off x="599808" y="1978178"/>
            <a:ext cx="1898415" cy="1175481"/>
            <a:chOff x="2844244" y="1978178"/>
            <a:chExt cx="1898415" cy="1175481"/>
          </a:xfrm>
        </p:grpSpPr>
        <p:sp>
          <p:nvSpPr>
            <p:cNvPr id="21" name="Freeform 20">
              <a:extLst>
                <a:ext uri="{FF2B5EF4-FFF2-40B4-BE49-F238E27FC236}">
                  <a16:creationId xmlns:a16="http://schemas.microsoft.com/office/drawing/2014/main" id="{D90D51C1-5B64-9AD3-B941-B83219F74CE3}"/>
                </a:ext>
                <a:ext uri="{C183D7F6-B498-43B3-948B-1728B52AA6E4}">
                  <adec:decorative xmlns:adec="http://schemas.microsoft.com/office/drawing/2017/decorative" val="1"/>
                </a:ext>
              </a:extLst>
            </p:cNvPr>
            <p:cNvSpPr/>
            <p:nvPr/>
          </p:nvSpPr>
          <p:spPr bwMode="auto">
            <a:xfrm>
              <a:off x="2844244" y="1978178"/>
              <a:ext cx="1898415" cy="1175481"/>
            </a:xfrm>
            <a:custGeom>
              <a:avLst/>
              <a:gdLst>
                <a:gd name="connsiteX0" fmla="*/ 152403 w 1898415"/>
                <a:gd name="connsiteY0" fmla="*/ 0 h 1175481"/>
                <a:gd name="connsiteX1" fmla="*/ 1746012 w 1898415"/>
                <a:gd name="connsiteY1" fmla="*/ 0 h 1175481"/>
                <a:gd name="connsiteX2" fmla="*/ 1898415 w 1898415"/>
                <a:gd name="connsiteY2" fmla="*/ 152403 h 1175481"/>
                <a:gd name="connsiteX3" fmla="*/ 1898415 w 1898415"/>
                <a:gd name="connsiteY3" fmla="*/ 761997 h 1175481"/>
                <a:gd name="connsiteX4" fmla="*/ 1746012 w 1898415"/>
                <a:gd name="connsiteY4" fmla="*/ 914400 h 1175481"/>
                <a:gd name="connsiteX5" fmla="*/ 952123 w 1898415"/>
                <a:gd name="connsiteY5" fmla="*/ 914400 h 1175481"/>
                <a:gd name="connsiteX6" fmla="*/ 691042 w 1898415"/>
                <a:gd name="connsiteY6" fmla="*/ 1175481 h 1175481"/>
                <a:gd name="connsiteX7" fmla="*/ 691042 w 1898415"/>
                <a:gd name="connsiteY7" fmla="*/ 914400 h 1175481"/>
                <a:gd name="connsiteX8" fmla="*/ 152403 w 1898415"/>
                <a:gd name="connsiteY8" fmla="*/ 914400 h 1175481"/>
                <a:gd name="connsiteX9" fmla="*/ 0 w 1898415"/>
                <a:gd name="connsiteY9" fmla="*/ 761997 h 1175481"/>
                <a:gd name="connsiteX10" fmla="*/ 0 w 1898415"/>
                <a:gd name="connsiteY10" fmla="*/ 152403 h 1175481"/>
                <a:gd name="connsiteX11" fmla="*/ 152403 w 1898415"/>
                <a:gd name="connsiteY11" fmla="*/ 0 h 1175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98415" h="1175481">
                  <a:moveTo>
                    <a:pt x="152403" y="0"/>
                  </a:moveTo>
                  <a:lnTo>
                    <a:pt x="1746012" y="0"/>
                  </a:lnTo>
                  <a:cubicBezTo>
                    <a:pt x="1830182" y="0"/>
                    <a:pt x="1898415" y="68233"/>
                    <a:pt x="1898415" y="152403"/>
                  </a:cubicBezTo>
                  <a:lnTo>
                    <a:pt x="1898415" y="761997"/>
                  </a:lnTo>
                  <a:cubicBezTo>
                    <a:pt x="1898415" y="846167"/>
                    <a:pt x="1830182" y="914400"/>
                    <a:pt x="1746012" y="914400"/>
                  </a:cubicBezTo>
                  <a:lnTo>
                    <a:pt x="952123" y="914400"/>
                  </a:lnTo>
                  <a:lnTo>
                    <a:pt x="691042" y="1175481"/>
                  </a:lnTo>
                  <a:lnTo>
                    <a:pt x="691042" y="914400"/>
                  </a:lnTo>
                  <a:lnTo>
                    <a:pt x="152403" y="914400"/>
                  </a:lnTo>
                  <a:cubicBezTo>
                    <a:pt x="68233" y="914400"/>
                    <a:pt x="0" y="846167"/>
                    <a:pt x="0" y="761997"/>
                  </a:cubicBezTo>
                  <a:lnTo>
                    <a:pt x="0" y="152403"/>
                  </a:lnTo>
                  <a:cubicBezTo>
                    <a:pt x="0" y="68233"/>
                    <a:pt x="68233" y="0"/>
                    <a:pt x="152403" y="0"/>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err="1">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20" name="Text Placeholder 5">
              <a:extLst>
                <a:ext uri="{FF2B5EF4-FFF2-40B4-BE49-F238E27FC236}">
                  <a16:creationId xmlns:a16="http://schemas.microsoft.com/office/drawing/2014/main" id="{003DF999-3A8F-A29E-952D-7F0EA7BA390A}"/>
                </a:ext>
                <a:ext uri="{C183D7F6-B498-43B3-948B-1728B52AA6E4}">
                  <adec:decorative xmlns:adec="http://schemas.microsoft.com/office/drawing/2017/decorative" val="1"/>
                </a:ext>
              </a:extLst>
            </p:cNvPr>
            <p:cNvSpPr txBox="1">
              <a:spLocks/>
            </p:cNvSpPr>
            <p:nvPr/>
          </p:nvSpPr>
          <p:spPr>
            <a:xfrm>
              <a:off x="2878918" y="2092067"/>
              <a:ext cx="1829067" cy="686622"/>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400">
                  <a:solidFill>
                    <a:schemeClr val="bg1"/>
                  </a:solidFill>
                  <a:latin typeface="Segoe UI"/>
                  <a:cs typeface="Segoe UI Semilight"/>
                </a:rPr>
                <a:t>What's a good shoe for a mountain </a:t>
              </a:r>
              <a:r>
                <a:rPr lang="en-US" sz="1400" err="1">
                  <a:solidFill>
                    <a:schemeClr val="bg1"/>
                  </a:solidFill>
                  <a:latin typeface="Segoe UI"/>
                  <a:cs typeface="Segoe UI Semilight"/>
                </a:rPr>
                <a:t>trale</a:t>
              </a:r>
              <a:r>
                <a:rPr lang="en-US" sz="1400">
                  <a:solidFill>
                    <a:schemeClr val="bg1"/>
                  </a:solidFill>
                  <a:latin typeface="Segoe UI"/>
                  <a:cs typeface="Segoe UI Semilight"/>
                </a:rPr>
                <a:t>?</a:t>
              </a:r>
            </a:p>
          </p:txBody>
        </p:sp>
      </p:grpSp>
      <p:sp>
        <p:nvSpPr>
          <p:cNvPr id="7" name="Rounded Rectangle 5">
            <a:extLst>
              <a:ext uri="{FF2B5EF4-FFF2-40B4-BE49-F238E27FC236}">
                <a16:creationId xmlns:a16="http://schemas.microsoft.com/office/drawing/2014/main" id="{F9E601F2-957F-3556-AC39-545B643C2D92}"/>
              </a:ext>
              <a:ext uri="{C183D7F6-B498-43B3-948B-1728B52AA6E4}">
                <adec:decorative xmlns:adec="http://schemas.microsoft.com/office/drawing/2017/decorative" val="1"/>
              </a:ext>
            </a:extLst>
          </p:cNvPr>
          <p:cNvSpPr/>
          <p:nvPr/>
        </p:nvSpPr>
        <p:spPr bwMode="auto">
          <a:xfrm>
            <a:off x="586598" y="3597587"/>
            <a:ext cx="1426307" cy="2340850"/>
          </a:xfrm>
          <a:prstGeom prst="roundRect">
            <a:avLst>
              <a:gd name="adj" fmla="val 818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10" name="Graphic 31" descr="Person with chat icon">
            <a:extLst>
              <a:ext uri="{FF2B5EF4-FFF2-40B4-BE49-F238E27FC236}">
                <a16:creationId xmlns:a16="http://schemas.microsoft.com/office/drawing/2014/main" id="{E163BD32-415A-0206-1821-DEA63AC11D09}"/>
              </a:ext>
            </a:extLst>
          </p:cNvPr>
          <p:cNvSpPr/>
          <p:nvPr/>
        </p:nvSpPr>
        <p:spPr>
          <a:xfrm>
            <a:off x="1041579" y="4199030"/>
            <a:ext cx="516344" cy="570744"/>
          </a:xfrm>
          <a:custGeom>
            <a:avLst/>
            <a:gdLst>
              <a:gd name="connsiteX0" fmla="*/ 190150 w 516344"/>
              <a:gd name="connsiteY0" fmla="*/ 421201 h 570744"/>
              <a:gd name="connsiteX1" fmla="*/ 217924 w 516344"/>
              <a:gd name="connsiteY1" fmla="*/ 326058 h 570744"/>
              <a:gd name="connsiteX2" fmla="*/ 61146 w 516344"/>
              <a:gd name="connsiteY2" fmla="*/ 326058 h 570744"/>
              <a:gd name="connsiteX3" fmla="*/ 0 w 516344"/>
              <a:gd name="connsiteY3" fmla="*/ 387204 h 570744"/>
              <a:gd name="connsiteX4" fmla="*/ 0 w 516344"/>
              <a:gd name="connsiteY4" fmla="*/ 412206 h 570744"/>
              <a:gd name="connsiteX5" fmla="*/ 13860 w 516344"/>
              <a:gd name="connsiteY5" fmla="*/ 455578 h 570744"/>
              <a:gd name="connsiteX6" fmla="*/ 192678 w 516344"/>
              <a:gd name="connsiteY6" fmla="*/ 542813 h 570744"/>
              <a:gd name="connsiteX7" fmla="*/ 206864 w 516344"/>
              <a:gd name="connsiteY7" fmla="*/ 496261 h 570744"/>
              <a:gd name="connsiteX8" fmla="*/ 190150 w 516344"/>
              <a:gd name="connsiteY8" fmla="*/ 421201 h 570744"/>
              <a:gd name="connsiteX9" fmla="*/ 217354 w 516344"/>
              <a:gd name="connsiteY9" fmla="*/ 0 h 570744"/>
              <a:gd name="connsiteX10" fmla="*/ 353261 w 516344"/>
              <a:gd name="connsiteY10" fmla="*/ 135907 h 570744"/>
              <a:gd name="connsiteX11" fmla="*/ 217354 w 516344"/>
              <a:gd name="connsiteY11" fmla="*/ 271814 h 570744"/>
              <a:gd name="connsiteX12" fmla="*/ 81446 w 516344"/>
              <a:gd name="connsiteY12" fmla="*/ 135907 h 570744"/>
              <a:gd name="connsiteX13" fmla="*/ 217354 w 516344"/>
              <a:gd name="connsiteY13" fmla="*/ 0 h 570744"/>
              <a:gd name="connsiteX14" fmla="*/ 516344 w 516344"/>
              <a:gd name="connsiteY14" fmla="*/ 421201 h 570744"/>
              <a:gd name="connsiteX15" fmla="*/ 366898 w 516344"/>
              <a:gd name="connsiteY15" fmla="*/ 570745 h 570744"/>
              <a:gd name="connsiteX16" fmla="*/ 294370 w 516344"/>
              <a:gd name="connsiteY16" fmla="*/ 551999 h 570744"/>
              <a:gd name="connsiteX17" fmla="*/ 234937 w 516344"/>
              <a:gd name="connsiteY17" fmla="*/ 570071 h 570744"/>
              <a:gd name="connsiteX18" fmla="*/ 217979 w 516344"/>
              <a:gd name="connsiteY18" fmla="*/ 561032 h 570744"/>
              <a:gd name="connsiteX19" fmla="*/ 217979 w 516344"/>
              <a:gd name="connsiteY19" fmla="*/ 553113 h 570744"/>
              <a:gd name="connsiteX20" fmla="*/ 236078 w 516344"/>
              <a:gd name="connsiteY20" fmla="*/ 493679 h 570744"/>
              <a:gd name="connsiteX21" fmla="*/ 294408 w 516344"/>
              <a:gd name="connsiteY21" fmla="*/ 290468 h 570744"/>
              <a:gd name="connsiteX22" fmla="*/ 497620 w 516344"/>
              <a:gd name="connsiteY22" fmla="*/ 348796 h 570744"/>
              <a:gd name="connsiteX23" fmla="*/ 516344 w 516344"/>
              <a:gd name="connsiteY23" fmla="*/ 421174 h 570744"/>
              <a:gd name="connsiteX24" fmla="*/ 312470 w 516344"/>
              <a:gd name="connsiteY24" fmla="*/ 380437 h 570744"/>
              <a:gd name="connsiteX25" fmla="*/ 298882 w 516344"/>
              <a:gd name="connsiteY25" fmla="*/ 394025 h 570744"/>
              <a:gd name="connsiteX26" fmla="*/ 312470 w 516344"/>
              <a:gd name="connsiteY26" fmla="*/ 407613 h 570744"/>
              <a:gd name="connsiteX27" fmla="*/ 421228 w 516344"/>
              <a:gd name="connsiteY27" fmla="*/ 407613 h 570744"/>
              <a:gd name="connsiteX28" fmla="*/ 434816 w 516344"/>
              <a:gd name="connsiteY28" fmla="*/ 394025 h 570744"/>
              <a:gd name="connsiteX29" fmla="*/ 421228 w 516344"/>
              <a:gd name="connsiteY29" fmla="*/ 380437 h 570744"/>
              <a:gd name="connsiteX30" fmla="*/ 312524 w 516344"/>
              <a:gd name="connsiteY30" fmla="*/ 380437 h 570744"/>
              <a:gd name="connsiteX31" fmla="*/ 298882 w 516344"/>
              <a:gd name="connsiteY31" fmla="*/ 448377 h 570744"/>
              <a:gd name="connsiteX32" fmla="*/ 312470 w 516344"/>
              <a:gd name="connsiteY32" fmla="*/ 461965 h 570744"/>
              <a:gd name="connsiteX33" fmla="*/ 366822 w 516344"/>
              <a:gd name="connsiteY33" fmla="*/ 461965 h 570744"/>
              <a:gd name="connsiteX34" fmla="*/ 380410 w 516344"/>
              <a:gd name="connsiteY34" fmla="*/ 448377 h 570744"/>
              <a:gd name="connsiteX35" fmla="*/ 366822 w 516344"/>
              <a:gd name="connsiteY35" fmla="*/ 434789 h 570744"/>
              <a:gd name="connsiteX36" fmla="*/ 312470 w 516344"/>
              <a:gd name="connsiteY36" fmla="*/ 434789 h 570744"/>
              <a:gd name="connsiteX37" fmla="*/ 298882 w 516344"/>
              <a:gd name="connsiteY37" fmla="*/ 448377 h 570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16344" h="570744">
                <a:moveTo>
                  <a:pt x="190150" y="421201"/>
                </a:moveTo>
                <a:cubicBezTo>
                  <a:pt x="190150" y="386144"/>
                  <a:pt x="200341" y="353533"/>
                  <a:pt x="217924" y="326058"/>
                </a:cubicBezTo>
                <a:lnTo>
                  <a:pt x="61146" y="326058"/>
                </a:lnTo>
                <a:cubicBezTo>
                  <a:pt x="27376" y="326058"/>
                  <a:pt x="0" y="353435"/>
                  <a:pt x="0" y="387204"/>
                </a:cubicBezTo>
                <a:lnTo>
                  <a:pt x="0" y="412206"/>
                </a:lnTo>
                <a:cubicBezTo>
                  <a:pt x="0" y="427750"/>
                  <a:pt x="4837" y="442914"/>
                  <a:pt x="13860" y="455578"/>
                </a:cubicBezTo>
                <a:cubicBezTo>
                  <a:pt x="51988" y="509061"/>
                  <a:pt x="112155" y="538030"/>
                  <a:pt x="192678" y="542813"/>
                </a:cubicBezTo>
                <a:lnTo>
                  <a:pt x="206864" y="496261"/>
                </a:lnTo>
                <a:cubicBezTo>
                  <a:pt x="195830" y="472778"/>
                  <a:pt x="190123" y="447146"/>
                  <a:pt x="190150" y="421201"/>
                </a:cubicBezTo>
                <a:close/>
                <a:moveTo>
                  <a:pt x="217354" y="0"/>
                </a:moveTo>
                <a:cubicBezTo>
                  <a:pt x="292414" y="0"/>
                  <a:pt x="353261" y="60848"/>
                  <a:pt x="353261" y="135907"/>
                </a:cubicBezTo>
                <a:cubicBezTo>
                  <a:pt x="353261" y="210967"/>
                  <a:pt x="292414" y="271814"/>
                  <a:pt x="217354" y="271814"/>
                </a:cubicBezTo>
                <a:cubicBezTo>
                  <a:pt x="142294" y="271814"/>
                  <a:pt x="81446" y="210967"/>
                  <a:pt x="81446" y="135907"/>
                </a:cubicBezTo>
                <a:cubicBezTo>
                  <a:pt x="81446" y="60848"/>
                  <a:pt x="142294" y="0"/>
                  <a:pt x="217354" y="0"/>
                </a:cubicBezTo>
                <a:close/>
                <a:moveTo>
                  <a:pt x="516344" y="421201"/>
                </a:moveTo>
                <a:cubicBezTo>
                  <a:pt x="516371" y="503764"/>
                  <a:pt x="449461" y="570718"/>
                  <a:pt x="366898" y="570745"/>
                </a:cubicBezTo>
                <a:cubicBezTo>
                  <a:pt x="341521" y="570753"/>
                  <a:pt x="316562" y="564302"/>
                  <a:pt x="294370" y="551999"/>
                </a:cubicBezTo>
                <a:lnTo>
                  <a:pt x="234937" y="570071"/>
                </a:lnTo>
                <a:cubicBezTo>
                  <a:pt x="227757" y="572259"/>
                  <a:pt x="220166" y="568212"/>
                  <a:pt x="217979" y="561032"/>
                </a:cubicBezTo>
                <a:cubicBezTo>
                  <a:pt x="217193" y="558451"/>
                  <a:pt x="217193" y="555695"/>
                  <a:pt x="217979" y="553113"/>
                </a:cubicBezTo>
                <a:lnTo>
                  <a:pt x="236078" y="493679"/>
                </a:lnTo>
                <a:cubicBezTo>
                  <a:pt x="196069" y="421456"/>
                  <a:pt x="222186" y="330476"/>
                  <a:pt x="294408" y="290468"/>
                </a:cubicBezTo>
                <a:cubicBezTo>
                  <a:pt x="366631" y="250459"/>
                  <a:pt x="457611" y="276573"/>
                  <a:pt x="497620" y="348796"/>
                </a:cubicBezTo>
                <a:cubicBezTo>
                  <a:pt x="509890" y="370947"/>
                  <a:pt x="516333" y="395851"/>
                  <a:pt x="516344" y="421174"/>
                </a:cubicBezTo>
                <a:close/>
                <a:moveTo>
                  <a:pt x="312470" y="380437"/>
                </a:moveTo>
                <a:cubicBezTo>
                  <a:pt x="304966" y="380437"/>
                  <a:pt x="298882" y="386522"/>
                  <a:pt x="298882" y="394025"/>
                </a:cubicBezTo>
                <a:cubicBezTo>
                  <a:pt x="298882" y="401528"/>
                  <a:pt x="304966" y="407613"/>
                  <a:pt x="312470" y="407613"/>
                </a:cubicBezTo>
                <a:lnTo>
                  <a:pt x="421228" y="407613"/>
                </a:lnTo>
                <a:cubicBezTo>
                  <a:pt x="428731" y="407613"/>
                  <a:pt x="434816" y="401528"/>
                  <a:pt x="434816" y="394025"/>
                </a:cubicBezTo>
                <a:cubicBezTo>
                  <a:pt x="434816" y="386522"/>
                  <a:pt x="428731" y="380437"/>
                  <a:pt x="421228" y="380437"/>
                </a:cubicBezTo>
                <a:lnTo>
                  <a:pt x="312524" y="380437"/>
                </a:lnTo>
                <a:close/>
                <a:moveTo>
                  <a:pt x="298882" y="448377"/>
                </a:moveTo>
                <a:cubicBezTo>
                  <a:pt x="298882" y="455880"/>
                  <a:pt x="304966" y="461965"/>
                  <a:pt x="312470" y="461965"/>
                </a:cubicBezTo>
                <a:lnTo>
                  <a:pt x="366822" y="461965"/>
                </a:lnTo>
                <a:cubicBezTo>
                  <a:pt x="374325" y="461965"/>
                  <a:pt x="380410" y="455880"/>
                  <a:pt x="380410" y="448377"/>
                </a:cubicBezTo>
                <a:cubicBezTo>
                  <a:pt x="380410" y="440874"/>
                  <a:pt x="374325" y="434789"/>
                  <a:pt x="366822" y="434789"/>
                </a:cubicBezTo>
                <a:lnTo>
                  <a:pt x="312470" y="434789"/>
                </a:lnTo>
                <a:cubicBezTo>
                  <a:pt x="304966" y="434789"/>
                  <a:pt x="298882" y="440874"/>
                  <a:pt x="298882" y="448377"/>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17" name="Text Placeholder 5">
            <a:extLst>
              <a:ext uri="{FF2B5EF4-FFF2-40B4-BE49-F238E27FC236}">
                <a16:creationId xmlns:a16="http://schemas.microsoft.com/office/drawing/2014/main" id="{5A08DBA8-B693-2FCA-2088-13F364053E19}"/>
              </a:ext>
            </a:extLst>
          </p:cNvPr>
          <p:cNvSpPr txBox="1">
            <a:spLocks/>
          </p:cNvSpPr>
          <p:nvPr/>
        </p:nvSpPr>
        <p:spPr>
          <a:xfrm>
            <a:off x="660540" y="4963813"/>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latin typeface="+mj-lt"/>
                <a:cs typeface="Segoe UI Semilight"/>
              </a:rPr>
              <a:t>User</a:t>
            </a:r>
            <a:endParaRPr lang="en-US" sz="1800"/>
          </a:p>
          <a:p>
            <a:pPr marL="0" indent="0" algn="ctr" defTabSz="1865484">
              <a:buNone/>
              <a:defRPr/>
            </a:pPr>
            <a:r>
              <a:rPr lang="en-US" sz="1800">
                <a:latin typeface="+mj-lt"/>
                <a:cs typeface="Segoe UI Semilight"/>
              </a:rPr>
              <a:t>Question</a:t>
            </a:r>
            <a:endParaRPr lang="en-US" sz="1800">
              <a:cs typeface="Segoe UI Semilight"/>
            </a:endParaRPr>
          </a:p>
        </p:txBody>
      </p:sp>
      <p:sp>
        <p:nvSpPr>
          <p:cNvPr id="11" name="Rounded Rectangle 5">
            <a:extLst>
              <a:ext uri="{FF2B5EF4-FFF2-40B4-BE49-F238E27FC236}">
                <a16:creationId xmlns:a16="http://schemas.microsoft.com/office/drawing/2014/main" id="{BCF2A82C-955C-CFC3-A8CF-3874D3FB5C8D}"/>
              </a:ext>
              <a:ext uri="{C183D7F6-B498-43B3-948B-1728B52AA6E4}">
                <adec:decorative xmlns:adec="http://schemas.microsoft.com/office/drawing/2017/decorative" val="1"/>
              </a:ext>
            </a:extLst>
          </p:cNvPr>
          <p:cNvSpPr/>
          <p:nvPr/>
        </p:nvSpPr>
        <p:spPr bwMode="auto">
          <a:xfrm>
            <a:off x="2372913" y="3597587"/>
            <a:ext cx="1568938" cy="2340850"/>
          </a:xfrm>
          <a:prstGeom prst="roundRect">
            <a:avLst>
              <a:gd name="adj" fmla="val 6589"/>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68" name="Graphic 22" descr="Large Language Model icon">
            <a:extLst>
              <a:ext uri="{FF2B5EF4-FFF2-40B4-BE49-F238E27FC236}">
                <a16:creationId xmlns:a16="http://schemas.microsoft.com/office/drawing/2014/main" id="{0615080B-2DF1-7014-D4ED-FD5892DB3525}"/>
              </a:ext>
            </a:extLst>
          </p:cNvPr>
          <p:cNvSpPr/>
          <p:nvPr/>
        </p:nvSpPr>
        <p:spPr>
          <a:xfrm>
            <a:off x="2885627" y="4212493"/>
            <a:ext cx="543510" cy="543815"/>
          </a:xfrm>
          <a:custGeom>
            <a:avLst/>
            <a:gdLst>
              <a:gd name="connsiteX0" fmla="*/ 461978 w 543510"/>
              <a:gd name="connsiteY0" fmla="*/ 67910 h 543815"/>
              <a:gd name="connsiteX1" fmla="*/ 394065 w 543510"/>
              <a:gd name="connsiteY1" fmla="*/ 135877 h 543815"/>
              <a:gd name="connsiteX2" fmla="*/ 380124 w 543510"/>
              <a:gd name="connsiteY2" fmla="*/ 134437 h 543815"/>
              <a:gd name="connsiteX3" fmla="*/ 345338 w 543510"/>
              <a:gd name="connsiteY3" fmla="*/ 191995 h 543815"/>
              <a:gd name="connsiteX4" fmla="*/ 380450 w 543510"/>
              <a:gd name="connsiteY4" fmla="*/ 271974 h 543815"/>
              <a:gd name="connsiteX5" fmla="*/ 380450 w 543510"/>
              <a:gd name="connsiteY5" fmla="*/ 273551 h 543815"/>
              <a:gd name="connsiteX6" fmla="*/ 415670 w 543510"/>
              <a:gd name="connsiteY6" fmla="*/ 280644 h 543815"/>
              <a:gd name="connsiteX7" fmla="*/ 507639 w 543510"/>
              <a:gd name="connsiteY7" fmla="*/ 252837 h 543815"/>
              <a:gd name="connsiteX8" fmla="*/ 535445 w 543510"/>
              <a:gd name="connsiteY8" fmla="*/ 344809 h 543815"/>
              <a:gd name="connsiteX9" fmla="*/ 443476 w 543510"/>
              <a:gd name="connsiteY9" fmla="*/ 372613 h 543815"/>
              <a:gd name="connsiteX10" fmla="*/ 408088 w 543510"/>
              <a:gd name="connsiteY10" fmla="*/ 320701 h 543815"/>
              <a:gd name="connsiteX11" fmla="*/ 372215 w 543510"/>
              <a:gd name="connsiteY11" fmla="*/ 313499 h 543815"/>
              <a:gd name="connsiteX12" fmla="*/ 324875 w 543510"/>
              <a:gd name="connsiteY12" fmla="*/ 366846 h 543815"/>
              <a:gd name="connsiteX13" fmla="*/ 338327 w 543510"/>
              <a:gd name="connsiteY13" fmla="*/ 407936 h 543815"/>
              <a:gd name="connsiteX14" fmla="*/ 339686 w 543510"/>
              <a:gd name="connsiteY14" fmla="*/ 407936 h 543815"/>
              <a:gd name="connsiteX15" fmla="*/ 407577 w 543510"/>
              <a:gd name="connsiteY15" fmla="*/ 475925 h 543815"/>
              <a:gd name="connsiteX16" fmla="*/ 339588 w 543510"/>
              <a:gd name="connsiteY16" fmla="*/ 543816 h 543815"/>
              <a:gd name="connsiteX17" fmla="*/ 271697 w 543510"/>
              <a:gd name="connsiteY17" fmla="*/ 475827 h 543815"/>
              <a:gd name="connsiteX18" fmla="*/ 299683 w 543510"/>
              <a:gd name="connsiteY18" fmla="*/ 420926 h 543815"/>
              <a:gd name="connsiteX19" fmla="*/ 286203 w 543510"/>
              <a:gd name="connsiteY19" fmla="*/ 379727 h 543815"/>
              <a:gd name="connsiteX20" fmla="*/ 184239 w 543510"/>
              <a:gd name="connsiteY20" fmla="*/ 336436 h 543815"/>
              <a:gd name="connsiteX21" fmla="*/ 135458 w 543510"/>
              <a:gd name="connsiteY21" fmla="*/ 359481 h 543815"/>
              <a:gd name="connsiteX22" fmla="*/ 75560 w 543510"/>
              <a:gd name="connsiteY22" fmla="*/ 434606 h 543815"/>
              <a:gd name="connsiteX23" fmla="*/ 434 w 543510"/>
              <a:gd name="connsiteY23" fmla="*/ 374711 h 543815"/>
              <a:gd name="connsiteX24" fmla="*/ 60332 w 543510"/>
              <a:gd name="connsiteY24" fmla="*/ 299582 h 543815"/>
              <a:gd name="connsiteX25" fmla="*/ 118935 w 543510"/>
              <a:gd name="connsiteY25" fmla="*/ 322196 h 543815"/>
              <a:gd name="connsiteX26" fmla="*/ 166602 w 543510"/>
              <a:gd name="connsiteY26" fmla="*/ 299694 h 543815"/>
              <a:gd name="connsiteX27" fmla="*/ 187908 w 543510"/>
              <a:gd name="connsiteY27" fmla="*/ 202757 h 543815"/>
              <a:gd name="connsiteX28" fmla="*/ 160976 w 543510"/>
              <a:gd name="connsiteY28" fmla="*/ 172048 h 543815"/>
              <a:gd name="connsiteX29" fmla="*/ 72738 w 543510"/>
              <a:gd name="connsiteY29" fmla="*/ 134026 h 543815"/>
              <a:gd name="connsiteX30" fmla="*/ 110761 w 543510"/>
              <a:gd name="connsiteY30" fmla="*/ 45788 h 543815"/>
              <a:gd name="connsiteX31" fmla="*/ 198999 w 543510"/>
              <a:gd name="connsiteY31" fmla="*/ 83810 h 543815"/>
              <a:gd name="connsiteX32" fmla="*/ 192609 w 543510"/>
              <a:gd name="connsiteY32" fmla="*/ 146285 h 543815"/>
              <a:gd name="connsiteX33" fmla="*/ 219323 w 543510"/>
              <a:gd name="connsiteY33" fmla="*/ 176722 h 543815"/>
              <a:gd name="connsiteX34" fmla="*/ 271746 w 543510"/>
              <a:gd name="connsiteY34" fmla="*/ 163270 h 543815"/>
              <a:gd name="connsiteX35" fmla="*/ 310716 w 543510"/>
              <a:gd name="connsiteY35" fmla="*/ 170472 h 543815"/>
              <a:gd name="connsiteX36" fmla="*/ 344550 w 543510"/>
              <a:gd name="connsiteY36" fmla="*/ 114489 h 543815"/>
              <a:gd name="connsiteX37" fmla="*/ 347488 w 543510"/>
              <a:gd name="connsiteY37" fmla="*/ 18453 h 543815"/>
              <a:gd name="connsiteX38" fmla="*/ 443525 w 543510"/>
              <a:gd name="connsiteY38" fmla="*/ 21391 h 543815"/>
              <a:gd name="connsiteX39" fmla="*/ 461978 w 543510"/>
              <a:gd name="connsiteY39" fmla="*/ 67937 h 54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43510" h="543815">
                <a:moveTo>
                  <a:pt x="461978" y="67910"/>
                </a:moveTo>
                <a:cubicBezTo>
                  <a:pt x="461991" y="105432"/>
                  <a:pt x="431587" y="135862"/>
                  <a:pt x="394065" y="135877"/>
                </a:cubicBezTo>
                <a:cubicBezTo>
                  <a:pt x="389380" y="135879"/>
                  <a:pt x="384708" y="135396"/>
                  <a:pt x="380124" y="134437"/>
                </a:cubicBezTo>
                <a:lnTo>
                  <a:pt x="345338" y="191995"/>
                </a:lnTo>
                <a:cubicBezTo>
                  <a:pt x="367737" y="212554"/>
                  <a:pt x="380477" y="241573"/>
                  <a:pt x="380450" y="271974"/>
                </a:cubicBezTo>
                <a:lnTo>
                  <a:pt x="380450" y="273551"/>
                </a:lnTo>
                <a:lnTo>
                  <a:pt x="415670" y="280644"/>
                </a:lnTo>
                <a:cubicBezTo>
                  <a:pt x="433389" y="247568"/>
                  <a:pt x="474566" y="235118"/>
                  <a:pt x="507639" y="252837"/>
                </a:cubicBezTo>
                <a:cubicBezTo>
                  <a:pt x="540715" y="270556"/>
                  <a:pt x="553164" y="311733"/>
                  <a:pt x="535445" y="344809"/>
                </a:cubicBezTo>
                <a:cubicBezTo>
                  <a:pt x="517727" y="377882"/>
                  <a:pt x="476552" y="390331"/>
                  <a:pt x="443476" y="372613"/>
                </a:cubicBezTo>
                <a:cubicBezTo>
                  <a:pt x="423907" y="362131"/>
                  <a:pt x="410694" y="342749"/>
                  <a:pt x="408088" y="320701"/>
                </a:cubicBezTo>
                <a:lnTo>
                  <a:pt x="372215" y="313499"/>
                </a:lnTo>
                <a:cubicBezTo>
                  <a:pt x="362856" y="336083"/>
                  <a:pt x="346186" y="354869"/>
                  <a:pt x="324875" y="366846"/>
                </a:cubicBezTo>
                <a:lnTo>
                  <a:pt x="338327" y="407936"/>
                </a:lnTo>
                <a:lnTo>
                  <a:pt x="339686" y="407936"/>
                </a:lnTo>
                <a:cubicBezTo>
                  <a:pt x="377208" y="407963"/>
                  <a:pt x="407604" y="438403"/>
                  <a:pt x="407577" y="475925"/>
                </a:cubicBezTo>
                <a:cubicBezTo>
                  <a:pt x="407550" y="513447"/>
                  <a:pt x="377110" y="543843"/>
                  <a:pt x="339588" y="543816"/>
                </a:cubicBezTo>
                <a:cubicBezTo>
                  <a:pt x="302066" y="543789"/>
                  <a:pt x="271670" y="513349"/>
                  <a:pt x="271697" y="475827"/>
                </a:cubicBezTo>
                <a:cubicBezTo>
                  <a:pt x="271713" y="454105"/>
                  <a:pt x="282113" y="433701"/>
                  <a:pt x="299683" y="420926"/>
                </a:cubicBezTo>
                <a:lnTo>
                  <a:pt x="286203" y="379727"/>
                </a:lnTo>
                <a:cubicBezTo>
                  <a:pt x="246855" y="385032"/>
                  <a:pt x="207751" y="368430"/>
                  <a:pt x="184239" y="336436"/>
                </a:cubicBezTo>
                <a:lnTo>
                  <a:pt x="135458" y="359481"/>
                </a:lnTo>
                <a:cubicBezTo>
                  <a:pt x="139663" y="396767"/>
                  <a:pt x="112846" y="430402"/>
                  <a:pt x="75560" y="434606"/>
                </a:cubicBezTo>
                <a:cubicBezTo>
                  <a:pt x="38274" y="438813"/>
                  <a:pt x="4639" y="411996"/>
                  <a:pt x="434" y="374711"/>
                </a:cubicBezTo>
                <a:cubicBezTo>
                  <a:pt x="-3771" y="337422"/>
                  <a:pt x="23046" y="303789"/>
                  <a:pt x="60332" y="299582"/>
                </a:cubicBezTo>
                <a:cubicBezTo>
                  <a:pt x="82387" y="297096"/>
                  <a:pt x="104267" y="305539"/>
                  <a:pt x="118935" y="322196"/>
                </a:cubicBezTo>
                <a:lnTo>
                  <a:pt x="166602" y="299694"/>
                </a:lnTo>
                <a:cubicBezTo>
                  <a:pt x="157705" y="265835"/>
                  <a:pt x="165633" y="229765"/>
                  <a:pt x="187908" y="202757"/>
                </a:cubicBezTo>
                <a:lnTo>
                  <a:pt x="160976" y="172048"/>
                </a:lnTo>
                <a:cubicBezTo>
                  <a:pt x="126110" y="185915"/>
                  <a:pt x="86605" y="168892"/>
                  <a:pt x="72738" y="134026"/>
                </a:cubicBezTo>
                <a:cubicBezTo>
                  <a:pt x="58872" y="99160"/>
                  <a:pt x="75895" y="59654"/>
                  <a:pt x="110761" y="45788"/>
                </a:cubicBezTo>
                <a:cubicBezTo>
                  <a:pt x="145627" y="31921"/>
                  <a:pt x="185132" y="48944"/>
                  <a:pt x="198999" y="83810"/>
                </a:cubicBezTo>
                <a:cubicBezTo>
                  <a:pt x="207199" y="104429"/>
                  <a:pt x="204814" y="127753"/>
                  <a:pt x="192609" y="146285"/>
                </a:cubicBezTo>
                <a:lnTo>
                  <a:pt x="219323" y="176722"/>
                </a:lnTo>
                <a:cubicBezTo>
                  <a:pt x="235376" y="167871"/>
                  <a:pt x="253416" y="163242"/>
                  <a:pt x="271746" y="163270"/>
                </a:cubicBezTo>
                <a:cubicBezTo>
                  <a:pt x="285470" y="163270"/>
                  <a:pt x="298650" y="165825"/>
                  <a:pt x="310716" y="170472"/>
                </a:cubicBezTo>
                <a:lnTo>
                  <a:pt x="344550" y="114489"/>
                </a:lnTo>
                <a:cubicBezTo>
                  <a:pt x="318842" y="87158"/>
                  <a:pt x="320157" y="44161"/>
                  <a:pt x="347488" y="18453"/>
                </a:cubicBezTo>
                <a:cubicBezTo>
                  <a:pt x="374819" y="-7256"/>
                  <a:pt x="417817" y="-5940"/>
                  <a:pt x="443525" y="21391"/>
                </a:cubicBezTo>
                <a:cubicBezTo>
                  <a:pt x="455377" y="33991"/>
                  <a:pt x="461978" y="50638"/>
                  <a:pt x="461978" y="67937"/>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69" name="Text Placeholder 5">
            <a:extLst>
              <a:ext uri="{FF2B5EF4-FFF2-40B4-BE49-F238E27FC236}">
                <a16:creationId xmlns:a16="http://schemas.microsoft.com/office/drawing/2014/main" id="{F5D2E3DF-8659-5371-2D3D-08F9010D241F}"/>
              </a:ext>
            </a:extLst>
          </p:cNvPr>
          <p:cNvSpPr txBox="1">
            <a:spLocks/>
          </p:cNvSpPr>
          <p:nvPr/>
        </p:nvSpPr>
        <p:spPr>
          <a:xfrm>
            <a:off x="2518171" y="4963813"/>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latin typeface="+mj-lt"/>
                <a:cs typeface="Segoe UI Semilight"/>
              </a:rPr>
              <a:t>Large Language Model</a:t>
            </a:r>
          </a:p>
        </p:txBody>
      </p:sp>
      <p:grpSp>
        <p:nvGrpSpPr>
          <p:cNvPr id="88" name="Group 87" descr="Mountain trail shoe&#10;">
            <a:extLst>
              <a:ext uri="{FF2B5EF4-FFF2-40B4-BE49-F238E27FC236}">
                <a16:creationId xmlns:a16="http://schemas.microsoft.com/office/drawing/2014/main" id="{52933867-A034-D4C1-6613-601E6CE836FE}"/>
              </a:ext>
            </a:extLst>
          </p:cNvPr>
          <p:cNvGrpSpPr/>
          <p:nvPr/>
        </p:nvGrpSpPr>
        <p:grpSpPr>
          <a:xfrm>
            <a:off x="3694843" y="3923534"/>
            <a:ext cx="858592" cy="670785"/>
            <a:chOff x="3694843" y="3923534"/>
            <a:chExt cx="858592" cy="670785"/>
          </a:xfrm>
        </p:grpSpPr>
        <p:sp>
          <p:nvSpPr>
            <p:cNvPr id="71" name="TextBox 7">
              <a:extLst>
                <a:ext uri="{FF2B5EF4-FFF2-40B4-BE49-F238E27FC236}">
                  <a16:creationId xmlns:a16="http://schemas.microsoft.com/office/drawing/2014/main" id="{A7E54BA8-136D-908D-0DE1-99F6D9BE365B}"/>
                </a:ext>
                <a:ext uri="{C183D7F6-B498-43B3-948B-1728B52AA6E4}">
                  <adec:decorative xmlns:adec="http://schemas.microsoft.com/office/drawing/2017/decorative" val="1"/>
                </a:ext>
              </a:extLst>
            </p:cNvPr>
            <p:cNvSpPr txBox="1"/>
            <p:nvPr/>
          </p:nvSpPr>
          <p:spPr>
            <a:xfrm>
              <a:off x="3694843" y="3923534"/>
              <a:ext cx="858592" cy="514738"/>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ot="0" spcFirstLastPara="0" vert="horz" wrap="square" lIns="0" tIns="72000" rIns="0" bIns="72000" numCol="1" spcCol="0" rtlCol="0" fromWordArt="0" anchor="t" anchorCtr="0" forceAA="0" compatLnSpc="1">
              <a:prstTxWarp prst="textNoShape">
                <a:avLst/>
              </a:prstTxWarp>
              <a:spAutoFit/>
            </a:bodyPr>
            <a:lstStyle>
              <a:defPPr>
                <a:defRPr lang="en-US"/>
              </a:defPPr>
              <a:lvl1pPr marL="0" algn="l" defTabSz="3657965" rtl="0" eaLnBrk="1" latinLnBrk="0" hangingPunct="1">
                <a:defRPr sz="7200" kern="1200">
                  <a:solidFill>
                    <a:schemeClr val="dk1"/>
                  </a:solidFill>
                  <a:latin typeface="+mn-lt"/>
                  <a:ea typeface="+mn-ea"/>
                  <a:cs typeface="+mn-cs"/>
                </a:defRPr>
              </a:lvl1pPr>
              <a:lvl2pPr marL="1828983" algn="l" defTabSz="3657965" rtl="0" eaLnBrk="1" latinLnBrk="0" hangingPunct="1">
                <a:defRPr sz="7200" kern="1200">
                  <a:solidFill>
                    <a:schemeClr val="dk1"/>
                  </a:solidFill>
                  <a:latin typeface="+mn-lt"/>
                  <a:ea typeface="+mn-ea"/>
                  <a:cs typeface="+mn-cs"/>
                </a:defRPr>
              </a:lvl2pPr>
              <a:lvl3pPr marL="3657965" algn="l" defTabSz="3657965" rtl="0" eaLnBrk="1" latinLnBrk="0" hangingPunct="1">
                <a:defRPr sz="7200" kern="1200">
                  <a:solidFill>
                    <a:schemeClr val="dk1"/>
                  </a:solidFill>
                  <a:latin typeface="+mn-lt"/>
                  <a:ea typeface="+mn-ea"/>
                  <a:cs typeface="+mn-cs"/>
                </a:defRPr>
              </a:lvl3pPr>
              <a:lvl4pPr marL="5486948" algn="l" defTabSz="3657965" rtl="0" eaLnBrk="1" latinLnBrk="0" hangingPunct="1">
                <a:defRPr sz="7200" kern="1200">
                  <a:solidFill>
                    <a:schemeClr val="dk1"/>
                  </a:solidFill>
                  <a:latin typeface="+mn-lt"/>
                  <a:ea typeface="+mn-ea"/>
                  <a:cs typeface="+mn-cs"/>
                </a:defRPr>
              </a:lvl4pPr>
              <a:lvl5pPr marL="7315932" algn="l" defTabSz="3657965" rtl="0" eaLnBrk="1" latinLnBrk="0" hangingPunct="1">
                <a:defRPr sz="7200" kern="1200">
                  <a:solidFill>
                    <a:schemeClr val="dk1"/>
                  </a:solidFill>
                  <a:latin typeface="+mn-lt"/>
                  <a:ea typeface="+mn-ea"/>
                  <a:cs typeface="+mn-cs"/>
                </a:defRPr>
              </a:lvl5pPr>
              <a:lvl6pPr marL="9144915" algn="l" defTabSz="3657965" rtl="0" eaLnBrk="1" latinLnBrk="0" hangingPunct="1">
                <a:defRPr sz="7200" kern="1200">
                  <a:solidFill>
                    <a:schemeClr val="dk1"/>
                  </a:solidFill>
                  <a:latin typeface="+mn-lt"/>
                  <a:ea typeface="+mn-ea"/>
                  <a:cs typeface="+mn-cs"/>
                </a:defRPr>
              </a:lvl6pPr>
              <a:lvl7pPr marL="10973897" algn="l" defTabSz="3657965" rtl="0" eaLnBrk="1" latinLnBrk="0" hangingPunct="1">
                <a:defRPr sz="7200" kern="1200">
                  <a:solidFill>
                    <a:schemeClr val="dk1"/>
                  </a:solidFill>
                  <a:latin typeface="+mn-lt"/>
                  <a:ea typeface="+mn-ea"/>
                  <a:cs typeface="+mn-cs"/>
                </a:defRPr>
              </a:lvl7pPr>
              <a:lvl8pPr marL="12802880" algn="l" defTabSz="3657965" rtl="0" eaLnBrk="1" latinLnBrk="0" hangingPunct="1">
                <a:defRPr sz="7200" kern="1200">
                  <a:solidFill>
                    <a:schemeClr val="dk1"/>
                  </a:solidFill>
                  <a:latin typeface="+mn-lt"/>
                  <a:ea typeface="+mn-ea"/>
                  <a:cs typeface="+mn-cs"/>
                </a:defRPr>
              </a:lvl8pPr>
              <a:lvl9pPr marL="14631864" algn="l" defTabSz="3657965" rtl="0" eaLnBrk="1" latinLnBrk="0" hangingPunct="1">
                <a:defRPr sz="7200" kern="1200">
                  <a:solidFill>
                    <a:schemeClr val="dk1"/>
                  </a:solidFill>
                  <a:latin typeface="+mn-lt"/>
                  <a:ea typeface="+mn-ea"/>
                  <a:cs typeface="+mn-cs"/>
                </a:defRPr>
              </a:lvl9pPr>
            </a:lstStyle>
            <a:p>
              <a:pPr algn="ctr"/>
              <a:r>
                <a:rPr lang="en-US" sz="1200">
                  <a:solidFill>
                    <a:schemeClr val="tx1"/>
                  </a:solidFill>
                  <a:ea typeface="+mn-lt"/>
                  <a:cs typeface="+mn-lt"/>
                </a:rPr>
                <a:t>Mountain</a:t>
              </a:r>
              <a:br>
                <a:rPr lang="en-US" sz="1200">
                  <a:solidFill>
                    <a:schemeClr val="tx1"/>
                  </a:solidFill>
                  <a:ea typeface="+mn-lt"/>
                  <a:cs typeface="+mn-lt"/>
                </a:rPr>
              </a:br>
              <a:r>
                <a:rPr lang="en-US" sz="1200">
                  <a:solidFill>
                    <a:schemeClr val="tx1"/>
                  </a:solidFill>
                  <a:ea typeface="+mn-lt"/>
                  <a:cs typeface="+mn-lt"/>
                </a:rPr>
                <a:t>trail shoe</a:t>
              </a:r>
            </a:p>
          </p:txBody>
        </p:sp>
        <p:cxnSp>
          <p:nvCxnSpPr>
            <p:cNvPr id="60" name="Straight Connector 59">
              <a:extLst>
                <a:ext uri="{FF2B5EF4-FFF2-40B4-BE49-F238E27FC236}">
                  <a16:creationId xmlns:a16="http://schemas.microsoft.com/office/drawing/2014/main" id="{056566F0-3321-9078-DAF9-EFD2DD6E04D2}"/>
                </a:ext>
                <a:ext uri="{C183D7F6-B498-43B3-948B-1728B52AA6E4}">
                  <adec:decorative xmlns:adec="http://schemas.microsoft.com/office/drawing/2017/decorative" val="1"/>
                </a:ext>
              </a:extLst>
            </p:cNvPr>
            <p:cNvCxnSpPr>
              <a:cxnSpLocks/>
            </p:cNvCxnSpPr>
            <p:nvPr/>
          </p:nvCxnSpPr>
          <p:spPr>
            <a:xfrm>
              <a:off x="3940141" y="4484402"/>
              <a:ext cx="361718" cy="0"/>
            </a:xfrm>
            <a:prstGeom prst="line">
              <a:avLst/>
            </a:prstGeom>
            <a:noFill/>
            <a:ln w="15875">
              <a:gradFill>
                <a:gsLst>
                  <a:gs pos="0">
                    <a:srgbClr val="F4364C"/>
                  </a:gs>
                  <a:gs pos="100000">
                    <a:srgbClr val="49C5B1"/>
                  </a:gs>
                  <a:gs pos="80000">
                    <a:srgbClr val="0078D4"/>
                  </a:gs>
                  <a:gs pos="26000">
                    <a:srgbClr val="C03BC4"/>
                  </a:gs>
                </a:gsLst>
                <a:lin ang="10800000" scaled="0"/>
              </a:gradFill>
              <a:headEnd type="oval" w="med" len="med"/>
              <a:tailEnd type="oval" w="lg" len="lg"/>
            </a:ln>
            <a:effectLst/>
          </p:spPr>
          <p:style>
            <a:lnRef idx="1">
              <a:schemeClr val="accent2"/>
            </a:lnRef>
            <a:fillRef idx="3">
              <a:schemeClr val="accent2"/>
            </a:fillRef>
            <a:effectRef idx="2">
              <a:schemeClr val="accent2"/>
            </a:effectRef>
            <a:fontRef idx="minor">
              <a:schemeClr val="lt1"/>
            </a:fontRef>
          </p:style>
        </p:cxnSp>
        <p:grpSp>
          <p:nvGrpSpPr>
            <p:cNvPr id="61" name="Group 60">
              <a:extLst>
                <a:ext uri="{FF2B5EF4-FFF2-40B4-BE49-F238E27FC236}">
                  <a16:creationId xmlns:a16="http://schemas.microsoft.com/office/drawing/2014/main" id="{BBE9B582-C189-5D6F-C310-9032EAB8F870}"/>
                </a:ext>
              </a:extLst>
            </p:cNvPr>
            <p:cNvGrpSpPr/>
            <p:nvPr/>
          </p:nvGrpSpPr>
          <p:grpSpPr>
            <a:xfrm>
              <a:off x="4192647" y="4374485"/>
              <a:ext cx="219835" cy="219834"/>
              <a:chOff x="1613419" y="2537559"/>
              <a:chExt cx="339399" cy="339399"/>
            </a:xfrm>
          </p:grpSpPr>
          <p:sp>
            <p:nvSpPr>
              <p:cNvPr id="62" name="Oval 61">
                <a:extLst>
                  <a:ext uri="{FF2B5EF4-FFF2-40B4-BE49-F238E27FC236}">
                    <a16:creationId xmlns:a16="http://schemas.microsoft.com/office/drawing/2014/main" id="{A7C94280-405D-E02E-4310-C61F9BE7A239}"/>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63" name="Oval 62">
                <a:extLst>
                  <a:ext uri="{FF2B5EF4-FFF2-40B4-BE49-F238E27FC236}">
                    <a16:creationId xmlns:a16="http://schemas.microsoft.com/office/drawing/2014/main" id="{E563A737-4F68-701D-C9EF-FEB3A03D6686}"/>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grpSp>
      <p:sp>
        <p:nvSpPr>
          <p:cNvPr id="12" name="Graphic 29" descr="Database with magnifying glass icon">
            <a:extLst>
              <a:ext uri="{FF2B5EF4-FFF2-40B4-BE49-F238E27FC236}">
                <a16:creationId xmlns:a16="http://schemas.microsoft.com/office/drawing/2014/main" id="{3CDD3771-5CD4-63F2-C7ED-963F89B117E2}"/>
              </a:ext>
            </a:extLst>
          </p:cNvPr>
          <p:cNvSpPr/>
          <p:nvPr/>
        </p:nvSpPr>
        <p:spPr>
          <a:xfrm>
            <a:off x="4746651" y="4198800"/>
            <a:ext cx="516852" cy="571204"/>
          </a:xfrm>
          <a:custGeom>
            <a:avLst/>
            <a:gdLst>
              <a:gd name="connsiteX0" fmla="*/ 217408 w 516852"/>
              <a:gd name="connsiteY0" fmla="*/ 217408 h 571204"/>
              <a:gd name="connsiteX1" fmla="*/ 434816 w 516852"/>
              <a:gd name="connsiteY1" fmla="*/ 108704 h 571204"/>
              <a:gd name="connsiteX2" fmla="*/ 217408 w 516852"/>
              <a:gd name="connsiteY2" fmla="*/ 0 h 571204"/>
              <a:gd name="connsiteX3" fmla="*/ 0 w 516852"/>
              <a:gd name="connsiteY3" fmla="*/ 108704 h 571204"/>
              <a:gd name="connsiteX4" fmla="*/ 217408 w 516852"/>
              <a:gd name="connsiteY4" fmla="*/ 217408 h 571204"/>
              <a:gd name="connsiteX5" fmla="*/ 389378 w 516852"/>
              <a:gd name="connsiteY5" fmla="*/ 222028 h 571204"/>
              <a:gd name="connsiteX6" fmla="*/ 434816 w 516852"/>
              <a:gd name="connsiteY6" fmla="*/ 191672 h 571204"/>
              <a:gd name="connsiteX7" fmla="*/ 434816 w 516852"/>
              <a:gd name="connsiteY7" fmla="*/ 278744 h 571204"/>
              <a:gd name="connsiteX8" fmla="*/ 325568 w 516852"/>
              <a:gd name="connsiteY8" fmla="*/ 245236 h 571204"/>
              <a:gd name="connsiteX9" fmla="*/ 389378 w 516852"/>
              <a:gd name="connsiteY9" fmla="*/ 222028 h 571204"/>
              <a:gd name="connsiteX10" fmla="*/ 190232 w 516852"/>
              <a:gd name="connsiteY10" fmla="*/ 394052 h 571204"/>
              <a:gd name="connsiteX11" fmla="*/ 294343 w 516852"/>
              <a:gd name="connsiteY11" fmla="*/ 536509 h 571204"/>
              <a:gd name="connsiteX12" fmla="*/ 217408 w 516852"/>
              <a:gd name="connsiteY12" fmla="*/ 543520 h 571204"/>
              <a:gd name="connsiteX13" fmla="*/ 0 w 516852"/>
              <a:gd name="connsiteY13" fmla="*/ 434816 h 571204"/>
              <a:gd name="connsiteX14" fmla="*/ 0 w 516852"/>
              <a:gd name="connsiteY14" fmla="*/ 191672 h 571204"/>
              <a:gd name="connsiteX15" fmla="*/ 45438 w 516852"/>
              <a:gd name="connsiteY15" fmla="*/ 222028 h 571204"/>
              <a:gd name="connsiteX16" fmla="*/ 217408 w 516852"/>
              <a:gd name="connsiteY16" fmla="*/ 258172 h 571204"/>
              <a:gd name="connsiteX17" fmla="*/ 292876 w 516852"/>
              <a:gd name="connsiteY17" fmla="*/ 252057 h 571204"/>
              <a:gd name="connsiteX18" fmla="*/ 190232 w 516852"/>
              <a:gd name="connsiteY18" fmla="*/ 394052 h 571204"/>
              <a:gd name="connsiteX19" fmla="*/ 339700 w 516852"/>
              <a:gd name="connsiteY19" fmla="*/ 516344 h 571204"/>
              <a:gd name="connsiteX20" fmla="*/ 410548 w 516852"/>
              <a:gd name="connsiteY20" fmla="*/ 493734 h 571204"/>
              <a:gd name="connsiteX21" fmla="*/ 481559 w 516852"/>
              <a:gd name="connsiteY21" fmla="*/ 564717 h 571204"/>
              <a:gd name="connsiteX22" fmla="*/ 510365 w 516852"/>
              <a:gd name="connsiteY22" fmla="*/ 565734 h 571204"/>
              <a:gd name="connsiteX23" fmla="*/ 511382 w 516852"/>
              <a:gd name="connsiteY23" fmla="*/ 536927 h 571204"/>
              <a:gd name="connsiteX24" fmla="*/ 510365 w 516852"/>
              <a:gd name="connsiteY24" fmla="*/ 535911 h 571204"/>
              <a:gd name="connsiteX25" fmla="*/ 439382 w 516852"/>
              <a:gd name="connsiteY25" fmla="*/ 464900 h 571204"/>
              <a:gd name="connsiteX26" fmla="*/ 410551 w 516852"/>
              <a:gd name="connsiteY26" fmla="*/ 294373 h 571204"/>
              <a:gd name="connsiteX27" fmla="*/ 240024 w 516852"/>
              <a:gd name="connsiteY27" fmla="*/ 323204 h 571204"/>
              <a:gd name="connsiteX28" fmla="*/ 268855 w 516852"/>
              <a:gd name="connsiteY28" fmla="*/ 493731 h 571204"/>
              <a:gd name="connsiteX29" fmla="*/ 339700 w 516852"/>
              <a:gd name="connsiteY29" fmla="*/ 516344 h 571204"/>
              <a:gd name="connsiteX30" fmla="*/ 339700 w 516852"/>
              <a:gd name="connsiteY30" fmla="*/ 475580 h 571204"/>
              <a:gd name="connsiteX31" fmla="*/ 258172 w 516852"/>
              <a:gd name="connsiteY31" fmla="*/ 394052 h 571204"/>
              <a:gd name="connsiteX32" fmla="*/ 339700 w 516852"/>
              <a:gd name="connsiteY32" fmla="*/ 312524 h 571204"/>
              <a:gd name="connsiteX33" fmla="*/ 421228 w 516852"/>
              <a:gd name="connsiteY33" fmla="*/ 394052 h 571204"/>
              <a:gd name="connsiteX34" fmla="*/ 339700 w 516852"/>
              <a:gd name="connsiteY34" fmla="*/ 475580 h 571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16852" h="571204">
                <a:moveTo>
                  <a:pt x="217408" y="217408"/>
                </a:moveTo>
                <a:cubicBezTo>
                  <a:pt x="337472" y="217408"/>
                  <a:pt x="434816" y="168763"/>
                  <a:pt x="434816" y="108704"/>
                </a:cubicBezTo>
                <a:cubicBezTo>
                  <a:pt x="434816" y="48645"/>
                  <a:pt x="337472" y="0"/>
                  <a:pt x="217408" y="0"/>
                </a:cubicBezTo>
                <a:cubicBezTo>
                  <a:pt x="97344" y="0"/>
                  <a:pt x="0" y="48645"/>
                  <a:pt x="0" y="108704"/>
                </a:cubicBezTo>
                <a:cubicBezTo>
                  <a:pt x="0" y="168763"/>
                  <a:pt x="97344" y="217408"/>
                  <a:pt x="217408" y="217408"/>
                </a:cubicBezTo>
                <a:close/>
                <a:moveTo>
                  <a:pt x="389378" y="222028"/>
                </a:moveTo>
                <a:cubicBezTo>
                  <a:pt x="405800" y="213964"/>
                  <a:pt x="421079" y="203756"/>
                  <a:pt x="434816" y="191672"/>
                </a:cubicBezTo>
                <a:lnTo>
                  <a:pt x="434816" y="278744"/>
                </a:lnTo>
                <a:cubicBezTo>
                  <a:pt x="404308" y="253484"/>
                  <a:pt x="364993" y="241426"/>
                  <a:pt x="325568" y="245236"/>
                </a:cubicBezTo>
                <a:cubicBezTo>
                  <a:pt x="347605" y="239804"/>
                  <a:pt x="368998" y="232023"/>
                  <a:pt x="389378" y="222028"/>
                </a:cubicBezTo>
                <a:close/>
                <a:moveTo>
                  <a:pt x="190232" y="394052"/>
                </a:moveTo>
                <a:cubicBezTo>
                  <a:pt x="190232" y="459136"/>
                  <a:pt x="232333" y="516744"/>
                  <a:pt x="294343" y="536509"/>
                </a:cubicBezTo>
                <a:cubicBezTo>
                  <a:pt x="270428" y="541047"/>
                  <a:pt x="244502" y="543520"/>
                  <a:pt x="217408" y="543520"/>
                </a:cubicBezTo>
                <a:cubicBezTo>
                  <a:pt x="97344" y="543520"/>
                  <a:pt x="0" y="494875"/>
                  <a:pt x="0" y="434816"/>
                </a:cubicBezTo>
                <a:lnTo>
                  <a:pt x="0" y="191672"/>
                </a:lnTo>
                <a:cubicBezTo>
                  <a:pt x="13737" y="203756"/>
                  <a:pt x="29016" y="213964"/>
                  <a:pt x="45438" y="222028"/>
                </a:cubicBezTo>
                <a:cubicBezTo>
                  <a:pt x="91583" y="245073"/>
                  <a:pt x="152403" y="258172"/>
                  <a:pt x="217408" y="258172"/>
                </a:cubicBezTo>
                <a:cubicBezTo>
                  <a:pt x="243443" y="258172"/>
                  <a:pt x="268825" y="256079"/>
                  <a:pt x="292876" y="252057"/>
                </a:cubicBezTo>
                <a:cubicBezTo>
                  <a:pt x="231610" y="272285"/>
                  <a:pt x="190227" y="329531"/>
                  <a:pt x="190232" y="394052"/>
                </a:cubicBezTo>
                <a:close/>
                <a:moveTo>
                  <a:pt x="339700" y="516344"/>
                </a:moveTo>
                <a:cubicBezTo>
                  <a:pt x="365096" y="516382"/>
                  <a:pt x="389867" y="508474"/>
                  <a:pt x="410548" y="493734"/>
                </a:cubicBezTo>
                <a:lnTo>
                  <a:pt x="481559" y="564717"/>
                </a:lnTo>
                <a:cubicBezTo>
                  <a:pt x="489233" y="572952"/>
                  <a:pt x="502131" y="573408"/>
                  <a:pt x="510365" y="565734"/>
                </a:cubicBezTo>
                <a:cubicBezTo>
                  <a:pt x="518600" y="558059"/>
                  <a:pt x="519056" y="545164"/>
                  <a:pt x="511382" y="536927"/>
                </a:cubicBezTo>
                <a:cubicBezTo>
                  <a:pt x="511056" y="536577"/>
                  <a:pt x="510716" y="536237"/>
                  <a:pt x="510365" y="535911"/>
                </a:cubicBezTo>
                <a:lnTo>
                  <a:pt x="439382" y="464900"/>
                </a:lnTo>
                <a:cubicBezTo>
                  <a:pt x="478510" y="409849"/>
                  <a:pt x="465601" y="333501"/>
                  <a:pt x="410551" y="294373"/>
                </a:cubicBezTo>
                <a:cubicBezTo>
                  <a:pt x="355500" y="255245"/>
                  <a:pt x="279152" y="268154"/>
                  <a:pt x="240024" y="323204"/>
                </a:cubicBezTo>
                <a:cubicBezTo>
                  <a:pt x="200896" y="378255"/>
                  <a:pt x="213804" y="454603"/>
                  <a:pt x="268855" y="493731"/>
                </a:cubicBezTo>
                <a:cubicBezTo>
                  <a:pt x="289549" y="508441"/>
                  <a:pt x="314309" y="516344"/>
                  <a:pt x="339700" y="516344"/>
                </a:cubicBezTo>
                <a:close/>
                <a:moveTo>
                  <a:pt x="339700" y="475580"/>
                </a:moveTo>
                <a:cubicBezTo>
                  <a:pt x="294672" y="475580"/>
                  <a:pt x="258172" y="439080"/>
                  <a:pt x="258172" y="394052"/>
                </a:cubicBezTo>
                <a:cubicBezTo>
                  <a:pt x="258172" y="349024"/>
                  <a:pt x="294672" y="312524"/>
                  <a:pt x="339700" y="312524"/>
                </a:cubicBezTo>
                <a:cubicBezTo>
                  <a:pt x="384728" y="312524"/>
                  <a:pt x="421228" y="349024"/>
                  <a:pt x="421228" y="394052"/>
                </a:cubicBezTo>
                <a:cubicBezTo>
                  <a:pt x="421228" y="439080"/>
                  <a:pt x="384728" y="475580"/>
                  <a:pt x="339700" y="475580"/>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18" name="Text Placeholder 5">
            <a:extLst>
              <a:ext uri="{FF2B5EF4-FFF2-40B4-BE49-F238E27FC236}">
                <a16:creationId xmlns:a16="http://schemas.microsoft.com/office/drawing/2014/main" id="{0A55724F-ADB3-ACBF-002C-BF46295CDCCC}"/>
              </a:ext>
            </a:extLst>
          </p:cNvPr>
          <p:cNvSpPr txBox="1">
            <a:spLocks/>
          </p:cNvSpPr>
          <p:nvPr/>
        </p:nvSpPr>
        <p:spPr>
          <a:xfrm>
            <a:off x="4365866" y="4963813"/>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latin typeface="+mj-lt"/>
                <a:cs typeface="Segoe UI Semilight"/>
              </a:rPr>
              <a:t>Search</a:t>
            </a:r>
            <a:endParaRPr lang="en-US" sz="1800">
              <a:cs typeface="Segoe UI Semilight"/>
            </a:endParaRPr>
          </a:p>
        </p:txBody>
      </p:sp>
      <p:sp>
        <p:nvSpPr>
          <p:cNvPr id="70" name="TextBox 7">
            <a:extLst>
              <a:ext uri="{FF2B5EF4-FFF2-40B4-BE49-F238E27FC236}">
                <a16:creationId xmlns:a16="http://schemas.microsoft.com/office/drawing/2014/main" id="{CA44738B-811B-3820-29E2-E7BD0B7990DD}"/>
              </a:ext>
            </a:extLst>
          </p:cNvPr>
          <p:cNvSpPr txBox="1"/>
          <p:nvPr/>
        </p:nvSpPr>
        <p:spPr>
          <a:xfrm>
            <a:off x="5646489" y="3870042"/>
            <a:ext cx="1750364" cy="2031325"/>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3657965" rtl="0" eaLnBrk="1" latinLnBrk="0" hangingPunct="1">
              <a:defRPr sz="7200" kern="1200">
                <a:solidFill>
                  <a:schemeClr val="dk1"/>
                </a:solidFill>
                <a:latin typeface="+mn-lt"/>
                <a:ea typeface="+mn-ea"/>
                <a:cs typeface="+mn-cs"/>
              </a:defRPr>
            </a:lvl1pPr>
            <a:lvl2pPr marL="1828983" algn="l" defTabSz="3657965" rtl="0" eaLnBrk="1" latinLnBrk="0" hangingPunct="1">
              <a:defRPr sz="7200" kern="1200">
                <a:solidFill>
                  <a:schemeClr val="dk1"/>
                </a:solidFill>
                <a:latin typeface="+mn-lt"/>
                <a:ea typeface="+mn-ea"/>
                <a:cs typeface="+mn-cs"/>
              </a:defRPr>
            </a:lvl2pPr>
            <a:lvl3pPr marL="3657965" algn="l" defTabSz="3657965" rtl="0" eaLnBrk="1" latinLnBrk="0" hangingPunct="1">
              <a:defRPr sz="7200" kern="1200">
                <a:solidFill>
                  <a:schemeClr val="dk1"/>
                </a:solidFill>
                <a:latin typeface="+mn-lt"/>
                <a:ea typeface="+mn-ea"/>
                <a:cs typeface="+mn-cs"/>
              </a:defRPr>
            </a:lvl3pPr>
            <a:lvl4pPr marL="5486948" algn="l" defTabSz="3657965" rtl="0" eaLnBrk="1" latinLnBrk="0" hangingPunct="1">
              <a:defRPr sz="7200" kern="1200">
                <a:solidFill>
                  <a:schemeClr val="dk1"/>
                </a:solidFill>
                <a:latin typeface="+mn-lt"/>
                <a:ea typeface="+mn-ea"/>
                <a:cs typeface="+mn-cs"/>
              </a:defRPr>
            </a:lvl4pPr>
            <a:lvl5pPr marL="7315932" algn="l" defTabSz="3657965" rtl="0" eaLnBrk="1" latinLnBrk="0" hangingPunct="1">
              <a:defRPr sz="7200" kern="1200">
                <a:solidFill>
                  <a:schemeClr val="dk1"/>
                </a:solidFill>
                <a:latin typeface="+mn-lt"/>
                <a:ea typeface="+mn-ea"/>
                <a:cs typeface="+mn-cs"/>
              </a:defRPr>
            </a:lvl5pPr>
            <a:lvl6pPr marL="9144915" algn="l" defTabSz="3657965" rtl="0" eaLnBrk="1" latinLnBrk="0" hangingPunct="1">
              <a:defRPr sz="7200" kern="1200">
                <a:solidFill>
                  <a:schemeClr val="dk1"/>
                </a:solidFill>
                <a:latin typeface="+mn-lt"/>
                <a:ea typeface="+mn-ea"/>
                <a:cs typeface="+mn-cs"/>
              </a:defRPr>
            </a:lvl6pPr>
            <a:lvl7pPr marL="10973897" algn="l" defTabSz="3657965" rtl="0" eaLnBrk="1" latinLnBrk="0" hangingPunct="1">
              <a:defRPr sz="7200" kern="1200">
                <a:solidFill>
                  <a:schemeClr val="dk1"/>
                </a:solidFill>
                <a:latin typeface="+mn-lt"/>
                <a:ea typeface="+mn-ea"/>
                <a:cs typeface="+mn-cs"/>
              </a:defRPr>
            </a:lvl7pPr>
            <a:lvl8pPr marL="12802880" algn="l" defTabSz="3657965" rtl="0" eaLnBrk="1" latinLnBrk="0" hangingPunct="1">
              <a:defRPr sz="7200" kern="1200">
                <a:solidFill>
                  <a:schemeClr val="dk1"/>
                </a:solidFill>
                <a:latin typeface="+mn-lt"/>
                <a:ea typeface="+mn-ea"/>
                <a:cs typeface="+mn-cs"/>
              </a:defRPr>
            </a:lvl8pPr>
            <a:lvl9pPr marL="14631864" algn="l" defTabSz="3657965" rtl="0" eaLnBrk="1" latinLnBrk="0" hangingPunct="1">
              <a:defRPr sz="7200" kern="1200">
                <a:solidFill>
                  <a:schemeClr val="dk1"/>
                </a:solidFill>
                <a:latin typeface="+mn-lt"/>
                <a:ea typeface="+mn-ea"/>
                <a:cs typeface="+mn-cs"/>
              </a:defRPr>
            </a:lvl9pPr>
          </a:lstStyle>
          <a:p>
            <a:r>
              <a:rPr lang="en-US" sz="1200">
                <a:solidFill>
                  <a:schemeClr val="tx1"/>
                </a:solidFill>
                <a:ea typeface="+mn-lt"/>
                <a:cs typeface="+mn-lt"/>
              </a:rPr>
              <a:t>[101]: </a:t>
            </a:r>
          </a:p>
          <a:p>
            <a:r>
              <a:rPr lang="en-US" sz="1200">
                <a:solidFill>
                  <a:schemeClr val="tx1"/>
                </a:solidFill>
                <a:ea typeface="+mn-lt"/>
                <a:cs typeface="+mn-lt"/>
              </a:rPr>
              <a:t>Name: </a:t>
            </a:r>
            <a:r>
              <a:rPr lang="en-US" sz="1200" err="1">
                <a:solidFill>
                  <a:schemeClr val="tx1"/>
                </a:solidFill>
                <a:ea typeface="+mn-lt"/>
                <a:cs typeface="+mn-lt"/>
              </a:rPr>
              <a:t>TrekExtreme</a:t>
            </a:r>
            <a:r>
              <a:rPr lang="en-US" sz="1200">
                <a:solidFill>
                  <a:schemeClr val="tx1"/>
                </a:solidFill>
                <a:ea typeface="+mn-lt"/>
                <a:cs typeface="+mn-lt"/>
              </a:rPr>
              <a:t> Hiking Shoes</a:t>
            </a:r>
            <a:br>
              <a:rPr lang="en-US" sz="1200">
                <a:solidFill>
                  <a:schemeClr val="tx1"/>
                </a:solidFill>
                <a:ea typeface="+mn-lt"/>
                <a:cs typeface="+mn-lt"/>
              </a:rPr>
            </a:br>
            <a:r>
              <a:rPr lang="en-US" sz="1200">
                <a:solidFill>
                  <a:schemeClr val="tx1"/>
                </a:solidFill>
                <a:ea typeface="+mn-lt"/>
                <a:cs typeface="+mn-lt"/>
              </a:rPr>
              <a:t>Price: 135.99</a:t>
            </a:r>
          </a:p>
          <a:p>
            <a:r>
              <a:rPr lang="en-US" sz="1200">
                <a:solidFill>
                  <a:schemeClr val="tx1"/>
                </a:solidFill>
                <a:ea typeface="+mn-lt"/>
                <a:cs typeface="+mn-lt"/>
              </a:rPr>
              <a:t>Brand: Raptor Elite</a:t>
            </a:r>
          </a:p>
          <a:p>
            <a:r>
              <a:rPr lang="en-US" sz="1200">
                <a:solidFill>
                  <a:schemeClr val="tx1"/>
                </a:solidFill>
                <a:ea typeface="+mn-lt"/>
                <a:cs typeface="+mn-lt"/>
              </a:rPr>
              <a:t>Type: Footwear</a:t>
            </a:r>
          </a:p>
          <a:p>
            <a:r>
              <a:rPr lang="en-US" sz="1200">
                <a:solidFill>
                  <a:schemeClr val="tx1"/>
                </a:solidFill>
                <a:ea typeface="+mn-lt"/>
                <a:cs typeface="+mn-lt"/>
              </a:rPr>
              <a:t>Description: The Trek Extreme hiking shoes by Raptor Elite are built to ensure any trail.</a:t>
            </a:r>
          </a:p>
          <a:p>
            <a:r>
              <a:rPr lang="en-US" sz="1200">
                <a:solidFill>
                  <a:schemeClr val="tx1"/>
                </a:solidFill>
                <a:ea typeface="+mn-lt"/>
                <a:cs typeface="+mn-lt"/>
              </a:rPr>
              <a:t>…</a:t>
            </a:r>
          </a:p>
        </p:txBody>
      </p:sp>
      <p:sp>
        <p:nvSpPr>
          <p:cNvPr id="6" name="Rounded Rectangle 5">
            <a:extLst>
              <a:ext uri="{FF2B5EF4-FFF2-40B4-BE49-F238E27FC236}">
                <a16:creationId xmlns:a16="http://schemas.microsoft.com/office/drawing/2014/main" id="{8D634EF6-8464-2A04-26BE-04AF7E14186C}"/>
              </a:ext>
              <a:ext uri="{C183D7F6-B498-43B3-948B-1728B52AA6E4}">
                <adec:decorative xmlns:adec="http://schemas.microsoft.com/office/drawing/2017/decorative" val="1"/>
              </a:ext>
            </a:extLst>
          </p:cNvPr>
          <p:cNvSpPr/>
          <p:nvPr/>
        </p:nvSpPr>
        <p:spPr bwMode="auto">
          <a:xfrm>
            <a:off x="7851835" y="2518358"/>
            <a:ext cx="1898415" cy="3420078"/>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8" name="Graphic 22" descr="Large Language Model icon">
            <a:extLst>
              <a:ext uri="{FF2B5EF4-FFF2-40B4-BE49-F238E27FC236}">
                <a16:creationId xmlns:a16="http://schemas.microsoft.com/office/drawing/2014/main" id="{F309D35B-B9FB-A3DD-BD36-6200912341B8}"/>
              </a:ext>
            </a:extLst>
          </p:cNvPr>
          <p:cNvSpPr/>
          <p:nvPr/>
        </p:nvSpPr>
        <p:spPr>
          <a:xfrm>
            <a:off x="8403166" y="3084121"/>
            <a:ext cx="795753" cy="796201"/>
          </a:xfrm>
          <a:custGeom>
            <a:avLst/>
            <a:gdLst>
              <a:gd name="connsiteX0" fmla="*/ 461978 w 543510"/>
              <a:gd name="connsiteY0" fmla="*/ 67910 h 543815"/>
              <a:gd name="connsiteX1" fmla="*/ 394065 w 543510"/>
              <a:gd name="connsiteY1" fmla="*/ 135877 h 543815"/>
              <a:gd name="connsiteX2" fmla="*/ 380124 w 543510"/>
              <a:gd name="connsiteY2" fmla="*/ 134437 h 543815"/>
              <a:gd name="connsiteX3" fmla="*/ 345338 w 543510"/>
              <a:gd name="connsiteY3" fmla="*/ 191995 h 543815"/>
              <a:gd name="connsiteX4" fmla="*/ 380450 w 543510"/>
              <a:gd name="connsiteY4" fmla="*/ 271974 h 543815"/>
              <a:gd name="connsiteX5" fmla="*/ 380450 w 543510"/>
              <a:gd name="connsiteY5" fmla="*/ 273551 h 543815"/>
              <a:gd name="connsiteX6" fmla="*/ 415670 w 543510"/>
              <a:gd name="connsiteY6" fmla="*/ 280644 h 543815"/>
              <a:gd name="connsiteX7" fmla="*/ 507639 w 543510"/>
              <a:gd name="connsiteY7" fmla="*/ 252837 h 543815"/>
              <a:gd name="connsiteX8" fmla="*/ 535445 w 543510"/>
              <a:gd name="connsiteY8" fmla="*/ 344809 h 543815"/>
              <a:gd name="connsiteX9" fmla="*/ 443476 w 543510"/>
              <a:gd name="connsiteY9" fmla="*/ 372613 h 543815"/>
              <a:gd name="connsiteX10" fmla="*/ 408088 w 543510"/>
              <a:gd name="connsiteY10" fmla="*/ 320701 h 543815"/>
              <a:gd name="connsiteX11" fmla="*/ 372215 w 543510"/>
              <a:gd name="connsiteY11" fmla="*/ 313499 h 543815"/>
              <a:gd name="connsiteX12" fmla="*/ 324875 w 543510"/>
              <a:gd name="connsiteY12" fmla="*/ 366846 h 543815"/>
              <a:gd name="connsiteX13" fmla="*/ 338327 w 543510"/>
              <a:gd name="connsiteY13" fmla="*/ 407936 h 543815"/>
              <a:gd name="connsiteX14" fmla="*/ 339686 w 543510"/>
              <a:gd name="connsiteY14" fmla="*/ 407936 h 543815"/>
              <a:gd name="connsiteX15" fmla="*/ 407577 w 543510"/>
              <a:gd name="connsiteY15" fmla="*/ 475925 h 543815"/>
              <a:gd name="connsiteX16" fmla="*/ 339588 w 543510"/>
              <a:gd name="connsiteY16" fmla="*/ 543816 h 543815"/>
              <a:gd name="connsiteX17" fmla="*/ 271697 w 543510"/>
              <a:gd name="connsiteY17" fmla="*/ 475827 h 543815"/>
              <a:gd name="connsiteX18" fmla="*/ 299683 w 543510"/>
              <a:gd name="connsiteY18" fmla="*/ 420926 h 543815"/>
              <a:gd name="connsiteX19" fmla="*/ 286203 w 543510"/>
              <a:gd name="connsiteY19" fmla="*/ 379727 h 543815"/>
              <a:gd name="connsiteX20" fmla="*/ 184239 w 543510"/>
              <a:gd name="connsiteY20" fmla="*/ 336436 h 543815"/>
              <a:gd name="connsiteX21" fmla="*/ 135458 w 543510"/>
              <a:gd name="connsiteY21" fmla="*/ 359481 h 543815"/>
              <a:gd name="connsiteX22" fmla="*/ 75560 w 543510"/>
              <a:gd name="connsiteY22" fmla="*/ 434606 h 543815"/>
              <a:gd name="connsiteX23" fmla="*/ 434 w 543510"/>
              <a:gd name="connsiteY23" fmla="*/ 374711 h 543815"/>
              <a:gd name="connsiteX24" fmla="*/ 60332 w 543510"/>
              <a:gd name="connsiteY24" fmla="*/ 299582 h 543815"/>
              <a:gd name="connsiteX25" fmla="*/ 118935 w 543510"/>
              <a:gd name="connsiteY25" fmla="*/ 322196 h 543815"/>
              <a:gd name="connsiteX26" fmla="*/ 166602 w 543510"/>
              <a:gd name="connsiteY26" fmla="*/ 299694 h 543815"/>
              <a:gd name="connsiteX27" fmla="*/ 187908 w 543510"/>
              <a:gd name="connsiteY27" fmla="*/ 202757 h 543815"/>
              <a:gd name="connsiteX28" fmla="*/ 160976 w 543510"/>
              <a:gd name="connsiteY28" fmla="*/ 172048 h 543815"/>
              <a:gd name="connsiteX29" fmla="*/ 72738 w 543510"/>
              <a:gd name="connsiteY29" fmla="*/ 134026 h 543815"/>
              <a:gd name="connsiteX30" fmla="*/ 110761 w 543510"/>
              <a:gd name="connsiteY30" fmla="*/ 45788 h 543815"/>
              <a:gd name="connsiteX31" fmla="*/ 198999 w 543510"/>
              <a:gd name="connsiteY31" fmla="*/ 83810 h 543815"/>
              <a:gd name="connsiteX32" fmla="*/ 192609 w 543510"/>
              <a:gd name="connsiteY32" fmla="*/ 146285 h 543815"/>
              <a:gd name="connsiteX33" fmla="*/ 219323 w 543510"/>
              <a:gd name="connsiteY33" fmla="*/ 176722 h 543815"/>
              <a:gd name="connsiteX34" fmla="*/ 271746 w 543510"/>
              <a:gd name="connsiteY34" fmla="*/ 163270 h 543815"/>
              <a:gd name="connsiteX35" fmla="*/ 310716 w 543510"/>
              <a:gd name="connsiteY35" fmla="*/ 170472 h 543815"/>
              <a:gd name="connsiteX36" fmla="*/ 344550 w 543510"/>
              <a:gd name="connsiteY36" fmla="*/ 114489 h 543815"/>
              <a:gd name="connsiteX37" fmla="*/ 347488 w 543510"/>
              <a:gd name="connsiteY37" fmla="*/ 18453 h 543815"/>
              <a:gd name="connsiteX38" fmla="*/ 443525 w 543510"/>
              <a:gd name="connsiteY38" fmla="*/ 21391 h 543815"/>
              <a:gd name="connsiteX39" fmla="*/ 461978 w 543510"/>
              <a:gd name="connsiteY39" fmla="*/ 67937 h 54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43510" h="543815">
                <a:moveTo>
                  <a:pt x="461978" y="67910"/>
                </a:moveTo>
                <a:cubicBezTo>
                  <a:pt x="461991" y="105432"/>
                  <a:pt x="431587" y="135862"/>
                  <a:pt x="394065" y="135877"/>
                </a:cubicBezTo>
                <a:cubicBezTo>
                  <a:pt x="389380" y="135879"/>
                  <a:pt x="384708" y="135396"/>
                  <a:pt x="380124" y="134437"/>
                </a:cubicBezTo>
                <a:lnTo>
                  <a:pt x="345338" y="191995"/>
                </a:lnTo>
                <a:cubicBezTo>
                  <a:pt x="367737" y="212554"/>
                  <a:pt x="380477" y="241573"/>
                  <a:pt x="380450" y="271974"/>
                </a:cubicBezTo>
                <a:lnTo>
                  <a:pt x="380450" y="273551"/>
                </a:lnTo>
                <a:lnTo>
                  <a:pt x="415670" y="280644"/>
                </a:lnTo>
                <a:cubicBezTo>
                  <a:pt x="433389" y="247568"/>
                  <a:pt x="474566" y="235118"/>
                  <a:pt x="507639" y="252837"/>
                </a:cubicBezTo>
                <a:cubicBezTo>
                  <a:pt x="540715" y="270556"/>
                  <a:pt x="553164" y="311733"/>
                  <a:pt x="535445" y="344809"/>
                </a:cubicBezTo>
                <a:cubicBezTo>
                  <a:pt x="517727" y="377882"/>
                  <a:pt x="476552" y="390331"/>
                  <a:pt x="443476" y="372613"/>
                </a:cubicBezTo>
                <a:cubicBezTo>
                  <a:pt x="423907" y="362131"/>
                  <a:pt x="410694" y="342749"/>
                  <a:pt x="408088" y="320701"/>
                </a:cubicBezTo>
                <a:lnTo>
                  <a:pt x="372215" y="313499"/>
                </a:lnTo>
                <a:cubicBezTo>
                  <a:pt x="362856" y="336083"/>
                  <a:pt x="346186" y="354869"/>
                  <a:pt x="324875" y="366846"/>
                </a:cubicBezTo>
                <a:lnTo>
                  <a:pt x="338327" y="407936"/>
                </a:lnTo>
                <a:lnTo>
                  <a:pt x="339686" y="407936"/>
                </a:lnTo>
                <a:cubicBezTo>
                  <a:pt x="377208" y="407963"/>
                  <a:pt x="407604" y="438403"/>
                  <a:pt x="407577" y="475925"/>
                </a:cubicBezTo>
                <a:cubicBezTo>
                  <a:pt x="407550" y="513447"/>
                  <a:pt x="377110" y="543843"/>
                  <a:pt x="339588" y="543816"/>
                </a:cubicBezTo>
                <a:cubicBezTo>
                  <a:pt x="302066" y="543789"/>
                  <a:pt x="271670" y="513349"/>
                  <a:pt x="271697" y="475827"/>
                </a:cubicBezTo>
                <a:cubicBezTo>
                  <a:pt x="271713" y="454105"/>
                  <a:pt x="282113" y="433701"/>
                  <a:pt x="299683" y="420926"/>
                </a:cubicBezTo>
                <a:lnTo>
                  <a:pt x="286203" y="379727"/>
                </a:lnTo>
                <a:cubicBezTo>
                  <a:pt x="246855" y="385032"/>
                  <a:pt x="207751" y="368430"/>
                  <a:pt x="184239" y="336436"/>
                </a:cubicBezTo>
                <a:lnTo>
                  <a:pt x="135458" y="359481"/>
                </a:lnTo>
                <a:cubicBezTo>
                  <a:pt x="139663" y="396767"/>
                  <a:pt x="112846" y="430402"/>
                  <a:pt x="75560" y="434606"/>
                </a:cubicBezTo>
                <a:cubicBezTo>
                  <a:pt x="38274" y="438813"/>
                  <a:pt x="4639" y="411996"/>
                  <a:pt x="434" y="374711"/>
                </a:cubicBezTo>
                <a:cubicBezTo>
                  <a:pt x="-3771" y="337422"/>
                  <a:pt x="23046" y="303789"/>
                  <a:pt x="60332" y="299582"/>
                </a:cubicBezTo>
                <a:cubicBezTo>
                  <a:pt x="82387" y="297096"/>
                  <a:pt x="104267" y="305539"/>
                  <a:pt x="118935" y="322196"/>
                </a:cubicBezTo>
                <a:lnTo>
                  <a:pt x="166602" y="299694"/>
                </a:lnTo>
                <a:cubicBezTo>
                  <a:pt x="157705" y="265835"/>
                  <a:pt x="165633" y="229765"/>
                  <a:pt x="187908" y="202757"/>
                </a:cubicBezTo>
                <a:lnTo>
                  <a:pt x="160976" y="172048"/>
                </a:lnTo>
                <a:cubicBezTo>
                  <a:pt x="126110" y="185915"/>
                  <a:pt x="86605" y="168892"/>
                  <a:pt x="72738" y="134026"/>
                </a:cubicBezTo>
                <a:cubicBezTo>
                  <a:pt x="58872" y="99160"/>
                  <a:pt x="75895" y="59654"/>
                  <a:pt x="110761" y="45788"/>
                </a:cubicBezTo>
                <a:cubicBezTo>
                  <a:pt x="145627" y="31921"/>
                  <a:pt x="185132" y="48944"/>
                  <a:pt x="198999" y="83810"/>
                </a:cubicBezTo>
                <a:cubicBezTo>
                  <a:pt x="207199" y="104429"/>
                  <a:pt x="204814" y="127753"/>
                  <a:pt x="192609" y="146285"/>
                </a:cubicBezTo>
                <a:lnTo>
                  <a:pt x="219323" y="176722"/>
                </a:lnTo>
                <a:cubicBezTo>
                  <a:pt x="235376" y="167871"/>
                  <a:pt x="253416" y="163242"/>
                  <a:pt x="271746" y="163270"/>
                </a:cubicBezTo>
                <a:cubicBezTo>
                  <a:pt x="285470" y="163270"/>
                  <a:pt x="298650" y="165825"/>
                  <a:pt x="310716" y="170472"/>
                </a:cubicBezTo>
                <a:lnTo>
                  <a:pt x="344550" y="114489"/>
                </a:lnTo>
                <a:cubicBezTo>
                  <a:pt x="318842" y="87158"/>
                  <a:pt x="320157" y="44161"/>
                  <a:pt x="347488" y="18453"/>
                </a:cubicBezTo>
                <a:cubicBezTo>
                  <a:pt x="374819" y="-7256"/>
                  <a:pt x="417817" y="-5940"/>
                  <a:pt x="443525" y="21391"/>
                </a:cubicBezTo>
                <a:cubicBezTo>
                  <a:pt x="455377" y="33991"/>
                  <a:pt x="461978" y="50638"/>
                  <a:pt x="461978" y="67937"/>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24" name="Text Placeholder 5">
            <a:extLst>
              <a:ext uri="{FF2B5EF4-FFF2-40B4-BE49-F238E27FC236}">
                <a16:creationId xmlns:a16="http://schemas.microsoft.com/office/drawing/2014/main" id="{3CA2E79F-FA90-9403-2BD0-AE04EF530E0E}"/>
              </a:ext>
            </a:extLst>
          </p:cNvPr>
          <p:cNvSpPr txBox="1">
            <a:spLocks/>
          </p:cNvSpPr>
          <p:nvPr/>
        </p:nvSpPr>
        <p:spPr>
          <a:xfrm>
            <a:off x="8161831" y="4105234"/>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latin typeface="+mj-lt"/>
                <a:cs typeface="Segoe UI Semilight"/>
              </a:rPr>
              <a:t>Large Language Model</a:t>
            </a:r>
          </a:p>
        </p:txBody>
      </p:sp>
      <p:grpSp>
        <p:nvGrpSpPr>
          <p:cNvPr id="35" name="Group 34" descr="For great hiking shoes, consider the TrekExtreme Hiking Shoes1  or the Trailblaze Steel-Blue Hiking Shoes2&#10;">
            <a:extLst>
              <a:ext uri="{FF2B5EF4-FFF2-40B4-BE49-F238E27FC236}">
                <a16:creationId xmlns:a16="http://schemas.microsoft.com/office/drawing/2014/main" id="{811ED852-AE8F-3BB6-4911-E905CF1C29E9}"/>
              </a:ext>
            </a:extLst>
          </p:cNvPr>
          <p:cNvGrpSpPr/>
          <p:nvPr/>
        </p:nvGrpSpPr>
        <p:grpSpPr>
          <a:xfrm>
            <a:off x="9018953" y="1205162"/>
            <a:ext cx="2948076" cy="1413927"/>
            <a:chOff x="5159472" y="1205162"/>
            <a:chExt cx="2948076" cy="1413927"/>
          </a:xfrm>
        </p:grpSpPr>
        <p:sp>
          <p:nvSpPr>
            <p:cNvPr id="34" name="Freeform 33">
              <a:extLst>
                <a:ext uri="{FF2B5EF4-FFF2-40B4-BE49-F238E27FC236}">
                  <a16:creationId xmlns:a16="http://schemas.microsoft.com/office/drawing/2014/main" id="{F94A07FE-DDBE-4F17-8346-742C1276970A}"/>
                </a:ext>
                <a:ext uri="{C183D7F6-B498-43B3-948B-1728B52AA6E4}">
                  <adec:decorative xmlns:adec="http://schemas.microsoft.com/office/drawing/2017/decorative" val="1"/>
                </a:ext>
              </a:extLst>
            </p:cNvPr>
            <p:cNvSpPr/>
            <p:nvPr/>
          </p:nvSpPr>
          <p:spPr bwMode="auto">
            <a:xfrm>
              <a:off x="5159472" y="1205162"/>
              <a:ext cx="2948076" cy="1413927"/>
            </a:xfrm>
            <a:custGeom>
              <a:avLst/>
              <a:gdLst>
                <a:gd name="connsiteX0" fmla="*/ 192145 w 2948076"/>
                <a:gd name="connsiteY0" fmla="*/ 0 h 1413927"/>
                <a:gd name="connsiteX1" fmla="*/ 2755931 w 2948076"/>
                <a:gd name="connsiteY1" fmla="*/ 0 h 1413927"/>
                <a:gd name="connsiteX2" fmla="*/ 2948076 w 2948076"/>
                <a:gd name="connsiteY2" fmla="*/ 192145 h 1413927"/>
                <a:gd name="connsiteX3" fmla="*/ 2948076 w 2948076"/>
                <a:gd name="connsiteY3" fmla="*/ 960701 h 1413927"/>
                <a:gd name="connsiteX4" fmla="*/ 2755931 w 2948076"/>
                <a:gd name="connsiteY4" fmla="*/ 1152846 h 1413927"/>
                <a:gd name="connsiteX5" fmla="*/ 1814482 w 2948076"/>
                <a:gd name="connsiteY5" fmla="*/ 1152846 h 1413927"/>
                <a:gd name="connsiteX6" fmla="*/ 1814482 w 2948076"/>
                <a:gd name="connsiteY6" fmla="*/ 1413927 h 1413927"/>
                <a:gd name="connsiteX7" fmla="*/ 1553401 w 2948076"/>
                <a:gd name="connsiteY7" fmla="*/ 1152846 h 1413927"/>
                <a:gd name="connsiteX8" fmla="*/ 192145 w 2948076"/>
                <a:gd name="connsiteY8" fmla="*/ 1152846 h 1413927"/>
                <a:gd name="connsiteX9" fmla="*/ 0 w 2948076"/>
                <a:gd name="connsiteY9" fmla="*/ 960701 h 1413927"/>
                <a:gd name="connsiteX10" fmla="*/ 0 w 2948076"/>
                <a:gd name="connsiteY10" fmla="*/ 192145 h 1413927"/>
                <a:gd name="connsiteX11" fmla="*/ 192145 w 2948076"/>
                <a:gd name="connsiteY11" fmla="*/ 0 h 14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48076" h="1413927">
                  <a:moveTo>
                    <a:pt x="192145" y="0"/>
                  </a:moveTo>
                  <a:lnTo>
                    <a:pt x="2755931" y="0"/>
                  </a:lnTo>
                  <a:cubicBezTo>
                    <a:pt x="2862050" y="0"/>
                    <a:pt x="2948076" y="86026"/>
                    <a:pt x="2948076" y="192145"/>
                  </a:cubicBezTo>
                  <a:lnTo>
                    <a:pt x="2948076" y="960701"/>
                  </a:lnTo>
                  <a:cubicBezTo>
                    <a:pt x="2948076" y="1066820"/>
                    <a:pt x="2862050" y="1152846"/>
                    <a:pt x="2755931" y="1152846"/>
                  </a:cubicBezTo>
                  <a:lnTo>
                    <a:pt x="1814482" y="1152846"/>
                  </a:lnTo>
                  <a:lnTo>
                    <a:pt x="1814482" y="1413927"/>
                  </a:lnTo>
                  <a:lnTo>
                    <a:pt x="1553401" y="1152846"/>
                  </a:lnTo>
                  <a:lnTo>
                    <a:pt x="192145" y="1152846"/>
                  </a:lnTo>
                  <a:cubicBezTo>
                    <a:pt x="86026" y="1152846"/>
                    <a:pt x="0" y="1066820"/>
                    <a:pt x="0" y="960701"/>
                  </a:cubicBezTo>
                  <a:lnTo>
                    <a:pt x="0" y="192145"/>
                  </a:lnTo>
                  <a:cubicBezTo>
                    <a:pt x="0" y="86026"/>
                    <a:pt x="86026" y="0"/>
                    <a:pt x="192145" y="0"/>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err="1">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32" name="Text Placeholder 5">
              <a:extLst>
                <a:ext uri="{FF2B5EF4-FFF2-40B4-BE49-F238E27FC236}">
                  <a16:creationId xmlns:a16="http://schemas.microsoft.com/office/drawing/2014/main" id="{D50BE5A3-1459-E85C-1CE7-F2134F754089}"/>
                </a:ext>
                <a:ext uri="{C183D7F6-B498-43B3-948B-1728B52AA6E4}">
                  <adec:decorative xmlns:adec="http://schemas.microsoft.com/office/drawing/2017/decorative" val="1"/>
                </a:ext>
              </a:extLst>
            </p:cNvPr>
            <p:cNvSpPr txBox="1">
              <a:spLocks/>
            </p:cNvSpPr>
            <p:nvPr/>
          </p:nvSpPr>
          <p:spPr>
            <a:xfrm>
              <a:off x="5268330" y="1304532"/>
              <a:ext cx="2730360" cy="954107"/>
            </a:xfrm>
            <a:prstGeom prst="rect">
              <a:avLst/>
            </a:prstGeom>
          </p:spPr>
          <p:txBody>
            <a:bodyPr lIns="91440" tIns="45720" rIns="91440" bIns="45720" anchor="ctr">
              <a:spAutoFit/>
            </a:bodyP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400">
                  <a:solidFill>
                    <a:schemeClr val="bg1"/>
                  </a:solidFill>
                  <a:latin typeface="Segoe UI"/>
                  <a:cs typeface="Segoe UI Semilight"/>
                </a:rPr>
                <a:t>For great hiking shoes, consider the </a:t>
              </a:r>
              <a:r>
                <a:rPr lang="en-US" sz="1400" err="1">
                  <a:solidFill>
                    <a:schemeClr val="bg1"/>
                  </a:solidFill>
                  <a:latin typeface="Segoe UI"/>
                  <a:cs typeface="Segoe UI Semilight"/>
                </a:rPr>
                <a:t>TrekExtreme</a:t>
              </a:r>
              <a:r>
                <a:rPr lang="en-US" sz="1400">
                  <a:solidFill>
                    <a:schemeClr val="bg1"/>
                  </a:solidFill>
                  <a:latin typeface="Segoe UI"/>
                  <a:cs typeface="Segoe UI Semilight"/>
                </a:rPr>
                <a:t> Hiking Shoes</a:t>
              </a:r>
              <a:r>
                <a:rPr lang="en-US" sz="1400" baseline="30000">
                  <a:solidFill>
                    <a:schemeClr val="bg1"/>
                  </a:solidFill>
                  <a:latin typeface="Segoe UI"/>
                  <a:cs typeface="Segoe UI Semilight"/>
                </a:rPr>
                <a:t>1</a:t>
              </a:r>
              <a:r>
                <a:rPr lang="en-US" sz="1400">
                  <a:solidFill>
                    <a:schemeClr val="bg1"/>
                  </a:solidFill>
                  <a:latin typeface="Segoe UI"/>
                  <a:cs typeface="Segoe UI Semilight"/>
                </a:rPr>
                <a:t>  or the Trailblaze Steel-Blue Hiking Shoes</a:t>
              </a:r>
              <a:r>
                <a:rPr lang="en-US" sz="1400" baseline="30000">
                  <a:solidFill>
                    <a:schemeClr val="bg1"/>
                  </a:solidFill>
                  <a:latin typeface="Segoe UI"/>
                  <a:cs typeface="Segoe UI Semilight"/>
                </a:rPr>
                <a:t>2</a:t>
              </a:r>
            </a:p>
          </p:txBody>
        </p:sp>
      </p:grpSp>
      <p:sp>
        <p:nvSpPr>
          <p:cNvPr id="9" name="Graphic 27" descr="Robot icon">
            <a:extLst>
              <a:ext uri="{FF2B5EF4-FFF2-40B4-BE49-F238E27FC236}">
                <a16:creationId xmlns:a16="http://schemas.microsoft.com/office/drawing/2014/main" id="{166BB72C-9775-BA55-6C8F-294120178201}"/>
              </a:ext>
            </a:extLst>
          </p:cNvPr>
          <p:cNvSpPr/>
          <p:nvPr/>
        </p:nvSpPr>
        <p:spPr>
          <a:xfrm>
            <a:off x="10448282" y="3006368"/>
            <a:ext cx="770305" cy="962880"/>
          </a:xfrm>
          <a:custGeom>
            <a:avLst/>
            <a:gdLst>
              <a:gd name="connsiteX0" fmla="*/ 373670 w 434816"/>
              <a:gd name="connsiteY0" fmla="*/ 326112 h 543520"/>
              <a:gd name="connsiteX1" fmla="*/ 434816 w 434816"/>
              <a:gd name="connsiteY1" fmla="*/ 387258 h 543520"/>
              <a:gd name="connsiteX2" fmla="*/ 434816 w 434816"/>
              <a:gd name="connsiteY2" fmla="*/ 411852 h 543520"/>
              <a:gd name="connsiteX3" fmla="*/ 399297 w 434816"/>
              <a:gd name="connsiteY3" fmla="*/ 489195 h 543520"/>
              <a:gd name="connsiteX4" fmla="*/ 217326 w 434816"/>
              <a:gd name="connsiteY4" fmla="*/ 543520 h 543520"/>
              <a:gd name="connsiteX5" fmla="*/ 35492 w 434816"/>
              <a:gd name="connsiteY5" fmla="*/ 489168 h 543520"/>
              <a:gd name="connsiteX6" fmla="*/ 0 w 434816"/>
              <a:gd name="connsiteY6" fmla="*/ 411907 h 543520"/>
              <a:gd name="connsiteX7" fmla="*/ 0 w 434816"/>
              <a:gd name="connsiteY7" fmla="*/ 387231 h 543520"/>
              <a:gd name="connsiteX8" fmla="*/ 61146 w 434816"/>
              <a:gd name="connsiteY8" fmla="*/ 326112 h 543520"/>
              <a:gd name="connsiteX9" fmla="*/ 373670 w 434816"/>
              <a:gd name="connsiteY9" fmla="*/ 326112 h 543520"/>
              <a:gd name="connsiteX10" fmla="*/ 214555 w 434816"/>
              <a:gd name="connsiteY10" fmla="*/ 217 h 543520"/>
              <a:gd name="connsiteX11" fmla="*/ 217326 w 434816"/>
              <a:gd name="connsiteY11" fmla="*/ 0 h 543520"/>
              <a:gd name="connsiteX12" fmla="*/ 237518 w 434816"/>
              <a:gd name="connsiteY12" fmla="*/ 17610 h 543520"/>
              <a:gd name="connsiteX13" fmla="*/ 237708 w 434816"/>
              <a:gd name="connsiteY13" fmla="*/ 20382 h 543520"/>
              <a:gd name="connsiteX14" fmla="*/ 237708 w 434816"/>
              <a:gd name="connsiteY14" fmla="*/ 40764 h 543520"/>
              <a:gd name="connsiteX15" fmla="*/ 332824 w 434816"/>
              <a:gd name="connsiteY15" fmla="*/ 40764 h 543520"/>
              <a:gd name="connsiteX16" fmla="*/ 393970 w 434816"/>
              <a:gd name="connsiteY16" fmla="*/ 101910 h 543520"/>
              <a:gd name="connsiteX17" fmla="*/ 393970 w 434816"/>
              <a:gd name="connsiteY17" fmla="*/ 224338 h 543520"/>
              <a:gd name="connsiteX18" fmla="*/ 332824 w 434816"/>
              <a:gd name="connsiteY18" fmla="*/ 285484 h 543520"/>
              <a:gd name="connsiteX19" fmla="*/ 101828 w 434816"/>
              <a:gd name="connsiteY19" fmla="*/ 285484 h 543520"/>
              <a:gd name="connsiteX20" fmla="*/ 40682 w 434816"/>
              <a:gd name="connsiteY20" fmla="*/ 224338 h 543520"/>
              <a:gd name="connsiteX21" fmla="*/ 40682 w 434816"/>
              <a:gd name="connsiteY21" fmla="*/ 101910 h 543520"/>
              <a:gd name="connsiteX22" fmla="*/ 101828 w 434816"/>
              <a:gd name="connsiteY22" fmla="*/ 40764 h 543520"/>
              <a:gd name="connsiteX23" fmla="*/ 196944 w 434816"/>
              <a:gd name="connsiteY23" fmla="*/ 40764 h 543520"/>
              <a:gd name="connsiteX24" fmla="*/ 196944 w 434816"/>
              <a:gd name="connsiteY24" fmla="*/ 20409 h 543520"/>
              <a:gd name="connsiteX25" fmla="*/ 214555 w 434816"/>
              <a:gd name="connsiteY25" fmla="*/ 217 h 543520"/>
              <a:gd name="connsiteX26" fmla="*/ 217326 w 434816"/>
              <a:gd name="connsiteY26" fmla="*/ 0 h 543520"/>
              <a:gd name="connsiteX27" fmla="*/ 214555 w 434816"/>
              <a:gd name="connsiteY27" fmla="*/ 190 h 543520"/>
              <a:gd name="connsiteX28" fmla="*/ 156180 w 434816"/>
              <a:gd name="connsiteY28" fmla="*/ 122292 h 543520"/>
              <a:gd name="connsiteX29" fmla="*/ 122210 w 434816"/>
              <a:gd name="connsiteY29" fmla="*/ 156262 h 543520"/>
              <a:gd name="connsiteX30" fmla="*/ 156180 w 434816"/>
              <a:gd name="connsiteY30" fmla="*/ 190232 h 543520"/>
              <a:gd name="connsiteX31" fmla="*/ 190150 w 434816"/>
              <a:gd name="connsiteY31" fmla="*/ 156262 h 543520"/>
              <a:gd name="connsiteX32" fmla="*/ 156180 w 434816"/>
              <a:gd name="connsiteY32" fmla="*/ 122292 h 543520"/>
              <a:gd name="connsiteX33" fmla="*/ 278282 w 434816"/>
              <a:gd name="connsiteY33" fmla="*/ 122292 h 543520"/>
              <a:gd name="connsiteX34" fmla="*/ 243364 w 434816"/>
              <a:gd name="connsiteY34" fmla="*/ 155288 h 543520"/>
              <a:gd name="connsiteX35" fmla="*/ 276361 w 434816"/>
              <a:gd name="connsiteY35" fmla="*/ 190205 h 543520"/>
              <a:gd name="connsiteX36" fmla="*/ 278282 w 434816"/>
              <a:gd name="connsiteY36" fmla="*/ 190205 h 543520"/>
              <a:gd name="connsiteX37" fmla="*/ 311277 w 434816"/>
              <a:gd name="connsiteY37" fmla="*/ 155288 h 543520"/>
              <a:gd name="connsiteX38" fmla="*/ 278282 w 434816"/>
              <a:gd name="connsiteY38" fmla="*/ 122292 h 543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34816" h="543520">
                <a:moveTo>
                  <a:pt x="373670" y="326112"/>
                </a:moveTo>
                <a:cubicBezTo>
                  <a:pt x="407439" y="326112"/>
                  <a:pt x="434816" y="353489"/>
                  <a:pt x="434816" y="387258"/>
                </a:cubicBezTo>
                <a:lnTo>
                  <a:pt x="434816" y="411852"/>
                </a:lnTo>
                <a:cubicBezTo>
                  <a:pt x="434824" y="441580"/>
                  <a:pt x="421850" y="469830"/>
                  <a:pt x="399297" y="489195"/>
                </a:cubicBezTo>
                <a:cubicBezTo>
                  <a:pt x="356739" y="525720"/>
                  <a:pt x="295865" y="543520"/>
                  <a:pt x="217326" y="543520"/>
                </a:cubicBezTo>
                <a:cubicBezTo>
                  <a:pt x="138788" y="543520"/>
                  <a:pt x="77968" y="525693"/>
                  <a:pt x="35492" y="489168"/>
                </a:cubicBezTo>
                <a:cubicBezTo>
                  <a:pt x="12970" y="469816"/>
                  <a:pt x="9" y="441602"/>
                  <a:pt x="0" y="411907"/>
                </a:cubicBezTo>
                <a:lnTo>
                  <a:pt x="0" y="387231"/>
                </a:lnTo>
                <a:cubicBezTo>
                  <a:pt x="15" y="353473"/>
                  <a:pt x="27387" y="326112"/>
                  <a:pt x="61146" y="326112"/>
                </a:cubicBezTo>
                <a:lnTo>
                  <a:pt x="373670" y="326112"/>
                </a:lnTo>
                <a:close/>
                <a:moveTo>
                  <a:pt x="214555" y="217"/>
                </a:moveTo>
                <a:lnTo>
                  <a:pt x="217326" y="0"/>
                </a:lnTo>
                <a:cubicBezTo>
                  <a:pt x="227512" y="1"/>
                  <a:pt x="236132" y="7520"/>
                  <a:pt x="237518" y="17610"/>
                </a:cubicBezTo>
                <a:lnTo>
                  <a:pt x="237708" y="20382"/>
                </a:lnTo>
                <a:lnTo>
                  <a:pt x="237708" y="40764"/>
                </a:lnTo>
                <a:lnTo>
                  <a:pt x="332824" y="40764"/>
                </a:lnTo>
                <a:cubicBezTo>
                  <a:pt x="366593" y="40764"/>
                  <a:pt x="393970" y="68140"/>
                  <a:pt x="393970" y="101910"/>
                </a:cubicBezTo>
                <a:lnTo>
                  <a:pt x="393970" y="224338"/>
                </a:lnTo>
                <a:cubicBezTo>
                  <a:pt x="393970" y="258107"/>
                  <a:pt x="366593" y="285484"/>
                  <a:pt x="332824" y="285484"/>
                </a:cubicBezTo>
                <a:lnTo>
                  <a:pt x="101828" y="285484"/>
                </a:lnTo>
                <a:cubicBezTo>
                  <a:pt x="68058" y="285484"/>
                  <a:pt x="40682" y="258107"/>
                  <a:pt x="40682" y="224338"/>
                </a:cubicBezTo>
                <a:lnTo>
                  <a:pt x="40682" y="101910"/>
                </a:lnTo>
                <a:cubicBezTo>
                  <a:pt x="40682" y="68140"/>
                  <a:pt x="68058" y="40764"/>
                  <a:pt x="101828" y="40764"/>
                </a:cubicBezTo>
                <a:lnTo>
                  <a:pt x="196944" y="40764"/>
                </a:lnTo>
                <a:lnTo>
                  <a:pt x="196944" y="20409"/>
                </a:lnTo>
                <a:cubicBezTo>
                  <a:pt x="196944" y="10224"/>
                  <a:pt x="204464" y="1603"/>
                  <a:pt x="214555" y="217"/>
                </a:cubicBezTo>
                <a:lnTo>
                  <a:pt x="217326" y="0"/>
                </a:lnTo>
                <a:lnTo>
                  <a:pt x="214555" y="190"/>
                </a:lnTo>
                <a:close/>
                <a:moveTo>
                  <a:pt x="156180" y="122292"/>
                </a:moveTo>
                <a:cubicBezTo>
                  <a:pt x="137419" y="122292"/>
                  <a:pt x="122210" y="137501"/>
                  <a:pt x="122210" y="156262"/>
                </a:cubicBezTo>
                <a:cubicBezTo>
                  <a:pt x="122210" y="175023"/>
                  <a:pt x="137419" y="190232"/>
                  <a:pt x="156180" y="190232"/>
                </a:cubicBezTo>
                <a:cubicBezTo>
                  <a:pt x="174943" y="190232"/>
                  <a:pt x="190150" y="175023"/>
                  <a:pt x="190150" y="156262"/>
                </a:cubicBezTo>
                <a:cubicBezTo>
                  <a:pt x="190150" y="137501"/>
                  <a:pt x="174943" y="122292"/>
                  <a:pt x="156180" y="122292"/>
                </a:cubicBezTo>
                <a:close/>
                <a:moveTo>
                  <a:pt x="278282" y="122292"/>
                </a:moveTo>
                <a:cubicBezTo>
                  <a:pt x="259528" y="121762"/>
                  <a:pt x="243896" y="136534"/>
                  <a:pt x="243364" y="155288"/>
                </a:cubicBezTo>
                <a:cubicBezTo>
                  <a:pt x="242834" y="174041"/>
                  <a:pt x="257607" y="189674"/>
                  <a:pt x="276361" y="190205"/>
                </a:cubicBezTo>
                <a:cubicBezTo>
                  <a:pt x="277002" y="190223"/>
                  <a:pt x="277641" y="190223"/>
                  <a:pt x="278282" y="190205"/>
                </a:cubicBezTo>
                <a:cubicBezTo>
                  <a:pt x="297036" y="189674"/>
                  <a:pt x="311809" y="174041"/>
                  <a:pt x="311277" y="155288"/>
                </a:cubicBezTo>
                <a:cubicBezTo>
                  <a:pt x="310768" y="137280"/>
                  <a:pt x="296289" y="122802"/>
                  <a:pt x="278282" y="122292"/>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nvGrpSpPr>
          <p:cNvPr id="87" name="Group 86">
            <a:extLst>
              <a:ext uri="{FF2B5EF4-FFF2-40B4-BE49-F238E27FC236}">
                <a16:creationId xmlns:a16="http://schemas.microsoft.com/office/drawing/2014/main" id="{7AFE50A7-D5EF-7DE0-0B44-F37CED0C64AD}"/>
              </a:ext>
              <a:ext uri="{C183D7F6-B498-43B3-948B-1728B52AA6E4}">
                <adec:decorative xmlns:adec="http://schemas.microsoft.com/office/drawing/2017/decorative" val="1"/>
              </a:ext>
            </a:extLst>
          </p:cNvPr>
          <p:cNvGrpSpPr/>
          <p:nvPr/>
        </p:nvGrpSpPr>
        <p:grpSpPr>
          <a:xfrm>
            <a:off x="2011999" y="4374485"/>
            <a:ext cx="472341" cy="219834"/>
            <a:chOff x="2011999" y="4374485"/>
            <a:chExt cx="472341" cy="219834"/>
          </a:xfrm>
        </p:grpSpPr>
        <p:cxnSp>
          <p:nvCxnSpPr>
            <p:cNvPr id="13" name="Straight Connector 12">
              <a:extLst>
                <a:ext uri="{FF2B5EF4-FFF2-40B4-BE49-F238E27FC236}">
                  <a16:creationId xmlns:a16="http://schemas.microsoft.com/office/drawing/2014/main" id="{3AC1BD0B-4866-6746-7295-13D2E8FC94B4}"/>
                </a:ext>
                <a:ext uri="{C183D7F6-B498-43B3-948B-1728B52AA6E4}">
                  <adec:decorative xmlns:adec="http://schemas.microsoft.com/office/drawing/2017/decorative" val="1"/>
                </a:ext>
              </a:extLst>
            </p:cNvPr>
            <p:cNvCxnSpPr>
              <a:cxnSpLocks/>
            </p:cNvCxnSpPr>
            <p:nvPr/>
          </p:nvCxnSpPr>
          <p:spPr>
            <a:xfrm>
              <a:off x="2011999" y="4484402"/>
              <a:ext cx="361718" cy="0"/>
            </a:xfrm>
            <a:prstGeom prst="line">
              <a:avLst/>
            </a:prstGeom>
            <a:noFill/>
            <a:ln w="15875">
              <a:gradFill>
                <a:gsLst>
                  <a:gs pos="0">
                    <a:srgbClr val="F4364C"/>
                  </a:gs>
                  <a:gs pos="100000">
                    <a:srgbClr val="49C5B1"/>
                  </a:gs>
                  <a:gs pos="80000">
                    <a:srgbClr val="0078D4"/>
                  </a:gs>
                  <a:gs pos="26000">
                    <a:srgbClr val="C03BC4"/>
                  </a:gs>
                </a:gsLst>
                <a:lin ang="10800000" scaled="0"/>
              </a:gradFill>
              <a:headEnd type="oval" w="med" len="med"/>
              <a:tailEnd type="oval" w="lg" len="lg"/>
            </a:ln>
            <a:effectLst/>
          </p:spPr>
          <p:style>
            <a:lnRef idx="1">
              <a:schemeClr val="accent2"/>
            </a:lnRef>
            <a:fillRef idx="3">
              <a:schemeClr val="accent2"/>
            </a:fillRef>
            <a:effectRef idx="2">
              <a:schemeClr val="accent2"/>
            </a:effectRef>
            <a:fontRef idx="minor">
              <a:schemeClr val="lt1"/>
            </a:fontRef>
          </p:style>
        </p:cxnSp>
        <p:grpSp>
          <p:nvGrpSpPr>
            <p:cNvPr id="14" name="Group 13">
              <a:extLst>
                <a:ext uri="{FF2B5EF4-FFF2-40B4-BE49-F238E27FC236}">
                  <a16:creationId xmlns:a16="http://schemas.microsoft.com/office/drawing/2014/main" id="{D78B0D00-AA04-DB67-222A-145DF51FCBE1}"/>
                </a:ext>
              </a:extLst>
            </p:cNvPr>
            <p:cNvGrpSpPr/>
            <p:nvPr/>
          </p:nvGrpSpPr>
          <p:grpSpPr>
            <a:xfrm>
              <a:off x="2264505" y="4374485"/>
              <a:ext cx="219835" cy="219834"/>
              <a:chOff x="1613419" y="2537559"/>
              <a:chExt cx="339399" cy="339399"/>
            </a:xfrm>
          </p:grpSpPr>
          <p:sp>
            <p:nvSpPr>
              <p:cNvPr id="15" name="Oval 14">
                <a:extLst>
                  <a:ext uri="{FF2B5EF4-FFF2-40B4-BE49-F238E27FC236}">
                    <a16:creationId xmlns:a16="http://schemas.microsoft.com/office/drawing/2014/main" id="{F21B45AA-B71C-DC78-FEF0-60DB57B59C22}"/>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16" name="Oval 15">
                <a:extLst>
                  <a:ext uri="{FF2B5EF4-FFF2-40B4-BE49-F238E27FC236}">
                    <a16:creationId xmlns:a16="http://schemas.microsoft.com/office/drawing/2014/main" id="{F5F86609-8D42-B46E-EAF7-4D32EE17A5DD}"/>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grpSp>
      <p:grpSp>
        <p:nvGrpSpPr>
          <p:cNvPr id="91" name="Group 90">
            <a:extLst>
              <a:ext uri="{FF2B5EF4-FFF2-40B4-BE49-F238E27FC236}">
                <a16:creationId xmlns:a16="http://schemas.microsoft.com/office/drawing/2014/main" id="{F8A05276-8572-6DBB-285B-A2C9BA399BB5}"/>
              </a:ext>
              <a:ext uri="{C183D7F6-B498-43B3-948B-1728B52AA6E4}">
                <adec:decorative xmlns:adec="http://schemas.microsoft.com/office/drawing/2017/decorative" val="1"/>
              </a:ext>
            </a:extLst>
          </p:cNvPr>
          <p:cNvGrpSpPr/>
          <p:nvPr/>
        </p:nvGrpSpPr>
        <p:grpSpPr>
          <a:xfrm>
            <a:off x="9750250" y="3226588"/>
            <a:ext cx="487098" cy="219834"/>
            <a:chOff x="9750250" y="3226588"/>
            <a:chExt cx="487098" cy="219834"/>
          </a:xfrm>
        </p:grpSpPr>
        <p:cxnSp>
          <p:nvCxnSpPr>
            <p:cNvPr id="25" name="Straight Connector 24">
              <a:extLst>
                <a:ext uri="{FF2B5EF4-FFF2-40B4-BE49-F238E27FC236}">
                  <a16:creationId xmlns:a16="http://schemas.microsoft.com/office/drawing/2014/main" id="{3F43FDFF-C7E6-01FD-1B13-482EFB750521}"/>
                </a:ext>
                <a:ext uri="{C183D7F6-B498-43B3-948B-1728B52AA6E4}">
                  <adec:decorative xmlns:adec="http://schemas.microsoft.com/office/drawing/2017/decorative" val="1"/>
                </a:ext>
              </a:extLst>
            </p:cNvPr>
            <p:cNvCxnSpPr>
              <a:cxnSpLocks/>
            </p:cNvCxnSpPr>
            <p:nvPr/>
          </p:nvCxnSpPr>
          <p:spPr>
            <a:xfrm>
              <a:off x="9750250" y="3336505"/>
              <a:ext cx="383515" cy="0"/>
            </a:xfrm>
            <a:prstGeom prst="line">
              <a:avLst/>
            </a:prstGeom>
            <a:noFill/>
            <a:ln w="15875">
              <a:gradFill>
                <a:gsLst>
                  <a:gs pos="0">
                    <a:srgbClr val="F4364C"/>
                  </a:gs>
                  <a:gs pos="100000">
                    <a:srgbClr val="49C5B1"/>
                  </a:gs>
                  <a:gs pos="80000">
                    <a:srgbClr val="0078D4"/>
                  </a:gs>
                  <a:gs pos="26000">
                    <a:srgbClr val="C03BC4"/>
                  </a:gs>
                </a:gsLst>
                <a:lin ang="10800000" scaled="0"/>
              </a:gradFill>
              <a:headEnd type="oval" w="med" len="med"/>
              <a:tailEnd type="oval" w="lg" len="lg"/>
            </a:ln>
            <a:effectLst/>
          </p:spPr>
          <p:style>
            <a:lnRef idx="1">
              <a:schemeClr val="accent2"/>
            </a:lnRef>
            <a:fillRef idx="3">
              <a:schemeClr val="accent2"/>
            </a:fillRef>
            <a:effectRef idx="2">
              <a:schemeClr val="accent2"/>
            </a:effectRef>
            <a:fontRef idx="minor">
              <a:schemeClr val="lt1"/>
            </a:fontRef>
          </p:style>
        </p:cxnSp>
        <p:grpSp>
          <p:nvGrpSpPr>
            <p:cNvPr id="26" name="Group 25">
              <a:extLst>
                <a:ext uri="{FF2B5EF4-FFF2-40B4-BE49-F238E27FC236}">
                  <a16:creationId xmlns:a16="http://schemas.microsoft.com/office/drawing/2014/main" id="{D1F5A42B-5860-B8DC-CF4F-534629242F2E}"/>
                </a:ext>
              </a:extLst>
            </p:cNvPr>
            <p:cNvGrpSpPr/>
            <p:nvPr/>
          </p:nvGrpSpPr>
          <p:grpSpPr>
            <a:xfrm>
              <a:off x="10017513" y="3226588"/>
              <a:ext cx="219835" cy="219834"/>
              <a:chOff x="1613419" y="2537559"/>
              <a:chExt cx="339399" cy="339399"/>
            </a:xfrm>
          </p:grpSpPr>
          <p:sp>
            <p:nvSpPr>
              <p:cNvPr id="27" name="Oval 26">
                <a:extLst>
                  <a:ext uri="{FF2B5EF4-FFF2-40B4-BE49-F238E27FC236}">
                    <a16:creationId xmlns:a16="http://schemas.microsoft.com/office/drawing/2014/main" id="{C9D4D9B8-BD6D-676B-CE6F-4F08EFF8728D}"/>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28" name="Oval 27">
                <a:extLst>
                  <a:ext uri="{FF2B5EF4-FFF2-40B4-BE49-F238E27FC236}">
                    <a16:creationId xmlns:a16="http://schemas.microsoft.com/office/drawing/2014/main" id="{0B142970-E584-BA09-6D7D-BB5A6379CFCD}"/>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grpSp>
      <p:grpSp>
        <p:nvGrpSpPr>
          <p:cNvPr id="89" name="Group 88">
            <a:extLst>
              <a:ext uri="{FF2B5EF4-FFF2-40B4-BE49-F238E27FC236}">
                <a16:creationId xmlns:a16="http://schemas.microsoft.com/office/drawing/2014/main" id="{BB517C5F-439C-C751-E034-96B733935A74}"/>
              </a:ext>
              <a:ext uri="{C183D7F6-B498-43B3-948B-1728B52AA6E4}">
                <adec:decorative xmlns:adec="http://schemas.microsoft.com/office/drawing/2017/decorative" val="1"/>
              </a:ext>
            </a:extLst>
          </p:cNvPr>
          <p:cNvGrpSpPr/>
          <p:nvPr/>
        </p:nvGrpSpPr>
        <p:grpSpPr>
          <a:xfrm>
            <a:off x="1299751" y="3226588"/>
            <a:ext cx="6665642" cy="370999"/>
            <a:chOff x="1299751" y="3226588"/>
            <a:chExt cx="6665642" cy="370999"/>
          </a:xfrm>
        </p:grpSpPr>
        <p:cxnSp>
          <p:nvCxnSpPr>
            <p:cNvPr id="29" name="Straight Connector 28">
              <a:extLst>
                <a:ext uri="{FF2B5EF4-FFF2-40B4-BE49-F238E27FC236}">
                  <a16:creationId xmlns:a16="http://schemas.microsoft.com/office/drawing/2014/main" id="{51A104C1-C30C-3E67-116C-C29FF3C2439C}"/>
                </a:ext>
                <a:ext uri="{C183D7F6-B498-43B3-948B-1728B52AA6E4}">
                  <adec:decorative xmlns:adec="http://schemas.microsoft.com/office/drawing/2017/decorative" val="1"/>
                </a:ext>
              </a:extLst>
            </p:cNvPr>
            <p:cNvCxnSpPr>
              <a:cxnSpLocks/>
            </p:cNvCxnSpPr>
            <p:nvPr/>
          </p:nvCxnSpPr>
          <p:spPr>
            <a:xfrm>
              <a:off x="1299751" y="3336505"/>
              <a:ext cx="6552084" cy="0"/>
            </a:xfrm>
            <a:prstGeom prst="line">
              <a:avLst/>
            </a:prstGeom>
            <a:noFill/>
            <a:ln w="15875">
              <a:gradFill>
                <a:gsLst>
                  <a:gs pos="0">
                    <a:srgbClr val="F4364C"/>
                  </a:gs>
                  <a:gs pos="100000">
                    <a:srgbClr val="49C5B1"/>
                  </a:gs>
                  <a:gs pos="80000">
                    <a:srgbClr val="0078D4"/>
                  </a:gs>
                  <a:gs pos="26000">
                    <a:srgbClr val="C03BC4"/>
                  </a:gs>
                </a:gsLst>
                <a:lin ang="10800000" scaled="0"/>
              </a:gradFill>
              <a:headEnd type="none" w="med" len="med"/>
              <a:tailEnd type="none" w="lg" len="lg"/>
            </a:ln>
            <a:effectLst/>
          </p:spPr>
          <p:style>
            <a:lnRef idx="1">
              <a:schemeClr val="accent2"/>
            </a:lnRef>
            <a:fillRef idx="3">
              <a:schemeClr val="accent2"/>
            </a:fillRef>
            <a:effectRef idx="2">
              <a:schemeClr val="accent2"/>
            </a:effectRef>
            <a:fontRef idx="minor">
              <a:schemeClr val="lt1"/>
            </a:fontRef>
          </p:style>
        </p:cxnSp>
        <p:grpSp>
          <p:nvGrpSpPr>
            <p:cNvPr id="33" name="Group 32">
              <a:extLst>
                <a:ext uri="{FF2B5EF4-FFF2-40B4-BE49-F238E27FC236}">
                  <a16:creationId xmlns:a16="http://schemas.microsoft.com/office/drawing/2014/main" id="{881A0FA2-330B-584F-CCE9-FA39CE7A5266}"/>
                </a:ext>
              </a:extLst>
            </p:cNvPr>
            <p:cNvGrpSpPr/>
            <p:nvPr/>
          </p:nvGrpSpPr>
          <p:grpSpPr>
            <a:xfrm>
              <a:off x="7745558" y="3226588"/>
              <a:ext cx="219835" cy="219834"/>
              <a:chOff x="1613419" y="2537559"/>
              <a:chExt cx="339399" cy="339399"/>
            </a:xfrm>
          </p:grpSpPr>
          <p:sp>
            <p:nvSpPr>
              <p:cNvPr id="44" name="Oval 43">
                <a:extLst>
                  <a:ext uri="{FF2B5EF4-FFF2-40B4-BE49-F238E27FC236}">
                    <a16:creationId xmlns:a16="http://schemas.microsoft.com/office/drawing/2014/main" id="{2973B334-D24A-D81D-6435-4869E2596192}"/>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51" name="Oval 50">
                <a:extLst>
                  <a:ext uri="{FF2B5EF4-FFF2-40B4-BE49-F238E27FC236}">
                    <a16:creationId xmlns:a16="http://schemas.microsoft.com/office/drawing/2014/main" id="{17537AD1-4487-2291-4034-A7AB6F5D4771}"/>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cxnSp>
          <p:nvCxnSpPr>
            <p:cNvPr id="52" name="Straight Connector 51">
              <a:extLst>
                <a:ext uri="{FF2B5EF4-FFF2-40B4-BE49-F238E27FC236}">
                  <a16:creationId xmlns:a16="http://schemas.microsoft.com/office/drawing/2014/main" id="{A8EF4F8B-FD40-BBB4-43BE-BF536F7C4E62}"/>
                </a:ext>
                <a:ext uri="{C183D7F6-B498-43B3-948B-1728B52AA6E4}">
                  <adec:decorative xmlns:adec="http://schemas.microsoft.com/office/drawing/2017/decorative" val="1"/>
                </a:ext>
              </a:extLst>
            </p:cNvPr>
            <p:cNvCxnSpPr>
              <a:cxnSpLocks/>
              <a:stCxn id="7" idx="0"/>
            </p:cNvCxnSpPr>
            <p:nvPr/>
          </p:nvCxnSpPr>
          <p:spPr>
            <a:xfrm flipH="1" flipV="1">
              <a:off x="1299751" y="3336505"/>
              <a:ext cx="1" cy="261082"/>
            </a:xfrm>
            <a:prstGeom prst="line">
              <a:avLst/>
            </a:prstGeom>
            <a:noFill/>
            <a:ln w="15875">
              <a:solidFill>
                <a:srgbClr val="399A91"/>
              </a:solidFill>
              <a:headEnd type="oval" w="med" len="med"/>
              <a:tailEnd type="none" w="lg" len="lg"/>
            </a:ln>
            <a:effectLst/>
          </p:spPr>
          <p:style>
            <a:lnRef idx="1">
              <a:schemeClr val="accent2"/>
            </a:lnRef>
            <a:fillRef idx="3">
              <a:schemeClr val="accent2"/>
            </a:fillRef>
            <a:effectRef idx="2">
              <a:schemeClr val="accent2"/>
            </a:effectRef>
            <a:fontRef idx="minor">
              <a:schemeClr val="lt1"/>
            </a:fontRef>
          </p:style>
        </p:cxnSp>
      </p:grpSp>
      <p:grpSp>
        <p:nvGrpSpPr>
          <p:cNvPr id="90" name="Group 89">
            <a:extLst>
              <a:ext uri="{FF2B5EF4-FFF2-40B4-BE49-F238E27FC236}">
                <a16:creationId xmlns:a16="http://schemas.microsoft.com/office/drawing/2014/main" id="{5954B518-C3AE-0D16-B5D0-86D42DEF22A8}"/>
              </a:ext>
              <a:ext uri="{C183D7F6-B498-43B3-948B-1728B52AA6E4}">
                <adec:decorative xmlns:adec="http://schemas.microsoft.com/office/drawing/2017/decorative" val="1"/>
              </a:ext>
            </a:extLst>
          </p:cNvPr>
          <p:cNvGrpSpPr/>
          <p:nvPr/>
        </p:nvGrpSpPr>
        <p:grpSpPr>
          <a:xfrm>
            <a:off x="7497815" y="4374485"/>
            <a:ext cx="472341" cy="219834"/>
            <a:chOff x="7497815" y="4374485"/>
            <a:chExt cx="472341" cy="219834"/>
          </a:xfrm>
        </p:grpSpPr>
        <p:cxnSp>
          <p:nvCxnSpPr>
            <p:cNvPr id="64" name="Straight Connector 63">
              <a:extLst>
                <a:ext uri="{FF2B5EF4-FFF2-40B4-BE49-F238E27FC236}">
                  <a16:creationId xmlns:a16="http://schemas.microsoft.com/office/drawing/2014/main" id="{20765FBB-E5A7-7BE4-AB48-1B46BC201CD3}"/>
                </a:ext>
                <a:ext uri="{C183D7F6-B498-43B3-948B-1728B52AA6E4}">
                  <adec:decorative xmlns:adec="http://schemas.microsoft.com/office/drawing/2017/decorative" val="1"/>
                </a:ext>
              </a:extLst>
            </p:cNvPr>
            <p:cNvCxnSpPr>
              <a:cxnSpLocks/>
            </p:cNvCxnSpPr>
            <p:nvPr/>
          </p:nvCxnSpPr>
          <p:spPr>
            <a:xfrm>
              <a:off x="7497815" y="4484402"/>
              <a:ext cx="361718" cy="0"/>
            </a:xfrm>
            <a:prstGeom prst="line">
              <a:avLst/>
            </a:prstGeom>
            <a:noFill/>
            <a:ln w="15875">
              <a:gradFill>
                <a:gsLst>
                  <a:gs pos="0">
                    <a:srgbClr val="F4364C"/>
                  </a:gs>
                  <a:gs pos="100000">
                    <a:srgbClr val="49C5B1"/>
                  </a:gs>
                  <a:gs pos="80000">
                    <a:srgbClr val="0078D4"/>
                  </a:gs>
                  <a:gs pos="26000">
                    <a:srgbClr val="C03BC4"/>
                  </a:gs>
                </a:gsLst>
                <a:lin ang="10800000" scaled="0"/>
              </a:gradFill>
              <a:headEnd type="oval" w="med" len="med"/>
              <a:tailEnd type="oval" w="lg" len="lg"/>
            </a:ln>
            <a:effectLst/>
          </p:spPr>
          <p:style>
            <a:lnRef idx="1">
              <a:schemeClr val="accent2"/>
            </a:lnRef>
            <a:fillRef idx="3">
              <a:schemeClr val="accent2"/>
            </a:fillRef>
            <a:effectRef idx="2">
              <a:schemeClr val="accent2"/>
            </a:effectRef>
            <a:fontRef idx="minor">
              <a:schemeClr val="lt1"/>
            </a:fontRef>
          </p:style>
        </p:cxnSp>
        <p:grpSp>
          <p:nvGrpSpPr>
            <p:cNvPr id="65" name="Group 64">
              <a:extLst>
                <a:ext uri="{FF2B5EF4-FFF2-40B4-BE49-F238E27FC236}">
                  <a16:creationId xmlns:a16="http://schemas.microsoft.com/office/drawing/2014/main" id="{96D2EAAA-9360-8568-FFEA-D3D34DEDC400}"/>
                </a:ext>
              </a:extLst>
            </p:cNvPr>
            <p:cNvGrpSpPr/>
            <p:nvPr/>
          </p:nvGrpSpPr>
          <p:grpSpPr>
            <a:xfrm>
              <a:off x="7750321" y="4374485"/>
              <a:ext cx="219835" cy="219834"/>
              <a:chOff x="1613419" y="2537559"/>
              <a:chExt cx="339399" cy="339399"/>
            </a:xfrm>
          </p:grpSpPr>
          <p:sp>
            <p:nvSpPr>
              <p:cNvPr id="66" name="Oval 65">
                <a:extLst>
                  <a:ext uri="{FF2B5EF4-FFF2-40B4-BE49-F238E27FC236}">
                    <a16:creationId xmlns:a16="http://schemas.microsoft.com/office/drawing/2014/main" id="{815F1079-05E5-E99B-B2B4-FC92F8F441BC}"/>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67" name="Oval 66">
                <a:extLst>
                  <a:ext uri="{FF2B5EF4-FFF2-40B4-BE49-F238E27FC236}">
                    <a16:creationId xmlns:a16="http://schemas.microsoft.com/office/drawing/2014/main" id="{B40A1A24-36E3-8258-1485-B2BADB7494AB}"/>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grpSp>
    </p:spTree>
    <p:extLst>
      <p:ext uri="{BB962C8B-B14F-4D97-AF65-F5344CB8AC3E}">
        <p14:creationId xmlns:p14="http://schemas.microsoft.com/office/powerpoint/2010/main" val="4631716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42" presetClass="path" presetSubtype="0" decel="100000" fill="hold" grpId="1" nodeType="withEffect">
                                  <p:stCondLst>
                                    <p:cond delay="0"/>
                                  </p:stCondLst>
                                  <p:childTnLst>
                                    <p:animMotion origin="layout" path="M 0 -2.59259E-6 L 0 0.03542 " pathEditMode="relative" rAng="0" ptsTypes="AA">
                                      <p:cBhvr>
                                        <p:cTn id="9" dur="700" spd="-100000" fill="hold"/>
                                        <p:tgtEl>
                                          <p:spTgt spid="10"/>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42" presetClass="path" presetSubtype="0" decel="100000" fill="hold" grpId="1" nodeType="withEffect">
                                  <p:stCondLst>
                                    <p:cond delay="0"/>
                                  </p:stCondLst>
                                  <p:childTnLst>
                                    <p:animMotion origin="layout" path="M 0 -2.59259E-6 L 0 0.03542 " pathEditMode="relative" rAng="0" ptsTypes="AA">
                                      <p:cBhvr>
                                        <p:cTn id="14" dur="700" spd="-100000" fill="hold"/>
                                        <p:tgtEl>
                                          <p:spTgt spid="17"/>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42" presetClass="path" presetSubtype="0" decel="100000" fill="hold" grpId="1" nodeType="withEffect">
                                  <p:stCondLst>
                                    <p:cond delay="0"/>
                                  </p:stCondLst>
                                  <p:childTnLst>
                                    <p:animMotion origin="layout" path="M 0 -2.59259E-6 L 0 0.03542 " pathEditMode="relative" rAng="0" ptsTypes="AA">
                                      <p:cBhvr>
                                        <p:cTn id="19" dur="700" spd="-100000" fill="hold"/>
                                        <p:tgtEl>
                                          <p:spTgt spid="7"/>
                                        </p:tgtEl>
                                        <p:attrNameLst>
                                          <p:attrName>ppt_x</p:attrName>
                                          <p:attrName>ppt_y</p:attrName>
                                        </p:attrNameLst>
                                      </p:cBhvr>
                                      <p:rCtr x="0" y="1759"/>
                                    </p:animMotion>
                                  </p:childTnLst>
                                </p:cTn>
                              </p:par>
                              <p:par>
                                <p:cTn id="20" presetID="10"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42" presetClass="path" presetSubtype="0" decel="100000" fill="hold" nodeType="withEffect">
                                  <p:stCondLst>
                                    <p:cond delay="0"/>
                                  </p:stCondLst>
                                  <p:childTnLst>
                                    <p:animMotion origin="layout" path="M -3.33333E-6 -4.07407E-6 L -3.33333E-6 0.03542 " pathEditMode="relative" rAng="0" ptsTypes="AA">
                                      <p:cBhvr>
                                        <p:cTn id="24" dur="700" spd="-100000" fill="hold"/>
                                        <p:tgtEl>
                                          <p:spTgt spid="22"/>
                                        </p:tgtEl>
                                        <p:attrNameLst>
                                          <p:attrName>ppt_x</p:attrName>
                                          <p:attrName>ppt_y</p:attrName>
                                        </p:attrNameLst>
                                      </p:cBhvr>
                                      <p:rCtr x="0" y="1759"/>
                                    </p:animMotion>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87"/>
                                        </p:tgtEl>
                                        <p:attrNameLst>
                                          <p:attrName>style.visibility</p:attrName>
                                        </p:attrNameLst>
                                      </p:cBhvr>
                                      <p:to>
                                        <p:strVal val="visible"/>
                                      </p:to>
                                    </p:set>
                                    <p:animEffect transition="in" filter="fade">
                                      <p:cBhvr>
                                        <p:cTn id="29" dur="500"/>
                                        <p:tgtEl>
                                          <p:spTgt spid="87"/>
                                        </p:tgtEl>
                                      </p:cBhvr>
                                    </p:animEffect>
                                  </p:childTnLst>
                                </p:cTn>
                              </p:par>
                              <p:par>
                                <p:cTn id="30" presetID="42" presetClass="path" presetSubtype="0" decel="100000" fill="hold" nodeType="withEffect">
                                  <p:stCondLst>
                                    <p:cond delay="0"/>
                                  </p:stCondLst>
                                  <p:childTnLst>
                                    <p:animMotion origin="layout" path="M 0 -2.59259E-6 L 0 0.03542 " pathEditMode="relative" rAng="0" ptsTypes="AA">
                                      <p:cBhvr>
                                        <p:cTn id="31" dur="700" spd="-100000" fill="hold"/>
                                        <p:tgtEl>
                                          <p:spTgt spid="87"/>
                                        </p:tgtEl>
                                        <p:attrNameLst>
                                          <p:attrName>ppt_x</p:attrName>
                                          <p:attrName>ppt_y</p:attrName>
                                        </p:attrNameLst>
                                      </p:cBhvr>
                                      <p:rCtr x="0" y="1759"/>
                                    </p:animMotion>
                                  </p:childTnLst>
                                </p:cTn>
                              </p:par>
                              <p:par>
                                <p:cTn id="32" presetID="10" presetClass="entr" presetSubtype="0" fill="hold" grpId="0" nodeType="withEffect">
                                  <p:stCondLst>
                                    <p:cond delay="0"/>
                                  </p:stCondLst>
                                  <p:childTnLst>
                                    <p:set>
                                      <p:cBhvr>
                                        <p:cTn id="33" dur="1" fill="hold">
                                          <p:stCondLst>
                                            <p:cond delay="0"/>
                                          </p:stCondLst>
                                        </p:cTn>
                                        <p:tgtEl>
                                          <p:spTgt spid="69"/>
                                        </p:tgtEl>
                                        <p:attrNameLst>
                                          <p:attrName>style.visibility</p:attrName>
                                        </p:attrNameLst>
                                      </p:cBhvr>
                                      <p:to>
                                        <p:strVal val="visible"/>
                                      </p:to>
                                    </p:set>
                                    <p:animEffect transition="in" filter="fade">
                                      <p:cBhvr>
                                        <p:cTn id="34" dur="500"/>
                                        <p:tgtEl>
                                          <p:spTgt spid="69"/>
                                        </p:tgtEl>
                                      </p:cBhvr>
                                    </p:animEffect>
                                  </p:childTnLst>
                                </p:cTn>
                              </p:par>
                              <p:par>
                                <p:cTn id="35" presetID="42" presetClass="path" presetSubtype="0" decel="100000" fill="hold" grpId="1" nodeType="withEffect">
                                  <p:stCondLst>
                                    <p:cond delay="0"/>
                                  </p:stCondLst>
                                  <p:childTnLst>
                                    <p:animMotion origin="layout" path="M 0 -2.59259E-6 L 0 0.03542 " pathEditMode="relative" rAng="0" ptsTypes="AA">
                                      <p:cBhvr>
                                        <p:cTn id="36" dur="700" spd="-100000" fill="hold"/>
                                        <p:tgtEl>
                                          <p:spTgt spid="69"/>
                                        </p:tgtEl>
                                        <p:attrNameLst>
                                          <p:attrName>ppt_x</p:attrName>
                                          <p:attrName>ppt_y</p:attrName>
                                        </p:attrNameLst>
                                      </p:cBhvr>
                                      <p:rCtr x="0" y="1759"/>
                                    </p:animMotion>
                                  </p:childTnLst>
                                </p:cTn>
                              </p:par>
                              <p:par>
                                <p:cTn id="37" presetID="10"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par>
                                <p:cTn id="40" presetID="42" presetClass="path" presetSubtype="0" decel="100000" fill="hold" grpId="1" nodeType="withEffect">
                                  <p:stCondLst>
                                    <p:cond delay="0"/>
                                  </p:stCondLst>
                                  <p:childTnLst>
                                    <p:animMotion origin="layout" path="M 0 -2.59259E-6 L 0 0.03542 " pathEditMode="relative" rAng="0" ptsTypes="AA">
                                      <p:cBhvr>
                                        <p:cTn id="41" dur="700" spd="-100000" fill="hold"/>
                                        <p:tgtEl>
                                          <p:spTgt spid="11"/>
                                        </p:tgtEl>
                                        <p:attrNameLst>
                                          <p:attrName>ppt_x</p:attrName>
                                          <p:attrName>ppt_y</p:attrName>
                                        </p:attrNameLst>
                                      </p:cBhvr>
                                      <p:rCtr x="0" y="1759"/>
                                    </p:animMotion>
                                  </p:childTnLst>
                                </p:cTn>
                              </p:par>
                              <p:par>
                                <p:cTn id="42" presetID="10" presetClass="entr" presetSubtype="0" fill="hold" grpId="0" nodeType="withEffect">
                                  <p:stCondLst>
                                    <p:cond delay="0"/>
                                  </p:stCondLst>
                                  <p:childTnLst>
                                    <p:set>
                                      <p:cBhvr>
                                        <p:cTn id="43" dur="1" fill="hold">
                                          <p:stCondLst>
                                            <p:cond delay="0"/>
                                          </p:stCondLst>
                                        </p:cTn>
                                        <p:tgtEl>
                                          <p:spTgt spid="68"/>
                                        </p:tgtEl>
                                        <p:attrNameLst>
                                          <p:attrName>style.visibility</p:attrName>
                                        </p:attrNameLst>
                                      </p:cBhvr>
                                      <p:to>
                                        <p:strVal val="visible"/>
                                      </p:to>
                                    </p:set>
                                    <p:animEffect transition="in" filter="fade">
                                      <p:cBhvr>
                                        <p:cTn id="44" dur="500"/>
                                        <p:tgtEl>
                                          <p:spTgt spid="68"/>
                                        </p:tgtEl>
                                      </p:cBhvr>
                                    </p:animEffect>
                                  </p:childTnLst>
                                </p:cTn>
                              </p:par>
                              <p:par>
                                <p:cTn id="45" presetID="42" presetClass="path" presetSubtype="0" decel="100000" fill="hold" grpId="1" nodeType="withEffect">
                                  <p:stCondLst>
                                    <p:cond delay="0"/>
                                  </p:stCondLst>
                                  <p:childTnLst>
                                    <p:animMotion origin="layout" path="M 0 -2.59259E-6 L 0 0.03542 " pathEditMode="relative" rAng="0" ptsTypes="AA">
                                      <p:cBhvr>
                                        <p:cTn id="46" dur="700" spd="-100000" fill="hold"/>
                                        <p:tgtEl>
                                          <p:spTgt spid="68"/>
                                        </p:tgtEl>
                                        <p:attrNameLst>
                                          <p:attrName>ppt_x</p:attrName>
                                          <p:attrName>ppt_y</p:attrName>
                                        </p:attrNameLst>
                                      </p:cBhvr>
                                      <p:rCtr x="0" y="1759"/>
                                    </p:animMotion>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88"/>
                                        </p:tgtEl>
                                        <p:attrNameLst>
                                          <p:attrName>style.visibility</p:attrName>
                                        </p:attrNameLst>
                                      </p:cBhvr>
                                      <p:to>
                                        <p:strVal val="visible"/>
                                      </p:to>
                                    </p:set>
                                    <p:animEffect transition="in" filter="fade">
                                      <p:cBhvr>
                                        <p:cTn id="51" dur="500"/>
                                        <p:tgtEl>
                                          <p:spTgt spid="88"/>
                                        </p:tgtEl>
                                      </p:cBhvr>
                                    </p:animEffect>
                                  </p:childTnLst>
                                </p:cTn>
                              </p:par>
                              <p:par>
                                <p:cTn id="52" presetID="42" presetClass="path" presetSubtype="0" decel="100000" fill="hold" nodeType="withEffect">
                                  <p:stCondLst>
                                    <p:cond delay="0"/>
                                  </p:stCondLst>
                                  <p:childTnLst>
                                    <p:animMotion origin="layout" path="M -1.04167E-6 -4.81481E-6 L -1.04167E-6 0.03542 " pathEditMode="relative" rAng="0" ptsTypes="AA">
                                      <p:cBhvr>
                                        <p:cTn id="53" dur="700" spd="-100000" fill="hold"/>
                                        <p:tgtEl>
                                          <p:spTgt spid="88"/>
                                        </p:tgtEl>
                                        <p:attrNameLst>
                                          <p:attrName>ppt_x</p:attrName>
                                          <p:attrName>ppt_y</p:attrName>
                                        </p:attrNameLst>
                                      </p:cBhvr>
                                      <p:rCtr x="0" y="1759"/>
                                    </p:animMotion>
                                  </p:childTnLst>
                                </p:cTn>
                              </p:par>
                              <p:par>
                                <p:cTn id="54" presetID="10"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childTnLst>
                                </p:cTn>
                              </p:par>
                              <p:par>
                                <p:cTn id="57" presetID="42" presetClass="path" presetSubtype="0" decel="100000" fill="hold" grpId="1" nodeType="withEffect">
                                  <p:stCondLst>
                                    <p:cond delay="0"/>
                                  </p:stCondLst>
                                  <p:childTnLst>
                                    <p:animMotion origin="layout" path="M 0 -2.59259E-6 L 0 0.03542 " pathEditMode="relative" rAng="0" ptsTypes="AA">
                                      <p:cBhvr>
                                        <p:cTn id="58" dur="700" spd="-100000" fill="hold"/>
                                        <p:tgtEl>
                                          <p:spTgt spid="12"/>
                                        </p:tgtEl>
                                        <p:attrNameLst>
                                          <p:attrName>ppt_x</p:attrName>
                                          <p:attrName>ppt_y</p:attrName>
                                        </p:attrNameLst>
                                      </p:cBhvr>
                                      <p:rCtr x="0" y="1759"/>
                                    </p:animMotion>
                                  </p:childTnLst>
                                </p:cTn>
                              </p:par>
                              <p:par>
                                <p:cTn id="59" presetID="10" presetClass="entr" presetSubtype="0"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500"/>
                                        <p:tgtEl>
                                          <p:spTgt spid="18"/>
                                        </p:tgtEl>
                                      </p:cBhvr>
                                    </p:animEffect>
                                  </p:childTnLst>
                                </p:cTn>
                              </p:par>
                              <p:par>
                                <p:cTn id="62" presetID="42" presetClass="path" presetSubtype="0" decel="100000" fill="hold" grpId="1" nodeType="withEffect">
                                  <p:stCondLst>
                                    <p:cond delay="0"/>
                                  </p:stCondLst>
                                  <p:childTnLst>
                                    <p:animMotion origin="layout" path="M 0 -2.59259E-6 L 0 0.03542 " pathEditMode="relative" rAng="0" ptsTypes="AA">
                                      <p:cBhvr>
                                        <p:cTn id="63" dur="700" spd="-100000" fill="hold"/>
                                        <p:tgtEl>
                                          <p:spTgt spid="18"/>
                                        </p:tgtEl>
                                        <p:attrNameLst>
                                          <p:attrName>ppt_x</p:attrName>
                                          <p:attrName>ppt_y</p:attrName>
                                        </p:attrNameLst>
                                      </p:cBhvr>
                                      <p:rCtr x="0" y="1759"/>
                                    </p:animMotion>
                                  </p:childTnLst>
                                </p:cTn>
                              </p:par>
                              <p:par>
                                <p:cTn id="64" presetID="10" presetClass="entr" presetSubtype="0" fill="hold" grpId="0" nodeType="with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fade">
                                      <p:cBhvr>
                                        <p:cTn id="66" dur="500"/>
                                        <p:tgtEl>
                                          <p:spTgt spid="70"/>
                                        </p:tgtEl>
                                      </p:cBhvr>
                                    </p:animEffect>
                                  </p:childTnLst>
                                </p:cTn>
                              </p:par>
                              <p:par>
                                <p:cTn id="67" presetID="42" presetClass="path" presetSubtype="0" decel="100000" fill="hold" grpId="1" nodeType="withEffect">
                                  <p:stCondLst>
                                    <p:cond delay="0"/>
                                  </p:stCondLst>
                                  <p:childTnLst>
                                    <p:animMotion origin="layout" path="M 0 -2.59259E-6 L 0 0.03542 " pathEditMode="relative" rAng="0" ptsTypes="AA">
                                      <p:cBhvr>
                                        <p:cTn id="68" dur="700" spd="-100000" fill="hold"/>
                                        <p:tgtEl>
                                          <p:spTgt spid="70"/>
                                        </p:tgtEl>
                                        <p:attrNameLst>
                                          <p:attrName>ppt_x</p:attrName>
                                          <p:attrName>ppt_y</p:attrName>
                                        </p:attrNameLst>
                                      </p:cBhvr>
                                      <p:rCtr x="0" y="1759"/>
                                    </p:animMotion>
                                  </p:childTnLst>
                                </p:cTn>
                              </p:par>
                              <p:par>
                                <p:cTn id="69" presetID="10" presetClass="entr" presetSubtype="0" fill="hold" grpId="0" nodeType="with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fade">
                                      <p:cBhvr>
                                        <p:cTn id="71" dur="500"/>
                                        <p:tgtEl>
                                          <p:spTgt spid="58"/>
                                        </p:tgtEl>
                                      </p:cBhvr>
                                    </p:animEffect>
                                  </p:childTnLst>
                                </p:cTn>
                              </p:par>
                              <p:par>
                                <p:cTn id="72" presetID="42" presetClass="path" presetSubtype="0" decel="100000" fill="hold" grpId="1" nodeType="withEffect">
                                  <p:stCondLst>
                                    <p:cond delay="0"/>
                                  </p:stCondLst>
                                  <p:childTnLst>
                                    <p:animMotion origin="layout" path="M 0 -2.59259E-6 L 0 0.03542 " pathEditMode="relative" rAng="0" ptsTypes="AA">
                                      <p:cBhvr>
                                        <p:cTn id="73" dur="700" spd="-100000" fill="hold"/>
                                        <p:tgtEl>
                                          <p:spTgt spid="58"/>
                                        </p:tgtEl>
                                        <p:attrNameLst>
                                          <p:attrName>ppt_x</p:attrName>
                                          <p:attrName>ppt_y</p:attrName>
                                        </p:attrNameLst>
                                      </p:cBhvr>
                                      <p:rCtr x="0" y="1759"/>
                                    </p:animMotion>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89"/>
                                        </p:tgtEl>
                                        <p:attrNameLst>
                                          <p:attrName>style.visibility</p:attrName>
                                        </p:attrNameLst>
                                      </p:cBhvr>
                                      <p:to>
                                        <p:strVal val="visible"/>
                                      </p:to>
                                    </p:set>
                                    <p:animEffect transition="in" filter="fade">
                                      <p:cBhvr>
                                        <p:cTn id="78" dur="500"/>
                                        <p:tgtEl>
                                          <p:spTgt spid="89"/>
                                        </p:tgtEl>
                                      </p:cBhvr>
                                    </p:animEffect>
                                  </p:childTnLst>
                                </p:cTn>
                              </p:par>
                              <p:par>
                                <p:cTn id="79" presetID="42" presetClass="path" presetSubtype="0" decel="100000" fill="hold" nodeType="withEffect">
                                  <p:stCondLst>
                                    <p:cond delay="0"/>
                                  </p:stCondLst>
                                  <p:childTnLst>
                                    <p:animMotion origin="layout" path="M -1.04167E-6 -4.81481E-6 L -1.04167E-6 0.03542 " pathEditMode="relative" rAng="0" ptsTypes="AA">
                                      <p:cBhvr>
                                        <p:cTn id="80" dur="700" spd="-100000" fill="hold"/>
                                        <p:tgtEl>
                                          <p:spTgt spid="89"/>
                                        </p:tgtEl>
                                        <p:attrNameLst>
                                          <p:attrName>ppt_x</p:attrName>
                                          <p:attrName>ppt_y</p:attrName>
                                        </p:attrNameLst>
                                      </p:cBhvr>
                                      <p:rCtr x="0" y="1759"/>
                                    </p:animMotion>
                                  </p:childTnLst>
                                </p:cTn>
                              </p:par>
                              <p:par>
                                <p:cTn id="81" presetID="10" presetClass="entr" presetSubtype="0" fill="hold" nodeType="withEffect">
                                  <p:stCondLst>
                                    <p:cond delay="0"/>
                                  </p:stCondLst>
                                  <p:childTnLst>
                                    <p:set>
                                      <p:cBhvr>
                                        <p:cTn id="82" dur="1" fill="hold">
                                          <p:stCondLst>
                                            <p:cond delay="0"/>
                                          </p:stCondLst>
                                        </p:cTn>
                                        <p:tgtEl>
                                          <p:spTgt spid="90"/>
                                        </p:tgtEl>
                                        <p:attrNameLst>
                                          <p:attrName>style.visibility</p:attrName>
                                        </p:attrNameLst>
                                      </p:cBhvr>
                                      <p:to>
                                        <p:strVal val="visible"/>
                                      </p:to>
                                    </p:set>
                                    <p:animEffect transition="in" filter="fade">
                                      <p:cBhvr>
                                        <p:cTn id="83" dur="500"/>
                                        <p:tgtEl>
                                          <p:spTgt spid="90"/>
                                        </p:tgtEl>
                                      </p:cBhvr>
                                    </p:animEffect>
                                  </p:childTnLst>
                                </p:cTn>
                              </p:par>
                              <p:par>
                                <p:cTn id="84" presetID="42" presetClass="path" presetSubtype="0" decel="100000" fill="hold" nodeType="withEffect">
                                  <p:stCondLst>
                                    <p:cond delay="0"/>
                                  </p:stCondLst>
                                  <p:childTnLst>
                                    <p:animMotion origin="layout" path="M 0 -2.59259E-6 L 0 0.03542 " pathEditMode="relative" rAng="0" ptsTypes="AA">
                                      <p:cBhvr>
                                        <p:cTn id="85" dur="700" spd="-100000" fill="hold"/>
                                        <p:tgtEl>
                                          <p:spTgt spid="90"/>
                                        </p:tgtEl>
                                        <p:attrNameLst>
                                          <p:attrName>ppt_x</p:attrName>
                                          <p:attrName>ppt_y</p:attrName>
                                        </p:attrNameLst>
                                      </p:cBhvr>
                                      <p:rCtr x="0" y="1759"/>
                                    </p:animMotion>
                                  </p:childTnLst>
                                </p:cTn>
                              </p:par>
                              <p:par>
                                <p:cTn id="86" presetID="10" presetClass="entr" presetSubtype="0" fill="hold" grpId="0" nodeType="withEffect">
                                  <p:stCondLst>
                                    <p:cond delay="0"/>
                                  </p:stCondLst>
                                  <p:childTnLst>
                                    <p:set>
                                      <p:cBhvr>
                                        <p:cTn id="87" dur="1" fill="hold">
                                          <p:stCondLst>
                                            <p:cond delay="0"/>
                                          </p:stCondLst>
                                        </p:cTn>
                                        <p:tgtEl>
                                          <p:spTgt spid="8"/>
                                        </p:tgtEl>
                                        <p:attrNameLst>
                                          <p:attrName>style.visibility</p:attrName>
                                        </p:attrNameLst>
                                      </p:cBhvr>
                                      <p:to>
                                        <p:strVal val="visible"/>
                                      </p:to>
                                    </p:set>
                                    <p:animEffect transition="in" filter="fade">
                                      <p:cBhvr>
                                        <p:cTn id="88" dur="500"/>
                                        <p:tgtEl>
                                          <p:spTgt spid="8"/>
                                        </p:tgtEl>
                                      </p:cBhvr>
                                    </p:animEffect>
                                  </p:childTnLst>
                                </p:cTn>
                              </p:par>
                              <p:par>
                                <p:cTn id="89" presetID="42" presetClass="path" presetSubtype="0" decel="100000" fill="hold" grpId="1" nodeType="withEffect">
                                  <p:stCondLst>
                                    <p:cond delay="0"/>
                                  </p:stCondLst>
                                  <p:childTnLst>
                                    <p:animMotion origin="layout" path="M 0 -2.59259E-6 L 0 0.03542 " pathEditMode="relative" rAng="0" ptsTypes="AA">
                                      <p:cBhvr>
                                        <p:cTn id="90" dur="700" spd="-100000" fill="hold"/>
                                        <p:tgtEl>
                                          <p:spTgt spid="8"/>
                                        </p:tgtEl>
                                        <p:attrNameLst>
                                          <p:attrName>ppt_x</p:attrName>
                                          <p:attrName>ppt_y</p:attrName>
                                        </p:attrNameLst>
                                      </p:cBhvr>
                                      <p:rCtr x="0" y="1759"/>
                                    </p:animMotion>
                                  </p:childTnLst>
                                </p:cTn>
                              </p:par>
                              <p:par>
                                <p:cTn id="91" presetID="10" presetClass="entr" presetSubtype="0" fill="hold" grpId="0" nodeType="with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childTnLst>
                                </p:cTn>
                              </p:par>
                              <p:par>
                                <p:cTn id="94" presetID="42" presetClass="path" presetSubtype="0" decel="100000" fill="hold" grpId="1" nodeType="withEffect">
                                  <p:stCondLst>
                                    <p:cond delay="0"/>
                                  </p:stCondLst>
                                  <p:childTnLst>
                                    <p:animMotion origin="layout" path="M 0 -2.59259E-6 L 0 0.03542 " pathEditMode="relative" rAng="0" ptsTypes="AA">
                                      <p:cBhvr>
                                        <p:cTn id="95" dur="700" spd="-100000" fill="hold"/>
                                        <p:tgtEl>
                                          <p:spTgt spid="24"/>
                                        </p:tgtEl>
                                        <p:attrNameLst>
                                          <p:attrName>ppt_x</p:attrName>
                                          <p:attrName>ppt_y</p:attrName>
                                        </p:attrNameLst>
                                      </p:cBhvr>
                                      <p:rCtr x="0" y="1759"/>
                                    </p:animMotion>
                                  </p:childTnLst>
                                </p:cTn>
                              </p:par>
                              <p:par>
                                <p:cTn id="96" presetID="10" presetClass="entr" presetSubtype="0" fill="hold" grpId="0" nodeType="withEffect">
                                  <p:stCondLst>
                                    <p:cond delay="0"/>
                                  </p:stCondLst>
                                  <p:childTnLst>
                                    <p:set>
                                      <p:cBhvr>
                                        <p:cTn id="97" dur="1" fill="hold">
                                          <p:stCondLst>
                                            <p:cond delay="0"/>
                                          </p:stCondLst>
                                        </p:cTn>
                                        <p:tgtEl>
                                          <p:spTgt spid="6"/>
                                        </p:tgtEl>
                                        <p:attrNameLst>
                                          <p:attrName>style.visibility</p:attrName>
                                        </p:attrNameLst>
                                      </p:cBhvr>
                                      <p:to>
                                        <p:strVal val="visible"/>
                                      </p:to>
                                    </p:set>
                                    <p:animEffect transition="in" filter="fade">
                                      <p:cBhvr>
                                        <p:cTn id="98" dur="500"/>
                                        <p:tgtEl>
                                          <p:spTgt spid="6"/>
                                        </p:tgtEl>
                                      </p:cBhvr>
                                    </p:animEffect>
                                  </p:childTnLst>
                                </p:cTn>
                              </p:par>
                              <p:par>
                                <p:cTn id="99" presetID="42" presetClass="path" presetSubtype="0" decel="100000" fill="hold" grpId="1" nodeType="withEffect">
                                  <p:stCondLst>
                                    <p:cond delay="0"/>
                                  </p:stCondLst>
                                  <p:childTnLst>
                                    <p:animMotion origin="layout" path="M 0 -2.59259E-6 L 0 0.03542 " pathEditMode="relative" rAng="0" ptsTypes="AA">
                                      <p:cBhvr>
                                        <p:cTn id="100" dur="700" spd="-100000" fill="hold"/>
                                        <p:tgtEl>
                                          <p:spTgt spid="6"/>
                                        </p:tgtEl>
                                        <p:attrNameLst>
                                          <p:attrName>ppt_x</p:attrName>
                                          <p:attrName>ppt_y</p:attrName>
                                        </p:attrNameLst>
                                      </p:cBhvr>
                                      <p:rCtr x="0" y="1759"/>
                                    </p:animMotion>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91"/>
                                        </p:tgtEl>
                                        <p:attrNameLst>
                                          <p:attrName>style.visibility</p:attrName>
                                        </p:attrNameLst>
                                      </p:cBhvr>
                                      <p:to>
                                        <p:strVal val="visible"/>
                                      </p:to>
                                    </p:set>
                                    <p:animEffect transition="in" filter="fade">
                                      <p:cBhvr>
                                        <p:cTn id="105" dur="500"/>
                                        <p:tgtEl>
                                          <p:spTgt spid="91"/>
                                        </p:tgtEl>
                                      </p:cBhvr>
                                    </p:animEffect>
                                  </p:childTnLst>
                                </p:cTn>
                              </p:par>
                              <p:par>
                                <p:cTn id="106" presetID="42" presetClass="path" presetSubtype="0" decel="100000" fill="hold" nodeType="withEffect">
                                  <p:stCondLst>
                                    <p:cond delay="0"/>
                                  </p:stCondLst>
                                  <p:childTnLst>
                                    <p:animMotion origin="layout" path="M 0 -2.59259E-6 L 0 0.03542 " pathEditMode="relative" rAng="0" ptsTypes="AA">
                                      <p:cBhvr>
                                        <p:cTn id="107" dur="700" spd="-100000" fill="hold"/>
                                        <p:tgtEl>
                                          <p:spTgt spid="91"/>
                                        </p:tgtEl>
                                        <p:attrNameLst>
                                          <p:attrName>ppt_x</p:attrName>
                                          <p:attrName>ppt_y</p:attrName>
                                        </p:attrNameLst>
                                      </p:cBhvr>
                                      <p:rCtr x="0" y="1759"/>
                                    </p:animMotion>
                                  </p:childTnLst>
                                </p:cTn>
                              </p:par>
                              <p:par>
                                <p:cTn id="108" presetID="10" presetClass="entr" presetSubtype="0" fill="hold" grpId="0" nodeType="withEffect">
                                  <p:stCondLst>
                                    <p:cond delay="0"/>
                                  </p:stCondLst>
                                  <p:childTnLst>
                                    <p:set>
                                      <p:cBhvr>
                                        <p:cTn id="109" dur="1" fill="hold">
                                          <p:stCondLst>
                                            <p:cond delay="0"/>
                                          </p:stCondLst>
                                        </p:cTn>
                                        <p:tgtEl>
                                          <p:spTgt spid="9"/>
                                        </p:tgtEl>
                                        <p:attrNameLst>
                                          <p:attrName>style.visibility</p:attrName>
                                        </p:attrNameLst>
                                      </p:cBhvr>
                                      <p:to>
                                        <p:strVal val="visible"/>
                                      </p:to>
                                    </p:set>
                                    <p:animEffect transition="in" filter="fade">
                                      <p:cBhvr>
                                        <p:cTn id="110" dur="500"/>
                                        <p:tgtEl>
                                          <p:spTgt spid="9"/>
                                        </p:tgtEl>
                                      </p:cBhvr>
                                    </p:animEffect>
                                  </p:childTnLst>
                                </p:cTn>
                              </p:par>
                              <p:par>
                                <p:cTn id="111" presetID="42" presetClass="path" presetSubtype="0" decel="100000" fill="hold" grpId="1" nodeType="withEffect">
                                  <p:stCondLst>
                                    <p:cond delay="0"/>
                                  </p:stCondLst>
                                  <p:childTnLst>
                                    <p:animMotion origin="layout" path="M 0 -2.59259E-6 L 0 0.03542 " pathEditMode="relative" rAng="0" ptsTypes="AA">
                                      <p:cBhvr>
                                        <p:cTn id="112" dur="700" spd="-100000" fill="hold"/>
                                        <p:tgtEl>
                                          <p:spTgt spid="9"/>
                                        </p:tgtEl>
                                        <p:attrNameLst>
                                          <p:attrName>ppt_x</p:attrName>
                                          <p:attrName>ppt_y</p:attrName>
                                        </p:attrNameLst>
                                      </p:cBhvr>
                                      <p:rCtr x="0" y="1759"/>
                                    </p:animMotion>
                                  </p:childTnLst>
                                </p:cTn>
                              </p:par>
                              <p:par>
                                <p:cTn id="113" presetID="10" presetClass="entr" presetSubtype="0" fill="hold" nodeType="withEffect">
                                  <p:stCondLst>
                                    <p:cond delay="0"/>
                                  </p:stCondLst>
                                  <p:childTnLst>
                                    <p:set>
                                      <p:cBhvr>
                                        <p:cTn id="114" dur="1" fill="hold">
                                          <p:stCondLst>
                                            <p:cond delay="0"/>
                                          </p:stCondLst>
                                        </p:cTn>
                                        <p:tgtEl>
                                          <p:spTgt spid="35"/>
                                        </p:tgtEl>
                                        <p:attrNameLst>
                                          <p:attrName>style.visibility</p:attrName>
                                        </p:attrNameLst>
                                      </p:cBhvr>
                                      <p:to>
                                        <p:strVal val="visible"/>
                                      </p:to>
                                    </p:set>
                                    <p:animEffect transition="in" filter="fade">
                                      <p:cBhvr>
                                        <p:cTn id="115" dur="500"/>
                                        <p:tgtEl>
                                          <p:spTgt spid="35"/>
                                        </p:tgtEl>
                                      </p:cBhvr>
                                    </p:animEffect>
                                  </p:childTnLst>
                                </p:cTn>
                              </p:par>
                              <p:par>
                                <p:cTn id="116" presetID="42" presetClass="path" presetSubtype="0" decel="100000" fill="hold" nodeType="withEffect">
                                  <p:stCondLst>
                                    <p:cond delay="0"/>
                                  </p:stCondLst>
                                  <p:childTnLst>
                                    <p:animMotion origin="layout" path="M 3.125E-6 -3.7037E-6 L 3.125E-6 0.03542 " pathEditMode="relative" rAng="0" ptsTypes="AA">
                                      <p:cBhvr>
                                        <p:cTn id="117" dur="700" spd="-100000" fill="hold"/>
                                        <p:tgtEl>
                                          <p:spTgt spid="35"/>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7" grpId="0" animBg="1"/>
      <p:bldP spid="7" grpId="1" animBg="1"/>
      <p:bldP spid="10" grpId="0" animBg="1"/>
      <p:bldP spid="10" grpId="1" animBg="1"/>
      <p:bldP spid="17" grpId="0"/>
      <p:bldP spid="17" grpId="1"/>
      <p:bldP spid="11" grpId="0" animBg="1"/>
      <p:bldP spid="11" grpId="1" animBg="1"/>
      <p:bldP spid="68" grpId="0" animBg="1"/>
      <p:bldP spid="68" grpId="1" animBg="1"/>
      <p:bldP spid="69" grpId="0"/>
      <p:bldP spid="69" grpId="1"/>
      <p:bldP spid="12" grpId="0" animBg="1"/>
      <p:bldP spid="12" grpId="1" animBg="1"/>
      <p:bldP spid="18" grpId="0"/>
      <p:bldP spid="18" grpId="1"/>
      <p:bldP spid="70" grpId="0"/>
      <p:bldP spid="70" grpId="1"/>
      <p:bldP spid="6" grpId="0" animBg="1"/>
      <p:bldP spid="6" grpId="1" animBg="1"/>
      <p:bldP spid="8" grpId="0" animBg="1"/>
      <p:bldP spid="8" grpId="1" animBg="1"/>
      <p:bldP spid="24" grpId="0"/>
      <p:bldP spid="24" grpId="1"/>
      <p:bldP spid="9" grpId="0" animBg="1"/>
      <p:bldP spid="9"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5">
            <a:extLst>
              <a:ext uri="{FF2B5EF4-FFF2-40B4-BE49-F238E27FC236}">
                <a16:creationId xmlns:a16="http://schemas.microsoft.com/office/drawing/2014/main" id="{A46C94AC-BD80-6AA5-545C-28F0DA71E788}"/>
              </a:ext>
              <a:ext uri="{C183D7F6-B498-43B3-948B-1728B52AA6E4}">
                <adec:decorative xmlns:adec="http://schemas.microsoft.com/office/drawing/2017/decorative" val="1"/>
              </a:ext>
            </a:extLst>
          </p:cNvPr>
          <p:cNvSpPr/>
          <p:nvPr/>
        </p:nvSpPr>
        <p:spPr bwMode="auto">
          <a:xfrm>
            <a:off x="6432312" y="4192348"/>
            <a:ext cx="5171424" cy="2208452"/>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4" name="Title 3">
            <a:extLst>
              <a:ext uri="{FF2B5EF4-FFF2-40B4-BE49-F238E27FC236}">
                <a16:creationId xmlns:a16="http://schemas.microsoft.com/office/drawing/2014/main" id="{383D1D9D-C909-9A91-BADA-BFE95604E322}"/>
              </a:ext>
            </a:extLst>
          </p:cNvPr>
          <p:cNvSpPr>
            <a:spLocks noGrp="1"/>
          </p:cNvSpPr>
          <p:nvPr>
            <p:ph type="title"/>
          </p:nvPr>
        </p:nvSpPr>
        <p:spPr/>
        <p:txBody>
          <a:bodyPr/>
          <a:lstStyle/>
          <a:p>
            <a:r>
              <a:rPr lang="en-US"/>
              <a:t>RAG on Documents </a:t>
            </a:r>
          </a:p>
        </p:txBody>
      </p:sp>
      <p:sp>
        <p:nvSpPr>
          <p:cNvPr id="5" name="TextBox 4">
            <a:extLst>
              <a:ext uri="{FF2B5EF4-FFF2-40B4-BE49-F238E27FC236}">
                <a16:creationId xmlns:a16="http://schemas.microsoft.com/office/drawing/2014/main" id="{C11754F1-27B5-2967-F5E0-E38C3F0BC8B1}"/>
              </a:ext>
            </a:extLst>
          </p:cNvPr>
          <p:cNvSpPr txBox="1"/>
          <p:nvPr/>
        </p:nvSpPr>
        <p:spPr>
          <a:xfrm>
            <a:off x="4820863" y="505619"/>
            <a:ext cx="1111695" cy="457200"/>
          </a:xfrm>
          <a:prstGeom prst="roundRect">
            <a:avLst>
              <a:gd name="adj" fmla="val 39099"/>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defPPr>
              <a:defRPr lang="en-US"/>
            </a:defPPr>
            <a:lvl1pPr algn="ctr" defTabSz="914400" fontAlgn="base">
              <a:spcBef>
                <a:spcPct val="0"/>
              </a:spcBef>
              <a:spcAft>
                <a:spcPct val="0"/>
              </a:spcAft>
              <a:defRPr sz="18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atin typeface="Segoe UI Semibold" panose="020F0502020204030204" pitchFamily="34" charset="0"/>
              </a:rPr>
              <a:t>DEMO</a:t>
            </a:r>
          </a:p>
        </p:txBody>
      </p:sp>
      <p:pic>
        <p:nvPicPr>
          <p:cNvPr id="2" name="Picture 1" descr="A screenshot of a chat">
            <a:extLst>
              <a:ext uri="{FF2B5EF4-FFF2-40B4-BE49-F238E27FC236}">
                <a16:creationId xmlns:a16="http://schemas.microsoft.com/office/drawing/2014/main" id="{F0FA4DFF-3570-719F-CF5F-1CE723E821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9" b="25382"/>
          <a:stretch/>
        </p:blipFill>
        <p:spPr bwMode="auto">
          <a:xfrm>
            <a:off x="588264" y="1344051"/>
            <a:ext cx="6092180" cy="4883813"/>
          </a:xfrm>
          <a:prstGeom prst="roundRect">
            <a:avLst>
              <a:gd name="adj" fmla="val 3191"/>
            </a:avLst>
          </a:prstGeom>
          <a:gradFill flip="none" rotWithShape="1">
            <a:gsLst>
              <a:gs pos="79000">
                <a:srgbClr val="F4364C"/>
              </a:gs>
              <a:gs pos="0">
                <a:srgbClr val="8661C5"/>
              </a:gs>
            </a:gsLst>
            <a:path path="circle">
              <a:fillToRect l="100000" t="100000"/>
            </a:path>
            <a:tileRect r="-100000" b="-100000"/>
          </a:gradFill>
          <a:ln w="6350" cap="flat">
            <a:solidFill>
              <a:srgbClr val="BFBFBF"/>
            </a:solidFill>
            <a:prstDash val="solid"/>
            <a:miter/>
          </a:ln>
          <a:effectLst>
            <a:outerShdw blurRad="63500" dist="63500" dir="2700000" algn="tl" rotWithShape="0">
              <a:srgbClr val="454142">
                <a:alpha val="20000"/>
              </a:srgbClr>
            </a:outerShdw>
          </a:effectLst>
        </p:spPr>
      </p:pic>
      <p:sp>
        <p:nvSpPr>
          <p:cNvPr id="6" name="TextBox 5">
            <a:extLst>
              <a:ext uri="{FF2B5EF4-FFF2-40B4-BE49-F238E27FC236}">
                <a16:creationId xmlns:a16="http://schemas.microsoft.com/office/drawing/2014/main" id="{458A251A-34F7-9E0F-9CE1-2E2CF4520D4A}"/>
              </a:ext>
            </a:extLst>
          </p:cNvPr>
          <p:cNvSpPr txBox="1"/>
          <p:nvPr/>
        </p:nvSpPr>
        <p:spPr>
          <a:xfrm>
            <a:off x="6960564" y="2813447"/>
            <a:ext cx="4220420" cy="1231106"/>
          </a:xfrm>
          <a:prstGeom prst="rect">
            <a:avLst/>
          </a:prstGeom>
          <a:noFill/>
        </p:spPr>
        <p:txBody>
          <a:bodyPr wrap="square" lIns="90000" tIns="0" rIns="90000" bIns="0" rtlCol="0">
            <a:spAutoFit/>
          </a:bodyPr>
          <a:lstStyle/>
          <a:p>
            <a:pPr algn="l"/>
            <a:endParaRPr lang="en-US" sz="1600"/>
          </a:p>
          <a:p>
            <a:pPr algn="l"/>
            <a:r>
              <a:rPr lang="en-US" sz="1600"/>
              <a:t>Azure OpenAI +</a:t>
            </a:r>
          </a:p>
          <a:p>
            <a:pPr algn="l"/>
            <a:r>
              <a:rPr lang="en-US" sz="1600"/>
              <a:t>Azure AI Search +</a:t>
            </a:r>
          </a:p>
          <a:p>
            <a:pPr algn="l"/>
            <a:r>
              <a:rPr lang="en-US" sz="1600"/>
              <a:t>Azure App Service</a:t>
            </a:r>
          </a:p>
          <a:p>
            <a:pPr algn="l"/>
            <a:endParaRPr lang="en-US" sz="1600"/>
          </a:p>
        </p:txBody>
      </p:sp>
      <p:sp>
        <p:nvSpPr>
          <p:cNvPr id="8" name="TextBox 7">
            <a:extLst>
              <a:ext uri="{FF2B5EF4-FFF2-40B4-BE49-F238E27FC236}">
                <a16:creationId xmlns:a16="http://schemas.microsoft.com/office/drawing/2014/main" id="{58F94C4D-7675-657F-6C59-E164429F7ABB}"/>
              </a:ext>
            </a:extLst>
          </p:cNvPr>
          <p:cNvSpPr txBox="1"/>
          <p:nvPr/>
        </p:nvSpPr>
        <p:spPr>
          <a:xfrm>
            <a:off x="6960564" y="4427688"/>
            <a:ext cx="4134678" cy="1723549"/>
          </a:xfrm>
          <a:prstGeom prst="rect">
            <a:avLst/>
          </a:prstGeom>
          <a:noFill/>
        </p:spPr>
        <p:txBody>
          <a:bodyPr wrap="square">
            <a:spAutoFit/>
          </a:bodyPr>
          <a:lstStyle/>
          <a:p>
            <a:pPr algn="l"/>
            <a:r>
              <a:rPr lang="en-US" sz="2400">
                <a:latin typeface="+mj-lt"/>
              </a:rPr>
              <a:t>Code:</a:t>
            </a:r>
          </a:p>
          <a:p>
            <a:pPr algn="l"/>
            <a:r>
              <a:rPr lang="en-US" sz="2400" err="1">
                <a:solidFill>
                  <a:schemeClr val="accent2"/>
                </a:solidFill>
                <a:hlinkClick r:id="rId4">
                  <a:extLst>
                    <a:ext uri="{A12FA001-AC4F-418D-AE19-62706E023703}">
                      <ahyp:hlinkClr xmlns:ahyp="http://schemas.microsoft.com/office/drawing/2018/hyperlinkcolor" val="tx"/>
                    </a:ext>
                  </a:extLst>
                </a:hlinkClick>
              </a:rPr>
              <a:t>aka.ms</a:t>
            </a:r>
            <a:r>
              <a:rPr lang="en-US" sz="2400">
                <a:solidFill>
                  <a:schemeClr val="accent2"/>
                </a:solidFill>
                <a:hlinkClick r:id="rId4">
                  <a:extLst>
                    <a:ext uri="{A12FA001-AC4F-418D-AE19-62706E023703}">
                      <ahyp:hlinkClr xmlns:ahyp="http://schemas.microsoft.com/office/drawing/2018/hyperlinkcolor" val="tx"/>
                    </a:ext>
                  </a:extLst>
                </a:hlinkClick>
              </a:rPr>
              <a:t>/</a:t>
            </a:r>
            <a:r>
              <a:rPr lang="en-US" sz="2400" err="1">
                <a:solidFill>
                  <a:schemeClr val="accent2"/>
                </a:solidFill>
                <a:hlinkClick r:id="rId4">
                  <a:extLst>
                    <a:ext uri="{A12FA001-AC4F-418D-AE19-62706E023703}">
                      <ahyp:hlinkClr xmlns:ahyp="http://schemas.microsoft.com/office/drawing/2018/hyperlinkcolor" val="tx"/>
                    </a:ext>
                  </a:extLst>
                </a:hlinkClick>
              </a:rPr>
              <a:t>ragchat</a:t>
            </a:r>
            <a:endParaRPr lang="en-US" sz="2400">
              <a:solidFill>
                <a:schemeClr val="accent2"/>
              </a:solidFill>
            </a:endParaRPr>
          </a:p>
          <a:p>
            <a:pPr algn="l">
              <a:spcBef>
                <a:spcPts val="1200"/>
              </a:spcBef>
            </a:pPr>
            <a:r>
              <a:rPr lang="en-US" sz="2400">
                <a:latin typeface="+mj-lt"/>
              </a:rPr>
              <a:t>Demo:</a:t>
            </a:r>
          </a:p>
          <a:p>
            <a:pPr algn="l"/>
            <a:r>
              <a:rPr lang="en-US" sz="2400" err="1">
                <a:solidFill>
                  <a:schemeClr val="accent2"/>
                </a:solidFill>
                <a:hlinkClick r:id="rId5">
                  <a:extLst>
                    <a:ext uri="{A12FA001-AC4F-418D-AE19-62706E023703}">
                      <ahyp:hlinkClr xmlns:ahyp="http://schemas.microsoft.com/office/drawing/2018/hyperlinkcolor" val="tx"/>
                    </a:ext>
                  </a:extLst>
                </a:hlinkClick>
              </a:rPr>
              <a:t>aka.ms</a:t>
            </a:r>
            <a:r>
              <a:rPr lang="en-US" sz="2400">
                <a:solidFill>
                  <a:schemeClr val="accent2"/>
                </a:solidFill>
                <a:hlinkClick r:id="rId5">
                  <a:extLst>
                    <a:ext uri="{A12FA001-AC4F-418D-AE19-62706E023703}">
                      <ahyp:hlinkClr xmlns:ahyp="http://schemas.microsoft.com/office/drawing/2018/hyperlinkcolor" val="tx"/>
                    </a:ext>
                  </a:extLst>
                </a:hlinkClick>
              </a:rPr>
              <a:t>/</a:t>
            </a:r>
            <a:r>
              <a:rPr lang="en-US" sz="2400" err="1">
                <a:solidFill>
                  <a:schemeClr val="accent2"/>
                </a:solidFill>
                <a:hlinkClick r:id="rId5">
                  <a:extLst>
                    <a:ext uri="{A12FA001-AC4F-418D-AE19-62706E023703}">
                      <ahyp:hlinkClr xmlns:ahyp="http://schemas.microsoft.com/office/drawing/2018/hyperlinkcolor" val="tx"/>
                    </a:ext>
                  </a:extLst>
                </a:hlinkClick>
              </a:rPr>
              <a:t>ragchat</a:t>
            </a:r>
            <a:r>
              <a:rPr lang="en-US" sz="2400">
                <a:solidFill>
                  <a:schemeClr val="accent2"/>
                </a:solidFill>
                <a:hlinkClick r:id="rId5">
                  <a:extLst>
                    <a:ext uri="{A12FA001-AC4F-418D-AE19-62706E023703}">
                      <ahyp:hlinkClr xmlns:ahyp="http://schemas.microsoft.com/office/drawing/2018/hyperlinkcolor" val="tx"/>
                    </a:ext>
                  </a:extLst>
                </a:hlinkClick>
              </a:rPr>
              <a:t>/demo</a:t>
            </a:r>
            <a:endParaRPr lang="en-US" sz="2400">
              <a:solidFill>
                <a:schemeClr val="accent2"/>
              </a:solidFill>
            </a:endParaRPr>
          </a:p>
        </p:txBody>
      </p:sp>
    </p:spTree>
    <p:extLst>
      <p:ext uri="{BB962C8B-B14F-4D97-AF65-F5344CB8AC3E}">
        <p14:creationId xmlns:p14="http://schemas.microsoft.com/office/powerpoint/2010/main" val="267513321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F0922-A432-2F3E-F3FB-FBAC65C3FA39}"/>
              </a:ext>
            </a:extLst>
          </p:cNvPr>
          <p:cNvSpPr>
            <a:spLocks noGrp="1"/>
          </p:cNvSpPr>
          <p:nvPr>
            <p:ph type="title"/>
          </p:nvPr>
        </p:nvSpPr>
        <p:spPr>
          <a:xfrm>
            <a:off x="588963" y="457200"/>
            <a:ext cx="11017250" cy="553998"/>
          </a:xfrm>
        </p:spPr>
        <p:txBody>
          <a:bodyPr/>
          <a:lstStyle/>
          <a:p>
            <a:r>
              <a:rPr lang="en-US">
                <a:cs typeface="Segoe UI"/>
              </a:rPr>
              <a:t>Components of a high-quality RAG</a:t>
            </a:r>
          </a:p>
        </p:txBody>
      </p:sp>
      <p:cxnSp>
        <p:nvCxnSpPr>
          <p:cNvPr id="97" name="Straight Connector 96">
            <a:extLst>
              <a:ext uri="{FF2B5EF4-FFF2-40B4-BE49-F238E27FC236}">
                <a16:creationId xmlns:a16="http://schemas.microsoft.com/office/drawing/2014/main" id="{B11B9DB2-CB31-5B82-6AE3-A3E0217361DB}"/>
              </a:ext>
              <a:ext uri="{C183D7F6-B498-43B3-948B-1728B52AA6E4}">
                <adec:decorative xmlns:adec="http://schemas.microsoft.com/office/drawing/2017/decorative" val="1"/>
              </a:ext>
            </a:extLst>
          </p:cNvPr>
          <p:cNvCxnSpPr>
            <a:cxnSpLocks/>
          </p:cNvCxnSpPr>
          <p:nvPr/>
        </p:nvCxnSpPr>
        <p:spPr>
          <a:xfrm>
            <a:off x="8494001" y="-1171921"/>
            <a:ext cx="3900737" cy="0"/>
          </a:xfrm>
          <a:prstGeom prst="lin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99" name="Straight Connector 98">
            <a:extLst>
              <a:ext uri="{FF2B5EF4-FFF2-40B4-BE49-F238E27FC236}">
                <a16:creationId xmlns:a16="http://schemas.microsoft.com/office/drawing/2014/main" id="{13D23016-D571-5746-0669-0AC10EFC4E36}"/>
              </a:ext>
              <a:ext uri="{C183D7F6-B498-43B3-948B-1728B52AA6E4}">
                <adec:decorative xmlns:adec="http://schemas.microsoft.com/office/drawing/2017/decorative" val="1"/>
              </a:ext>
            </a:extLst>
          </p:cNvPr>
          <p:cNvCxnSpPr>
            <a:cxnSpLocks/>
          </p:cNvCxnSpPr>
          <p:nvPr/>
        </p:nvCxnSpPr>
        <p:spPr>
          <a:xfrm>
            <a:off x="8494001" y="184016"/>
            <a:ext cx="3900737" cy="0"/>
          </a:xfrm>
          <a:prstGeom prst="lin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72" name="TextBox 71">
            <a:extLst>
              <a:ext uri="{FF2B5EF4-FFF2-40B4-BE49-F238E27FC236}">
                <a16:creationId xmlns:a16="http://schemas.microsoft.com/office/drawing/2014/main" id="{509C2340-57AE-EC92-46CF-BB37B6CF6805}"/>
              </a:ext>
            </a:extLst>
          </p:cNvPr>
          <p:cNvSpPr txBox="1"/>
          <p:nvPr/>
        </p:nvSpPr>
        <p:spPr>
          <a:xfrm>
            <a:off x="578666" y="11963683"/>
            <a:ext cx="6342624" cy="4678204"/>
          </a:xfrm>
          <a:prstGeom prst="rect">
            <a:avLst/>
          </a:prstGeom>
          <a:noFill/>
        </p:spPr>
        <p:txBody>
          <a:bodyPr wrap="square" lIns="0" tIns="0" rIns="0" bIns="0" rtlCol="0">
            <a:spAutoFit/>
          </a:bodyPr>
          <a:lstStyle/>
          <a:p>
            <a:pPr algn="l"/>
            <a:r>
              <a:rPr lang="en-US" sz="2400">
                <a:latin typeface="+mj-lt"/>
              </a:rPr>
              <a:t>Powerful search functionality</a:t>
            </a:r>
          </a:p>
          <a:p>
            <a:pPr marL="182563" lvl="1" indent="-169863">
              <a:buFont typeface="Arial" panose="020B0604020202020204" pitchFamily="34" charset="0"/>
              <a:buChar char="•"/>
            </a:pPr>
            <a:r>
              <a:rPr lang="en-US" sz="2000"/>
              <a:t>Vector search</a:t>
            </a:r>
          </a:p>
          <a:p>
            <a:pPr marL="182563" lvl="1" indent="-169863">
              <a:buFont typeface="Arial" panose="020B0604020202020204" pitchFamily="34" charset="0"/>
              <a:buChar char="•"/>
            </a:pPr>
            <a:r>
              <a:rPr lang="en-US" sz="2000"/>
              <a:t>Hybrid search</a:t>
            </a:r>
          </a:p>
          <a:p>
            <a:pPr marL="182563" lvl="1" indent="-169863">
              <a:buFont typeface="Arial" panose="020B0604020202020204" pitchFamily="34" charset="0"/>
              <a:buChar char="•"/>
            </a:pPr>
            <a:r>
              <a:rPr lang="en-US" sz="2000"/>
              <a:t>Semantic re-ranking</a:t>
            </a:r>
          </a:p>
          <a:p>
            <a:pPr marL="182563" lvl="1" indent="-169863">
              <a:buFont typeface="Arial" panose="020B0604020202020204" pitchFamily="34" charset="0"/>
              <a:buChar char="•"/>
            </a:pPr>
            <a:r>
              <a:rPr lang="en-US" sz="2000"/>
              <a:t>Filtering</a:t>
            </a:r>
          </a:p>
          <a:p>
            <a:pPr algn="l"/>
            <a:r>
              <a:rPr lang="en-US" sz="2400">
                <a:latin typeface="+mj-lt"/>
              </a:rPr>
              <a:t>Well prepared data</a:t>
            </a:r>
          </a:p>
          <a:p>
            <a:pPr marL="182563" lvl="1" indent="-169863">
              <a:buFont typeface="Arial" panose="020B0604020202020204" pitchFamily="34" charset="0"/>
              <a:buChar char="•"/>
            </a:pPr>
            <a:r>
              <a:rPr lang="en-US" sz="2000"/>
              <a:t>Reasonably sized text</a:t>
            </a:r>
          </a:p>
          <a:p>
            <a:pPr marL="182563" lvl="1" indent="-169863">
              <a:buFont typeface="Arial" panose="020B0604020202020204" pitchFamily="34" charset="0"/>
              <a:buChar char="•"/>
            </a:pPr>
            <a:r>
              <a:rPr lang="en-US" sz="2000"/>
              <a:t>Meaningful vectors</a:t>
            </a:r>
          </a:p>
          <a:p>
            <a:r>
              <a:rPr lang="en-US" sz="2400">
                <a:latin typeface="+mj-lt"/>
              </a:rPr>
              <a:t>Sophisticated LLM</a:t>
            </a:r>
          </a:p>
          <a:p>
            <a:pPr marL="182563" lvl="1" indent="-169863">
              <a:buFont typeface="Arial" panose="020B0604020202020204" pitchFamily="34" charset="0"/>
              <a:buChar char="•"/>
            </a:pPr>
            <a:r>
              <a:rPr lang="en-US" sz="2000"/>
              <a:t>Adheres to instructions</a:t>
            </a:r>
          </a:p>
          <a:p>
            <a:pPr marL="182563" lvl="1" indent="-169863">
              <a:buFont typeface="Arial" panose="020B0604020202020204" pitchFamily="34" charset="0"/>
              <a:buChar char="•"/>
            </a:pPr>
            <a:r>
              <a:rPr lang="en-US" sz="2000"/>
              <a:t>Supports function calling</a:t>
            </a:r>
          </a:p>
          <a:p>
            <a:pPr marL="914383" lvl="1" indent="-457200">
              <a:buFont typeface="Arial" panose="020B0604020202020204" pitchFamily="34" charset="0"/>
              <a:buChar char="•"/>
            </a:pPr>
            <a:endParaRPr lang="en-US" sz="2400"/>
          </a:p>
          <a:p>
            <a:pPr marL="914383" lvl="1" indent="-457200">
              <a:buFont typeface="Arial" panose="020B0604020202020204" pitchFamily="34" charset="0"/>
              <a:buChar char="•"/>
            </a:pPr>
            <a:endParaRPr lang="en-US" sz="2400"/>
          </a:p>
          <a:p>
            <a:pPr algn="l"/>
            <a:endParaRPr lang="en-US" sz="2400"/>
          </a:p>
        </p:txBody>
      </p:sp>
      <p:sp>
        <p:nvSpPr>
          <p:cNvPr id="67" name="Rounded Rectangle 5">
            <a:extLst>
              <a:ext uri="{FF2B5EF4-FFF2-40B4-BE49-F238E27FC236}">
                <a16:creationId xmlns:a16="http://schemas.microsoft.com/office/drawing/2014/main" id="{4659B58D-F39E-9952-2E97-30C43F34655F}"/>
              </a:ext>
              <a:ext uri="{C183D7F6-B498-43B3-948B-1728B52AA6E4}">
                <adec:decorative xmlns:adec="http://schemas.microsoft.com/office/drawing/2017/decorative" val="1"/>
              </a:ext>
            </a:extLst>
          </p:cNvPr>
          <p:cNvSpPr/>
          <p:nvPr/>
        </p:nvSpPr>
        <p:spPr bwMode="auto">
          <a:xfrm>
            <a:off x="810461" y="2039889"/>
            <a:ext cx="3291840" cy="3644855"/>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78" name="Oval 77">
            <a:extLst>
              <a:ext uri="{FF2B5EF4-FFF2-40B4-BE49-F238E27FC236}">
                <a16:creationId xmlns:a16="http://schemas.microsoft.com/office/drawing/2014/main" id="{56083674-B225-E0D8-046B-788ADF101751}"/>
              </a:ext>
              <a:ext uri="{C183D7F6-B498-43B3-948B-1728B52AA6E4}">
                <adec:decorative xmlns:adec="http://schemas.microsoft.com/office/drawing/2017/decorative" val="1"/>
              </a:ext>
            </a:extLst>
          </p:cNvPr>
          <p:cNvSpPr/>
          <p:nvPr/>
        </p:nvSpPr>
        <p:spPr bwMode="auto">
          <a:xfrm>
            <a:off x="1786995" y="1625102"/>
            <a:ext cx="1338773" cy="1338773"/>
          </a:xfrm>
          <a:prstGeom prst="ellipse">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00"/>
            <a:endParaRPr lang="en-US" sz="700">
              <a:solidFill>
                <a:srgbClr val="FFFFFF"/>
              </a:solidFill>
              <a:latin typeface="Segoe UI"/>
            </a:endParaRPr>
          </a:p>
        </p:txBody>
      </p:sp>
      <p:sp>
        <p:nvSpPr>
          <p:cNvPr id="84" name="Rounded Rectangle 5">
            <a:extLst>
              <a:ext uri="{FF2B5EF4-FFF2-40B4-BE49-F238E27FC236}">
                <a16:creationId xmlns:a16="http://schemas.microsoft.com/office/drawing/2014/main" id="{EAB2A8CE-638C-7B72-2E06-666A3F8A4631}"/>
              </a:ext>
              <a:ext uri="{C183D7F6-B498-43B3-948B-1728B52AA6E4}">
                <adec:decorative xmlns:adec="http://schemas.microsoft.com/office/drawing/2017/decorative" val="1"/>
              </a:ext>
            </a:extLst>
          </p:cNvPr>
          <p:cNvSpPr/>
          <p:nvPr/>
        </p:nvSpPr>
        <p:spPr bwMode="auto">
          <a:xfrm>
            <a:off x="4453954" y="2039889"/>
            <a:ext cx="3291840" cy="3644855"/>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86" name="Oval 85">
            <a:extLst>
              <a:ext uri="{FF2B5EF4-FFF2-40B4-BE49-F238E27FC236}">
                <a16:creationId xmlns:a16="http://schemas.microsoft.com/office/drawing/2014/main" id="{7FA4F040-B675-C3A3-18D9-8A8DCB179670}"/>
              </a:ext>
              <a:ext uri="{C183D7F6-B498-43B3-948B-1728B52AA6E4}">
                <adec:decorative xmlns:adec="http://schemas.microsoft.com/office/drawing/2017/decorative" val="1"/>
              </a:ext>
            </a:extLst>
          </p:cNvPr>
          <p:cNvSpPr/>
          <p:nvPr/>
        </p:nvSpPr>
        <p:spPr bwMode="auto">
          <a:xfrm>
            <a:off x="5430488" y="1625103"/>
            <a:ext cx="1338773" cy="1338773"/>
          </a:xfrm>
          <a:prstGeom prst="ellipse">
            <a:avLst/>
          </a:prstGeom>
          <a:gradFill flip="none" rotWithShape="1">
            <a:gsLst>
              <a:gs pos="0">
                <a:srgbClr val="C03BC4"/>
              </a:gs>
              <a:gs pos="80000">
                <a:srgbClr val="0078D4"/>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00"/>
            <a:endParaRPr lang="en-US" sz="700" err="1">
              <a:solidFill>
                <a:srgbClr val="FFFFFF"/>
              </a:solidFill>
              <a:latin typeface="Segoe UI"/>
            </a:endParaRPr>
          </a:p>
        </p:txBody>
      </p:sp>
      <p:sp>
        <p:nvSpPr>
          <p:cNvPr id="88" name="Rounded Rectangle 5">
            <a:extLst>
              <a:ext uri="{FF2B5EF4-FFF2-40B4-BE49-F238E27FC236}">
                <a16:creationId xmlns:a16="http://schemas.microsoft.com/office/drawing/2014/main" id="{C6B086E6-D9E9-05A3-BC81-0F5424795B6B}"/>
              </a:ext>
              <a:ext uri="{C183D7F6-B498-43B3-948B-1728B52AA6E4}">
                <adec:decorative xmlns:adec="http://schemas.microsoft.com/office/drawing/2017/decorative" val="1"/>
              </a:ext>
            </a:extLst>
          </p:cNvPr>
          <p:cNvSpPr/>
          <p:nvPr/>
        </p:nvSpPr>
        <p:spPr bwMode="auto">
          <a:xfrm>
            <a:off x="8097446" y="2039889"/>
            <a:ext cx="3676465" cy="3644855"/>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90" name="Oval 89">
            <a:extLst>
              <a:ext uri="{FF2B5EF4-FFF2-40B4-BE49-F238E27FC236}">
                <a16:creationId xmlns:a16="http://schemas.microsoft.com/office/drawing/2014/main" id="{52F633C4-CC97-9304-A963-260B77D0DB4B}"/>
              </a:ext>
              <a:ext uri="{C183D7F6-B498-43B3-948B-1728B52AA6E4}">
                <adec:decorative xmlns:adec="http://schemas.microsoft.com/office/drawing/2017/decorative" val="1"/>
              </a:ext>
            </a:extLst>
          </p:cNvPr>
          <p:cNvSpPr/>
          <p:nvPr/>
        </p:nvSpPr>
        <p:spPr bwMode="auto">
          <a:xfrm>
            <a:off x="9073981" y="1625102"/>
            <a:ext cx="1338773" cy="1338773"/>
          </a:xfrm>
          <a:prstGeom prst="ellipse">
            <a:avLst/>
          </a:prstGeom>
          <a:gradFill flip="none" rotWithShape="1">
            <a:gsLst>
              <a:gs pos="0">
                <a:srgbClr val="FF5C39"/>
              </a:gs>
              <a:gs pos="80000">
                <a:srgbClr val="C03BC4"/>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00"/>
            <a:endParaRPr lang="en-US" sz="700" err="1">
              <a:solidFill>
                <a:srgbClr val="FFFFFF"/>
              </a:solidFill>
              <a:latin typeface="Segoe UI"/>
            </a:endParaRPr>
          </a:p>
        </p:txBody>
      </p:sp>
      <p:sp>
        <p:nvSpPr>
          <p:cNvPr id="71" name="TextBox 70">
            <a:extLst>
              <a:ext uri="{FF2B5EF4-FFF2-40B4-BE49-F238E27FC236}">
                <a16:creationId xmlns:a16="http://schemas.microsoft.com/office/drawing/2014/main" id="{3E64BE9B-2D30-CD2B-977A-FAE7C4273D39}"/>
              </a:ext>
            </a:extLst>
          </p:cNvPr>
          <p:cNvSpPr txBox="1"/>
          <p:nvPr/>
        </p:nvSpPr>
        <p:spPr>
          <a:xfrm>
            <a:off x="1227343" y="3273487"/>
            <a:ext cx="6342624" cy="861774"/>
          </a:xfrm>
          <a:prstGeom prst="rect">
            <a:avLst/>
          </a:prstGeom>
          <a:noFill/>
        </p:spPr>
        <p:txBody>
          <a:bodyPr wrap="square" lIns="0" tIns="0" rIns="0" bIns="0" rtlCol="0">
            <a:spAutoFit/>
          </a:bodyPr>
          <a:lstStyle/>
          <a:p>
            <a:r>
              <a:rPr lang="en-US" sz="2000" b="1">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latin typeface="Segoe UI Semibold" panose="020F0502020204030204" pitchFamily="34" charset="0"/>
                <a:cs typeface="Segoe UI" panose="020B0502040204020203" pitchFamily="34" charset="0"/>
              </a:rPr>
              <a:t>Sophisticated LLM</a:t>
            </a:r>
          </a:p>
          <a:p>
            <a:pPr marL="182563" lvl="1" indent="-169863">
              <a:buFont typeface="Arial" panose="020B0604020202020204" pitchFamily="34" charset="0"/>
              <a:buChar char="•"/>
            </a:pPr>
            <a:r>
              <a:rPr lang="en-US" sz="1800"/>
              <a:t>Adheres to instructions</a:t>
            </a:r>
          </a:p>
          <a:p>
            <a:pPr marL="182563" lvl="1" indent="-169863">
              <a:buFont typeface="Arial" panose="020B0604020202020204" pitchFamily="34" charset="0"/>
              <a:buChar char="•"/>
            </a:pPr>
            <a:r>
              <a:rPr lang="en-US" sz="1800"/>
              <a:t>Supports function calling</a:t>
            </a:r>
          </a:p>
        </p:txBody>
      </p:sp>
      <p:sp>
        <p:nvSpPr>
          <p:cNvPr id="73" name="TextBox 72">
            <a:extLst>
              <a:ext uri="{FF2B5EF4-FFF2-40B4-BE49-F238E27FC236}">
                <a16:creationId xmlns:a16="http://schemas.microsoft.com/office/drawing/2014/main" id="{3D557D36-027F-7D2B-B3E2-D28757416733}"/>
              </a:ext>
            </a:extLst>
          </p:cNvPr>
          <p:cNvSpPr txBox="1"/>
          <p:nvPr/>
        </p:nvSpPr>
        <p:spPr>
          <a:xfrm>
            <a:off x="4750309" y="3273487"/>
            <a:ext cx="2880480" cy="861774"/>
          </a:xfrm>
          <a:prstGeom prst="rect">
            <a:avLst/>
          </a:prstGeom>
          <a:noFill/>
        </p:spPr>
        <p:txBody>
          <a:bodyPr wrap="square" lIns="0" tIns="0" rIns="0" bIns="0" rtlCol="0">
            <a:spAutoFit/>
          </a:bodyPr>
          <a:lstStyle/>
          <a:p>
            <a:r>
              <a:rPr lang="en-US" sz="2000" b="1">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latin typeface="Segoe UI Semibold" panose="020F0502020204030204" pitchFamily="34" charset="0"/>
                <a:cs typeface="Segoe UI" panose="020B0502040204020203" pitchFamily="34" charset="0"/>
              </a:rPr>
              <a:t>Well prepared data</a:t>
            </a:r>
          </a:p>
          <a:p>
            <a:pPr marL="182563" lvl="1" indent="-169863">
              <a:buFont typeface="Arial" panose="020B0604020202020204" pitchFamily="34" charset="0"/>
              <a:buChar char="•"/>
            </a:pPr>
            <a:r>
              <a:rPr lang="en-US" sz="1800"/>
              <a:t>Reasonably sized text</a:t>
            </a:r>
          </a:p>
          <a:p>
            <a:pPr marL="182563" lvl="1" indent="-169863">
              <a:buFont typeface="Arial" panose="020B0604020202020204" pitchFamily="34" charset="0"/>
              <a:buChar char="•"/>
            </a:pPr>
            <a:r>
              <a:rPr lang="en-US" sz="1800"/>
              <a:t>Meaningful vectors</a:t>
            </a:r>
          </a:p>
        </p:txBody>
      </p:sp>
      <p:sp>
        <p:nvSpPr>
          <p:cNvPr id="68" name="TextBox 67">
            <a:extLst>
              <a:ext uri="{FF2B5EF4-FFF2-40B4-BE49-F238E27FC236}">
                <a16:creationId xmlns:a16="http://schemas.microsoft.com/office/drawing/2014/main" id="{243D7BFA-3DB1-DDEF-6884-7803289A35BC}"/>
              </a:ext>
            </a:extLst>
          </p:cNvPr>
          <p:cNvSpPr txBox="1"/>
          <p:nvPr/>
        </p:nvSpPr>
        <p:spPr>
          <a:xfrm>
            <a:off x="8273274" y="3273487"/>
            <a:ext cx="6342624" cy="1415772"/>
          </a:xfrm>
          <a:prstGeom prst="rect">
            <a:avLst/>
          </a:prstGeom>
          <a:noFill/>
        </p:spPr>
        <p:txBody>
          <a:bodyPr wrap="square" lIns="0" tIns="0" rIns="0" bIns="0" rtlCol="0">
            <a:spAutoFit/>
          </a:bodyPr>
          <a:lstStyle/>
          <a:p>
            <a:pPr algn="l"/>
            <a:r>
              <a:rPr lang="en-US" sz="2000" b="1">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latin typeface="Segoe UI Semibold" panose="020F0502020204030204" pitchFamily="34" charset="0"/>
                <a:cs typeface="Segoe UI" panose="020B0502040204020203" pitchFamily="34" charset="0"/>
              </a:rPr>
              <a:t>Powerful search functionality</a:t>
            </a:r>
          </a:p>
          <a:p>
            <a:pPr marL="182563" lvl="1" indent="-169863">
              <a:buFont typeface="Arial" panose="020B0604020202020204" pitchFamily="34" charset="0"/>
              <a:buChar char="•"/>
            </a:pPr>
            <a:r>
              <a:rPr lang="en-US" sz="1800"/>
              <a:t>Vector search</a:t>
            </a:r>
          </a:p>
          <a:p>
            <a:pPr marL="182563" lvl="1" indent="-169863">
              <a:buFont typeface="Arial" panose="020B0604020202020204" pitchFamily="34" charset="0"/>
              <a:buChar char="•"/>
            </a:pPr>
            <a:r>
              <a:rPr lang="en-US" sz="1800"/>
              <a:t>Hybrid search</a:t>
            </a:r>
          </a:p>
          <a:p>
            <a:pPr marL="182563" lvl="1" indent="-169863">
              <a:buFont typeface="Arial" panose="020B0604020202020204" pitchFamily="34" charset="0"/>
              <a:buChar char="•"/>
            </a:pPr>
            <a:r>
              <a:rPr lang="en-US" sz="1800"/>
              <a:t>Semantic re-ranking</a:t>
            </a:r>
          </a:p>
          <a:p>
            <a:pPr marL="182563" lvl="1" indent="-169863">
              <a:buFont typeface="Arial" panose="020B0604020202020204" pitchFamily="34" charset="0"/>
              <a:buChar char="•"/>
            </a:pPr>
            <a:r>
              <a:rPr lang="en-US" sz="1800"/>
              <a:t>Filtering</a:t>
            </a:r>
            <a:endParaRPr lang="en-US" sz="2000"/>
          </a:p>
        </p:txBody>
      </p:sp>
      <p:sp>
        <p:nvSpPr>
          <p:cNvPr id="4" name="TextBox 3">
            <a:extLst>
              <a:ext uri="{FF2B5EF4-FFF2-40B4-BE49-F238E27FC236}">
                <a16:creationId xmlns:a16="http://schemas.microsoft.com/office/drawing/2014/main" id="{0DE9E141-6BE7-C19C-A78A-4522BF7F8DFF}"/>
              </a:ext>
            </a:extLst>
          </p:cNvPr>
          <p:cNvSpPr txBox="1"/>
          <p:nvPr/>
        </p:nvSpPr>
        <p:spPr>
          <a:xfrm>
            <a:off x="2308121" y="1945111"/>
            <a:ext cx="483632" cy="615553"/>
          </a:xfrm>
          <a:prstGeom prst="rect">
            <a:avLst/>
          </a:prstGeom>
          <a:noFill/>
        </p:spPr>
        <p:txBody>
          <a:bodyPr wrap="square" lIns="0" tIns="0" rIns="0" bIns="0" rtlCol="0">
            <a:spAutoFit/>
          </a:bodyPr>
          <a:lstStyle/>
          <a:p>
            <a:pPr algn="l"/>
            <a:r>
              <a:rPr lang="en-US" sz="4000" err="1">
                <a:solidFill>
                  <a:schemeClr val="bg1"/>
                </a:solidFill>
              </a:rPr>
              <a:t>1</a:t>
            </a:r>
          </a:p>
        </p:txBody>
      </p:sp>
      <p:sp>
        <p:nvSpPr>
          <p:cNvPr id="5" name="TextBox 4">
            <a:extLst>
              <a:ext uri="{FF2B5EF4-FFF2-40B4-BE49-F238E27FC236}">
                <a16:creationId xmlns:a16="http://schemas.microsoft.com/office/drawing/2014/main" id="{F8AD6956-0F05-32E5-6808-93AFD4AEA8CC}"/>
              </a:ext>
            </a:extLst>
          </p:cNvPr>
          <p:cNvSpPr txBox="1"/>
          <p:nvPr/>
        </p:nvSpPr>
        <p:spPr>
          <a:xfrm>
            <a:off x="6006386" y="1972968"/>
            <a:ext cx="400635" cy="615553"/>
          </a:xfrm>
          <a:prstGeom prst="rect">
            <a:avLst/>
          </a:prstGeom>
          <a:noFill/>
        </p:spPr>
        <p:txBody>
          <a:bodyPr wrap="square" lIns="0" tIns="0" rIns="0" bIns="0" rtlCol="0">
            <a:spAutoFit/>
          </a:bodyPr>
          <a:lstStyle/>
          <a:p>
            <a:pPr algn="l"/>
            <a:r>
              <a:rPr lang="en-US" sz="4000" err="1">
                <a:solidFill>
                  <a:schemeClr val="bg1"/>
                </a:solidFill>
              </a:rPr>
              <a:t>2</a:t>
            </a:r>
          </a:p>
        </p:txBody>
      </p:sp>
      <p:sp>
        <p:nvSpPr>
          <p:cNvPr id="6" name="TextBox 5">
            <a:extLst>
              <a:ext uri="{FF2B5EF4-FFF2-40B4-BE49-F238E27FC236}">
                <a16:creationId xmlns:a16="http://schemas.microsoft.com/office/drawing/2014/main" id="{7CF9B2C0-6002-91EE-207F-4E4F28C6B02E}"/>
              </a:ext>
            </a:extLst>
          </p:cNvPr>
          <p:cNvSpPr txBox="1"/>
          <p:nvPr/>
        </p:nvSpPr>
        <p:spPr>
          <a:xfrm>
            <a:off x="9617623" y="1988086"/>
            <a:ext cx="400635" cy="615553"/>
          </a:xfrm>
          <a:prstGeom prst="rect">
            <a:avLst/>
          </a:prstGeom>
          <a:noFill/>
        </p:spPr>
        <p:txBody>
          <a:bodyPr wrap="square" lIns="0" tIns="0" rIns="0" bIns="0" rtlCol="0">
            <a:spAutoFit/>
          </a:bodyPr>
          <a:lstStyle/>
          <a:p>
            <a:pPr algn="l"/>
            <a:r>
              <a:rPr lang="en-US" sz="4000" err="1">
                <a:solidFill>
                  <a:schemeClr val="bg1"/>
                </a:solidFill>
              </a:rPr>
              <a:t>3</a:t>
            </a:r>
          </a:p>
        </p:txBody>
      </p:sp>
    </p:spTree>
    <p:extLst>
      <p:ext uri="{BB962C8B-B14F-4D97-AF65-F5344CB8AC3E}">
        <p14:creationId xmlns:p14="http://schemas.microsoft.com/office/powerpoint/2010/main" val="316566903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91A05-A627-A2DE-5261-349ABFE79F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F63C90-4249-2B34-B031-71FC8EDE4515}"/>
              </a:ext>
            </a:extLst>
          </p:cNvPr>
          <p:cNvSpPr>
            <a:spLocks noGrp="1"/>
          </p:cNvSpPr>
          <p:nvPr>
            <p:ph type="title"/>
          </p:nvPr>
        </p:nvSpPr>
        <p:spPr>
          <a:xfrm>
            <a:off x="585216" y="3152001"/>
            <a:ext cx="6675120" cy="553998"/>
          </a:xfrm>
        </p:spPr>
        <p:txBody>
          <a:bodyPr/>
          <a:lstStyle/>
          <a:p>
            <a:r>
              <a:rPr lang="en-US" dirty="0"/>
              <a:t>Agentic RAG</a:t>
            </a:r>
          </a:p>
        </p:txBody>
      </p:sp>
    </p:spTree>
    <p:extLst>
      <p:ext uri="{BB962C8B-B14F-4D97-AF65-F5344CB8AC3E}">
        <p14:creationId xmlns:p14="http://schemas.microsoft.com/office/powerpoint/2010/main" val="135652551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8118F-0117-829B-B1FB-594C31E2730F}"/>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7EF40C20-0365-8B72-33A5-E543798645B8}"/>
              </a:ext>
            </a:extLst>
          </p:cNvPr>
          <p:cNvSpPr>
            <a:spLocks noGrp="1"/>
          </p:cNvSpPr>
          <p:nvPr>
            <p:ph type="title"/>
          </p:nvPr>
        </p:nvSpPr>
        <p:spPr>
          <a:xfrm>
            <a:off x="588263" y="457200"/>
            <a:ext cx="11175992" cy="553998"/>
          </a:xfrm>
        </p:spPr>
        <p:txBody>
          <a:bodyPr/>
          <a:lstStyle/>
          <a:p>
            <a:r>
              <a:rPr lang="en-US" dirty="0">
                <a:cs typeface="Segoe UI"/>
              </a:rPr>
              <a:t>Why might RAG fail?</a:t>
            </a:r>
            <a:endParaRPr lang="en-US" dirty="0"/>
          </a:p>
        </p:txBody>
      </p:sp>
      <p:grpSp>
        <p:nvGrpSpPr>
          <p:cNvPr id="7" name="Group 6" descr="What’s the best shoe for hiking?">
            <a:extLst>
              <a:ext uri="{FF2B5EF4-FFF2-40B4-BE49-F238E27FC236}">
                <a16:creationId xmlns:a16="http://schemas.microsoft.com/office/drawing/2014/main" id="{C9FF664D-9262-E856-61CC-8E0F3450D94C}"/>
              </a:ext>
            </a:extLst>
          </p:cNvPr>
          <p:cNvGrpSpPr/>
          <p:nvPr/>
        </p:nvGrpSpPr>
        <p:grpSpPr>
          <a:xfrm>
            <a:off x="599808" y="1551714"/>
            <a:ext cx="2150314" cy="1601946"/>
            <a:chOff x="3449886" y="1978178"/>
            <a:chExt cx="1898415" cy="1175481"/>
          </a:xfrm>
        </p:grpSpPr>
        <p:sp>
          <p:nvSpPr>
            <p:cNvPr id="6" name="Freeform 5">
              <a:extLst>
                <a:ext uri="{FF2B5EF4-FFF2-40B4-BE49-F238E27FC236}">
                  <a16:creationId xmlns:a16="http://schemas.microsoft.com/office/drawing/2014/main" id="{DF836179-43F6-9B3D-BCF3-428001B6E592}"/>
                </a:ext>
                <a:ext uri="{C183D7F6-B498-43B3-948B-1728B52AA6E4}">
                  <adec:decorative xmlns:adec="http://schemas.microsoft.com/office/drawing/2017/decorative" val="1"/>
                </a:ext>
              </a:extLst>
            </p:cNvPr>
            <p:cNvSpPr/>
            <p:nvPr/>
          </p:nvSpPr>
          <p:spPr bwMode="auto">
            <a:xfrm>
              <a:off x="3449886" y="1978178"/>
              <a:ext cx="1898415" cy="1175481"/>
            </a:xfrm>
            <a:custGeom>
              <a:avLst/>
              <a:gdLst>
                <a:gd name="connsiteX0" fmla="*/ 152403 w 1898415"/>
                <a:gd name="connsiteY0" fmla="*/ 0 h 1175481"/>
                <a:gd name="connsiteX1" fmla="*/ 1746012 w 1898415"/>
                <a:gd name="connsiteY1" fmla="*/ 0 h 1175481"/>
                <a:gd name="connsiteX2" fmla="*/ 1898415 w 1898415"/>
                <a:gd name="connsiteY2" fmla="*/ 152403 h 1175481"/>
                <a:gd name="connsiteX3" fmla="*/ 1898415 w 1898415"/>
                <a:gd name="connsiteY3" fmla="*/ 761997 h 1175481"/>
                <a:gd name="connsiteX4" fmla="*/ 1746012 w 1898415"/>
                <a:gd name="connsiteY4" fmla="*/ 914400 h 1175481"/>
                <a:gd name="connsiteX5" fmla="*/ 952123 w 1898415"/>
                <a:gd name="connsiteY5" fmla="*/ 914400 h 1175481"/>
                <a:gd name="connsiteX6" fmla="*/ 691042 w 1898415"/>
                <a:gd name="connsiteY6" fmla="*/ 1175481 h 1175481"/>
                <a:gd name="connsiteX7" fmla="*/ 691042 w 1898415"/>
                <a:gd name="connsiteY7" fmla="*/ 914400 h 1175481"/>
                <a:gd name="connsiteX8" fmla="*/ 152403 w 1898415"/>
                <a:gd name="connsiteY8" fmla="*/ 914400 h 1175481"/>
                <a:gd name="connsiteX9" fmla="*/ 0 w 1898415"/>
                <a:gd name="connsiteY9" fmla="*/ 761997 h 1175481"/>
                <a:gd name="connsiteX10" fmla="*/ 0 w 1898415"/>
                <a:gd name="connsiteY10" fmla="*/ 152403 h 1175481"/>
                <a:gd name="connsiteX11" fmla="*/ 152403 w 1898415"/>
                <a:gd name="connsiteY11" fmla="*/ 0 h 1175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98415" h="1175481">
                  <a:moveTo>
                    <a:pt x="152403" y="0"/>
                  </a:moveTo>
                  <a:lnTo>
                    <a:pt x="1746012" y="0"/>
                  </a:lnTo>
                  <a:cubicBezTo>
                    <a:pt x="1830182" y="0"/>
                    <a:pt x="1898415" y="68233"/>
                    <a:pt x="1898415" y="152403"/>
                  </a:cubicBezTo>
                  <a:lnTo>
                    <a:pt x="1898415" y="761997"/>
                  </a:lnTo>
                  <a:cubicBezTo>
                    <a:pt x="1898415" y="846167"/>
                    <a:pt x="1830182" y="914400"/>
                    <a:pt x="1746012" y="914400"/>
                  </a:cubicBezTo>
                  <a:lnTo>
                    <a:pt x="952123" y="914400"/>
                  </a:lnTo>
                  <a:lnTo>
                    <a:pt x="691042" y="1175481"/>
                  </a:lnTo>
                  <a:lnTo>
                    <a:pt x="691042" y="914400"/>
                  </a:lnTo>
                  <a:lnTo>
                    <a:pt x="152403" y="914400"/>
                  </a:lnTo>
                  <a:cubicBezTo>
                    <a:pt x="68233" y="914400"/>
                    <a:pt x="0" y="846167"/>
                    <a:pt x="0" y="761997"/>
                  </a:cubicBezTo>
                  <a:lnTo>
                    <a:pt x="0" y="152403"/>
                  </a:lnTo>
                  <a:cubicBezTo>
                    <a:pt x="0" y="68233"/>
                    <a:pt x="68233" y="0"/>
                    <a:pt x="152403" y="0"/>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err="1">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5" name="Text Placeholder 5">
              <a:extLst>
                <a:ext uri="{FF2B5EF4-FFF2-40B4-BE49-F238E27FC236}">
                  <a16:creationId xmlns:a16="http://schemas.microsoft.com/office/drawing/2014/main" id="{B9004B76-CE6A-CBC5-A1D2-1B55A4027E87}"/>
                </a:ext>
                <a:ext uri="{C183D7F6-B498-43B3-948B-1728B52AA6E4}">
                  <adec:decorative xmlns:adec="http://schemas.microsoft.com/office/drawing/2017/decorative" val="1"/>
                </a:ext>
              </a:extLst>
            </p:cNvPr>
            <p:cNvSpPr txBox="1">
              <a:spLocks/>
            </p:cNvSpPr>
            <p:nvPr/>
          </p:nvSpPr>
          <p:spPr>
            <a:xfrm>
              <a:off x="3484560" y="2092067"/>
              <a:ext cx="1829067" cy="686622"/>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400" dirty="0">
                  <a:solidFill>
                    <a:schemeClr val="bg1"/>
                  </a:solidFill>
                  <a:latin typeface="Segoe UI"/>
                  <a:cs typeface="Segoe UI Semilight"/>
                </a:rPr>
                <a:t>Who ensures the compliance of the Northwind Health Plus plan with state regulations?</a:t>
              </a:r>
              <a:endParaRPr lang="en-US" sz="1400" dirty="0">
                <a:solidFill>
                  <a:schemeClr val="bg1"/>
                </a:solidFill>
                <a:latin typeface="Segoe UI"/>
                <a:cs typeface="Segoe UI"/>
              </a:endParaRPr>
            </a:p>
          </p:txBody>
        </p:sp>
      </p:grpSp>
      <p:sp>
        <p:nvSpPr>
          <p:cNvPr id="41" name="Rounded Rectangle 5">
            <a:extLst>
              <a:ext uri="{FF2B5EF4-FFF2-40B4-BE49-F238E27FC236}">
                <a16:creationId xmlns:a16="http://schemas.microsoft.com/office/drawing/2014/main" id="{A034DF17-EFCB-D3FB-F61D-A64DEA961CAC}"/>
              </a:ext>
              <a:ext uri="{C183D7F6-B498-43B3-948B-1728B52AA6E4}">
                <adec:decorative xmlns:adec="http://schemas.microsoft.com/office/drawing/2017/decorative" val="1"/>
              </a:ext>
            </a:extLst>
          </p:cNvPr>
          <p:cNvSpPr/>
          <p:nvPr/>
        </p:nvSpPr>
        <p:spPr bwMode="auto">
          <a:xfrm>
            <a:off x="599815" y="3815013"/>
            <a:ext cx="1898415" cy="2123423"/>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33" name="Graphic 31" descr="Person with chat bubble icon">
            <a:extLst>
              <a:ext uri="{FF2B5EF4-FFF2-40B4-BE49-F238E27FC236}">
                <a16:creationId xmlns:a16="http://schemas.microsoft.com/office/drawing/2014/main" id="{660E4833-BCB8-1032-C3F0-ACABC056C9BB}"/>
              </a:ext>
            </a:extLst>
          </p:cNvPr>
          <p:cNvSpPr/>
          <p:nvPr/>
        </p:nvSpPr>
        <p:spPr>
          <a:xfrm>
            <a:off x="1290850" y="4199030"/>
            <a:ext cx="516344" cy="570744"/>
          </a:xfrm>
          <a:custGeom>
            <a:avLst/>
            <a:gdLst>
              <a:gd name="connsiteX0" fmla="*/ 190150 w 516344"/>
              <a:gd name="connsiteY0" fmla="*/ 421201 h 570744"/>
              <a:gd name="connsiteX1" fmla="*/ 217924 w 516344"/>
              <a:gd name="connsiteY1" fmla="*/ 326058 h 570744"/>
              <a:gd name="connsiteX2" fmla="*/ 61146 w 516344"/>
              <a:gd name="connsiteY2" fmla="*/ 326058 h 570744"/>
              <a:gd name="connsiteX3" fmla="*/ 0 w 516344"/>
              <a:gd name="connsiteY3" fmla="*/ 387204 h 570744"/>
              <a:gd name="connsiteX4" fmla="*/ 0 w 516344"/>
              <a:gd name="connsiteY4" fmla="*/ 412206 h 570744"/>
              <a:gd name="connsiteX5" fmla="*/ 13860 w 516344"/>
              <a:gd name="connsiteY5" fmla="*/ 455578 h 570744"/>
              <a:gd name="connsiteX6" fmla="*/ 192678 w 516344"/>
              <a:gd name="connsiteY6" fmla="*/ 542813 h 570744"/>
              <a:gd name="connsiteX7" fmla="*/ 206864 w 516344"/>
              <a:gd name="connsiteY7" fmla="*/ 496261 h 570744"/>
              <a:gd name="connsiteX8" fmla="*/ 190150 w 516344"/>
              <a:gd name="connsiteY8" fmla="*/ 421201 h 570744"/>
              <a:gd name="connsiteX9" fmla="*/ 217354 w 516344"/>
              <a:gd name="connsiteY9" fmla="*/ 0 h 570744"/>
              <a:gd name="connsiteX10" fmla="*/ 353261 w 516344"/>
              <a:gd name="connsiteY10" fmla="*/ 135907 h 570744"/>
              <a:gd name="connsiteX11" fmla="*/ 217354 w 516344"/>
              <a:gd name="connsiteY11" fmla="*/ 271814 h 570744"/>
              <a:gd name="connsiteX12" fmla="*/ 81446 w 516344"/>
              <a:gd name="connsiteY12" fmla="*/ 135907 h 570744"/>
              <a:gd name="connsiteX13" fmla="*/ 217354 w 516344"/>
              <a:gd name="connsiteY13" fmla="*/ 0 h 570744"/>
              <a:gd name="connsiteX14" fmla="*/ 516344 w 516344"/>
              <a:gd name="connsiteY14" fmla="*/ 421201 h 570744"/>
              <a:gd name="connsiteX15" fmla="*/ 366898 w 516344"/>
              <a:gd name="connsiteY15" fmla="*/ 570745 h 570744"/>
              <a:gd name="connsiteX16" fmla="*/ 294370 w 516344"/>
              <a:gd name="connsiteY16" fmla="*/ 551999 h 570744"/>
              <a:gd name="connsiteX17" fmla="*/ 234937 w 516344"/>
              <a:gd name="connsiteY17" fmla="*/ 570071 h 570744"/>
              <a:gd name="connsiteX18" fmla="*/ 217979 w 516344"/>
              <a:gd name="connsiteY18" fmla="*/ 561032 h 570744"/>
              <a:gd name="connsiteX19" fmla="*/ 217979 w 516344"/>
              <a:gd name="connsiteY19" fmla="*/ 553113 h 570744"/>
              <a:gd name="connsiteX20" fmla="*/ 236078 w 516344"/>
              <a:gd name="connsiteY20" fmla="*/ 493679 h 570744"/>
              <a:gd name="connsiteX21" fmla="*/ 294408 w 516344"/>
              <a:gd name="connsiteY21" fmla="*/ 290468 h 570744"/>
              <a:gd name="connsiteX22" fmla="*/ 497620 w 516344"/>
              <a:gd name="connsiteY22" fmla="*/ 348796 h 570744"/>
              <a:gd name="connsiteX23" fmla="*/ 516344 w 516344"/>
              <a:gd name="connsiteY23" fmla="*/ 421174 h 570744"/>
              <a:gd name="connsiteX24" fmla="*/ 312470 w 516344"/>
              <a:gd name="connsiteY24" fmla="*/ 380437 h 570744"/>
              <a:gd name="connsiteX25" fmla="*/ 298882 w 516344"/>
              <a:gd name="connsiteY25" fmla="*/ 394025 h 570744"/>
              <a:gd name="connsiteX26" fmla="*/ 312470 w 516344"/>
              <a:gd name="connsiteY26" fmla="*/ 407613 h 570744"/>
              <a:gd name="connsiteX27" fmla="*/ 421228 w 516344"/>
              <a:gd name="connsiteY27" fmla="*/ 407613 h 570744"/>
              <a:gd name="connsiteX28" fmla="*/ 434816 w 516344"/>
              <a:gd name="connsiteY28" fmla="*/ 394025 h 570744"/>
              <a:gd name="connsiteX29" fmla="*/ 421228 w 516344"/>
              <a:gd name="connsiteY29" fmla="*/ 380437 h 570744"/>
              <a:gd name="connsiteX30" fmla="*/ 312524 w 516344"/>
              <a:gd name="connsiteY30" fmla="*/ 380437 h 570744"/>
              <a:gd name="connsiteX31" fmla="*/ 298882 w 516344"/>
              <a:gd name="connsiteY31" fmla="*/ 448377 h 570744"/>
              <a:gd name="connsiteX32" fmla="*/ 312470 w 516344"/>
              <a:gd name="connsiteY32" fmla="*/ 461965 h 570744"/>
              <a:gd name="connsiteX33" fmla="*/ 366822 w 516344"/>
              <a:gd name="connsiteY33" fmla="*/ 461965 h 570744"/>
              <a:gd name="connsiteX34" fmla="*/ 380410 w 516344"/>
              <a:gd name="connsiteY34" fmla="*/ 448377 h 570744"/>
              <a:gd name="connsiteX35" fmla="*/ 366822 w 516344"/>
              <a:gd name="connsiteY35" fmla="*/ 434789 h 570744"/>
              <a:gd name="connsiteX36" fmla="*/ 312470 w 516344"/>
              <a:gd name="connsiteY36" fmla="*/ 434789 h 570744"/>
              <a:gd name="connsiteX37" fmla="*/ 298882 w 516344"/>
              <a:gd name="connsiteY37" fmla="*/ 448377 h 570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16344" h="570744">
                <a:moveTo>
                  <a:pt x="190150" y="421201"/>
                </a:moveTo>
                <a:cubicBezTo>
                  <a:pt x="190150" y="386144"/>
                  <a:pt x="200341" y="353533"/>
                  <a:pt x="217924" y="326058"/>
                </a:cubicBezTo>
                <a:lnTo>
                  <a:pt x="61146" y="326058"/>
                </a:lnTo>
                <a:cubicBezTo>
                  <a:pt x="27376" y="326058"/>
                  <a:pt x="0" y="353435"/>
                  <a:pt x="0" y="387204"/>
                </a:cubicBezTo>
                <a:lnTo>
                  <a:pt x="0" y="412206"/>
                </a:lnTo>
                <a:cubicBezTo>
                  <a:pt x="0" y="427750"/>
                  <a:pt x="4837" y="442914"/>
                  <a:pt x="13860" y="455578"/>
                </a:cubicBezTo>
                <a:cubicBezTo>
                  <a:pt x="51988" y="509061"/>
                  <a:pt x="112155" y="538030"/>
                  <a:pt x="192678" y="542813"/>
                </a:cubicBezTo>
                <a:lnTo>
                  <a:pt x="206864" y="496261"/>
                </a:lnTo>
                <a:cubicBezTo>
                  <a:pt x="195830" y="472778"/>
                  <a:pt x="190123" y="447146"/>
                  <a:pt x="190150" y="421201"/>
                </a:cubicBezTo>
                <a:close/>
                <a:moveTo>
                  <a:pt x="217354" y="0"/>
                </a:moveTo>
                <a:cubicBezTo>
                  <a:pt x="292414" y="0"/>
                  <a:pt x="353261" y="60848"/>
                  <a:pt x="353261" y="135907"/>
                </a:cubicBezTo>
                <a:cubicBezTo>
                  <a:pt x="353261" y="210967"/>
                  <a:pt x="292414" y="271814"/>
                  <a:pt x="217354" y="271814"/>
                </a:cubicBezTo>
                <a:cubicBezTo>
                  <a:pt x="142294" y="271814"/>
                  <a:pt x="81446" y="210967"/>
                  <a:pt x="81446" y="135907"/>
                </a:cubicBezTo>
                <a:cubicBezTo>
                  <a:pt x="81446" y="60848"/>
                  <a:pt x="142294" y="0"/>
                  <a:pt x="217354" y="0"/>
                </a:cubicBezTo>
                <a:close/>
                <a:moveTo>
                  <a:pt x="516344" y="421201"/>
                </a:moveTo>
                <a:cubicBezTo>
                  <a:pt x="516371" y="503764"/>
                  <a:pt x="449461" y="570718"/>
                  <a:pt x="366898" y="570745"/>
                </a:cubicBezTo>
                <a:cubicBezTo>
                  <a:pt x="341521" y="570753"/>
                  <a:pt x="316562" y="564302"/>
                  <a:pt x="294370" y="551999"/>
                </a:cubicBezTo>
                <a:lnTo>
                  <a:pt x="234937" y="570071"/>
                </a:lnTo>
                <a:cubicBezTo>
                  <a:pt x="227757" y="572259"/>
                  <a:pt x="220166" y="568212"/>
                  <a:pt x="217979" y="561032"/>
                </a:cubicBezTo>
                <a:cubicBezTo>
                  <a:pt x="217193" y="558451"/>
                  <a:pt x="217193" y="555695"/>
                  <a:pt x="217979" y="553113"/>
                </a:cubicBezTo>
                <a:lnTo>
                  <a:pt x="236078" y="493679"/>
                </a:lnTo>
                <a:cubicBezTo>
                  <a:pt x="196069" y="421456"/>
                  <a:pt x="222186" y="330476"/>
                  <a:pt x="294408" y="290468"/>
                </a:cubicBezTo>
                <a:cubicBezTo>
                  <a:pt x="366631" y="250459"/>
                  <a:pt x="457611" y="276573"/>
                  <a:pt x="497620" y="348796"/>
                </a:cubicBezTo>
                <a:cubicBezTo>
                  <a:pt x="509890" y="370947"/>
                  <a:pt x="516333" y="395851"/>
                  <a:pt x="516344" y="421174"/>
                </a:cubicBezTo>
                <a:close/>
                <a:moveTo>
                  <a:pt x="312470" y="380437"/>
                </a:moveTo>
                <a:cubicBezTo>
                  <a:pt x="304966" y="380437"/>
                  <a:pt x="298882" y="386522"/>
                  <a:pt x="298882" y="394025"/>
                </a:cubicBezTo>
                <a:cubicBezTo>
                  <a:pt x="298882" y="401528"/>
                  <a:pt x="304966" y="407613"/>
                  <a:pt x="312470" y="407613"/>
                </a:cubicBezTo>
                <a:lnTo>
                  <a:pt x="421228" y="407613"/>
                </a:lnTo>
                <a:cubicBezTo>
                  <a:pt x="428731" y="407613"/>
                  <a:pt x="434816" y="401528"/>
                  <a:pt x="434816" y="394025"/>
                </a:cubicBezTo>
                <a:cubicBezTo>
                  <a:pt x="434816" y="386522"/>
                  <a:pt x="428731" y="380437"/>
                  <a:pt x="421228" y="380437"/>
                </a:cubicBezTo>
                <a:lnTo>
                  <a:pt x="312524" y="380437"/>
                </a:lnTo>
                <a:close/>
                <a:moveTo>
                  <a:pt x="298882" y="448377"/>
                </a:moveTo>
                <a:cubicBezTo>
                  <a:pt x="298882" y="455880"/>
                  <a:pt x="304966" y="461965"/>
                  <a:pt x="312470" y="461965"/>
                </a:cubicBezTo>
                <a:lnTo>
                  <a:pt x="366822" y="461965"/>
                </a:lnTo>
                <a:cubicBezTo>
                  <a:pt x="374325" y="461965"/>
                  <a:pt x="380410" y="455880"/>
                  <a:pt x="380410" y="448377"/>
                </a:cubicBezTo>
                <a:cubicBezTo>
                  <a:pt x="380410" y="440874"/>
                  <a:pt x="374325" y="434789"/>
                  <a:pt x="366822" y="434789"/>
                </a:cubicBezTo>
                <a:lnTo>
                  <a:pt x="312470" y="434789"/>
                </a:lnTo>
                <a:cubicBezTo>
                  <a:pt x="304966" y="434789"/>
                  <a:pt x="298882" y="440874"/>
                  <a:pt x="298882" y="448377"/>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77" name="Text Placeholder 5">
            <a:extLst>
              <a:ext uri="{FF2B5EF4-FFF2-40B4-BE49-F238E27FC236}">
                <a16:creationId xmlns:a16="http://schemas.microsoft.com/office/drawing/2014/main" id="{AF0D2401-448C-D3AC-3A8C-ADCFA300B695}"/>
              </a:ext>
            </a:extLst>
          </p:cNvPr>
          <p:cNvSpPr txBox="1">
            <a:spLocks/>
          </p:cNvSpPr>
          <p:nvPr/>
        </p:nvSpPr>
        <p:spPr>
          <a:xfrm>
            <a:off x="909811" y="4963813"/>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latin typeface="+mj-lt"/>
                <a:cs typeface="Segoe UI Semilight"/>
              </a:rPr>
              <a:t>User</a:t>
            </a:r>
            <a:endParaRPr lang="en-US" sz="1800"/>
          </a:p>
          <a:p>
            <a:pPr marL="0" indent="0" algn="ctr" defTabSz="1865484">
              <a:buNone/>
              <a:defRPr/>
            </a:pPr>
            <a:r>
              <a:rPr lang="en-US" sz="1800">
                <a:latin typeface="+mj-lt"/>
                <a:cs typeface="Segoe UI Semilight"/>
              </a:rPr>
              <a:t>Question</a:t>
            </a:r>
            <a:endParaRPr lang="en-US" sz="1800">
              <a:cs typeface="Segoe UI Semilight"/>
            </a:endParaRPr>
          </a:p>
        </p:txBody>
      </p:sp>
      <p:sp>
        <p:nvSpPr>
          <p:cNvPr id="42" name="Rounded Rectangle 5">
            <a:extLst>
              <a:ext uri="{FF2B5EF4-FFF2-40B4-BE49-F238E27FC236}">
                <a16:creationId xmlns:a16="http://schemas.microsoft.com/office/drawing/2014/main" id="{9080B210-83D8-41F0-1437-1A12D8459D95}"/>
              </a:ext>
              <a:ext uri="{C183D7F6-B498-43B3-948B-1728B52AA6E4}">
                <adec:decorative xmlns:adec="http://schemas.microsoft.com/office/drawing/2017/decorative" val="1"/>
              </a:ext>
            </a:extLst>
          </p:cNvPr>
          <p:cNvSpPr/>
          <p:nvPr/>
        </p:nvSpPr>
        <p:spPr bwMode="auto">
          <a:xfrm>
            <a:off x="3068652" y="3815013"/>
            <a:ext cx="3755862" cy="2123423"/>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34" name="Graphic 29" descr="Database with magnifying glass icon">
            <a:extLst>
              <a:ext uri="{FF2B5EF4-FFF2-40B4-BE49-F238E27FC236}">
                <a16:creationId xmlns:a16="http://schemas.microsoft.com/office/drawing/2014/main" id="{4AB46F2D-363D-B0E3-5451-9D2FBE1B1B90}"/>
              </a:ext>
            </a:extLst>
          </p:cNvPr>
          <p:cNvSpPr/>
          <p:nvPr/>
        </p:nvSpPr>
        <p:spPr>
          <a:xfrm>
            <a:off x="3677130" y="4198800"/>
            <a:ext cx="516852" cy="571204"/>
          </a:xfrm>
          <a:custGeom>
            <a:avLst/>
            <a:gdLst>
              <a:gd name="connsiteX0" fmla="*/ 217408 w 516852"/>
              <a:gd name="connsiteY0" fmla="*/ 217408 h 571204"/>
              <a:gd name="connsiteX1" fmla="*/ 434816 w 516852"/>
              <a:gd name="connsiteY1" fmla="*/ 108704 h 571204"/>
              <a:gd name="connsiteX2" fmla="*/ 217408 w 516852"/>
              <a:gd name="connsiteY2" fmla="*/ 0 h 571204"/>
              <a:gd name="connsiteX3" fmla="*/ 0 w 516852"/>
              <a:gd name="connsiteY3" fmla="*/ 108704 h 571204"/>
              <a:gd name="connsiteX4" fmla="*/ 217408 w 516852"/>
              <a:gd name="connsiteY4" fmla="*/ 217408 h 571204"/>
              <a:gd name="connsiteX5" fmla="*/ 389378 w 516852"/>
              <a:gd name="connsiteY5" fmla="*/ 222028 h 571204"/>
              <a:gd name="connsiteX6" fmla="*/ 434816 w 516852"/>
              <a:gd name="connsiteY6" fmla="*/ 191672 h 571204"/>
              <a:gd name="connsiteX7" fmla="*/ 434816 w 516852"/>
              <a:gd name="connsiteY7" fmla="*/ 278744 h 571204"/>
              <a:gd name="connsiteX8" fmla="*/ 325568 w 516852"/>
              <a:gd name="connsiteY8" fmla="*/ 245236 h 571204"/>
              <a:gd name="connsiteX9" fmla="*/ 389378 w 516852"/>
              <a:gd name="connsiteY9" fmla="*/ 222028 h 571204"/>
              <a:gd name="connsiteX10" fmla="*/ 190232 w 516852"/>
              <a:gd name="connsiteY10" fmla="*/ 394052 h 571204"/>
              <a:gd name="connsiteX11" fmla="*/ 294343 w 516852"/>
              <a:gd name="connsiteY11" fmla="*/ 536509 h 571204"/>
              <a:gd name="connsiteX12" fmla="*/ 217408 w 516852"/>
              <a:gd name="connsiteY12" fmla="*/ 543520 h 571204"/>
              <a:gd name="connsiteX13" fmla="*/ 0 w 516852"/>
              <a:gd name="connsiteY13" fmla="*/ 434816 h 571204"/>
              <a:gd name="connsiteX14" fmla="*/ 0 w 516852"/>
              <a:gd name="connsiteY14" fmla="*/ 191672 h 571204"/>
              <a:gd name="connsiteX15" fmla="*/ 45438 w 516852"/>
              <a:gd name="connsiteY15" fmla="*/ 222028 h 571204"/>
              <a:gd name="connsiteX16" fmla="*/ 217408 w 516852"/>
              <a:gd name="connsiteY16" fmla="*/ 258172 h 571204"/>
              <a:gd name="connsiteX17" fmla="*/ 292876 w 516852"/>
              <a:gd name="connsiteY17" fmla="*/ 252057 h 571204"/>
              <a:gd name="connsiteX18" fmla="*/ 190232 w 516852"/>
              <a:gd name="connsiteY18" fmla="*/ 394052 h 571204"/>
              <a:gd name="connsiteX19" fmla="*/ 339700 w 516852"/>
              <a:gd name="connsiteY19" fmla="*/ 516344 h 571204"/>
              <a:gd name="connsiteX20" fmla="*/ 410548 w 516852"/>
              <a:gd name="connsiteY20" fmla="*/ 493734 h 571204"/>
              <a:gd name="connsiteX21" fmla="*/ 481559 w 516852"/>
              <a:gd name="connsiteY21" fmla="*/ 564717 h 571204"/>
              <a:gd name="connsiteX22" fmla="*/ 510365 w 516852"/>
              <a:gd name="connsiteY22" fmla="*/ 565734 h 571204"/>
              <a:gd name="connsiteX23" fmla="*/ 511382 w 516852"/>
              <a:gd name="connsiteY23" fmla="*/ 536927 h 571204"/>
              <a:gd name="connsiteX24" fmla="*/ 510365 w 516852"/>
              <a:gd name="connsiteY24" fmla="*/ 535911 h 571204"/>
              <a:gd name="connsiteX25" fmla="*/ 439382 w 516852"/>
              <a:gd name="connsiteY25" fmla="*/ 464900 h 571204"/>
              <a:gd name="connsiteX26" fmla="*/ 410551 w 516852"/>
              <a:gd name="connsiteY26" fmla="*/ 294373 h 571204"/>
              <a:gd name="connsiteX27" fmla="*/ 240024 w 516852"/>
              <a:gd name="connsiteY27" fmla="*/ 323204 h 571204"/>
              <a:gd name="connsiteX28" fmla="*/ 268855 w 516852"/>
              <a:gd name="connsiteY28" fmla="*/ 493731 h 571204"/>
              <a:gd name="connsiteX29" fmla="*/ 339700 w 516852"/>
              <a:gd name="connsiteY29" fmla="*/ 516344 h 571204"/>
              <a:gd name="connsiteX30" fmla="*/ 339700 w 516852"/>
              <a:gd name="connsiteY30" fmla="*/ 475580 h 571204"/>
              <a:gd name="connsiteX31" fmla="*/ 258172 w 516852"/>
              <a:gd name="connsiteY31" fmla="*/ 394052 h 571204"/>
              <a:gd name="connsiteX32" fmla="*/ 339700 w 516852"/>
              <a:gd name="connsiteY32" fmla="*/ 312524 h 571204"/>
              <a:gd name="connsiteX33" fmla="*/ 421228 w 516852"/>
              <a:gd name="connsiteY33" fmla="*/ 394052 h 571204"/>
              <a:gd name="connsiteX34" fmla="*/ 339700 w 516852"/>
              <a:gd name="connsiteY34" fmla="*/ 475580 h 571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16852" h="571204">
                <a:moveTo>
                  <a:pt x="217408" y="217408"/>
                </a:moveTo>
                <a:cubicBezTo>
                  <a:pt x="337472" y="217408"/>
                  <a:pt x="434816" y="168763"/>
                  <a:pt x="434816" y="108704"/>
                </a:cubicBezTo>
                <a:cubicBezTo>
                  <a:pt x="434816" y="48645"/>
                  <a:pt x="337472" y="0"/>
                  <a:pt x="217408" y="0"/>
                </a:cubicBezTo>
                <a:cubicBezTo>
                  <a:pt x="97344" y="0"/>
                  <a:pt x="0" y="48645"/>
                  <a:pt x="0" y="108704"/>
                </a:cubicBezTo>
                <a:cubicBezTo>
                  <a:pt x="0" y="168763"/>
                  <a:pt x="97344" y="217408"/>
                  <a:pt x="217408" y="217408"/>
                </a:cubicBezTo>
                <a:close/>
                <a:moveTo>
                  <a:pt x="389378" y="222028"/>
                </a:moveTo>
                <a:cubicBezTo>
                  <a:pt x="405800" y="213964"/>
                  <a:pt x="421079" y="203756"/>
                  <a:pt x="434816" y="191672"/>
                </a:cubicBezTo>
                <a:lnTo>
                  <a:pt x="434816" y="278744"/>
                </a:lnTo>
                <a:cubicBezTo>
                  <a:pt x="404308" y="253484"/>
                  <a:pt x="364993" y="241426"/>
                  <a:pt x="325568" y="245236"/>
                </a:cubicBezTo>
                <a:cubicBezTo>
                  <a:pt x="347605" y="239804"/>
                  <a:pt x="368998" y="232023"/>
                  <a:pt x="389378" y="222028"/>
                </a:cubicBezTo>
                <a:close/>
                <a:moveTo>
                  <a:pt x="190232" y="394052"/>
                </a:moveTo>
                <a:cubicBezTo>
                  <a:pt x="190232" y="459136"/>
                  <a:pt x="232333" y="516744"/>
                  <a:pt x="294343" y="536509"/>
                </a:cubicBezTo>
                <a:cubicBezTo>
                  <a:pt x="270428" y="541047"/>
                  <a:pt x="244502" y="543520"/>
                  <a:pt x="217408" y="543520"/>
                </a:cubicBezTo>
                <a:cubicBezTo>
                  <a:pt x="97344" y="543520"/>
                  <a:pt x="0" y="494875"/>
                  <a:pt x="0" y="434816"/>
                </a:cubicBezTo>
                <a:lnTo>
                  <a:pt x="0" y="191672"/>
                </a:lnTo>
                <a:cubicBezTo>
                  <a:pt x="13737" y="203756"/>
                  <a:pt x="29016" y="213964"/>
                  <a:pt x="45438" y="222028"/>
                </a:cubicBezTo>
                <a:cubicBezTo>
                  <a:pt x="91583" y="245073"/>
                  <a:pt x="152403" y="258172"/>
                  <a:pt x="217408" y="258172"/>
                </a:cubicBezTo>
                <a:cubicBezTo>
                  <a:pt x="243443" y="258172"/>
                  <a:pt x="268825" y="256079"/>
                  <a:pt x="292876" y="252057"/>
                </a:cubicBezTo>
                <a:cubicBezTo>
                  <a:pt x="231610" y="272285"/>
                  <a:pt x="190227" y="329531"/>
                  <a:pt x="190232" y="394052"/>
                </a:cubicBezTo>
                <a:close/>
                <a:moveTo>
                  <a:pt x="339700" y="516344"/>
                </a:moveTo>
                <a:cubicBezTo>
                  <a:pt x="365096" y="516382"/>
                  <a:pt x="389867" y="508474"/>
                  <a:pt x="410548" y="493734"/>
                </a:cubicBezTo>
                <a:lnTo>
                  <a:pt x="481559" y="564717"/>
                </a:lnTo>
                <a:cubicBezTo>
                  <a:pt x="489233" y="572952"/>
                  <a:pt x="502131" y="573408"/>
                  <a:pt x="510365" y="565734"/>
                </a:cubicBezTo>
                <a:cubicBezTo>
                  <a:pt x="518600" y="558059"/>
                  <a:pt x="519056" y="545164"/>
                  <a:pt x="511382" y="536927"/>
                </a:cubicBezTo>
                <a:cubicBezTo>
                  <a:pt x="511056" y="536577"/>
                  <a:pt x="510716" y="536237"/>
                  <a:pt x="510365" y="535911"/>
                </a:cubicBezTo>
                <a:lnTo>
                  <a:pt x="439382" y="464900"/>
                </a:lnTo>
                <a:cubicBezTo>
                  <a:pt x="478510" y="409849"/>
                  <a:pt x="465601" y="333501"/>
                  <a:pt x="410551" y="294373"/>
                </a:cubicBezTo>
                <a:cubicBezTo>
                  <a:pt x="355500" y="255245"/>
                  <a:pt x="279152" y="268154"/>
                  <a:pt x="240024" y="323204"/>
                </a:cubicBezTo>
                <a:cubicBezTo>
                  <a:pt x="200896" y="378255"/>
                  <a:pt x="213804" y="454603"/>
                  <a:pt x="268855" y="493731"/>
                </a:cubicBezTo>
                <a:cubicBezTo>
                  <a:pt x="289549" y="508441"/>
                  <a:pt x="314309" y="516344"/>
                  <a:pt x="339700" y="516344"/>
                </a:cubicBezTo>
                <a:close/>
                <a:moveTo>
                  <a:pt x="339700" y="475580"/>
                </a:moveTo>
                <a:cubicBezTo>
                  <a:pt x="294672" y="475580"/>
                  <a:pt x="258172" y="439080"/>
                  <a:pt x="258172" y="394052"/>
                </a:cubicBezTo>
                <a:cubicBezTo>
                  <a:pt x="258172" y="349024"/>
                  <a:pt x="294672" y="312524"/>
                  <a:pt x="339700" y="312524"/>
                </a:cubicBezTo>
                <a:cubicBezTo>
                  <a:pt x="384728" y="312524"/>
                  <a:pt x="421228" y="349024"/>
                  <a:pt x="421228" y="394052"/>
                </a:cubicBezTo>
                <a:cubicBezTo>
                  <a:pt x="421228" y="439080"/>
                  <a:pt x="384728" y="475580"/>
                  <a:pt x="339700" y="475580"/>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47" name="Text Placeholder 5">
            <a:extLst>
              <a:ext uri="{FF2B5EF4-FFF2-40B4-BE49-F238E27FC236}">
                <a16:creationId xmlns:a16="http://schemas.microsoft.com/office/drawing/2014/main" id="{724EF0BF-ED0E-BB6C-79DA-EDDC2D2576A6}"/>
              </a:ext>
            </a:extLst>
          </p:cNvPr>
          <p:cNvSpPr txBox="1">
            <a:spLocks/>
          </p:cNvSpPr>
          <p:nvPr/>
        </p:nvSpPr>
        <p:spPr>
          <a:xfrm>
            <a:off x="3296345" y="5007300"/>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latin typeface="+mj-lt"/>
                <a:cs typeface="Segoe UI Semilight"/>
              </a:rPr>
              <a:t>Search</a:t>
            </a:r>
            <a:endParaRPr lang="en-US" sz="1800">
              <a:cs typeface="Segoe UI Semilight"/>
            </a:endParaRPr>
          </a:p>
        </p:txBody>
      </p:sp>
      <p:sp>
        <p:nvSpPr>
          <p:cNvPr id="52" name="TextBox 7">
            <a:extLst>
              <a:ext uri="{FF2B5EF4-FFF2-40B4-BE49-F238E27FC236}">
                <a16:creationId xmlns:a16="http://schemas.microsoft.com/office/drawing/2014/main" id="{56C04EF7-1D7D-D94F-8546-802EE9739F68}"/>
              </a:ext>
            </a:extLst>
          </p:cNvPr>
          <p:cNvSpPr txBox="1"/>
          <p:nvPr/>
        </p:nvSpPr>
        <p:spPr>
          <a:xfrm>
            <a:off x="4667076" y="4184227"/>
            <a:ext cx="2031662" cy="923330"/>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3657965" rtl="0" eaLnBrk="1" latinLnBrk="0" hangingPunct="1">
              <a:defRPr sz="7200" kern="1200">
                <a:solidFill>
                  <a:schemeClr val="dk1"/>
                </a:solidFill>
                <a:latin typeface="+mn-lt"/>
                <a:ea typeface="+mn-ea"/>
                <a:cs typeface="+mn-cs"/>
              </a:defRPr>
            </a:lvl1pPr>
            <a:lvl2pPr marL="1828983" algn="l" defTabSz="3657965" rtl="0" eaLnBrk="1" latinLnBrk="0" hangingPunct="1">
              <a:defRPr sz="7200" kern="1200">
                <a:solidFill>
                  <a:schemeClr val="dk1"/>
                </a:solidFill>
                <a:latin typeface="+mn-lt"/>
                <a:ea typeface="+mn-ea"/>
                <a:cs typeface="+mn-cs"/>
              </a:defRPr>
            </a:lvl2pPr>
            <a:lvl3pPr marL="3657965" algn="l" defTabSz="3657965" rtl="0" eaLnBrk="1" latinLnBrk="0" hangingPunct="1">
              <a:defRPr sz="7200" kern="1200">
                <a:solidFill>
                  <a:schemeClr val="dk1"/>
                </a:solidFill>
                <a:latin typeface="+mn-lt"/>
                <a:ea typeface="+mn-ea"/>
                <a:cs typeface="+mn-cs"/>
              </a:defRPr>
            </a:lvl3pPr>
            <a:lvl4pPr marL="5486948" algn="l" defTabSz="3657965" rtl="0" eaLnBrk="1" latinLnBrk="0" hangingPunct="1">
              <a:defRPr sz="7200" kern="1200">
                <a:solidFill>
                  <a:schemeClr val="dk1"/>
                </a:solidFill>
                <a:latin typeface="+mn-lt"/>
                <a:ea typeface="+mn-ea"/>
                <a:cs typeface="+mn-cs"/>
              </a:defRPr>
            </a:lvl4pPr>
            <a:lvl5pPr marL="7315932" algn="l" defTabSz="3657965" rtl="0" eaLnBrk="1" latinLnBrk="0" hangingPunct="1">
              <a:defRPr sz="7200" kern="1200">
                <a:solidFill>
                  <a:schemeClr val="dk1"/>
                </a:solidFill>
                <a:latin typeface="+mn-lt"/>
                <a:ea typeface="+mn-ea"/>
                <a:cs typeface="+mn-cs"/>
              </a:defRPr>
            </a:lvl5pPr>
            <a:lvl6pPr marL="9144915" algn="l" defTabSz="3657965" rtl="0" eaLnBrk="1" latinLnBrk="0" hangingPunct="1">
              <a:defRPr sz="7200" kern="1200">
                <a:solidFill>
                  <a:schemeClr val="dk1"/>
                </a:solidFill>
                <a:latin typeface="+mn-lt"/>
                <a:ea typeface="+mn-ea"/>
                <a:cs typeface="+mn-cs"/>
              </a:defRPr>
            </a:lvl6pPr>
            <a:lvl7pPr marL="10973897" algn="l" defTabSz="3657965" rtl="0" eaLnBrk="1" latinLnBrk="0" hangingPunct="1">
              <a:defRPr sz="7200" kern="1200">
                <a:solidFill>
                  <a:schemeClr val="dk1"/>
                </a:solidFill>
                <a:latin typeface="+mn-lt"/>
                <a:ea typeface="+mn-ea"/>
                <a:cs typeface="+mn-cs"/>
              </a:defRPr>
            </a:lvl7pPr>
            <a:lvl8pPr marL="12802880" algn="l" defTabSz="3657965" rtl="0" eaLnBrk="1" latinLnBrk="0" hangingPunct="1">
              <a:defRPr sz="7200" kern="1200">
                <a:solidFill>
                  <a:schemeClr val="dk1"/>
                </a:solidFill>
                <a:latin typeface="+mn-lt"/>
                <a:ea typeface="+mn-ea"/>
                <a:cs typeface="+mn-cs"/>
              </a:defRPr>
            </a:lvl8pPr>
            <a:lvl9pPr marL="14631864" algn="l" defTabSz="3657965" rtl="0" eaLnBrk="1" latinLnBrk="0" hangingPunct="1">
              <a:defRPr sz="7200" kern="1200">
                <a:solidFill>
                  <a:schemeClr val="dk1"/>
                </a:solidFill>
                <a:latin typeface="+mn-lt"/>
                <a:ea typeface="+mn-ea"/>
                <a:cs typeface="+mn-cs"/>
              </a:defRPr>
            </a:lvl9pPr>
          </a:lstStyle>
          <a:p>
            <a:r>
              <a:rPr lang="en-US" sz="1000" dirty="0">
                <a:solidFill>
                  <a:schemeClr val="tx1"/>
                </a:solidFill>
                <a:ea typeface="+mn-lt"/>
                <a:cs typeface="+mn-lt"/>
              </a:rPr>
              <a:t>Following the law is an important part of employee benefits, and Contoso and Northwind Health strive to ensure that the Northwind Standard plan is in compliance with all applicable laws. …</a:t>
            </a:r>
          </a:p>
        </p:txBody>
      </p:sp>
      <p:sp>
        <p:nvSpPr>
          <p:cNvPr id="43" name="Rounded Rectangle 5">
            <a:extLst>
              <a:ext uri="{FF2B5EF4-FFF2-40B4-BE49-F238E27FC236}">
                <a16:creationId xmlns:a16="http://schemas.microsoft.com/office/drawing/2014/main" id="{1ECD7A69-5070-77CD-CE92-9C9F57050020}"/>
              </a:ext>
              <a:ext uri="{C183D7F6-B498-43B3-948B-1728B52AA6E4}">
                <adec:decorative xmlns:adec="http://schemas.microsoft.com/office/drawing/2017/decorative" val="1"/>
              </a:ext>
            </a:extLst>
          </p:cNvPr>
          <p:cNvSpPr/>
          <p:nvPr/>
        </p:nvSpPr>
        <p:spPr bwMode="auto">
          <a:xfrm>
            <a:off x="7380213" y="2518358"/>
            <a:ext cx="1898415" cy="3420078"/>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35" name="Graphic 22" descr="Large Language Model icon">
            <a:extLst>
              <a:ext uri="{FF2B5EF4-FFF2-40B4-BE49-F238E27FC236}">
                <a16:creationId xmlns:a16="http://schemas.microsoft.com/office/drawing/2014/main" id="{8348C60F-71C3-8A45-AD00-717A38DAA3EC}"/>
              </a:ext>
            </a:extLst>
          </p:cNvPr>
          <p:cNvSpPr/>
          <p:nvPr/>
        </p:nvSpPr>
        <p:spPr>
          <a:xfrm>
            <a:off x="7931544" y="3084121"/>
            <a:ext cx="795753" cy="796201"/>
          </a:xfrm>
          <a:custGeom>
            <a:avLst/>
            <a:gdLst>
              <a:gd name="connsiteX0" fmla="*/ 461978 w 543510"/>
              <a:gd name="connsiteY0" fmla="*/ 67910 h 543815"/>
              <a:gd name="connsiteX1" fmla="*/ 394065 w 543510"/>
              <a:gd name="connsiteY1" fmla="*/ 135877 h 543815"/>
              <a:gd name="connsiteX2" fmla="*/ 380124 w 543510"/>
              <a:gd name="connsiteY2" fmla="*/ 134437 h 543815"/>
              <a:gd name="connsiteX3" fmla="*/ 345338 w 543510"/>
              <a:gd name="connsiteY3" fmla="*/ 191995 h 543815"/>
              <a:gd name="connsiteX4" fmla="*/ 380450 w 543510"/>
              <a:gd name="connsiteY4" fmla="*/ 271974 h 543815"/>
              <a:gd name="connsiteX5" fmla="*/ 380450 w 543510"/>
              <a:gd name="connsiteY5" fmla="*/ 273551 h 543815"/>
              <a:gd name="connsiteX6" fmla="*/ 415670 w 543510"/>
              <a:gd name="connsiteY6" fmla="*/ 280644 h 543815"/>
              <a:gd name="connsiteX7" fmla="*/ 507639 w 543510"/>
              <a:gd name="connsiteY7" fmla="*/ 252837 h 543815"/>
              <a:gd name="connsiteX8" fmla="*/ 535445 w 543510"/>
              <a:gd name="connsiteY8" fmla="*/ 344809 h 543815"/>
              <a:gd name="connsiteX9" fmla="*/ 443476 w 543510"/>
              <a:gd name="connsiteY9" fmla="*/ 372613 h 543815"/>
              <a:gd name="connsiteX10" fmla="*/ 408088 w 543510"/>
              <a:gd name="connsiteY10" fmla="*/ 320701 h 543815"/>
              <a:gd name="connsiteX11" fmla="*/ 372215 w 543510"/>
              <a:gd name="connsiteY11" fmla="*/ 313499 h 543815"/>
              <a:gd name="connsiteX12" fmla="*/ 324875 w 543510"/>
              <a:gd name="connsiteY12" fmla="*/ 366846 h 543815"/>
              <a:gd name="connsiteX13" fmla="*/ 338327 w 543510"/>
              <a:gd name="connsiteY13" fmla="*/ 407936 h 543815"/>
              <a:gd name="connsiteX14" fmla="*/ 339686 w 543510"/>
              <a:gd name="connsiteY14" fmla="*/ 407936 h 543815"/>
              <a:gd name="connsiteX15" fmla="*/ 407577 w 543510"/>
              <a:gd name="connsiteY15" fmla="*/ 475925 h 543815"/>
              <a:gd name="connsiteX16" fmla="*/ 339588 w 543510"/>
              <a:gd name="connsiteY16" fmla="*/ 543816 h 543815"/>
              <a:gd name="connsiteX17" fmla="*/ 271697 w 543510"/>
              <a:gd name="connsiteY17" fmla="*/ 475827 h 543815"/>
              <a:gd name="connsiteX18" fmla="*/ 299683 w 543510"/>
              <a:gd name="connsiteY18" fmla="*/ 420926 h 543815"/>
              <a:gd name="connsiteX19" fmla="*/ 286203 w 543510"/>
              <a:gd name="connsiteY19" fmla="*/ 379727 h 543815"/>
              <a:gd name="connsiteX20" fmla="*/ 184239 w 543510"/>
              <a:gd name="connsiteY20" fmla="*/ 336436 h 543815"/>
              <a:gd name="connsiteX21" fmla="*/ 135458 w 543510"/>
              <a:gd name="connsiteY21" fmla="*/ 359481 h 543815"/>
              <a:gd name="connsiteX22" fmla="*/ 75560 w 543510"/>
              <a:gd name="connsiteY22" fmla="*/ 434606 h 543815"/>
              <a:gd name="connsiteX23" fmla="*/ 434 w 543510"/>
              <a:gd name="connsiteY23" fmla="*/ 374711 h 543815"/>
              <a:gd name="connsiteX24" fmla="*/ 60332 w 543510"/>
              <a:gd name="connsiteY24" fmla="*/ 299582 h 543815"/>
              <a:gd name="connsiteX25" fmla="*/ 118935 w 543510"/>
              <a:gd name="connsiteY25" fmla="*/ 322196 h 543815"/>
              <a:gd name="connsiteX26" fmla="*/ 166602 w 543510"/>
              <a:gd name="connsiteY26" fmla="*/ 299694 h 543815"/>
              <a:gd name="connsiteX27" fmla="*/ 187908 w 543510"/>
              <a:gd name="connsiteY27" fmla="*/ 202757 h 543815"/>
              <a:gd name="connsiteX28" fmla="*/ 160976 w 543510"/>
              <a:gd name="connsiteY28" fmla="*/ 172048 h 543815"/>
              <a:gd name="connsiteX29" fmla="*/ 72738 w 543510"/>
              <a:gd name="connsiteY29" fmla="*/ 134026 h 543815"/>
              <a:gd name="connsiteX30" fmla="*/ 110761 w 543510"/>
              <a:gd name="connsiteY30" fmla="*/ 45788 h 543815"/>
              <a:gd name="connsiteX31" fmla="*/ 198999 w 543510"/>
              <a:gd name="connsiteY31" fmla="*/ 83810 h 543815"/>
              <a:gd name="connsiteX32" fmla="*/ 192609 w 543510"/>
              <a:gd name="connsiteY32" fmla="*/ 146285 h 543815"/>
              <a:gd name="connsiteX33" fmla="*/ 219323 w 543510"/>
              <a:gd name="connsiteY33" fmla="*/ 176722 h 543815"/>
              <a:gd name="connsiteX34" fmla="*/ 271746 w 543510"/>
              <a:gd name="connsiteY34" fmla="*/ 163270 h 543815"/>
              <a:gd name="connsiteX35" fmla="*/ 310716 w 543510"/>
              <a:gd name="connsiteY35" fmla="*/ 170472 h 543815"/>
              <a:gd name="connsiteX36" fmla="*/ 344550 w 543510"/>
              <a:gd name="connsiteY36" fmla="*/ 114489 h 543815"/>
              <a:gd name="connsiteX37" fmla="*/ 347488 w 543510"/>
              <a:gd name="connsiteY37" fmla="*/ 18453 h 543815"/>
              <a:gd name="connsiteX38" fmla="*/ 443525 w 543510"/>
              <a:gd name="connsiteY38" fmla="*/ 21391 h 543815"/>
              <a:gd name="connsiteX39" fmla="*/ 461978 w 543510"/>
              <a:gd name="connsiteY39" fmla="*/ 67937 h 54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43510" h="543815">
                <a:moveTo>
                  <a:pt x="461978" y="67910"/>
                </a:moveTo>
                <a:cubicBezTo>
                  <a:pt x="461991" y="105432"/>
                  <a:pt x="431587" y="135862"/>
                  <a:pt x="394065" y="135877"/>
                </a:cubicBezTo>
                <a:cubicBezTo>
                  <a:pt x="389380" y="135879"/>
                  <a:pt x="384708" y="135396"/>
                  <a:pt x="380124" y="134437"/>
                </a:cubicBezTo>
                <a:lnTo>
                  <a:pt x="345338" y="191995"/>
                </a:lnTo>
                <a:cubicBezTo>
                  <a:pt x="367737" y="212554"/>
                  <a:pt x="380477" y="241573"/>
                  <a:pt x="380450" y="271974"/>
                </a:cubicBezTo>
                <a:lnTo>
                  <a:pt x="380450" y="273551"/>
                </a:lnTo>
                <a:lnTo>
                  <a:pt x="415670" y="280644"/>
                </a:lnTo>
                <a:cubicBezTo>
                  <a:pt x="433389" y="247568"/>
                  <a:pt x="474566" y="235118"/>
                  <a:pt x="507639" y="252837"/>
                </a:cubicBezTo>
                <a:cubicBezTo>
                  <a:pt x="540715" y="270556"/>
                  <a:pt x="553164" y="311733"/>
                  <a:pt x="535445" y="344809"/>
                </a:cubicBezTo>
                <a:cubicBezTo>
                  <a:pt x="517727" y="377882"/>
                  <a:pt x="476552" y="390331"/>
                  <a:pt x="443476" y="372613"/>
                </a:cubicBezTo>
                <a:cubicBezTo>
                  <a:pt x="423907" y="362131"/>
                  <a:pt x="410694" y="342749"/>
                  <a:pt x="408088" y="320701"/>
                </a:cubicBezTo>
                <a:lnTo>
                  <a:pt x="372215" y="313499"/>
                </a:lnTo>
                <a:cubicBezTo>
                  <a:pt x="362856" y="336083"/>
                  <a:pt x="346186" y="354869"/>
                  <a:pt x="324875" y="366846"/>
                </a:cubicBezTo>
                <a:lnTo>
                  <a:pt x="338327" y="407936"/>
                </a:lnTo>
                <a:lnTo>
                  <a:pt x="339686" y="407936"/>
                </a:lnTo>
                <a:cubicBezTo>
                  <a:pt x="377208" y="407963"/>
                  <a:pt x="407604" y="438403"/>
                  <a:pt x="407577" y="475925"/>
                </a:cubicBezTo>
                <a:cubicBezTo>
                  <a:pt x="407550" y="513447"/>
                  <a:pt x="377110" y="543843"/>
                  <a:pt x="339588" y="543816"/>
                </a:cubicBezTo>
                <a:cubicBezTo>
                  <a:pt x="302066" y="543789"/>
                  <a:pt x="271670" y="513349"/>
                  <a:pt x="271697" y="475827"/>
                </a:cubicBezTo>
                <a:cubicBezTo>
                  <a:pt x="271713" y="454105"/>
                  <a:pt x="282113" y="433701"/>
                  <a:pt x="299683" y="420926"/>
                </a:cubicBezTo>
                <a:lnTo>
                  <a:pt x="286203" y="379727"/>
                </a:lnTo>
                <a:cubicBezTo>
                  <a:pt x="246855" y="385032"/>
                  <a:pt x="207751" y="368430"/>
                  <a:pt x="184239" y="336436"/>
                </a:cubicBezTo>
                <a:lnTo>
                  <a:pt x="135458" y="359481"/>
                </a:lnTo>
                <a:cubicBezTo>
                  <a:pt x="139663" y="396767"/>
                  <a:pt x="112846" y="430402"/>
                  <a:pt x="75560" y="434606"/>
                </a:cubicBezTo>
                <a:cubicBezTo>
                  <a:pt x="38274" y="438813"/>
                  <a:pt x="4639" y="411996"/>
                  <a:pt x="434" y="374711"/>
                </a:cubicBezTo>
                <a:cubicBezTo>
                  <a:pt x="-3771" y="337422"/>
                  <a:pt x="23046" y="303789"/>
                  <a:pt x="60332" y="299582"/>
                </a:cubicBezTo>
                <a:cubicBezTo>
                  <a:pt x="82387" y="297096"/>
                  <a:pt x="104267" y="305539"/>
                  <a:pt x="118935" y="322196"/>
                </a:cubicBezTo>
                <a:lnTo>
                  <a:pt x="166602" y="299694"/>
                </a:lnTo>
                <a:cubicBezTo>
                  <a:pt x="157705" y="265835"/>
                  <a:pt x="165633" y="229765"/>
                  <a:pt x="187908" y="202757"/>
                </a:cubicBezTo>
                <a:lnTo>
                  <a:pt x="160976" y="172048"/>
                </a:lnTo>
                <a:cubicBezTo>
                  <a:pt x="126110" y="185915"/>
                  <a:pt x="86605" y="168892"/>
                  <a:pt x="72738" y="134026"/>
                </a:cubicBezTo>
                <a:cubicBezTo>
                  <a:pt x="58872" y="99160"/>
                  <a:pt x="75895" y="59654"/>
                  <a:pt x="110761" y="45788"/>
                </a:cubicBezTo>
                <a:cubicBezTo>
                  <a:pt x="145627" y="31921"/>
                  <a:pt x="185132" y="48944"/>
                  <a:pt x="198999" y="83810"/>
                </a:cubicBezTo>
                <a:cubicBezTo>
                  <a:pt x="207199" y="104429"/>
                  <a:pt x="204814" y="127753"/>
                  <a:pt x="192609" y="146285"/>
                </a:cubicBezTo>
                <a:lnTo>
                  <a:pt x="219323" y="176722"/>
                </a:lnTo>
                <a:cubicBezTo>
                  <a:pt x="235376" y="167871"/>
                  <a:pt x="253416" y="163242"/>
                  <a:pt x="271746" y="163270"/>
                </a:cubicBezTo>
                <a:cubicBezTo>
                  <a:pt x="285470" y="163270"/>
                  <a:pt x="298650" y="165825"/>
                  <a:pt x="310716" y="170472"/>
                </a:cubicBezTo>
                <a:lnTo>
                  <a:pt x="344550" y="114489"/>
                </a:lnTo>
                <a:cubicBezTo>
                  <a:pt x="318842" y="87158"/>
                  <a:pt x="320157" y="44161"/>
                  <a:pt x="347488" y="18453"/>
                </a:cubicBezTo>
                <a:cubicBezTo>
                  <a:pt x="374819" y="-7256"/>
                  <a:pt x="417817" y="-5940"/>
                  <a:pt x="443525" y="21391"/>
                </a:cubicBezTo>
                <a:cubicBezTo>
                  <a:pt x="455377" y="33991"/>
                  <a:pt x="461978" y="50638"/>
                  <a:pt x="461978" y="67937"/>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54" name="Text Placeholder 5">
            <a:extLst>
              <a:ext uri="{FF2B5EF4-FFF2-40B4-BE49-F238E27FC236}">
                <a16:creationId xmlns:a16="http://schemas.microsoft.com/office/drawing/2014/main" id="{A0AA539D-0B02-2837-7491-30A581915863}"/>
              </a:ext>
            </a:extLst>
          </p:cNvPr>
          <p:cNvSpPr txBox="1">
            <a:spLocks/>
          </p:cNvSpPr>
          <p:nvPr/>
        </p:nvSpPr>
        <p:spPr>
          <a:xfrm>
            <a:off x="7690209" y="4105234"/>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latin typeface="+mj-lt"/>
                <a:cs typeface="Segoe UI Semilight"/>
              </a:rPr>
              <a:t>Large Language Model</a:t>
            </a:r>
          </a:p>
        </p:txBody>
      </p:sp>
      <p:grpSp>
        <p:nvGrpSpPr>
          <p:cNvPr id="14" name="Group 13" descr="For great hiking shoes, consider the TrekExtreme Hiking Shoes1  or the Trailblaze Steel-Blue Hiking Shoes2&#10;">
            <a:extLst>
              <a:ext uri="{FF2B5EF4-FFF2-40B4-BE49-F238E27FC236}">
                <a16:creationId xmlns:a16="http://schemas.microsoft.com/office/drawing/2014/main" id="{9764562E-0265-9A02-633A-3BD6D459E9A5}"/>
              </a:ext>
            </a:extLst>
          </p:cNvPr>
          <p:cNvGrpSpPr/>
          <p:nvPr/>
        </p:nvGrpSpPr>
        <p:grpSpPr>
          <a:xfrm>
            <a:off x="8908473" y="713318"/>
            <a:ext cx="3058556" cy="1905771"/>
            <a:chOff x="9018953" y="-819668"/>
            <a:chExt cx="2948076" cy="1443702"/>
          </a:xfrm>
        </p:grpSpPr>
        <p:sp>
          <p:nvSpPr>
            <p:cNvPr id="13" name="Freeform 12">
              <a:extLst>
                <a:ext uri="{FF2B5EF4-FFF2-40B4-BE49-F238E27FC236}">
                  <a16:creationId xmlns:a16="http://schemas.microsoft.com/office/drawing/2014/main" id="{F42C96BB-612E-1ED0-ADEE-CC062FAF7751}"/>
                </a:ext>
                <a:ext uri="{C183D7F6-B498-43B3-948B-1728B52AA6E4}">
                  <adec:decorative xmlns:adec="http://schemas.microsoft.com/office/drawing/2017/decorative" val="1"/>
                </a:ext>
              </a:extLst>
            </p:cNvPr>
            <p:cNvSpPr/>
            <p:nvPr/>
          </p:nvSpPr>
          <p:spPr bwMode="auto">
            <a:xfrm>
              <a:off x="9018953" y="-789893"/>
              <a:ext cx="2948076" cy="1413927"/>
            </a:xfrm>
            <a:custGeom>
              <a:avLst/>
              <a:gdLst>
                <a:gd name="connsiteX0" fmla="*/ 192145 w 2948076"/>
                <a:gd name="connsiteY0" fmla="*/ 0 h 1413927"/>
                <a:gd name="connsiteX1" fmla="*/ 2755931 w 2948076"/>
                <a:gd name="connsiteY1" fmla="*/ 0 h 1413927"/>
                <a:gd name="connsiteX2" fmla="*/ 2948076 w 2948076"/>
                <a:gd name="connsiteY2" fmla="*/ 192145 h 1413927"/>
                <a:gd name="connsiteX3" fmla="*/ 2948076 w 2948076"/>
                <a:gd name="connsiteY3" fmla="*/ 960701 h 1413927"/>
                <a:gd name="connsiteX4" fmla="*/ 2755931 w 2948076"/>
                <a:gd name="connsiteY4" fmla="*/ 1152846 h 1413927"/>
                <a:gd name="connsiteX5" fmla="*/ 1814482 w 2948076"/>
                <a:gd name="connsiteY5" fmla="*/ 1152846 h 1413927"/>
                <a:gd name="connsiteX6" fmla="*/ 1814482 w 2948076"/>
                <a:gd name="connsiteY6" fmla="*/ 1413927 h 1413927"/>
                <a:gd name="connsiteX7" fmla="*/ 1553401 w 2948076"/>
                <a:gd name="connsiteY7" fmla="*/ 1152846 h 1413927"/>
                <a:gd name="connsiteX8" fmla="*/ 192145 w 2948076"/>
                <a:gd name="connsiteY8" fmla="*/ 1152846 h 1413927"/>
                <a:gd name="connsiteX9" fmla="*/ 0 w 2948076"/>
                <a:gd name="connsiteY9" fmla="*/ 960701 h 1413927"/>
                <a:gd name="connsiteX10" fmla="*/ 0 w 2948076"/>
                <a:gd name="connsiteY10" fmla="*/ 192145 h 1413927"/>
                <a:gd name="connsiteX11" fmla="*/ 192145 w 2948076"/>
                <a:gd name="connsiteY11" fmla="*/ 0 h 14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48076" h="1413927">
                  <a:moveTo>
                    <a:pt x="192145" y="0"/>
                  </a:moveTo>
                  <a:lnTo>
                    <a:pt x="2755931" y="0"/>
                  </a:lnTo>
                  <a:cubicBezTo>
                    <a:pt x="2862050" y="0"/>
                    <a:pt x="2948076" y="86026"/>
                    <a:pt x="2948076" y="192145"/>
                  </a:cubicBezTo>
                  <a:lnTo>
                    <a:pt x="2948076" y="960701"/>
                  </a:lnTo>
                  <a:cubicBezTo>
                    <a:pt x="2948076" y="1066820"/>
                    <a:pt x="2862050" y="1152846"/>
                    <a:pt x="2755931" y="1152846"/>
                  </a:cubicBezTo>
                  <a:lnTo>
                    <a:pt x="1814482" y="1152846"/>
                  </a:lnTo>
                  <a:lnTo>
                    <a:pt x="1814482" y="1413927"/>
                  </a:lnTo>
                  <a:lnTo>
                    <a:pt x="1553401" y="1152846"/>
                  </a:lnTo>
                  <a:lnTo>
                    <a:pt x="192145" y="1152846"/>
                  </a:lnTo>
                  <a:cubicBezTo>
                    <a:pt x="86026" y="1152846"/>
                    <a:pt x="0" y="1066820"/>
                    <a:pt x="0" y="960701"/>
                  </a:cubicBezTo>
                  <a:lnTo>
                    <a:pt x="0" y="192145"/>
                  </a:lnTo>
                  <a:cubicBezTo>
                    <a:pt x="0" y="86026"/>
                    <a:pt x="86026" y="0"/>
                    <a:pt x="192145" y="0"/>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err="1">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10" name="Text Placeholder 5">
              <a:extLst>
                <a:ext uri="{FF2B5EF4-FFF2-40B4-BE49-F238E27FC236}">
                  <a16:creationId xmlns:a16="http://schemas.microsoft.com/office/drawing/2014/main" id="{78D0AF41-0E69-EB2B-322B-3947227BCDAE}"/>
                </a:ext>
                <a:ext uri="{C183D7F6-B498-43B3-948B-1728B52AA6E4}">
                  <adec:decorative xmlns:adec="http://schemas.microsoft.com/office/drawing/2017/decorative" val="1"/>
                </a:ext>
              </a:extLst>
            </p:cNvPr>
            <p:cNvSpPr txBox="1">
              <a:spLocks/>
            </p:cNvSpPr>
            <p:nvPr/>
          </p:nvSpPr>
          <p:spPr>
            <a:xfrm>
              <a:off x="9127811" y="-819668"/>
              <a:ext cx="2730360" cy="1212400"/>
            </a:xfrm>
            <a:prstGeom prst="rect">
              <a:avLst/>
            </a:prstGeom>
          </p:spPr>
          <p:txBody>
            <a:bodyPr lIns="91440" tIns="45720" rIns="91440" bIns="45720" anchor="ctr">
              <a:spAutoFit/>
            </a:bodyP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400" dirty="0">
                  <a:solidFill>
                    <a:schemeClr val="bg1"/>
                  </a:solidFill>
                  <a:latin typeface="Segoe UI"/>
                  <a:cs typeface="Segoe UI Semilight"/>
                </a:rPr>
                <a:t>The compliance of the Northwind Health Plus plan with state regulations is ensured by the plan itself, as it states that it is in compliance with applicable state and federal laws and regulations[1]</a:t>
              </a:r>
              <a:endParaRPr lang="en-US" sz="1400" baseline="30000" dirty="0">
                <a:solidFill>
                  <a:schemeClr val="bg1"/>
                </a:solidFill>
                <a:latin typeface="Segoe UI"/>
                <a:cs typeface="Segoe UI Semilight"/>
              </a:endParaRPr>
            </a:p>
          </p:txBody>
        </p:sp>
      </p:grpSp>
      <p:grpSp>
        <p:nvGrpSpPr>
          <p:cNvPr id="82" name="Group 81">
            <a:extLst>
              <a:ext uri="{FF2B5EF4-FFF2-40B4-BE49-F238E27FC236}">
                <a16:creationId xmlns:a16="http://schemas.microsoft.com/office/drawing/2014/main" id="{D9500661-E8D6-18CF-D1C4-608EBA7642B0}"/>
              </a:ext>
              <a:ext uri="{C183D7F6-B498-43B3-948B-1728B52AA6E4}">
                <adec:decorative xmlns:adec="http://schemas.microsoft.com/office/drawing/2017/decorative" val="1"/>
              </a:ext>
            </a:extLst>
          </p:cNvPr>
          <p:cNvGrpSpPr/>
          <p:nvPr/>
        </p:nvGrpSpPr>
        <p:grpSpPr>
          <a:xfrm>
            <a:off x="9280038" y="3377891"/>
            <a:ext cx="674005" cy="219834"/>
            <a:chOff x="9280038" y="3377891"/>
            <a:chExt cx="674005" cy="219834"/>
          </a:xfrm>
        </p:grpSpPr>
        <p:cxnSp>
          <p:nvCxnSpPr>
            <p:cNvPr id="55" name="Straight Connector 54">
              <a:extLst>
                <a:ext uri="{FF2B5EF4-FFF2-40B4-BE49-F238E27FC236}">
                  <a16:creationId xmlns:a16="http://schemas.microsoft.com/office/drawing/2014/main" id="{471C7B87-D22A-44E8-2BA7-C7EE92093BAC}"/>
                </a:ext>
                <a:ext uri="{C183D7F6-B498-43B3-948B-1728B52AA6E4}">
                  <adec:decorative xmlns:adec="http://schemas.microsoft.com/office/drawing/2017/decorative" val="1"/>
                </a:ext>
              </a:extLst>
            </p:cNvPr>
            <p:cNvCxnSpPr>
              <a:cxnSpLocks/>
            </p:cNvCxnSpPr>
            <p:nvPr/>
          </p:nvCxnSpPr>
          <p:spPr>
            <a:xfrm>
              <a:off x="9280038" y="3487808"/>
              <a:ext cx="570422" cy="0"/>
            </a:xfrm>
            <a:prstGeom prst="line">
              <a:avLst/>
            </a:prstGeom>
            <a:noFill/>
            <a:ln w="15875">
              <a:gradFill>
                <a:gsLst>
                  <a:gs pos="0">
                    <a:srgbClr val="F4364C"/>
                  </a:gs>
                  <a:gs pos="100000">
                    <a:srgbClr val="49C5B1"/>
                  </a:gs>
                  <a:gs pos="80000">
                    <a:srgbClr val="0078D4"/>
                  </a:gs>
                  <a:gs pos="26000">
                    <a:srgbClr val="C03BC4"/>
                  </a:gs>
                </a:gsLst>
                <a:lin ang="10800000" scaled="0"/>
              </a:gradFill>
              <a:headEnd type="oval" w="med" len="med"/>
              <a:tailEnd type="oval" w="lg" len="lg"/>
            </a:ln>
            <a:effectLst/>
          </p:spPr>
          <p:style>
            <a:lnRef idx="1">
              <a:schemeClr val="accent2"/>
            </a:lnRef>
            <a:fillRef idx="3">
              <a:schemeClr val="accent2"/>
            </a:fillRef>
            <a:effectRef idx="2">
              <a:schemeClr val="accent2"/>
            </a:effectRef>
            <a:fontRef idx="minor">
              <a:schemeClr val="lt1"/>
            </a:fontRef>
          </p:style>
        </p:cxnSp>
        <p:grpSp>
          <p:nvGrpSpPr>
            <p:cNvPr id="56" name="Group 55">
              <a:extLst>
                <a:ext uri="{FF2B5EF4-FFF2-40B4-BE49-F238E27FC236}">
                  <a16:creationId xmlns:a16="http://schemas.microsoft.com/office/drawing/2014/main" id="{0E6808E9-83C4-D76B-BB9C-E3BE6D7E2A34}"/>
                </a:ext>
              </a:extLst>
            </p:cNvPr>
            <p:cNvGrpSpPr/>
            <p:nvPr/>
          </p:nvGrpSpPr>
          <p:grpSpPr>
            <a:xfrm>
              <a:off x="9734208" y="3377891"/>
              <a:ext cx="219835" cy="219834"/>
              <a:chOff x="1613419" y="2537559"/>
              <a:chExt cx="339399" cy="339399"/>
            </a:xfrm>
          </p:grpSpPr>
          <p:sp>
            <p:nvSpPr>
              <p:cNvPr id="57" name="Oval 56">
                <a:extLst>
                  <a:ext uri="{FF2B5EF4-FFF2-40B4-BE49-F238E27FC236}">
                    <a16:creationId xmlns:a16="http://schemas.microsoft.com/office/drawing/2014/main" id="{426FBD40-4C38-D950-FAF5-E58928F03F11}"/>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58" name="Oval 57">
                <a:extLst>
                  <a:ext uri="{FF2B5EF4-FFF2-40B4-BE49-F238E27FC236}">
                    <a16:creationId xmlns:a16="http://schemas.microsoft.com/office/drawing/2014/main" id="{37EFAECF-CF9E-FA91-9828-70E5511CAE65}"/>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grpSp>
      <p:sp>
        <p:nvSpPr>
          <p:cNvPr id="36" name="Graphic 27" descr="Robot icon">
            <a:extLst>
              <a:ext uri="{FF2B5EF4-FFF2-40B4-BE49-F238E27FC236}">
                <a16:creationId xmlns:a16="http://schemas.microsoft.com/office/drawing/2014/main" id="{333A2C78-45D8-B19E-D185-0C8BB347A34C}"/>
              </a:ext>
            </a:extLst>
          </p:cNvPr>
          <p:cNvSpPr/>
          <p:nvPr/>
        </p:nvSpPr>
        <p:spPr>
          <a:xfrm>
            <a:off x="10192368" y="3006368"/>
            <a:ext cx="770305" cy="962880"/>
          </a:xfrm>
          <a:custGeom>
            <a:avLst/>
            <a:gdLst>
              <a:gd name="connsiteX0" fmla="*/ 373670 w 434816"/>
              <a:gd name="connsiteY0" fmla="*/ 326112 h 543520"/>
              <a:gd name="connsiteX1" fmla="*/ 434816 w 434816"/>
              <a:gd name="connsiteY1" fmla="*/ 387258 h 543520"/>
              <a:gd name="connsiteX2" fmla="*/ 434816 w 434816"/>
              <a:gd name="connsiteY2" fmla="*/ 411852 h 543520"/>
              <a:gd name="connsiteX3" fmla="*/ 399297 w 434816"/>
              <a:gd name="connsiteY3" fmla="*/ 489195 h 543520"/>
              <a:gd name="connsiteX4" fmla="*/ 217326 w 434816"/>
              <a:gd name="connsiteY4" fmla="*/ 543520 h 543520"/>
              <a:gd name="connsiteX5" fmla="*/ 35492 w 434816"/>
              <a:gd name="connsiteY5" fmla="*/ 489168 h 543520"/>
              <a:gd name="connsiteX6" fmla="*/ 0 w 434816"/>
              <a:gd name="connsiteY6" fmla="*/ 411907 h 543520"/>
              <a:gd name="connsiteX7" fmla="*/ 0 w 434816"/>
              <a:gd name="connsiteY7" fmla="*/ 387231 h 543520"/>
              <a:gd name="connsiteX8" fmla="*/ 61146 w 434816"/>
              <a:gd name="connsiteY8" fmla="*/ 326112 h 543520"/>
              <a:gd name="connsiteX9" fmla="*/ 373670 w 434816"/>
              <a:gd name="connsiteY9" fmla="*/ 326112 h 543520"/>
              <a:gd name="connsiteX10" fmla="*/ 214555 w 434816"/>
              <a:gd name="connsiteY10" fmla="*/ 217 h 543520"/>
              <a:gd name="connsiteX11" fmla="*/ 217326 w 434816"/>
              <a:gd name="connsiteY11" fmla="*/ 0 h 543520"/>
              <a:gd name="connsiteX12" fmla="*/ 237518 w 434816"/>
              <a:gd name="connsiteY12" fmla="*/ 17610 h 543520"/>
              <a:gd name="connsiteX13" fmla="*/ 237708 w 434816"/>
              <a:gd name="connsiteY13" fmla="*/ 20382 h 543520"/>
              <a:gd name="connsiteX14" fmla="*/ 237708 w 434816"/>
              <a:gd name="connsiteY14" fmla="*/ 40764 h 543520"/>
              <a:gd name="connsiteX15" fmla="*/ 332824 w 434816"/>
              <a:gd name="connsiteY15" fmla="*/ 40764 h 543520"/>
              <a:gd name="connsiteX16" fmla="*/ 393970 w 434816"/>
              <a:gd name="connsiteY16" fmla="*/ 101910 h 543520"/>
              <a:gd name="connsiteX17" fmla="*/ 393970 w 434816"/>
              <a:gd name="connsiteY17" fmla="*/ 224338 h 543520"/>
              <a:gd name="connsiteX18" fmla="*/ 332824 w 434816"/>
              <a:gd name="connsiteY18" fmla="*/ 285484 h 543520"/>
              <a:gd name="connsiteX19" fmla="*/ 101828 w 434816"/>
              <a:gd name="connsiteY19" fmla="*/ 285484 h 543520"/>
              <a:gd name="connsiteX20" fmla="*/ 40682 w 434816"/>
              <a:gd name="connsiteY20" fmla="*/ 224338 h 543520"/>
              <a:gd name="connsiteX21" fmla="*/ 40682 w 434816"/>
              <a:gd name="connsiteY21" fmla="*/ 101910 h 543520"/>
              <a:gd name="connsiteX22" fmla="*/ 101828 w 434816"/>
              <a:gd name="connsiteY22" fmla="*/ 40764 h 543520"/>
              <a:gd name="connsiteX23" fmla="*/ 196944 w 434816"/>
              <a:gd name="connsiteY23" fmla="*/ 40764 h 543520"/>
              <a:gd name="connsiteX24" fmla="*/ 196944 w 434816"/>
              <a:gd name="connsiteY24" fmla="*/ 20409 h 543520"/>
              <a:gd name="connsiteX25" fmla="*/ 214555 w 434816"/>
              <a:gd name="connsiteY25" fmla="*/ 217 h 543520"/>
              <a:gd name="connsiteX26" fmla="*/ 217326 w 434816"/>
              <a:gd name="connsiteY26" fmla="*/ 0 h 543520"/>
              <a:gd name="connsiteX27" fmla="*/ 214555 w 434816"/>
              <a:gd name="connsiteY27" fmla="*/ 190 h 543520"/>
              <a:gd name="connsiteX28" fmla="*/ 156180 w 434816"/>
              <a:gd name="connsiteY28" fmla="*/ 122292 h 543520"/>
              <a:gd name="connsiteX29" fmla="*/ 122210 w 434816"/>
              <a:gd name="connsiteY29" fmla="*/ 156262 h 543520"/>
              <a:gd name="connsiteX30" fmla="*/ 156180 w 434816"/>
              <a:gd name="connsiteY30" fmla="*/ 190232 h 543520"/>
              <a:gd name="connsiteX31" fmla="*/ 190150 w 434816"/>
              <a:gd name="connsiteY31" fmla="*/ 156262 h 543520"/>
              <a:gd name="connsiteX32" fmla="*/ 156180 w 434816"/>
              <a:gd name="connsiteY32" fmla="*/ 122292 h 543520"/>
              <a:gd name="connsiteX33" fmla="*/ 278282 w 434816"/>
              <a:gd name="connsiteY33" fmla="*/ 122292 h 543520"/>
              <a:gd name="connsiteX34" fmla="*/ 243364 w 434816"/>
              <a:gd name="connsiteY34" fmla="*/ 155288 h 543520"/>
              <a:gd name="connsiteX35" fmla="*/ 276361 w 434816"/>
              <a:gd name="connsiteY35" fmla="*/ 190205 h 543520"/>
              <a:gd name="connsiteX36" fmla="*/ 278282 w 434816"/>
              <a:gd name="connsiteY36" fmla="*/ 190205 h 543520"/>
              <a:gd name="connsiteX37" fmla="*/ 311277 w 434816"/>
              <a:gd name="connsiteY37" fmla="*/ 155288 h 543520"/>
              <a:gd name="connsiteX38" fmla="*/ 278282 w 434816"/>
              <a:gd name="connsiteY38" fmla="*/ 122292 h 543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34816" h="543520">
                <a:moveTo>
                  <a:pt x="373670" y="326112"/>
                </a:moveTo>
                <a:cubicBezTo>
                  <a:pt x="407439" y="326112"/>
                  <a:pt x="434816" y="353489"/>
                  <a:pt x="434816" y="387258"/>
                </a:cubicBezTo>
                <a:lnTo>
                  <a:pt x="434816" y="411852"/>
                </a:lnTo>
                <a:cubicBezTo>
                  <a:pt x="434824" y="441580"/>
                  <a:pt x="421850" y="469830"/>
                  <a:pt x="399297" y="489195"/>
                </a:cubicBezTo>
                <a:cubicBezTo>
                  <a:pt x="356739" y="525720"/>
                  <a:pt x="295865" y="543520"/>
                  <a:pt x="217326" y="543520"/>
                </a:cubicBezTo>
                <a:cubicBezTo>
                  <a:pt x="138788" y="543520"/>
                  <a:pt x="77968" y="525693"/>
                  <a:pt x="35492" y="489168"/>
                </a:cubicBezTo>
                <a:cubicBezTo>
                  <a:pt x="12970" y="469816"/>
                  <a:pt x="9" y="441602"/>
                  <a:pt x="0" y="411907"/>
                </a:cubicBezTo>
                <a:lnTo>
                  <a:pt x="0" y="387231"/>
                </a:lnTo>
                <a:cubicBezTo>
                  <a:pt x="15" y="353473"/>
                  <a:pt x="27387" y="326112"/>
                  <a:pt x="61146" y="326112"/>
                </a:cubicBezTo>
                <a:lnTo>
                  <a:pt x="373670" y="326112"/>
                </a:lnTo>
                <a:close/>
                <a:moveTo>
                  <a:pt x="214555" y="217"/>
                </a:moveTo>
                <a:lnTo>
                  <a:pt x="217326" y="0"/>
                </a:lnTo>
                <a:cubicBezTo>
                  <a:pt x="227512" y="1"/>
                  <a:pt x="236132" y="7520"/>
                  <a:pt x="237518" y="17610"/>
                </a:cubicBezTo>
                <a:lnTo>
                  <a:pt x="237708" y="20382"/>
                </a:lnTo>
                <a:lnTo>
                  <a:pt x="237708" y="40764"/>
                </a:lnTo>
                <a:lnTo>
                  <a:pt x="332824" y="40764"/>
                </a:lnTo>
                <a:cubicBezTo>
                  <a:pt x="366593" y="40764"/>
                  <a:pt x="393970" y="68140"/>
                  <a:pt x="393970" y="101910"/>
                </a:cubicBezTo>
                <a:lnTo>
                  <a:pt x="393970" y="224338"/>
                </a:lnTo>
                <a:cubicBezTo>
                  <a:pt x="393970" y="258107"/>
                  <a:pt x="366593" y="285484"/>
                  <a:pt x="332824" y="285484"/>
                </a:cubicBezTo>
                <a:lnTo>
                  <a:pt x="101828" y="285484"/>
                </a:lnTo>
                <a:cubicBezTo>
                  <a:pt x="68058" y="285484"/>
                  <a:pt x="40682" y="258107"/>
                  <a:pt x="40682" y="224338"/>
                </a:cubicBezTo>
                <a:lnTo>
                  <a:pt x="40682" y="101910"/>
                </a:lnTo>
                <a:cubicBezTo>
                  <a:pt x="40682" y="68140"/>
                  <a:pt x="68058" y="40764"/>
                  <a:pt x="101828" y="40764"/>
                </a:cubicBezTo>
                <a:lnTo>
                  <a:pt x="196944" y="40764"/>
                </a:lnTo>
                <a:lnTo>
                  <a:pt x="196944" y="20409"/>
                </a:lnTo>
                <a:cubicBezTo>
                  <a:pt x="196944" y="10224"/>
                  <a:pt x="204464" y="1603"/>
                  <a:pt x="214555" y="217"/>
                </a:cubicBezTo>
                <a:lnTo>
                  <a:pt x="217326" y="0"/>
                </a:lnTo>
                <a:lnTo>
                  <a:pt x="214555" y="190"/>
                </a:lnTo>
                <a:close/>
                <a:moveTo>
                  <a:pt x="156180" y="122292"/>
                </a:moveTo>
                <a:cubicBezTo>
                  <a:pt x="137419" y="122292"/>
                  <a:pt x="122210" y="137501"/>
                  <a:pt x="122210" y="156262"/>
                </a:cubicBezTo>
                <a:cubicBezTo>
                  <a:pt x="122210" y="175023"/>
                  <a:pt x="137419" y="190232"/>
                  <a:pt x="156180" y="190232"/>
                </a:cubicBezTo>
                <a:cubicBezTo>
                  <a:pt x="174943" y="190232"/>
                  <a:pt x="190150" y="175023"/>
                  <a:pt x="190150" y="156262"/>
                </a:cubicBezTo>
                <a:cubicBezTo>
                  <a:pt x="190150" y="137501"/>
                  <a:pt x="174943" y="122292"/>
                  <a:pt x="156180" y="122292"/>
                </a:cubicBezTo>
                <a:close/>
                <a:moveTo>
                  <a:pt x="278282" y="122292"/>
                </a:moveTo>
                <a:cubicBezTo>
                  <a:pt x="259528" y="121762"/>
                  <a:pt x="243896" y="136534"/>
                  <a:pt x="243364" y="155288"/>
                </a:cubicBezTo>
                <a:cubicBezTo>
                  <a:pt x="242834" y="174041"/>
                  <a:pt x="257607" y="189674"/>
                  <a:pt x="276361" y="190205"/>
                </a:cubicBezTo>
                <a:cubicBezTo>
                  <a:pt x="277002" y="190223"/>
                  <a:pt x="277641" y="190223"/>
                  <a:pt x="278282" y="190205"/>
                </a:cubicBezTo>
                <a:cubicBezTo>
                  <a:pt x="297036" y="189674"/>
                  <a:pt x="311809" y="174041"/>
                  <a:pt x="311277" y="155288"/>
                </a:cubicBezTo>
                <a:cubicBezTo>
                  <a:pt x="310768" y="137280"/>
                  <a:pt x="296289" y="122802"/>
                  <a:pt x="278282" y="122292"/>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nvGrpSpPr>
          <p:cNvPr id="81" name="Group 80">
            <a:extLst>
              <a:ext uri="{FF2B5EF4-FFF2-40B4-BE49-F238E27FC236}">
                <a16:creationId xmlns:a16="http://schemas.microsoft.com/office/drawing/2014/main" id="{778B7ED9-06CF-1DAE-B7DB-26EABA2BF637}"/>
              </a:ext>
              <a:ext uri="{C183D7F6-B498-43B3-948B-1728B52AA6E4}">
                <adec:decorative xmlns:adec="http://schemas.microsoft.com/office/drawing/2017/decorative" val="1"/>
              </a:ext>
            </a:extLst>
          </p:cNvPr>
          <p:cNvGrpSpPr/>
          <p:nvPr/>
        </p:nvGrpSpPr>
        <p:grpSpPr>
          <a:xfrm>
            <a:off x="1543084" y="3226588"/>
            <a:ext cx="5955435" cy="588425"/>
            <a:chOff x="1543084" y="3226588"/>
            <a:chExt cx="5955435" cy="588425"/>
          </a:xfrm>
        </p:grpSpPr>
        <p:cxnSp>
          <p:nvCxnSpPr>
            <p:cNvPr id="59" name="Straight Connector 58">
              <a:extLst>
                <a:ext uri="{FF2B5EF4-FFF2-40B4-BE49-F238E27FC236}">
                  <a16:creationId xmlns:a16="http://schemas.microsoft.com/office/drawing/2014/main" id="{016438C8-4F22-F685-35AA-ABBC7AB97AD6}"/>
                </a:ext>
                <a:ext uri="{C183D7F6-B498-43B3-948B-1728B52AA6E4}">
                  <adec:decorative xmlns:adec="http://schemas.microsoft.com/office/drawing/2017/decorative" val="1"/>
                </a:ext>
              </a:extLst>
            </p:cNvPr>
            <p:cNvCxnSpPr>
              <a:cxnSpLocks/>
            </p:cNvCxnSpPr>
            <p:nvPr/>
          </p:nvCxnSpPr>
          <p:spPr>
            <a:xfrm>
              <a:off x="1543084" y="3336505"/>
              <a:ext cx="5845914" cy="0"/>
            </a:xfrm>
            <a:prstGeom prst="line">
              <a:avLst/>
            </a:prstGeom>
            <a:noFill/>
            <a:ln w="15875">
              <a:gradFill>
                <a:gsLst>
                  <a:gs pos="0">
                    <a:srgbClr val="F4364C"/>
                  </a:gs>
                  <a:gs pos="100000">
                    <a:srgbClr val="49C5B1"/>
                  </a:gs>
                  <a:gs pos="80000">
                    <a:srgbClr val="0078D4"/>
                  </a:gs>
                  <a:gs pos="26000">
                    <a:srgbClr val="C03BC4"/>
                  </a:gs>
                </a:gsLst>
                <a:lin ang="10800000" scaled="0"/>
              </a:gradFill>
              <a:headEnd type="none" w="med" len="med"/>
              <a:tailEnd type="none" w="lg" len="lg"/>
            </a:ln>
            <a:effectLst/>
          </p:spPr>
          <p:style>
            <a:lnRef idx="1">
              <a:schemeClr val="accent2"/>
            </a:lnRef>
            <a:fillRef idx="3">
              <a:schemeClr val="accent2"/>
            </a:fillRef>
            <a:effectRef idx="2">
              <a:schemeClr val="accent2"/>
            </a:effectRef>
            <a:fontRef idx="minor">
              <a:schemeClr val="lt1"/>
            </a:fontRef>
          </p:style>
        </p:cxnSp>
        <p:grpSp>
          <p:nvGrpSpPr>
            <p:cNvPr id="60" name="Group 59">
              <a:extLst>
                <a:ext uri="{FF2B5EF4-FFF2-40B4-BE49-F238E27FC236}">
                  <a16:creationId xmlns:a16="http://schemas.microsoft.com/office/drawing/2014/main" id="{78A10AF6-B04B-C96F-FD9C-88B56B8CA266}"/>
                </a:ext>
              </a:extLst>
            </p:cNvPr>
            <p:cNvGrpSpPr/>
            <p:nvPr/>
          </p:nvGrpSpPr>
          <p:grpSpPr>
            <a:xfrm>
              <a:off x="7278684" y="3226588"/>
              <a:ext cx="219835" cy="219834"/>
              <a:chOff x="1613419" y="2537559"/>
              <a:chExt cx="339399" cy="339399"/>
            </a:xfrm>
          </p:grpSpPr>
          <p:sp>
            <p:nvSpPr>
              <p:cNvPr id="61" name="Oval 60">
                <a:extLst>
                  <a:ext uri="{FF2B5EF4-FFF2-40B4-BE49-F238E27FC236}">
                    <a16:creationId xmlns:a16="http://schemas.microsoft.com/office/drawing/2014/main" id="{54CC0CE2-9B97-45A4-FB44-C115F387EF90}"/>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62" name="Oval 61">
                <a:extLst>
                  <a:ext uri="{FF2B5EF4-FFF2-40B4-BE49-F238E27FC236}">
                    <a16:creationId xmlns:a16="http://schemas.microsoft.com/office/drawing/2014/main" id="{89B92629-F041-B9F6-398E-B49977AB97B4}"/>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cxnSp>
          <p:nvCxnSpPr>
            <p:cNvPr id="64" name="Straight Connector 63">
              <a:extLst>
                <a:ext uri="{FF2B5EF4-FFF2-40B4-BE49-F238E27FC236}">
                  <a16:creationId xmlns:a16="http://schemas.microsoft.com/office/drawing/2014/main" id="{E31642E9-8AE2-C909-37DC-800BA16A90CD}"/>
                </a:ext>
                <a:ext uri="{C183D7F6-B498-43B3-948B-1728B52AA6E4}">
                  <adec:decorative xmlns:adec="http://schemas.microsoft.com/office/drawing/2017/decorative" val="1"/>
                </a:ext>
              </a:extLst>
            </p:cNvPr>
            <p:cNvCxnSpPr>
              <a:cxnSpLocks/>
            </p:cNvCxnSpPr>
            <p:nvPr/>
          </p:nvCxnSpPr>
          <p:spPr>
            <a:xfrm flipV="1">
              <a:off x="1549022" y="3336505"/>
              <a:ext cx="0" cy="478508"/>
            </a:xfrm>
            <a:prstGeom prst="line">
              <a:avLst/>
            </a:prstGeom>
            <a:noFill/>
            <a:ln w="15875">
              <a:solidFill>
                <a:srgbClr val="399A91"/>
              </a:solidFill>
              <a:headEnd type="oval" w="med" len="med"/>
              <a:tailEnd type="none" w="lg" len="lg"/>
            </a:ln>
            <a:effectLst/>
          </p:spPr>
          <p:style>
            <a:lnRef idx="1">
              <a:schemeClr val="accent2"/>
            </a:lnRef>
            <a:fillRef idx="3">
              <a:schemeClr val="accent2"/>
            </a:fillRef>
            <a:effectRef idx="2">
              <a:schemeClr val="accent2"/>
            </a:effectRef>
            <a:fontRef idx="minor">
              <a:schemeClr val="lt1"/>
            </a:fontRef>
          </p:style>
        </p:cxnSp>
      </p:grpSp>
      <p:grpSp>
        <p:nvGrpSpPr>
          <p:cNvPr id="79" name="Group 78">
            <a:extLst>
              <a:ext uri="{FF2B5EF4-FFF2-40B4-BE49-F238E27FC236}">
                <a16:creationId xmlns:a16="http://schemas.microsoft.com/office/drawing/2014/main" id="{6ABF3B91-677D-CC1F-A4B9-A0DB0258CFA3}"/>
              </a:ext>
              <a:ext uri="{C183D7F6-B498-43B3-948B-1728B52AA6E4}">
                <adec:decorative xmlns:adec="http://schemas.microsoft.com/office/drawing/2017/decorative" val="1"/>
              </a:ext>
            </a:extLst>
          </p:cNvPr>
          <p:cNvGrpSpPr/>
          <p:nvPr/>
        </p:nvGrpSpPr>
        <p:grpSpPr>
          <a:xfrm>
            <a:off x="2498230" y="4374485"/>
            <a:ext cx="674005" cy="219834"/>
            <a:chOff x="2498230" y="4374485"/>
            <a:chExt cx="674005" cy="219834"/>
          </a:xfrm>
        </p:grpSpPr>
        <p:cxnSp>
          <p:nvCxnSpPr>
            <p:cNvPr id="45" name="Straight Connector 44">
              <a:extLst>
                <a:ext uri="{FF2B5EF4-FFF2-40B4-BE49-F238E27FC236}">
                  <a16:creationId xmlns:a16="http://schemas.microsoft.com/office/drawing/2014/main" id="{2BF47BC3-4C1B-D673-C827-67FE6944169B}"/>
                </a:ext>
                <a:ext uri="{C183D7F6-B498-43B3-948B-1728B52AA6E4}">
                  <adec:decorative xmlns:adec="http://schemas.microsoft.com/office/drawing/2017/decorative" val="1"/>
                </a:ext>
              </a:extLst>
            </p:cNvPr>
            <p:cNvCxnSpPr>
              <a:cxnSpLocks/>
            </p:cNvCxnSpPr>
            <p:nvPr/>
          </p:nvCxnSpPr>
          <p:spPr>
            <a:xfrm>
              <a:off x="2498230" y="4484402"/>
              <a:ext cx="570422" cy="0"/>
            </a:xfrm>
            <a:prstGeom prst="line">
              <a:avLst/>
            </a:prstGeom>
            <a:noFill/>
            <a:ln w="15875">
              <a:gradFill>
                <a:gsLst>
                  <a:gs pos="0">
                    <a:srgbClr val="F4364C"/>
                  </a:gs>
                  <a:gs pos="100000">
                    <a:srgbClr val="49C5B1"/>
                  </a:gs>
                  <a:gs pos="80000">
                    <a:srgbClr val="0078D4"/>
                  </a:gs>
                  <a:gs pos="26000">
                    <a:srgbClr val="C03BC4"/>
                  </a:gs>
                </a:gsLst>
                <a:lin ang="10800000" scaled="0"/>
              </a:gradFill>
              <a:headEnd type="oval" w="med" len="med"/>
              <a:tailEnd type="oval" w="lg" len="lg"/>
            </a:ln>
            <a:effectLst/>
          </p:spPr>
          <p:style>
            <a:lnRef idx="1">
              <a:schemeClr val="accent2"/>
            </a:lnRef>
            <a:fillRef idx="3">
              <a:schemeClr val="accent2"/>
            </a:fillRef>
            <a:effectRef idx="2">
              <a:schemeClr val="accent2"/>
            </a:effectRef>
            <a:fontRef idx="minor">
              <a:schemeClr val="lt1"/>
            </a:fontRef>
          </p:style>
        </p:cxnSp>
        <p:grpSp>
          <p:nvGrpSpPr>
            <p:cNvPr id="38" name="Group 37">
              <a:extLst>
                <a:ext uri="{FF2B5EF4-FFF2-40B4-BE49-F238E27FC236}">
                  <a16:creationId xmlns:a16="http://schemas.microsoft.com/office/drawing/2014/main" id="{C590D550-AB9C-E650-649D-93167758DD5E}"/>
                </a:ext>
              </a:extLst>
            </p:cNvPr>
            <p:cNvGrpSpPr/>
            <p:nvPr/>
          </p:nvGrpSpPr>
          <p:grpSpPr>
            <a:xfrm>
              <a:off x="2952400" y="4374485"/>
              <a:ext cx="219835" cy="219834"/>
              <a:chOff x="1613419" y="2537559"/>
              <a:chExt cx="339399" cy="339399"/>
            </a:xfrm>
          </p:grpSpPr>
          <p:sp>
            <p:nvSpPr>
              <p:cNvPr id="39" name="Oval 38">
                <a:extLst>
                  <a:ext uri="{FF2B5EF4-FFF2-40B4-BE49-F238E27FC236}">
                    <a16:creationId xmlns:a16="http://schemas.microsoft.com/office/drawing/2014/main" id="{3CA5D3B2-196E-E648-6DF1-91360BDF5B5A}"/>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40" name="Oval 39">
                <a:extLst>
                  <a:ext uri="{FF2B5EF4-FFF2-40B4-BE49-F238E27FC236}">
                    <a16:creationId xmlns:a16="http://schemas.microsoft.com/office/drawing/2014/main" id="{B5D72D3B-759F-0569-F3DD-28E1A9330525}"/>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grpSp>
      <p:grpSp>
        <p:nvGrpSpPr>
          <p:cNvPr id="80" name="Group 79">
            <a:extLst>
              <a:ext uri="{FF2B5EF4-FFF2-40B4-BE49-F238E27FC236}">
                <a16:creationId xmlns:a16="http://schemas.microsoft.com/office/drawing/2014/main" id="{8DCB4BAF-0C37-1567-194A-11153EA15B8F}"/>
              </a:ext>
              <a:ext uri="{C183D7F6-B498-43B3-948B-1728B52AA6E4}">
                <adec:decorative xmlns:adec="http://schemas.microsoft.com/office/drawing/2017/decorative" val="1"/>
              </a:ext>
            </a:extLst>
          </p:cNvPr>
          <p:cNvGrpSpPr/>
          <p:nvPr/>
        </p:nvGrpSpPr>
        <p:grpSpPr>
          <a:xfrm>
            <a:off x="6824514" y="4374485"/>
            <a:ext cx="674005" cy="219834"/>
            <a:chOff x="6824514" y="4374485"/>
            <a:chExt cx="674005" cy="219834"/>
          </a:xfrm>
        </p:grpSpPr>
        <p:cxnSp>
          <p:nvCxnSpPr>
            <p:cNvPr id="48" name="Straight Connector 47">
              <a:extLst>
                <a:ext uri="{FF2B5EF4-FFF2-40B4-BE49-F238E27FC236}">
                  <a16:creationId xmlns:a16="http://schemas.microsoft.com/office/drawing/2014/main" id="{99D03F11-E3EC-0B36-96DC-1776965A6CC3}"/>
                </a:ext>
                <a:ext uri="{C183D7F6-B498-43B3-948B-1728B52AA6E4}">
                  <adec:decorative xmlns:adec="http://schemas.microsoft.com/office/drawing/2017/decorative" val="1"/>
                </a:ext>
              </a:extLst>
            </p:cNvPr>
            <p:cNvCxnSpPr>
              <a:cxnSpLocks/>
            </p:cNvCxnSpPr>
            <p:nvPr/>
          </p:nvCxnSpPr>
          <p:spPr>
            <a:xfrm>
              <a:off x="6824514" y="4484402"/>
              <a:ext cx="570422" cy="0"/>
            </a:xfrm>
            <a:prstGeom prst="line">
              <a:avLst/>
            </a:prstGeom>
            <a:noFill/>
            <a:ln w="15875">
              <a:gradFill>
                <a:gsLst>
                  <a:gs pos="0">
                    <a:srgbClr val="F4364C"/>
                  </a:gs>
                  <a:gs pos="100000">
                    <a:srgbClr val="49C5B1"/>
                  </a:gs>
                  <a:gs pos="80000">
                    <a:srgbClr val="0078D4"/>
                  </a:gs>
                  <a:gs pos="26000">
                    <a:srgbClr val="C03BC4"/>
                  </a:gs>
                </a:gsLst>
                <a:lin ang="10800000" scaled="0"/>
              </a:gradFill>
              <a:headEnd type="oval" w="med" len="med"/>
              <a:tailEnd type="oval" w="lg" len="lg"/>
            </a:ln>
            <a:effectLst/>
          </p:spPr>
          <p:style>
            <a:lnRef idx="1">
              <a:schemeClr val="accent2"/>
            </a:lnRef>
            <a:fillRef idx="3">
              <a:schemeClr val="accent2"/>
            </a:fillRef>
            <a:effectRef idx="2">
              <a:schemeClr val="accent2"/>
            </a:effectRef>
            <a:fontRef idx="minor">
              <a:schemeClr val="lt1"/>
            </a:fontRef>
          </p:style>
        </p:cxnSp>
        <p:grpSp>
          <p:nvGrpSpPr>
            <p:cNvPr id="49" name="Group 48">
              <a:extLst>
                <a:ext uri="{FF2B5EF4-FFF2-40B4-BE49-F238E27FC236}">
                  <a16:creationId xmlns:a16="http://schemas.microsoft.com/office/drawing/2014/main" id="{FAB83619-30FC-6902-52A9-6229821BCEB7}"/>
                </a:ext>
              </a:extLst>
            </p:cNvPr>
            <p:cNvGrpSpPr/>
            <p:nvPr/>
          </p:nvGrpSpPr>
          <p:grpSpPr>
            <a:xfrm>
              <a:off x="7278684" y="4374485"/>
              <a:ext cx="219835" cy="219834"/>
              <a:chOff x="1613419" y="2537559"/>
              <a:chExt cx="339399" cy="339399"/>
            </a:xfrm>
          </p:grpSpPr>
          <p:sp>
            <p:nvSpPr>
              <p:cNvPr id="50" name="Oval 49">
                <a:extLst>
                  <a:ext uri="{FF2B5EF4-FFF2-40B4-BE49-F238E27FC236}">
                    <a16:creationId xmlns:a16="http://schemas.microsoft.com/office/drawing/2014/main" id="{5D57AB67-4789-B14E-2228-88EBB2239F12}"/>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51" name="Oval 50">
                <a:extLst>
                  <a:ext uri="{FF2B5EF4-FFF2-40B4-BE49-F238E27FC236}">
                    <a16:creationId xmlns:a16="http://schemas.microsoft.com/office/drawing/2014/main" id="{1E406C78-BD30-1109-B0C4-858B509C7251}"/>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grpSp>
    </p:spTree>
    <p:extLst>
      <p:ext uri="{BB962C8B-B14F-4D97-AF65-F5344CB8AC3E}">
        <p14:creationId xmlns:p14="http://schemas.microsoft.com/office/powerpoint/2010/main" val="33959508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42" presetClass="path" presetSubtype="0" decel="100000" fill="hold" grpId="1" nodeType="withEffect">
                                  <p:stCondLst>
                                    <p:cond delay="0"/>
                                  </p:stCondLst>
                                  <p:childTnLst>
                                    <p:animMotion origin="layout" path="M 0 -2.59259E-6 L 0 0.03542 " pathEditMode="relative" rAng="0" ptsTypes="AA">
                                      <p:cBhvr>
                                        <p:cTn id="9" dur="700" spd="-100000" fill="hold"/>
                                        <p:tgtEl>
                                          <p:spTgt spid="33"/>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fade">
                                      <p:cBhvr>
                                        <p:cTn id="12" dur="500"/>
                                        <p:tgtEl>
                                          <p:spTgt spid="77"/>
                                        </p:tgtEl>
                                      </p:cBhvr>
                                    </p:animEffect>
                                  </p:childTnLst>
                                </p:cTn>
                              </p:par>
                              <p:par>
                                <p:cTn id="13" presetID="42" presetClass="path" presetSubtype="0" decel="100000" fill="hold" grpId="1" nodeType="withEffect">
                                  <p:stCondLst>
                                    <p:cond delay="0"/>
                                  </p:stCondLst>
                                  <p:childTnLst>
                                    <p:animMotion origin="layout" path="M 0 -2.59259E-6 L 0 0.03542 " pathEditMode="relative" rAng="0" ptsTypes="AA">
                                      <p:cBhvr>
                                        <p:cTn id="14" dur="700" spd="-100000" fill="hold"/>
                                        <p:tgtEl>
                                          <p:spTgt spid="77"/>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500"/>
                                        <p:tgtEl>
                                          <p:spTgt spid="41"/>
                                        </p:tgtEl>
                                      </p:cBhvr>
                                    </p:animEffect>
                                  </p:childTnLst>
                                </p:cTn>
                              </p:par>
                              <p:par>
                                <p:cTn id="18" presetID="42" presetClass="path" presetSubtype="0" decel="100000" fill="hold" grpId="1" nodeType="withEffect">
                                  <p:stCondLst>
                                    <p:cond delay="0"/>
                                  </p:stCondLst>
                                  <p:childTnLst>
                                    <p:animMotion origin="layout" path="M 0 -2.59259E-6 L 0 0.03542 " pathEditMode="relative" rAng="0" ptsTypes="AA">
                                      <p:cBhvr>
                                        <p:cTn id="19" dur="700" spd="-100000" fill="hold"/>
                                        <p:tgtEl>
                                          <p:spTgt spid="41"/>
                                        </p:tgtEl>
                                        <p:attrNameLst>
                                          <p:attrName>ppt_x</p:attrName>
                                          <p:attrName>ppt_y</p:attrName>
                                        </p:attrNameLst>
                                      </p:cBhvr>
                                      <p:rCtr x="0" y="1759"/>
                                    </p:animMotion>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42" presetClass="path" presetSubtype="0" decel="100000" fill="hold" nodeType="withEffect">
                                  <p:stCondLst>
                                    <p:cond delay="0"/>
                                  </p:stCondLst>
                                  <p:childTnLst>
                                    <p:animMotion origin="layout" path="M -3.33333E-6 -4.07407E-6 L -3.33333E-6 0.03542 " pathEditMode="relative" rAng="0" ptsTypes="AA">
                                      <p:cBhvr>
                                        <p:cTn id="24" dur="700" spd="-100000" fill="hold"/>
                                        <p:tgtEl>
                                          <p:spTgt spid="7"/>
                                        </p:tgtEl>
                                        <p:attrNameLst>
                                          <p:attrName>ppt_x</p:attrName>
                                          <p:attrName>ppt_y</p:attrName>
                                        </p:attrNameLst>
                                      </p:cBhvr>
                                      <p:rCtr x="0" y="1759"/>
                                    </p:animMotion>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9"/>
                                        </p:tgtEl>
                                        <p:attrNameLst>
                                          <p:attrName>style.visibility</p:attrName>
                                        </p:attrNameLst>
                                      </p:cBhvr>
                                      <p:to>
                                        <p:strVal val="visible"/>
                                      </p:to>
                                    </p:set>
                                    <p:animEffect transition="in" filter="fade">
                                      <p:cBhvr>
                                        <p:cTn id="29" dur="500"/>
                                        <p:tgtEl>
                                          <p:spTgt spid="79"/>
                                        </p:tgtEl>
                                      </p:cBhvr>
                                    </p:animEffect>
                                  </p:childTnLst>
                                </p:cTn>
                              </p:par>
                              <p:par>
                                <p:cTn id="30" presetID="42" presetClass="path" presetSubtype="0" decel="100000" fill="hold" nodeType="withEffect">
                                  <p:stCondLst>
                                    <p:cond delay="0"/>
                                  </p:stCondLst>
                                  <p:childTnLst>
                                    <p:animMotion origin="layout" path="M 0 -2.59259E-6 L 0 0.03542 " pathEditMode="relative" rAng="0" ptsTypes="AA">
                                      <p:cBhvr>
                                        <p:cTn id="31" dur="700" spd="-100000" fill="hold"/>
                                        <p:tgtEl>
                                          <p:spTgt spid="79"/>
                                        </p:tgtEl>
                                        <p:attrNameLst>
                                          <p:attrName>ppt_x</p:attrName>
                                          <p:attrName>ppt_y</p:attrName>
                                        </p:attrNameLst>
                                      </p:cBhvr>
                                      <p:rCtr x="0" y="1759"/>
                                    </p:animMotion>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par>
                                <p:cTn id="35" presetID="42" presetClass="path" presetSubtype="0" decel="100000" fill="hold" grpId="1" nodeType="withEffect">
                                  <p:stCondLst>
                                    <p:cond delay="0"/>
                                  </p:stCondLst>
                                  <p:childTnLst>
                                    <p:animMotion origin="layout" path="M 0 -2.59259E-6 L 0 0.03542 " pathEditMode="relative" rAng="0" ptsTypes="AA">
                                      <p:cBhvr>
                                        <p:cTn id="36" dur="700" spd="-100000" fill="hold"/>
                                        <p:tgtEl>
                                          <p:spTgt spid="34"/>
                                        </p:tgtEl>
                                        <p:attrNameLst>
                                          <p:attrName>ppt_x</p:attrName>
                                          <p:attrName>ppt_y</p:attrName>
                                        </p:attrNameLst>
                                      </p:cBhvr>
                                      <p:rCtr x="0" y="1759"/>
                                    </p:animMotion>
                                  </p:childTnLst>
                                </p:cTn>
                              </p:par>
                              <p:par>
                                <p:cTn id="37" presetID="10" presetClass="entr" presetSubtype="0"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fade">
                                      <p:cBhvr>
                                        <p:cTn id="39" dur="500"/>
                                        <p:tgtEl>
                                          <p:spTgt spid="47"/>
                                        </p:tgtEl>
                                      </p:cBhvr>
                                    </p:animEffect>
                                  </p:childTnLst>
                                </p:cTn>
                              </p:par>
                              <p:par>
                                <p:cTn id="40" presetID="42" presetClass="path" presetSubtype="0" decel="100000" fill="hold" grpId="1" nodeType="withEffect">
                                  <p:stCondLst>
                                    <p:cond delay="0"/>
                                  </p:stCondLst>
                                  <p:childTnLst>
                                    <p:animMotion origin="layout" path="M 0 -2.59259E-6 L 0 0.03542 " pathEditMode="relative" rAng="0" ptsTypes="AA">
                                      <p:cBhvr>
                                        <p:cTn id="41" dur="700" spd="-100000" fill="hold"/>
                                        <p:tgtEl>
                                          <p:spTgt spid="47"/>
                                        </p:tgtEl>
                                        <p:attrNameLst>
                                          <p:attrName>ppt_x</p:attrName>
                                          <p:attrName>ppt_y</p:attrName>
                                        </p:attrNameLst>
                                      </p:cBhvr>
                                      <p:rCtr x="0" y="1759"/>
                                    </p:animMotion>
                                  </p:childTnLst>
                                </p:cTn>
                              </p:par>
                              <p:par>
                                <p:cTn id="42" presetID="10" presetClass="entr" presetSubtype="0" fill="hold" grpId="0" nodeType="with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fade">
                                      <p:cBhvr>
                                        <p:cTn id="44" dur="500"/>
                                        <p:tgtEl>
                                          <p:spTgt spid="52"/>
                                        </p:tgtEl>
                                      </p:cBhvr>
                                    </p:animEffect>
                                  </p:childTnLst>
                                </p:cTn>
                              </p:par>
                              <p:par>
                                <p:cTn id="45" presetID="42" presetClass="path" presetSubtype="0" decel="100000" fill="hold" grpId="1" nodeType="withEffect">
                                  <p:stCondLst>
                                    <p:cond delay="0"/>
                                  </p:stCondLst>
                                  <p:childTnLst>
                                    <p:animMotion origin="layout" path="M 0 -2.59259E-6 L 0 0.03542 " pathEditMode="relative" rAng="0" ptsTypes="AA">
                                      <p:cBhvr>
                                        <p:cTn id="46" dur="700" spd="-100000" fill="hold"/>
                                        <p:tgtEl>
                                          <p:spTgt spid="52"/>
                                        </p:tgtEl>
                                        <p:attrNameLst>
                                          <p:attrName>ppt_x</p:attrName>
                                          <p:attrName>ppt_y</p:attrName>
                                        </p:attrNameLst>
                                      </p:cBhvr>
                                      <p:rCtr x="0" y="1759"/>
                                    </p:animMotion>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500"/>
                                        <p:tgtEl>
                                          <p:spTgt spid="42"/>
                                        </p:tgtEl>
                                      </p:cBhvr>
                                    </p:animEffect>
                                  </p:childTnLst>
                                </p:cTn>
                              </p:par>
                              <p:par>
                                <p:cTn id="50" presetID="42" presetClass="path" presetSubtype="0" decel="100000" fill="hold" grpId="1" nodeType="withEffect">
                                  <p:stCondLst>
                                    <p:cond delay="0"/>
                                  </p:stCondLst>
                                  <p:childTnLst>
                                    <p:animMotion origin="layout" path="M 0 -2.59259E-6 L 0 0.03542 " pathEditMode="relative" rAng="0" ptsTypes="AA">
                                      <p:cBhvr>
                                        <p:cTn id="51" dur="700" spd="-100000" fill="hold"/>
                                        <p:tgtEl>
                                          <p:spTgt spid="42"/>
                                        </p:tgtEl>
                                        <p:attrNameLst>
                                          <p:attrName>ppt_x</p:attrName>
                                          <p:attrName>ppt_y</p:attrName>
                                        </p:attrNameLst>
                                      </p:cBhvr>
                                      <p:rCtr x="0" y="1759"/>
                                    </p:animMotion>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80"/>
                                        </p:tgtEl>
                                        <p:attrNameLst>
                                          <p:attrName>style.visibility</p:attrName>
                                        </p:attrNameLst>
                                      </p:cBhvr>
                                      <p:to>
                                        <p:strVal val="visible"/>
                                      </p:to>
                                    </p:set>
                                    <p:animEffect transition="in" filter="fade">
                                      <p:cBhvr>
                                        <p:cTn id="56" dur="500"/>
                                        <p:tgtEl>
                                          <p:spTgt spid="80"/>
                                        </p:tgtEl>
                                      </p:cBhvr>
                                    </p:animEffect>
                                  </p:childTnLst>
                                </p:cTn>
                              </p:par>
                              <p:par>
                                <p:cTn id="57" presetID="42" presetClass="path" presetSubtype="0" decel="100000" fill="hold" nodeType="withEffect">
                                  <p:stCondLst>
                                    <p:cond delay="0"/>
                                  </p:stCondLst>
                                  <p:childTnLst>
                                    <p:animMotion origin="layout" path="M 0 -2.59259E-6 L 0 0.03542 " pathEditMode="relative" rAng="0" ptsTypes="AA">
                                      <p:cBhvr>
                                        <p:cTn id="58" dur="700" spd="-100000" fill="hold"/>
                                        <p:tgtEl>
                                          <p:spTgt spid="80"/>
                                        </p:tgtEl>
                                        <p:attrNameLst>
                                          <p:attrName>ppt_x</p:attrName>
                                          <p:attrName>ppt_y</p:attrName>
                                        </p:attrNameLst>
                                      </p:cBhvr>
                                      <p:rCtr x="0" y="1759"/>
                                    </p:animMotion>
                                  </p:childTnLst>
                                </p:cTn>
                              </p:par>
                              <p:par>
                                <p:cTn id="59" presetID="10" presetClass="entr" presetSubtype="0" fill="hold" nodeType="withEffect">
                                  <p:stCondLst>
                                    <p:cond delay="0"/>
                                  </p:stCondLst>
                                  <p:childTnLst>
                                    <p:set>
                                      <p:cBhvr>
                                        <p:cTn id="60" dur="1" fill="hold">
                                          <p:stCondLst>
                                            <p:cond delay="0"/>
                                          </p:stCondLst>
                                        </p:cTn>
                                        <p:tgtEl>
                                          <p:spTgt spid="81"/>
                                        </p:tgtEl>
                                        <p:attrNameLst>
                                          <p:attrName>style.visibility</p:attrName>
                                        </p:attrNameLst>
                                      </p:cBhvr>
                                      <p:to>
                                        <p:strVal val="visible"/>
                                      </p:to>
                                    </p:set>
                                    <p:animEffect transition="in" filter="fade">
                                      <p:cBhvr>
                                        <p:cTn id="61" dur="500"/>
                                        <p:tgtEl>
                                          <p:spTgt spid="81"/>
                                        </p:tgtEl>
                                      </p:cBhvr>
                                    </p:animEffect>
                                  </p:childTnLst>
                                </p:cTn>
                              </p:par>
                              <p:par>
                                <p:cTn id="62" presetID="42" presetClass="path" presetSubtype="0" decel="100000" fill="hold" nodeType="withEffect">
                                  <p:stCondLst>
                                    <p:cond delay="0"/>
                                  </p:stCondLst>
                                  <p:childTnLst>
                                    <p:animMotion origin="layout" path="M 0 -2.59259E-6 L 0 0.03542 " pathEditMode="relative" rAng="0" ptsTypes="AA">
                                      <p:cBhvr>
                                        <p:cTn id="63" dur="700" spd="-100000" fill="hold"/>
                                        <p:tgtEl>
                                          <p:spTgt spid="81"/>
                                        </p:tgtEl>
                                        <p:attrNameLst>
                                          <p:attrName>ppt_x</p:attrName>
                                          <p:attrName>ppt_y</p:attrName>
                                        </p:attrNameLst>
                                      </p:cBhvr>
                                      <p:rCtr x="0" y="1759"/>
                                    </p:animMotion>
                                  </p:childTnLst>
                                </p:cTn>
                              </p:par>
                              <p:par>
                                <p:cTn id="64" presetID="10" presetClass="entr" presetSubtype="0" fill="hold" grpId="0"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500"/>
                                        <p:tgtEl>
                                          <p:spTgt spid="35"/>
                                        </p:tgtEl>
                                      </p:cBhvr>
                                    </p:animEffect>
                                  </p:childTnLst>
                                </p:cTn>
                              </p:par>
                              <p:par>
                                <p:cTn id="67" presetID="42" presetClass="path" presetSubtype="0" decel="100000" fill="hold" grpId="1" nodeType="withEffect">
                                  <p:stCondLst>
                                    <p:cond delay="0"/>
                                  </p:stCondLst>
                                  <p:childTnLst>
                                    <p:animMotion origin="layout" path="M 0 -2.59259E-6 L 0 0.03542 " pathEditMode="relative" rAng="0" ptsTypes="AA">
                                      <p:cBhvr>
                                        <p:cTn id="68" dur="700" spd="-100000" fill="hold"/>
                                        <p:tgtEl>
                                          <p:spTgt spid="35"/>
                                        </p:tgtEl>
                                        <p:attrNameLst>
                                          <p:attrName>ppt_x</p:attrName>
                                          <p:attrName>ppt_y</p:attrName>
                                        </p:attrNameLst>
                                      </p:cBhvr>
                                      <p:rCtr x="0" y="1759"/>
                                    </p:animMotion>
                                  </p:childTnLst>
                                </p:cTn>
                              </p:par>
                              <p:par>
                                <p:cTn id="69" presetID="10" presetClass="entr" presetSubtype="0" fill="hold" grpId="0" nodeType="withEffect">
                                  <p:stCondLst>
                                    <p:cond delay="0"/>
                                  </p:stCondLst>
                                  <p:childTnLst>
                                    <p:set>
                                      <p:cBhvr>
                                        <p:cTn id="70" dur="1" fill="hold">
                                          <p:stCondLst>
                                            <p:cond delay="0"/>
                                          </p:stCondLst>
                                        </p:cTn>
                                        <p:tgtEl>
                                          <p:spTgt spid="54"/>
                                        </p:tgtEl>
                                        <p:attrNameLst>
                                          <p:attrName>style.visibility</p:attrName>
                                        </p:attrNameLst>
                                      </p:cBhvr>
                                      <p:to>
                                        <p:strVal val="visible"/>
                                      </p:to>
                                    </p:set>
                                    <p:animEffect transition="in" filter="fade">
                                      <p:cBhvr>
                                        <p:cTn id="71" dur="500"/>
                                        <p:tgtEl>
                                          <p:spTgt spid="54"/>
                                        </p:tgtEl>
                                      </p:cBhvr>
                                    </p:animEffect>
                                  </p:childTnLst>
                                </p:cTn>
                              </p:par>
                              <p:par>
                                <p:cTn id="72" presetID="42" presetClass="path" presetSubtype="0" decel="100000" fill="hold" grpId="1" nodeType="withEffect">
                                  <p:stCondLst>
                                    <p:cond delay="0"/>
                                  </p:stCondLst>
                                  <p:childTnLst>
                                    <p:animMotion origin="layout" path="M 0 -2.59259E-6 L 0 0.03542 " pathEditMode="relative" rAng="0" ptsTypes="AA">
                                      <p:cBhvr>
                                        <p:cTn id="73" dur="700" spd="-100000" fill="hold"/>
                                        <p:tgtEl>
                                          <p:spTgt spid="54"/>
                                        </p:tgtEl>
                                        <p:attrNameLst>
                                          <p:attrName>ppt_x</p:attrName>
                                          <p:attrName>ppt_y</p:attrName>
                                        </p:attrNameLst>
                                      </p:cBhvr>
                                      <p:rCtr x="0" y="1759"/>
                                    </p:animMotion>
                                  </p:childTnLst>
                                </p:cTn>
                              </p:par>
                              <p:par>
                                <p:cTn id="74" presetID="10" presetClass="entr" presetSubtype="0" fill="hold" grpId="0" nodeType="withEffect">
                                  <p:stCondLst>
                                    <p:cond delay="0"/>
                                  </p:stCondLst>
                                  <p:childTnLst>
                                    <p:set>
                                      <p:cBhvr>
                                        <p:cTn id="75" dur="1" fill="hold">
                                          <p:stCondLst>
                                            <p:cond delay="0"/>
                                          </p:stCondLst>
                                        </p:cTn>
                                        <p:tgtEl>
                                          <p:spTgt spid="43"/>
                                        </p:tgtEl>
                                        <p:attrNameLst>
                                          <p:attrName>style.visibility</p:attrName>
                                        </p:attrNameLst>
                                      </p:cBhvr>
                                      <p:to>
                                        <p:strVal val="visible"/>
                                      </p:to>
                                    </p:set>
                                    <p:animEffect transition="in" filter="fade">
                                      <p:cBhvr>
                                        <p:cTn id="76" dur="500"/>
                                        <p:tgtEl>
                                          <p:spTgt spid="43"/>
                                        </p:tgtEl>
                                      </p:cBhvr>
                                    </p:animEffect>
                                  </p:childTnLst>
                                </p:cTn>
                              </p:par>
                              <p:par>
                                <p:cTn id="77" presetID="42" presetClass="path" presetSubtype="0" decel="100000" fill="hold" grpId="1" nodeType="withEffect">
                                  <p:stCondLst>
                                    <p:cond delay="0"/>
                                  </p:stCondLst>
                                  <p:childTnLst>
                                    <p:animMotion origin="layout" path="M 0 -2.59259E-6 L 0 0.03542 " pathEditMode="relative" rAng="0" ptsTypes="AA">
                                      <p:cBhvr>
                                        <p:cTn id="78" dur="700" spd="-100000" fill="hold"/>
                                        <p:tgtEl>
                                          <p:spTgt spid="43"/>
                                        </p:tgtEl>
                                        <p:attrNameLst>
                                          <p:attrName>ppt_x</p:attrName>
                                          <p:attrName>ppt_y</p:attrName>
                                        </p:attrNameLst>
                                      </p:cBhvr>
                                      <p:rCtr x="0" y="1759"/>
                                    </p:animMotion>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82"/>
                                        </p:tgtEl>
                                        <p:attrNameLst>
                                          <p:attrName>style.visibility</p:attrName>
                                        </p:attrNameLst>
                                      </p:cBhvr>
                                      <p:to>
                                        <p:strVal val="visible"/>
                                      </p:to>
                                    </p:set>
                                    <p:animEffect transition="in" filter="fade">
                                      <p:cBhvr>
                                        <p:cTn id="83" dur="500"/>
                                        <p:tgtEl>
                                          <p:spTgt spid="82"/>
                                        </p:tgtEl>
                                      </p:cBhvr>
                                    </p:animEffect>
                                  </p:childTnLst>
                                </p:cTn>
                              </p:par>
                              <p:par>
                                <p:cTn id="84" presetID="42" presetClass="path" presetSubtype="0" decel="100000" fill="hold" nodeType="withEffect">
                                  <p:stCondLst>
                                    <p:cond delay="0"/>
                                  </p:stCondLst>
                                  <p:childTnLst>
                                    <p:animMotion origin="layout" path="M 0 -2.59259E-6 L 0 0.03542 " pathEditMode="relative" rAng="0" ptsTypes="AA">
                                      <p:cBhvr>
                                        <p:cTn id="85" dur="700" spd="-100000" fill="hold"/>
                                        <p:tgtEl>
                                          <p:spTgt spid="82"/>
                                        </p:tgtEl>
                                        <p:attrNameLst>
                                          <p:attrName>ppt_x</p:attrName>
                                          <p:attrName>ppt_y</p:attrName>
                                        </p:attrNameLst>
                                      </p:cBhvr>
                                      <p:rCtr x="0" y="1759"/>
                                    </p:animMotion>
                                  </p:childTnLst>
                                </p:cTn>
                              </p:par>
                              <p:par>
                                <p:cTn id="86" presetID="10" presetClass="entr" presetSubtype="0" fill="hold" grpId="0" nodeType="with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fade">
                                      <p:cBhvr>
                                        <p:cTn id="88" dur="500"/>
                                        <p:tgtEl>
                                          <p:spTgt spid="36"/>
                                        </p:tgtEl>
                                      </p:cBhvr>
                                    </p:animEffect>
                                  </p:childTnLst>
                                </p:cTn>
                              </p:par>
                              <p:par>
                                <p:cTn id="89" presetID="42" presetClass="path" presetSubtype="0" decel="100000" fill="hold" grpId="1" nodeType="withEffect">
                                  <p:stCondLst>
                                    <p:cond delay="0"/>
                                  </p:stCondLst>
                                  <p:childTnLst>
                                    <p:animMotion origin="layout" path="M 0 -2.59259E-6 L 0 0.03542 " pathEditMode="relative" rAng="0" ptsTypes="AA">
                                      <p:cBhvr>
                                        <p:cTn id="90" dur="700" spd="-100000" fill="hold"/>
                                        <p:tgtEl>
                                          <p:spTgt spid="36"/>
                                        </p:tgtEl>
                                        <p:attrNameLst>
                                          <p:attrName>ppt_x</p:attrName>
                                          <p:attrName>ppt_y</p:attrName>
                                        </p:attrNameLst>
                                      </p:cBhvr>
                                      <p:rCtr x="0" y="1759"/>
                                    </p:animMotion>
                                  </p:childTnLst>
                                </p:cTn>
                              </p:par>
                              <p:par>
                                <p:cTn id="91" presetID="10" presetClass="entr" presetSubtype="0" fill="hold" nodeType="withEffect">
                                  <p:stCondLst>
                                    <p:cond delay="0"/>
                                  </p:stCondLst>
                                  <p:childTnLst>
                                    <p:set>
                                      <p:cBhvr>
                                        <p:cTn id="92" dur="1" fill="hold">
                                          <p:stCondLst>
                                            <p:cond delay="0"/>
                                          </p:stCondLst>
                                        </p:cTn>
                                        <p:tgtEl>
                                          <p:spTgt spid="14"/>
                                        </p:tgtEl>
                                        <p:attrNameLst>
                                          <p:attrName>style.visibility</p:attrName>
                                        </p:attrNameLst>
                                      </p:cBhvr>
                                      <p:to>
                                        <p:strVal val="visible"/>
                                      </p:to>
                                    </p:set>
                                    <p:animEffect transition="in" filter="fade">
                                      <p:cBhvr>
                                        <p:cTn id="93" dur="500"/>
                                        <p:tgtEl>
                                          <p:spTgt spid="14"/>
                                        </p:tgtEl>
                                      </p:cBhvr>
                                    </p:animEffect>
                                  </p:childTnLst>
                                </p:cTn>
                              </p:par>
                              <p:par>
                                <p:cTn id="94" presetID="42" presetClass="path" presetSubtype="0" decel="100000" fill="hold" nodeType="withEffect">
                                  <p:stCondLst>
                                    <p:cond delay="0"/>
                                  </p:stCondLst>
                                  <p:childTnLst>
                                    <p:animMotion origin="layout" path="M 3.125E-6 -3.7037E-6 L 3.125E-6 0.03542 " pathEditMode="relative" rAng="0" ptsTypes="AA">
                                      <p:cBhvr>
                                        <p:cTn id="95" dur="700" spd="-100000" fill="hold"/>
                                        <p:tgtEl>
                                          <p:spTgt spid="14"/>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1" grpId="1" animBg="1"/>
      <p:bldP spid="33" grpId="0" animBg="1"/>
      <p:bldP spid="33" grpId="1" animBg="1"/>
      <p:bldP spid="77" grpId="0"/>
      <p:bldP spid="77" grpId="1"/>
      <p:bldP spid="42" grpId="0" animBg="1"/>
      <p:bldP spid="42" grpId="1" animBg="1"/>
      <p:bldP spid="34" grpId="0" animBg="1"/>
      <p:bldP spid="34" grpId="1" animBg="1"/>
      <p:bldP spid="47" grpId="0"/>
      <p:bldP spid="47" grpId="1"/>
      <p:bldP spid="52" grpId="0"/>
      <p:bldP spid="52" grpId="1"/>
      <p:bldP spid="43" grpId="0" animBg="1"/>
      <p:bldP spid="43" grpId="1" animBg="1"/>
      <p:bldP spid="35" grpId="0" animBg="1"/>
      <p:bldP spid="35" grpId="1" animBg="1"/>
      <p:bldP spid="54" grpId="0"/>
      <p:bldP spid="54" grpId="1"/>
      <p:bldP spid="36" grpId="0" animBg="1"/>
      <p:bldP spid="36"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56181-78BA-D979-6A88-6C0CA098DD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DE4D5-CEE4-3C5C-0F14-3485AC5FF256}"/>
              </a:ext>
            </a:extLst>
          </p:cNvPr>
          <p:cNvSpPr>
            <a:spLocks noGrp="1"/>
          </p:cNvSpPr>
          <p:nvPr>
            <p:ph type="title"/>
          </p:nvPr>
        </p:nvSpPr>
        <p:spPr>
          <a:xfrm>
            <a:off x="588963" y="457200"/>
            <a:ext cx="11017250" cy="553998"/>
          </a:xfrm>
        </p:spPr>
        <p:txBody>
          <a:bodyPr/>
          <a:lstStyle/>
          <a:p>
            <a:r>
              <a:rPr lang="en-US" dirty="0">
                <a:cs typeface="Segoe UI"/>
              </a:rPr>
              <a:t>Evaluating RAG Answers</a:t>
            </a:r>
          </a:p>
        </p:txBody>
      </p:sp>
      <p:cxnSp>
        <p:nvCxnSpPr>
          <p:cNvPr id="97" name="Straight Connector 96">
            <a:extLst>
              <a:ext uri="{FF2B5EF4-FFF2-40B4-BE49-F238E27FC236}">
                <a16:creationId xmlns:a16="http://schemas.microsoft.com/office/drawing/2014/main" id="{BB472835-5361-2123-2AB5-678B6FA2B9C2}"/>
              </a:ext>
              <a:ext uri="{C183D7F6-B498-43B3-948B-1728B52AA6E4}">
                <adec:decorative xmlns:adec="http://schemas.microsoft.com/office/drawing/2017/decorative" val="1"/>
              </a:ext>
            </a:extLst>
          </p:cNvPr>
          <p:cNvCxnSpPr>
            <a:cxnSpLocks/>
          </p:cNvCxnSpPr>
          <p:nvPr/>
        </p:nvCxnSpPr>
        <p:spPr>
          <a:xfrm>
            <a:off x="8494001" y="-1171921"/>
            <a:ext cx="3900737" cy="0"/>
          </a:xfrm>
          <a:prstGeom prst="lin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99" name="Straight Connector 98">
            <a:extLst>
              <a:ext uri="{FF2B5EF4-FFF2-40B4-BE49-F238E27FC236}">
                <a16:creationId xmlns:a16="http://schemas.microsoft.com/office/drawing/2014/main" id="{C73F8576-CF8C-4511-DD3D-05EBA0F19C31}"/>
              </a:ext>
              <a:ext uri="{C183D7F6-B498-43B3-948B-1728B52AA6E4}">
                <adec:decorative xmlns:adec="http://schemas.microsoft.com/office/drawing/2017/decorative" val="1"/>
              </a:ext>
            </a:extLst>
          </p:cNvPr>
          <p:cNvCxnSpPr>
            <a:cxnSpLocks/>
          </p:cNvCxnSpPr>
          <p:nvPr/>
        </p:nvCxnSpPr>
        <p:spPr>
          <a:xfrm>
            <a:off x="8494001" y="184016"/>
            <a:ext cx="3900737" cy="0"/>
          </a:xfrm>
          <a:prstGeom prst="lin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72" name="TextBox 71">
            <a:extLst>
              <a:ext uri="{FF2B5EF4-FFF2-40B4-BE49-F238E27FC236}">
                <a16:creationId xmlns:a16="http://schemas.microsoft.com/office/drawing/2014/main" id="{0A992A7F-BB3B-6B0C-D5A5-BD0710C05FFB}"/>
              </a:ext>
            </a:extLst>
          </p:cNvPr>
          <p:cNvSpPr txBox="1"/>
          <p:nvPr/>
        </p:nvSpPr>
        <p:spPr>
          <a:xfrm>
            <a:off x="578666" y="11963683"/>
            <a:ext cx="6342624" cy="4678204"/>
          </a:xfrm>
          <a:prstGeom prst="rect">
            <a:avLst/>
          </a:prstGeom>
          <a:noFill/>
        </p:spPr>
        <p:txBody>
          <a:bodyPr wrap="square" lIns="0" tIns="0" rIns="0" bIns="0" rtlCol="0">
            <a:spAutoFit/>
          </a:bodyPr>
          <a:lstStyle/>
          <a:p>
            <a:pPr algn="l"/>
            <a:r>
              <a:rPr lang="en-US" sz="2400">
                <a:latin typeface="+mj-lt"/>
              </a:rPr>
              <a:t>Powerful search functionality</a:t>
            </a:r>
          </a:p>
          <a:p>
            <a:pPr marL="182563" lvl="1" indent="-169863">
              <a:buFont typeface="Arial" panose="020B0604020202020204" pitchFamily="34" charset="0"/>
              <a:buChar char="•"/>
            </a:pPr>
            <a:r>
              <a:rPr lang="en-US" sz="2000"/>
              <a:t>Vector search</a:t>
            </a:r>
          </a:p>
          <a:p>
            <a:pPr marL="182563" lvl="1" indent="-169863">
              <a:buFont typeface="Arial" panose="020B0604020202020204" pitchFamily="34" charset="0"/>
              <a:buChar char="•"/>
            </a:pPr>
            <a:r>
              <a:rPr lang="en-US" sz="2000"/>
              <a:t>Hybrid search</a:t>
            </a:r>
          </a:p>
          <a:p>
            <a:pPr marL="182563" lvl="1" indent="-169863">
              <a:buFont typeface="Arial" panose="020B0604020202020204" pitchFamily="34" charset="0"/>
              <a:buChar char="•"/>
            </a:pPr>
            <a:r>
              <a:rPr lang="en-US" sz="2000"/>
              <a:t>Semantic re-ranking</a:t>
            </a:r>
          </a:p>
          <a:p>
            <a:pPr marL="182563" lvl="1" indent="-169863">
              <a:buFont typeface="Arial" panose="020B0604020202020204" pitchFamily="34" charset="0"/>
              <a:buChar char="•"/>
            </a:pPr>
            <a:r>
              <a:rPr lang="en-US" sz="2000"/>
              <a:t>Filtering</a:t>
            </a:r>
          </a:p>
          <a:p>
            <a:pPr algn="l"/>
            <a:r>
              <a:rPr lang="en-US" sz="2400">
                <a:latin typeface="+mj-lt"/>
              </a:rPr>
              <a:t>Well prepared data</a:t>
            </a:r>
          </a:p>
          <a:p>
            <a:pPr marL="182563" lvl="1" indent="-169863">
              <a:buFont typeface="Arial" panose="020B0604020202020204" pitchFamily="34" charset="0"/>
              <a:buChar char="•"/>
            </a:pPr>
            <a:r>
              <a:rPr lang="en-US" sz="2000"/>
              <a:t>Reasonably sized text</a:t>
            </a:r>
          </a:p>
          <a:p>
            <a:pPr marL="182563" lvl="1" indent="-169863">
              <a:buFont typeface="Arial" panose="020B0604020202020204" pitchFamily="34" charset="0"/>
              <a:buChar char="•"/>
            </a:pPr>
            <a:r>
              <a:rPr lang="en-US" sz="2000"/>
              <a:t>Meaningful vectors</a:t>
            </a:r>
          </a:p>
          <a:p>
            <a:r>
              <a:rPr lang="en-US" sz="2400">
                <a:latin typeface="+mj-lt"/>
              </a:rPr>
              <a:t>Sophisticated LLM</a:t>
            </a:r>
          </a:p>
          <a:p>
            <a:pPr marL="182563" lvl="1" indent="-169863">
              <a:buFont typeface="Arial" panose="020B0604020202020204" pitchFamily="34" charset="0"/>
              <a:buChar char="•"/>
            </a:pPr>
            <a:r>
              <a:rPr lang="en-US" sz="2000"/>
              <a:t>Adheres to instructions</a:t>
            </a:r>
          </a:p>
          <a:p>
            <a:pPr marL="182563" lvl="1" indent="-169863">
              <a:buFont typeface="Arial" panose="020B0604020202020204" pitchFamily="34" charset="0"/>
              <a:buChar char="•"/>
            </a:pPr>
            <a:r>
              <a:rPr lang="en-US" sz="2000"/>
              <a:t>Supports function calling</a:t>
            </a:r>
          </a:p>
          <a:p>
            <a:pPr marL="914383" lvl="1" indent="-457200">
              <a:buFont typeface="Arial" panose="020B0604020202020204" pitchFamily="34" charset="0"/>
              <a:buChar char="•"/>
            </a:pPr>
            <a:endParaRPr lang="en-US" sz="2400"/>
          </a:p>
          <a:p>
            <a:pPr marL="914383" lvl="1" indent="-457200">
              <a:buFont typeface="Arial" panose="020B0604020202020204" pitchFamily="34" charset="0"/>
              <a:buChar char="•"/>
            </a:pPr>
            <a:endParaRPr lang="en-US" sz="2400"/>
          </a:p>
          <a:p>
            <a:pPr algn="l"/>
            <a:endParaRPr lang="en-US" sz="2400"/>
          </a:p>
        </p:txBody>
      </p:sp>
      <p:sp>
        <p:nvSpPr>
          <p:cNvPr id="67" name="Rounded Rectangle 5">
            <a:extLst>
              <a:ext uri="{FF2B5EF4-FFF2-40B4-BE49-F238E27FC236}">
                <a16:creationId xmlns:a16="http://schemas.microsoft.com/office/drawing/2014/main" id="{F453568F-5776-8697-AE17-14C68261BB37}"/>
              </a:ext>
              <a:ext uri="{C183D7F6-B498-43B3-948B-1728B52AA6E4}">
                <adec:decorative xmlns:adec="http://schemas.microsoft.com/office/drawing/2017/decorative" val="1"/>
              </a:ext>
            </a:extLst>
          </p:cNvPr>
          <p:cNvSpPr/>
          <p:nvPr/>
        </p:nvSpPr>
        <p:spPr bwMode="auto">
          <a:xfrm>
            <a:off x="810461" y="2039889"/>
            <a:ext cx="3291840" cy="3644855"/>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84" name="Rounded Rectangle 5">
            <a:extLst>
              <a:ext uri="{FF2B5EF4-FFF2-40B4-BE49-F238E27FC236}">
                <a16:creationId xmlns:a16="http://schemas.microsoft.com/office/drawing/2014/main" id="{32255362-AC5E-A14E-F7C0-490B0C61D34A}"/>
              </a:ext>
              <a:ext uri="{C183D7F6-B498-43B3-948B-1728B52AA6E4}">
                <adec:decorative xmlns:adec="http://schemas.microsoft.com/office/drawing/2017/decorative" val="1"/>
              </a:ext>
            </a:extLst>
          </p:cNvPr>
          <p:cNvSpPr/>
          <p:nvPr/>
        </p:nvSpPr>
        <p:spPr bwMode="auto">
          <a:xfrm>
            <a:off x="4453954" y="2039889"/>
            <a:ext cx="3291840" cy="3644855"/>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88" name="Rounded Rectangle 5">
            <a:extLst>
              <a:ext uri="{FF2B5EF4-FFF2-40B4-BE49-F238E27FC236}">
                <a16:creationId xmlns:a16="http://schemas.microsoft.com/office/drawing/2014/main" id="{CE6712A1-A83F-0CFA-A2D5-7EC9549B23CC}"/>
              </a:ext>
              <a:ext uri="{C183D7F6-B498-43B3-948B-1728B52AA6E4}">
                <adec:decorative xmlns:adec="http://schemas.microsoft.com/office/drawing/2017/decorative" val="1"/>
              </a:ext>
            </a:extLst>
          </p:cNvPr>
          <p:cNvSpPr/>
          <p:nvPr/>
        </p:nvSpPr>
        <p:spPr bwMode="auto">
          <a:xfrm>
            <a:off x="8097446" y="2039889"/>
            <a:ext cx="3676465" cy="3644855"/>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71" name="TextBox 70">
            <a:extLst>
              <a:ext uri="{FF2B5EF4-FFF2-40B4-BE49-F238E27FC236}">
                <a16:creationId xmlns:a16="http://schemas.microsoft.com/office/drawing/2014/main" id="{597A368E-1096-153D-B5C5-3ACE161E25E3}"/>
              </a:ext>
            </a:extLst>
          </p:cNvPr>
          <p:cNvSpPr txBox="1"/>
          <p:nvPr/>
        </p:nvSpPr>
        <p:spPr>
          <a:xfrm>
            <a:off x="1035487" y="2793301"/>
            <a:ext cx="2874958" cy="1661993"/>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lang="en-US" sz="1800" b="0" i="0" dirty="0">
                <a:effectLst/>
              </a:rPr>
              <a:t>Captures how directly an answer addresses the user’s question or topic, filtering out off‑topic or distracting information.</a:t>
            </a:r>
            <a:br>
              <a:rPr lang="en-US" sz="1800" dirty="0"/>
            </a:br>
            <a:endParaRPr lang="en-US" sz="1800" dirty="0"/>
          </a:p>
        </p:txBody>
      </p:sp>
      <p:sp>
        <p:nvSpPr>
          <p:cNvPr id="4" name="TextBox 3">
            <a:extLst>
              <a:ext uri="{FF2B5EF4-FFF2-40B4-BE49-F238E27FC236}">
                <a16:creationId xmlns:a16="http://schemas.microsoft.com/office/drawing/2014/main" id="{DC8F8AA8-A107-170C-E12E-293308DBF911}"/>
              </a:ext>
            </a:extLst>
          </p:cNvPr>
          <p:cNvSpPr txBox="1"/>
          <p:nvPr/>
        </p:nvSpPr>
        <p:spPr>
          <a:xfrm>
            <a:off x="2308121" y="1945111"/>
            <a:ext cx="483632" cy="615553"/>
          </a:xfrm>
          <a:prstGeom prst="rect">
            <a:avLst/>
          </a:prstGeom>
          <a:noFill/>
        </p:spPr>
        <p:txBody>
          <a:bodyPr wrap="square" lIns="0" tIns="0" rIns="0" bIns="0" rtlCol="0">
            <a:spAutoFit/>
          </a:bodyPr>
          <a:lstStyle/>
          <a:p>
            <a:pPr algn="l"/>
            <a:r>
              <a:rPr lang="en-US" sz="4000" dirty="0">
                <a:solidFill>
                  <a:schemeClr val="bg1"/>
                </a:solidFill>
              </a:rPr>
              <a:t>1</a:t>
            </a:r>
          </a:p>
        </p:txBody>
      </p:sp>
      <p:sp>
        <p:nvSpPr>
          <p:cNvPr id="3" name="Rectangle 2">
            <a:extLst>
              <a:ext uri="{FF2B5EF4-FFF2-40B4-BE49-F238E27FC236}">
                <a16:creationId xmlns:a16="http://schemas.microsoft.com/office/drawing/2014/main" id="{B74CFEAB-271C-5CCF-9109-0D5F63E16EAB}"/>
              </a:ext>
            </a:extLst>
          </p:cNvPr>
          <p:cNvSpPr/>
          <p:nvPr/>
        </p:nvSpPr>
        <p:spPr bwMode="auto">
          <a:xfrm>
            <a:off x="1468512" y="1724004"/>
            <a:ext cx="2008909" cy="74959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Relevance</a:t>
            </a:r>
          </a:p>
        </p:txBody>
      </p:sp>
      <p:sp>
        <p:nvSpPr>
          <p:cNvPr id="7" name="Rectangle 6">
            <a:extLst>
              <a:ext uri="{FF2B5EF4-FFF2-40B4-BE49-F238E27FC236}">
                <a16:creationId xmlns:a16="http://schemas.microsoft.com/office/drawing/2014/main" id="{4B86EC50-1E76-641C-4E1B-A714FEB6F166}"/>
              </a:ext>
            </a:extLst>
          </p:cNvPr>
          <p:cNvSpPr/>
          <p:nvPr/>
        </p:nvSpPr>
        <p:spPr bwMode="auto">
          <a:xfrm>
            <a:off x="5186094" y="1749148"/>
            <a:ext cx="2008909" cy="74959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err="1">
                <a:solidFill>
                  <a:srgbClr val="FFFFFF"/>
                </a:solidFill>
                <a:ea typeface="Segoe UI" pitchFamily="34" charset="0"/>
                <a:cs typeface="Segoe UI" pitchFamily="34" charset="0"/>
              </a:rPr>
              <a:t>Groundedness</a:t>
            </a:r>
            <a:endParaRPr lang="en-US" sz="2000" dirty="0">
              <a:solidFill>
                <a:srgbClr val="FFFFFF"/>
              </a:solidFill>
              <a:ea typeface="Segoe UI" pitchFamily="34" charset="0"/>
              <a:cs typeface="Segoe UI" pitchFamily="34" charset="0"/>
            </a:endParaRPr>
          </a:p>
        </p:txBody>
      </p:sp>
      <p:sp>
        <p:nvSpPr>
          <p:cNvPr id="8" name="Rectangle 7">
            <a:extLst>
              <a:ext uri="{FF2B5EF4-FFF2-40B4-BE49-F238E27FC236}">
                <a16:creationId xmlns:a16="http://schemas.microsoft.com/office/drawing/2014/main" id="{30021A04-B147-732E-6FA0-EE2D173CEAE0}"/>
              </a:ext>
            </a:extLst>
          </p:cNvPr>
          <p:cNvSpPr/>
          <p:nvPr/>
        </p:nvSpPr>
        <p:spPr bwMode="auto">
          <a:xfrm>
            <a:off x="9120785" y="1748057"/>
            <a:ext cx="2008909" cy="74959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Correctness</a:t>
            </a:r>
          </a:p>
        </p:txBody>
      </p:sp>
      <p:sp>
        <p:nvSpPr>
          <p:cNvPr id="9" name="TextBox 8">
            <a:extLst>
              <a:ext uri="{FF2B5EF4-FFF2-40B4-BE49-F238E27FC236}">
                <a16:creationId xmlns:a16="http://schemas.microsoft.com/office/drawing/2014/main" id="{7B73E5E7-C2B9-AD2A-5627-8E58954C1BCF}"/>
              </a:ext>
            </a:extLst>
          </p:cNvPr>
          <p:cNvSpPr txBox="1"/>
          <p:nvPr/>
        </p:nvSpPr>
        <p:spPr>
          <a:xfrm>
            <a:off x="4658521" y="2789487"/>
            <a:ext cx="2874958" cy="2492990"/>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lang="en-US" sz="1800" dirty="0"/>
              <a:t>Measures how well an answer is tied to the provided context or source material, spotting unsupported claims or “hallucinations.”</a:t>
            </a:r>
          </a:p>
          <a:p>
            <a:pPr marL="285750" indent="-285750" algn="l">
              <a:buFont typeface="Arial" panose="020B0604020202020204" pitchFamily="34" charset="0"/>
              <a:buChar char="•"/>
            </a:pPr>
            <a:r>
              <a:rPr lang="en-US" sz="1800" dirty="0"/>
              <a:t>Ensures outputs can be traced back to known facts or data</a:t>
            </a:r>
          </a:p>
        </p:txBody>
      </p:sp>
      <p:sp>
        <p:nvSpPr>
          <p:cNvPr id="10" name="TextBox 9">
            <a:extLst>
              <a:ext uri="{FF2B5EF4-FFF2-40B4-BE49-F238E27FC236}">
                <a16:creationId xmlns:a16="http://schemas.microsoft.com/office/drawing/2014/main" id="{E23BAD80-7032-99C1-5956-8521C12DFD17}"/>
              </a:ext>
            </a:extLst>
          </p:cNvPr>
          <p:cNvSpPr txBox="1"/>
          <p:nvPr/>
        </p:nvSpPr>
        <p:spPr>
          <a:xfrm>
            <a:off x="8494001" y="2789486"/>
            <a:ext cx="2874958" cy="1384995"/>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lang="en-US" sz="1800" b="0" i="0" dirty="0">
                <a:effectLst/>
              </a:rPr>
              <a:t>Checks factual and logical accuracy, flagging errors or inconsistencies in the response.</a:t>
            </a:r>
            <a:br>
              <a:rPr lang="en-US" sz="1800" dirty="0"/>
            </a:br>
            <a:endParaRPr lang="en-US" sz="1800" dirty="0"/>
          </a:p>
        </p:txBody>
      </p:sp>
    </p:spTree>
    <p:extLst>
      <p:ext uri="{BB962C8B-B14F-4D97-AF65-F5344CB8AC3E}">
        <p14:creationId xmlns:p14="http://schemas.microsoft.com/office/powerpoint/2010/main" val="194496393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ounded Rectangle 5">
            <a:extLst>
              <a:ext uri="{FF2B5EF4-FFF2-40B4-BE49-F238E27FC236}">
                <a16:creationId xmlns:a16="http://schemas.microsoft.com/office/drawing/2014/main" id="{64C5BD4A-65A8-4CD0-7D5B-50E9354C6BF4}"/>
              </a:ext>
              <a:ext uri="{C183D7F6-B498-43B3-948B-1728B52AA6E4}">
                <adec:decorative xmlns:adec="http://schemas.microsoft.com/office/drawing/2017/decorative" val="1"/>
              </a:ext>
            </a:extLst>
          </p:cNvPr>
          <p:cNvSpPr/>
          <p:nvPr/>
        </p:nvSpPr>
        <p:spPr bwMode="auto">
          <a:xfrm>
            <a:off x="7950908" y="1515020"/>
            <a:ext cx="2864401" cy="4905444"/>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1865484">
              <a:defRPr/>
            </a:pPr>
            <a:endParaRPr lang="en-US" sz="1400" baseline="30000" dirty="0">
              <a:solidFill>
                <a:schemeClr val="tx1"/>
              </a:solidFill>
              <a:cs typeface="Segoe UI Semilight"/>
            </a:endParaRPr>
          </a:p>
        </p:txBody>
      </p:sp>
      <p:sp>
        <p:nvSpPr>
          <p:cNvPr id="2" name="Title 1">
            <a:extLst>
              <a:ext uri="{FF2B5EF4-FFF2-40B4-BE49-F238E27FC236}">
                <a16:creationId xmlns:a16="http://schemas.microsoft.com/office/drawing/2014/main" id="{7B415AA3-2039-8CAE-05D5-34CF0A65E319}"/>
              </a:ext>
            </a:extLst>
          </p:cNvPr>
          <p:cNvSpPr>
            <a:spLocks noGrp="1"/>
          </p:cNvSpPr>
          <p:nvPr>
            <p:ph type="title"/>
          </p:nvPr>
        </p:nvSpPr>
        <p:spPr/>
        <p:txBody>
          <a:bodyPr/>
          <a:lstStyle/>
          <a:p>
            <a:r>
              <a:rPr lang="en-US" dirty="0"/>
              <a:t>Example Evaluation</a:t>
            </a:r>
          </a:p>
        </p:txBody>
      </p:sp>
      <p:grpSp>
        <p:nvGrpSpPr>
          <p:cNvPr id="3" name="Group 2" descr="What’s the best shoe for hiking?">
            <a:extLst>
              <a:ext uri="{FF2B5EF4-FFF2-40B4-BE49-F238E27FC236}">
                <a16:creationId xmlns:a16="http://schemas.microsoft.com/office/drawing/2014/main" id="{055C07C5-5F0B-3FC3-8CFC-3C7662B22F8A}"/>
              </a:ext>
            </a:extLst>
          </p:cNvPr>
          <p:cNvGrpSpPr/>
          <p:nvPr/>
        </p:nvGrpSpPr>
        <p:grpSpPr>
          <a:xfrm>
            <a:off x="609830" y="2213067"/>
            <a:ext cx="2150314" cy="1601946"/>
            <a:chOff x="3449886" y="1978178"/>
            <a:chExt cx="1898415" cy="1175481"/>
          </a:xfrm>
        </p:grpSpPr>
        <p:sp>
          <p:nvSpPr>
            <p:cNvPr id="4" name="Freeform 5">
              <a:extLst>
                <a:ext uri="{FF2B5EF4-FFF2-40B4-BE49-F238E27FC236}">
                  <a16:creationId xmlns:a16="http://schemas.microsoft.com/office/drawing/2014/main" id="{2A71D883-1E28-B9AC-77EE-7F387A142B68}"/>
                </a:ext>
                <a:ext uri="{C183D7F6-B498-43B3-948B-1728B52AA6E4}">
                  <adec:decorative xmlns:adec="http://schemas.microsoft.com/office/drawing/2017/decorative" val="1"/>
                </a:ext>
              </a:extLst>
            </p:cNvPr>
            <p:cNvSpPr/>
            <p:nvPr/>
          </p:nvSpPr>
          <p:spPr bwMode="auto">
            <a:xfrm>
              <a:off x="3449886" y="1978178"/>
              <a:ext cx="1898415" cy="1175481"/>
            </a:xfrm>
            <a:custGeom>
              <a:avLst/>
              <a:gdLst>
                <a:gd name="connsiteX0" fmla="*/ 152403 w 1898415"/>
                <a:gd name="connsiteY0" fmla="*/ 0 h 1175481"/>
                <a:gd name="connsiteX1" fmla="*/ 1746012 w 1898415"/>
                <a:gd name="connsiteY1" fmla="*/ 0 h 1175481"/>
                <a:gd name="connsiteX2" fmla="*/ 1898415 w 1898415"/>
                <a:gd name="connsiteY2" fmla="*/ 152403 h 1175481"/>
                <a:gd name="connsiteX3" fmla="*/ 1898415 w 1898415"/>
                <a:gd name="connsiteY3" fmla="*/ 761997 h 1175481"/>
                <a:gd name="connsiteX4" fmla="*/ 1746012 w 1898415"/>
                <a:gd name="connsiteY4" fmla="*/ 914400 h 1175481"/>
                <a:gd name="connsiteX5" fmla="*/ 952123 w 1898415"/>
                <a:gd name="connsiteY5" fmla="*/ 914400 h 1175481"/>
                <a:gd name="connsiteX6" fmla="*/ 691042 w 1898415"/>
                <a:gd name="connsiteY6" fmla="*/ 1175481 h 1175481"/>
                <a:gd name="connsiteX7" fmla="*/ 691042 w 1898415"/>
                <a:gd name="connsiteY7" fmla="*/ 914400 h 1175481"/>
                <a:gd name="connsiteX8" fmla="*/ 152403 w 1898415"/>
                <a:gd name="connsiteY8" fmla="*/ 914400 h 1175481"/>
                <a:gd name="connsiteX9" fmla="*/ 0 w 1898415"/>
                <a:gd name="connsiteY9" fmla="*/ 761997 h 1175481"/>
                <a:gd name="connsiteX10" fmla="*/ 0 w 1898415"/>
                <a:gd name="connsiteY10" fmla="*/ 152403 h 1175481"/>
                <a:gd name="connsiteX11" fmla="*/ 152403 w 1898415"/>
                <a:gd name="connsiteY11" fmla="*/ 0 h 1175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98415" h="1175481">
                  <a:moveTo>
                    <a:pt x="152403" y="0"/>
                  </a:moveTo>
                  <a:lnTo>
                    <a:pt x="1746012" y="0"/>
                  </a:lnTo>
                  <a:cubicBezTo>
                    <a:pt x="1830182" y="0"/>
                    <a:pt x="1898415" y="68233"/>
                    <a:pt x="1898415" y="152403"/>
                  </a:cubicBezTo>
                  <a:lnTo>
                    <a:pt x="1898415" y="761997"/>
                  </a:lnTo>
                  <a:cubicBezTo>
                    <a:pt x="1898415" y="846167"/>
                    <a:pt x="1830182" y="914400"/>
                    <a:pt x="1746012" y="914400"/>
                  </a:cubicBezTo>
                  <a:lnTo>
                    <a:pt x="952123" y="914400"/>
                  </a:lnTo>
                  <a:lnTo>
                    <a:pt x="691042" y="1175481"/>
                  </a:lnTo>
                  <a:lnTo>
                    <a:pt x="691042" y="914400"/>
                  </a:lnTo>
                  <a:lnTo>
                    <a:pt x="152403" y="914400"/>
                  </a:lnTo>
                  <a:cubicBezTo>
                    <a:pt x="68233" y="914400"/>
                    <a:pt x="0" y="846167"/>
                    <a:pt x="0" y="761997"/>
                  </a:cubicBezTo>
                  <a:lnTo>
                    <a:pt x="0" y="152403"/>
                  </a:lnTo>
                  <a:cubicBezTo>
                    <a:pt x="0" y="68233"/>
                    <a:pt x="68233" y="0"/>
                    <a:pt x="152403" y="0"/>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err="1">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5" name="Text Placeholder 5">
              <a:extLst>
                <a:ext uri="{FF2B5EF4-FFF2-40B4-BE49-F238E27FC236}">
                  <a16:creationId xmlns:a16="http://schemas.microsoft.com/office/drawing/2014/main" id="{2B4241C0-020A-CE89-87E3-296A5FA983A9}"/>
                </a:ext>
                <a:ext uri="{C183D7F6-B498-43B3-948B-1728B52AA6E4}">
                  <adec:decorative xmlns:adec="http://schemas.microsoft.com/office/drawing/2017/decorative" val="1"/>
                </a:ext>
              </a:extLst>
            </p:cNvPr>
            <p:cNvSpPr txBox="1">
              <a:spLocks/>
            </p:cNvSpPr>
            <p:nvPr/>
          </p:nvSpPr>
          <p:spPr>
            <a:xfrm>
              <a:off x="3484560" y="2092067"/>
              <a:ext cx="1829067" cy="686622"/>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400" dirty="0">
                  <a:solidFill>
                    <a:schemeClr val="bg1"/>
                  </a:solidFill>
                  <a:latin typeface="Segoe UI"/>
                  <a:cs typeface="Segoe UI Semilight"/>
                </a:rPr>
                <a:t>Who ensures the compliance of the Northwind Health Plus plan with state regulations?</a:t>
              </a:r>
              <a:endParaRPr lang="en-US" sz="1400" dirty="0">
                <a:solidFill>
                  <a:schemeClr val="bg1"/>
                </a:solidFill>
                <a:latin typeface="Segoe UI"/>
                <a:cs typeface="Segoe UI"/>
              </a:endParaRPr>
            </a:p>
          </p:txBody>
        </p:sp>
      </p:grpSp>
      <p:sp>
        <p:nvSpPr>
          <p:cNvPr id="6" name="Rounded Rectangle 5">
            <a:extLst>
              <a:ext uri="{FF2B5EF4-FFF2-40B4-BE49-F238E27FC236}">
                <a16:creationId xmlns:a16="http://schemas.microsoft.com/office/drawing/2014/main" id="{BA1A83BE-A776-7FDD-E0D4-638D1F83B6D6}"/>
              </a:ext>
              <a:ext uri="{C183D7F6-B498-43B3-948B-1728B52AA6E4}">
                <adec:decorative xmlns:adec="http://schemas.microsoft.com/office/drawing/2017/decorative" val="1"/>
              </a:ext>
            </a:extLst>
          </p:cNvPr>
          <p:cNvSpPr/>
          <p:nvPr/>
        </p:nvSpPr>
        <p:spPr bwMode="auto">
          <a:xfrm>
            <a:off x="599815" y="3815013"/>
            <a:ext cx="1898415" cy="2123423"/>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7" name="Graphic 31" descr="Person with chat bubble icon">
            <a:extLst>
              <a:ext uri="{FF2B5EF4-FFF2-40B4-BE49-F238E27FC236}">
                <a16:creationId xmlns:a16="http://schemas.microsoft.com/office/drawing/2014/main" id="{887135A9-AFB8-AAA8-3BD2-4241455AFE3A}"/>
              </a:ext>
            </a:extLst>
          </p:cNvPr>
          <p:cNvSpPr/>
          <p:nvPr/>
        </p:nvSpPr>
        <p:spPr>
          <a:xfrm>
            <a:off x="1290850" y="4199030"/>
            <a:ext cx="516344" cy="570744"/>
          </a:xfrm>
          <a:custGeom>
            <a:avLst/>
            <a:gdLst>
              <a:gd name="connsiteX0" fmla="*/ 190150 w 516344"/>
              <a:gd name="connsiteY0" fmla="*/ 421201 h 570744"/>
              <a:gd name="connsiteX1" fmla="*/ 217924 w 516344"/>
              <a:gd name="connsiteY1" fmla="*/ 326058 h 570744"/>
              <a:gd name="connsiteX2" fmla="*/ 61146 w 516344"/>
              <a:gd name="connsiteY2" fmla="*/ 326058 h 570744"/>
              <a:gd name="connsiteX3" fmla="*/ 0 w 516344"/>
              <a:gd name="connsiteY3" fmla="*/ 387204 h 570744"/>
              <a:gd name="connsiteX4" fmla="*/ 0 w 516344"/>
              <a:gd name="connsiteY4" fmla="*/ 412206 h 570744"/>
              <a:gd name="connsiteX5" fmla="*/ 13860 w 516344"/>
              <a:gd name="connsiteY5" fmla="*/ 455578 h 570744"/>
              <a:gd name="connsiteX6" fmla="*/ 192678 w 516344"/>
              <a:gd name="connsiteY6" fmla="*/ 542813 h 570744"/>
              <a:gd name="connsiteX7" fmla="*/ 206864 w 516344"/>
              <a:gd name="connsiteY7" fmla="*/ 496261 h 570744"/>
              <a:gd name="connsiteX8" fmla="*/ 190150 w 516344"/>
              <a:gd name="connsiteY8" fmla="*/ 421201 h 570744"/>
              <a:gd name="connsiteX9" fmla="*/ 217354 w 516344"/>
              <a:gd name="connsiteY9" fmla="*/ 0 h 570744"/>
              <a:gd name="connsiteX10" fmla="*/ 353261 w 516344"/>
              <a:gd name="connsiteY10" fmla="*/ 135907 h 570744"/>
              <a:gd name="connsiteX11" fmla="*/ 217354 w 516344"/>
              <a:gd name="connsiteY11" fmla="*/ 271814 h 570744"/>
              <a:gd name="connsiteX12" fmla="*/ 81446 w 516344"/>
              <a:gd name="connsiteY12" fmla="*/ 135907 h 570744"/>
              <a:gd name="connsiteX13" fmla="*/ 217354 w 516344"/>
              <a:gd name="connsiteY13" fmla="*/ 0 h 570744"/>
              <a:gd name="connsiteX14" fmla="*/ 516344 w 516344"/>
              <a:gd name="connsiteY14" fmla="*/ 421201 h 570744"/>
              <a:gd name="connsiteX15" fmla="*/ 366898 w 516344"/>
              <a:gd name="connsiteY15" fmla="*/ 570745 h 570744"/>
              <a:gd name="connsiteX16" fmla="*/ 294370 w 516344"/>
              <a:gd name="connsiteY16" fmla="*/ 551999 h 570744"/>
              <a:gd name="connsiteX17" fmla="*/ 234937 w 516344"/>
              <a:gd name="connsiteY17" fmla="*/ 570071 h 570744"/>
              <a:gd name="connsiteX18" fmla="*/ 217979 w 516344"/>
              <a:gd name="connsiteY18" fmla="*/ 561032 h 570744"/>
              <a:gd name="connsiteX19" fmla="*/ 217979 w 516344"/>
              <a:gd name="connsiteY19" fmla="*/ 553113 h 570744"/>
              <a:gd name="connsiteX20" fmla="*/ 236078 w 516344"/>
              <a:gd name="connsiteY20" fmla="*/ 493679 h 570744"/>
              <a:gd name="connsiteX21" fmla="*/ 294408 w 516344"/>
              <a:gd name="connsiteY21" fmla="*/ 290468 h 570744"/>
              <a:gd name="connsiteX22" fmla="*/ 497620 w 516344"/>
              <a:gd name="connsiteY22" fmla="*/ 348796 h 570744"/>
              <a:gd name="connsiteX23" fmla="*/ 516344 w 516344"/>
              <a:gd name="connsiteY23" fmla="*/ 421174 h 570744"/>
              <a:gd name="connsiteX24" fmla="*/ 312470 w 516344"/>
              <a:gd name="connsiteY24" fmla="*/ 380437 h 570744"/>
              <a:gd name="connsiteX25" fmla="*/ 298882 w 516344"/>
              <a:gd name="connsiteY25" fmla="*/ 394025 h 570744"/>
              <a:gd name="connsiteX26" fmla="*/ 312470 w 516344"/>
              <a:gd name="connsiteY26" fmla="*/ 407613 h 570744"/>
              <a:gd name="connsiteX27" fmla="*/ 421228 w 516344"/>
              <a:gd name="connsiteY27" fmla="*/ 407613 h 570744"/>
              <a:gd name="connsiteX28" fmla="*/ 434816 w 516344"/>
              <a:gd name="connsiteY28" fmla="*/ 394025 h 570744"/>
              <a:gd name="connsiteX29" fmla="*/ 421228 w 516344"/>
              <a:gd name="connsiteY29" fmla="*/ 380437 h 570744"/>
              <a:gd name="connsiteX30" fmla="*/ 312524 w 516344"/>
              <a:gd name="connsiteY30" fmla="*/ 380437 h 570744"/>
              <a:gd name="connsiteX31" fmla="*/ 298882 w 516344"/>
              <a:gd name="connsiteY31" fmla="*/ 448377 h 570744"/>
              <a:gd name="connsiteX32" fmla="*/ 312470 w 516344"/>
              <a:gd name="connsiteY32" fmla="*/ 461965 h 570744"/>
              <a:gd name="connsiteX33" fmla="*/ 366822 w 516344"/>
              <a:gd name="connsiteY33" fmla="*/ 461965 h 570744"/>
              <a:gd name="connsiteX34" fmla="*/ 380410 w 516344"/>
              <a:gd name="connsiteY34" fmla="*/ 448377 h 570744"/>
              <a:gd name="connsiteX35" fmla="*/ 366822 w 516344"/>
              <a:gd name="connsiteY35" fmla="*/ 434789 h 570744"/>
              <a:gd name="connsiteX36" fmla="*/ 312470 w 516344"/>
              <a:gd name="connsiteY36" fmla="*/ 434789 h 570744"/>
              <a:gd name="connsiteX37" fmla="*/ 298882 w 516344"/>
              <a:gd name="connsiteY37" fmla="*/ 448377 h 570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16344" h="570744">
                <a:moveTo>
                  <a:pt x="190150" y="421201"/>
                </a:moveTo>
                <a:cubicBezTo>
                  <a:pt x="190150" y="386144"/>
                  <a:pt x="200341" y="353533"/>
                  <a:pt x="217924" y="326058"/>
                </a:cubicBezTo>
                <a:lnTo>
                  <a:pt x="61146" y="326058"/>
                </a:lnTo>
                <a:cubicBezTo>
                  <a:pt x="27376" y="326058"/>
                  <a:pt x="0" y="353435"/>
                  <a:pt x="0" y="387204"/>
                </a:cubicBezTo>
                <a:lnTo>
                  <a:pt x="0" y="412206"/>
                </a:lnTo>
                <a:cubicBezTo>
                  <a:pt x="0" y="427750"/>
                  <a:pt x="4837" y="442914"/>
                  <a:pt x="13860" y="455578"/>
                </a:cubicBezTo>
                <a:cubicBezTo>
                  <a:pt x="51988" y="509061"/>
                  <a:pt x="112155" y="538030"/>
                  <a:pt x="192678" y="542813"/>
                </a:cubicBezTo>
                <a:lnTo>
                  <a:pt x="206864" y="496261"/>
                </a:lnTo>
                <a:cubicBezTo>
                  <a:pt x="195830" y="472778"/>
                  <a:pt x="190123" y="447146"/>
                  <a:pt x="190150" y="421201"/>
                </a:cubicBezTo>
                <a:close/>
                <a:moveTo>
                  <a:pt x="217354" y="0"/>
                </a:moveTo>
                <a:cubicBezTo>
                  <a:pt x="292414" y="0"/>
                  <a:pt x="353261" y="60848"/>
                  <a:pt x="353261" y="135907"/>
                </a:cubicBezTo>
                <a:cubicBezTo>
                  <a:pt x="353261" y="210967"/>
                  <a:pt x="292414" y="271814"/>
                  <a:pt x="217354" y="271814"/>
                </a:cubicBezTo>
                <a:cubicBezTo>
                  <a:pt x="142294" y="271814"/>
                  <a:pt x="81446" y="210967"/>
                  <a:pt x="81446" y="135907"/>
                </a:cubicBezTo>
                <a:cubicBezTo>
                  <a:pt x="81446" y="60848"/>
                  <a:pt x="142294" y="0"/>
                  <a:pt x="217354" y="0"/>
                </a:cubicBezTo>
                <a:close/>
                <a:moveTo>
                  <a:pt x="516344" y="421201"/>
                </a:moveTo>
                <a:cubicBezTo>
                  <a:pt x="516371" y="503764"/>
                  <a:pt x="449461" y="570718"/>
                  <a:pt x="366898" y="570745"/>
                </a:cubicBezTo>
                <a:cubicBezTo>
                  <a:pt x="341521" y="570753"/>
                  <a:pt x="316562" y="564302"/>
                  <a:pt x="294370" y="551999"/>
                </a:cubicBezTo>
                <a:lnTo>
                  <a:pt x="234937" y="570071"/>
                </a:lnTo>
                <a:cubicBezTo>
                  <a:pt x="227757" y="572259"/>
                  <a:pt x="220166" y="568212"/>
                  <a:pt x="217979" y="561032"/>
                </a:cubicBezTo>
                <a:cubicBezTo>
                  <a:pt x="217193" y="558451"/>
                  <a:pt x="217193" y="555695"/>
                  <a:pt x="217979" y="553113"/>
                </a:cubicBezTo>
                <a:lnTo>
                  <a:pt x="236078" y="493679"/>
                </a:lnTo>
                <a:cubicBezTo>
                  <a:pt x="196069" y="421456"/>
                  <a:pt x="222186" y="330476"/>
                  <a:pt x="294408" y="290468"/>
                </a:cubicBezTo>
                <a:cubicBezTo>
                  <a:pt x="366631" y="250459"/>
                  <a:pt x="457611" y="276573"/>
                  <a:pt x="497620" y="348796"/>
                </a:cubicBezTo>
                <a:cubicBezTo>
                  <a:pt x="509890" y="370947"/>
                  <a:pt x="516333" y="395851"/>
                  <a:pt x="516344" y="421174"/>
                </a:cubicBezTo>
                <a:close/>
                <a:moveTo>
                  <a:pt x="312470" y="380437"/>
                </a:moveTo>
                <a:cubicBezTo>
                  <a:pt x="304966" y="380437"/>
                  <a:pt x="298882" y="386522"/>
                  <a:pt x="298882" y="394025"/>
                </a:cubicBezTo>
                <a:cubicBezTo>
                  <a:pt x="298882" y="401528"/>
                  <a:pt x="304966" y="407613"/>
                  <a:pt x="312470" y="407613"/>
                </a:cubicBezTo>
                <a:lnTo>
                  <a:pt x="421228" y="407613"/>
                </a:lnTo>
                <a:cubicBezTo>
                  <a:pt x="428731" y="407613"/>
                  <a:pt x="434816" y="401528"/>
                  <a:pt x="434816" y="394025"/>
                </a:cubicBezTo>
                <a:cubicBezTo>
                  <a:pt x="434816" y="386522"/>
                  <a:pt x="428731" y="380437"/>
                  <a:pt x="421228" y="380437"/>
                </a:cubicBezTo>
                <a:lnTo>
                  <a:pt x="312524" y="380437"/>
                </a:lnTo>
                <a:close/>
                <a:moveTo>
                  <a:pt x="298882" y="448377"/>
                </a:moveTo>
                <a:cubicBezTo>
                  <a:pt x="298882" y="455880"/>
                  <a:pt x="304966" y="461965"/>
                  <a:pt x="312470" y="461965"/>
                </a:cubicBezTo>
                <a:lnTo>
                  <a:pt x="366822" y="461965"/>
                </a:lnTo>
                <a:cubicBezTo>
                  <a:pt x="374325" y="461965"/>
                  <a:pt x="380410" y="455880"/>
                  <a:pt x="380410" y="448377"/>
                </a:cubicBezTo>
                <a:cubicBezTo>
                  <a:pt x="380410" y="440874"/>
                  <a:pt x="374325" y="434789"/>
                  <a:pt x="366822" y="434789"/>
                </a:cubicBezTo>
                <a:lnTo>
                  <a:pt x="312470" y="434789"/>
                </a:lnTo>
                <a:cubicBezTo>
                  <a:pt x="304966" y="434789"/>
                  <a:pt x="298882" y="440874"/>
                  <a:pt x="298882" y="448377"/>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8" name="Text Placeholder 5">
            <a:extLst>
              <a:ext uri="{FF2B5EF4-FFF2-40B4-BE49-F238E27FC236}">
                <a16:creationId xmlns:a16="http://schemas.microsoft.com/office/drawing/2014/main" id="{6ED75D3B-3171-C635-F128-B36803C7A505}"/>
              </a:ext>
            </a:extLst>
          </p:cNvPr>
          <p:cNvSpPr txBox="1">
            <a:spLocks/>
          </p:cNvSpPr>
          <p:nvPr/>
        </p:nvSpPr>
        <p:spPr>
          <a:xfrm>
            <a:off x="909811" y="4963813"/>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latin typeface="+mj-lt"/>
                <a:cs typeface="Segoe UI Semilight"/>
              </a:rPr>
              <a:t>User</a:t>
            </a:r>
            <a:endParaRPr lang="en-US" sz="1800"/>
          </a:p>
          <a:p>
            <a:pPr marL="0" indent="0" algn="ctr" defTabSz="1865484">
              <a:buNone/>
              <a:defRPr/>
            </a:pPr>
            <a:r>
              <a:rPr lang="en-US" sz="1800">
                <a:latin typeface="+mj-lt"/>
                <a:cs typeface="Segoe UI Semilight"/>
              </a:rPr>
              <a:t>Question</a:t>
            </a:r>
            <a:endParaRPr lang="en-US" sz="1800">
              <a:cs typeface="Segoe UI Semilight"/>
            </a:endParaRPr>
          </a:p>
        </p:txBody>
      </p:sp>
      <p:sp>
        <p:nvSpPr>
          <p:cNvPr id="9" name="Rounded Rectangle 5">
            <a:extLst>
              <a:ext uri="{FF2B5EF4-FFF2-40B4-BE49-F238E27FC236}">
                <a16:creationId xmlns:a16="http://schemas.microsoft.com/office/drawing/2014/main" id="{4DC72029-5CCE-81D6-1F1F-75A594218688}"/>
              </a:ext>
              <a:ext uri="{C183D7F6-B498-43B3-948B-1728B52AA6E4}">
                <adec:decorative xmlns:adec="http://schemas.microsoft.com/office/drawing/2017/decorative" val="1"/>
              </a:ext>
            </a:extLst>
          </p:cNvPr>
          <p:cNvSpPr/>
          <p:nvPr/>
        </p:nvSpPr>
        <p:spPr bwMode="auto">
          <a:xfrm>
            <a:off x="3068652" y="3815013"/>
            <a:ext cx="1506115" cy="2123423"/>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10" name="Graphic 29" descr="Database with magnifying glass icon">
            <a:extLst>
              <a:ext uri="{FF2B5EF4-FFF2-40B4-BE49-F238E27FC236}">
                <a16:creationId xmlns:a16="http://schemas.microsoft.com/office/drawing/2014/main" id="{FD1D4C3E-6A33-B359-AF06-B1EE21167179}"/>
              </a:ext>
            </a:extLst>
          </p:cNvPr>
          <p:cNvSpPr/>
          <p:nvPr/>
        </p:nvSpPr>
        <p:spPr>
          <a:xfrm>
            <a:off x="3677130" y="4198800"/>
            <a:ext cx="516852" cy="571204"/>
          </a:xfrm>
          <a:custGeom>
            <a:avLst/>
            <a:gdLst>
              <a:gd name="connsiteX0" fmla="*/ 217408 w 516852"/>
              <a:gd name="connsiteY0" fmla="*/ 217408 h 571204"/>
              <a:gd name="connsiteX1" fmla="*/ 434816 w 516852"/>
              <a:gd name="connsiteY1" fmla="*/ 108704 h 571204"/>
              <a:gd name="connsiteX2" fmla="*/ 217408 w 516852"/>
              <a:gd name="connsiteY2" fmla="*/ 0 h 571204"/>
              <a:gd name="connsiteX3" fmla="*/ 0 w 516852"/>
              <a:gd name="connsiteY3" fmla="*/ 108704 h 571204"/>
              <a:gd name="connsiteX4" fmla="*/ 217408 w 516852"/>
              <a:gd name="connsiteY4" fmla="*/ 217408 h 571204"/>
              <a:gd name="connsiteX5" fmla="*/ 389378 w 516852"/>
              <a:gd name="connsiteY5" fmla="*/ 222028 h 571204"/>
              <a:gd name="connsiteX6" fmla="*/ 434816 w 516852"/>
              <a:gd name="connsiteY6" fmla="*/ 191672 h 571204"/>
              <a:gd name="connsiteX7" fmla="*/ 434816 w 516852"/>
              <a:gd name="connsiteY7" fmla="*/ 278744 h 571204"/>
              <a:gd name="connsiteX8" fmla="*/ 325568 w 516852"/>
              <a:gd name="connsiteY8" fmla="*/ 245236 h 571204"/>
              <a:gd name="connsiteX9" fmla="*/ 389378 w 516852"/>
              <a:gd name="connsiteY9" fmla="*/ 222028 h 571204"/>
              <a:gd name="connsiteX10" fmla="*/ 190232 w 516852"/>
              <a:gd name="connsiteY10" fmla="*/ 394052 h 571204"/>
              <a:gd name="connsiteX11" fmla="*/ 294343 w 516852"/>
              <a:gd name="connsiteY11" fmla="*/ 536509 h 571204"/>
              <a:gd name="connsiteX12" fmla="*/ 217408 w 516852"/>
              <a:gd name="connsiteY12" fmla="*/ 543520 h 571204"/>
              <a:gd name="connsiteX13" fmla="*/ 0 w 516852"/>
              <a:gd name="connsiteY13" fmla="*/ 434816 h 571204"/>
              <a:gd name="connsiteX14" fmla="*/ 0 w 516852"/>
              <a:gd name="connsiteY14" fmla="*/ 191672 h 571204"/>
              <a:gd name="connsiteX15" fmla="*/ 45438 w 516852"/>
              <a:gd name="connsiteY15" fmla="*/ 222028 h 571204"/>
              <a:gd name="connsiteX16" fmla="*/ 217408 w 516852"/>
              <a:gd name="connsiteY16" fmla="*/ 258172 h 571204"/>
              <a:gd name="connsiteX17" fmla="*/ 292876 w 516852"/>
              <a:gd name="connsiteY17" fmla="*/ 252057 h 571204"/>
              <a:gd name="connsiteX18" fmla="*/ 190232 w 516852"/>
              <a:gd name="connsiteY18" fmla="*/ 394052 h 571204"/>
              <a:gd name="connsiteX19" fmla="*/ 339700 w 516852"/>
              <a:gd name="connsiteY19" fmla="*/ 516344 h 571204"/>
              <a:gd name="connsiteX20" fmla="*/ 410548 w 516852"/>
              <a:gd name="connsiteY20" fmla="*/ 493734 h 571204"/>
              <a:gd name="connsiteX21" fmla="*/ 481559 w 516852"/>
              <a:gd name="connsiteY21" fmla="*/ 564717 h 571204"/>
              <a:gd name="connsiteX22" fmla="*/ 510365 w 516852"/>
              <a:gd name="connsiteY22" fmla="*/ 565734 h 571204"/>
              <a:gd name="connsiteX23" fmla="*/ 511382 w 516852"/>
              <a:gd name="connsiteY23" fmla="*/ 536927 h 571204"/>
              <a:gd name="connsiteX24" fmla="*/ 510365 w 516852"/>
              <a:gd name="connsiteY24" fmla="*/ 535911 h 571204"/>
              <a:gd name="connsiteX25" fmla="*/ 439382 w 516852"/>
              <a:gd name="connsiteY25" fmla="*/ 464900 h 571204"/>
              <a:gd name="connsiteX26" fmla="*/ 410551 w 516852"/>
              <a:gd name="connsiteY26" fmla="*/ 294373 h 571204"/>
              <a:gd name="connsiteX27" fmla="*/ 240024 w 516852"/>
              <a:gd name="connsiteY27" fmla="*/ 323204 h 571204"/>
              <a:gd name="connsiteX28" fmla="*/ 268855 w 516852"/>
              <a:gd name="connsiteY28" fmla="*/ 493731 h 571204"/>
              <a:gd name="connsiteX29" fmla="*/ 339700 w 516852"/>
              <a:gd name="connsiteY29" fmla="*/ 516344 h 571204"/>
              <a:gd name="connsiteX30" fmla="*/ 339700 w 516852"/>
              <a:gd name="connsiteY30" fmla="*/ 475580 h 571204"/>
              <a:gd name="connsiteX31" fmla="*/ 258172 w 516852"/>
              <a:gd name="connsiteY31" fmla="*/ 394052 h 571204"/>
              <a:gd name="connsiteX32" fmla="*/ 339700 w 516852"/>
              <a:gd name="connsiteY32" fmla="*/ 312524 h 571204"/>
              <a:gd name="connsiteX33" fmla="*/ 421228 w 516852"/>
              <a:gd name="connsiteY33" fmla="*/ 394052 h 571204"/>
              <a:gd name="connsiteX34" fmla="*/ 339700 w 516852"/>
              <a:gd name="connsiteY34" fmla="*/ 475580 h 571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16852" h="571204">
                <a:moveTo>
                  <a:pt x="217408" y="217408"/>
                </a:moveTo>
                <a:cubicBezTo>
                  <a:pt x="337472" y="217408"/>
                  <a:pt x="434816" y="168763"/>
                  <a:pt x="434816" y="108704"/>
                </a:cubicBezTo>
                <a:cubicBezTo>
                  <a:pt x="434816" y="48645"/>
                  <a:pt x="337472" y="0"/>
                  <a:pt x="217408" y="0"/>
                </a:cubicBezTo>
                <a:cubicBezTo>
                  <a:pt x="97344" y="0"/>
                  <a:pt x="0" y="48645"/>
                  <a:pt x="0" y="108704"/>
                </a:cubicBezTo>
                <a:cubicBezTo>
                  <a:pt x="0" y="168763"/>
                  <a:pt x="97344" y="217408"/>
                  <a:pt x="217408" y="217408"/>
                </a:cubicBezTo>
                <a:close/>
                <a:moveTo>
                  <a:pt x="389378" y="222028"/>
                </a:moveTo>
                <a:cubicBezTo>
                  <a:pt x="405800" y="213964"/>
                  <a:pt x="421079" y="203756"/>
                  <a:pt x="434816" y="191672"/>
                </a:cubicBezTo>
                <a:lnTo>
                  <a:pt x="434816" y="278744"/>
                </a:lnTo>
                <a:cubicBezTo>
                  <a:pt x="404308" y="253484"/>
                  <a:pt x="364993" y="241426"/>
                  <a:pt x="325568" y="245236"/>
                </a:cubicBezTo>
                <a:cubicBezTo>
                  <a:pt x="347605" y="239804"/>
                  <a:pt x="368998" y="232023"/>
                  <a:pt x="389378" y="222028"/>
                </a:cubicBezTo>
                <a:close/>
                <a:moveTo>
                  <a:pt x="190232" y="394052"/>
                </a:moveTo>
                <a:cubicBezTo>
                  <a:pt x="190232" y="459136"/>
                  <a:pt x="232333" y="516744"/>
                  <a:pt x="294343" y="536509"/>
                </a:cubicBezTo>
                <a:cubicBezTo>
                  <a:pt x="270428" y="541047"/>
                  <a:pt x="244502" y="543520"/>
                  <a:pt x="217408" y="543520"/>
                </a:cubicBezTo>
                <a:cubicBezTo>
                  <a:pt x="97344" y="543520"/>
                  <a:pt x="0" y="494875"/>
                  <a:pt x="0" y="434816"/>
                </a:cubicBezTo>
                <a:lnTo>
                  <a:pt x="0" y="191672"/>
                </a:lnTo>
                <a:cubicBezTo>
                  <a:pt x="13737" y="203756"/>
                  <a:pt x="29016" y="213964"/>
                  <a:pt x="45438" y="222028"/>
                </a:cubicBezTo>
                <a:cubicBezTo>
                  <a:pt x="91583" y="245073"/>
                  <a:pt x="152403" y="258172"/>
                  <a:pt x="217408" y="258172"/>
                </a:cubicBezTo>
                <a:cubicBezTo>
                  <a:pt x="243443" y="258172"/>
                  <a:pt x="268825" y="256079"/>
                  <a:pt x="292876" y="252057"/>
                </a:cubicBezTo>
                <a:cubicBezTo>
                  <a:pt x="231610" y="272285"/>
                  <a:pt x="190227" y="329531"/>
                  <a:pt x="190232" y="394052"/>
                </a:cubicBezTo>
                <a:close/>
                <a:moveTo>
                  <a:pt x="339700" y="516344"/>
                </a:moveTo>
                <a:cubicBezTo>
                  <a:pt x="365096" y="516382"/>
                  <a:pt x="389867" y="508474"/>
                  <a:pt x="410548" y="493734"/>
                </a:cubicBezTo>
                <a:lnTo>
                  <a:pt x="481559" y="564717"/>
                </a:lnTo>
                <a:cubicBezTo>
                  <a:pt x="489233" y="572952"/>
                  <a:pt x="502131" y="573408"/>
                  <a:pt x="510365" y="565734"/>
                </a:cubicBezTo>
                <a:cubicBezTo>
                  <a:pt x="518600" y="558059"/>
                  <a:pt x="519056" y="545164"/>
                  <a:pt x="511382" y="536927"/>
                </a:cubicBezTo>
                <a:cubicBezTo>
                  <a:pt x="511056" y="536577"/>
                  <a:pt x="510716" y="536237"/>
                  <a:pt x="510365" y="535911"/>
                </a:cubicBezTo>
                <a:lnTo>
                  <a:pt x="439382" y="464900"/>
                </a:lnTo>
                <a:cubicBezTo>
                  <a:pt x="478510" y="409849"/>
                  <a:pt x="465601" y="333501"/>
                  <a:pt x="410551" y="294373"/>
                </a:cubicBezTo>
                <a:cubicBezTo>
                  <a:pt x="355500" y="255245"/>
                  <a:pt x="279152" y="268154"/>
                  <a:pt x="240024" y="323204"/>
                </a:cubicBezTo>
                <a:cubicBezTo>
                  <a:pt x="200896" y="378255"/>
                  <a:pt x="213804" y="454603"/>
                  <a:pt x="268855" y="493731"/>
                </a:cubicBezTo>
                <a:cubicBezTo>
                  <a:pt x="289549" y="508441"/>
                  <a:pt x="314309" y="516344"/>
                  <a:pt x="339700" y="516344"/>
                </a:cubicBezTo>
                <a:close/>
                <a:moveTo>
                  <a:pt x="339700" y="475580"/>
                </a:moveTo>
                <a:cubicBezTo>
                  <a:pt x="294672" y="475580"/>
                  <a:pt x="258172" y="439080"/>
                  <a:pt x="258172" y="394052"/>
                </a:cubicBezTo>
                <a:cubicBezTo>
                  <a:pt x="258172" y="349024"/>
                  <a:pt x="294672" y="312524"/>
                  <a:pt x="339700" y="312524"/>
                </a:cubicBezTo>
                <a:cubicBezTo>
                  <a:pt x="384728" y="312524"/>
                  <a:pt x="421228" y="349024"/>
                  <a:pt x="421228" y="394052"/>
                </a:cubicBezTo>
                <a:cubicBezTo>
                  <a:pt x="421228" y="439080"/>
                  <a:pt x="384728" y="475580"/>
                  <a:pt x="339700" y="475580"/>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11" name="Text Placeholder 5">
            <a:extLst>
              <a:ext uri="{FF2B5EF4-FFF2-40B4-BE49-F238E27FC236}">
                <a16:creationId xmlns:a16="http://schemas.microsoft.com/office/drawing/2014/main" id="{D52E1500-8A20-072E-9D90-A70FD24C2734}"/>
              </a:ext>
            </a:extLst>
          </p:cNvPr>
          <p:cNvSpPr txBox="1">
            <a:spLocks/>
          </p:cNvSpPr>
          <p:nvPr/>
        </p:nvSpPr>
        <p:spPr>
          <a:xfrm>
            <a:off x="3296345" y="5007300"/>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latin typeface="+mj-lt"/>
                <a:cs typeface="Segoe UI Semilight"/>
              </a:rPr>
              <a:t>Search</a:t>
            </a:r>
            <a:endParaRPr lang="en-US" sz="1800" dirty="0">
              <a:cs typeface="Segoe UI Semilight"/>
            </a:endParaRPr>
          </a:p>
        </p:txBody>
      </p:sp>
      <p:sp>
        <p:nvSpPr>
          <p:cNvPr id="13" name="Rounded Rectangle 5">
            <a:extLst>
              <a:ext uri="{FF2B5EF4-FFF2-40B4-BE49-F238E27FC236}">
                <a16:creationId xmlns:a16="http://schemas.microsoft.com/office/drawing/2014/main" id="{550730E9-FFEE-0E02-9C45-F93EC61B0B10}"/>
              </a:ext>
              <a:ext uri="{C183D7F6-B498-43B3-948B-1728B52AA6E4}">
                <adec:decorative xmlns:adec="http://schemas.microsoft.com/office/drawing/2017/decorative" val="1"/>
              </a:ext>
            </a:extLst>
          </p:cNvPr>
          <p:cNvSpPr/>
          <p:nvPr/>
        </p:nvSpPr>
        <p:spPr bwMode="auto">
          <a:xfrm>
            <a:off x="5163002" y="3377890"/>
            <a:ext cx="2150314" cy="2560545"/>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1865484">
              <a:defRPr/>
            </a:pPr>
            <a:r>
              <a:rPr lang="en-US" sz="1400" dirty="0">
                <a:solidFill>
                  <a:schemeClr val="tx1"/>
                </a:solidFill>
                <a:cs typeface="Segoe UI Semilight"/>
              </a:rPr>
              <a:t>The compliance of the Northwind Health Plus plan with state regulations is ensured by the plan itself, as it states that it is in compliance with applicable state and federal laws and regulations[1]</a:t>
            </a:r>
            <a:endParaRPr lang="en-US" sz="1400" baseline="30000" dirty="0">
              <a:solidFill>
                <a:schemeClr val="tx1"/>
              </a:solidFill>
              <a:cs typeface="Segoe UI Semilight"/>
            </a:endParaRPr>
          </a:p>
        </p:txBody>
      </p:sp>
      <p:sp>
        <p:nvSpPr>
          <p:cNvPr id="14" name="Graphic 22" descr="Large Language Model icon">
            <a:extLst>
              <a:ext uri="{FF2B5EF4-FFF2-40B4-BE49-F238E27FC236}">
                <a16:creationId xmlns:a16="http://schemas.microsoft.com/office/drawing/2014/main" id="{AC985195-C4BA-2DF4-4A7B-1DD35045B816}"/>
              </a:ext>
            </a:extLst>
          </p:cNvPr>
          <p:cNvSpPr/>
          <p:nvPr/>
        </p:nvSpPr>
        <p:spPr>
          <a:xfrm>
            <a:off x="5163002" y="2396564"/>
            <a:ext cx="795753" cy="796201"/>
          </a:xfrm>
          <a:custGeom>
            <a:avLst/>
            <a:gdLst>
              <a:gd name="connsiteX0" fmla="*/ 461978 w 543510"/>
              <a:gd name="connsiteY0" fmla="*/ 67910 h 543815"/>
              <a:gd name="connsiteX1" fmla="*/ 394065 w 543510"/>
              <a:gd name="connsiteY1" fmla="*/ 135877 h 543815"/>
              <a:gd name="connsiteX2" fmla="*/ 380124 w 543510"/>
              <a:gd name="connsiteY2" fmla="*/ 134437 h 543815"/>
              <a:gd name="connsiteX3" fmla="*/ 345338 w 543510"/>
              <a:gd name="connsiteY3" fmla="*/ 191995 h 543815"/>
              <a:gd name="connsiteX4" fmla="*/ 380450 w 543510"/>
              <a:gd name="connsiteY4" fmla="*/ 271974 h 543815"/>
              <a:gd name="connsiteX5" fmla="*/ 380450 w 543510"/>
              <a:gd name="connsiteY5" fmla="*/ 273551 h 543815"/>
              <a:gd name="connsiteX6" fmla="*/ 415670 w 543510"/>
              <a:gd name="connsiteY6" fmla="*/ 280644 h 543815"/>
              <a:gd name="connsiteX7" fmla="*/ 507639 w 543510"/>
              <a:gd name="connsiteY7" fmla="*/ 252837 h 543815"/>
              <a:gd name="connsiteX8" fmla="*/ 535445 w 543510"/>
              <a:gd name="connsiteY8" fmla="*/ 344809 h 543815"/>
              <a:gd name="connsiteX9" fmla="*/ 443476 w 543510"/>
              <a:gd name="connsiteY9" fmla="*/ 372613 h 543815"/>
              <a:gd name="connsiteX10" fmla="*/ 408088 w 543510"/>
              <a:gd name="connsiteY10" fmla="*/ 320701 h 543815"/>
              <a:gd name="connsiteX11" fmla="*/ 372215 w 543510"/>
              <a:gd name="connsiteY11" fmla="*/ 313499 h 543815"/>
              <a:gd name="connsiteX12" fmla="*/ 324875 w 543510"/>
              <a:gd name="connsiteY12" fmla="*/ 366846 h 543815"/>
              <a:gd name="connsiteX13" fmla="*/ 338327 w 543510"/>
              <a:gd name="connsiteY13" fmla="*/ 407936 h 543815"/>
              <a:gd name="connsiteX14" fmla="*/ 339686 w 543510"/>
              <a:gd name="connsiteY14" fmla="*/ 407936 h 543815"/>
              <a:gd name="connsiteX15" fmla="*/ 407577 w 543510"/>
              <a:gd name="connsiteY15" fmla="*/ 475925 h 543815"/>
              <a:gd name="connsiteX16" fmla="*/ 339588 w 543510"/>
              <a:gd name="connsiteY16" fmla="*/ 543816 h 543815"/>
              <a:gd name="connsiteX17" fmla="*/ 271697 w 543510"/>
              <a:gd name="connsiteY17" fmla="*/ 475827 h 543815"/>
              <a:gd name="connsiteX18" fmla="*/ 299683 w 543510"/>
              <a:gd name="connsiteY18" fmla="*/ 420926 h 543815"/>
              <a:gd name="connsiteX19" fmla="*/ 286203 w 543510"/>
              <a:gd name="connsiteY19" fmla="*/ 379727 h 543815"/>
              <a:gd name="connsiteX20" fmla="*/ 184239 w 543510"/>
              <a:gd name="connsiteY20" fmla="*/ 336436 h 543815"/>
              <a:gd name="connsiteX21" fmla="*/ 135458 w 543510"/>
              <a:gd name="connsiteY21" fmla="*/ 359481 h 543815"/>
              <a:gd name="connsiteX22" fmla="*/ 75560 w 543510"/>
              <a:gd name="connsiteY22" fmla="*/ 434606 h 543815"/>
              <a:gd name="connsiteX23" fmla="*/ 434 w 543510"/>
              <a:gd name="connsiteY23" fmla="*/ 374711 h 543815"/>
              <a:gd name="connsiteX24" fmla="*/ 60332 w 543510"/>
              <a:gd name="connsiteY24" fmla="*/ 299582 h 543815"/>
              <a:gd name="connsiteX25" fmla="*/ 118935 w 543510"/>
              <a:gd name="connsiteY25" fmla="*/ 322196 h 543815"/>
              <a:gd name="connsiteX26" fmla="*/ 166602 w 543510"/>
              <a:gd name="connsiteY26" fmla="*/ 299694 h 543815"/>
              <a:gd name="connsiteX27" fmla="*/ 187908 w 543510"/>
              <a:gd name="connsiteY27" fmla="*/ 202757 h 543815"/>
              <a:gd name="connsiteX28" fmla="*/ 160976 w 543510"/>
              <a:gd name="connsiteY28" fmla="*/ 172048 h 543815"/>
              <a:gd name="connsiteX29" fmla="*/ 72738 w 543510"/>
              <a:gd name="connsiteY29" fmla="*/ 134026 h 543815"/>
              <a:gd name="connsiteX30" fmla="*/ 110761 w 543510"/>
              <a:gd name="connsiteY30" fmla="*/ 45788 h 543815"/>
              <a:gd name="connsiteX31" fmla="*/ 198999 w 543510"/>
              <a:gd name="connsiteY31" fmla="*/ 83810 h 543815"/>
              <a:gd name="connsiteX32" fmla="*/ 192609 w 543510"/>
              <a:gd name="connsiteY32" fmla="*/ 146285 h 543815"/>
              <a:gd name="connsiteX33" fmla="*/ 219323 w 543510"/>
              <a:gd name="connsiteY33" fmla="*/ 176722 h 543815"/>
              <a:gd name="connsiteX34" fmla="*/ 271746 w 543510"/>
              <a:gd name="connsiteY34" fmla="*/ 163270 h 543815"/>
              <a:gd name="connsiteX35" fmla="*/ 310716 w 543510"/>
              <a:gd name="connsiteY35" fmla="*/ 170472 h 543815"/>
              <a:gd name="connsiteX36" fmla="*/ 344550 w 543510"/>
              <a:gd name="connsiteY36" fmla="*/ 114489 h 543815"/>
              <a:gd name="connsiteX37" fmla="*/ 347488 w 543510"/>
              <a:gd name="connsiteY37" fmla="*/ 18453 h 543815"/>
              <a:gd name="connsiteX38" fmla="*/ 443525 w 543510"/>
              <a:gd name="connsiteY38" fmla="*/ 21391 h 543815"/>
              <a:gd name="connsiteX39" fmla="*/ 461978 w 543510"/>
              <a:gd name="connsiteY39" fmla="*/ 67937 h 54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43510" h="543815">
                <a:moveTo>
                  <a:pt x="461978" y="67910"/>
                </a:moveTo>
                <a:cubicBezTo>
                  <a:pt x="461991" y="105432"/>
                  <a:pt x="431587" y="135862"/>
                  <a:pt x="394065" y="135877"/>
                </a:cubicBezTo>
                <a:cubicBezTo>
                  <a:pt x="389380" y="135879"/>
                  <a:pt x="384708" y="135396"/>
                  <a:pt x="380124" y="134437"/>
                </a:cubicBezTo>
                <a:lnTo>
                  <a:pt x="345338" y="191995"/>
                </a:lnTo>
                <a:cubicBezTo>
                  <a:pt x="367737" y="212554"/>
                  <a:pt x="380477" y="241573"/>
                  <a:pt x="380450" y="271974"/>
                </a:cubicBezTo>
                <a:lnTo>
                  <a:pt x="380450" y="273551"/>
                </a:lnTo>
                <a:lnTo>
                  <a:pt x="415670" y="280644"/>
                </a:lnTo>
                <a:cubicBezTo>
                  <a:pt x="433389" y="247568"/>
                  <a:pt x="474566" y="235118"/>
                  <a:pt x="507639" y="252837"/>
                </a:cubicBezTo>
                <a:cubicBezTo>
                  <a:pt x="540715" y="270556"/>
                  <a:pt x="553164" y="311733"/>
                  <a:pt x="535445" y="344809"/>
                </a:cubicBezTo>
                <a:cubicBezTo>
                  <a:pt x="517727" y="377882"/>
                  <a:pt x="476552" y="390331"/>
                  <a:pt x="443476" y="372613"/>
                </a:cubicBezTo>
                <a:cubicBezTo>
                  <a:pt x="423907" y="362131"/>
                  <a:pt x="410694" y="342749"/>
                  <a:pt x="408088" y="320701"/>
                </a:cubicBezTo>
                <a:lnTo>
                  <a:pt x="372215" y="313499"/>
                </a:lnTo>
                <a:cubicBezTo>
                  <a:pt x="362856" y="336083"/>
                  <a:pt x="346186" y="354869"/>
                  <a:pt x="324875" y="366846"/>
                </a:cubicBezTo>
                <a:lnTo>
                  <a:pt x="338327" y="407936"/>
                </a:lnTo>
                <a:lnTo>
                  <a:pt x="339686" y="407936"/>
                </a:lnTo>
                <a:cubicBezTo>
                  <a:pt x="377208" y="407963"/>
                  <a:pt x="407604" y="438403"/>
                  <a:pt x="407577" y="475925"/>
                </a:cubicBezTo>
                <a:cubicBezTo>
                  <a:pt x="407550" y="513447"/>
                  <a:pt x="377110" y="543843"/>
                  <a:pt x="339588" y="543816"/>
                </a:cubicBezTo>
                <a:cubicBezTo>
                  <a:pt x="302066" y="543789"/>
                  <a:pt x="271670" y="513349"/>
                  <a:pt x="271697" y="475827"/>
                </a:cubicBezTo>
                <a:cubicBezTo>
                  <a:pt x="271713" y="454105"/>
                  <a:pt x="282113" y="433701"/>
                  <a:pt x="299683" y="420926"/>
                </a:cubicBezTo>
                <a:lnTo>
                  <a:pt x="286203" y="379727"/>
                </a:lnTo>
                <a:cubicBezTo>
                  <a:pt x="246855" y="385032"/>
                  <a:pt x="207751" y="368430"/>
                  <a:pt x="184239" y="336436"/>
                </a:cubicBezTo>
                <a:lnTo>
                  <a:pt x="135458" y="359481"/>
                </a:lnTo>
                <a:cubicBezTo>
                  <a:pt x="139663" y="396767"/>
                  <a:pt x="112846" y="430402"/>
                  <a:pt x="75560" y="434606"/>
                </a:cubicBezTo>
                <a:cubicBezTo>
                  <a:pt x="38274" y="438813"/>
                  <a:pt x="4639" y="411996"/>
                  <a:pt x="434" y="374711"/>
                </a:cubicBezTo>
                <a:cubicBezTo>
                  <a:pt x="-3771" y="337422"/>
                  <a:pt x="23046" y="303789"/>
                  <a:pt x="60332" y="299582"/>
                </a:cubicBezTo>
                <a:cubicBezTo>
                  <a:pt x="82387" y="297096"/>
                  <a:pt x="104267" y="305539"/>
                  <a:pt x="118935" y="322196"/>
                </a:cubicBezTo>
                <a:lnTo>
                  <a:pt x="166602" y="299694"/>
                </a:lnTo>
                <a:cubicBezTo>
                  <a:pt x="157705" y="265835"/>
                  <a:pt x="165633" y="229765"/>
                  <a:pt x="187908" y="202757"/>
                </a:cubicBezTo>
                <a:lnTo>
                  <a:pt x="160976" y="172048"/>
                </a:lnTo>
                <a:cubicBezTo>
                  <a:pt x="126110" y="185915"/>
                  <a:pt x="86605" y="168892"/>
                  <a:pt x="72738" y="134026"/>
                </a:cubicBezTo>
                <a:cubicBezTo>
                  <a:pt x="58872" y="99160"/>
                  <a:pt x="75895" y="59654"/>
                  <a:pt x="110761" y="45788"/>
                </a:cubicBezTo>
                <a:cubicBezTo>
                  <a:pt x="145627" y="31921"/>
                  <a:pt x="185132" y="48944"/>
                  <a:pt x="198999" y="83810"/>
                </a:cubicBezTo>
                <a:cubicBezTo>
                  <a:pt x="207199" y="104429"/>
                  <a:pt x="204814" y="127753"/>
                  <a:pt x="192609" y="146285"/>
                </a:cubicBezTo>
                <a:lnTo>
                  <a:pt x="219323" y="176722"/>
                </a:lnTo>
                <a:cubicBezTo>
                  <a:pt x="235376" y="167871"/>
                  <a:pt x="253416" y="163242"/>
                  <a:pt x="271746" y="163270"/>
                </a:cubicBezTo>
                <a:cubicBezTo>
                  <a:pt x="285470" y="163270"/>
                  <a:pt x="298650" y="165825"/>
                  <a:pt x="310716" y="170472"/>
                </a:cubicBezTo>
                <a:lnTo>
                  <a:pt x="344550" y="114489"/>
                </a:lnTo>
                <a:cubicBezTo>
                  <a:pt x="318842" y="87158"/>
                  <a:pt x="320157" y="44161"/>
                  <a:pt x="347488" y="18453"/>
                </a:cubicBezTo>
                <a:cubicBezTo>
                  <a:pt x="374819" y="-7256"/>
                  <a:pt x="417817" y="-5940"/>
                  <a:pt x="443525" y="21391"/>
                </a:cubicBezTo>
                <a:cubicBezTo>
                  <a:pt x="455377" y="33991"/>
                  <a:pt x="461978" y="50638"/>
                  <a:pt x="461978" y="67937"/>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15" name="Text Placeholder 5">
            <a:extLst>
              <a:ext uri="{FF2B5EF4-FFF2-40B4-BE49-F238E27FC236}">
                <a16:creationId xmlns:a16="http://schemas.microsoft.com/office/drawing/2014/main" id="{4CA98AB2-0185-5653-903A-3A64B1347879}"/>
              </a:ext>
            </a:extLst>
          </p:cNvPr>
          <p:cNvSpPr txBox="1">
            <a:spLocks/>
          </p:cNvSpPr>
          <p:nvPr/>
        </p:nvSpPr>
        <p:spPr>
          <a:xfrm>
            <a:off x="5912763" y="2415496"/>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latin typeface="+mj-lt"/>
                <a:cs typeface="Segoe UI Semilight"/>
              </a:rPr>
              <a:t>Large Language Model</a:t>
            </a:r>
          </a:p>
        </p:txBody>
      </p:sp>
      <p:grpSp>
        <p:nvGrpSpPr>
          <p:cNvPr id="31" name="Group 30">
            <a:extLst>
              <a:ext uri="{FF2B5EF4-FFF2-40B4-BE49-F238E27FC236}">
                <a16:creationId xmlns:a16="http://schemas.microsoft.com/office/drawing/2014/main" id="{1039C973-D081-E710-9396-F6A9E27AE654}"/>
              </a:ext>
              <a:ext uri="{C183D7F6-B498-43B3-948B-1728B52AA6E4}">
                <adec:decorative xmlns:adec="http://schemas.microsoft.com/office/drawing/2017/decorative" val="1"/>
              </a:ext>
            </a:extLst>
          </p:cNvPr>
          <p:cNvGrpSpPr/>
          <p:nvPr/>
        </p:nvGrpSpPr>
        <p:grpSpPr>
          <a:xfrm>
            <a:off x="2498230" y="4374485"/>
            <a:ext cx="674005" cy="219834"/>
            <a:chOff x="2498230" y="4374485"/>
            <a:chExt cx="674005" cy="219834"/>
          </a:xfrm>
        </p:grpSpPr>
        <p:cxnSp>
          <p:nvCxnSpPr>
            <p:cNvPr id="32" name="Straight Connector 31">
              <a:extLst>
                <a:ext uri="{FF2B5EF4-FFF2-40B4-BE49-F238E27FC236}">
                  <a16:creationId xmlns:a16="http://schemas.microsoft.com/office/drawing/2014/main" id="{3F89D9D8-0243-CB62-BDB1-395BD8F8E0DF}"/>
                </a:ext>
                <a:ext uri="{C183D7F6-B498-43B3-948B-1728B52AA6E4}">
                  <adec:decorative xmlns:adec="http://schemas.microsoft.com/office/drawing/2017/decorative" val="1"/>
                </a:ext>
              </a:extLst>
            </p:cNvPr>
            <p:cNvCxnSpPr>
              <a:cxnSpLocks/>
            </p:cNvCxnSpPr>
            <p:nvPr/>
          </p:nvCxnSpPr>
          <p:spPr>
            <a:xfrm>
              <a:off x="2498230" y="4484402"/>
              <a:ext cx="570422" cy="0"/>
            </a:xfrm>
            <a:prstGeom prst="line">
              <a:avLst/>
            </a:prstGeom>
            <a:noFill/>
            <a:ln w="15875">
              <a:gradFill>
                <a:gsLst>
                  <a:gs pos="0">
                    <a:srgbClr val="F4364C"/>
                  </a:gs>
                  <a:gs pos="100000">
                    <a:srgbClr val="49C5B1"/>
                  </a:gs>
                  <a:gs pos="80000">
                    <a:srgbClr val="0078D4"/>
                  </a:gs>
                  <a:gs pos="26000">
                    <a:srgbClr val="C03BC4"/>
                  </a:gs>
                </a:gsLst>
                <a:lin ang="10800000" scaled="0"/>
              </a:gradFill>
              <a:headEnd type="oval" w="med" len="med"/>
              <a:tailEnd type="oval" w="lg" len="lg"/>
            </a:ln>
            <a:effectLst/>
          </p:spPr>
          <p:style>
            <a:lnRef idx="1">
              <a:schemeClr val="accent2"/>
            </a:lnRef>
            <a:fillRef idx="3">
              <a:schemeClr val="accent2"/>
            </a:fillRef>
            <a:effectRef idx="2">
              <a:schemeClr val="accent2"/>
            </a:effectRef>
            <a:fontRef idx="minor">
              <a:schemeClr val="lt1"/>
            </a:fontRef>
          </p:style>
        </p:cxnSp>
        <p:grpSp>
          <p:nvGrpSpPr>
            <p:cNvPr id="33" name="Group 32">
              <a:extLst>
                <a:ext uri="{FF2B5EF4-FFF2-40B4-BE49-F238E27FC236}">
                  <a16:creationId xmlns:a16="http://schemas.microsoft.com/office/drawing/2014/main" id="{683DC730-EE77-99B8-EF58-1AD4E517EBBD}"/>
                </a:ext>
              </a:extLst>
            </p:cNvPr>
            <p:cNvGrpSpPr/>
            <p:nvPr/>
          </p:nvGrpSpPr>
          <p:grpSpPr>
            <a:xfrm>
              <a:off x="2952400" y="4374485"/>
              <a:ext cx="219835" cy="219834"/>
              <a:chOff x="1613419" y="2537559"/>
              <a:chExt cx="339399" cy="339399"/>
            </a:xfrm>
          </p:grpSpPr>
          <p:sp>
            <p:nvSpPr>
              <p:cNvPr id="34" name="Oval 33">
                <a:extLst>
                  <a:ext uri="{FF2B5EF4-FFF2-40B4-BE49-F238E27FC236}">
                    <a16:creationId xmlns:a16="http://schemas.microsoft.com/office/drawing/2014/main" id="{F16E5926-E2FE-D312-48FC-5249F5D1E864}"/>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35" name="Oval 34">
                <a:extLst>
                  <a:ext uri="{FF2B5EF4-FFF2-40B4-BE49-F238E27FC236}">
                    <a16:creationId xmlns:a16="http://schemas.microsoft.com/office/drawing/2014/main" id="{69C370C3-2D7E-E9E3-062B-6D2EF2B9E953}"/>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grpSp>
      <p:grpSp>
        <p:nvGrpSpPr>
          <p:cNvPr id="36" name="Group 35">
            <a:extLst>
              <a:ext uri="{FF2B5EF4-FFF2-40B4-BE49-F238E27FC236}">
                <a16:creationId xmlns:a16="http://schemas.microsoft.com/office/drawing/2014/main" id="{0D075A66-CA97-26DE-C197-5F60D37879BF}"/>
              </a:ext>
              <a:ext uri="{C183D7F6-B498-43B3-948B-1728B52AA6E4}">
                <adec:decorative xmlns:adec="http://schemas.microsoft.com/office/drawing/2017/decorative" val="1"/>
              </a:ext>
            </a:extLst>
          </p:cNvPr>
          <p:cNvGrpSpPr/>
          <p:nvPr/>
        </p:nvGrpSpPr>
        <p:grpSpPr>
          <a:xfrm>
            <a:off x="4574767" y="4374484"/>
            <a:ext cx="674005" cy="219834"/>
            <a:chOff x="6824514" y="4374485"/>
            <a:chExt cx="674005" cy="219834"/>
          </a:xfrm>
        </p:grpSpPr>
        <p:cxnSp>
          <p:nvCxnSpPr>
            <p:cNvPr id="37" name="Straight Connector 36">
              <a:extLst>
                <a:ext uri="{FF2B5EF4-FFF2-40B4-BE49-F238E27FC236}">
                  <a16:creationId xmlns:a16="http://schemas.microsoft.com/office/drawing/2014/main" id="{62286932-A742-96D4-F2C8-8E6752068551}"/>
                </a:ext>
                <a:ext uri="{C183D7F6-B498-43B3-948B-1728B52AA6E4}">
                  <adec:decorative xmlns:adec="http://schemas.microsoft.com/office/drawing/2017/decorative" val="1"/>
                </a:ext>
              </a:extLst>
            </p:cNvPr>
            <p:cNvCxnSpPr>
              <a:cxnSpLocks/>
            </p:cNvCxnSpPr>
            <p:nvPr/>
          </p:nvCxnSpPr>
          <p:spPr>
            <a:xfrm>
              <a:off x="6824514" y="4484402"/>
              <a:ext cx="570422" cy="0"/>
            </a:xfrm>
            <a:prstGeom prst="line">
              <a:avLst/>
            </a:prstGeom>
            <a:noFill/>
            <a:ln w="15875">
              <a:gradFill>
                <a:gsLst>
                  <a:gs pos="0">
                    <a:srgbClr val="F4364C"/>
                  </a:gs>
                  <a:gs pos="100000">
                    <a:srgbClr val="49C5B1"/>
                  </a:gs>
                  <a:gs pos="80000">
                    <a:srgbClr val="0078D4"/>
                  </a:gs>
                  <a:gs pos="26000">
                    <a:srgbClr val="C03BC4"/>
                  </a:gs>
                </a:gsLst>
                <a:lin ang="10800000" scaled="0"/>
              </a:gradFill>
              <a:headEnd type="oval" w="med" len="med"/>
              <a:tailEnd type="oval" w="lg" len="lg"/>
            </a:ln>
            <a:effectLst/>
          </p:spPr>
          <p:style>
            <a:lnRef idx="1">
              <a:schemeClr val="accent2"/>
            </a:lnRef>
            <a:fillRef idx="3">
              <a:schemeClr val="accent2"/>
            </a:fillRef>
            <a:effectRef idx="2">
              <a:schemeClr val="accent2"/>
            </a:effectRef>
            <a:fontRef idx="minor">
              <a:schemeClr val="lt1"/>
            </a:fontRef>
          </p:style>
        </p:cxnSp>
        <p:grpSp>
          <p:nvGrpSpPr>
            <p:cNvPr id="38" name="Group 37">
              <a:extLst>
                <a:ext uri="{FF2B5EF4-FFF2-40B4-BE49-F238E27FC236}">
                  <a16:creationId xmlns:a16="http://schemas.microsoft.com/office/drawing/2014/main" id="{6768C078-EBC2-5F25-07A7-2252D2BD1503}"/>
                </a:ext>
              </a:extLst>
            </p:cNvPr>
            <p:cNvGrpSpPr/>
            <p:nvPr/>
          </p:nvGrpSpPr>
          <p:grpSpPr>
            <a:xfrm>
              <a:off x="7278684" y="4374485"/>
              <a:ext cx="219835" cy="219834"/>
              <a:chOff x="1613419" y="2537559"/>
              <a:chExt cx="339399" cy="339399"/>
            </a:xfrm>
          </p:grpSpPr>
          <p:sp>
            <p:nvSpPr>
              <p:cNvPr id="39" name="Oval 38">
                <a:extLst>
                  <a:ext uri="{FF2B5EF4-FFF2-40B4-BE49-F238E27FC236}">
                    <a16:creationId xmlns:a16="http://schemas.microsoft.com/office/drawing/2014/main" id="{C0C33E20-13F8-5018-119F-C1B5EF8EFBFF}"/>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40" name="Oval 39">
                <a:extLst>
                  <a:ext uri="{FF2B5EF4-FFF2-40B4-BE49-F238E27FC236}">
                    <a16:creationId xmlns:a16="http://schemas.microsoft.com/office/drawing/2014/main" id="{730435BC-840F-EA18-9031-122FCADC5C40}"/>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grpSp>
      <p:grpSp>
        <p:nvGrpSpPr>
          <p:cNvPr id="19" name="Group 18">
            <a:extLst>
              <a:ext uri="{FF2B5EF4-FFF2-40B4-BE49-F238E27FC236}">
                <a16:creationId xmlns:a16="http://schemas.microsoft.com/office/drawing/2014/main" id="{87A5CBB4-6F46-0AC8-1689-6379D8BAAFD8}"/>
              </a:ext>
              <a:ext uri="{C183D7F6-B498-43B3-948B-1728B52AA6E4}">
                <adec:decorative xmlns:adec="http://schemas.microsoft.com/office/drawing/2017/decorative" val="1"/>
              </a:ext>
            </a:extLst>
          </p:cNvPr>
          <p:cNvGrpSpPr/>
          <p:nvPr/>
        </p:nvGrpSpPr>
        <p:grpSpPr>
          <a:xfrm>
            <a:off x="7331129" y="4427066"/>
            <a:ext cx="674005" cy="219834"/>
            <a:chOff x="9280038" y="3377891"/>
            <a:chExt cx="674005" cy="219834"/>
          </a:xfrm>
        </p:grpSpPr>
        <p:cxnSp>
          <p:nvCxnSpPr>
            <p:cNvPr id="20" name="Straight Connector 19">
              <a:extLst>
                <a:ext uri="{FF2B5EF4-FFF2-40B4-BE49-F238E27FC236}">
                  <a16:creationId xmlns:a16="http://schemas.microsoft.com/office/drawing/2014/main" id="{E8D3CD50-44F9-411E-8297-DA2F22528D88}"/>
                </a:ext>
                <a:ext uri="{C183D7F6-B498-43B3-948B-1728B52AA6E4}">
                  <adec:decorative xmlns:adec="http://schemas.microsoft.com/office/drawing/2017/decorative" val="1"/>
                </a:ext>
              </a:extLst>
            </p:cNvPr>
            <p:cNvCxnSpPr>
              <a:cxnSpLocks/>
            </p:cNvCxnSpPr>
            <p:nvPr/>
          </p:nvCxnSpPr>
          <p:spPr>
            <a:xfrm>
              <a:off x="9280038" y="3487808"/>
              <a:ext cx="570422" cy="0"/>
            </a:xfrm>
            <a:prstGeom prst="line">
              <a:avLst/>
            </a:prstGeom>
            <a:noFill/>
            <a:ln w="15875">
              <a:gradFill>
                <a:gsLst>
                  <a:gs pos="0">
                    <a:srgbClr val="F4364C"/>
                  </a:gs>
                  <a:gs pos="100000">
                    <a:srgbClr val="49C5B1"/>
                  </a:gs>
                  <a:gs pos="80000">
                    <a:srgbClr val="0078D4"/>
                  </a:gs>
                  <a:gs pos="26000">
                    <a:srgbClr val="C03BC4"/>
                  </a:gs>
                </a:gsLst>
                <a:lin ang="10800000" scaled="0"/>
              </a:gradFill>
              <a:headEnd type="oval" w="med" len="med"/>
              <a:tailEnd type="oval" w="lg" len="lg"/>
            </a:ln>
            <a:effectLst/>
          </p:spPr>
          <p:style>
            <a:lnRef idx="1">
              <a:schemeClr val="accent2"/>
            </a:lnRef>
            <a:fillRef idx="3">
              <a:schemeClr val="accent2"/>
            </a:fillRef>
            <a:effectRef idx="2">
              <a:schemeClr val="accent2"/>
            </a:effectRef>
            <a:fontRef idx="minor">
              <a:schemeClr val="lt1"/>
            </a:fontRef>
          </p:style>
        </p:cxnSp>
        <p:grpSp>
          <p:nvGrpSpPr>
            <p:cNvPr id="21" name="Group 20">
              <a:extLst>
                <a:ext uri="{FF2B5EF4-FFF2-40B4-BE49-F238E27FC236}">
                  <a16:creationId xmlns:a16="http://schemas.microsoft.com/office/drawing/2014/main" id="{D7EC1431-FE77-7210-93E7-DBB1E3A55C1B}"/>
                </a:ext>
              </a:extLst>
            </p:cNvPr>
            <p:cNvGrpSpPr/>
            <p:nvPr/>
          </p:nvGrpSpPr>
          <p:grpSpPr>
            <a:xfrm>
              <a:off x="9734208" y="3377891"/>
              <a:ext cx="219835" cy="219834"/>
              <a:chOff x="1613419" y="2537559"/>
              <a:chExt cx="339399" cy="339399"/>
            </a:xfrm>
          </p:grpSpPr>
          <p:sp>
            <p:nvSpPr>
              <p:cNvPr id="22" name="Oval 21">
                <a:extLst>
                  <a:ext uri="{FF2B5EF4-FFF2-40B4-BE49-F238E27FC236}">
                    <a16:creationId xmlns:a16="http://schemas.microsoft.com/office/drawing/2014/main" id="{1C9E83A0-CFEB-570F-6E01-929197BCED41}"/>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23" name="Oval 22">
                <a:extLst>
                  <a:ext uri="{FF2B5EF4-FFF2-40B4-BE49-F238E27FC236}">
                    <a16:creationId xmlns:a16="http://schemas.microsoft.com/office/drawing/2014/main" id="{331CF2B6-C7E6-1EFC-1241-2CC7CF676EBD}"/>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grpSp>
      <p:sp>
        <p:nvSpPr>
          <p:cNvPr id="42" name="Graphic 22" descr="Large Language Model icon">
            <a:extLst>
              <a:ext uri="{FF2B5EF4-FFF2-40B4-BE49-F238E27FC236}">
                <a16:creationId xmlns:a16="http://schemas.microsoft.com/office/drawing/2014/main" id="{53720A83-A18C-4769-B33F-470C73B387FE}"/>
              </a:ext>
            </a:extLst>
          </p:cNvPr>
          <p:cNvSpPr/>
          <p:nvPr/>
        </p:nvSpPr>
        <p:spPr>
          <a:xfrm>
            <a:off x="8328765" y="579017"/>
            <a:ext cx="795753" cy="796201"/>
          </a:xfrm>
          <a:custGeom>
            <a:avLst/>
            <a:gdLst>
              <a:gd name="connsiteX0" fmla="*/ 461978 w 543510"/>
              <a:gd name="connsiteY0" fmla="*/ 67910 h 543815"/>
              <a:gd name="connsiteX1" fmla="*/ 394065 w 543510"/>
              <a:gd name="connsiteY1" fmla="*/ 135877 h 543815"/>
              <a:gd name="connsiteX2" fmla="*/ 380124 w 543510"/>
              <a:gd name="connsiteY2" fmla="*/ 134437 h 543815"/>
              <a:gd name="connsiteX3" fmla="*/ 345338 w 543510"/>
              <a:gd name="connsiteY3" fmla="*/ 191995 h 543815"/>
              <a:gd name="connsiteX4" fmla="*/ 380450 w 543510"/>
              <a:gd name="connsiteY4" fmla="*/ 271974 h 543815"/>
              <a:gd name="connsiteX5" fmla="*/ 380450 w 543510"/>
              <a:gd name="connsiteY5" fmla="*/ 273551 h 543815"/>
              <a:gd name="connsiteX6" fmla="*/ 415670 w 543510"/>
              <a:gd name="connsiteY6" fmla="*/ 280644 h 543815"/>
              <a:gd name="connsiteX7" fmla="*/ 507639 w 543510"/>
              <a:gd name="connsiteY7" fmla="*/ 252837 h 543815"/>
              <a:gd name="connsiteX8" fmla="*/ 535445 w 543510"/>
              <a:gd name="connsiteY8" fmla="*/ 344809 h 543815"/>
              <a:gd name="connsiteX9" fmla="*/ 443476 w 543510"/>
              <a:gd name="connsiteY9" fmla="*/ 372613 h 543815"/>
              <a:gd name="connsiteX10" fmla="*/ 408088 w 543510"/>
              <a:gd name="connsiteY10" fmla="*/ 320701 h 543815"/>
              <a:gd name="connsiteX11" fmla="*/ 372215 w 543510"/>
              <a:gd name="connsiteY11" fmla="*/ 313499 h 543815"/>
              <a:gd name="connsiteX12" fmla="*/ 324875 w 543510"/>
              <a:gd name="connsiteY12" fmla="*/ 366846 h 543815"/>
              <a:gd name="connsiteX13" fmla="*/ 338327 w 543510"/>
              <a:gd name="connsiteY13" fmla="*/ 407936 h 543815"/>
              <a:gd name="connsiteX14" fmla="*/ 339686 w 543510"/>
              <a:gd name="connsiteY14" fmla="*/ 407936 h 543815"/>
              <a:gd name="connsiteX15" fmla="*/ 407577 w 543510"/>
              <a:gd name="connsiteY15" fmla="*/ 475925 h 543815"/>
              <a:gd name="connsiteX16" fmla="*/ 339588 w 543510"/>
              <a:gd name="connsiteY16" fmla="*/ 543816 h 543815"/>
              <a:gd name="connsiteX17" fmla="*/ 271697 w 543510"/>
              <a:gd name="connsiteY17" fmla="*/ 475827 h 543815"/>
              <a:gd name="connsiteX18" fmla="*/ 299683 w 543510"/>
              <a:gd name="connsiteY18" fmla="*/ 420926 h 543815"/>
              <a:gd name="connsiteX19" fmla="*/ 286203 w 543510"/>
              <a:gd name="connsiteY19" fmla="*/ 379727 h 543815"/>
              <a:gd name="connsiteX20" fmla="*/ 184239 w 543510"/>
              <a:gd name="connsiteY20" fmla="*/ 336436 h 543815"/>
              <a:gd name="connsiteX21" fmla="*/ 135458 w 543510"/>
              <a:gd name="connsiteY21" fmla="*/ 359481 h 543815"/>
              <a:gd name="connsiteX22" fmla="*/ 75560 w 543510"/>
              <a:gd name="connsiteY22" fmla="*/ 434606 h 543815"/>
              <a:gd name="connsiteX23" fmla="*/ 434 w 543510"/>
              <a:gd name="connsiteY23" fmla="*/ 374711 h 543815"/>
              <a:gd name="connsiteX24" fmla="*/ 60332 w 543510"/>
              <a:gd name="connsiteY24" fmla="*/ 299582 h 543815"/>
              <a:gd name="connsiteX25" fmla="*/ 118935 w 543510"/>
              <a:gd name="connsiteY25" fmla="*/ 322196 h 543815"/>
              <a:gd name="connsiteX26" fmla="*/ 166602 w 543510"/>
              <a:gd name="connsiteY26" fmla="*/ 299694 h 543815"/>
              <a:gd name="connsiteX27" fmla="*/ 187908 w 543510"/>
              <a:gd name="connsiteY27" fmla="*/ 202757 h 543815"/>
              <a:gd name="connsiteX28" fmla="*/ 160976 w 543510"/>
              <a:gd name="connsiteY28" fmla="*/ 172048 h 543815"/>
              <a:gd name="connsiteX29" fmla="*/ 72738 w 543510"/>
              <a:gd name="connsiteY29" fmla="*/ 134026 h 543815"/>
              <a:gd name="connsiteX30" fmla="*/ 110761 w 543510"/>
              <a:gd name="connsiteY30" fmla="*/ 45788 h 543815"/>
              <a:gd name="connsiteX31" fmla="*/ 198999 w 543510"/>
              <a:gd name="connsiteY31" fmla="*/ 83810 h 543815"/>
              <a:gd name="connsiteX32" fmla="*/ 192609 w 543510"/>
              <a:gd name="connsiteY32" fmla="*/ 146285 h 543815"/>
              <a:gd name="connsiteX33" fmla="*/ 219323 w 543510"/>
              <a:gd name="connsiteY33" fmla="*/ 176722 h 543815"/>
              <a:gd name="connsiteX34" fmla="*/ 271746 w 543510"/>
              <a:gd name="connsiteY34" fmla="*/ 163270 h 543815"/>
              <a:gd name="connsiteX35" fmla="*/ 310716 w 543510"/>
              <a:gd name="connsiteY35" fmla="*/ 170472 h 543815"/>
              <a:gd name="connsiteX36" fmla="*/ 344550 w 543510"/>
              <a:gd name="connsiteY36" fmla="*/ 114489 h 543815"/>
              <a:gd name="connsiteX37" fmla="*/ 347488 w 543510"/>
              <a:gd name="connsiteY37" fmla="*/ 18453 h 543815"/>
              <a:gd name="connsiteX38" fmla="*/ 443525 w 543510"/>
              <a:gd name="connsiteY38" fmla="*/ 21391 h 543815"/>
              <a:gd name="connsiteX39" fmla="*/ 461978 w 543510"/>
              <a:gd name="connsiteY39" fmla="*/ 67937 h 54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43510" h="543815">
                <a:moveTo>
                  <a:pt x="461978" y="67910"/>
                </a:moveTo>
                <a:cubicBezTo>
                  <a:pt x="461991" y="105432"/>
                  <a:pt x="431587" y="135862"/>
                  <a:pt x="394065" y="135877"/>
                </a:cubicBezTo>
                <a:cubicBezTo>
                  <a:pt x="389380" y="135879"/>
                  <a:pt x="384708" y="135396"/>
                  <a:pt x="380124" y="134437"/>
                </a:cubicBezTo>
                <a:lnTo>
                  <a:pt x="345338" y="191995"/>
                </a:lnTo>
                <a:cubicBezTo>
                  <a:pt x="367737" y="212554"/>
                  <a:pt x="380477" y="241573"/>
                  <a:pt x="380450" y="271974"/>
                </a:cubicBezTo>
                <a:lnTo>
                  <a:pt x="380450" y="273551"/>
                </a:lnTo>
                <a:lnTo>
                  <a:pt x="415670" y="280644"/>
                </a:lnTo>
                <a:cubicBezTo>
                  <a:pt x="433389" y="247568"/>
                  <a:pt x="474566" y="235118"/>
                  <a:pt x="507639" y="252837"/>
                </a:cubicBezTo>
                <a:cubicBezTo>
                  <a:pt x="540715" y="270556"/>
                  <a:pt x="553164" y="311733"/>
                  <a:pt x="535445" y="344809"/>
                </a:cubicBezTo>
                <a:cubicBezTo>
                  <a:pt x="517727" y="377882"/>
                  <a:pt x="476552" y="390331"/>
                  <a:pt x="443476" y="372613"/>
                </a:cubicBezTo>
                <a:cubicBezTo>
                  <a:pt x="423907" y="362131"/>
                  <a:pt x="410694" y="342749"/>
                  <a:pt x="408088" y="320701"/>
                </a:cubicBezTo>
                <a:lnTo>
                  <a:pt x="372215" y="313499"/>
                </a:lnTo>
                <a:cubicBezTo>
                  <a:pt x="362856" y="336083"/>
                  <a:pt x="346186" y="354869"/>
                  <a:pt x="324875" y="366846"/>
                </a:cubicBezTo>
                <a:lnTo>
                  <a:pt x="338327" y="407936"/>
                </a:lnTo>
                <a:lnTo>
                  <a:pt x="339686" y="407936"/>
                </a:lnTo>
                <a:cubicBezTo>
                  <a:pt x="377208" y="407963"/>
                  <a:pt x="407604" y="438403"/>
                  <a:pt x="407577" y="475925"/>
                </a:cubicBezTo>
                <a:cubicBezTo>
                  <a:pt x="407550" y="513447"/>
                  <a:pt x="377110" y="543843"/>
                  <a:pt x="339588" y="543816"/>
                </a:cubicBezTo>
                <a:cubicBezTo>
                  <a:pt x="302066" y="543789"/>
                  <a:pt x="271670" y="513349"/>
                  <a:pt x="271697" y="475827"/>
                </a:cubicBezTo>
                <a:cubicBezTo>
                  <a:pt x="271713" y="454105"/>
                  <a:pt x="282113" y="433701"/>
                  <a:pt x="299683" y="420926"/>
                </a:cubicBezTo>
                <a:lnTo>
                  <a:pt x="286203" y="379727"/>
                </a:lnTo>
                <a:cubicBezTo>
                  <a:pt x="246855" y="385032"/>
                  <a:pt x="207751" y="368430"/>
                  <a:pt x="184239" y="336436"/>
                </a:cubicBezTo>
                <a:lnTo>
                  <a:pt x="135458" y="359481"/>
                </a:lnTo>
                <a:cubicBezTo>
                  <a:pt x="139663" y="396767"/>
                  <a:pt x="112846" y="430402"/>
                  <a:pt x="75560" y="434606"/>
                </a:cubicBezTo>
                <a:cubicBezTo>
                  <a:pt x="38274" y="438813"/>
                  <a:pt x="4639" y="411996"/>
                  <a:pt x="434" y="374711"/>
                </a:cubicBezTo>
                <a:cubicBezTo>
                  <a:pt x="-3771" y="337422"/>
                  <a:pt x="23046" y="303789"/>
                  <a:pt x="60332" y="299582"/>
                </a:cubicBezTo>
                <a:cubicBezTo>
                  <a:pt x="82387" y="297096"/>
                  <a:pt x="104267" y="305539"/>
                  <a:pt x="118935" y="322196"/>
                </a:cubicBezTo>
                <a:lnTo>
                  <a:pt x="166602" y="299694"/>
                </a:lnTo>
                <a:cubicBezTo>
                  <a:pt x="157705" y="265835"/>
                  <a:pt x="165633" y="229765"/>
                  <a:pt x="187908" y="202757"/>
                </a:cubicBezTo>
                <a:lnTo>
                  <a:pt x="160976" y="172048"/>
                </a:lnTo>
                <a:cubicBezTo>
                  <a:pt x="126110" y="185915"/>
                  <a:pt x="86605" y="168892"/>
                  <a:pt x="72738" y="134026"/>
                </a:cubicBezTo>
                <a:cubicBezTo>
                  <a:pt x="58872" y="99160"/>
                  <a:pt x="75895" y="59654"/>
                  <a:pt x="110761" y="45788"/>
                </a:cubicBezTo>
                <a:cubicBezTo>
                  <a:pt x="145627" y="31921"/>
                  <a:pt x="185132" y="48944"/>
                  <a:pt x="198999" y="83810"/>
                </a:cubicBezTo>
                <a:cubicBezTo>
                  <a:pt x="207199" y="104429"/>
                  <a:pt x="204814" y="127753"/>
                  <a:pt x="192609" y="146285"/>
                </a:cubicBezTo>
                <a:lnTo>
                  <a:pt x="219323" y="176722"/>
                </a:lnTo>
                <a:cubicBezTo>
                  <a:pt x="235376" y="167871"/>
                  <a:pt x="253416" y="163242"/>
                  <a:pt x="271746" y="163270"/>
                </a:cubicBezTo>
                <a:cubicBezTo>
                  <a:pt x="285470" y="163270"/>
                  <a:pt x="298650" y="165825"/>
                  <a:pt x="310716" y="170472"/>
                </a:cubicBezTo>
                <a:lnTo>
                  <a:pt x="344550" y="114489"/>
                </a:lnTo>
                <a:cubicBezTo>
                  <a:pt x="318842" y="87158"/>
                  <a:pt x="320157" y="44161"/>
                  <a:pt x="347488" y="18453"/>
                </a:cubicBezTo>
                <a:cubicBezTo>
                  <a:pt x="374819" y="-7256"/>
                  <a:pt x="417817" y="-5940"/>
                  <a:pt x="443525" y="21391"/>
                </a:cubicBezTo>
                <a:cubicBezTo>
                  <a:pt x="455377" y="33991"/>
                  <a:pt x="461978" y="50638"/>
                  <a:pt x="461978" y="67937"/>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43" name="Text Placeholder 5">
            <a:extLst>
              <a:ext uri="{FF2B5EF4-FFF2-40B4-BE49-F238E27FC236}">
                <a16:creationId xmlns:a16="http://schemas.microsoft.com/office/drawing/2014/main" id="{91675602-65DA-794B-7245-765ABD1F50F8}"/>
              </a:ext>
            </a:extLst>
          </p:cNvPr>
          <p:cNvSpPr txBox="1">
            <a:spLocks/>
          </p:cNvSpPr>
          <p:nvPr/>
        </p:nvSpPr>
        <p:spPr>
          <a:xfrm>
            <a:off x="9124517" y="616883"/>
            <a:ext cx="1453427"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latin typeface="+mj-lt"/>
                <a:cs typeface="Segoe UI Semilight"/>
              </a:rPr>
              <a:t>Evaluations</a:t>
            </a:r>
          </a:p>
        </p:txBody>
      </p:sp>
      <p:sp>
        <p:nvSpPr>
          <p:cNvPr id="44" name="Text Placeholder 5">
            <a:extLst>
              <a:ext uri="{FF2B5EF4-FFF2-40B4-BE49-F238E27FC236}">
                <a16:creationId xmlns:a16="http://schemas.microsoft.com/office/drawing/2014/main" id="{74241D83-6B4E-7D49-6673-801E6EDEFFC0}"/>
              </a:ext>
            </a:extLst>
          </p:cNvPr>
          <p:cNvSpPr txBox="1">
            <a:spLocks/>
          </p:cNvSpPr>
          <p:nvPr/>
        </p:nvSpPr>
        <p:spPr>
          <a:xfrm>
            <a:off x="8529149" y="1334179"/>
            <a:ext cx="1792486"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latin typeface="+mj-lt"/>
                <a:cs typeface="Segoe UI Semilight"/>
              </a:rPr>
              <a:t>Relevance</a:t>
            </a:r>
            <a:endParaRPr lang="en-US" sz="1800" dirty="0">
              <a:cs typeface="Segoe UI Semilight"/>
            </a:endParaRPr>
          </a:p>
        </p:txBody>
      </p:sp>
      <p:sp>
        <p:nvSpPr>
          <p:cNvPr id="47" name="Text Placeholder 5">
            <a:extLst>
              <a:ext uri="{FF2B5EF4-FFF2-40B4-BE49-F238E27FC236}">
                <a16:creationId xmlns:a16="http://schemas.microsoft.com/office/drawing/2014/main" id="{1ED54423-5725-560A-E5FD-121CF33F6ADA}"/>
              </a:ext>
            </a:extLst>
          </p:cNvPr>
          <p:cNvSpPr txBox="1">
            <a:spLocks/>
          </p:cNvSpPr>
          <p:nvPr/>
        </p:nvSpPr>
        <p:spPr>
          <a:xfrm>
            <a:off x="8529149" y="2930990"/>
            <a:ext cx="1792486"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err="1">
                <a:latin typeface="+mj-lt"/>
                <a:cs typeface="Segoe UI Semilight"/>
              </a:rPr>
              <a:t>Groundedness</a:t>
            </a:r>
            <a:endParaRPr lang="en-US" sz="1800" dirty="0">
              <a:cs typeface="Segoe UI Semilight"/>
            </a:endParaRPr>
          </a:p>
        </p:txBody>
      </p:sp>
      <p:sp>
        <p:nvSpPr>
          <p:cNvPr id="49" name="Text Placeholder 5">
            <a:extLst>
              <a:ext uri="{FF2B5EF4-FFF2-40B4-BE49-F238E27FC236}">
                <a16:creationId xmlns:a16="http://schemas.microsoft.com/office/drawing/2014/main" id="{5FAE1004-2FED-F9E8-5FD2-1BE0EFAF79EC}"/>
              </a:ext>
            </a:extLst>
          </p:cNvPr>
          <p:cNvSpPr txBox="1">
            <a:spLocks/>
          </p:cNvSpPr>
          <p:nvPr/>
        </p:nvSpPr>
        <p:spPr>
          <a:xfrm>
            <a:off x="8529149" y="4584645"/>
            <a:ext cx="1792486"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latin typeface="+mj-lt"/>
                <a:cs typeface="Segoe UI Semilight"/>
              </a:rPr>
              <a:t>Correctness</a:t>
            </a:r>
            <a:endParaRPr lang="en-US" sz="1800" dirty="0">
              <a:cs typeface="Segoe UI Semilight"/>
            </a:endParaRPr>
          </a:p>
        </p:txBody>
      </p:sp>
      <p:sp>
        <p:nvSpPr>
          <p:cNvPr id="51" name="Text Placeholder 5">
            <a:extLst>
              <a:ext uri="{FF2B5EF4-FFF2-40B4-BE49-F238E27FC236}">
                <a16:creationId xmlns:a16="http://schemas.microsoft.com/office/drawing/2014/main" id="{88CC1476-FA35-E078-E74C-B376F6904101}"/>
              </a:ext>
            </a:extLst>
          </p:cNvPr>
          <p:cNvSpPr txBox="1">
            <a:spLocks/>
          </p:cNvSpPr>
          <p:nvPr/>
        </p:nvSpPr>
        <p:spPr>
          <a:xfrm>
            <a:off x="8099471" y="1656501"/>
            <a:ext cx="2651842" cy="1382078"/>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cs typeface="Segoe UI Semilight"/>
              </a:rPr>
              <a:t>Score: 5</a:t>
            </a:r>
          </a:p>
          <a:p>
            <a:pPr algn="ctr" defTabSz="1865484">
              <a:defRPr/>
            </a:pPr>
            <a:r>
              <a:rPr lang="en-US" sz="1800" dirty="0">
                <a:cs typeface="Segoe UI Semilight"/>
              </a:rPr>
              <a:t>Explanation: The answer is relevant to the query</a:t>
            </a:r>
          </a:p>
        </p:txBody>
      </p:sp>
      <p:sp>
        <p:nvSpPr>
          <p:cNvPr id="52" name="Text Placeholder 5">
            <a:extLst>
              <a:ext uri="{FF2B5EF4-FFF2-40B4-BE49-F238E27FC236}">
                <a16:creationId xmlns:a16="http://schemas.microsoft.com/office/drawing/2014/main" id="{AED6CD37-BA30-3CDB-8102-092E6CB5557C}"/>
              </a:ext>
            </a:extLst>
          </p:cNvPr>
          <p:cNvSpPr txBox="1">
            <a:spLocks/>
          </p:cNvSpPr>
          <p:nvPr/>
        </p:nvSpPr>
        <p:spPr>
          <a:xfrm>
            <a:off x="8121386" y="3360901"/>
            <a:ext cx="2651842" cy="1382078"/>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cs typeface="Segoe UI Semilight"/>
              </a:rPr>
              <a:t>Score: 4</a:t>
            </a:r>
          </a:p>
          <a:p>
            <a:pPr algn="ctr" defTabSz="1865484">
              <a:defRPr/>
            </a:pPr>
            <a:r>
              <a:rPr lang="en-US" sz="1800" dirty="0">
                <a:cs typeface="Segoe UI Semilight"/>
              </a:rPr>
              <a:t>Explanation: The answer is supported by parts of the context</a:t>
            </a:r>
          </a:p>
        </p:txBody>
      </p:sp>
      <p:sp>
        <p:nvSpPr>
          <p:cNvPr id="53" name="Text Placeholder 5">
            <a:extLst>
              <a:ext uri="{FF2B5EF4-FFF2-40B4-BE49-F238E27FC236}">
                <a16:creationId xmlns:a16="http://schemas.microsoft.com/office/drawing/2014/main" id="{A3BC9BC8-C6E7-F219-44F1-DEAB79166CF5}"/>
              </a:ext>
            </a:extLst>
          </p:cNvPr>
          <p:cNvSpPr txBox="1">
            <a:spLocks/>
          </p:cNvSpPr>
          <p:nvPr/>
        </p:nvSpPr>
        <p:spPr>
          <a:xfrm>
            <a:off x="8072456" y="5038386"/>
            <a:ext cx="2651842" cy="1382078"/>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cs typeface="Segoe UI Semilight"/>
              </a:rPr>
              <a:t>Score: 3</a:t>
            </a:r>
          </a:p>
          <a:p>
            <a:pPr algn="ctr" defTabSz="1865484">
              <a:defRPr/>
            </a:pPr>
            <a:r>
              <a:rPr lang="en-US" sz="1800" dirty="0">
                <a:cs typeface="Segoe UI Semilight"/>
              </a:rPr>
              <a:t>Explanation: The answer is missing details about external regulators</a:t>
            </a:r>
          </a:p>
        </p:txBody>
      </p:sp>
    </p:spTree>
    <p:extLst>
      <p:ext uri="{BB962C8B-B14F-4D97-AF65-F5344CB8AC3E}">
        <p14:creationId xmlns:p14="http://schemas.microsoft.com/office/powerpoint/2010/main" val="19116322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42" presetClass="path" presetSubtype="0" decel="100000" fill="hold" grpId="1" nodeType="withEffect">
                                  <p:stCondLst>
                                    <p:cond delay="0"/>
                                  </p:stCondLst>
                                  <p:childTnLst>
                                    <p:animMotion origin="layout" path="M 0 -2.59259E-6 L 0 0.03542 " pathEditMode="relative" rAng="0" ptsTypes="AA">
                                      <p:cBhvr>
                                        <p:cTn id="9" dur="700" spd="-100000" fill="hold"/>
                                        <p:tgtEl>
                                          <p:spTgt spid="7"/>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42" presetClass="path" presetSubtype="0" decel="100000" fill="hold" grpId="1" nodeType="withEffect">
                                  <p:stCondLst>
                                    <p:cond delay="0"/>
                                  </p:stCondLst>
                                  <p:childTnLst>
                                    <p:animMotion origin="layout" path="M 0 -2.59259E-6 L 0 0.03542 " pathEditMode="relative" rAng="0" ptsTypes="AA">
                                      <p:cBhvr>
                                        <p:cTn id="14" dur="700" spd="-100000" fill="hold"/>
                                        <p:tgtEl>
                                          <p:spTgt spid="8"/>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42" presetClass="path" presetSubtype="0" decel="100000" fill="hold" grpId="1" nodeType="withEffect">
                                  <p:stCondLst>
                                    <p:cond delay="0"/>
                                  </p:stCondLst>
                                  <p:childTnLst>
                                    <p:animMotion origin="layout" path="M 0 -2.59259E-6 L 0 0.03542 " pathEditMode="relative" rAng="0" ptsTypes="AA">
                                      <p:cBhvr>
                                        <p:cTn id="19" dur="700" spd="-100000" fill="hold"/>
                                        <p:tgtEl>
                                          <p:spTgt spid="6"/>
                                        </p:tgtEl>
                                        <p:attrNameLst>
                                          <p:attrName>ppt_x</p:attrName>
                                          <p:attrName>ppt_y</p:attrName>
                                        </p:attrNameLst>
                                      </p:cBhvr>
                                      <p:rCtr x="0" y="1759"/>
                                    </p:animMotion>
                                  </p:childTnLst>
                                </p:cTn>
                              </p:par>
                              <p:par>
                                <p:cTn id="20" presetID="10"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par>
                                <p:cTn id="23" presetID="42" presetClass="path" presetSubtype="0" decel="100000" fill="hold" nodeType="withEffect">
                                  <p:stCondLst>
                                    <p:cond delay="0"/>
                                  </p:stCondLst>
                                  <p:childTnLst>
                                    <p:animMotion origin="layout" path="M -3.33333E-6 -4.07407E-6 L -3.33333E-6 0.03542 " pathEditMode="relative" rAng="0" ptsTypes="AA">
                                      <p:cBhvr>
                                        <p:cTn id="24" dur="700" spd="-100000" fill="hold"/>
                                        <p:tgtEl>
                                          <p:spTgt spid="3"/>
                                        </p:tgtEl>
                                        <p:attrNameLst>
                                          <p:attrName>ppt_x</p:attrName>
                                          <p:attrName>ppt_y</p:attrName>
                                        </p:attrNameLst>
                                      </p:cBhvr>
                                      <p:rCtr x="0" y="1759"/>
                                    </p:animMotion>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par>
                                <p:cTn id="30" presetID="42" presetClass="path" presetSubtype="0" decel="100000" fill="hold" nodeType="withEffect">
                                  <p:stCondLst>
                                    <p:cond delay="0"/>
                                  </p:stCondLst>
                                  <p:childTnLst>
                                    <p:animMotion origin="layout" path="M 0 -2.59259E-6 L 0 0.03542 " pathEditMode="relative" rAng="0" ptsTypes="AA">
                                      <p:cBhvr>
                                        <p:cTn id="31" dur="700" spd="-100000" fill="hold"/>
                                        <p:tgtEl>
                                          <p:spTgt spid="31"/>
                                        </p:tgtEl>
                                        <p:attrNameLst>
                                          <p:attrName>ppt_x</p:attrName>
                                          <p:attrName>ppt_y</p:attrName>
                                        </p:attrNameLst>
                                      </p:cBhvr>
                                      <p:rCtr x="0" y="1759"/>
                                    </p:animMotion>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42" presetClass="path" presetSubtype="0" decel="100000" fill="hold" grpId="1" nodeType="withEffect">
                                  <p:stCondLst>
                                    <p:cond delay="0"/>
                                  </p:stCondLst>
                                  <p:childTnLst>
                                    <p:animMotion origin="layout" path="M 0 -2.59259E-6 L 0 0.03542 " pathEditMode="relative" rAng="0" ptsTypes="AA">
                                      <p:cBhvr>
                                        <p:cTn id="36" dur="700" spd="-100000" fill="hold"/>
                                        <p:tgtEl>
                                          <p:spTgt spid="10"/>
                                        </p:tgtEl>
                                        <p:attrNameLst>
                                          <p:attrName>ppt_x</p:attrName>
                                          <p:attrName>ppt_y</p:attrName>
                                        </p:attrNameLst>
                                      </p:cBhvr>
                                      <p:rCtr x="0" y="1759"/>
                                    </p:animMotion>
                                  </p:childTnLst>
                                </p:cTn>
                              </p:par>
                              <p:par>
                                <p:cTn id="37" presetID="10"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par>
                                <p:cTn id="40" presetID="42" presetClass="path" presetSubtype="0" decel="100000" fill="hold" grpId="1" nodeType="withEffect">
                                  <p:stCondLst>
                                    <p:cond delay="0"/>
                                  </p:stCondLst>
                                  <p:childTnLst>
                                    <p:animMotion origin="layout" path="M 0 -2.59259E-6 L 0 0.03542 " pathEditMode="relative" rAng="0" ptsTypes="AA">
                                      <p:cBhvr>
                                        <p:cTn id="41" dur="700" spd="-100000" fill="hold"/>
                                        <p:tgtEl>
                                          <p:spTgt spid="11"/>
                                        </p:tgtEl>
                                        <p:attrNameLst>
                                          <p:attrName>ppt_x</p:attrName>
                                          <p:attrName>ppt_y</p:attrName>
                                        </p:attrNameLst>
                                      </p:cBhvr>
                                      <p:rCtr x="0" y="1759"/>
                                    </p:animMotion>
                                  </p:childTnLst>
                                </p:cTn>
                              </p:par>
                              <p:par>
                                <p:cTn id="42" presetID="10"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42" presetClass="path" presetSubtype="0" decel="100000" fill="hold" grpId="1" nodeType="withEffect">
                                  <p:stCondLst>
                                    <p:cond delay="0"/>
                                  </p:stCondLst>
                                  <p:childTnLst>
                                    <p:animMotion origin="layout" path="M 0 -2.59259E-6 L 0 0.03542 " pathEditMode="relative" rAng="0" ptsTypes="AA">
                                      <p:cBhvr>
                                        <p:cTn id="46" dur="700" spd="-100000" fill="hold"/>
                                        <p:tgtEl>
                                          <p:spTgt spid="9"/>
                                        </p:tgtEl>
                                        <p:attrNameLst>
                                          <p:attrName>ppt_x</p:attrName>
                                          <p:attrName>ppt_y</p:attrName>
                                        </p:attrNameLst>
                                      </p:cBhvr>
                                      <p:rCtr x="0" y="1759"/>
                                    </p:animMotion>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500"/>
                                        <p:tgtEl>
                                          <p:spTgt spid="36"/>
                                        </p:tgtEl>
                                      </p:cBhvr>
                                    </p:animEffect>
                                  </p:childTnLst>
                                </p:cTn>
                              </p:par>
                              <p:par>
                                <p:cTn id="52" presetID="42" presetClass="path" presetSubtype="0" decel="100000" fill="hold" nodeType="withEffect">
                                  <p:stCondLst>
                                    <p:cond delay="0"/>
                                  </p:stCondLst>
                                  <p:childTnLst>
                                    <p:animMotion origin="layout" path="M 0 -2.59259E-6 L 0 0.03542 " pathEditMode="relative" rAng="0" ptsTypes="AA">
                                      <p:cBhvr>
                                        <p:cTn id="53" dur="700" spd="-100000" fill="hold"/>
                                        <p:tgtEl>
                                          <p:spTgt spid="36"/>
                                        </p:tgtEl>
                                        <p:attrNameLst>
                                          <p:attrName>ppt_x</p:attrName>
                                          <p:attrName>ppt_y</p:attrName>
                                        </p:attrNameLst>
                                      </p:cBhvr>
                                      <p:rCtr x="0" y="1759"/>
                                    </p:animMotion>
                                  </p:childTnLst>
                                </p:cTn>
                              </p:par>
                              <p:par>
                                <p:cTn id="54" presetID="10"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00"/>
                                        <p:tgtEl>
                                          <p:spTgt spid="14"/>
                                        </p:tgtEl>
                                      </p:cBhvr>
                                    </p:animEffect>
                                  </p:childTnLst>
                                </p:cTn>
                              </p:par>
                              <p:par>
                                <p:cTn id="57" presetID="42" presetClass="path" presetSubtype="0" decel="100000" fill="hold" grpId="1" nodeType="withEffect">
                                  <p:stCondLst>
                                    <p:cond delay="0"/>
                                  </p:stCondLst>
                                  <p:childTnLst>
                                    <p:animMotion origin="layout" path="M 0 -2.59259E-6 L 0 0.03542 " pathEditMode="relative" rAng="0" ptsTypes="AA">
                                      <p:cBhvr>
                                        <p:cTn id="58" dur="700" spd="-100000" fill="hold"/>
                                        <p:tgtEl>
                                          <p:spTgt spid="14"/>
                                        </p:tgtEl>
                                        <p:attrNameLst>
                                          <p:attrName>ppt_x</p:attrName>
                                          <p:attrName>ppt_y</p:attrName>
                                        </p:attrNameLst>
                                      </p:cBhvr>
                                      <p:rCtr x="0" y="1759"/>
                                    </p:animMotion>
                                  </p:childTnLst>
                                </p:cTn>
                              </p:par>
                              <p:par>
                                <p:cTn id="59" presetID="10"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00"/>
                                        <p:tgtEl>
                                          <p:spTgt spid="15"/>
                                        </p:tgtEl>
                                      </p:cBhvr>
                                    </p:animEffect>
                                  </p:childTnLst>
                                </p:cTn>
                              </p:par>
                              <p:par>
                                <p:cTn id="62" presetID="42" presetClass="path" presetSubtype="0" decel="100000" fill="hold" grpId="1" nodeType="withEffect">
                                  <p:stCondLst>
                                    <p:cond delay="0"/>
                                  </p:stCondLst>
                                  <p:childTnLst>
                                    <p:animMotion origin="layout" path="M 0 -2.59259E-6 L 0 0.03542 " pathEditMode="relative" rAng="0" ptsTypes="AA">
                                      <p:cBhvr>
                                        <p:cTn id="63" dur="700" spd="-100000" fill="hold"/>
                                        <p:tgtEl>
                                          <p:spTgt spid="15"/>
                                        </p:tgtEl>
                                        <p:attrNameLst>
                                          <p:attrName>ppt_x</p:attrName>
                                          <p:attrName>ppt_y</p:attrName>
                                        </p:attrNameLst>
                                      </p:cBhvr>
                                      <p:rCtr x="0" y="1759"/>
                                    </p:animMotion>
                                  </p:childTnLst>
                                </p:cTn>
                              </p:par>
                              <p:par>
                                <p:cTn id="64" presetID="10" presetClass="entr" presetSubtype="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42" presetClass="path" presetSubtype="0" decel="100000" fill="hold" grpId="1" nodeType="withEffect">
                                  <p:stCondLst>
                                    <p:cond delay="0"/>
                                  </p:stCondLst>
                                  <p:childTnLst>
                                    <p:animMotion origin="layout" path="M 0 -2.59259E-6 L 0 0.03542 " pathEditMode="relative" rAng="0" ptsTypes="AA">
                                      <p:cBhvr>
                                        <p:cTn id="68" dur="700" spd="-100000" fill="hold"/>
                                        <p:tgtEl>
                                          <p:spTgt spid="13"/>
                                        </p:tgtEl>
                                        <p:attrNameLst>
                                          <p:attrName>ppt_x</p:attrName>
                                          <p:attrName>ppt_y</p:attrName>
                                        </p:attrNameLst>
                                      </p:cBhvr>
                                      <p:rCtr x="0" y="1759"/>
                                    </p:animMotion>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500"/>
                                        <p:tgtEl>
                                          <p:spTgt spid="19"/>
                                        </p:tgtEl>
                                      </p:cBhvr>
                                    </p:animEffect>
                                  </p:childTnLst>
                                </p:cTn>
                              </p:par>
                              <p:par>
                                <p:cTn id="74" presetID="42" presetClass="path" presetSubtype="0" decel="100000" fill="hold" nodeType="withEffect">
                                  <p:stCondLst>
                                    <p:cond delay="0"/>
                                  </p:stCondLst>
                                  <p:childTnLst>
                                    <p:animMotion origin="layout" path="M 0 -2.59259E-6 L 0 0.03542 " pathEditMode="relative" rAng="0" ptsTypes="AA">
                                      <p:cBhvr>
                                        <p:cTn id="75" dur="700" spd="-100000" fill="hold"/>
                                        <p:tgtEl>
                                          <p:spTgt spid="19"/>
                                        </p:tgtEl>
                                        <p:attrNameLst>
                                          <p:attrName>ppt_x</p:attrName>
                                          <p:attrName>ppt_y</p:attrName>
                                        </p:attrNameLst>
                                      </p:cBhvr>
                                      <p:rCtr x="0" y="1759"/>
                                    </p:animMotion>
                                  </p:childTnLst>
                                </p:cTn>
                              </p:par>
                              <p:par>
                                <p:cTn id="76" presetID="10" presetClass="entr" presetSubtype="0" fill="hold" grpId="0" nodeType="with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fade">
                                      <p:cBhvr>
                                        <p:cTn id="78" dur="500"/>
                                        <p:tgtEl>
                                          <p:spTgt spid="41"/>
                                        </p:tgtEl>
                                      </p:cBhvr>
                                    </p:animEffect>
                                  </p:childTnLst>
                                </p:cTn>
                              </p:par>
                              <p:par>
                                <p:cTn id="79" presetID="42" presetClass="path" presetSubtype="0" decel="100000" fill="hold" grpId="1" nodeType="withEffect">
                                  <p:stCondLst>
                                    <p:cond delay="0"/>
                                  </p:stCondLst>
                                  <p:childTnLst>
                                    <p:animMotion origin="layout" path="M 0 -2.59259E-6 L 0 0.03542 " pathEditMode="relative" rAng="0" ptsTypes="AA">
                                      <p:cBhvr>
                                        <p:cTn id="80" dur="700" spd="-100000" fill="hold"/>
                                        <p:tgtEl>
                                          <p:spTgt spid="41"/>
                                        </p:tgtEl>
                                        <p:attrNameLst>
                                          <p:attrName>ppt_x</p:attrName>
                                          <p:attrName>ppt_y</p:attrName>
                                        </p:attrNameLst>
                                      </p:cBhvr>
                                      <p:rCtr x="0" y="1759"/>
                                    </p:animMotion>
                                  </p:childTnLst>
                                </p:cTn>
                              </p:par>
                              <p:par>
                                <p:cTn id="81" presetID="10" presetClass="entr" presetSubtype="0" fill="hold" grpId="0" nodeType="with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fade">
                                      <p:cBhvr>
                                        <p:cTn id="83" dur="500"/>
                                        <p:tgtEl>
                                          <p:spTgt spid="42"/>
                                        </p:tgtEl>
                                      </p:cBhvr>
                                    </p:animEffect>
                                  </p:childTnLst>
                                </p:cTn>
                              </p:par>
                              <p:par>
                                <p:cTn id="84" presetID="42" presetClass="path" presetSubtype="0" decel="100000" fill="hold" grpId="1" nodeType="withEffect">
                                  <p:stCondLst>
                                    <p:cond delay="0"/>
                                  </p:stCondLst>
                                  <p:childTnLst>
                                    <p:animMotion origin="layout" path="M 0 -2.59259E-6 L 0 0.03542 " pathEditMode="relative" rAng="0" ptsTypes="AA">
                                      <p:cBhvr>
                                        <p:cTn id="85" dur="700" spd="-100000" fill="hold"/>
                                        <p:tgtEl>
                                          <p:spTgt spid="42"/>
                                        </p:tgtEl>
                                        <p:attrNameLst>
                                          <p:attrName>ppt_x</p:attrName>
                                          <p:attrName>ppt_y</p:attrName>
                                        </p:attrNameLst>
                                      </p:cBhvr>
                                      <p:rCtr x="0" y="1759"/>
                                    </p:animMotion>
                                  </p:childTnLst>
                                </p:cTn>
                              </p:par>
                              <p:par>
                                <p:cTn id="86" presetID="10" presetClass="entr" presetSubtype="0" fill="hold" grpId="0" nodeType="withEffect">
                                  <p:stCondLst>
                                    <p:cond delay="0"/>
                                  </p:stCondLst>
                                  <p:childTnLst>
                                    <p:set>
                                      <p:cBhvr>
                                        <p:cTn id="87" dur="1" fill="hold">
                                          <p:stCondLst>
                                            <p:cond delay="0"/>
                                          </p:stCondLst>
                                        </p:cTn>
                                        <p:tgtEl>
                                          <p:spTgt spid="43"/>
                                        </p:tgtEl>
                                        <p:attrNameLst>
                                          <p:attrName>style.visibility</p:attrName>
                                        </p:attrNameLst>
                                      </p:cBhvr>
                                      <p:to>
                                        <p:strVal val="visible"/>
                                      </p:to>
                                    </p:set>
                                    <p:animEffect transition="in" filter="fade">
                                      <p:cBhvr>
                                        <p:cTn id="88" dur="500"/>
                                        <p:tgtEl>
                                          <p:spTgt spid="43"/>
                                        </p:tgtEl>
                                      </p:cBhvr>
                                    </p:animEffect>
                                  </p:childTnLst>
                                </p:cTn>
                              </p:par>
                              <p:par>
                                <p:cTn id="89" presetID="42" presetClass="path" presetSubtype="0" decel="100000" fill="hold" grpId="1" nodeType="withEffect">
                                  <p:stCondLst>
                                    <p:cond delay="0"/>
                                  </p:stCondLst>
                                  <p:childTnLst>
                                    <p:animMotion origin="layout" path="M 0 -2.59259E-6 L 0 0.03542 " pathEditMode="relative" rAng="0" ptsTypes="AA">
                                      <p:cBhvr>
                                        <p:cTn id="90" dur="700" spd="-100000" fill="hold"/>
                                        <p:tgtEl>
                                          <p:spTgt spid="43"/>
                                        </p:tgtEl>
                                        <p:attrNameLst>
                                          <p:attrName>ppt_x</p:attrName>
                                          <p:attrName>ppt_y</p:attrName>
                                        </p:attrNameLst>
                                      </p:cBhvr>
                                      <p:rCtr x="0" y="1759"/>
                                    </p:animMotion>
                                  </p:childTnLst>
                                </p:cTn>
                              </p:par>
                              <p:par>
                                <p:cTn id="91" presetID="10" presetClass="entr" presetSubtype="0" fill="hold" grpId="0"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500"/>
                                        <p:tgtEl>
                                          <p:spTgt spid="44"/>
                                        </p:tgtEl>
                                      </p:cBhvr>
                                    </p:animEffect>
                                  </p:childTnLst>
                                </p:cTn>
                              </p:par>
                              <p:par>
                                <p:cTn id="94" presetID="42" presetClass="path" presetSubtype="0" decel="100000" fill="hold" grpId="1" nodeType="withEffect">
                                  <p:stCondLst>
                                    <p:cond delay="0"/>
                                  </p:stCondLst>
                                  <p:childTnLst>
                                    <p:animMotion origin="layout" path="M 0 -2.59259E-6 L 0 0.03542 " pathEditMode="relative" rAng="0" ptsTypes="AA">
                                      <p:cBhvr>
                                        <p:cTn id="95" dur="700" spd="-100000" fill="hold"/>
                                        <p:tgtEl>
                                          <p:spTgt spid="44"/>
                                        </p:tgtEl>
                                        <p:attrNameLst>
                                          <p:attrName>ppt_x</p:attrName>
                                          <p:attrName>ppt_y</p:attrName>
                                        </p:attrNameLst>
                                      </p:cBhvr>
                                      <p:rCtr x="0" y="1759"/>
                                    </p:animMotion>
                                  </p:childTnLst>
                                </p:cTn>
                              </p:par>
                              <p:par>
                                <p:cTn id="96" presetID="10" presetClass="entr" presetSubtype="0" fill="hold" grpId="0" nodeType="withEffect">
                                  <p:stCondLst>
                                    <p:cond delay="0"/>
                                  </p:stCondLst>
                                  <p:childTnLst>
                                    <p:set>
                                      <p:cBhvr>
                                        <p:cTn id="97" dur="1" fill="hold">
                                          <p:stCondLst>
                                            <p:cond delay="0"/>
                                          </p:stCondLst>
                                        </p:cTn>
                                        <p:tgtEl>
                                          <p:spTgt spid="47"/>
                                        </p:tgtEl>
                                        <p:attrNameLst>
                                          <p:attrName>style.visibility</p:attrName>
                                        </p:attrNameLst>
                                      </p:cBhvr>
                                      <p:to>
                                        <p:strVal val="visible"/>
                                      </p:to>
                                    </p:set>
                                    <p:animEffect transition="in" filter="fade">
                                      <p:cBhvr>
                                        <p:cTn id="98" dur="500"/>
                                        <p:tgtEl>
                                          <p:spTgt spid="47"/>
                                        </p:tgtEl>
                                      </p:cBhvr>
                                    </p:animEffect>
                                  </p:childTnLst>
                                </p:cTn>
                              </p:par>
                              <p:par>
                                <p:cTn id="99" presetID="42" presetClass="path" presetSubtype="0" decel="100000" fill="hold" grpId="1" nodeType="withEffect">
                                  <p:stCondLst>
                                    <p:cond delay="0"/>
                                  </p:stCondLst>
                                  <p:childTnLst>
                                    <p:animMotion origin="layout" path="M 0 -2.59259E-6 L 0 0.03542 " pathEditMode="relative" rAng="0" ptsTypes="AA">
                                      <p:cBhvr>
                                        <p:cTn id="100" dur="700" spd="-100000" fill="hold"/>
                                        <p:tgtEl>
                                          <p:spTgt spid="47"/>
                                        </p:tgtEl>
                                        <p:attrNameLst>
                                          <p:attrName>ppt_x</p:attrName>
                                          <p:attrName>ppt_y</p:attrName>
                                        </p:attrNameLst>
                                      </p:cBhvr>
                                      <p:rCtr x="0" y="1759"/>
                                    </p:animMotion>
                                  </p:childTnLst>
                                </p:cTn>
                              </p:par>
                              <p:par>
                                <p:cTn id="101" presetID="10" presetClass="entr" presetSubtype="0" fill="hold" grpId="0" nodeType="withEffect">
                                  <p:stCondLst>
                                    <p:cond delay="0"/>
                                  </p:stCondLst>
                                  <p:childTnLst>
                                    <p:set>
                                      <p:cBhvr>
                                        <p:cTn id="102" dur="1" fill="hold">
                                          <p:stCondLst>
                                            <p:cond delay="0"/>
                                          </p:stCondLst>
                                        </p:cTn>
                                        <p:tgtEl>
                                          <p:spTgt spid="49"/>
                                        </p:tgtEl>
                                        <p:attrNameLst>
                                          <p:attrName>style.visibility</p:attrName>
                                        </p:attrNameLst>
                                      </p:cBhvr>
                                      <p:to>
                                        <p:strVal val="visible"/>
                                      </p:to>
                                    </p:set>
                                    <p:animEffect transition="in" filter="fade">
                                      <p:cBhvr>
                                        <p:cTn id="103" dur="500"/>
                                        <p:tgtEl>
                                          <p:spTgt spid="49"/>
                                        </p:tgtEl>
                                      </p:cBhvr>
                                    </p:animEffect>
                                  </p:childTnLst>
                                </p:cTn>
                              </p:par>
                              <p:par>
                                <p:cTn id="104" presetID="42" presetClass="path" presetSubtype="0" decel="100000" fill="hold" grpId="1" nodeType="withEffect">
                                  <p:stCondLst>
                                    <p:cond delay="0"/>
                                  </p:stCondLst>
                                  <p:childTnLst>
                                    <p:animMotion origin="layout" path="M 0 -2.59259E-6 L 0 0.03542 " pathEditMode="relative" rAng="0" ptsTypes="AA">
                                      <p:cBhvr>
                                        <p:cTn id="105" dur="700" spd="-100000" fill="hold"/>
                                        <p:tgtEl>
                                          <p:spTgt spid="49"/>
                                        </p:tgtEl>
                                        <p:attrNameLst>
                                          <p:attrName>ppt_x</p:attrName>
                                          <p:attrName>ppt_y</p:attrName>
                                        </p:attrNameLst>
                                      </p:cBhvr>
                                      <p:rCtr x="0" y="1759"/>
                                    </p:animMotion>
                                  </p:childTnLst>
                                </p:cTn>
                              </p:par>
                              <p:par>
                                <p:cTn id="106" presetID="10" presetClass="entr" presetSubtype="0" fill="hold" grpId="0" nodeType="withEffect">
                                  <p:stCondLst>
                                    <p:cond delay="0"/>
                                  </p:stCondLst>
                                  <p:childTnLst>
                                    <p:set>
                                      <p:cBhvr>
                                        <p:cTn id="107" dur="1" fill="hold">
                                          <p:stCondLst>
                                            <p:cond delay="0"/>
                                          </p:stCondLst>
                                        </p:cTn>
                                        <p:tgtEl>
                                          <p:spTgt spid="51"/>
                                        </p:tgtEl>
                                        <p:attrNameLst>
                                          <p:attrName>style.visibility</p:attrName>
                                        </p:attrNameLst>
                                      </p:cBhvr>
                                      <p:to>
                                        <p:strVal val="visible"/>
                                      </p:to>
                                    </p:set>
                                    <p:animEffect transition="in" filter="fade">
                                      <p:cBhvr>
                                        <p:cTn id="108" dur="500"/>
                                        <p:tgtEl>
                                          <p:spTgt spid="51"/>
                                        </p:tgtEl>
                                      </p:cBhvr>
                                    </p:animEffect>
                                  </p:childTnLst>
                                </p:cTn>
                              </p:par>
                              <p:par>
                                <p:cTn id="109" presetID="42" presetClass="path" presetSubtype="0" decel="100000" fill="hold" grpId="1" nodeType="withEffect">
                                  <p:stCondLst>
                                    <p:cond delay="0"/>
                                  </p:stCondLst>
                                  <p:childTnLst>
                                    <p:animMotion origin="layout" path="M 0 -2.59259E-6 L 0 0.03542 " pathEditMode="relative" rAng="0" ptsTypes="AA">
                                      <p:cBhvr>
                                        <p:cTn id="110" dur="700" spd="-100000" fill="hold"/>
                                        <p:tgtEl>
                                          <p:spTgt spid="51"/>
                                        </p:tgtEl>
                                        <p:attrNameLst>
                                          <p:attrName>ppt_x</p:attrName>
                                          <p:attrName>ppt_y</p:attrName>
                                        </p:attrNameLst>
                                      </p:cBhvr>
                                      <p:rCtr x="0" y="1759"/>
                                    </p:animMotion>
                                  </p:childTnLst>
                                </p:cTn>
                              </p:par>
                              <p:par>
                                <p:cTn id="111" presetID="10" presetClass="entr" presetSubtype="0" fill="hold" grpId="0" nodeType="withEffect">
                                  <p:stCondLst>
                                    <p:cond delay="0"/>
                                  </p:stCondLst>
                                  <p:childTnLst>
                                    <p:set>
                                      <p:cBhvr>
                                        <p:cTn id="112" dur="1" fill="hold">
                                          <p:stCondLst>
                                            <p:cond delay="0"/>
                                          </p:stCondLst>
                                        </p:cTn>
                                        <p:tgtEl>
                                          <p:spTgt spid="52"/>
                                        </p:tgtEl>
                                        <p:attrNameLst>
                                          <p:attrName>style.visibility</p:attrName>
                                        </p:attrNameLst>
                                      </p:cBhvr>
                                      <p:to>
                                        <p:strVal val="visible"/>
                                      </p:to>
                                    </p:set>
                                    <p:animEffect transition="in" filter="fade">
                                      <p:cBhvr>
                                        <p:cTn id="113" dur="500"/>
                                        <p:tgtEl>
                                          <p:spTgt spid="52"/>
                                        </p:tgtEl>
                                      </p:cBhvr>
                                    </p:animEffect>
                                  </p:childTnLst>
                                </p:cTn>
                              </p:par>
                              <p:par>
                                <p:cTn id="114" presetID="42" presetClass="path" presetSubtype="0" decel="100000" fill="hold" grpId="1" nodeType="withEffect">
                                  <p:stCondLst>
                                    <p:cond delay="0"/>
                                  </p:stCondLst>
                                  <p:childTnLst>
                                    <p:animMotion origin="layout" path="M 0 -2.59259E-6 L 0 0.03542 " pathEditMode="relative" rAng="0" ptsTypes="AA">
                                      <p:cBhvr>
                                        <p:cTn id="115" dur="700" spd="-100000" fill="hold"/>
                                        <p:tgtEl>
                                          <p:spTgt spid="52"/>
                                        </p:tgtEl>
                                        <p:attrNameLst>
                                          <p:attrName>ppt_x</p:attrName>
                                          <p:attrName>ppt_y</p:attrName>
                                        </p:attrNameLst>
                                      </p:cBhvr>
                                      <p:rCtr x="0" y="1759"/>
                                    </p:animMotion>
                                  </p:childTnLst>
                                </p:cTn>
                              </p:par>
                              <p:par>
                                <p:cTn id="116" presetID="10" presetClass="entr" presetSubtype="0" fill="hold" grpId="0" nodeType="withEffect">
                                  <p:stCondLst>
                                    <p:cond delay="0"/>
                                  </p:stCondLst>
                                  <p:childTnLst>
                                    <p:set>
                                      <p:cBhvr>
                                        <p:cTn id="117" dur="1" fill="hold">
                                          <p:stCondLst>
                                            <p:cond delay="0"/>
                                          </p:stCondLst>
                                        </p:cTn>
                                        <p:tgtEl>
                                          <p:spTgt spid="53"/>
                                        </p:tgtEl>
                                        <p:attrNameLst>
                                          <p:attrName>style.visibility</p:attrName>
                                        </p:attrNameLst>
                                      </p:cBhvr>
                                      <p:to>
                                        <p:strVal val="visible"/>
                                      </p:to>
                                    </p:set>
                                    <p:animEffect transition="in" filter="fade">
                                      <p:cBhvr>
                                        <p:cTn id="118" dur="500"/>
                                        <p:tgtEl>
                                          <p:spTgt spid="53"/>
                                        </p:tgtEl>
                                      </p:cBhvr>
                                    </p:animEffect>
                                  </p:childTnLst>
                                </p:cTn>
                              </p:par>
                              <p:par>
                                <p:cTn id="119" presetID="42" presetClass="path" presetSubtype="0" decel="100000" fill="hold" grpId="1" nodeType="withEffect">
                                  <p:stCondLst>
                                    <p:cond delay="0"/>
                                  </p:stCondLst>
                                  <p:childTnLst>
                                    <p:animMotion origin="layout" path="M 0 -2.59259E-6 L 0 0.03542 " pathEditMode="relative" rAng="0" ptsTypes="AA">
                                      <p:cBhvr>
                                        <p:cTn id="120" dur="700" spd="-100000" fill="hold"/>
                                        <p:tgtEl>
                                          <p:spTgt spid="5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1" grpId="1" animBg="1"/>
      <p:bldP spid="6" grpId="0" animBg="1"/>
      <p:bldP spid="6" grpId="1" animBg="1"/>
      <p:bldP spid="7" grpId="0" animBg="1"/>
      <p:bldP spid="7" grpId="1" animBg="1"/>
      <p:bldP spid="8" grpId="0"/>
      <p:bldP spid="8" grpId="1"/>
      <p:bldP spid="9" grpId="0" animBg="1"/>
      <p:bldP spid="9" grpId="1" animBg="1"/>
      <p:bldP spid="10" grpId="0" animBg="1"/>
      <p:bldP spid="10" grpId="1" animBg="1"/>
      <p:bldP spid="11" grpId="0"/>
      <p:bldP spid="11" grpId="1"/>
      <p:bldP spid="13" grpId="0" animBg="1"/>
      <p:bldP spid="13" grpId="1" animBg="1"/>
      <p:bldP spid="14" grpId="0" animBg="1"/>
      <p:bldP spid="14" grpId="1" animBg="1"/>
      <p:bldP spid="15" grpId="0"/>
      <p:bldP spid="15" grpId="1"/>
      <p:bldP spid="42" grpId="0" animBg="1"/>
      <p:bldP spid="42" grpId="1" animBg="1"/>
      <p:bldP spid="43" grpId="0"/>
      <p:bldP spid="43" grpId="1"/>
      <p:bldP spid="44" grpId="0"/>
      <p:bldP spid="44" grpId="1"/>
      <p:bldP spid="47" grpId="0"/>
      <p:bldP spid="47" grpId="1"/>
      <p:bldP spid="49" grpId="0"/>
      <p:bldP spid="49" grpId="1"/>
      <p:bldP spid="51" grpId="0"/>
      <p:bldP spid="51" grpId="1"/>
      <p:bldP spid="52" grpId="0"/>
      <p:bldP spid="52" grpId="1"/>
      <p:bldP spid="53" grpId="0"/>
      <p:bldP spid="53"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le 5">
            <a:extLst>
              <a:ext uri="{FF2B5EF4-FFF2-40B4-BE49-F238E27FC236}">
                <a16:creationId xmlns:a16="http://schemas.microsoft.com/office/drawing/2014/main" id="{61F29DAF-DF89-2D64-26C7-9C4EEDC154FA}"/>
              </a:ext>
              <a:ext uri="{C183D7F6-B498-43B3-948B-1728B52AA6E4}">
                <adec:decorative xmlns:adec="http://schemas.microsoft.com/office/drawing/2017/decorative" val="1"/>
              </a:ext>
            </a:extLst>
          </p:cNvPr>
          <p:cNvSpPr/>
          <p:nvPr/>
        </p:nvSpPr>
        <p:spPr bwMode="auto">
          <a:xfrm>
            <a:off x="4091687" y="3613872"/>
            <a:ext cx="2662404" cy="2123423"/>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dirty="0">
              <a:gradFill>
                <a:gsLst>
                  <a:gs pos="41958">
                    <a:srgbClr val="FFFFFF"/>
                  </a:gs>
                  <a:gs pos="63000">
                    <a:srgbClr val="FFFFFF"/>
                  </a:gs>
                </a:gsLst>
                <a:lin ang="0" scaled="0"/>
              </a:gradFill>
              <a:latin typeface="Segoe UI"/>
              <a:cs typeface="Segoe UI" panose="020B0502040204020203" pitchFamily="34" charset="0"/>
            </a:endParaRPr>
          </a:p>
        </p:txBody>
      </p:sp>
      <p:sp>
        <p:nvSpPr>
          <p:cNvPr id="21" name="Graphic 29" descr="Database with magnifying glass icon">
            <a:extLst>
              <a:ext uri="{FF2B5EF4-FFF2-40B4-BE49-F238E27FC236}">
                <a16:creationId xmlns:a16="http://schemas.microsoft.com/office/drawing/2014/main" id="{FA14DF29-D6D9-A760-07AB-C6071B2A1AEB}"/>
              </a:ext>
            </a:extLst>
          </p:cNvPr>
          <p:cNvSpPr/>
          <p:nvPr/>
        </p:nvSpPr>
        <p:spPr>
          <a:xfrm>
            <a:off x="4700165" y="3997659"/>
            <a:ext cx="516852" cy="571204"/>
          </a:xfrm>
          <a:custGeom>
            <a:avLst/>
            <a:gdLst>
              <a:gd name="connsiteX0" fmla="*/ 217408 w 516852"/>
              <a:gd name="connsiteY0" fmla="*/ 217408 h 571204"/>
              <a:gd name="connsiteX1" fmla="*/ 434816 w 516852"/>
              <a:gd name="connsiteY1" fmla="*/ 108704 h 571204"/>
              <a:gd name="connsiteX2" fmla="*/ 217408 w 516852"/>
              <a:gd name="connsiteY2" fmla="*/ 0 h 571204"/>
              <a:gd name="connsiteX3" fmla="*/ 0 w 516852"/>
              <a:gd name="connsiteY3" fmla="*/ 108704 h 571204"/>
              <a:gd name="connsiteX4" fmla="*/ 217408 w 516852"/>
              <a:gd name="connsiteY4" fmla="*/ 217408 h 571204"/>
              <a:gd name="connsiteX5" fmla="*/ 389378 w 516852"/>
              <a:gd name="connsiteY5" fmla="*/ 222028 h 571204"/>
              <a:gd name="connsiteX6" fmla="*/ 434816 w 516852"/>
              <a:gd name="connsiteY6" fmla="*/ 191672 h 571204"/>
              <a:gd name="connsiteX7" fmla="*/ 434816 w 516852"/>
              <a:gd name="connsiteY7" fmla="*/ 278744 h 571204"/>
              <a:gd name="connsiteX8" fmla="*/ 325568 w 516852"/>
              <a:gd name="connsiteY8" fmla="*/ 245236 h 571204"/>
              <a:gd name="connsiteX9" fmla="*/ 389378 w 516852"/>
              <a:gd name="connsiteY9" fmla="*/ 222028 h 571204"/>
              <a:gd name="connsiteX10" fmla="*/ 190232 w 516852"/>
              <a:gd name="connsiteY10" fmla="*/ 394052 h 571204"/>
              <a:gd name="connsiteX11" fmla="*/ 294343 w 516852"/>
              <a:gd name="connsiteY11" fmla="*/ 536509 h 571204"/>
              <a:gd name="connsiteX12" fmla="*/ 217408 w 516852"/>
              <a:gd name="connsiteY12" fmla="*/ 543520 h 571204"/>
              <a:gd name="connsiteX13" fmla="*/ 0 w 516852"/>
              <a:gd name="connsiteY13" fmla="*/ 434816 h 571204"/>
              <a:gd name="connsiteX14" fmla="*/ 0 w 516852"/>
              <a:gd name="connsiteY14" fmla="*/ 191672 h 571204"/>
              <a:gd name="connsiteX15" fmla="*/ 45438 w 516852"/>
              <a:gd name="connsiteY15" fmla="*/ 222028 h 571204"/>
              <a:gd name="connsiteX16" fmla="*/ 217408 w 516852"/>
              <a:gd name="connsiteY16" fmla="*/ 258172 h 571204"/>
              <a:gd name="connsiteX17" fmla="*/ 292876 w 516852"/>
              <a:gd name="connsiteY17" fmla="*/ 252057 h 571204"/>
              <a:gd name="connsiteX18" fmla="*/ 190232 w 516852"/>
              <a:gd name="connsiteY18" fmla="*/ 394052 h 571204"/>
              <a:gd name="connsiteX19" fmla="*/ 339700 w 516852"/>
              <a:gd name="connsiteY19" fmla="*/ 516344 h 571204"/>
              <a:gd name="connsiteX20" fmla="*/ 410548 w 516852"/>
              <a:gd name="connsiteY20" fmla="*/ 493734 h 571204"/>
              <a:gd name="connsiteX21" fmla="*/ 481559 w 516852"/>
              <a:gd name="connsiteY21" fmla="*/ 564717 h 571204"/>
              <a:gd name="connsiteX22" fmla="*/ 510365 w 516852"/>
              <a:gd name="connsiteY22" fmla="*/ 565734 h 571204"/>
              <a:gd name="connsiteX23" fmla="*/ 511382 w 516852"/>
              <a:gd name="connsiteY23" fmla="*/ 536927 h 571204"/>
              <a:gd name="connsiteX24" fmla="*/ 510365 w 516852"/>
              <a:gd name="connsiteY24" fmla="*/ 535911 h 571204"/>
              <a:gd name="connsiteX25" fmla="*/ 439382 w 516852"/>
              <a:gd name="connsiteY25" fmla="*/ 464900 h 571204"/>
              <a:gd name="connsiteX26" fmla="*/ 410551 w 516852"/>
              <a:gd name="connsiteY26" fmla="*/ 294373 h 571204"/>
              <a:gd name="connsiteX27" fmla="*/ 240024 w 516852"/>
              <a:gd name="connsiteY27" fmla="*/ 323204 h 571204"/>
              <a:gd name="connsiteX28" fmla="*/ 268855 w 516852"/>
              <a:gd name="connsiteY28" fmla="*/ 493731 h 571204"/>
              <a:gd name="connsiteX29" fmla="*/ 339700 w 516852"/>
              <a:gd name="connsiteY29" fmla="*/ 516344 h 571204"/>
              <a:gd name="connsiteX30" fmla="*/ 339700 w 516852"/>
              <a:gd name="connsiteY30" fmla="*/ 475580 h 571204"/>
              <a:gd name="connsiteX31" fmla="*/ 258172 w 516852"/>
              <a:gd name="connsiteY31" fmla="*/ 394052 h 571204"/>
              <a:gd name="connsiteX32" fmla="*/ 339700 w 516852"/>
              <a:gd name="connsiteY32" fmla="*/ 312524 h 571204"/>
              <a:gd name="connsiteX33" fmla="*/ 421228 w 516852"/>
              <a:gd name="connsiteY33" fmla="*/ 394052 h 571204"/>
              <a:gd name="connsiteX34" fmla="*/ 339700 w 516852"/>
              <a:gd name="connsiteY34" fmla="*/ 475580 h 571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16852" h="571204">
                <a:moveTo>
                  <a:pt x="217408" y="217408"/>
                </a:moveTo>
                <a:cubicBezTo>
                  <a:pt x="337472" y="217408"/>
                  <a:pt x="434816" y="168763"/>
                  <a:pt x="434816" y="108704"/>
                </a:cubicBezTo>
                <a:cubicBezTo>
                  <a:pt x="434816" y="48645"/>
                  <a:pt x="337472" y="0"/>
                  <a:pt x="217408" y="0"/>
                </a:cubicBezTo>
                <a:cubicBezTo>
                  <a:pt x="97344" y="0"/>
                  <a:pt x="0" y="48645"/>
                  <a:pt x="0" y="108704"/>
                </a:cubicBezTo>
                <a:cubicBezTo>
                  <a:pt x="0" y="168763"/>
                  <a:pt x="97344" y="217408"/>
                  <a:pt x="217408" y="217408"/>
                </a:cubicBezTo>
                <a:close/>
                <a:moveTo>
                  <a:pt x="389378" y="222028"/>
                </a:moveTo>
                <a:cubicBezTo>
                  <a:pt x="405800" y="213964"/>
                  <a:pt x="421079" y="203756"/>
                  <a:pt x="434816" y="191672"/>
                </a:cubicBezTo>
                <a:lnTo>
                  <a:pt x="434816" y="278744"/>
                </a:lnTo>
                <a:cubicBezTo>
                  <a:pt x="404308" y="253484"/>
                  <a:pt x="364993" y="241426"/>
                  <a:pt x="325568" y="245236"/>
                </a:cubicBezTo>
                <a:cubicBezTo>
                  <a:pt x="347605" y="239804"/>
                  <a:pt x="368998" y="232023"/>
                  <a:pt x="389378" y="222028"/>
                </a:cubicBezTo>
                <a:close/>
                <a:moveTo>
                  <a:pt x="190232" y="394052"/>
                </a:moveTo>
                <a:cubicBezTo>
                  <a:pt x="190232" y="459136"/>
                  <a:pt x="232333" y="516744"/>
                  <a:pt x="294343" y="536509"/>
                </a:cubicBezTo>
                <a:cubicBezTo>
                  <a:pt x="270428" y="541047"/>
                  <a:pt x="244502" y="543520"/>
                  <a:pt x="217408" y="543520"/>
                </a:cubicBezTo>
                <a:cubicBezTo>
                  <a:pt x="97344" y="543520"/>
                  <a:pt x="0" y="494875"/>
                  <a:pt x="0" y="434816"/>
                </a:cubicBezTo>
                <a:lnTo>
                  <a:pt x="0" y="191672"/>
                </a:lnTo>
                <a:cubicBezTo>
                  <a:pt x="13737" y="203756"/>
                  <a:pt x="29016" y="213964"/>
                  <a:pt x="45438" y="222028"/>
                </a:cubicBezTo>
                <a:cubicBezTo>
                  <a:pt x="91583" y="245073"/>
                  <a:pt x="152403" y="258172"/>
                  <a:pt x="217408" y="258172"/>
                </a:cubicBezTo>
                <a:cubicBezTo>
                  <a:pt x="243443" y="258172"/>
                  <a:pt x="268825" y="256079"/>
                  <a:pt x="292876" y="252057"/>
                </a:cubicBezTo>
                <a:cubicBezTo>
                  <a:pt x="231610" y="272285"/>
                  <a:pt x="190227" y="329531"/>
                  <a:pt x="190232" y="394052"/>
                </a:cubicBezTo>
                <a:close/>
                <a:moveTo>
                  <a:pt x="339700" y="516344"/>
                </a:moveTo>
                <a:cubicBezTo>
                  <a:pt x="365096" y="516382"/>
                  <a:pt x="389867" y="508474"/>
                  <a:pt x="410548" y="493734"/>
                </a:cubicBezTo>
                <a:lnTo>
                  <a:pt x="481559" y="564717"/>
                </a:lnTo>
                <a:cubicBezTo>
                  <a:pt x="489233" y="572952"/>
                  <a:pt x="502131" y="573408"/>
                  <a:pt x="510365" y="565734"/>
                </a:cubicBezTo>
                <a:cubicBezTo>
                  <a:pt x="518600" y="558059"/>
                  <a:pt x="519056" y="545164"/>
                  <a:pt x="511382" y="536927"/>
                </a:cubicBezTo>
                <a:cubicBezTo>
                  <a:pt x="511056" y="536577"/>
                  <a:pt x="510716" y="536237"/>
                  <a:pt x="510365" y="535911"/>
                </a:cubicBezTo>
                <a:lnTo>
                  <a:pt x="439382" y="464900"/>
                </a:lnTo>
                <a:cubicBezTo>
                  <a:pt x="478510" y="409849"/>
                  <a:pt x="465601" y="333501"/>
                  <a:pt x="410551" y="294373"/>
                </a:cubicBezTo>
                <a:cubicBezTo>
                  <a:pt x="355500" y="255245"/>
                  <a:pt x="279152" y="268154"/>
                  <a:pt x="240024" y="323204"/>
                </a:cubicBezTo>
                <a:cubicBezTo>
                  <a:pt x="200896" y="378255"/>
                  <a:pt x="213804" y="454603"/>
                  <a:pt x="268855" y="493731"/>
                </a:cubicBezTo>
                <a:cubicBezTo>
                  <a:pt x="289549" y="508441"/>
                  <a:pt x="314309" y="516344"/>
                  <a:pt x="339700" y="516344"/>
                </a:cubicBezTo>
                <a:close/>
                <a:moveTo>
                  <a:pt x="339700" y="475580"/>
                </a:moveTo>
                <a:cubicBezTo>
                  <a:pt x="294672" y="475580"/>
                  <a:pt x="258172" y="439080"/>
                  <a:pt x="258172" y="394052"/>
                </a:cubicBezTo>
                <a:cubicBezTo>
                  <a:pt x="258172" y="349024"/>
                  <a:pt x="294672" y="312524"/>
                  <a:pt x="339700" y="312524"/>
                </a:cubicBezTo>
                <a:cubicBezTo>
                  <a:pt x="384728" y="312524"/>
                  <a:pt x="421228" y="349024"/>
                  <a:pt x="421228" y="394052"/>
                </a:cubicBezTo>
                <a:cubicBezTo>
                  <a:pt x="421228" y="439080"/>
                  <a:pt x="384728" y="475580"/>
                  <a:pt x="339700" y="475580"/>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22" name="TextBox 7">
            <a:extLst>
              <a:ext uri="{FF2B5EF4-FFF2-40B4-BE49-F238E27FC236}">
                <a16:creationId xmlns:a16="http://schemas.microsoft.com/office/drawing/2014/main" id="{AA7B0901-1454-6871-3FEC-DF7412B19C11}"/>
              </a:ext>
            </a:extLst>
          </p:cNvPr>
          <p:cNvSpPr txBox="1"/>
          <p:nvPr/>
        </p:nvSpPr>
        <p:spPr>
          <a:xfrm>
            <a:off x="5690111" y="3983085"/>
            <a:ext cx="973925" cy="923330"/>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3657965" rtl="0" eaLnBrk="1" latinLnBrk="0" hangingPunct="1">
              <a:defRPr sz="7200" kern="1200">
                <a:solidFill>
                  <a:schemeClr val="dk1"/>
                </a:solidFill>
                <a:latin typeface="+mn-lt"/>
                <a:ea typeface="+mn-ea"/>
                <a:cs typeface="+mn-cs"/>
              </a:defRPr>
            </a:lvl1pPr>
            <a:lvl2pPr marL="1828983" algn="l" defTabSz="3657965" rtl="0" eaLnBrk="1" latinLnBrk="0" hangingPunct="1">
              <a:defRPr sz="7200" kern="1200">
                <a:solidFill>
                  <a:schemeClr val="dk1"/>
                </a:solidFill>
                <a:latin typeface="+mn-lt"/>
                <a:ea typeface="+mn-ea"/>
                <a:cs typeface="+mn-cs"/>
              </a:defRPr>
            </a:lvl2pPr>
            <a:lvl3pPr marL="3657965" algn="l" defTabSz="3657965" rtl="0" eaLnBrk="1" latinLnBrk="0" hangingPunct="1">
              <a:defRPr sz="7200" kern="1200">
                <a:solidFill>
                  <a:schemeClr val="dk1"/>
                </a:solidFill>
                <a:latin typeface="+mn-lt"/>
                <a:ea typeface="+mn-ea"/>
                <a:cs typeface="+mn-cs"/>
              </a:defRPr>
            </a:lvl3pPr>
            <a:lvl4pPr marL="5486948" algn="l" defTabSz="3657965" rtl="0" eaLnBrk="1" latinLnBrk="0" hangingPunct="1">
              <a:defRPr sz="7200" kern="1200">
                <a:solidFill>
                  <a:schemeClr val="dk1"/>
                </a:solidFill>
                <a:latin typeface="+mn-lt"/>
                <a:ea typeface="+mn-ea"/>
                <a:cs typeface="+mn-cs"/>
              </a:defRPr>
            </a:lvl4pPr>
            <a:lvl5pPr marL="7315932" algn="l" defTabSz="3657965" rtl="0" eaLnBrk="1" latinLnBrk="0" hangingPunct="1">
              <a:defRPr sz="7200" kern="1200">
                <a:solidFill>
                  <a:schemeClr val="dk1"/>
                </a:solidFill>
                <a:latin typeface="+mn-lt"/>
                <a:ea typeface="+mn-ea"/>
                <a:cs typeface="+mn-cs"/>
              </a:defRPr>
            </a:lvl5pPr>
            <a:lvl6pPr marL="9144915" algn="l" defTabSz="3657965" rtl="0" eaLnBrk="1" latinLnBrk="0" hangingPunct="1">
              <a:defRPr sz="7200" kern="1200">
                <a:solidFill>
                  <a:schemeClr val="dk1"/>
                </a:solidFill>
                <a:latin typeface="+mn-lt"/>
                <a:ea typeface="+mn-ea"/>
                <a:cs typeface="+mn-cs"/>
              </a:defRPr>
            </a:lvl6pPr>
            <a:lvl7pPr marL="10973897" algn="l" defTabSz="3657965" rtl="0" eaLnBrk="1" latinLnBrk="0" hangingPunct="1">
              <a:defRPr sz="7200" kern="1200">
                <a:solidFill>
                  <a:schemeClr val="dk1"/>
                </a:solidFill>
                <a:latin typeface="+mn-lt"/>
                <a:ea typeface="+mn-ea"/>
                <a:cs typeface="+mn-cs"/>
              </a:defRPr>
            </a:lvl7pPr>
            <a:lvl8pPr marL="12802880" algn="l" defTabSz="3657965" rtl="0" eaLnBrk="1" latinLnBrk="0" hangingPunct="1">
              <a:defRPr sz="7200" kern="1200">
                <a:solidFill>
                  <a:schemeClr val="dk1"/>
                </a:solidFill>
                <a:latin typeface="+mn-lt"/>
                <a:ea typeface="+mn-ea"/>
                <a:cs typeface="+mn-cs"/>
              </a:defRPr>
            </a:lvl8pPr>
            <a:lvl9pPr marL="14631864" algn="l" defTabSz="3657965" rtl="0" eaLnBrk="1" latinLnBrk="0" hangingPunct="1">
              <a:defRPr sz="7200" kern="1200">
                <a:solidFill>
                  <a:schemeClr val="dk1"/>
                </a:solidFill>
                <a:latin typeface="+mn-lt"/>
                <a:ea typeface="+mn-ea"/>
                <a:cs typeface="+mn-cs"/>
              </a:defRPr>
            </a:lvl9pPr>
          </a:lstStyle>
          <a:p>
            <a:r>
              <a:rPr lang="en-US" sz="1000" dirty="0">
                <a:solidFill>
                  <a:schemeClr val="tx1"/>
                </a:solidFill>
                <a:ea typeface="+mn-lt"/>
                <a:cs typeface="+mn-lt"/>
              </a:rPr>
              <a:t>Follow up query: What is the role of external regulators in ensuring compliance?</a:t>
            </a:r>
          </a:p>
        </p:txBody>
      </p:sp>
      <p:sp>
        <p:nvSpPr>
          <p:cNvPr id="2" name="Title 1">
            <a:extLst>
              <a:ext uri="{FF2B5EF4-FFF2-40B4-BE49-F238E27FC236}">
                <a16:creationId xmlns:a16="http://schemas.microsoft.com/office/drawing/2014/main" id="{81F6B9AE-065B-82E2-7F38-5E4FF3FFB7C4}"/>
              </a:ext>
            </a:extLst>
          </p:cNvPr>
          <p:cNvSpPr>
            <a:spLocks noGrp="1"/>
          </p:cNvSpPr>
          <p:nvPr>
            <p:ph type="title"/>
          </p:nvPr>
        </p:nvSpPr>
        <p:spPr/>
        <p:txBody>
          <a:bodyPr/>
          <a:lstStyle/>
          <a:p>
            <a:r>
              <a:rPr lang="en-US" dirty="0"/>
              <a:t>Improving Answers using Evaluations</a:t>
            </a:r>
          </a:p>
        </p:txBody>
      </p:sp>
      <p:sp>
        <p:nvSpPr>
          <p:cNvPr id="6" name="Rounded Rectangle 5">
            <a:extLst>
              <a:ext uri="{FF2B5EF4-FFF2-40B4-BE49-F238E27FC236}">
                <a16:creationId xmlns:a16="http://schemas.microsoft.com/office/drawing/2014/main" id="{B891D48A-A8E4-555B-6C2A-FC6DA8451806}"/>
              </a:ext>
              <a:ext uri="{C183D7F6-B498-43B3-948B-1728B52AA6E4}">
                <adec:decorative xmlns:adec="http://schemas.microsoft.com/office/drawing/2017/decorative" val="1"/>
              </a:ext>
            </a:extLst>
          </p:cNvPr>
          <p:cNvSpPr/>
          <p:nvPr/>
        </p:nvSpPr>
        <p:spPr bwMode="auto">
          <a:xfrm>
            <a:off x="691126" y="2064939"/>
            <a:ext cx="2864401" cy="4749839"/>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1865484">
              <a:defRPr/>
            </a:pPr>
            <a:endParaRPr lang="en-US" sz="1400" baseline="30000" dirty="0">
              <a:solidFill>
                <a:schemeClr val="tx1"/>
              </a:solidFill>
              <a:cs typeface="Segoe UI Semilight"/>
            </a:endParaRPr>
          </a:p>
        </p:txBody>
      </p:sp>
      <p:sp>
        <p:nvSpPr>
          <p:cNvPr id="7" name="Graphic 22" descr="Large Language Model icon">
            <a:extLst>
              <a:ext uri="{FF2B5EF4-FFF2-40B4-BE49-F238E27FC236}">
                <a16:creationId xmlns:a16="http://schemas.microsoft.com/office/drawing/2014/main" id="{53AE87D8-6D52-70C8-7E23-CA9430773881}"/>
              </a:ext>
            </a:extLst>
          </p:cNvPr>
          <p:cNvSpPr/>
          <p:nvPr/>
        </p:nvSpPr>
        <p:spPr>
          <a:xfrm>
            <a:off x="1096692" y="1102101"/>
            <a:ext cx="795753" cy="796201"/>
          </a:xfrm>
          <a:custGeom>
            <a:avLst/>
            <a:gdLst>
              <a:gd name="connsiteX0" fmla="*/ 461978 w 543510"/>
              <a:gd name="connsiteY0" fmla="*/ 67910 h 543815"/>
              <a:gd name="connsiteX1" fmla="*/ 394065 w 543510"/>
              <a:gd name="connsiteY1" fmla="*/ 135877 h 543815"/>
              <a:gd name="connsiteX2" fmla="*/ 380124 w 543510"/>
              <a:gd name="connsiteY2" fmla="*/ 134437 h 543815"/>
              <a:gd name="connsiteX3" fmla="*/ 345338 w 543510"/>
              <a:gd name="connsiteY3" fmla="*/ 191995 h 543815"/>
              <a:gd name="connsiteX4" fmla="*/ 380450 w 543510"/>
              <a:gd name="connsiteY4" fmla="*/ 271974 h 543815"/>
              <a:gd name="connsiteX5" fmla="*/ 380450 w 543510"/>
              <a:gd name="connsiteY5" fmla="*/ 273551 h 543815"/>
              <a:gd name="connsiteX6" fmla="*/ 415670 w 543510"/>
              <a:gd name="connsiteY6" fmla="*/ 280644 h 543815"/>
              <a:gd name="connsiteX7" fmla="*/ 507639 w 543510"/>
              <a:gd name="connsiteY7" fmla="*/ 252837 h 543815"/>
              <a:gd name="connsiteX8" fmla="*/ 535445 w 543510"/>
              <a:gd name="connsiteY8" fmla="*/ 344809 h 543815"/>
              <a:gd name="connsiteX9" fmla="*/ 443476 w 543510"/>
              <a:gd name="connsiteY9" fmla="*/ 372613 h 543815"/>
              <a:gd name="connsiteX10" fmla="*/ 408088 w 543510"/>
              <a:gd name="connsiteY10" fmla="*/ 320701 h 543815"/>
              <a:gd name="connsiteX11" fmla="*/ 372215 w 543510"/>
              <a:gd name="connsiteY11" fmla="*/ 313499 h 543815"/>
              <a:gd name="connsiteX12" fmla="*/ 324875 w 543510"/>
              <a:gd name="connsiteY12" fmla="*/ 366846 h 543815"/>
              <a:gd name="connsiteX13" fmla="*/ 338327 w 543510"/>
              <a:gd name="connsiteY13" fmla="*/ 407936 h 543815"/>
              <a:gd name="connsiteX14" fmla="*/ 339686 w 543510"/>
              <a:gd name="connsiteY14" fmla="*/ 407936 h 543815"/>
              <a:gd name="connsiteX15" fmla="*/ 407577 w 543510"/>
              <a:gd name="connsiteY15" fmla="*/ 475925 h 543815"/>
              <a:gd name="connsiteX16" fmla="*/ 339588 w 543510"/>
              <a:gd name="connsiteY16" fmla="*/ 543816 h 543815"/>
              <a:gd name="connsiteX17" fmla="*/ 271697 w 543510"/>
              <a:gd name="connsiteY17" fmla="*/ 475827 h 543815"/>
              <a:gd name="connsiteX18" fmla="*/ 299683 w 543510"/>
              <a:gd name="connsiteY18" fmla="*/ 420926 h 543815"/>
              <a:gd name="connsiteX19" fmla="*/ 286203 w 543510"/>
              <a:gd name="connsiteY19" fmla="*/ 379727 h 543815"/>
              <a:gd name="connsiteX20" fmla="*/ 184239 w 543510"/>
              <a:gd name="connsiteY20" fmla="*/ 336436 h 543815"/>
              <a:gd name="connsiteX21" fmla="*/ 135458 w 543510"/>
              <a:gd name="connsiteY21" fmla="*/ 359481 h 543815"/>
              <a:gd name="connsiteX22" fmla="*/ 75560 w 543510"/>
              <a:gd name="connsiteY22" fmla="*/ 434606 h 543815"/>
              <a:gd name="connsiteX23" fmla="*/ 434 w 543510"/>
              <a:gd name="connsiteY23" fmla="*/ 374711 h 543815"/>
              <a:gd name="connsiteX24" fmla="*/ 60332 w 543510"/>
              <a:gd name="connsiteY24" fmla="*/ 299582 h 543815"/>
              <a:gd name="connsiteX25" fmla="*/ 118935 w 543510"/>
              <a:gd name="connsiteY25" fmla="*/ 322196 h 543815"/>
              <a:gd name="connsiteX26" fmla="*/ 166602 w 543510"/>
              <a:gd name="connsiteY26" fmla="*/ 299694 h 543815"/>
              <a:gd name="connsiteX27" fmla="*/ 187908 w 543510"/>
              <a:gd name="connsiteY27" fmla="*/ 202757 h 543815"/>
              <a:gd name="connsiteX28" fmla="*/ 160976 w 543510"/>
              <a:gd name="connsiteY28" fmla="*/ 172048 h 543815"/>
              <a:gd name="connsiteX29" fmla="*/ 72738 w 543510"/>
              <a:gd name="connsiteY29" fmla="*/ 134026 h 543815"/>
              <a:gd name="connsiteX30" fmla="*/ 110761 w 543510"/>
              <a:gd name="connsiteY30" fmla="*/ 45788 h 543815"/>
              <a:gd name="connsiteX31" fmla="*/ 198999 w 543510"/>
              <a:gd name="connsiteY31" fmla="*/ 83810 h 543815"/>
              <a:gd name="connsiteX32" fmla="*/ 192609 w 543510"/>
              <a:gd name="connsiteY32" fmla="*/ 146285 h 543815"/>
              <a:gd name="connsiteX33" fmla="*/ 219323 w 543510"/>
              <a:gd name="connsiteY33" fmla="*/ 176722 h 543815"/>
              <a:gd name="connsiteX34" fmla="*/ 271746 w 543510"/>
              <a:gd name="connsiteY34" fmla="*/ 163270 h 543815"/>
              <a:gd name="connsiteX35" fmla="*/ 310716 w 543510"/>
              <a:gd name="connsiteY35" fmla="*/ 170472 h 543815"/>
              <a:gd name="connsiteX36" fmla="*/ 344550 w 543510"/>
              <a:gd name="connsiteY36" fmla="*/ 114489 h 543815"/>
              <a:gd name="connsiteX37" fmla="*/ 347488 w 543510"/>
              <a:gd name="connsiteY37" fmla="*/ 18453 h 543815"/>
              <a:gd name="connsiteX38" fmla="*/ 443525 w 543510"/>
              <a:gd name="connsiteY38" fmla="*/ 21391 h 543815"/>
              <a:gd name="connsiteX39" fmla="*/ 461978 w 543510"/>
              <a:gd name="connsiteY39" fmla="*/ 67937 h 54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43510" h="543815">
                <a:moveTo>
                  <a:pt x="461978" y="67910"/>
                </a:moveTo>
                <a:cubicBezTo>
                  <a:pt x="461991" y="105432"/>
                  <a:pt x="431587" y="135862"/>
                  <a:pt x="394065" y="135877"/>
                </a:cubicBezTo>
                <a:cubicBezTo>
                  <a:pt x="389380" y="135879"/>
                  <a:pt x="384708" y="135396"/>
                  <a:pt x="380124" y="134437"/>
                </a:cubicBezTo>
                <a:lnTo>
                  <a:pt x="345338" y="191995"/>
                </a:lnTo>
                <a:cubicBezTo>
                  <a:pt x="367737" y="212554"/>
                  <a:pt x="380477" y="241573"/>
                  <a:pt x="380450" y="271974"/>
                </a:cubicBezTo>
                <a:lnTo>
                  <a:pt x="380450" y="273551"/>
                </a:lnTo>
                <a:lnTo>
                  <a:pt x="415670" y="280644"/>
                </a:lnTo>
                <a:cubicBezTo>
                  <a:pt x="433389" y="247568"/>
                  <a:pt x="474566" y="235118"/>
                  <a:pt x="507639" y="252837"/>
                </a:cubicBezTo>
                <a:cubicBezTo>
                  <a:pt x="540715" y="270556"/>
                  <a:pt x="553164" y="311733"/>
                  <a:pt x="535445" y="344809"/>
                </a:cubicBezTo>
                <a:cubicBezTo>
                  <a:pt x="517727" y="377882"/>
                  <a:pt x="476552" y="390331"/>
                  <a:pt x="443476" y="372613"/>
                </a:cubicBezTo>
                <a:cubicBezTo>
                  <a:pt x="423907" y="362131"/>
                  <a:pt x="410694" y="342749"/>
                  <a:pt x="408088" y="320701"/>
                </a:cubicBezTo>
                <a:lnTo>
                  <a:pt x="372215" y="313499"/>
                </a:lnTo>
                <a:cubicBezTo>
                  <a:pt x="362856" y="336083"/>
                  <a:pt x="346186" y="354869"/>
                  <a:pt x="324875" y="366846"/>
                </a:cubicBezTo>
                <a:lnTo>
                  <a:pt x="338327" y="407936"/>
                </a:lnTo>
                <a:lnTo>
                  <a:pt x="339686" y="407936"/>
                </a:lnTo>
                <a:cubicBezTo>
                  <a:pt x="377208" y="407963"/>
                  <a:pt x="407604" y="438403"/>
                  <a:pt x="407577" y="475925"/>
                </a:cubicBezTo>
                <a:cubicBezTo>
                  <a:pt x="407550" y="513447"/>
                  <a:pt x="377110" y="543843"/>
                  <a:pt x="339588" y="543816"/>
                </a:cubicBezTo>
                <a:cubicBezTo>
                  <a:pt x="302066" y="543789"/>
                  <a:pt x="271670" y="513349"/>
                  <a:pt x="271697" y="475827"/>
                </a:cubicBezTo>
                <a:cubicBezTo>
                  <a:pt x="271713" y="454105"/>
                  <a:pt x="282113" y="433701"/>
                  <a:pt x="299683" y="420926"/>
                </a:cubicBezTo>
                <a:lnTo>
                  <a:pt x="286203" y="379727"/>
                </a:lnTo>
                <a:cubicBezTo>
                  <a:pt x="246855" y="385032"/>
                  <a:pt x="207751" y="368430"/>
                  <a:pt x="184239" y="336436"/>
                </a:cubicBezTo>
                <a:lnTo>
                  <a:pt x="135458" y="359481"/>
                </a:lnTo>
                <a:cubicBezTo>
                  <a:pt x="139663" y="396767"/>
                  <a:pt x="112846" y="430402"/>
                  <a:pt x="75560" y="434606"/>
                </a:cubicBezTo>
                <a:cubicBezTo>
                  <a:pt x="38274" y="438813"/>
                  <a:pt x="4639" y="411996"/>
                  <a:pt x="434" y="374711"/>
                </a:cubicBezTo>
                <a:cubicBezTo>
                  <a:pt x="-3771" y="337422"/>
                  <a:pt x="23046" y="303789"/>
                  <a:pt x="60332" y="299582"/>
                </a:cubicBezTo>
                <a:cubicBezTo>
                  <a:pt x="82387" y="297096"/>
                  <a:pt x="104267" y="305539"/>
                  <a:pt x="118935" y="322196"/>
                </a:cubicBezTo>
                <a:lnTo>
                  <a:pt x="166602" y="299694"/>
                </a:lnTo>
                <a:cubicBezTo>
                  <a:pt x="157705" y="265835"/>
                  <a:pt x="165633" y="229765"/>
                  <a:pt x="187908" y="202757"/>
                </a:cubicBezTo>
                <a:lnTo>
                  <a:pt x="160976" y="172048"/>
                </a:lnTo>
                <a:cubicBezTo>
                  <a:pt x="126110" y="185915"/>
                  <a:pt x="86605" y="168892"/>
                  <a:pt x="72738" y="134026"/>
                </a:cubicBezTo>
                <a:cubicBezTo>
                  <a:pt x="58872" y="99160"/>
                  <a:pt x="75895" y="59654"/>
                  <a:pt x="110761" y="45788"/>
                </a:cubicBezTo>
                <a:cubicBezTo>
                  <a:pt x="145627" y="31921"/>
                  <a:pt x="185132" y="48944"/>
                  <a:pt x="198999" y="83810"/>
                </a:cubicBezTo>
                <a:cubicBezTo>
                  <a:pt x="207199" y="104429"/>
                  <a:pt x="204814" y="127753"/>
                  <a:pt x="192609" y="146285"/>
                </a:cubicBezTo>
                <a:lnTo>
                  <a:pt x="219323" y="176722"/>
                </a:lnTo>
                <a:cubicBezTo>
                  <a:pt x="235376" y="167871"/>
                  <a:pt x="253416" y="163242"/>
                  <a:pt x="271746" y="163270"/>
                </a:cubicBezTo>
                <a:cubicBezTo>
                  <a:pt x="285470" y="163270"/>
                  <a:pt x="298650" y="165825"/>
                  <a:pt x="310716" y="170472"/>
                </a:cubicBezTo>
                <a:lnTo>
                  <a:pt x="344550" y="114489"/>
                </a:lnTo>
                <a:cubicBezTo>
                  <a:pt x="318842" y="87158"/>
                  <a:pt x="320157" y="44161"/>
                  <a:pt x="347488" y="18453"/>
                </a:cubicBezTo>
                <a:cubicBezTo>
                  <a:pt x="374819" y="-7256"/>
                  <a:pt x="417817" y="-5940"/>
                  <a:pt x="443525" y="21391"/>
                </a:cubicBezTo>
                <a:cubicBezTo>
                  <a:pt x="455377" y="33991"/>
                  <a:pt x="461978" y="50638"/>
                  <a:pt x="461978" y="67937"/>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8" name="Text Placeholder 5">
            <a:extLst>
              <a:ext uri="{FF2B5EF4-FFF2-40B4-BE49-F238E27FC236}">
                <a16:creationId xmlns:a16="http://schemas.microsoft.com/office/drawing/2014/main" id="{DA5A003A-9C8B-F03D-0D86-3CB0CCB970B6}"/>
              </a:ext>
            </a:extLst>
          </p:cNvPr>
          <p:cNvSpPr txBox="1">
            <a:spLocks/>
          </p:cNvSpPr>
          <p:nvPr/>
        </p:nvSpPr>
        <p:spPr>
          <a:xfrm>
            <a:off x="1892444" y="1139967"/>
            <a:ext cx="1453427"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latin typeface="+mj-lt"/>
                <a:cs typeface="Segoe UI Semilight"/>
              </a:rPr>
              <a:t>Evaluations</a:t>
            </a:r>
          </a:p>
        </p:txBody>
      </p:sp>
      <p:sp>
        <p:nvSpPr>
          <p:cNvPr id="9" name="Text Placeholder 5">
            <a:extLst>
              <a:ext uri="{FF2B5EF4-FFF2-40B4-BE49-F238E27FC236}">
                <a16:creationId xmlns:a16="http://schemas.microsoft.com/office/drawing/2014/main" id="{E20FABC3-7967-2098-1899-7CD98F202A31}"/>
              </a:ext>
            </a:extLst>
          </p:cNvPr>
          <p:cNvSpPr txBox="1">
            <a:spLocks/>
          </p:cNvSpPr>
          <p:nvPr/>
        </p:nvSpPr>
        <p:spPr>
          <a:xfrm>
            <a:off x="1333363" y="2017934"/>
            <a:ext cx="1792486"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latin typeface="+mj-lt"/>
                <a:cs typeface="Segoe UI Semilight"/>
              </a:rPr>
              <a:t>Relevance</a:t>
            </a:r>
            <a:endParaRPr lang="en-US" sz="1800" dirty="0">
              <a:cs typeface="Segoe UI Semilight"/>
            </a:endParaRPr>
          </a:p>
        </p:txBody>
      </p:sp>
      <p:sp>
        <p:nvSpPr>
          <p:cNvPr id="10" name="Text Placeholder 5">
            <a:extLst>
              <a:ext uri="{FF2B5EF4-FFF2-40B4-BE49-F238E27FC236}">
                <a16:creationId xmlns:a16="http://schemas.microsoft.com/office/drawing/2014/main" id="{36D9945D-5C0A-F5BC-F7E4-B0F420344907}"/>
              </a:ext>
            </a:extLst>
          </p:cNvPr>
          <p:cNvSpPr txBox="1">
            <a:spLocks/>
          </p:cNvSpPr>
          <p:nvPr/>
        </p:nvSpPr>
        <p:spPr>
          <a:xfrm>
            <a:off x="1269367" y="3325305"/>
            <a:ext cx="1792486"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err="1">
                <a:latin typeface="+mj-lt"/>
                <a:cs typeface="Segoe UI Semilight"/>
              </a:rPr>
              <a:t>Groundedness</a:t>
            </a:r>
            <a:endParaRPr lang="en-US" sz="1800" dirty="0">
              <a:cs typeface="Segoe UI Semilight"/>
            </a:endParaRPr>
          </a:p>
        </p:txBody>
      </p:sp>
      <p:sp>
        <p:nvSpPr>
          <p:cNvPr id="11" name="Text Placeholder 5">
            <a:extLst>
              <a:ext uri="{FF2B5EF4-FFF2-40B4-BE49-F238E27FC236}">
                <a16:creationId xmlns:a16="http://schemas.microsoft.com/office/drawing/2014/main" id="{968F4E53-7864-3464-D955-57CF44EDA49C}"/>
              </a:ext>
            </a:extLst>
          </p:cNvPr>
          <p:cNvSpPr txBox="1">
            <a:spLocks/>
          </p:cNvSpPr>
          <p:nvPr/>
        </p:nvSpPr>
        <p:spPr>
          <a:xfrm>
            <a:off x="1269367" y="4978960"/>
            <a:ext cx="1792486"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latin typeface="+mj-lt"/>
                <a:cs typeface="Segoe UI Semilight"/>
              </a:rPr>
              <a:t>Correctness</a:t>
            </a:r>
            <a:endParaRPr lang="en-US" sz="1800" dirty="0">
              <a:cs typeface="Segoe UI Semilight"/>
            </a:endParaRPr>
          </a:p>
        </p:txBody>
      </p:sp>
      <p:sp>
        <p:nvSpPr>
          <p:cNvPr id="12" name="Text Placeholder 5">
            <a:extLst>
              <a:ext uri="{FF2B5EF4-FFF2-40B4-BE49-F238E27FC236}">
                <a16:creationId xmlns:a16="http://schemas.microsoft.com/office/drawing/2014/main" id="{C2E3707E-9D38-56C7-C327-B7BD3EFC8CC7}"/>
              </a:ext>
            </a:extLst>
          </p:cNvPr>
          <p:cNvSpPr txBox="1">
            <a:spLocks/>
          </p:cNvSpPr>
          <p:nvPr/>
        </p:nvSpPr>
        <p:spPr>
          <a:xfrm>
            <a:off x="903685" y="2340256"/>
            <a:ext cx="2651842" cy="1382078"/>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cs typeface="Segoe UI Semilight"/>
              </a:rPr>
              <a:t>Score: 5</a:t>
            </a:r>
          </a:p>
          <a:p>
            <a:pPr algn="ctr" defTabSz="1865484">
              <a:defRPr/>
            </a:pPr>
            <a:r>
              <a:rPr lang="en-US" sz="1800" dirty="0">
                <a:cs typeface="Segoe UI Semilight"/>
              </a:rPr>
              <a:t>Explanation: The answer is relevant to the query</a:t>
            </a:r>
          </a:p>
        </p:txBody>
      </p:sp>
      <p:sp>
        <p:nvSpPr>
          <p:cNvPr id="13" name="Text Placeholder 5">
            <a:extLst>
              <a:ext uri="{FF2B5EF4-FFF2-40B4-BE49-F238E27FC236}">
                <a16:creationId xmlns:a16="http://schemas.microsoft.com/office/drawing/2014/main" id="{3E9DA146-51F2-35AD-919B-C488DB4281EC}"/>
              </a:ext>
            </a:extLst>
          </p:cNvPr>
          <p:cNvSpPr txBox="1">
            <a:spLocks/>
          </p:cNvSpPr>
          <p:nvPr/>
        </p:nvSpPr>
        <p:spPr>
          <a:xfrm>
            <a:off x="861604" y="3755216"/>
            <a:ext cx="2651842" cy="1382078"/>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cs typeface="Segoe UI Semilight"/>
              </a:rPr>
              <a:t>Score: 4</a:t>
            </a:r>
          </a:p>
          <a:p>
            <a:pPr algn="ctr" defTabSz="1865484">
              <a:defRPr/>
            </a:pPr>
            <a:r>
              <a:rPr lang="en-US" sz="1800" dirty="0">
                <a:cs typeface="Segoe UI Semilight"/>
              </a:rPr>
              <a:t>Explanation: The answer is supported by parts of the context</a:t>
            </a:r>
          </a:p>
        </p:txBody>
      </p:sp>
      <p:sp>
        <p:nvSpPr>
          <p:cNvPr id="14" name="Text Placeholder 5">
            <a:extLst>
              <a:ext uri="{FF2B5EF4-FFF2-40B4-BE49-F238E27FC236}">
                <a16:creationId xmlns:a16="http://schemas.microsoft.com/office/drawing/2014/main" id="{58D15BF0-7CC0-CAA8-9099-DE50DEABB748}"/>
              </a:ext>
            </a:extLst>
          </p:cNvPr>
          <p:cNvSpPr txBox="1">
            <a:spLocks/>
          </p:cNvSpPr>
          <p:nvPr/>
        </p:nvSpPr>
        <p:spPr>
          <a:xfrm>
            <a:off x="812674" y="5432701"/>
            <a:ext cx="2651842" cy="1382078"/>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cs typeface="Segoe UI Semilight"/>
              </a:rPr>
              <a:t>Score: 3</a:t>
            </a:r>
          </a:p>
          <a:p>
            <a:pPr algn="ctr" defTabSz="1865484">
              <a:defRPr/>
            </a:pPr>
            <a:r>
              <a:rPr lang="en-US" sz="1800" dirty="0">
                <a:cs typeface="Segoe UI Semilight"/>
              </a:rPr>
              <a:t>Explanation: The answer is missing details about external regulators</a:t>
            </a:r>
          </a:p>
        </p:txBody>
      </p:sp>
      <p:grpSp>
        <p:nvGrpSpPr>
          <p:cNvPr id="15" name="Group 14">
            <a:extLst>
              <a:ext uri="{FF2B5EF4-FFF2-40B4-BE49-F238E27FC236}">
                <a16:creationId xmlns:a16="http://schemas.microsoft.com/office/drawing/2014/main" id="{2DDA071A-5433-111E-A984-B657B462FA2A}"/>
              </a:ext>
              <a:ext uri="{C183D7F6-B498-43B3-948B-1728B52AA6E4}">
                <adec:decorative xmlns:adec="http://schemas.microsoft.com/office/drawing/2017/decorative" val="1"/>
              </a:ext>
            </a:extLst>
          </p:cNvPr>
          <p:cNvGrpSpPr/>
          <p:nvPr/>
        </p:nvGrpSpPr>
        <p:grpSpPr>
          <a:xfrm>
            <a:off x="3548081" y="4252140"/>
            <a:ext cx="674005" cy="219834"/>
            <a:chOff x="2498230" y="4374485"/>
            <a:chExt cx="674005" cy="219834"/>
          </a:xfrm>
        </p:grpSpPr>
        <p:cxnSp>
          <p:nvCxnSpPr>
            <p:cNvPr id="16" name="Straight Connector 15">
              <a:extLst>
                <a:ext uri="{FF2B5EF4-FFF2-40B4-BE49-F238E27FC236}">
                  <a16:creationId xmlns:a16="http://schemas.microsoft.com/office/drawing/2014/main" id="{BBAFB26B-10C0-9FE9-A8D1-4F0F193A06B1}"/>
                </a:ext>
                <a:ext uri="{C183D7F6-B498-43B3-948B-1728B52AA6E4}">
                  <adec:decorative xmlns:adec="http://schemas.microsoft.com/office/drawing/2017/decorative" val="1"/>
                </a:ext>
              </a:extLst>
            </p:cNvPr>
            <p:cNvCxnSpPr>
              <a:cxnSpLocks/>
            </p:cNvCxnSpPr>
            <p:nvPr/>
          </p:nvCxnSpPr>
          <p:spPr>
            <a:xfrm>
              <a:off x="2498230" y="4484402"/>
              <a:ext cx="570422" cy="0"/>
            </a:xfrm>
            <a:prstGeom prst="line">
              <a:avLst/>
            </a:prstGeom>
            <a:noFill/>
            <a:ln w="15875">
              <a:gradFill>
                <a:gsLst>
                  <a:gs pos="0">
                    <a:srgbClr val="F4364C"/>
                  </a:gs>
                  <a:gs pos="100000">
                    <a:srgbClr val="49C5B1"/>
                  </a:gs>
                  <a:gs pos="80000">
                    <a:srgbClr val="0078D4"/>
                  </a:gs>
                  <a:gs pos="26000">
                    <a:srgbClr val="C03BC4"/>
                  </a:gs>
                </a:gsLst>
                <a:lin ang="10800000" scaled="0"/>
              </a:gradFill>
              <a:headEnd type="oval" w="med" len="med"/>
              <a:tailEnd type="oval" w="lg" len="lg"/>
            </a:ln>
            <a:effectLst/>
          </p:spPr>
          <p:style>
            <a:lnRef idx="1">
              <a:schemeClr val="accent2"/>
            </a:lnRef>
            <a:fillRef idx="3">
              <a:schemeClr val="accent2"/>
            </a:fillRef>
            <a:effectRef idx="2">
              <a:schemeClr val="accent2"/>
            </a:effectRef>
            <a:fontRef idx="minor">
              <a:schemeClr val="lt1"/>
            </a:fontRef>
          </p:style>
        </p:cxnSp>
        <p:grpSp>
          <p:nvGrpSpPr>
            <p:cNvPr id="17" name="Group 16">
              <a:extLst>
                <a:ext uri="{FF2B5EF4-FFF2-40B4-BE49-F238E27FC236}">
                  <a16:creationId xmlns:a16="http://schemas.microsoft.com/office/drawing/2014/main" id="{21CC70C2-E926-D59B-039E-CD50E552258B}"/>
                </a:ext>
              </a:extLst>
            </p:cNvPr>
            <p:cNvGrpSpPr/>
            <p:nvPr/>
          </p:nvGrpSpPr>
          <p:grpSpPr>
            <a:xfrm>
              <a:off x="2952400" y="4374485"/>
              <a:ext cx="219835" cy="219834"/>
              <a:chOff x="1613419" y="2537559"/>
              <a:chExt cx="339399" cy="339399"/>
            </a:xfrm>
          </p:grpSpPr>
          <p:sp>
            <p:nvSpPr>
              <p:cNvPr id="18" name="Oval 17">
                <a:extLst>
                  <a:ext uri="{FF2B5EF4-FFF2-40B4-BE49-F238E27FC236}">
                    <a16:creationId xmlns:a16="http://schemas.microsoft.com/office/drawing/2014/main" id="{95C376DF-624B-0DDE-BE2A-BDA8B9E2E9DC}"/>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19" name="Oval 18">
                <a:extLst>
                  <a:ext uri="{FF2B5EF4-FFF2-40B4-BE49-F238E27FC236}">
                    <a16:creationId xmlns:a16="http://schemas.microsoft.com/office/drawing/2014/main" id="{0C25D86A-5C1D-98BA-ADB2-9FCF2B67B049}"/>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grpSp>
      <p:sp>
        <p:nvSpPr>
          <p:cNvPr id="23" name="Text Placeholder 5">
            <a:extLst>
              <a:ext uri="{FF2B5EF4-FFF2-40B4-BE49-F238E27FC236}">
                <a16:creationId xmlns:a16="http://schemas.microsoft.com/office/drawing/2014/main" id="{4A1DF5E5-DA6F-A6D3-5A90-2FB81F0DE7A3}"/>
              </a:ext>
            </a:extLst>
          </p:cNvPr>
          <p:cNvSpPr txBox="1">
            <a:spLocks/>
          </p:cNvSpPr>
          <p:nvPr/>
        </p:nvSpPr>
        <p:spPr>
          <a:xfrm>
            <a:off x="4366971" y="4773911"/>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latin typeface="+mj-lt"/>
                <a:cs typeface="Segoe UI Semilight"/>
              </a:rPr>
              <a:t>Search</a:t>
            </a:r>
            <a:endParaRPr lang="en-US" sz="1800" dirty="0">
              <a:cs typeface="Segoe UI Semilight"/>
            </a:endParaRPr>
          </a:p>
        </p:txBody>
      </p:sp>
      <p:sp>
        <p:nvSpPr>
          <p:cNvPr id="24" name="Rounded Rectangle 5">
            <a:extLst>
              <a:ext uri="{FF2B5EF4-FFF2-40B4-BE49-F238E27FC236}">
                <a16:creationId xmlns:a16="http://schemas.microsoft.com/office/drawing/2014/main" id="{29C68E34-DBC1-958B-54F2-7062DE0E855E}"/>
              </a:ext>
              <a:ext uri="{C183D7F6-B498-43B3-948B-1728B52AA6E4}">
                <adec:decorative xmlns:adec="http://schemas.microsoft.com/office/drawing/2017/decorative" val="1"/>
              </a:ext>
            </a:extLst>
          </p:cNvPr>
          <p:cNvSpPr/>
          <p:nvPr/>
        </p:nvSpPr>
        <p:spPr bwMode="auto">
          <a:xfrm>
            <a:off x="7362198" y="3186545"/>
            <a:ext cx="3271166" cy="2519571"/>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1865484">
              <a:defRPr/>
            </a:pPr>
            <a:r>
              <a:rPr lang="en-US" sz="1400" dirty="0">
                <a:solidFill>
                  <a:schemeClr val="tx1"/>
                </a:solidFill>
                <a:cs typeface="Segoe UI Semilight"/>
              </a:rPr>
              <a:t>The compliance of the Northwind Health Plus plan with state regulations is ensured by the plan itself, as it states that it is in compliance with applicable state and federal laws and regulations[1] Additionally, employees have the option to contact their state's insurance department for further information about compliance and external review processes [2]</a:t>
            </a:r>
            <a:endParaRPr lang="en-US" sz="1400" baseline="30000" dirty="0">
              <a:solidFill>
                <a:schemeClr val="tx1"/>
              </a:solidFill>
              <a:cs typeface="Segoe UI Semilight"/>
            </a:endParaRPr>
          </a:p>
        </p:txBody>
      </p:sp>
      <p:sp>
        <p:nvSpPr>
          <p:cNvPr id="25" name="Graphic 22" descr="Large Language Model icon">
            <a:extLst>
              <a:ext uri="{FF2B5EF4-FFF2-40B4-BE49-F238E27FC236}">
                <a16:creationId xmlns:a16="http://schemas.microsoft.com/office/drawing/2014/main" id="{01D60D4E-638A-267A-4A74-16CD2C2409A3}"/>
              </a:ext>
            </a:extLst>
          </p:cNvPr>
          <p:cNvSpPr/>
          <p:nvPr/>
        </p:nvSpPr>
        <p:spPr>
          <a:xfrm>
            <a:off x="7904361" y="2180239"/>
            <a:ext cx="795753" cy="796201"/>
          </a:xfrm>
          <a:custGeom>
            <a:avLst/>
            <a:gdLst>
              <a:gd name="connsiteX0" fmla="*/ 461978 w 543510"/>
              <a:gd name="connsiteY0" fmla="*/ 67910 h 543815"/>
              <a:gd name="connsiteX1" fmla="*/ 394065 w 543510"/>
              <a:gd name="connsiteY1" fmla="*/ 135877 h 543815"/>
              <a:gd name="connsiteX2" fmla="*/ 380124 w 543510"/>
              <a:gd name="connsiteY2" fmla="*/ 134437 h 543815"/>
              <a:gd name="connsiteX3" fmla="*/ 345338 w 543510"/>
              <a:gd name="connsiteY3" fmla="*/ 191995 h 543815"/>
              <a:gd name="connsiteX4" fmla="*/ 380450 w 543510"/>
              <a:gd name="connsiteY4" fmla="*/ 271974 h 543815"/>
              <a:gd name="connsiteX5" fmla="*/ 380450 w 543510"/>
              <a:gd name="connsiteY5" fmla="*/ 273551 h 543815"/>
              <a:gd name="connsiteX6" fmla="*/ 415670 w 543510"/>
              <a:gd name="connsiteY6" fmla="*/ 280644 h 543815"/>
              <a:gd name="connsiteX7" fmla="*/ 507639 w 543510"/>
              <a:gd name="connsiteY7" fmla="*/ 252837 h 543815"/>
              <a:gd name="connsiteX8" fmla="*/ 535445 w 543510"/>
              <a:gd name="connsiteY8" fmla="*/ 344809 h 543815"/>
              <a:gd name="connsiteX9" fmla="*/ 443476 w 543510"/>
              <a:gd name="connsiteY9" fmla="*/ 372613 h 543815"/>
              <a:gd name="connsiteX10" fmla="*/ 408088 w 543510"/>
              <a:gd name="connsiteY10" fmla="*/ 320701 h 543815"/>
              <a:gd name="connsiteX11" fmla="*/ 372215 w 543510"/>
              <a:gd name="connsiteY11" fmla="*/ 313499 h 543815"/>
              <a:gd name="connsiteX12" fmla="*/ 324875 w 543510"/>
              <a:gd name="connsiteY12" fmla="*/ 366846 h 543815"/>
              <a:gd name="connsiteX13" fmla="*/ 338327 w 543510"/>
              <a:gd name="connsiteY13" fmla="*/ 407936 h 543815"/>
              <a:gd name="connsiteX14" fmla="*/ 339686 w 543510"/>
              <a:gd name="connsiteY14" fmla="*/ 407936 h 543815"/>
              <a:gd name="connsiteX15" fmla="*/ 407577 w 543510"/>
              <a:gd name="connsiteY15" fmla="*/ 475925 h 543815"/>
              <a:gd name="connsiteX16" fmla="*/ 339588 w 543510"/>
              <a:gd name="connsiteY16" fmla="*/ 543816 h 543815"/>
              <a:gd name="connsiteX17" fmla="*/ 271697 w 543510"/>
              <a:gd name="connsiteY17" fmla="*/ 475827 h 543815"/>
              <a:gd name="connsiteX18" fmla="*/ 299683 w 543510"/>
              <a:gd name="connsiteY18" fmla="*/ 420926 h 543815"/>
              <a:gd name="connsiteX19" fmla="*/ 286203 w 543510"/>
              <a:gd name="connsiteY19" fmla="*/ 379727 h 543815"/>
              <a:gd name="connsiteX20" fmla="*/ 184239 w 543510"/>
              <a:gd name="connsiteY20" fmla="*/ 336436 h 543815"/>
              <a:gd name="connsiteX21" fmla="*/ 135458 w 543510"/>
              <a:gd name="connsiteY21" fmla="*/ 359481 h 543815"/>
              <a:gd name="connsiteX22" fmla="*/ 75560 w 543510"/>
              <a:gd name="connsiteY22" fmla="*/ 434606 h 543815"/>
              <a:gd name="connsiteX23" fmla="*/ 434 w 543510"/>
              <a:gd name="connsiteY23" fmla="*/ 374711 h 543815"/>
              <a:gd name="connsiteX24" fmla="*/ 60332 w 543510"/>
              <a:gd name="connsiteY24" fmla="*/ 299582 h 543815"/>
              <a:gd name="connsiteX25" fmla="*/ 118935 w 543510"/>
              <a:gd name="connsiteY25" fmla="*/ 322196 h 543815"/>
              <a:gd name="connsiteX26" fmla="*/ 166602 w 543510"/>
              <a:gd name="connsiteY26" fmla="*/ 299694 h 543815"/>
              <a:gd name="connsiteX27" fmla="*/ 187908 w 543510"/>
              <a:gd name="connsiteY27" fmla="*/ 202757 h 543815"/>
              <a:gd name="connsiteX28" fmla="*/ 160976 w 543510"/>
              <a:gd name="connsiteY28" fmla="*/ 172048 h 543815"/>
              <a:gd name="connsiteX29" fmla="*/ 72738 w 543510"/>
              <a:gd name="connsiteY29" fmla="*/ 134026 h 543815"/>
              <a:gd name="connsiteX30" fmla="*/ 110761 w 543510"/>
              <a:gd name="connsiteY30" fmla="*/ 45788 h 543815"/>
              <a:gd name="connsiteX31" fmla="*/ 198999 w 543510"/>
              <a:gd name="connsiteY31" fmla="*/ 83810 h 543815"/>
              <a:gd name="connsiteX32" fmla="*/ 192609 w 543510"/>
              <a:gd name="connsiteY32" fmla="*/ 146285 h 543815"/>
              <a:gd name="connsiteX33" fmla="*/ 219323 w 543510"/>
              <a:gd name="connsiteY33" fmla="*/ 176722 h 543815"/>
              <a:gd name="connsiteX34" fmla="*/ 271746 w 543510"/>
              <a:gd name="connsiteY34" fmla="*/ 163270 h 543815"/>
              <a:gd name="connsiteX35" fmla="*/ 310716 w 543510"/>
              <a:gd name="connsiteY35" fmla="*/ 170472 h 543815"/>
              <a:gd name="connsiteX36" fmla="*/ 344550 w 543510"/>
              <a:gd name="connsiteY36" fmla="*/ 114489 h 543815"/>
              <a:gd name="connsiteX37" fmla="*/ 347488 w 543510"/>
              <a:gd name="connsiteY37" fmla="*/ 18453 h 543815"/>
              <a:gd name="connsiteX38" fmla="*/ 443525 w 543510"/>
              <a:gd name="connsiteY38" fmla="*/ 21391 h 543815"/>
              <a:gd name="connsiteX39" fmla="*/ 461978 w 543510"/>
              <a:gd name="connsiteY39" fmla="*/ 67937 h 54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43510" h="543815">
                <a:moveTo>
                  <a:pt x="461978" y="67910"/>
                </a:moveTo>
                <a:cubicBezTo>
                  <a:pt x="461991" y="105432"/>
                  <a:pt x="431587" y="135862"/>
                  <a:pt x="394065" y="135877"/>
                </a:cubicBezTo>
                <a:cubicBezTo>
                  <a:pt x="389380" y="135879"/>
                  <a:pt x="384708" y="135396"/>
                  <a:pt x="380124" y="134437"/>
                </a:cubicBezTo>
                <a:lnTo>
                  <a:pt x="345338" y="191995"/>
                </a:lnTo>
                <a:cubicBezTo>
                  <a:pt x="367737" y="212554"/>
                  <a:pt x="380477" y="241573"/>
                  <a:pt x="380450" y="271974"/>
                </a:cubicBezTo>
                <a:lnTo>
                  <a:pt x="380450" y="273551"/>
                </a:lnTo>
                <a:lnTo>
                  <a:pt x="415670" y="280644"/>
                </a:lnTo>
                <a:cubicBezTo>
                  <a:pt x="433389" y="247568"/>
                  <a:pt x="474566" y="235118"/>
                  <a:pt x="507639" y="252837"/>
                </a:cubicBezTo>
                <a:cubicBezTo>
                  <a:pt x="540715" y="270556"/>
                  <a:pt x="553164" y="311733"/>
                  <a:pt x="535445" y="344809"/>
                </a:cubicBezTo>
                <a:cubicBezTo>
                  <a:pt x="517727" y="377882"/>
                  <a:pt x="476552" y="390331"/>
                  <a:pt x="443476" y="372613"/>
                </a:cubicBezTo>
                <a:cubicBezTo>
                  <a:pt x="423907" y="362131"/>
                  <a:pt x="410694" y="342749"/>
                  <a:pt x="408088" y="320701"/>
                </a:cubicBezTo>
                <a:lnTo>
                  <a:pt x="372215" y="313499"/>
                </a:lnTo>
                <a:cubicBezTo>
                  <a:pt x="362856" y="336083"/>
                  <a:pt x="346186" y="354869"/>
                  <a:pt x="324875" y="366846"/>
                </a:cubicBezTo>
                <a:lnTo>
                  <a:pt x="338327" y="407936"/>
                </a:lnTo>
                <a:lnTo>
                  <a:pt x="339686" y="407936"/>
                </a:lnTo>
                <a:cubicBezTo>
                  <a:pt x="377208" y="407963"/>
                  <a:pt x="407604" y="438403"/>
                  <a:pt x="407577" y="475925"/>
                </a:cubicBezTo>
                <a:cubicBezTo>
                  <a:pt x="407550" y="513447"/>
                  <a:pt x="377110" y="543843"/>
                  <a:pt x="339588" y="543816"/>
                </a:cubicBezTo>
                <a:cubicBezTo>
                  <a:pt x="302066" y="543789"/>
                  <a:pt x="271670" y="513349"/>
                  <a:pt x="271697" y="475827"/>
                </a:cubicBezTo>
                <a:cubicBezTo>
                  <a:pt x="271713" y="454105"/>
                  <a:pt x="282113" y="433701"/>
                  <a:pt x="299683" y="420926"/>
                </a:cubicBezTo>
                <a:lnTo>
                  <a:pt x="286203" y="379727"/>
                </a:lnTo>
                <a:cubicBezTo>
                  <a:pt x="246855" y="385032"/>
                  <a:pt x="207751" y="368430"/>
                  <a:pt x="184239" y="336436"/>
                </a:cubicBezTo>
                <a:lnTo>
                  <a:pt x="135458" y="359481"/>
                </a:lnTo>
                <a:cubicBezTo>
                  <a:pt x="139663" y="396767"/>
                  <a:pt x="112846" y="430402"/>
                  <a:pt x="75560" y="434606"/>
                </a:cubicBezTo>
                <a:cubicBezTo>
                  <a:pt x="38274" y="438813"/>
                  <a:pt x="4639" y="411996"/>
                  <a:pt x="434" y="374711"/>
                </a:cubicBezTo>
                <a:cubicBezTo>
                  <a:pt x="-3771" y="337422"/>
                  <a:pt x="23046" y="303789"/>
                  <a:pt x="60332" y="299582"/>
                </a:cubicBezTo>
                <a:cubicBezTo>
                  <a:pt x="82387" y="297096"/>
                  <a:pt x="104267" y="305539"/>
                  <a:pt x="118935" y="322196"/>
                </a:cubicBezTo>
                <a:lnTo>
                  <a:pt x="166602" y="299694"/>
                </a:lnTo>
                <a:cubicBezTo>
                  <a:pt x="157705" y="265835"/>
                  <a:pt x="165633" y="229765"/>
                  <a:pt x="187908" y="202757"/>
                </a:cubicBezTo>
                <a:lnTo>
                  <a:pt x="160976" y="172048"/>
                </a:lnTo>
                <a:cubicBezTo>
                  <a:pt x="126110" y="185915"/>
                  <a:pt x="86605" y="168892"/>
                  <a:pt x="72738" y="134026"/>
                </a:cubicBezTo>
                <a:cubicBezTo>
                  <a:pt x="58872" y="99160"/>
                  <a:pt x="75895" y="59654"/>
                  <a:pt x="110761" y="45788"/>
                </a:cubicBezTo>
                <a:cubicBezTo>
                  <a:pt x="145627" y="31921"/>
                  <a:pt x="185132" y="48944"/>
                  <a:pt x="198999" y="83810"/>
                </a:cubicBezTo>
                <a:cubicBezTo>
                  <a:pt x="207199" y="104429"/>
                  <a:pt x="204814" y="127753"/>
                  <a:pt x="192609" y="146285"/>
                </a:cubicBezTo>
                <a:lnTo>
                  <a:pt x="219323" y="176722"/>
                </a:lnTo>
                <a:cubicBezTo>
                  <a:pt x="235376" y="167871"/>
                  <a:pt x="253416" y="163242"/>
                  <a:pt x="271746" y="163270"/>
                </a:cubicBezTo>
                <a:cubicBezTo>
                  <a:pt x="285470" y="163270"/>
                  <a:pt x="298650" y="165825"/>
                  <a:pt x="310716" y="170472"/>
                </a:cubicBezTo>
                <a:lnTo>
                  <a:pt x="344550" y="114489"/>
                </a:lnTo>
                <a:cubicBezTo>
                  <a:pt x="318842" y="87158"/>
                  <a:pt x="320157" y="44161"/>
                  <a:pt x="347488" y="18453"/>
                </a:cubicBezTo>
                <a:cubicBezTo>
                  <a:pt x="374819" y="-7256"/>
                  <a:pt x="417817" y="-5940"/>
                  <a:pt x="443525" y="21391"/>
                </a:cubicBezTo>
                <a:cubicBezTo>
                  <a:pt x="455377" y="33991"/>
                  <a:pt x="461978" y="50638"/>
                  <a:pt x="461978" y="67937"/>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26" name="Text Placeholder 5">
            <a:extLst>
              <a:ext uri="{FF2B5EF4-FFF2-40B4-BE49-F238E27FC236}">
                <a16:creationId xmlns:a16="http://schemas.microsoft.com/office/drawing/2014/main" id="{E621F9CB-98DD-6BD3-ABD1-ED33C97C8E26}"/>
              </a:ext>
            </a:extLst>
          </p:cNvPr>
          <p:cNvSpPr txBox="1">
            <a:spLocks/>
          </p:cNvSpPr>
          <p:nvPr/>
        </p:nvSpPr>
        <p:spPr>
          <a:xfrm>
            <a:off x="8622896" y="2199173"/>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latin typeface="+mj-lt"/>
                <a:cs typeface="Segoe UI Semilight"/>
              </a:rPr>
              <a:t>Large Language Model</a:t>
            </a:r>
          </a:p>
        </p:txBody>
      </p:sp>
      <p:grpSp>
        <p:nvGrpSpPr>
          <p:cNvPr id="27" name="Group 26">
            <a:extLst>
              <a:ext uri="{FF2B5EF4-FFF2-40B4-BE49-F238E27FC236}">
                <a16:creationId xmlns:a16="http://schemas.microsoft.com/office/drawing/2014/main" id="{89B80853-0BEC-6AC9-380B-015E44F5553A}"/>
              </a:ext>
              <a:ext uri="{C183D7F6-B498-43B3-948B-1728B52AA6E4}">
                <adec:decorative xmlns:adec="http://schemas.microsoft.com/office/drawing/2017/decorative" val="1"/>
              </a:ext>
            </a:extLst>
          </p:cNvPr>
          <p:cNvGrpSpPr/>
          <p:nvPr/>
        </p:nvGrpSpPr>
        <p:grpSpPr>
          <a:xfrm>
            <a:off x="6754091" y="4283261"/>
            <a:ext cx="674005" cy="219834"/>
            <a:chOff x="2498230" y="4374485"/>
            <a:chExt cx="674005" cy="219834"/>
          </a:xfrm>
        </p:grpSpPr>
        <p:cxnSp>
          <p:nvCxnSpPr>
            <p:cNvPr id="28" name="Straight Connector 27">
              <a:extLst>
                <a:ext uri="{FF2B5EF4-FFF2-40B4-BE49-F238E27FC236}">
                  <a16:creationId xmlns:a16="http://schemas.microsoft.com/office/drawing/2014/main" id="{9B627F63-2A16-5D13-2B42-4E1D4870A7DB}"/>
                </a:ext>
                <a:ext uri="{C183D7F6-B498-43B3-948B-1728B52AA6E4}">
                  <adec:decorative xmlns:adec="http://schemas.microsoft.com/office/drawing/2017/decorative" val="1"/>
                </a:ext>
              </a:extLst>
            </p:cNvPr>
            <p:cNvCxnSpPr>
              <a:cxnSpLocks/>
            </p:cNvCxnSpPr>
            <p:nvPr/>
          </p:nvCxnSpPr>
          <p:spPr>
            <a:xfrm>
              <a:off x="2498230" y="4484402"/>
              <a:ext cx="570422" cy="0"/>
            </a:xfrm>
            <a:prstGeom prst="line">
              <a:avLst/>
            </a:prstGeom>
            <a:noFill/>
            <a:ln w="15875">
              <a:gradFill>
                <a:gsLst>
                  <a:gs pos="0">
                    <a:srgbClr val="F4364C"/>
                  </a:gs>
                  <a:gs pos="100000">
                    <a:srgbClr val="49C5B1"/>
                  </a:gs>
                  <a:gs pos="80000">
                    <a:srgbClr val="0078D4"/>
                  </a:gs>
                  <a:gs pos="26000">
                    <a:srgbClr val="C03BC4"/>
                  </a:gs>
                </a:gsLst>
                <a:lin ang="10800000" scaled="0"/>
              </a:gradFill>
              <a:headEnd type="oval" w="med" len="med"/>
              <a:tailEnd type="oval" w="lg" len="lg"/>
            </a:ln>
            <a:effectLst/>
          </p:spPr>
          <p:style>
            <a:lnRef idx="1">
              <a:schemeClr val="accent2"/>
            </a:lnRef>
            <a:fillRef idx="3">
              <a:schemeClr val="accent2"/>
            </a:fillRef>
            <a:effectRef idx="2">
              <a:schemeClr val="accent2"/>
            </a:effectRef>
            <a:fontRef idx="minor">
              <a:schemeClr val="lt1"/>
            </a:fontRef>
          </p:style>
        </p:cxnSp>
        <p:grpSp>
          <p:nvGrpSpPr>
            <p:cNvPr id="29" name="Group 28">
              <a:extLst>
                <a:ext uri="{FF2B5EF4-FFF2-40B4-BE49-F238E27FC236}">
                  <a16:creationId xmlns:a16="http://schemas.microsoft.com/office/drawing/2014/main" id="{A1F6930B-3946-276D-C671-6D326BEC413D}"/>
                </a:ext>
              </a:extLst>
            </p:cNvPr>
            <p:cNvGrpSpPr/>
            <p:nvPr/>
          </p:nvGrpSpPr>
          <p:grpSpPr>
            <a:xfrm>
              <a:off x="2952400" y="4374485"/>
              <a:ext cx="219835" cy="219834"/>
              <a:chOff x="1613419" y="2537559"/>
              <a:chExt cx="339399" cy="339399"/>
            </a:xfrm>
          </p:grpSpPr>
          <p:sp>
            <p:nvSpPr>
              <p:cNvPr id="30" name="Oval 29">
                <a:extLst>
                  <a:ext uri="{FF2B5EF4-FFF2-40B4-BE49-F238E27FC236}">
                    <a16:creationId xmlns:a16="http://schemas.microsoft.com/office/drawing/2014/main" id="{77135BBD-164D-B414-7034-8DDEFFF0DA37}"/>
                  </a:ext>
                  <a:ext uri="{C183D7F6-B498-43B3-948B-1728B52AA6E4}">
                    <adec:decorative xmlns:adec="http://schemas.microsoft.com/office/drawing/2017/decorative" val="1"/>
                  </a:ext>
                </a:extLst>
              </p:cNvPr>
              <p:cNvSpPr/>
              <p:nvPr/>
            </p:nvSpPr>
            <p:spPr bwMode="auto">
              <a:xfrm>
                <a:off x="1613419" y="2537559"/>
                <a:ext cx="339399" cy="339399"/>
              </a:xfrm>
              <a:prstGeom prst="ellips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31" name="Oval 30">
                <a:extLst>
                  <a:ext uri="{FF2B5EF4-FFF2-40B4-BE49-F238E27FC236}">
                    <a16:creationId xmlns:a16="http://schemas.microsoft.com/office/drawing/2014/main" id="{9EFCE896-E094-9405-DCC5-32BC29CF37AA}"/>
                  </a:ext>
                  <a:ext uri="{C183D7F6-B498-43B3-948B-1728B52AA6E4}">
                    <adec:decorative xmlns:adec="http://schemas.microsoft.com/office/drawing/2017/decorative" val="1"/>
                  </a:ext>
                </a:extLst>
              </p:cNvPr>
              <p:cNvSpPr/>
              <p:nvPr/>
            </p:nvSpPr>
            <p:spPr bwMode="auto">
              <a:xfrm>
                <a:off x="1689620" y="2618739"/>
                <a:ext cx="186999" cy="186999"/>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grpSp>
      </p:grpSp>
      <p:sp>
        <p:nvSpPr>
          <p:cNvPr id="32" name="Text Placeholder 5">
            <a:extLst>
              <a:ext uri="{FF2B5EF4-FFF2-40B4-BE49-F238E27FC236}">
                <a16:creationId xmlns:a16="http://schemas.microsoft.com/office/drawing/2014/main" id="{DA3234EE-FBF1-0130-EB3A-C534A240D1F7}"/>
              </a:ext>
            </a:extLst>
          </p:cNvPr>
          <p:cNvSpPr txBox="1">
            <a:spLocks/>
          </p:cNvSpPr>
          <p:nvPr/>
        </p:nvSpPr>
        <p:spPr>
          <a:xfrm>
            <a:off x="4366971" y="2344780"/>
            <a:ext cx="2002992" cy="1225456"/>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latin typeface="+mj-lt"/>
                <a:cs typeface="Segoe UI Semilight"/>
              </a:rPr>
              <a:t>Use search to address gaps in context</a:t>
            </a:r>
            <a:endParaRPr lang="en-US" sz="1800" dirty="0">
              <a:cs typeface="Segoe UI Semilight"/>
            </a:endParaRPr>
          </a:p>
        </p:txBody>
      </p:sp>
    </p:spTree>
    <p:extLst>
      <p:ext uri="{BB962C8B-B14F-4D97-AF65-F5344CB8AC3E}">
        <p14:creationId xmlns:p14="http://schemas.microsoft.com/office/powerpoint/2010/main" val="3307331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42" presetClass="path" presetSubtype="0" decel="100000" fill="hold" grpId="1" nodeType="withEffect">
                                  <p:stCondLst>
                                    <p:cond delay="0"/>
                                  </p:stCondLst>
                                  <p:childTnLst>
                                    <p:animMotion origin="layout" path="M 0 -2.59259E-6 L 0 0.03542 " pathEditMode="relative" rAng="0" ptsTypes="AA">
                                      <p:cBhvr>
                                        <p:cTn id="9" dur="700" spd="-100000" fill="hold"/>
                                        <p:tgtEl>
                                          <p:spTgt spid="6"/>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42" presetClass="path" presetSubtype="0" decel="100000" fill="hold" grpId="1" nodeType="withEffect">
                                  <p:stCondLst>
                                    <p:cond delay="0"/>
                                  </p:stCondLst>
                                  <p:childTnLst>
                                    <p:animMotion origin="layout" path="M 0 -2.59259E-6 L 0 0.03542 " pathEditMode="relative" rAng="0" ptsTypes="AA">
                                      <p:cBhvr>
                                        <p:cTn id="14" dur="700" spd="-100000" fill="hold"/>
                                        <p:tgtEl>
                                          <p:spTgt spid="7"/>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42" presetClass="path" presetSubtype="0" decel="100000" fill="hold" grpId="1" nodeType="withEffect">
                                  <p:stCondLst>
                                    <p:cond delay="0"/>
                                  </p:stCondLst>
                                  <p:childTnLst>
                                    <p:animMotion origin="layout" path="M 0 -2.59259E-6 L 0 0.03542 " pathEditMode="relative" rAng="0" ptsTypes="AA">
                                      <p:cBhvr>
                                        <p:cTn id="19" dur="700" spd="-100000" fill="hold"/>
                                        <p:tgtEl>
                                          <p:spTgt spid="8"/>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42" presetClass="path" presetSubtype="0" decel="100000" fill="hold" grpId="1" nodeType="withEffect">
                                  <p:stCondLst>
                                    <p:cond delay="0"/>
                                  </p:stCondLst>
                                  <p:childTnLst>
                                    <p:animMotion origin="layout" path="M 0 -2.59259E-6 L 0 0.03542 " pathEditMode="relative" rAng="0" ptsTypes="AA">
                                      <p:cBhvr>
                                        <p:cTn id="24" dur="700" spd="-100000" fill="hold"/>
                                        <p:tgtEl>
                                          <p:spTgt spid="9"/>
                                        </p:tgtEl>
                                        <p:attrNameLst>
                                          <p:attrName>ppt_x</p:attrName>
                                          <p:attrName>ppt_y</p:attrName>
                                        </p:attrNameLst>
                                      </p:cBhvr>
                                      <p:rCtr x="0" y="1759"/>
                                    </p:animMotion>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42" presetClass="path" presetSubtype="0" decel="100000" fill="hold" grpId="1" nodeType="withEffect">
                                  <p:stCondLst>
                                    <p:cond delay="0"/>
                                  </p:stCondLst>
                                  <p:childTnLst>
                                    <p:animMotion origin="layout" path="M 0 -2.59259E-6 L 0 0.03542 " pathEditMode="relative" rAng="0" ptsTypes="AA">
                                      <p:cBhvr>
                                        <p:cTn id="29" dur="700" spd="-100000" fill="hold"/>
                                        <p:tgtEl>
                                          <p:spTgt spid="10"/>
                                        </p:tgtEl>
                                        <p:attrNameLst>
                                          <p:attrName>ppt_x</p:attrName>
                                          <p:attrName>ppt_y</p:attrName>
                                        </p:attrNameLst>
                                      </p:cBhvr>
                                      <p:rCtr x="0" y="1759"/>
                                    </p:animMotion>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42" presetClass="path" presetSubtype="0" decel="100000" fill="hold" grpId="1" nodeType="withEffect">
                                  <p:stCondLst>
                                    <p:cond delay="0"/>
                                  </p:stCondLst>
                                  <p:childTnLst>
                                    <p:animMotion origin="layout" path="M 0 -2.59259E-6 L 0 0.03542 " pathEditMode="relative" rAng="0" ptsTypes="AA">
                                      <p:cBhvr>
                                        <p:cTn id="34" dur="700" spd="-100000" fill="hold"/>
                                        <p:tgtEl>
                                          <p:spTgt spid="11"/>
                                        </p:tgtEl>
                                        <p:attrNameLst>
                                          <p:attrName>ppt_x</p:attrName>
                                          <p:attrName>ppt_y</p:attrName>
                                        </p:attrNameLst>
                                      </p:cBhvr>
                                      <p:rCtr x="0" y="1759"/>
                                    </p:animMotion>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42" presetClass="path" presetSubtype="0" decel="100000" fill="hold" grpId="1" nodeType="withEffect">
                                  <p:stCondLst>
                                    <p:cond delay="0"/>
                                  </p:stCondLst>
                                  <p:childTnLst>
                                    <p:animMotion origin="layout" path="M 0 -2.59259E-6 L 0 0.03542 " pathEditMode="relative" rAng="0" ptsTypes="AA">
                                      <p:cBhvr>
                                        <p:cTn id="39" dur="700" spd="-100000" fill="hold"/>
                                        <p:tgtEl>
                                          <p:spTgt spid="12"/>
                                        </p:tgtEl>
                                        <p:attrNameLst>
                                          <p:attrName>ppt_x</p:attrName>
                                          <p:attrName>ppt_y</p:attrName>
                                        </p:attrNameLst>
                                      </p:cBhvr>
                                      <p:rCtr x="0" y="1759"/>
                                    </p:animMotion>
                                  </p:childTnLst>
                                </p:cTn>
                              </p:par>
                              <p:par>
                                <p:cTn id="40" presetID="10"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42" presetClass="path" presetSubtype="0" decel="100000" fill="hold" grpId="1" nodeType="withEffect">
                                  <p:stCondLst>
                                    <p:cond delay="0"/>
                                  </p:stCondLst>
                                  <p:childTnLst>
                                    <p:animMotion origin="layout" path="M 0 -2.59259E-6 L 0 0.03542 " pathEditMode="relative" rAng="0" ptsTypes="AA">
                                      <p:cBhvr>
                                        <p:cTn id="44" dur="700" spd="-100000" fill="hold"/>
                                        <p:tgtEl>
                                          <p:spTgt spid="13"/>
                                        </p:tgtEl>
                                        <p:attrNameLst>
                                          <p:attrName>ppt_x</p:attrName>
                                          <p:attrName>ppt_y</p:attrName>
                                        </p:attrNameLst>
                                      </p:cBhvr>
                                      <p:rCtr x="0" y="1759"/>
                                    </p:animMotion>
                                  </p:childTnLst>
                                </p:cTn>
                              </p:par>
                              <p:par>
                                <p:cTn id="45" presetID="10"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par>
                                <p:cTn id="48" presetID="42" presetClass="path" presetSubtype="0" decel="100000" fill="hold" grpId="1" nodeType="withEffect">
                                  <p:stCondLst>
                                    <p:cond delay="0"/>
                                  </p:stCondLst>
                                  <p:childTnLst>
                                    <p:animMotion origin="layout" path="M 0 -2.59259E-6 L 0 0.03542 " pathEditMode="relative" rAng="0" ptsTypes="AA">
                                      <p:cBhvr>
                                        <p:cTn id="49" dur="700" spd="-100000" fill="hold"/>
                                        <p:tgtEl>
                                          <p:spTgt spid="14"/>
                                        </p:tgtEl>
                                        <p:attrNameLst>
                                          <p:attrName>ppt_x</p:attrName>
                                          <p:attrName>ppt_y</p:attrName>
                                        </p:attrNameLst>
                                      </p:cBhvr>
                                      <p:rCtr x="0" y="1759"/>
                                    </p:animMotion>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par>
                                <p:cTn id="55" presetID="42" presetClass="path" presetSubtype="0" decel="100000" fill="hold" nodeType="withEffect">
                                  <p:stCondLst>
                                    <p:cond delay="0"/>
                                  </p:stCondLst>
                                  <p:childTnLst>
                                    <p:animMotion origin="layout" path="M 0 -2.59259E-6 L 0 0.03542 " pathEditMode="relative" rAng="0" ptsTypes="AA">
                                      <p:cBhvr>
                                        <p:cTn id="56" dur="700" spd="-100000" fill="hold"/>
                                        <p:tgtEl>
                                          <p:spTgt spid="15"/>
                                        </p:tgtEl>
                                        <p:attrNameLst>
                                          <p:attrName>ppt_x</p:attrName>
                                          <p:attrName>ppt_y</p:attrName>
                                        </p:attrNameLst>
                                      </p:cBhvr>
                                      <p:rCtr x="0" y="1759"/>
                                    </p:animMotion>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42" presetClass="path" presetSubtype="0" decel="100000" fill="hold" grpId="1" nodeType="withEffect">
                                  <p:stCondLst>
                                    <p:cond delay="0"/>
                                  </p:stCondLst>
                                  <p:childTnLst>
                                    <p:animMotion origin="layout" path="M 0 -2.59259E-6 L 0 0.03542 " pathEditMode="relative" rAng="0" ptsTypes="AA">
                                      <p:cBhvr>
                                        <p:cTn id="61" dur="700" spd="-100000" fill="hold"/>
                                        <p:tgtEl>
                                          <p:spTgt spid="21"/>
                                        </p:tgtEl>
                                        <p:attrNameLst>
                                          <p:attrName>ppt_x</p:attrName>
                                          <p:attrName>ppt_y</p:attrName>
                                        </p:attrNameLst>
                                      </p:cBhvr>
                                      <p:rCtr x="0" y="1759"/>
                                    </p:animMotion>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42" presetClass="path" presetSubtype="0" decel="100000" fill="hold" grpId="1" nodeType="withEffect">
                                  <p:stCondLst>
                                    <p:cond delay="0"/>
                                  </p:stCondLst>
                                  <p:childTnLst>
                                    <p:animMotion origin="layout" path="M 0 -2.59259E-6 L 0 0.03542 " pathEditMode="relative" rAng="0" ptsTypes="AA">
                                      <p:cBhvr>
                                        <p:cTn id="66" dur="700" spd="-100000" fill="hold"/>
                                        <p:tgtEl>
                                          <p:spTgt spid="22"/>
                                        </p:tgtEl>
                                        <p:attrNameLst>
                                          <p:attrName>ppt_x</p:attrName>
                                          <p:attrName>ppt_y</p:attrName>
                                        </p:attrNameLst>
                                      </p:cBhvr>
                                      <p:rCtr x="0" y="1759"/>
                                    </p:animMotion>
                                  </p:childTnLst>
                                </p:cTn>
                              </p:par>
                              <p:par>
                                <p:cTn id="67" presetID="10" presetClass="entr" presetSubtype="0"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500"/>
                                        <p:tgtEl>
                                          <p:spTgt spid="20"/>
                                        </p:tgtEl>
                                      </p:cBhvr>
                                    </p:animEffect>
                                  </p:childTnLst>
                                </p:cTn>
                              </p:par>
                              <p:par>
                                <p:cTn id="70" presetID="42" presetClass="path" presetSubtype="0" decel="100000" fill="hold" grpId="1" nodeType="withEffect">
                                  <p:stCondLst>
                                    <p:cond delay="0"/>
                                  </p:stCondLst>
                                  <p:childTnLst>
                                    <p:animMotion origin="layout" path="M 0 -2.59259E-6 L 0 0.03542 " pathEditMode="relative" rAng="0" ptsTypes="AA">
                                      <p:cBhvr>
                                        <p:cTn id="71" dur="700" spd="-100000" fill="hold"/>
                                        <p:tgtEl>
                                          <p:spTgt spid="20"/>
                                        </p:tgtEl>
                                        <p:attrNameLst>
                                          <p:attrName>ppt_x</p:attrName>
                                          <p:attrName>ppt_y</p:attrName>
                                        </p:attrNameLst>
                                      </p:cBhvr>
                                      <p:rCtr x="0" y="1759"/>
                                    </p:animMotion>
                                  </p:childTnLst>
                                </p:cTn>
                              </p:par>
                              <p:par>
                                <p:cTn id="72" presetID="10" presetClass="entr" presetSubtype="0"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par>
                                <p:cTn id="75" presetID="42" presetClass="path" presetSubtype="0" decel="100000" fill="hold" grpId="1" nodeType="withEffect">
                                  <p:stCondLst>
                                    <p:cond delay="0"/>
                                  </p:stCondLst>
                                  <p:childTnLst>
                                    <p:animMotion origin="layout" path="M 0 -2.59259E-6 L 0 0.03542 " pathEditMode="relative" rAng="0" ptsTypes="AA">
                                      <p:cBhvr>
                                        <p:cTn id="76" dur="700" spd="-100000" fill="hold"/>
                                        <p:tgtEl>
                                          <p:spTgt spid="23"/>
                                        </p:tgtEl>
                                        <p:attrNameLst>
                                          <p:attrName>ppt_x</p:attrName>
                                          <p:attrName>ppt_y</p:attrName>
                                        </p:attrNameLst>
                                      </p:cBhvr>
                                      <p:rCtr x="0" y="1759"/>
                                    </p:animMotion>
                                  </p:childTnLst>
                                </p:cTn>
                              </p:par>
                              <p:par>
                                <p:cTn id="77" presetID="10" presetClass="entr" presetSubtype="0"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500"/>
                                        <p:tgtEl>
                                          <p:spTgt spid="25"/>
                                        </p:tgtEl>
                                      </p:cBhvr>
                                    </p:animEffect>
                                  </p:childTnLst>
                                </p:cTn>
                              </p:par>
                              <p:par>
                                <p:cTn id="80" presetID="42" presetClass="path" presetSubtype="0" decel="100000" fill="hold" grpId="1" nodeType="withEffect">
                                  <p:stCondLst>
                                    <p:cond delay="0"/>
                                  </p:stCondLst>
                                  <p:childTnLst>
                                    <p:animMotion origin="layout" path="M 0 -2.59259E-6 L 0 0.03542 " pathEditMode="relative" rAng="0" ptsTypes="AA">
                                      <p:cBhvr>
                                        <p:cTn id="81" dur="700" spd="-100000" fill="hold"/>
                                        <p:tgtEl>
                                          <p:spTgt spid="25"/>
                                        </p:tgtEl>
                                        <p:attrNameLst>
                                          <p:attrName>ppt_x</p:attrName>
                                          <p:attrName>ppt_y</p:attrName>
                                        </p:attrNameLst>
                                      </p:cBhvr>
                                      <p:rCtr x="0" y="1759"/>
                                    </p:animMotion>
                                  </p:childTnLst>
                                </p:cTn>
                              </p:par>
                              <p:par>
                                <p:cTn id="82" presetID="10" presetClass="entr" presetSubtype="0" fill="hold" grpId="0" nodeType="with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500"/>
                                        <p:tgtEl>
                                          <p:spTgt spid="26"/>
                                        </p:tgtEl>
                                      </p:cBhvr>
                                    </p:animEffect>
                                  </p:childTnLst>
                                </p:cTn>
                              </p:par>
                              <p:par>
                                <p:cTn id="85" presetID="42" presetClass="path" presetSubtype="0" decel="100000" fill="hold" grpId="1" nodeType="withEffect">
                                  <p:stCondLst>
                                    <p:cond delay="0"/>
                                  </p:stCondLst>
                                  <p:childTnLst>
                                    <p:animMotion origin="layout" path="M 0 -2.59259E-6 L 0 0.03542 " pathEditMode="relative" rAng="0" ptsTypes="AA">
                                      <p:cBhvr>
                                        <p:cTn id="86" dur="700" spd="-100000" fill="hold"/>
                                        <p:tgtEl>
                                          <p:spTgt spid="26"/>
                                        </p:tgtEl>
                                        <p:attrNameLst>
                                          <p:attrName>ppt_x</p:attrName>
                                          <p:attrName>ppt_y</p:attrName>
                                        </p:attrNameLst>
                                      </p:cBhvr>
                                      <p:rCtr x="0" y="1759"/>
                                    </p:animMotion>
                                  </p:childTnLst>
                                </p:cTn>
                              </p:par>
                              <p:par>
                                <p:cTn id="87" presetID="10" presetClass="entr" presetSubtype="0" fill="hold" grpId="0" nodeType="with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500"/>
                                        <p:tgtEl>
                                          <p:spTgt spid="24"/>
                                        </p:tgtEl>
                                      </p:cBhvr>
                                    </p:animEffect>
                                  </p:childTnLst>
                                </p:cTn>
                              </p:par>
                              <p:par>
                                <p:cTn id="90" presetID="42" presetClass="path" presetSubtype="0" decel="100000" fill="hold" grpId="1" nodeType="withEffect">
                                  <p:stCondLst>
                                    <p:cond delay="0"/>
                                  </p:stCondLst>
                                  <p:childTnLst>
                                    <p:animMotion origin="layout" path="M 0 -2.59259E-6 L 0 0.03542 " pathEditMode="relative" rAng="0" ptsTypes="AA">
                                      <p:cBhvr>
                                        <p:cTn id="91" dur="700" spd="-100000" fill="hold"/>
                                        <p:tgtEl>
                                          <p:spTgt spid="24"/>
                                        </p:tgtEl>
                                        <p:attrNameLst>
                                          <p:attrName>ppt_x</p:attrName>
                                          <p:attrName>ppt_y</p:attrName>
                                        </p:attrNameLst>
                                      </p:cBhvr>
                                      <p:rCtr x="0" y="1759"/>
                                    </p:animMotion>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27"/>
                                        </p:tgtEl>
                                        <p:attrNameLst>
                                          <p:attrName>style.visibility</p:attrName>
                                        </p:attrNameLst>
                                      </p:cBhvr>
                                      <p:to>
                                        <p:strVal val="visible"/>
                                      </p:to>
                                    </p:set>
                                    <p:animEffect transition="in" filter="fade">
                                      <p:cBhvr>
                                        <p:cTn id="96" dur="500"/>
                                        <p:tgtEl>
                                          <p:spTgt spid="27"/>
                                        </p:tgtEl>
                                      </p:cBhvr>
                                    </p:animEffect>
                                  </p:childTnLst>
                                </p:cTn>
                              </p:par>
                              <p:par>
                                <p:cTn id="97" presetID="42" presetClass="path" presetSubtype="0" decel="100000" fill="hold" nodeType="withEffect">
                                  <p:stCondLst>
                                    <p:cond delay="0"/>
                                  </p:stCondLst>
                                  <p:childTnLst>
                                    <p:animMotion origin="layout" path="M 0 -2.59259E-6 L 0 0.03542 " pathEditMode="relative" rAng="0" ptsTypes="AA">
                                      <p:cBhvr>
                                        <p:cTn id="98" dur="700" spd="-100000" fill="hold"/>
                                        <p:tgtEl>
                                          <p:spTgt spid="27"/>
                                        </p:tgtEl>
                                        <p:attrNameLst>
                                          <p:attrName>ppt_x</p:attrName>
                                          <p:attrName>ppt_y</p:attrName>
                                        </p:attrNameLst>
                                      </p:cBhvr>
                                      <p:rCtr x="0" y="1759"/>
                                    </p:animMotion>
                                  </p:childTnLst>
                                </p:cTn>
                              </p:par>
                              <p:par>
                                <p:cTn id="99" presetID="10" presetClass="entr" presetSubtype="0" fill="hold" grpId="0" nodeType="withEffect">
                                  <p:stCondLst>
                                    <p:cond delay="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500"/>
                                        <p:tgtEl>
                                          <p:spTgt spid="32"/>
                                        </p:tgtEl>
                                      </p:cBhvr>
                                    </p:animEffect>
                                  </p:childTnLst>
                                </p:cTn>
                              </p:par>
                              <p:par>
                                <p:cTn id="102" presetID="42" presetClass="path" presetSubtype="0" decel="100000" fill="hold" grpId="1" nodeType="withEffect">
                                  <p:stCondLst>
                                    <p:cond delay="0"/>
                                  </p:stCondLst>
                                  <p:childTnLst>
                                    <p:animMotion origin="layout" path="M 0 -2.59259E-6 L 0 0.03542 " pathEditMode="relative" rAng="0" ptsTypes="AA">
                                      <p:cBhvr>
                                        <p:cTn id="103" dur="700" spd="-100000" fill="hold"/>
                                        <p:tgtEl>
                                          <p:spTgt spid="32"/>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1" grpId="0" animBg="1"/>
      <p:bldP spid="21" grpId="1" animBg="1"/>
      <p:bldP spid="22" grpId="0"/>
      <p:bldP spid="22" grpId="1"/>
      <p:bldP spid="6" grpId="0" animBg="1"/>
      <p:bldP spid="6" grpId="1" animBg="1"/>
      <p:bldP spid="7" grpId="0" animBg="1"/>
      <p:bldP spid="7" grpId="1" animBg="1"/>
      <p:bldP spid="8" grpId="0"/>
      <p:bldP spid="8" grpId="1"/>
      <p:bldP spid="9" grpId="0"/>
      <p:bldP spid="9" grpId="1"/>
      <p:bldP spid="10" grpId="0"/>
      <p:bldP spid="10" grpId="1"/>
      <p:bldP spid="11" grpId="0"/>
      <p:bldP spid="11" grpId="1"/>
      <p:bldP spid="12" grpId="0"/>
      <p:bldP spid="12" grpId="1"/>
      <p:bldP spid="13" grpId="0"/>
      <p:bldP spid="13" grpId="1"/>
      <p:bldP spid="14" grpId="0"/>
      <p:bldP spid="14" grpId="1"/>
      <p:bldP spid="23" grpId="0"/>
      <p:bldP spid="23" grpId="1"/>
      <p:bldP spid="24" grpId="0" animBg="1"/>
      <p:bldP spid="24" grpId="1" animBg="1"/>
      <p:bldP spid="25" grpId="0" animBg="1"/>
      <p:bldP spid="25" grpId="1" animBg="1"/>
      <p:bldP spid="26" grpId="0"/>
      <p:bldP spid="26" grpId="1"/>
      <p:bldP spid="32" grpId="0"/>
      <p:bldP spid="32"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D3F6A-0B0D-F92E-510F-DA53CFD9BADE}"/>
              </a:ext>
            </a:extLst>
          </p:cNvPr>
          <p:cNvSpPr>
            <a:spLocks noGrp="1"/>
          </p:cNvSpPr>
          <p:nvPr>
            <p:ph type="title"/>
          </p:nvPr>
        </p:nvSpPr>
        <p:spPr/>
        <p:txBody>
          <a:bodyPr/>
          <a:lstStyle/>
          <a:p>
            <a:r>
              <a:rPr lang="en-US" dirty="0"/>
              <a:t>Agentic RAG Loop</a:t>
            </a:r>
          </a:p>
        </p:txBody>
      </p:sp>
      <p:sp>
        <p:nvSpPr>
          <p:cNvPr id="3" name="Arrow: Curved Up 2">
            <a:extLst>
              <a:ext uri="{FF2B5EF4-FFF2-40B4-BE49-F238E27FC236}">
                <a16:creationId xmlns:a16="http://schemas.microsoft.com/office/drawing/2014/main" id="{E6822339-8999-7E95-72C0-56099E8BC184}"/>
              </a:ext>
            </a:extLst>
          </p:cNvPr>
          <p:cNvSpPr/>
          <p:nvPr/>
        </p:nvSpPr>
        <p:spPr bwMode="auto">
          <a:xfrm>
            <a:off x="4087091" y="4343400"/>
            <a:ext cx="3290454" cy="1420091"/>
          </a:xfrm>
          <a:prstGeom prst="curvedUp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4" name="Arrow: Curved Up 3">
            <a:extLst>
              <a:ext uri="{FF2B5EF4-FFF2-40B4-BE49-F238E27FC236}">
                <a16:creationId xmlns:a16="http://schemas.microsoft.com/office/drawing/2014/main" id="{DFBC3848-46F2-5467-3F40-3A894AB17177}"/>
              </a:ext>
            </a:extLst>
          </p:cNvPr>
          <p:cNvSpPr/>
          <p:nvPr/>
        </p:nvSpPr>
        <p:spPr bwMode="auto">
          <a:xfrm rot="10800000">
            <a:off x="3927764" y="2265219"/>
            <a:ext cx="3290454" cy="1420091"/>
          </a:xfrm>
          <a:prstGeom prst="curvedUp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Rounded Rectangle 5">
            <a:extLst>
              <a:ext uri="{FF2B5EF4-FFF2-40B4-BE49-F238E27FC236}">
                <a16:creationId xmlns:a16="http://schemas.microsoft.com/office/drawing/2014/main" id="{15CEB29D-1D80-038C-E931-8CC4DF535742}"/>
              </a:ext>
              <a:ext uri="{C183D7F6-B498-43B3-948B-1728B52AA6E4}">
                <adec:decorative xmlns:adec="http://schemas.microsoft.com/office/drawing/2017/decorative" val="1"/>
              </a:ext>
            </a:extLst>
          </p:cNvPr>
          <p:cNvSpPr/>
          <p:nvPr/>
        </p:nvSpPr>
        <p:spPr bwMode="auto">
          <a:xfrm>
            <a:off x="7478597" y="1134158"/>
            <a:ext cx="1898415" cy="2123423"/>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6" name="Text Placeholder 5">
            <a:extLst>
              <a:ext uri="{FF2B5EF4-FFF2-40B4-BE49-F238E27FC236}">
                <a16:creationId xmlns:a16="http://schemas.microsoft.com/office/drawing/2014/main" id="{355E084C-446C-D88F-9C17-62325CCF65D9}"/>
              </a:ext>
            </a:extLst>
          </p:cNvPr>
          <p:cNvSpPr txBox="1">
            <a:spLocks/>
          </p:cNvSpPr>
          <p:nvPr/>
        </p:nvSpPr>
        <p:spPr>
          <a:xfrm>
            <a:off x="7788593" y="2282958"/>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latin typeface="+mj-lt"/>
                <a:cs typeface="Segoe UI Semilight"/>
              </a:rPr>
              <a:t>User</a:t>
            </a:r>
            <a:endParaRPr lang="en-US" sz="1800"/>
          </a:p>
          <a:p>
            <a:pPr marL="0" indent="0" algn="ctr" defTabSz="1865484">
              <a:buNone/>
              <a:defRPr/>
            </a:pPr>
            <a:r>
              <a:rPr lang="en-US" sz="1800">
                <a:latin typeface="+mj-lt"/>
                <a:cs typeface="Segoe UI Semilight"/>
              </a:rPr>
              <a:t>Question</a:t>
            </a:r>
            <a:endParaRPr lang="en-US" sz="1800">
              <a:cs typeface="Segoe UI Semilight"/>
            </a:endParaRPr>
          </a:p>
        </p:txBody>
      </p:sp>
      <p:sp>
        <p:nvSpPr>
          <p:cNvPr id="7" name="Graphic 31" descr="Person with chat bubble icon">
            <a:extLst>
              <a:ext uri="{FF2B5EF4-FFF2-40B4-BE49-F238E27FC236}">
                <a16:creationId xmlns:a16="http://schemas.microsoft.com/office/drawing/2014/main" id="{B80AD04C-B06C-2F9B-124C-000BC4BD4E39}"/>
              </a:ext>
            </a:extLst>
          </p:cNvPr>
          <p:cNvSpPr/>
          <p:nvPr/>
        </p:nvSpPr>
        <p:spPr>
          <a:xfrm>
            <a:off x="8097327" y="1461875"/>
            <a:ext cx="516344" cy="570744"/>
          </a:xfrm>
          <a:custGeom>
            <a:avLst/>
            <a:gdLst>
              <a:gd name="connsiteX0" fmla="*/ 190150 w 516344"/>
              <a:gd name="connsiteY0" fmla="*/ 421201 h 570744"/>
              <a:gd name="connsiteX1" fmla="*/ 217924 w 516344"/>
              <a:gd name="connsiteY1" fmla="*/ 326058 h 570744"/>
              <a:gd name="connsiteX2" fmla="*/ 61146 w 516344"/>
              <a:gd name="connsiteY2" fmla="*/ 326058 h 570744"/>
              <a:gd name="connsiteX3" fmla="*/ 0 w 516344"/>
              <a:gd name="connsiteY3" fmla="*/ 387204 h 570744"/>
              <a:gd name="connsiteX4" fmla="*/ 0 w 516344"/>
              <a:gd name="connsiteY4" fmla="*/ 412206 h 570744"/>
              <a:gd name="connsiteX5" fmla="*/ 13860 w 516344"/>
              <a:gd name="connsiteY5" fmla="*/ 455578 h 570744"/>
              <a:gd name="connsiteX6" fmla="*/ 192678 w 516344"/>
              <a:gd name="connsiteY6" fmla="*/ 542813 h 570744"/>
              <a:gd name="connsiteX7" fmla="*/ 206864 w 516344"/>
              <a:gd name="connsiteY7" fmla="*/ 496261 h 570744"/>
              <a:gd name="connsiteX8" fmla="*/ 190150 w 516344"/>
              <a:gd name="connsiteY8" fmla="*/ 421201 h 570744"/>
              <a:gd name="connsiteX9" fmla="*/ 217354 w 516344"/>
              <a:gd name="connsiteY9" fmla="*/ 0 h 570744"/>
              <a:gd name="connsiteX10" fmla="*/ 353261 w 516344"/>
              <a:gd name="connsiteY10" fmla="*/ 135907 h 570744"/>
              <a:gd name="connsiteX11" fmla="*/ 217354 w 516344"/>
              <a:gd name="connsiteY11" fmla="*/ 271814 h 570744"/>
              <a:gd name="connsiteX12" fmla="*/ 81446 w 516344"/>
              <a:gd name="connsiteY12" fmla="*/ 135907 h 570744"/>
              <a:gd name="connsiteX13" fmla="*/ 217354 w 516344"/>
              <a:gd name="connsiteY13" fmla="*/ 0 h 570744"/>
              <a:gd name="connsiteX14" fmla="*/ 516344 w 516344"/>
              <a:gd name="connsiteY14" fmla="*/ 421201 h 570744"/>
              <a:gd name="connsiteX15" fmla="*/ 366898 w 516344"/>
              <a:gd name="connsiteY15" fmla="*/ 570745 h 570744"/>
              <a:gd name="connsiteX16" fmla="*/ 294370 w 516344"/>
              <a:gd name="connsiteY16" fmla="*/ 551999 h 570744"/>
              <a:gd name="connsiteX17" fmla="*/ 234937 w 516344"/>
              <a:gd name="connsiteY17" fmla="*/ 570071 h 570744"/>
              <a:gd name="connsiteX18" fmla="*/ 217979 w 516344"/>
              <a:gd name="connsiteY18" fmla="*/ 561032 h 570744"/>
              <a:gd name="connsiteX19" fmla="*/ 217979 w 516344"/>
              <a:gd name="connsiteY19" fmla="*/ 553113 h 570744"/>
              <a:gd name="connsiteX20" fmla="*/ 236078 w 516344"/>
              <a:gd name="connsiteY20" fmla="*/ 493679 h 570744"/>
              <a:gd name="connsiteX21" fmla="*/ 294408 w 516344"/>
              <a:gd name="connsiteY21" fmla="*/ 290468 h 570744"/>
              <a:gd name="connsiteX22" fmla="*/ 497620 w 516344"/>
              <a:gd name="connsiteY22" fmla="*/ 348796 h 570744"/>
              <a:gd name="connsiteX23" fmla="*/ 516344 w 516344"/>
              <a:gd name="connsiteY23" fmla="*/ 421174 h 570744"/>
              <a:gd name="connsiteX24" fmla="*/ 312470 w 516344"/>
              <a:gd name="connsiteY24" fmla="*/ 380437 h 570744"/>
              <a:gd name="connsiteX25" fmla="*/ 298882 w 516344"/>
              <a:gd name="connsiteY25" fmla="*/ 394025 h 570744"/>
              <a:gd name="connsiteX26" fmla="*/ 312470 w 516344"/>
              <a:gd name="connsiteY26" fmla="*/ 407613 h 570744"/>
              <a:gd name="connsiteX27" fmla="*/ 421228 w 516344"/>
              <a:gd name="connsiteY27" fmla="*/ 407613 h 570744"/>
              <a:gd name="connsiteX28" fmla="*/ 434816 w 516344"/>
              <a:gd name="connsiteY28" fmla="*/ 394025 h 570744"/>
              <a:gd name="connsiteX29" fmla="*/ 421228 w 516344"/>
              <a:gd name="connsiteY29" fmla="*/ 380437 h 570744"/>
              <a:gd name="connsiteX30" fmla="*/ 312524 w 516344"/>
              <a:gd name="connsiteY30" fmla="*/ 380437 h 570744"/>
              <a:gd name="connsiteX31" fmla="*/ 298882 w 516344"/>
              <a:gd name="connsiteY31" fmla="*/ 448377 h 570744"/>
              <a:gd name="connsiteX32" fmla="*/ 312470 w 516344"/>
              <a:gd name="connsiteY32" fmla="*/ 461965 h 570744"/>
              <a:gd name="connsiteX33" fmla="*/ 366822 w 516344"/>
              <a:gd name="connsiteY33" fmla="*/ 461965 h 570744"/>
              <a:gd name="connsiteX34" fmla="*/ 380410 w 516344"/>
              <a:gd name="connsiteY34" fmla="*/ 448377 h 570744"/>
              <a:gd name="connsiteX35" fmla="*/ 366822 w 516344"/>
              <a:gd name="connsiteY35" fmla="*/ 434789 h 570744"/>
              <a:gd name="connsiteX36" fmla="*/ 312470 w 516344"/>
              <a:gd name="connsiteY36" fmla="*/ 434789 h 570744"/>
              <a:gd name="connsiteX37" fmla="*/ 298882 w 516344"/>
              <a:gd name="connsiteY37" fmla="*/ 448377 h 570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16344" h="570744">
                <a:moveTo>
                  <a:pt x="190150" y="421201"/>
                </a:moveTo>
                <a:cubicBezTo>
                  <a:pt x="190150" y="386144"/>
                  <a:pt x="200341" y="353533"/>
                  <a:pt x="217924" y="326058"/>
                </a:cubicBezTo>
                <a:lnTo>
                  <a:pt x="61146" y="326058"/>
                </a:lnTo>
                <a:cubicBezTo>
                  <a:pt x="27376" y="326058"/>
                  <a:pt x="0" y="353435"/>
                  <a:pt x="0" y="387204"/>
                </a:cubicBezTo>
                <a:lnTo>
                  <a:pt x="0" y="412206"/>
                </a:lnTo>
                <a:cubicBezTo>
                  <a:pt x="0" y="427750"/>
                  <a:pt x="4837" y="442914"/>
                  <a:pt x="13860" y="455578"/>
                </a:cubicBezTo>
                <a:cubicBezTo>
                  <a:pt x="51988" y="509061"/>
                  <a:pt x="112155" y="538030"/>
                  <a:pt x="192678" y="542813"/>
                </a:cubicBezTo>
                <a:lnTo>
                  <a:pt x="206864" y="496261"/>
                </a:lnTo>
                <a:cubicBezTo>
                  <a:pt x="195830" y="472778"/>
                  <a:pt x="190123" y="447146"/>
                  <a:pt x="190150" y="421201"/>
                </a:cubicBezTo>
                <a:close/>
                <a:moveTo>
                  <a:pt x="217354" y="0"/>
                </a:moveTo>
                <a:cubicBezTo>
                  <a:pt x="292414" y="0"/>
                  <a:pt x="353261" y="60848"/>
                  <a:pt x="353261" y="135907"/>
                </a:cubicBezTo>
                <a:cubicBezTo>
                  <a:pt x="353261" y="210967"/>
                  <a:pt x="292414" y="271814"/>
                  <a:pt x="217354" y="271814"/>
                </a:cubicBezTo>
                <a:cubicBezTo>
                  <a:pt x="142294" y="271814"/>
                  <a:pt x="81446" y="210967"/>
                  <a:pt x="81446" y="135907"/>
                </a:cubicBezTo>
                <a:cubicBezTo>
                  <a:pt x="81446" y="60848"/>
                  <a:pt x="142294" y="0"/>
                  <a:pt x="217354" y="0"/>
                </a:cubicBezTo>
                <a:close/>
                <a:moveTo>
                  <a:pt x="516344" y="421201"/>
                </a:moveTo>
                <a:cubicBezTo>
                  <a:pt x="516371" y="503764"/>
                  <a:pt x="449461" y="570718"/>
                  <a:pt x="366898" y="570745"/>
                </a:cubicBezTo>
                <a:cubicBezTo>
                  <a:pt x="341521" y="570753"/>
                  <a:pt x="316562" y="564302"/>
                  <a:pt x="294370" y="551999"/>
                </a:cubicBezTo>
                <a:lnTo>
                  <a:pt x="234937" y="570071"/>
                </a:lnTo>
                <a:cubicBezTo>
                  <a:pt x="227757" y="572259"/>
                  <a:pt x="220166" y="568212"/>
                  <a:pt x="217979" y="561032"/>
                </a:cubicBezTo>
                <a:cubicBezTo>
                  <a:pt x="217193" y="558451"/>
                  <a:pt x="217193" y="555695"/>
                  <a:pt x="217979" y="553113"/>
                </a:cubicBezTo>
                <a:lnTo>
                  <a:pt x="236078" y="493679"/>
                </a:lnTo>
                <a:cubicBezTo>
                  <a:pt x="196069" y="421456"/>
                  <a:pt x="222186" y="330476"/>
                  <a:pt x="294408" y="290468"/>
                </a:cubicBezTo>
                <a:cubicBezTo>
                  <a:pt x="366631" y="250459"/>
                  <a:pt x="457611" y="276573"/>
                  <a:pt x="497620" y="348796"/>
                </a:cubicBezTo>
                <a:cubicBezTo>
                  <a:pt x="509890" y="370947"/>
                  <a:pt x="516333" y="395851"/>
                  <a:pt x="516344" y="421174"/>
                </a:cubicBezTo>
                <a:close/>
                <a:moveTo>
                  <a:pt x="312470" y="380437"/>
                </a:moveTo>
                <a:cubicBezTo>
                  <a:pt x="304966" y="380437"/>
                  <a:pt x="298882" y="386522"/>
                  <a:pt x="298882" y="394025"/>
                </a:cubicBezTo>
                <a:cubicBezTo>
                  <a:pt x="298882" y="401528"/>
                  <a:pt x="304966" y="407613"/>
                  <a:pt x="312470" y="407613"/>
                </a:cubicBezTo>
                <a:lnTo>
                  <a:pt x="421228" y="407613"/>
                </a:lnTo>
                <a:cubicBezTo>
                  <a:pt x="428731" y="407613"/>
                  <a:pt x="434816" y="401528"/>
                  <a:pt x="434816" y="394025"/>
                </a:cubicBezTo>
                <a:cubicBezTo>
                  <a:pt x="434816" y="386522"/>
                  <a:pt x="428731" y="380437"/>
                  <a:pt x="421228" y="380437"/>
                </a:cubicBezTo>
                <a:lnTo>
                  <a:pt x="312524" y="380437"/>
                </a:lnTo>
                <a:close/>
                <a:moveTo>
                  <a:pt x="298882" y="448377"/>
                </a:moveTo>
                <a:cubicBezTo>
                  <a:pt x="298882" y="455880"/>
                  <a:pt x="304966" y="461965"/>
                  <a:pt x="312470" y="461965"/>
                </a:cubicBezTo>
                <a:lnTo>
                  <a:pt x="366822" y="461965"/>
                </a:lnTo>
                <a:cubicBezTo>
                  <a:pt x="374325" y="461965"/>
                  <a:pt x="380410" y="455880"/>
                  <a:pt x="380410" y="448377"/>
                </a:cubicBezTo>
                <a:cubicBezTo>
                  <a:pt x="380410" y="440874"/>
                  <a:pt x="374325" y="434789"/>
                  <a:pt x="366822" y="434789"/>
                </a:cubicBezTo>
                <a:lnTo>
                  <a:pt x="312470" y="434789"/>
                </a:lnTo>
                <a:cubicBezTo>
                  <a:pt x="304966" y="434789"/>
                  <a:pt x="298882" y="440874"/>
                  <a:pt x="298882" y="448377"/>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8" name="Rounded Rectangle 5">
            <a:extLst>
              <a:ext uri="{FF2B5EF4-FFF2-40B4-BE49-F238E27FC236}">
                <a16:creationId xmlns:a16="http://schemas.microsoft.com/office/drawing/2014/main" id="{4E9F56F2-4F41-1E68-BC8A-C0D928EC7AA1}"/>
              </a:ext>
              <a:ext uri="{C183D7F6-B498-43B3-948B-1728B52AA6E4}">
                <adec:decorative xmlns:adec="http://schemas.microsoft.com/office/drawing/2017/decorative" val="1"/>
              </a:ext>
            </a:extLst>
          </p:cNvPr>
          <p:cNvSpPr/>
          <p:nvPr/>
        </p:nvSpPr>
        <p:spPr bwMode="auto">
          <a:xfrm>
            <a:off x="2514470" y="1134158"/>
            <a:ext cx="1506115" cy="2123423"/>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9" name="Graphic 29" descr="Database with magnifying glass icon">
            <a:extLst>
              <a:ext uri="{FF2B5EF4-FFF2-40B4-BE49-F238E27FC236}">
                <a16:creationId xmlns:a16="http://schemas.microsoft.com/office/drawing/2014/main" id="{2377B83B-7852-BE9F-A5D9-726A0B692054}"/>
              </a:ext>
            </a:extLst>
          </p:cNvPr>
          <p:cNvSpPr/>
          <p:nvPr/>
        </p:nvSpPr>
        <p:spPr>
          <a:xfrm>
            <a:off x="3122948" y="1517945"/>
            <a:ext cx="516852" cy="571204"/>
          </a:xfrm>
          <a:custGeom>
            <a:avLst/>
            <a:gdLst>
              <a:gd name="connsiteX0" fmla="*/ 217408 w 516852"/>
              <a:gd name="connsiteY0" fmla="*/ 217408 h 571204"/>
              <a:gd name="connsiteX1" fmla="*/ 434816 w 516852"/>
              <a:gd name="connsiteY1" fmla="*/ 108704 h 571204"/>
              <a:gd name="connsiteX2" fmla="*/ 217408 w 516852"/>
              <a:gd name="connsiteY2" fmla="*/ 0 h 571204"/>
              <a:gd name="connsiteX3" fmla="*/ 0 w 516852"/>
              <a:gd name="connsiteY3" fmla="*/ 108704 h 571204"/>
              <a:gd name="connsiteX4" fmla="*/ 217408 w 516852"/>
              <a:gd name="connsiteY4" fmla="*/ 217408 h 571204"/>
              <a:gd name="connsiteX5" fmla="*/ 389378 w 516852"/>
              <a:gd name="connsiteY5" fmla="*/ 222028 h 571204"/>
              <a:gd name="connsiteX6" fmla="*/ 434816 w 516852"/>
              <a:gd name="connsiteY6" fmla="*/ 191672 h 571204"/>
              <a:gd name="connsiteX7" fmla="*/ 434816 w 516852"/>
              <a:gd name="connsiteY7" fmla="*/ 278744 h 571204"/>
              <a:gd name="connsiteX8" fmla="*/ 325568 w 516852"/>
              <a:gd name="connsiteY8" fmla="*/ 245236 h 571204"/>
              <a:gd name="connsiteX9" fmla="*/ 389378 w 516852"/>
              <a:gd name="connsiteY9" fmla="*/ 222028 h 571204"/>
              <a:gd name="connsiteX10" fmla="*/ 190232 w 516852"/>
              <a:gd name="connsiteY10" fmla="*/ 394052 h 571204"/>
              <a:gd name="connsiteX11" fmla="*/ 294343 w 516852"/>
              <a:gd name="connsiteY11" fmla="*/ 536509 h 571204"/>
              <a:gd name="connsiteX12" fmla="*/ 217408 w 516852"/>
              <a:gd name="connsiteY12" fmla="*/ 543520 h 571204"/>
              <a:gd name="connsiteX13" fmla="*/ 0 w 516852"/>
              <a:gd name="connsiteY13" fmla="*/ 434816 h 571204"/>
              <a:gd name="connsiteX14" fmla="*/ 0 w 516852"/>
              <a:gd name="connsiteY14" fmla="*/ 191672 h 571204"/>
              <a:gd name="connsiteX15" fmla="*/ 45438 w 516852"/>
              <a:gd name="connsiteY15" fmla="*/ 222028 h 571204"/>
              <a:gd name="connsiteX16" fmla="*/ 217408 w 516852"/>
              <a:gd name="connsiteY16" fmla="*/ 258172 h 571204"/>
              <a:gd name="connsiteX17" fmla="*/ 292876 w 516852"/>
              <a:gd name="connsiteY17" fmla="*/ 252057 h 571204"/>
              <a:gd name="connsiteX18" fmla="*/ 190232 w 516852"/>
              <a:gd name="connsiteY18" fmla="*/ 394052 h 571204"/>
              <a:gd name="connsiteX19" fmla="*/ 339700 w 516852"/>
              <a:gd name="connsiteY19" fmla="*/ 516344 h 571204"/>
              <a:gd name="connsiteX20" fmla="*/ 410548 w 516852"/>
              <a:gd name="connsiteY20" fmla="*/ 493734 h 571204"/>
              <a:gd name="connsiteX21" fmla="*/ 481559 w 516852"/>
              <a:gd name="connsiteY21" fmla="*/ 564717 h 571204"/>
              <a:gd name="connsiteX22" fmla="*/ 510365 w 516852"/>
              <a:gd name="connsiteY22" fmla="*/ 565734 h 571204"/>
              <a:gd name="connsiteX23" fmla="*/ 511382 w 516852"/>
              <a:gd name="connsiteY23" fmla="*/ 536927 h 571204"/>
              <a:gd name="connsiteX24" fmla="*/ 510365 w 516852"/>
              <a:gd name="connsiteY24" fmla="*/ 535911 h 571204"/>
              <a:gd name="connsiteX25" fmla="*/ 439382 w 516852"/>
              <a:gd name="connsiteY25" fmla="*/ 464900 h 571204"/>
              <a:gd name="connsiteX26" fmla="*/ 410551 w 516852"/>
              <a:gd name="connsiteY26" fmla="*/ 294373 h 571204"/>
              <a:gd name="connsiteX27" fmla="*/ 240024 w 516852"/>
              <a:gd name="connsiteY27" fmla="*/ 323204 h 571204"/>
              <a:gd name="connsiteX28" fmla="*/ 268855 w 516852"/>
              <a:gd name="connsiteY28" fmla="*/ 493731 h 571204"/>
              <a:gd name="connsiteX29" fmla="*/ 339700 w 516852"/>
              <a:gd name="connsiteY29" fmla="*/ 516344 h 571204"/>
              <a:gd name="connsiteX30" fmla="*/ 339700 w 516852"/>
              <a:gd name="connsiteY30" fmla="*/ 475580 h 571204"/>
              <a:gd name="connsiteX31" fmla="*/ 258172 w 516852"/>
              <a:gd name="connsiteY31" fmla="*/ 394052 h 571204"/>
              <a:gd name="connsiteX32" fmla="*/ 339700 w 516852"/>
              <a:gd name="connsiteY32" fmla="*/ 312524 h 571204"/>
              <a:gd name="connsiteX33" fmla="*/ 421228 w 516852"/>
              <a:gd name="connsiteY33" fmla="*/ 394052 h 571204"/>
              <a:gd name="connsiteX34" fmla="*/ 339700 w 516852"/>
              <a:gd name="connsiteY34" fmla="*/ 475580 h 571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16852" h="571204">
                <a:moveTo>
                  <a:pt x="217408" y="217408"/>
                </a:moveTo>
                <a:cubicBezTo>
                  <a:pt x="337472" y="217408"/>
                  <a:pt x="434816" y="168763"/>
                  <a:pt x="434816" y="108704"/>
                </a:cubicBezTo>
                <a:cubicBezTo>
                  <a:pt x="434816" y="48645"/>
                  <a:pt x="337472" y="0"/>
                  <a:pt x="217408" y="0"/>
                </a:cubicBezTo>
                <a:cubicBezTo>
                  <a:pt x="97344" y="0"/>
                  <a:pt x="0" y="48645"/>
                  <a:pt x="0" y="108704"/>
                </a:cubicBezTo>
                <a:cubicBezTo>
                  <a:pt x="0" y="168763"/>
                  <a:pt x="97344" y="217408"/>
                  <a:pt x="217408" y="217408"/>
                </a:cubicBezTo>
                <a:close/>
                <a:moveTo>
                  <a:pt x="389378" y="222028"/>
                </a:moveTo>
                <a:cubicBezTo>
                  <a:pt x="405800" y="213964"/>
                  <a:pt x="421079" y="203756"/>
                  <a:pt x="434816" y="191672"/>
                </a:cubicBezTo>
                <a:lnTo>
                  <a:pt x="434816" y="278744"/>
                </a:lnTo>
                <a:cubicBezTo>
                  <a:pt x="404308" y="253484"/>
                  <a:pt x="364993" y="241426"/>
                  <a:pt x="325568" y="245236"/>
                </a:cubicBezTo>
                <a:cubicBezTo>
                  <a:pt x="347605" y="239804"/>
                  <a:pt x="368998" y="232023"/>
                  <a:pt x="389378" y="222028"/>
                </a:cubicBezTo>
                <a:close/>
                <a:moveTo>
                  <a:pt x="190232" y="394052"/>
                </a:moveTo>
                <a:cubicBezTo>
                  <a:pt x="190232" y="459136"/>
                  <a:pt x="232333" y="516744"/>
                  <a:pt x="294343" y="536509"/>
                </a:cubicBezTo>
                <a:cubicBezTo>
                  <a:pt x="270428" y="541047"/>
                  <a:pt x="244502" y="543520"/>
                  <a:pt x="217408" y="543520"/>
                </a:cubicBezTo>
                <a:cubicBezTo>
                  <a:pt x="97344" y="543520"/>
                  <a:pt x="0" y="494875"/>
                  <a:pt x="0" y="434816"/>
                </a:cubicBezTo>
                <a:lnTo>
                  <a:pt x="0" y="191672"/>
                </a:lnTo>
                <a:cubicBezTo>
                  <a:pt x="13737" y="203756"/>
                  <a:pt x="29016" y="213964"/>
                  <a:pt x="45438" y="222028"/>
                </a:cubicBezTo>
                <a:cubicBezTo>
                  <a:pt x="91583" y="245073"/>
                  <a:pt x="152403" y="258172"/>
                  <a:pt x="217408" y="258172"/>
                </a:cubicBezTo>
                <a:cubicBezTo>
                  <a:pt x="243443" y="258172"/>
                  <a:pt x="268825" y="256079"/>
                  <a:pt x="292876" y="252057"/>
                </a:cubicBezTo>
                <a:cubicBezTo>
                  <a:pt x="231610" y="272285"/>
                  <a:pt x="190227" y="329531"/>
                  <a:pt x="190232" y="394052"/>
                </a:cubicBezTo>
                <a:close/>
                <a:moveTo>
                  <a:pt x="339700" y="516344"/>
                </a:moveTo>
                <a:cubicBezTo>
                  <a:pt x="365096" y="516382"/>
                  <a:pt x="389867" y="508474"/>
                  <a:pt x="410548" y="493734"/>
                </a:cubicBezTo>
                <a:lnTo>
                  <a:pt x="481559" y="564717"/>
                </a:lnTo>
                <a:cubicBezTo>
                  <a:pt x="489233" y="572952"/>
                  <a:pt x="502131" y="573408"/>
                  <a:pt x="510365" y="565734"/>
                </a:cubicBezTo>
                <a:cubicBezTo>
                  <a:pt x="518600" y="558059"/>
                  <a:pt x="519056" y="545164"/>
                  <a:pt x="511382" y="536927"/>
                </a:cubicBezTo>
                <a:cubicBezTo>
                  <a:pt x="511056" y="536577"/>
                  <a:pt x="510716" y="536237"/>
                  <a:pt x="510365" y="535911"/>
                </a:cubicBezTo>
                <a:lnTo>
                  <a:pt x="439382" y="464900"/>
                </a:lnTo>
                <a:cubicBezTo>
                  <a:pt x="478510" y="409849"/>
                  <a:pt x="465601" y="333501"/>
                  <a:pt x="410551" y="294373"/>
                </a:cubicBezTo>
                <a:cubicBezTo>
                  <a:pt x="355500" y="255245"/>
                  <a:pt x="279152" y="268154"/>
                  <a:pt x="240024" y="323204"/>
                </a:cubicBezTo>
                <a:cubicBezTo>
                  <a:pt x="200896" y="378255"/>
                  <a:pt x="213804" y="454603"/>
                  <a:pt x="268855" y="493731"/>
                </a:cubicBezTo>
                <a:cubicBezTo>
                  <a:pt x="289549" y="508441"/>
                  <a:pt x="314309" y="516344"/>
                  <a:pt x="339700" y="516344"/>
                </a:cubicBezTo>
                <a:close/>
                <a:moveTo>
                  <a:pt x="339700" y="475580"/>
                </a:moveTo>
                <a:cubicBezTo>
                  <a:pt x="294672" y="475580"/>
                  <a:pt x="258172" y="439080"/>
                  <a:pt x="258172" y="394052"/>
                </a:cubicBezTo>
                <a:cubicBezTo>
                  <a:pt x="258172" y="349024"/>
                  <a:pt x="294672" y="312524"/>
                  <a:pt x="339700" y="312524"/>
                </a:cubicBezTo>
                <a:cubicBezTo>
                  <a:pt x="384728" y="312524"/>
                  <a:pt x="421228" y="349024"/>
                  <a:pt x="421228" y="394052"/>
                </a:cubicBezTo>
                <a:cubicBezTo>
                  <a:pt x="421228" y="439080"/>
                  <a:pt x="384728" y="475580"/>
                  <a:pt x="339700" y="475580"/>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10" name="Text Placeholder 5">
            <a:extLst>
              <a:ext uri="{FF2B5EF4-FFF2-40B4-BE49-F238E27FC236}">
                <a16:creationId xmlns:a16="http://schemas.microsoft.com/office/drawing/2014/main" id="{B5E4F06E-AE68-0268-C2C0-AD1FE24DD47A}"/>
              </a:ext>
            </a:extLst>
          </p:cNvPr>
          <p:cNvSpPr txBox="1">
            <a:spLocks/>
          </p:cNvSpPr>
          <p:nvPr/>
        </p:nvSpPr>
        <p:spPr>
          <a:xfrm>
            <a:off x="2649342" y="2294197"/>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latin typeface="+mj-lt"/>
                <a:cs typeface="Segoe UI Semilight"/>
              </a:rPr>
              <a:t>Search</a:t>
            </a:r>
            <a:endParaRPr lang="en-US" sz="1800" dirty="0">
              <a:cs typeface="Segoe UI Semilight"/>
            </a:endParaRPr>
          </a:p>
        </p:txBody>
      </p:sp>
      <p:sp>
        <p:nvSpPr>
          <p:cNvPr id="11" name="Rounded Rectangle 5">
            <a:extLst>
              <a:ext uri="{FF2B5EF4-FFF2-40B4-BE49-F238E27FC236}">
                <a16:creationId xmlns:a16="http://schemas.microsoft.com/office/drawing/2014/main" id="{58207C89-0BA2-671E-4C3C-5E8A04DB975C}"/>
              </a:ext>
              <a:ext uri="{C183D7F6-B498-43B3-948B-1728B52AA6E4}">
                <adec:decorative xmlns:adec="http://schemas.microsoft.com/office/drawing/2017/decorative" val="1"/>
              </a:ext>
            </a:extLst>
          </p:cNvPr>
          <p:cNvSpPr/>
          <p:nvPr/>
        </p:nvSpPr>
        <p:spPr bwMode="auto">
          <a:xfrm>
            <a:off x="2421649" y="4438402"/>
            <a:ext cx="1506115" cy="2123423"/>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13" name="Text Placeholder 5">
            <a:extLst>
              <a:ext uri="{FF2B5EF4-FFF2-40B4-BE49-F238E27FC236}">
                <a16:creationId xmlns:a16="http://schemas.microsoft.com/office/drawing/2014/main" id="{A0DC1BB7-5C56-9EFD-CA10-1CD4F7CE90CD}"/>
              </a:ext>
            </a:extLst>
          </p:cNvPr>
          <p:cNvSpPr txBox="1">
            <a:spLocks/>
          </p:cNvSpPr>
          <p:nvPr/>
        </p:nvSpPr>
        <p:spPr>
          <a:xfrm>
            <a:off x="2556521" y="5598441"/>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latin typeface="+mj-lt"/>
                <a:cs typeface="Segoe UI Semilight"/>
              </a:rPr>
              <a:t>Generate Candidate Answer</a:t>
            </a:r>
            <a:endParaRPr lang="en-US" sz="1800" dirty="0">
              <a:cs typeface="Segoe UI Semilight"/>
            </a:endParaRPr>
          </a:p>
        </p:txBody>
      </p:sp>
      <p:sp>
        <p:nvSpPr>
          <p:cNvPr id="14" name="Graphic 22" descr="Large Language Model icon">
            <a:extLst>
              <a:ext uri="{FF2B5EF4-FFF2-40B4-BE49-F238E27FC236}">
                <a16:creationId xmlns:a16="http://schemas.microsoft.com/office/drawing/2014/main" id="{CC239302-55F4-FFCD-3859-C28E292D63AA}"/>
              </a:ext>
            </a:extLst>
          </p:cNvPr>
          <p:cNvSpPr/>
          <p:nvPr/>
        </p:nvSpPr>
        <p:spPr>
          <a:xfrm>
            <a:off x="2813798" y="4609930"/>
            <a:ext cx="795753" cy="796201"/>
          </a:xfrm>
          <a:custGeom>
            <a:avLst/>
            <a:gdLst>
              <a:gd name="connsiteX0" fmla="*/ 461978 w 543510"/>
              <a:gd name="connsiteY0" fmla="*/ 67910 h 543815"/>
              <a:gd name="connsiteX1" fmla="*/ 394065 w 543510"/>
              <a:gd name="connsiteY1" fmla="*/ 135877 h 543815"/>
              <a:gd name="connsiteX2" fmla="*/ 380124 w 543510"/>
              <a:gd name="connsiteY2" fmla="*/ 134437 h 543815"/>
              <a:gd name="connsiteX3" fmla="*/ 345338 w 543510"/>
              <a:gd name="connsiteY3" fmla="*/ 191995 h 543815"/>
              <a:gd name="connsiteX4" fmla="*/ 380450 w 543510"/>
              <a:gd name="connsiteY4" fmla="*/ 271974 h 543815"/>
              <a:gd name="connsiteX5" fmla="*/ 380450 w 543510"/>
              <a:gd name="connsiteY5" fmla="*/ 273551 h 543815"/>
              <a:gd name="connsiteX6" fmla="*/ 415670 w 543510"/>
              <a:gd name="connsiteY6" fmla="*/ 280644 h 543815"/>
              <a:gd name="connsiteX7" fmla="*/ 507639 w 543510"/>
              <a:gd name="connsiteY7" fmla="*/ 252837 h 543815"/>
              <a:gd name="connsiteX8" fmla="*/ 535445 w 543510"/>
              <a:gd name="connsiteY8" fmla="*/ 344809 h 543815"/>
              <a:gd name="connsiteX9" fmla="*/ 443476 w 543510"/>
              <a:gd name="connsiteY9" fmla="*/ 372613 h 543815"/>
              <a:gd name="connsiteX10" fmla="*/ 408088 w 543510"/>
              <a:gd name="connsiteY10" fmla="*/ 320701 h 543815"/>
              <a:gd name="connsiteX11" fmla="*/ 372215 w 543510"/>
              <a:gd name="connsiteY11" fmla="*/ 313499 h 543815"/>
              <a:gd name="connsiteX12" fmla="*/ 324875 w 543510"/>
              <a:gd name="connsiteY12" fmla="*/ 366846 h 543815"/>
              <a:gd name="connsiteX13" fmla="*/ 338327 w 543510"/>
              <a:gd name="connsiteY13" fmla="*/ 407936 h 543815"/>
              <a:gd name="connsiteX14" fmla="*/ 339686 w 543510"/>
              <a:gd name="connsiteY14" fmla="*/ 407936 h 543815"/>
              <a:gd name="connsiteX15" fmla="*/ 407577 w 543510"/>
              <a:gd name="connsiteY15" fmla="*/ 475925 h 543815"/>
              <a:gd name="connsiteX16" fmla="*/ 339588 w 543510"/>
              <a:gd name="connsiteY16" fmla="*/ 543816 h 543815"/>
              <a:gd name="connsiteX17" fmla="*/ 271697 w 543510"/>
              <a:gd name="connsiteY17" fmla="*/ 475827 h 543815"/>
              <a:gd name="connsiteX18" fmla="*/ 299683 w 543510"/>
              <a:gd name="connsiteY18" fmla="*/ 420926 h 543815"/>
              <a:gd name="connsiteX19" fmla="*/ 286203 w 543510"/>
              <a:gd name="connsiteY19" fmla="*/ 379727 h 543815"/>
              <a:gd name="connsiteX20" fmla="*/ 184239 w 543510"/>
              <a:gd name="connsiteY20" fmla="*/ 336436 h 543815"/>
              <a:gd name="connsiteX21" fmla="*/ 135458 w 543510"/>
              <a:gd name="connsiteY21" fmla="*/ 359481 h 543815"/>
              <a:gd name="connsiteX22" fmla="*/ 75560 w 543510"/>
              <a:gd name="connsiteY22" fmla="*/ 434606 h 543815"/>
              <a:gd name="connsiteX23" fmla="*/ 434 w 543510"/>
              <a:gd name="connsiteY23" fmla="*/ 374711 h 543815"/>
              <a:gd name="connsiteX24" fmla="*/ 60332 w 543510"/>
              <a:gd name="connsiteY24" fmla="*/ 299582 h 543815"/>
              <a:gd name="connsiteX25" fmla="*/ 118935 w 543510"/>
              <a:gd name="connsiteY25" fmla="*/ 322196 h 543815"/>
              <a:gd name="connsiteX26" fmla="*/ 166602 w 543510"/>
              <a:gd name="connsiteY26" fmla="*/ 299694 h 543815"/>
              <a:gd name="connsiteX27" fmla="*/ 187908 w 543510"/>
              <a:gd name="connsiteY27" fmla="*/ 202757 h 543815"/>
              <a:gd name="connsiteX28" fmla="*/ 160976 w 543510"/>
              <a:gd name="connsiteY28" fmla="*/ 172048 h 543815"/>
              <a:gd name="connsiteX29" fmla="*/ 72738 w 543510"/>
              <a:gd name="connsiteY29" fmla="*/ 134026 h 543815"/>
              <a:gd name="connsiteX30" fmla="*/ 110761 w 543510"/>
              <a:gd name="connsiteY30" fmla="*/ 45788 h 543815"/>
              <a:gd name="connsiteX31" fmla="*/ 198999 w 543510"/>
              <a:gd name="connsiteY31" fmla="*/ 83810 h 543815"/>
              <a:gd name="connsiteX32" fmla="*/ 192609 w 543510"/>
              <a:gd name="connsiteY32" fmla="*/ 146285 h 543815"/>
              <a:gd name="connsiteX33" fmla="*/ 219323 w 543510"/>
              <a:gd name="connsiteY33" fmla="*/ 176722 h 543815"/>
              <a:gd name="connsiteX34" fmla="*/ 271746 w 543510"/>
              <a:gd name="connsiteY34" fmla="*/ 163270 h 543815"/>
              <a:gd name="connsiteX35" fmla="*/ 310716 w 543510"/>
              <a:gd name="connsiteY35" fmla="*/ 170472 h 543815"/>
              <a:gd name="connsiteX36" fmla="*/ 344550 w 543510"/>
              <a:gd name="connsiteY36" fmla="*/ 114489 h 543815"/>
              <a:gd name="connsiteX37" fmla="*/ 347488 w 543510"/>
              <a:gd name="connsiteY37" fmla="*/ 18453 h 543815"/>
              <a:gd name="connsiteX38" fmla="*/ 443525 w 543510"/>
              <a:gd name="connsiteY38" fmla="*/ 21391 h 543815"/>
              <a:gd name="connsiteX39" fmla="*/ 461978 w 543510"/>
              <a:gd name="connsiteY39" fmla="*/ 67937 h 54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43510" h="543815">
                <a:moveTo>
                  <a:pt x="461978" y="67910"/>
                </a:moveTo>
                <a:cubicBezTo>
                  <a:pt x="461991" y="105432"/>
                  <a:pt x="431587" y="135862"/>
                  <a:pt x="394065" y="135877"/>
                </a:cubicBezTo>
                <a:cubicBezTo>
                  <a:pt x="389380" y="135879"/>
                  <a:pt x="384708" y="135396"/>
                  <a:pt x="380124" y="134437"/>
                </a:cubicBezTo>
                <a:lnTo>
                  <a:pt x="345338" y="191995"/>
                </a:lnTo>
                <a:cubicBezTo>
                  <a:pt x="367737" y="212554"/>
                  <a:pt x="380477" y="241573"/>
                  <a:pt x="380450" y="271974"/>
                </a:cubicBezTo>
                <a:lnTo>
                  <a:pt x="380450" y="273551"/>
                </a:lnTo>
                <a:lnTo>
                  <a:pt x="415670" y="280644"/>
                </a:lnTo>
                <a:cubicBezTo>
                  <a:pt x="433389" y="247568"/>
                  <a:pt x="474566" y="235118"/>
                  <a:pt x="507639" y="252837"/>
                </a:cubicBezTo>
                <a:cubicBezTo>
                  <a:pt x="540715" y="270556"/>
                  <a:pt x="553164" y="311733"/>
                  <a:pt x="535445" y="344809"/>
                </a:cubicBezTo>
                <a:cubicBezTo>
                  <a:pt x="517727" y="377882"/>
                  <a:pt x="476552" y="390331"/>
                  <a:pt x="443476" y="372613"/>
                </a:cubicBezTo>
                <a:cubicBezTo>
                  <a:pt x="423907" y="362131"/>
                  <a:pt x="410694" y="342749"/>
                  <a:pt x="408088" y="320701"/>
                </a:cubicBezTo>
                <a:lnTo>
                  <a:pt x="372215" y="313499"/>
                </a:lnTo>
                <a:cubicBezTo>
                  <a:pt x="362856" y="336083"/>
                  <a:pt x="346186" y="354869"/>
                  <a:pt x="324875" y="366846"/>
                </a:cubicBezTo>
                <a:lnTo>
                  <a:pt x="338327" y="407936"/>
                </a:lnTo>
                <a:lnTo>
                  <a:pt x="339686" y="407936"/>
                </a:lnTo>
                <a:cubicBezTo>
                  <a:pt x="377208" y="407963"/>
                  <a:pt x="407604" y="438403"/>
                  <a:pt x="407577" y="475925"/>
                </a:cubicBezTo>
                <a:cubicBezTo>
                  <a:pt x="407550" y="513447"/>
                  <a:pt x="377110" y="543843"/>
                  <a:pt x="339588" y="543816"/>
                </a:cubicBezTo>
                <a:cubicBezTo>
                  <a:pt x="302066" y="543789"/>
                  <a:pt x="271670" y="513349"/>
                  <a:pt x="271697" y="475827"/>
                </a:cubicBezTo>
                <a:cubicBezTo>
                  <a:pt x="271713" y="454105"/>
                  <a:pt x="282113" y="433701"/>
                  <a:pt x="299683" y="420926"/>
                </a:cubicBezTo>
                <a:lnTo>
                  <a:pt x="286203" y="379727"/>
                </a:lnTo>
                <a:cubicBezTo>
                  <a:pt x="246855" y="385032"/>
                  <a:pt x="207751" y="368430"/>
                  <a:pt x="184239" y="336436"/>
                </a:cubicBezTo>
                <a:lnTo>
                  <a:pt x="135458" y="359481"/>
                </a:lnTo>
                <a:cubicBezTo>
                  <a:pt x="139663" y="396767"/>
                  <a:pt x="112846" y="430402"/>
                  <a:pt x="75560" y="434606"/>
                </a:cubicBezTo>
                <a:cubicBezTo>
                  <a:pt x="38274" y="438813"/>
                  <a:pt x="4639" y="411996"/>
                  <a:pt x="434" y="374711"/>
                </a:cubicBezTo>
                <a:cubicBezTo>
                  <a:pt x="-3771" y="337422"/>
                  <a:pt x="23046" y="303789"/>
                  <a:pt x="60332" y="299582"/>
                </a:cubicBezTo>
                <a:cubicBezTo>
                  <a:pt x="82387" y="297096"/>
                  <a:pt x="104267" y="305539"/>
                  <a:pt x="118935" y="322196"/>
                </a:cubicBezTo>
                <a:lnTo>
                  <a:pt x="166602" y="299694"/>
                </a:lnTo>
                <a:cubicBezTo>
                  <a:pt x="157705" y="265835"/>
                  <a:pt x="165633" y="229765"/>
                  <a:pt x="187908" y="202757"/>
                </a:cubicBezTo>
                <a:lnTo>
                  <a:pt x="160976" y="172048"/>
                </a:lnTo>
                <a:cubicBezTo>
                  <a:pt x="126110" y="185915"/>
                  <a:pt x="86605" y="168892"/>
                  <a:pt x="72738" y="134026"/>
                </a:cubicBezTo>
                <a:cubicBezTo>
                  <a:pt x="58872" y="99160"/>
                  <a:pt x="75895" y="59654"/>
                  <a:pt x="110761" y="45788"/>
                </a:cubicBezTo>
                <a:cubicBezTo>
                  <a:pt x="145627" y="31921"/>
                  <a:pt x="185132" y="48944"/>
                  <a:pt x="198999" y="83810"/>
                </a:cubicBezTo>
                <a:cubicBezTo>
                  <a:pt x="207199" y="104429"/>
                  <a:pt x="204814" y="127753"/>
                  <a:pt x="192609" y="146285"/>
                </a:cubicBezTo>
                <a:lnTo>
                  <a:pt x="219323" y="176722"/>
                </a:lnTo>
                <a:cubicBezTo>
                  <a:pt x="235376" y="167871"/>
                  <a:pt x="253416" y="163242"/>
                  <a:pt x="271746" y="163270"/>
                </a:cubicBezTo>
                <a:cubicBezTo>
                  <a:pt x="285470" y="163270"/>
                  <a:pt x="298650" y="165825"/>
                  <a:pt x="310716" y="170472"/>
                </a:cubicBezTo>
                <a:lnTo>
                  <a:pt x="344550" y="114489"/>
                </a:lnTo>
                <a:cubicBezTo>
                  <a:pt x="318842" y="87158"/>
                  <a:pt x="320157" y="44161"/>
                  <a:pt x="347488" y="18453"/>
                </a:cubicBezTo>
                <a:cubicBezTo>
                  <a:pt x="374819" y="-7256"/>
                  <a:pt x="417817" y="-5940"/>
                  <a:pt x="443525" y="21391"/>
                </a:cubicBezTo>
                <a:cubicBezTo>
                  <a:pt x="455377" y="33991"/>
                  <a:pt x="461978" y="50638"/>
                  <a:pt x="461978" y="67937"/>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
        <p:nvSpPr>
          <p:cNvPr id="15" name="Rounded Rectangle 5">
            <a:extLst>
              <a:ext uri="{FF2B5EF4-FFF2-40B4-BE49-F238E27FC236}">
                <a16:creationId xmlns:a16="http://schemas.microsoft.com/office/drawing/2014/main" id="{94AC204E-6927-BF23-A1F8-839FA341C7A5}"/>
              </a:ext>
              <a:ext uri="{C183D7F6-B498-43B3-948B-1728B52AA6E4}">
                <adec:decorative xmlns:adec="http://schemas.microsoft.com/office/drawing/2017/decorative" val="1"/>
              </a:ext>
            </a:extLst>
          </p:cNvPr>
          <p:cNvSpPr/>
          <p:nvPr/>
        </p:nvSpPr>
        <p:spPr bwMode="auto">
          <a:xfrm>
            <a:off x="7644812" y="4344419"/>
            <a:ext cx="1506115" cy="2123423"/>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16" name="Text Placeholder 5">
            <a:extLst>
              <a:ext uri="{FF2B5EF4-FFF2-40B4-BE49-F238E27FC236}">
                <a16:creationId xmlns:a16="http://schemas.microsoft.com/office/drawing/2014/main" id="{A4CC2C80-911B-8C4F-FD42-3B1C6CC5493B}"/>
              </a:ext>
            </a:extLst>
          </p:cNvPr>
          <p:cNvSpPr txBox="1">
            <a:spLocks/>
          </p:cNvSpPr>
          <p:nvPr/>
        </p:nvSpPr>
        <p:spPr>
          <a:xfrm>
            <a:off x="7779684" y="5504458"/>
            <a:ext cx="1278422" cy="758335"/>
          </a:xfrm>
          <a:prstGeom prst="rect">
            <a:avLst/>
          </a:prstGeom>
        </p:spPr>
        <p:txBody>
          <a:bodyPr lIns="91440" tIns="45720" rIns="91440" bIns="45720" anchor="ct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dirty="0">
                <a:latin typeface="+mj-lt"/>
                <a:cs typeface="Segoe UI Semilight"/>
              </a:rPr>
              <a:t>Evaluate Answer</a:t>
            </a:r>
            <a:endParaRPr lang="en-US" sz="1800" dirty="0">
              <a:cs typeface="Segoe UI Semilight"/>
            </a:endParaRPr>
          </a:p>
        </p:txBody>
      </p:sp>
      <p:sp>
        <p:nvSpPr>
          <p:cNvPr id="17" name="Graphic 22" descr="Large Language Model icon">
            <a:extLst>
              <a:ext uri="{FF2B5EF4-FFF2-40B4-BE49-F238E27FC236}">
                <a16:creationId xmlns:a16="http://schemas.microsoft.com/office/drawing/2014/main" id="{542FFC38-9006-B75C-1ADB-0E11FA93853E}"/>
              </a:ext>
            </a:extLst>
          </p:cNvPr>
          <p:cNvSpPr/>
          <p:nvPr/>
        </p:nvSpPr>
        <p:spPr>
          <a:xfrm>
            <a:off x="8036961" y="4515947"/>
            <a:ext cx="795753" cy="796201"/>
          </a:xfrm>
          <a:custGeom>
            <a:avLst/>
            <a:gdLst>
              <a:gd name="connsiteX0" fmla="*/ 461978 w 543510"/>
              <a:gd name="connsiteY0" fmla="*/ 67910 h 543815"/>
              <a:gd name="connsiteX1" fmla="*/ 394065 w 543510"/>
              <a:gd name="connsiteY1" fmla="*/ 135877 h 543815"/>
              <a:gd name="connsiteX2" fmla="*/ 380124 w 543510"/>
              <a:gd name="connsiteY2" fmla="*/ 134437 h 543815"/>
              <a:gd name="connsiteX3" fmla="*/ 345338 w 543510"/>
              <a:gd name="connsiteY3" fmla="*/ 191995 h 543815"/>
              <a:gd name="connsiteX4" fmla="*/ 380450 w 543510"/>
              <a:gd name="connsiteY4" fmla="*/ 271974 h 543815"/>
              <a:gd name="connsiteX5" fmla="*/ 380450 w 543510"/>
              <a:gd name="connsiteY5" fmla="*/ 273551 h 543815"/>
              <a:gd name="connsiteX6" fmla="*/ 415670 w 543510"/>
              <a:gd name="connsiteY6" fmla="*/ 280644 h 543815"/>
              <a:gd name="connsiteX7" fmla="*/ 507639 w 543510"/>
              <a:gd name="connsiteY7" fmla="*/ 252837 h 543815"/>
              <a:gd name="connsiteX8" fmla="*/ 535445 w 543510"/>
              <a:gd name="connsiteY8" fmla="*/ 344809 h 543815"/>
              <a:gd name="connsiteX9" fmla="*/ 443476 w 543510"/>
              <a:gd name="connsiteY9" fmla="*/ 372613 h 543815"/>
              <a:gd name="connsiteX10" fmla="*/ 408088 w 543510"/>
              <a:gd name="connsiteY10" fmla="*/ 320701 h 543815"/>
              <a:gd name="connsiteX11" fmla="*/ 372215 w 543510"/>
              <a:gd name="connsiteY11" fmla="*/ 313499 h 543815"/>
              <a:gd name="connsiteX12" fmla="*/ 324875 w 543510"/>
              <a:gd name="connsiteY12" fmla="*/ 366846 h 543815"/>
              <a:gd name="connsiteX13" fmla="*/ 338327 w 543510"/>
              <a:gd name="connsiteY13" fmla="*/ 407936 h 543815"/>
              <a:gd name="connsiteX14" fmla="*/ 339686 w 543510"/>
              <a:gd name="connsiteY14" fmla="*/ 407936 h 543815"/>
              <a:gd name="connsiteX15" fmla="*/ 407577 w 543510"/>
              <a:gd name="connsiteY15" fmla="*/ 475925 h 543815"/>
              <a:gd name="connsiteX16" fmla="*/ 339588 w 543510"/>
              <a:gd name="connsiteY16" fmla="*/ 543816 h 543815"/>
              <a:gd name="connsiteX17" fmla="*/ 271697 w 543510"/>
              <a:gd name="connsiteY17" fmla="*/ 475827 h 543815"/>
              <a:gd name="connsiteX18" fmla="*/ 299683 w 543510"/>
              <a:gd name="connsiteY18" fmla="*/ 420926 h 543815"/>
              <a:gd name="connsiteX19" fmla="*/ 286203 w 543510"/>
              <a:gd name="connsiteY19" fmla="*/ 379727 h 543815"/>
              <a:gd name="connsiteX20" fmla="*/ 184239 w 543510"/>
              <a:gd name="connsiteY20" fmla="*/ 336436 h 543815"/>
              <a:gd name="connsiteX21" fmla="*/ 135458 w 543510"/>
              <a:gd name="connsiteY21" fmla="*/ 359481 h 543815"/>
              <a:gd name="connsiteX22" fmla="*/ 75560 w 543510"/>
              <a:gd name="connsiteY22" fmla="*/ 434606 h 543815"/>
              <a:gd name="connsiteX23" fmla="*/ 434 w 543510"/>
              <a:gd name="connsiteY23" fmla="*/ 374711 h 543815"/>
              <a:gd name="connsiteX24" fmla="*/ 60332 w 543510"/>
              <a:gd name="connsiteY24" fmla="*/ 299582 h 543815"/>
              <a:gd name="connsiteX25" fmla="*/ 118935 w 543510"/>
              <a:gd name="connsiteY25" fmla="*/ 322196 h 543815"/>
              <a:gd name="connsiteX26" fmla="*/ 166602 w 543510"/>
              <a:gd name="connsiteY26" fmla="*/ 299694 h 543815"/>
              <a:gd name="connsiteX27" fmla="*/ 187908 w 543510"/>
              <a:gd name="connsiteY27" fmla="*/ 202757 h 543815"/>
              <a:gd name="connsiteX28" fmla="*/ 160976 w 543510"/>
              <a:gd name="connsiteY28" fmla="*/ 172048 h 543815"/>
              <a:gd name="connsiteX29" fmla="*/ 72738 w 543510"/>
              <a:gd name="connsiteY29" fmla="*/ 134026 h 543815"/>
              <a:gd name="connsiteX30" fmla="*/ 110761 w 543510"/>
              <a:gd name="connsiteY30" fmla="*/ 45788 h 543815"/>
              <a:gd name="connsiteX31" fmla="*/ 198999 w 543510"/>
              <a:gd name="connsiteY31" fmla="*/ 83810 h 543815"/>
              <a:gd name="connsiteX32" fmla="*/ 192609 w 543510"/>
              <a:gd name="connsiteY32" fmla="*/ 146285 h 543815"/>
              <a:gd name="connsiteX33" fmla="*/ 219323 w 543510"/>
              <a:gd name="connsiteY33" fmla="*/ 176722 h 543815"/>
              <a:gd name="connsiteX34" fmla="*/ 271746 w 543510"/>
              <a:gd name="connsiteY34" fmla="*/ 163270 h 543815"/>
              <a:gd name="connsiteX35" fmla="*/ 310716 w 543510"/>
              <a:gd name="connsiteY35" fmla="*/ 170472 h 543815"/>
              <a:gd name="connsiteX36" fmla="*/ 344550 w 543510"/>
              <a:gd name="connsiteY36" fmla="*/ 114489 h 543815"/>
              <a:gd name="connsiteX37" fmla="*/ 347488 w 543510"/>
              <a:gd name="connsiteY37" fmla="*/ 18453 h 543815"/>
              <a:gd name="connsiteX38" fmla="*/ 443525 w 543510"/>
              <a:gd name="connsiteY38" fmla="*/ 21391 h 543815"/>
              <a:gd name="connsiteX39" fmla="*/ 461978 w 543510"/>
              <a:gd name="connsiteY39" fmla="*/ 67937 h 54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43510" h="543815">
                <a:moveTo>
                  <a:pt x="461978" y="67910"/>
                </a:moveTo>
                <a:cubicBezTo>
                  <a:pt x="461991" y="105432"/>
                  <a:pt x="431587" y="135862"/>
                  <a:pt x="394065" y="135877"/>
                </a:cubicBezTo>
                <a:cubicBezTo>
                  <a:pt x="389380" y="135879"/>
                  <a:pt x="384708" y="135396"/>
                  <a:pt x="380124" y="134437"/>
                </a:cubicBezTo>
                <a:lnTo>
                  <a:pt x="345338" y="191995"/>
                </a:lnTo>
                <a:cubicBezTo>
                  <a:pt x="367737" y="212554"/>
                  <a:pt x="380477" y="241573"/>
                  <a:pt x="380450" y="271974"/>
                </a:cubicBezTo>
                <a:lnTo>
                  <a:pt x="380450" y="273551"/>
                </a:lnTo>
                <a:lnTo>
                  <a:pt x="415670" y="280644"/>
                </a:lnTo>
                <a:cubicBezTo>
                  <a:pt x="433389" y="247568"/>
                  <a:pt x="474566" y="235118"/>
                  <a:pt x="507639" y="252837"/>
                </a:cubicBezTo>
                <a:cubicBezTo>
                  <a:pt x="540715" y="270556"/>
                  <a:pt x="553164" y="311733"/>
                  <a:pt x="535445" y="344809"/>
                </a:cubicBezTo>
                <a:cubicBezTo>
                  <a:pt x="517727" y="377882"/>
                  <a:pt x="476552" y="390331"/>
                  <a:pt x="443476" y="372613"/>
                </a:cubicBezTo>
                <a:cubicBezTo>
                  <a:pt x="423907" y="362131"/>
                  <a:pt x="410694" y="342749"/>
                  <a:pt x="408088" y="320701"/>
                </a:cubicBezTo>
                <a:lnTo>
                  <a:pt x="372215" y="313499"/>
                </a:lnTo>
                <a:cubicBezTo>
                  <a:pt x="362856" y="336083"/>
                  <a:pt x="346186" y="354869"/>
                  <a:pt x="324875" y="366846"/>
                </a:cubicBezTo>
                <a:lnTo>
                  <a:pt x="338327" y="407936"/>
                </a:lnTo>
                <a:lnTo>
                  <a:pt x="339686" y="407936"/>
                </a:lnTo>
                <a:cubicBezTo>
                  <a:pt x="377208" y="407963"/>
                  <a:pt x="407604" y="438403"/>
                  <a:pt x="407577" y="475925"/>
                </a:cubicBezTo>
                <a:cubicBezTo>
                  <a:pt x="407550" y="513447"/>
                  <a:pt x="377110" y="543843"/>
                  <a:pt x="339588" y="543816"/>
                </a:cubicBezTo>
                <a:cubicBezTo>
                  <a:pt x="302066" y="543789"/>
                  <a:pt x="271670" y="513349"/>
                  <a:pt x="271697" y="475827"/>
                </a:cubicBezTo>
                <a:cubicBezTo>
                  <a:pt x="271713" y="454105"/>
                  <a:pt x="282113" y="433701"/>
                  <a:pt x="299683" y="420926"/>
                </a:cubicBezTo>
                <a:lnTo>
                  <a:pt x="286203" y="379727"/>
                </a:lnTo>
                <a:cubicBezTo>
                  <a:pt x="246855" y="385032"/>
                  <a:pt x="207751" y="368430"/>
                  <a:pt x="184239" y="336436"/>
                </a:cubicBezTo>
                <a:lnTo>
                  <a:pt x="135458" y="359481"/>
                </a:lnTo>
                <a:cubicBezTo>
                  <a:pt x="139663" y="396767"/>
                  <a:pt x="112846" y="430402"/>
                  <a:pt x="75560" y="434606"/>
                </a:cubicBezTo>
                <a:cubicBezTo>
                  <a:pt x="38274" y="438813"/>
                  <a:pt x="4639" y="411996"/>
                  <a:pt x="434" y="374711"/>
                </a:cubicBezTo>
                <a:cubicBezTo>
                  <a:pt x="-3771" y="337422"/>
                  <a:pt x="23046" y="303789"/>
                  <a:pt x="60332" y="299582"/>
                </a:cubicBezTo>
                <a:cubicBezTo>
                  <a:pt x="82387" y="297096"/>
                  <a:pt x="104267" y="305539"/>
                  <a:pt x="118935" y="322196"/>
                </a:cubicBezTo>
                <a:lnTo>
                  <a:pt x="166602" y="299694"/>
                </a:lnTo>
                <a:cubicBezTo>
                  <a:pt x="157705" y="265835"/>
                  <a:pt x="165633" y="229765"/>
                  <a:pt x="187908" y="202757"/>
                </a:cubicBezTo>
                <a:lnTo>
                  <a:pt x="160976" y="172048"/>
                </a:lnTo>
                <a:cubicBezTo>
                  <a:pt x="126110" y="185915"/>
                  <a:pt x="86605" y="168892"/>
                  <a:pt x="72738" y="134026"/>
                </a:cubicBezTo>
                <a:cubicBezTo>
                  <a:pt x="58872" y="99160"/>
                  <a:pt x="75895" y="59654"/>
                  <a:pt x="110761" y="45788"/>
                </a:cubicBezTo>
                <a:cubicBezTo>
                  <a:pt x="145627" y="31921"/>
                  <a:pt x="185132" y="48944"/>
                  <a:pt x="198999" y="83810"/>
                </a:cubicBezTo>
                <a:cubicBezTo>
                  <a:pt x="207199" y="104429"/>
                  <a:pt x="204814" y="127753"/>
                  <a:pt x="192609" y="146285"/>
                </a:cubicBezTo>
                <a:lnTo>
                  <a:pt x="219323" y="176722"/>
                </a:lnTo>
                <a:cubicBezTo>
                  <a:pt x="235376" y="167871"/>
                  <a:pt x="253416" y="163242"/>
                  <a:pt x="271746" y="163270"/>
                </a:cubicBezTo>
                <a:cubicBezTo>
                  <a:pt x="285470" y="163270"/>
                  <a:pt x="298650" y="165825"/>
                  <a:pt x="310716" y="170472"/>
                </a:cubicBezTo>
                <a:lnTo>
                  <a:pt x="344550" y="114489"/>
                </a:lnTo>
                <a:cubicBezTo>
                  <a:pt x="318842" y="87158"/>
                  <a:pt x="320157" y="44161"/>
                  <a:pt x="347488" y="18453"/>
                </a:cubicBezTo>
                <a:cubicBezTo>
                  <a:pt x="374819" y="-7256"/>
                  <a:pt x="417817" y="-5940"/>
                  <a:pt x="443525" y="21391"/>
                </a:cubicBezTo>
                <a:cubicBezTo>
                  <a:pt x="455377" y="33991"/>
                  <a:pt x="461978" y="50638"/>
                  <a:pt x="461978" y="67937"/>
                </a:cubicBezTo>
                <a:close/>
              </a:path>
            </a:pathLst>
          </a:cu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600">
              <a:gradFill>
                <a:gsLst>
                  <a:gs pos="1399">
                    <a:srgbClr val="FFFFFF"/>
                  </a:gs>
                  <a:gs pos="17000">
                    <a:srgbClr val="FFFFFF"/>
                  </a:gs>
                </a:gsLst>
                <a:path path="circle">
                  <a:fillToRect l="100000" t="100000"/>
                </a:path>
              </a:gradFill>
              <a:latin typeface="+mj-lt"/>
              <a:cs typeface="Segoe UI" panose="020B0502040204020203" pitchFamily="34" charset="0"/>
            </a:endParaRPr>
          </a:p>
        </p:txBody>
      </p:sp>
    </p:spTree>
    <p:extLst>
      <p:ext uri="{BB962C8B-B14F-4D97-AF65-F5344CB8AC3E}">
        <p14:creationId xmlns:p14="http://schemas.microsoft.com/office/powerpoint/2010/main" val="16666551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42" presetClass="path" presetSubtype="0" decel="100000" fill="hold" grpId="1" nodeType="withEffect">
                                  <p:stCondLst>
                                    <p:cond delay="0"/>
                                  </p:stCondLst>
                                  <p:childTnLst>
                                    <p:animMotion origin="layout" path="M 0 -2.59259E-6 L 0 0.03542 " pathEditMode="relative" rAng="0" ptsTypes="AA">
                                      <p:cBhvr>
                                        <p:cTn id="9" dur="700" spd="-100000" fill="hold"/>
                                        <p:tgtEl>
                                          <p:spTgt spid="6"/>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42" presetClass="path" presetSubtype="0" decel="100000" fill="hold" grpId="1" nodeType="withEffect">
                                  <p:stCondLst>
                                    <p:cond delay="0"/>
                                  </p:stCondLst>
                                  <p:childTnLst>
                                    <p:animMotion origin="layout" path="M 0 -2.59259E-6 L 0 0.03542 " pathEditMode="relative" rAng="0" ptsTypes="AA">
                                      <p:cBhvr>
                                        <p:cTn id="14" dur="700" spd="-100000" fill="hold"/>
                                        <p:tgtEl>
                                          <p:spTgt spid="5"/>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42" presetClass="path" presetSubtype="0" decel="100000" fill="hold" grpId="1" nodeType="withEffect">
                                  <p:stCondLst>
                                    <p:cond delay="0"/>
                                  </p:stCondLst>
                                  <p:childTnLst>
                                    <p:animMotion origin="layout" path="M 0 -2.59259E-6 L 0 0.03542 " pathEditMode="relative" rAng="0" ptsTypes="AA">
                                      <p:cBhvr>
                                        <p:cTn id="19" dur="700" spd="-100000" fill="hold"/>
                                        <p:tgtEl>
                                          <p:spTgt spid="7"/>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42" presetClass="path" presetSubtype="0" decel="100000" fill="hold" grpId="1" nodeType="withEffect">
                                  <p:stCondLst>
                                    <p:cond delay="0"/>
                                  </p:stCondLst>
                                  <p:childTnLst>
                                    <p:animMotion origin="layout" path="M 0 -2.59259E-6 L 0 0.03542 " pathEditMode="relative" rAng="0" ptsTypes="AA">
                                      <p:cBhvr>
                                        <p:cTn id="24" dur="700" spd="-100000" fill="hold"/>
                                        <p:tgtEl>
                                          <p:spTgt spid="9"/>
                                        </p:tgtEl>
                                        <p:attrNameLst>
                                          <p:attrName>ppt_x</p:attrName>
                                          <p:attrName>ppt_y</p:attrName>
                                        </p:attrNameLst>
                                      </p:cBhvr>
                                      <p:rCtr x="0" y="1759"/>
                                    </p:animMotion>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42" presetClass="path" presetSubtype="0" decel="100000" fill="hold" grpId="1" nodeType="withEffect">
                                  <p:stCondLst>
                                    <p:cond delay="0"/>
                                  </p:stCondLst>
                                  <p:childTnLst>
                                    <p:animMotion origin="layout" path="M 0 -2.59259E-6 L 0 0.03542 " pathEditMode="relative" rAng="0" ptsTypes="AA">
                                      <p:cBhvr>
                                        <p:cTn id="29" dur="700" spd="-100000" fill="hold"/>
                                        <p:tgtEl>
                                          <p:spTgt spid="8"/>
                                        </p:tgtEl>
                                        <p:attrNameLst>
                                          <p:attrName>ppt_x</p:attrName>
                                          <p:attrName>ppt_y</p:attrName>
                                        </p:attrNameLst>
                                      </p:cBhvr>
                                      <p:rCtr x="0" y="1759"/>
                                    </p:animMotion>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42" presetClass="path" presetSubtype="0" decel="100000" fill="hold" grpId="1" nodeType="withEffect">
                                  <p:stCondLst>
                                    <p:cond delay="0"/>
                                  </p:stCondLst>
                                  <p:childTnLst>
                                    <p:animMotion origin="layout" path="M 0 -2.59259E-6 L 0 0.03542 " pathEditMode="relative" rAng="0" ptsTypes="AA">
                                      <p:cBhvr>
                                        <p:cTn id="34" dur="700" spd="-100000" fill="hold"/>
                                        <p:tgtEl>
                                          <p:spTgt spid="10"/>
                                        </p:tgtEl>
                                        <p:attrNameLst>
                                          <p:attrName>ppt_x</p:attrName>
                                          <p:attrName>ppt_y</p:attrName>
                                        </p:attrNameLst>
                                      </p:cBhvr>
                                      <p:rCtr x="0" y="1759"/>
                                    </p:animMotion>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42" presetClass="path" presetSubtype="0" decel="100000" fill="hold" grpId="1" nodeType="withEffect">
                                  <p:stCondLst>
                                    <p:cond delay="0"/>
                                  </p:stCondLst>
                                  <p:childTnLst>
                                    <p:animMotion origin="layout" path="M 0 -2.59259E-6 L 0 0.03542 " pathEditMode="relative" rAng="0" ptsTypes="AA">
                                      <p:cBhvr>
                                        <p:cTn id="39" dur="700" spd="-100000" fill="hold"/>
                                        <p:tgtEl>
                                          <p:spTgt spid="11"/>
                                        </p:tgtEl>
                                        <p:attrNameLst>
                                          <p:attrName>ppt_x</p:attrName>
                                          <p:attrName>ppt_y</p:attrName>
                                        </p:attrNameLst>
                                      </p:cBhvr>
                                      <p:rCtr x="0" y="1759"/>
                                    </p:animMotion>
                                  </p:childTnLst>
                                </p:cTn>
                              </p:par>
                              <p:par>
                                <p:cTn id="40" presetID="10"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42" presetClass="path" presetSubtype="0" decel="100000" fill="hold" grpId="1" nodeType="withEffect">
                                  <p:stCondLst>
                                    <p:cond delay="0"/>
                                  </p:stCondLst>
                                  <p:childTnLst>
                                    <p:animMotion origin="layout" path="M 0 -2.59259E-6 L 0 0.03542 " pathEditMode="relative" rAng="0" ptsTypes="AA">
                                      <p:cBhvr>
                                        <p:cTn id="44" dur="700" spd="-100000" fill="hold"/>
                                        <p:tgtEl>
                                          <p:spTgt spid="13"/>
                                        </p:tgtEl>
                                        <p:attrNameLst>
                                          <p:attrName>ppt_x</p:attrName>
                                          <p:attrName>ppt_y</p:attrName>
                                        </p:attrNameLst>
                                      </p:cBhvr>
                                      <p:rCtr x="0" y="1759"/>
                                    </p:animMotion>
                                  </p:childTnLst>
                                </p:cTn>
                              </p:par>
                              <p:par>
                                <p:cTn id="45" presetID="10"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par>
                                <p:cTn id="48" presetID="42" presetClass="path" presetSubtype="0" decel="100000" fill="hold" grpId="1" nodeType="withEffect">
                                  <p:stCondLst>
                                    <p:cond delay="0"/>
                                  </p:stCondLst>
                                  <p:childTnLst>
                                    <p:animMotion origin="layout" path="M 0 -2.59259E-6 L 0 0.03542 " pathEditMode="relative" rAng="0" ptsTypes="AA">
                                      <p:cBhvr>
                                        <p:cTn id="49" dur="700" spd="-100000" fill="hold"/>
                                        <p:tgtEl>
                                          <p:spTgt spid="14"/>
                                        </p:tgtEl>
                                        <p:attrNameLst>
                                          <p:attrName>ppt_x</p:attrName>
                                          <p:attrName>ppt_y</p:attrName>
                                        </p:attrNameLst>
                                      </p:cBhvr>
                                      <p:rCtr x="0" y="1759"/>
                                    </p:animMotion>
                                  </p:childTnLst>
                                </p:cTn>
                              </p:par>
                              <p:par>
                                <p:cTn id="50" presetID="10"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par>
                                <p:cTn id="53" presetID="42" presetClass="path" presetSubtype="0" decel="100000" fill="hold" grpId="1" nodeType="withEffect">
                                  <p:stCondLst>
                                    <p:cond delay="0"/>
                                  </p:stCondLst>
                                  <p:childTnLst>
                                    <p:animMotion origin="layout" path="M 0 -2.59259E-6 L 0 0.03542 " pathEditMode="relative" rAng="0" ptsTypes="AA">
                                      <p:cBhvr>
                                        <p:cTn id="54" dur="700" spd="-100000" fill="hold"/>
                                        <p:tgtEl>
                                          <p:spTgt spid="15"/>
                                        </p:tgtEl>
                                        <p:attrNameLst>
                                          <p:attrName>ppt_x</p:attrName>
                                          <p:attrName>ppt_y</p:attrName>
                                        </p:attrNameLst>
                                      </p:cBhvr>
                                      <p:rCtr x="0" y="1759"/>
                                    </p:animMotion>
                                  </p:childTnLst>
                                </p:cTn>
                              </p:par>
                              <p:par>
                                <p:cTn id="55"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42" presetClass="path" presetSubtype="0" decel="100000" fill="hold" grpId="1" nodeType="withEffect">
                                  <p:stCondLst>
                                    <p:cond delay="0"/>
                                  </p:stCondLst>
                                  <p:childTnLst>
                                    <p:animMotion origin="layout" path="M 0 -2.59259E-6 L 0 0.03542 " pathEditMode="relative" rAng="0" ptsTypes="AA">
                                      <p:cBhvr>
                                        <p:cTn id="59" dur="700" spd="-100000" fill="hold"/>
                                        <p:tgtEl>
                                          <p:spTgt spid="16"/>
                                        </p:tgtEl>
                                        <p:attrNameLst>
                                          <p:attrName>ppt_x</p:attrName>
                                          <p:attrName>ppt_y</p:attrName>
                                        </p:attrNameLst>
                                      </p:cBhvr>
                                      <p:rCtr x="0" y="1759"/>
                                    </p:animMotion>
                                  </p:childTnLst>
                                </p:cTn>
                              </p:par>
                              <p:par>
                                <p:cTn id="60" presetID="10"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00"/>
                                        <p:tgtEl>
                                          <p:spTgt spid="17"/>
                                        </p:tgtEl>
                                      </p:cBhvr>
                                    </p:animEffect>
                                  </p:childTnLst>
                                </p:cTn>
                              </p:par>
                              <p:par>
                                <p:cTn id="63" presetID="42" presetClass="path" presetSubtype="0" decel="100000" fill="hold" grpId="1" nodeType="withEffect">
                                  <p:stCondLst>
                                    <p:cond delay="0"/>
                                  </p:stCondLst>
                                  <p:childTnLst>
                                    <p:animMotion origin="layout" path="M 0 -2.59259E-6 L 0 0.03542 " pathEditMode="relative" rAng="0" ptsTypes="AA">
                                      <p:cBhvr>
                                        <p:cTn id="64" dur="700" spd="-100000" fill="hold"/>
                                        <p:tgtEl>
                                          <p:spTgt spid="17"/>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p:bldP spid="6" grpId="1"/>
      <p:bldP spid="7" grpId="0" animBg="1"/>
      <p:bldP spid="7" grpId="1" animBg="1"/>
      <p:bldP spid="8" grpId="0" animBg="1"/>
      <p:bldP spid="8" grpId="1" animBg="1"/>
      <p:bldP spid="9" grpId="0" animBg="1"/>
      <p:bldP spid="9" grpId="1" animBg="1"/>
      <p:bldP spid="10" grpId="0"/>
      <p:bldP spid="10" grpId="1"/>
      <p:bldP spid="11" grpId="0" animBg="1"/>
      <p:bldP spid="11" grpId="1" animBg="1"/>
      <p:bldP spid="13" grpId="0"/>
      <p:bldP spid="13" grpId="1"/>
      <p:bldP spid="14" grpId="0" animBg="1"/>
      <p:bldP spid="14" grpId="1" animBg="1"/>
      <p:bldP spid="15" grpId="0" animBg="1"/>
      <p:bldP spid="15" grpId="1" animBg="1"/>
      <p:bldP spid="16" grpId="0"/>
      <p:bldP spid="16" grpId="1"/>
      <p:bldP spid="17" grpId="0" animBg="1"/>
      <p:bldP spid="17"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FB418-AAC2-AAF5-868B-CC3FD32E5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1ED80-1FA5-2DD0-FAD5-1251D6B755E4}"/>
              </a:ext>
            </a:extLst>
          </p:cNvPr>
          <p:cNvSpPr>
            <a:spLocks noGrp="1"/>
          </p:cNvSpPr>
          <p:nvPr>
            <p:ph type="title"/>
          </p:nvPr>
        </p:nvSpPr>
        <p:spPr>
          <a:xfrm>
            <a:off x="585215" y="2598003"/>
            <a:ext cx="7935329" cy="1107996"/>
          </a:xfrm>
        </p:spPr>
        <p:txBody>
          <a:bodyPr/>
          <a:lstStyle/>
          <a:p>
            <a:r>
              <a:rPr lang="en-US" dirty="0"/>
              <a:t>Single and Multi Step Reflection</a:t>
            </a:r>
          </a:p>
        </p:txBody>
      </p:sp>
    </p:spTree>
    <p:extLst>
      <p:ext uri="{BB962C8B-B14F-4D97-AF65-F5344CB8AC3E}">
        <p14:creationId xmlns:p14="http://schemas.microsoft.com/office/powerpoint/2010/main" val="339826691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16409-6B88-5C82-466C-AC1313DBE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52DE5D-50B0-2ED1-1EDF-6BC58FAB86D4}"/>
              </a:ext>
            </a:extLst>
          </p:cNvPr>
          <p:cNvSpPr>
            <a:spLocks noGrp="1"/>
          </p:cNvSpPr>
          <p:nvPr>
            <p:ph type="title"/>
          </p:nvPr>
        </p:nvSpPr>
        <p:spPr/>
        <p:txBody>
          <a:bodyPr/>
          <a:lstStyle/>
          <a:p>
            <a:r>
              <a:rPr lang="en-US" dirty="0"/>
              <a:t>Single Step Reflection</a:t>
            </a:r>
          </a:p>
        </p:txBody>
      </p:sp>
      <p:pic>
        <p:nvPicPr>
          <p:cNvPr id="5" name="Picture 4" descr="A diagram of a flowchart&#10;&#10;AI-generated content may be incorrect.">
            <a:extLst>
              <a:ext uri="{FF2B5EF4-FFF2-40B4-BE49-F238E27FC236}">
                <a16:creationId xmlns:a16="http://schemas.microsoft.com/office/drawing/2014/main" id="{323126EB-0063-BFC5-DE24-798098DBEF21}"/>
              </a:ext>
            </a:extLst>
          </p:cNvPr>
          <p:cNvPicPr>
            <a:picLocks noChangeAspect="1"/>
          </p:cNvPicPr>
          <p:nvPr/>
        </p:nvPicPr>
        <p:blipFill>
          <a:blip r:embed="rId2"/>
          <a:stretch>
            <a:fillRect/>
          </a:stretch>
        </p:blipFill>
        <p:spPr>
          <a:xfrm>
            <a:off x="1784110" y="1073727"/>
            <a:ext cx="8859957" cy="5451764"/>
          </a:xfrm>
          <a:prstGeom prst="rect">
            <a:avLst/>
          </a:prstGeom>
        </p:spPr>
      </p:pic>
    </p:spTree>
    <p:extLst>
      <p:ext uri="{BB962C8B-B14F-4D97-AF65-F5344CB8AC3E}">
        <p14:creationId xmlns:p14="http://schemas.microsoft.com/office/powerpoint/2010/main" val="309815329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DE563-918E-E5B3-13C5-24933DA336FA}"/>
              </a:ext>
            </a:extLst>
          </p:cNvPr>
          <p:cNvSpPr>
            <a:spLocks noGrp="1"/>
          </p:cNvSpPr>
          <p:nvPr>
            <p:ph type="title"/>
          </p:nvPr>
        </p:nvSpPr>
        <p:spPr/>
        <p:txBody>
          <a:bodyPr/>
          <a:lstStyle/>
          <a:p>
            <a:r>
              <a:rPr lang="en-US" dirty="0"/>
              <a:t>Multi Step Reflection</a:t>
            </a:r>
          </a:p>
        </p:txBody>
      </p:sp>
      <p:pic>
        <p:nvPicPr>
          <p:cNvPr id="4" name="Picture 3" descr="A diagram of a flowchart&#10;&#10;AI-generated content may be incorrect.">
            <a:extLst>
              <a:ext uri="{FF2B5EF4-FFF2-40B4-BE49-F238E27FC236}">
                <a16:creationId xmlns:a16="http://schemas.microsoft.com/office/drawing/2014/main" id="{9CC045C1-7DDB-573B-344D-C177567C0EE2}"/>
              </a:ext>
            </a:extLst>
          </p:cNvPr>
          <p:cNvPicPr>
            <a:picLocks noChangeAspect="1"/>
          </p:cNvPicPr>
          <p:nvPr/>
        </p:nvPicPr>
        <p:blipFill>
          <a:blip r:embed="rId2"/>
          <a:stretch>
            <a:fillRect/>
          </a:stretch>
        </p:blipFill>
        <p:spPr>
          <a:xfrm>
            <a:off x="941686" y="1121458"/>
            <a:ext cx="8791134" cy="5507942"/>
          </a:xfrm>
          <a:prstGeom prst="rect">
            <a:avLst/>
          </a:prstGeom>
        </p:spPr>
      </p:pic>
    </p:spTree>
    <p:extLst>
      <p:ext uri="{BB962C8B-B14F-4D97-AF65-F5344CB8AC3E}">
        <p14:creationId xmlns:p14="http://schemas.microsoft.com/office/powerpoint/2010/main" val="71425719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F5450-EB1C-4251-7B68-70A8E0BB22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452ED-3E5F-A2A9-7368-402A7CEAF7C5}"/>
              </a:ext>
            </a:extLst>
          </p:cNvPr>
          <p:cNvSpPr>
            <a:spLocks noGrp="1"/>
          </p:cNvSpPr>
          <p:nvPr>
            <p:ph type="title"/>
          </p:nvPr>
        </p:nvSpPr>
        <p:spPr>
          <a:xfrm>
            <a:off x="585216" y="3152001"/>
            <a:ext cx="6675120" cy="553998"/>
          </a:xfrm>
        </p:spPr>
        <p:txBody>
          <a:bodyPr/>
          <a:lstStyle/>
          <a:p>
            <a:r>
              <a:rPr lang="en-US" dirty="0"/>
              <a:t>Demo</a:t>
            </a:r>
          </a:p>
        </p:txBody>
      </p:sp>
    </p:spTree>
    <p:extLst>
      <p:ext uri="{BB962C8B-B14F-4D97-AF65-F5344CB8AC3E}">
        <p14:creationId xmlns:p14="http://schemas.microsoft.com/office/powerpoint/2010/main" val="175008471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8A472-665A-3129-2B73-394968D15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0C58E9-6C9C-385C-E8B7-E5E5F5F7B54F}"/>
              </a:ext>
            </a:extLst>
          </p:cNvPr>
          <p:cNvSpPr>
            <a:spLocks noGrp="1"/>
          </p:cNvSpPr>
          <p:nvPr>
            <p:ph type="title"/>
          </p:nvPr>
        </p:nvSpPr>
        <p:spPr>
          <a:xfrm>
            <a:off x="585216" y="3152001"/>
            <a:ext cx="6675120" cy="553998"/>
          </a:xfrm>
        </p:spPr>
        <p:txBody>
          <a:bodyPr/>
          <a:lstStyle/>
          <a:p>
            <a:r>
              <a:rPr lang="en-US"/>
              <a:t>Evaluation</a:t>
            </a:r>
          </a:p>
        </p:txBody>
      </p:sp>
    </p:spTree>
    <p:extLst>
      <p:ext uri="{BB962C8B-B14F-4D97-AF65-F5344CB8AC3E}">
        <p14:creationId xmlns:p14="http://schemas.microsoft.com/office/powerpoint/2010/main" val="265202779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4E2AF-2AFF-0F64-D411-00ECEDF64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15D78-47B5-A928-06A5-E23E8603F800}"/>
              </a:ext>
            </a:extLst>
          </p:cNvPr>
          <p:cNvSpPr>
            <a:spLocks noGrp="1"/>
          </p:cNvSpPr>
          <p:nvPr>
            <p:ph type="title"/>
          </p:nvPr>
        </p:nvSpPr>
        <p:spPr/>
        <p:txBody>
          <a:bodyPr/>
          <a:lstStyle/>
          <a:p>
            <a:r>
              <a:rPr lang="en-US">
                <a:effectLst>
                  <a:glow rad="63500">
                    <a:schemeClr val="bg1">
                      <a:alpha val="40000"/>
                    </a:schemeClr>
                  </a:glow>
                </a:effectLst>
                <a:latin typeface="Segoe UI Semibold" panose="020B0702040204020203" pitchFamily="34" charset="0"/>
                <a:cs typeface="Segoe UI Semibold" panose="020B0702040204020203" pitchFamily="34" charset="0"/>
              </a:rPr>
              <a:t>Bulk evaluation flow</a:t>
            </a:r>
          </a:p>
        </p:txBody>
      </p:sp>
      <p:sp>
        <p:nvSpPr>
          <p:cNvPr id="10" name="Content Placeholder 9">
            <a:extLst>
              <a:ext uri="{FF2B5EF4-FFF2-40B4-BE49-F238E27FC236}">
                <a16:creationId xmlns:a16="http://schemas.microsoft.com/office/drawing/2014/main" id="{CF5D918C-C203-6115-AA0F-5D5039495C12}"/>
              </a:ext>
            </a:extLst>
          </p:cNvPr>
          <p:cNvSpPr>
            <a:spLocks noGrp="1"/>
          </p:cNvSpPr>
          <p:nvPr>
            <p:ph idx="1"/>
          </p:nvPr>
        </p:nvSpPr>
        <p:spPr>
          <a:xfrm>
            <a:off x="838200" y="1825625"/>
            <a:ext cx="10515600" cy="4124206"/>
          </a:xfrm>
        </p:spPr>
        <p:txBody>
          <a:bodyPr/>
          <a:lstStyle/>
          <a:p>
            <a:pPr marL="457200" indent="-457200">
              <a:buFont typeface="+mj-lt"/>
              <a:buAutoNum type="arabicPeriod"/>
            </a:pPr>
            <a:r>
              <a:rPr lang="en-US" sz="2800"/>
              <a:t>Generate ground truth data (QA pairs)</a:t>
            </a:r>
          </a:p>
          <a:p>
            <a:pPr marL="457200" indent="-457200">
              <a:buFont typeface="+mj-lt"/>
              <a:buAutoNum type="arabicPeriod"/>
            </a:pPr>
            <a:r>
              <a:rPr lang="en-US" sz="2800"/>
              <a:t>Evaluate with different configurations:</a:t>
            </a:r>
          </a:p>
          <a:p>
            <a:pPr marL="685800" lvl="1" indent="-457200">
              <a:buFont typeface="+mj-lt"/>
              <a:buAutoNum type="arabicPeriod"/>
            </a:pPr>
            <a:r>
              <a:rPr lang="en-US"/>
              <a:t>Baseline (default models, default RAG parameters, no reflection)</a:t>
            </a:r>
          </a:p>
          <a:p>
            <a:pPr marL="685800" lvl="1" indent="-457200">
              <a:buFont typeface="+mj-lt"/>
              <a:buAutoNum type="arabicPeriod"/>
            </a:pPr>
            <a:r>
              <a:rPr lang="en-US"/>
              <a:t>Baseline models, plus reflection feature</a:t>
            </a:r>
          </a:p>
          <a:p>
            <a:pPr marL="685800" lvl="1" indent="-457200">
              <a:buFont typeface="+mj-lt"/>
              <a:buAutoNum type="arabicPeriod"/>
            </a:pPr>
            <a:r>
              <a:rPr lang="en-US"/>
              <a:t>Different chat model, with and without reflection feature</a:t>
            </a:r>
          </a:p>
          <a:p>
            <a:pPr marL="457200" indent="-457200">
              <a:buFont typeface="+mj-lt"/>
              <a:buAutoNum type="arabicPeriod"/>
            </a:pPr>
            <a:r>
              <a:rPr lang="en-US"/>
              <a:t>Review</a:t>
            </a:r>
            <a:r>
              <a:rPr lang="en-US" sz="2800"/>
              <a:t> the overall metrics across evaluations</a:t>
            </a:r>
          </a:p>
          <a:p>
            <a:pPr marL="457200" indent="-457200">
              <a:buFont typeface="+mj-lt"/>
              <a:buAutoNum type="arabicPeriod"/>
            </a:pPr>
            <a:r>
              <a:rPr lang="en-US"/>
              <a:t>Compare questions across runs</a:t>
            </a:r>
          </a:p>
          <a:p>
            <a:pPr marL="457200" indent="-457200">
              <a:buFont typeface="+mj-lt"/>
              <a:buAutoNum type="arabicPeriod"/>
            </a:pPr>
            <a:r>
              <a:rPr lang="en-US" sz="2800"/>
              <a:t>Investigate questions with notable differences</a:t>
            </a:r>
          </a:p>
          <a:p>
            <a:pPr marL="457200" indent="-457200">
              <a:buFont typeface="+mj-lt"/>
              <a:buAutoNum type="arabicPeriod"/>
            </a:pPr>
            <a:endParaRPr lang="en-US" sz="2800"/>
          </a:p>
        </p:txBody>
      </p:sp>
      <p:sp>
        <p:nvSpPr>
          <p:cNvPr id="18" name="TextBox 17">
            <a:extLst>
              <a:ext uri="{FF2B5EF4-FFF2-40B4-BE49-F238E27FC236}">
                <a16:creationId xmlns:a16="http://schemas.microsoft.com/office/drawing/2014/main" id="{1CD14E5F-7D86-8407-0978-0DE59411E812}"/>
              </a:ext>
            </a:extLst>
          </p:cNvPr>
          <p:cNvSpPr txBox="1"/>
          <p:nvPr/>
        </p:nvSpPr>
        <p:spPr>
          <a:xfrm>
            <a:off x="727363" y="5657443"/>
            <a:ext cx="7990390" cy="584775"/>
          </a:xfrm>
          <a:prstGeom prst="rect">
            <a:avLst/>
          </a:prstGeom>
          <a:noFill/>
        </p:spPr>
        <p:txBody>
          <a:bodyPr wrap="square">
            <a:spAutoFit/>
          </a:bodyPr>
          <a:lstStyle/>
          <a:p>
            <a:r>
              <a:rPr lang="en-US" sz="3200">
                <a:latin typeface="Segoe UI" panose="020B0502040204020203" pitchFamily="34" charset="0"/>
                <a:cs typeface="Segoe UI" panose="020B0502040204020203" pitchFamily="34" charset="0"/>
              </a:rPr>
              <a:t>Docs: </a:t>
            </a:r>
            <a:r>
              <a:rPr lang="en-US" sz="3000">
                <a:latin typeface="Segoe UI" panose="020B0502040204020203" pitchFamily="34" charset="0"/>
                <a:cs typeface="Segoe UI" panose="020B0502040204020203" pitchFamily="34" charset="0"/>
                <a:hlinkClick r:id="rId3"/>
              </a:rPr>
              <a:t>aka.ms/ragchat/evaluation</a:t>
            </a:r>
            <a:endParaRPr lang="en-US" sz="30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02001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C9F1-8673-3A2D-992E-5AAD3D1A8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D2CC70-2B45-AC82-0F7E-206F96FE41D0}"/>
              </a:ext>
            </a:extLst>
          </p:cNvPr>
          <p:cNvSpPr>
            <a:spLocks noGrp="1"/>
          </p:cNvSpPr>
          <p:nvPr>
            <p:ph type="title"/>
          </p:nvPr>
        </p:nvSpPr>
        <p:spPr/>
        <p:txBody>
          <a:bodyPr/>
          <a:lstStyle/>
          <a:p>
            <a:r>
              <a:rPr lang="en-US">
                <a:effectLst>
                  <a:glow rad="63500">
                    <a:schemeClr val="bg1">
                      <a:alpha val="40000"/>
                    </a:schemeClr>
                  </a:glow>
                </a:effectLst>
                <a:latin typeface="Segoe UI Semibold" panose="020B0702040204020203" pitchFamily="34" charset="0"/>
                <a:cs typeface="Segoe UI Semibold" panose="020B0702040204020203" pitchFamily="34" charset="0"/>
              </a:rPr>
              <a:t>Step 1: Generate ground truth data</a:t>
            </a:r>
          </a:p>
        </p:txBody>
      </p:sp>
      <p:sp>
        <p:nvSpPr>
          <p:cNvPr id="4" name="Content Placeholder 3">
            <a:extLst>
              <a:ext uri="{FF2B5EF4-FFF2-40B4-BE49-F238E27FC236}">
                <a16:creationId xmlns:a16="http://schemas.microsoft.com/office/drawing/2014/main" id="{A803ECD2-A7D9-9641-7C22-DEB66A2B356E}"/>
              </a:ext>
            </a:extLst>
          </p:cNvPr>
          <p:cNvSpPr>
            <a:spLocks noGrp="1"/>
          </p:cNvSpPr>
          <p:nvPr>
            <p:ph idx="1"/>
          </p:nvPr>
        </p:nvSpPr>
        <p:spPr>
          <a:xfrm>
            <a:off x="838200" y="2981760"/>
            <a:ext cx="9784115" cy="610360"/>
          </a:xfrm>
          <a:solidFill>
            <a:schemeClr val="bg1">
              <a:lumMod val="95000"/>
            </a:schemeClr>
          </a:solidFill>
          <a:ln w="38100">
            <a:noFill/>
          </a:ln>
        </p:spPr>
        <p:txBody>
          <a:bodyPr>
            <a:normAutofit/>
          </a:bodyPr>
          <a:lstStyle/>
          <a:p>
            <a:pPr marL="0" indent="0">
              <a:lnSpc>
                <a:spcPts val="3225"/>
              </a:lnSpc>
              <a:buNone/>
            </a:pPr>
            <a:r>
              <a:rPr lang="en-US" sz="2400" b="0">
                <a:solidFill>
                  <a:srgbClr val="795E26"/>
                </a:solidFill>
                <a:effectLst/>
                <a:latin typeface="Consolas" panose="020B0609020204030204" pitchFamily="49" charset="0"/>
                <a:cs typeface="Consolas" panose="020B0609020204030204" pitchFamily="49" charset="0"/>
              </a:rPr>
              <a:t>python</a:t>
            </a:r>
            <a:r>
              <a:rPr lang="en-US" sz="2400" b="0">
                <a:solidFill>
                  <a:srgbClr val="000000"/>
                </a:solidFill>
                <a:effectLst/>
                <a:latin typeface="Consolas" panose="020B0609020204030204" pitchFamily="49" charset="0"/>
                <a:cs typeface="Consolas" panose="020B0609020204030204" pitchFamily="49" charset="0"/>
              </a:rPr>
              <a:t> </a:t>
            </a:r>
            <a:r>
              <a:rPr lang="en-US" sz="2400" b="0">
                <a:solidFill>
                  <a:srgbClr val="A31515"/>
                </a:solidFill>
                <a:effectLst/>
                <a:latin typeface="Consolas" panose="020B0609020204030204" pitchFamily="49" charset="0"/>
                <a:cs typeface="Consolas" panose="020B0609020204030204" pitchFamily="49" charset="0"/>
              </a:rPr>
              <a:t>evals/generate_ground_truth.py</a:t>
            </a:r>
            <a:r>
              <a:rPr lang="en-US" sz="2400">
                <a:solidFill>
                  <a:srgbClr val="000000"/>
                </a:solidFill>
                <a:latin typeface="Consolas" panose="020B0609020204030204" pitchFamily="49" charset="0"/>
                <a:cs typeface="Consolas" panose="020B0609020204030204" pitchFamily="49" charset="0"/>
              </a:rPr>
              <a:t> </a:t>
            </a:r>
            <a:r>
              <a:rPr lang="en-US" sz="2400" b="0">
                <a:solidFill>
                  <a:srgbClr val="0000FF"/>
                </a:solidFill>
                <a:effectLst/>
                <a:latin typeface="Consolas" panose="020B0609020204030204" pitchFamily="49" charset="0"/>
                <a:cs typeface="Consolas" panose="020B0609020204030204" pitchFamily="49" charset="0"/>
              </a:rPr>
              <a:t>--numquestions=50</a:t>
            </a:r>
            <a:endParaRPr lang="en-US" sz="2400" b="0">
              <a:solidFill>
                <a:srgbClr val="000000"/>
              </a:solidFill>
              <a:effectLst/>
              <a:latin typeface="Consolas" panose="020B0609020204030204" pitchFamily="49" charset="0"/>
              <a:cs typeface="Consolas" panose="020B0609020204030204" pitchFamily="49" charset="0"/>
            </a:endParaRPr>
          </a:p>
        </p:txBody>
      </p:sp>
      <p:sp>
        <p:nvSpPr>
          <p:cNvPr id="5" name="TextBox 4">
            <a:extLst>
              <a:ext uri="{FF2B5EF4-FFF2-40B4-BE49-F238E27FC236}">
                <a16:creationId xmlns:a16="http://schemas.microsoft.com/office/drawing/2014/main" id="{D6EF22AF-AB23-7423-E8AD-8B44891C5A85}"/>
              </a:ext>
            </a:extLst>
          </p:cNvPr>
          <p:cNvSpPr txBox="1"/>
          <p:nvPr/>
        </p:nvSpPr>
        <p:spPr>
          <a:xfrm>
            <a:off x="838200" y="1620144"/>
            <a:ext cx="10407316" cy="461665"/>
          </a:xfrm>
          <a:prstGeom prst="rect">
            <a:avLst/>
          </a:prstGeom>
          <a:noFill/>
        </p:spPr>
        <p:txBody>
          <a:bodyPr wrap="square">
            <a:spAutoFit/>
          </a:bodyPr>
          <a:lstStyle/>
          <a:p>
            <a:pPr marL="0" indent="0">
              <a:buNone/>
            </a:pPr>
            <a:r>
              <a:rPr lang="en-US" sz="2400">
                <a:latin typeface="Segoe UI" panose="020B0502040204020203" pitchFamily="34" charset="0"/>
                <a:cs typeface="Segoe UI" panose="020B0502040204020203" pitchFamily="34" charset="0"/>
              </a:rPr>
              <a:t>The ground truth data is the ideal answer for a question.</a:t>
            </a:r>
          </a:p>
        </p:txBody>
      </p:sp>
      <p:sp>
        <p:nvSpPr>
          <p:cNvPr id="6" name="TextBox 5">
            <a:extLst>
              <a:ext uri="{FF2B5EF4-FFF2-40B4-BE49-F238E27FC236}">
                <a16:creationId xmlns:a16="http://schemas.microsoft.com/office/drawing/2014/main" id="{41043D85-1E5B-5C6D-A23B-8B18273B8223}"/>
              </a:ext>
            </a:extLst>
          </p:cNvPr>
          <p:cNvSpPr txBox="1"/>
          <p:nvPr/>
        </p:nvSpPr>
        <p:spPr>
          <a:xfrm>
            <a:off x="838200" y="2297642"/>
            <a:ext cx="11512826" cy="461665"/>
          </a:xfrm>
          <a:prstGeom prst="rect">
            <a:avLst/>
          </a:prstGeom>
          <a:noFill/>
        </p:spPr>
        <p:txBody>
          <a:bodyPr wrap="square">
            <a:spAutoFit/>
          </a:bodyPr>
          <a:lstStyle/>
          <a:p>
            <a:pPr marL="0" indent="0">
              <a:buNone/>
            </a:pPr>
            <a:r>
              <a:rPr lang="en-US" sz="2400">
                <a:latin typeface="Segoe UI" panose="020B0502040204020203" pitchFamily="34" charset="0"/>
                <a:cs typeface="Segoe UI" panose="020B0502040204020203" pitchFamily="34" charset="0"/>
              </a:rPr>
              <a:t>One approach: generate synthetic ground truth data, then do manual curation.</a:t>
            </a:r>
          </a:p>
        </p:txBody>
      </p:sp>
      <p:grpSp>
        <p:nvGrpSpPr>
          <p:cNvPr id="7" name="Group 6">
            <a:extLst>
              <a:ext uri="{FF2B5EF4-FFF2-40B4-BE49-F238E27FC236}">
                <a16:creationId xmlns:a16="http://schemas.microsoft.com/office/drawing/2014/main" id="{53885393-3EF3-4C33-D17B-7543C458ACD1}"/>
              </a:ext>
            </a:extLst>
          </p:cNvPr>
          <p:cNvGrpSpPr/>
          <p:nvPr/>
        </p:nvGrpSpPr>
        <p:grpSpPr>
          <a:xfrm>
            <a:off x="1721932" y="3818322"/>
            <a:ext cx="1185421" cy="1783275"/>
            <a:chOff x="17833125" y="8247189"/>
            <a:chExt cx="2655893" cy="3853506"/>
          </a:xfrm>
        </p:grpSpPr>
        <p:pic>
          <p:nvPicPr>
            <p:cNvPr id="8" name="Graphic 27">
              <a:extLst>
                <a:ext uri="{FF2B5EF4-FFF2-40B4-BE49-F238E27FC236}">
                  <a16:creationId xmlns:a16="http://schemas.microsoft.com/office/drawing/2014/main" id="{BA01BADA-DCA6-231D-52AE-2487698F68C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833125" y="8247189"/>
              <a:ext cx="2655892" cy="2655571"/>
            </a:xfrm>
            <a:prstGeom prst="rect">
              <a:avLst/>
            </a:prstGeom>
          </p:spPr>
        </p:pic>
        <p:sp>
          <p:nvSpPr>
            <p:cNvPr id="9" name="Text Placeholder 5">
              <a:extLst>
                <a:ext uri="{FF2B5EF4-FFF2-40B4-BE49-F238E27FC236}">
                  <a16:creationId xmlns:a16="http://schemas.microsoft.com/office/drawing/2014/main" id="{B5098915-3CD0-7317-7A2E-AC3A16FBF924}"/>
                </a:ext>
              </a:extLst>
            </p:cNvPr>
            <p:cNvSpPr txBox="1">
              <a:spLocks/>
            </p:cNvSpPr>
            <p:nvPr/>
          </p:nvSpPr>
          <p:spPr>
            <a:xfrm>
              <a:off x="17882727" y="10701528"/>
              <a:ext cx="2606291" cy="1399167"/>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cs typeface="Segoe UI Semilight"/>
                </a:rPr>
                <a:t>Azure</a:t>
              </a:r>
              <a:endParaRPr lang="en-US" sz="1800">
                <a:cs typeface="Arial"/>
              </a:endParaRPr>
            </a:p>
            <a:p>
              <a:pPr algn="ctr" defTabSz="1865484">
                <a:defRPr/>
              </a:pPr>
              <a:r>
                <a:rPr lang="en-US" sz="1800">
                  <a:cs typeface="Segoe UI Semilight"/>
                </a:rPr>
                <a:t>AI Search</a:t>
              </a:r>
              <a:endParaRPr lang="en-US" sz="1800">
                <a:cs typeface="Arial"/>
              </a:endParaRPr>
            </a:p>
          </p:txBody>
        </p:sp>
      </p:grpSp>
      <p:sp>
        <p:nvSpPr>
          <p:cNvPr id="11" name="Text Placeholder 5">
            <a:extLst>
              <a:ext uri="{FF2B5EF4-FFF2-40B4-BE49-F238E27FC236}">
                <a16:creationId xmlns:a16="http://schemas.microsoft.com/office/drawing/2014/main" id="{AE169FF3-E98C-3EED-106C-6CFE20FA6CD6}"/>
              </a:ext>
            </a:extLst>
          </p:cNvPr>
          <p:cNvSpPr txBox="1">
            <a:spLocks/>
          </p:cNvSpPr>
          <p:nvPr/>
        </p:nvSpPr>
        <p:spPr>
          <a:xfrm>
            <a:off x="7055852" y="4975075"/>
            <a:ext cx="964298" cy="706755"/>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800">
                <a:cs typeface="Segoe UI Semilight"/>
              </a:rPr>
              <a:t>Azure OpenAI</a:t>
            </a:r>
            <a:endParaRPr lang="en-US" sz="1800">
              <a:cs typeface="Arial"/>
            </a:endParaRPr>
          </a:p>
        </p:txBody>
      </p:sp>
      <p:cxnSp>
        <p:nvCxnSpPr>
          <p:cNvPr id="13" name="Straight Arrow Connector 12">
            <a:extLst>
              <a:ext uri="{FF2B5EF4-FFF2-40B4-BE49-F238E27FC236}">
                <a16:creationId xmlns:a16="http://schemas.microsoft.com/office/drawing/2014/main" id="{49D52CEB-D5B3-A17F-5215-25D48F258FAE}"/>
              </a:ext>
            </a:extLst>
          </p:cNvPr>
          <p:cNvCxnSpPr>
            <a:cxnSpLocks/>
          </p:cNvCxnSpPr>
          <p:nvPr/>
        </p:nvCxnSpPr>
        <p:spPr>
          <a:xfrm>
            <a:off x="1073426" y="4569135"/>
            <a:ext cx="560776" cy="0"/>
          </a:xfrm>
          <a:prstGeom prst="straightConnector1">
            <a:avLst/>
          </a:prstGeom>
          <a:ln w="28575">
            <a:solidFill>
              <a:schemeClr val="tx1"/>
            </a:solidFill>
            <a:tailEnd type="triangle"/>
          </a:ln>
        </p:spPr>
        <p:style>
          <a:lnRef idx="2">
            <a:schemeClr val="accent4"/>
          </a:lnRef>
          <a:fillRef idx="0">
            <a:schemeClr val="accent4"/>
          </a:fillRef>
          <a:effectRef idx="1">
            <a:schemeClr val="accent4"/>
          </a:effectRef>
          <a:fontRef idx="minor">
            <a:schemeClr val="tx1"/>
          </a:fontRef>
        </p:style>
      </p:cxnSp>
      <p:cxnSp>
        <p:nvCxnSpPr>
          <p:cNvPr id="17" name="Straight Arrow Connector 16">
            <a:extLst>
              <a:ext uri="{FF2B5EF4-FFF2-40B4-BE49-F238E27FC236}">
                <a16:creationId xmlns:a16="http://schemas.microsoft.com/office/drawing/2014/main" id="{C1C5BC79-75F7-946D-D413-B18A903D95A4}"/>
              </a:ext>
            </a:extLst>
          </p:cNvPr>
          <p:cNvCxnSpPr>
            <a:cxnSpLocks/>
          </p:cNvCxnSpPr>
          <p:nvPr/>
        </p:nvCxnSpPr>
        <p:spPr>
          <a:xfrm>
            <a:off x="3021844" y="4571360"/>
            <a:ext cx="1402088" cy="0"/>
          </a:xfrm>
          <a:prstGeom prst="straightConnector1">
            <a:avLst/>
          </a:prstGeom>
          <a:ln w="28575">
            <a:solidFill>
              <a:schemeClr val="tx1"/>
            </a:solidFill>
            <a:tailEnd type="triangle"/>
          </a:ln>
        </p:spPr>
        <p:style>
          <a:lnRef idx="2">
            <a:schemeClr val="accent4"/>
          </a:lnRef>
          <a:fillRef idx="0">
            <a:schemeClr val="accent4"/>
          </a:fillRef>
          <a:effectRef idx="1">
            <a:schemeClr val="accent4"/>
          </a:effectRef>
          <a:fontRef idx="minor">
            <a:schemeClr val="tx1"/>
          </a:fontRef>
        </p:style>
      </p:cxnSp>
      <p:sp>
        <p:nvSpPr>
          <p:cNvPr id="20" name="Text Placeholder 5">
            <a:extLst>
              <a:ext uri="{FF2B5EF4-FFF2-40B4-BE49-F238E27FC236}">
                <a16:creationId xmlns:a16="http://schemas.microsoft.com/office/drawing/2014/main" id="{538A5210-BB1F-704C-7AE3-2451555C32E1}"/>
              </a:ext>
            </a:extLst>
          </p:cNvPr>
          <p:cNvSpPr txBox="1">
            <a:spLocks/>
          </p:cNvSpPr>
          <p:nvPr/>
        </p:nvSpPr>
        <p:spPr>
          <a:xfrm>
            <a:off x="4288638" y="4974483"/>
            <a:ext cx="1402088" cy="522484"/>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cs typeface="Segoe UI Semilight"/>
              </a:rPr>
              <a:t>RAGAS</a:t>
            </a:r>
            <a:endParaRPr lang="en-US" sz="1800">
              <a:cs typeface="Arial"/>
            </a:endParaRPr>
          </a:p>
        </p:txBody>
      </p:sp>
      <p:pic>
        <p:nvPicPr>
          <p:cNvPr id="21" name="Picture 2" descr="Python Software Foundation">
            <a:extLst>
              <a:ext uri="{FF2B5EF4-FFF2-40B4-BE49-F238E27FC236}">
                <a16:creationId xmlns:a16="http://schemas.microsoft.com/office/drawing/2014/main" id="{9890AF63-5961-F1ED-9D28-A8AC64B5649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78938" b="14583"/>
          <a:stretch/>
        </p:blipFill>
        <p:spPr bwMode="auto">
          <a:xfrm>
            <a:off x="4423932" y="3837502"/>
            <a:ext cx="1142192" cy="1137226"/>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Arrow Connector 22">
            <a:extLst>
              <a:ext uri="{FF2B5EF4-FFF2-40B4-BE49-F238E27FC236}">
                <a16:creationId xmlns:a16="http://schemas.microsoft.com/office/drawing/2014/main" id="{0D4E3C79-1EED-AF9B-8BAE-4674D2F9B4E8}"/>
              </a:ext>
            </a:extLst>
          </p:cNvPr>
          <p:cNvCxnSpPr>
            <a:cxnSpLocks/>
          </p:cNvCxnSpPr>
          <p:nvPr/>
        </p:nvCxnSpPr>
        <p:spPr>
          <a:xfrm flipV="1">
            <a:off x="5566124" y="4571360"/>
            <a:ext cx="1505887" cy="5796"/>
          </a:xfrm>
          <a:prstGeom prst="straightConnector1">
            <a:avLst/>
          </a:prstGeom>
          <a:ln w="28575">
            <a:solidFill>
              <a:schemeClr val="tx1"/>
            </a:solidFill>
            <a:tailEnd type="triangle"/>
          </a:ln>
        </p:spPr>
        <p:style>
          <a:lnRef idx="2">
            <a:schemeClr val="accent4"/>
          </a:lnRef>
          <a:fillRef idx="0">
            <a:schemeClr val="accent4"/>
          </a:fillRef>
          <a:effectRef idx="1">
            <a:schemeClr val="accent4"/>
          </a:effectRef>
          <a:fontRef idx="minor">
            <a:schemeClr val="tx1"/>
          </a:fontRef>
        </p:style>
      </p:cxnSp>
      <p:cxnSp>
        <p:nvCxnSpPr>
          <p:cNvPr id="30" name="Straight Arrow Connector 29">
            <a:extLst>
              <a:ext uri="{FF2B5EF4-FFF2-40B4-BE49-F238E27FC236}">
                <a16:creationId xmlns:a16="http://schemas.microsoft.com/office/drawing/2014/main" id="{F9EBB504-021E-F60E-DB4B-E03E03B9924E}"/>
              </a:ext>
            </a:extLst>
          </p:cNvPr>
          <p:cNvCxnSpPr>
            <a:cxnSpLocks/>
          </p:cNvCxnSpPr>
          <p:nvPr/>
        </p:nvCxnSpPr>
        <p:spPr>
          <a:xfrm>
            <a:off x="8036309" y="4563339"/>
            <a:ext cx="1315452" cy="0"/>
          </a:xfrm>
          <a:prstGeom prst="straightConnector1">
            <a:avLst/>
          </a:prstGeom>
          <a:ln w="28575">
            <a:solidFill>
              <a:schemeClr val="tx1"/>
            </a:solidFill>
            <a:tailEnd type="triangle"/>
          </a:ln>
        </p:spPr>
        <p:style>
          <a:lnRef idx="2">
            <a:schemeClr val="accent4"/>
          </a:lnRef>
          <a:fillRef idx="0">
            <a:schemeClr val="accent4"/>
          </a:fillRef>
          <a:effectRef idx="1">
            <a:schemeClr val="accent4"/>
          </a:effectRef>
          <a:fontRef idx="minor">
            <a:schemeClr val="tx1"/>
          </a:fontRef>
        </p:style>
      </p:cxnSp>
      <p:sp>
        <p:nvSpPr>
          <p:cNvPr id="31" name="TextBox 30">
            <a:extLst>
              <a:ext uri="{FF2B5EF4-FFF2-40B4-BE49-F238E27FC236}">
                <a16:creationId xmlns:a16="http://schemas.microsoft.com/office/drawing/2014/main" id="{4F19ED4A-B101-953A-FA5B-3A1139F5B858}"/>
              </a:ext>
            </a:extLst>
          </p:cNvPr>
          <p:cNvSpPr txBox="1"/>
          <p:nvPr/>
        </p:nvSpPr>
        <p:spPr>
          <a:xfrm>
            <a:off x="2962191" y="4170861"/>
            <a:ext cx="1402089" cy="369332"/>
          </a:xfrm>
          <a:prstGeom prst="rect">
            <a:avLst/>
          </a:prstGeom>
          <a:noFill/>
        </p:spPr>
        <p:txBody>
          <a:bodyPr wrap="square">
            <a:spAutoFit/>
          </a:bodyPr>
          <a:lstStyle/>
          <a:p>
            <a:pPr marL="0" indent="0">
              <a:buNone/>
            </a:pPr>
            <a:r>
              <a:rPr lang="en-US"/>
              <a:t>documents</a:t>
            </a:r>
          </a:p>
        </p:txBody>
      </p:sp>
      <p:sp>
        <p:nvSpPr>
          <p:cNvPr id="32" name="TextBox 31">
            <a:extLst>
              <a:ext uri="{FF2B5EF4-FFF2-40B4-BE49-F238E27FC236}">
                <a16:creationId xmlns:a16="http://schemas.microsoft.com/office/drawing/2014/main" id="{9DAF4A78-860E-81B0-4FD0-2A2FD413BE0F}"/>
              </a:ext>
            </a:extLst>
          </p:cNvPr>
          <p:cNvSpPr txBox="1"/>
          <p:nvPr/>
        </p:nvSpPr>
        <p:spPr>
          <a:xfrm>
            <a:off x="5467561" y="4162912"/>
            <a:ext cx="1615142" cy="369332"/>
          </a:xfrm>
          <a:prstGeom prst="rect">
            <a:avLst/>
          </a:prstGeom>
          <a:noFill/>
        </p:spPr>
        <p:txBody>
          <a:bodyPr wrap="square">
            <a:spAutoFit/>
          </a:bodyPr>
          <a:lstStyle/>
          <a:p>
            <a:pPr marL="0" indent="0">
              <a:buNone/>
            </a:pPr>
            <a:r>
              <a:rPr lang="en-US"/>
              <a:t>prompt + docs</a:t>
            </a:r>
          </a:p>
        </p:txBody>
      </p:sp>
      <p:sp>
        <p:nvSpPr>
          <p:cNvPr id="33" name="TextBox 32">
            <a:extLst>
              <a:ext uri="{FF2B5EF4-FFF2-40B4-BE49-F238E27FC236}">
                <a16:creationId xmlns:a16="http://schemas.microsoft.com/office/drawing/2014/main" id="{1179B946-F0BD-F8D7-C03B-31A40A8FF770}"/>
              </a:ext>
            </a:extLst>
          </p:cNvPr>
          <p:cNvSpPr txBox="1"/>
          <p:nvPr/>
        </p:nvSpPr>
        <p:spPr>
          <a:xfrm>
            <a:off x="7992990" y="4194007"/>
            <a:ext cx="1402089" cy="369332"/>
          </a:xfrm>
          <a:prstGeom prst="rect">
            <a:avLst/>
          </a:prstGeom>
          <a:noFill/>
        </p:spPr>
        <p:txBody>
          <a:bodyPr wrap="square">
            <a:spAutoFit/>
          </a:bodyPr>
          <a:lstStyle/>
          <a:p>
            <a:pPr marL="0" indent="0">
              <a:buNone/>
            </a:pPr>
            <a:r>
              <a:rPr lang="en-US"/>
              <a:t>Q/A pairs</a:t>
            </a:r>
          </a:p>
        </p:txBody>
      </p:sp>
      <p:sp>
        <p:nvSpPr>
          <p:cNvPr id="3" name="TextBox 2">
            <a:extLst>
              <a:ext uri="{FF2B5EF4-FFF2-40B4-BE49-F238E27FC236}">
                <a16:creationId xmlns:a16="http://schemas.microsoft.com/office/drawing/2014/main" id="{BB83A6AC-84AC-9068-3512-BC24DBCF0615}"/>
              </a:ext>
            </a:extLst>
          </p:cNvPr>
          <p:cNvSpPr txBox="1"/>
          <p:nvPr/>
        </p:nvSpPr>
        <p:spPr>
          <a:xfrm>
            <a:off x="838200" y="5818805"/>
            <a:ext cx="10818830" cy="830997"/>
          </a:xfrm>
          <a:prstGeom prst="rect">
            <a:avLst/>
          </a:prstGeom>
          <a:noFill/>
        </p:spPr>
        <p:txBody>
          <a:bodyPr wrap="square">
            <a:spAutoFit/>
          </a:bodyPr>
          <a:lstStyle/>
          <a:p>
            <a:pPr marL="0" indent="0">
              <a:buNone/>
            </a:pPr>
            <a:r>
              <a:rPr lang="en-US" sz="2400">
                <a:latin typeface="Segoe UI" panose="020B0502040204020203" pitchFamily="34" charset="0"/>
                <a:cs typeface="Segoe UI" panose="020B0502040204020203" pitchFamily="34" charset="0"/>
              </a:rPr>
              <a:t>Other approach: generate based on help desk tickets, support emails, search requests, questions from beta testers, etc.</a:t>
            </a:r>
          </a:p>
        </p:txBody>
      </p:sp>
      <p:pic>
        <p:nvPicPr>
          <p:cNvPr id="12" name="Graphic 11" descr="Office worker female with solid fill">
            <a:extLst>
              <a:ext uri="{FF2B5EF4-FFF2-40B4-BE49-F238E27FC236}">
                <a16:creationId xmlns:a16="http://schemas.microsoft.com/office/drawing/2014/main" id="{FE0E0453-D7C4-35A5-B869-6F5EDD5091B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26332" y="3809328"/>
            <a:ext cx="1067904" cy="1067904"/>
          </a:xfrm>
          <a:prstGeom prst="rect">
            <a:avLst/>
          </a:prstGeom>
        </p:spPr>
      </p:pic>
      <p:sp>
        <p:nvSpPr>
          <p:cNvPr id="14" name="Text Placeholder 5">
            <a:extLst>
              <a:ext uri="{FF2B5EF4-FFF2-40B4-BE49-F238E27FC236}">
                <a16:creationId xmlns:a16="http://schemas.microsoft.com/office/drawing/2014/main" id="{98F72B34-2C96-A5B9-EED3-A639046C4B08}"/>
              </a:ext>
            </a:extLst>
          </p:cNvPr>
          <p:cNvSpPr txBox="1">
            <a:spLocks/>
          </p:cNvSpPr>
          <p:nvPr/>
        </p:nvSpPr>
        <p:spPr>
          <a:xfrm>
            <a:off x="9429938" y="4934121"/>
            <a:ext cx="964298" cy="706755"/>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800">
                <a:cs typeface="Segoe UI Semilight"/>
              </a:rPr>
              <a:t>Human review</a:t>
            </a:r>
            <a:endParaRPr lang="en-US" sz="1800">
              <a:cs typeface="Arial"/>
            </a:endParaRPr>
          </a:p>
        </p:txBody>
      </p:sp>
      <p:pic>
        <p:nvPicPr>
          <p:cNvPr id="16" name="Graphic 24">
            <a:extLst>
              <a:ext uri="{FF2B5EF4-FFF2-40B4-BE49-F238E27FC236}">
                <a16:creationId xmlns:a16="http://schemas.microsoft.com/office/drawing/2014/main" id="{59008457-B194-2840-8C52-52E08CF4968F}"/>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152304" y="4103880"/>
            <a:ext cx="797368" cy="797368"/>
          </a:xfrm>
          <a:prstGeom prst="rect">
            <a:avLst/>
          </a:prstGeom>
        </p:spPr>
      </p:pic>
    </p:spTree>
    <p:extLst>
      <p:ext uri="{BB962C8B-B14F-4D97-AF65-F5344CB8AC3E}">
        <p14:creationId xmlns:p14="http://schemas.microsoft.com/office/powerpoint/2010/main" val="510450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C9F1-8673-3A2D-992E-5AAD3D1A8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D2CC70-2B45-AC82-0F7E-206F96FE41D0}"/>
              </a:ext>
            </a:extLst>
          </p:cNvPr>
          <p:cNvSpPr>
            <a:spLocks noGrp="1"/>
          </p:cNvSpPr>
          <p:nvPr>
            <p:ph type="title"/>
          </p:nvPr>
        </p:nvSpPr>
        <p:spPr>
          <a:xfrm>
            <a:off x="838200" y="365126"/>
            <a:ext cx="11475464" cy="885902"/>
          </a:xfrm>
        </p:spPr>
        <p:txBody>
          <a:bodyPr/>
          <a:lstStyle/>
          <a:p>
            <a:r>
              <a:rPr lang="en-US">
                <a:effectLst>
                  <a:glow rad="63500">
                    <a:schemeClr val="bg1">
                      <a:alpha val="40000"/>
                    </a:schemeClr>
                  </a:glow>
                </a:effectLst>
                <a:latin typeface="Segoe UI Semibold" panose="020B0702040204020203" pitchFamily="34" charset="0"/>
                <a:cs typeface="Segoe UI Semibold" panose="020B0702040204020203" pitchFamily="34" charset="0"/>
              </a:rPr>
              <a:t>Step 2: Evaluate app against ground truth</a:t>
            </a:r>
          </a:p>
        </p:txBody>
      </p:sp>
      <p:sp>
        <p:nvSpPr>
          <p:cNvPr id="4" name="Content Placeholder 3">
            <a:extLst>
              <a:ext uri="{FF2B5EF4-FFF2-40B4-BE49-F238E27FC236}">
                <a16:creationId xmlns:a16="http://schemas.microsoft.com/office/drawing/2014/main" id="{A803ECD2-A7D9-9641-7C22-DEB66A2B356E}"/>
              </a:ext>
            </a:extLst>
          </p:cNvPr>
          <p:cNvSpPr>
            <a:spLocks noGrp="1"/>
          </p:cNvSpPr>
          <p:nvPr>
            <p:ph idx="1"/>
          </p:nvPr>
        </p:nvSpPr>
        <p:spPr>
          <a:xfrm>
            <a:off x="926416" y="2203337"/>
            <a:ext cx="9444789" cy="473038"/>
          </a:xfrm>
          <a:solidFill>
            <a:schemeClr val="bg1">
              <a:lumMod val="95000"/>
            </a:schemeClr>
          </a:solidFill>
          <a:ln w="38100">
            <a:noFill/>
          </a:ln>
        </p:spPr>
        <p:txBody>
          <a:bodyPr>
            <a:normAutofit/>
          </a:bodyPr>
          <a:lstStyle/>
          <a:p>
            <a:pPr marL="0" indent="0">
              <a:lnSpc>
                <a:spcPts val="2925"/>
              </a:lnSpc>
              <a:buNone/>
            </a:pPr>
            <a:r>
              <a:rPr lang="en-US" sz="2400" b="0">
                <a:solidFill>
                  <a:srgbClr val="795E26"/>
                </a:solidFill>
                <a:effectLst/>
                <a:latin typeface="Consolas" panose="020B0609020204030204" pitchFamily="49" charset="0"/>
                <a:cs typeface="Consolas" panose="020B0609020204030204" pitchFamily="49" charset="0"/>
              </a:rPr>
              <a:t>python</a:t>
            </a:r>
            <a:r>
              <a:rPr lang="en-US" sz="2400" b="0">
                <a:solidFill>
                  <a:srgbClr val="000000"/>
                </a:solidFill>
                <a:effectLst/>
                <a:latin typeface="Consolas" panose="020B0609020204030204" pitchFamily="49" charset="0"/>
                <a:cs typeface="Consolas" panose="020B0609020204030204" pitchFamily="49" charset="0"/>
              </a:rPr>
              <a:t> </a:t>
            </a:r>
            <a:r>
              <a:rPr lang="en-US" sz="2400" b="0">
                <a:solidFill>
                  <a:srgbClr val="A31515"/>
                </a:solidFill>
                <a:effectLst/>
                <a:latin typeface="Consolas" panose="020B0609020204030204" pitchFamily="49" charset="0"/>
                <a:cs typeface="Consolas" panose="020B0609020204030204" pitchFamily="49" charset="0"/>
              </a:rPr>
              <a:t>evals/evaluate.py</a:t>
            </a:r>
            <a:endParaRPr lang="en-US" sz="2400" b="0">
              <a:solidFill>
                <a:srgbClr val="000000"/>
              </a:solidFill>
              <a:effectLst/>
              <a:latin typeface="Consolas" panose="020B0609020204030204" pitchFamily="49" charset="0"/>
              <a:cs typeface="Consolas" panose="020B0609020204030204" pitchFamily="49" charset="0"/>
            </a:endParaRPr>
          </a:p>
        </p:txBody>
      </p:sp>
      <p:sp>
        <p:nvSpPr>
          <p:cNvPr id="5" name="TextBox 4">
            <a:extLst>
              <a:ext uri="{FF2B5EF4-FFF2-40B4-BE49-F238E27FC236}">
                <a16:creationId xmlns:a16="http://schemas.microsoft.com/office/drawing/2014/main" id="{D6EF22AF-AB23-7423-E8AD-8B44891C5A85}"/>
              </a:ext>
            </a:extLst>
          </p:cNvPr>
          <p:cNvSpPr txBox="1"/>
          <p:nvPr/>
        </p:nvSpPr>
        <p:spPr>
          <a:xfrm>
            <a:off x="838199" y="1435302"/>
            <a:ext cx="11289145" cy="461665"/>
          </a:xfrm>
          <a:prstGeom prst="rect">
            <a:avLst/>
          </a:prstGeom>
          <a:noFill/>
        </p:spPr>
        <p:txBody>
          <a:bodyPr wrap="square">
            <a:spAutoFit/>
          </a:bodyPr>
          <a:lstStyle/>
          <a:p>
            <a:pPr marL="0" indent="0">
              <a:buNone/>
            </a:pPr>
            <a:r>
              <a:rPr lang="en-US" sz="2400"/>
              <a:t>Compute GPT metrics and custom metrics for every question in ground truth.</a:t>
            </a:r>
          </a:p>
        </p:txBody>
      </p:sp>
      <p:grpSp>
        <p:nvGrpSpPr>
          <p:cNvPr id="3" name="Group 2">
            <a:extLst>
              <a:ext uri="{FF2B5EF4-FFF2-40B4-BE49-F238E27FC236}">
                <a16:creationId xmlns:a16="http://schemas.microsoft.com/office/drawing/2014/main" id="{CA3F4496-7512-1F26-3A38-6F04327A7727}"/>
              </a:ext>
            </a:extLst>
          </p:cNvPr>
          <p:cNvGrpSpPr/>
          <p:nvPr/>
        </p:nvGrpSpPr>
        <p:grpSpPr>
          <a:xfrm>
            <a:off x="1711485" y="3369018"/>
            <a:ext cx="2325701" cy="1842334"/>
            <a:chOff x="1765980" y="2765707"/>
            <a:chExt cx="2325701" cy="1842334"/>
          </a:xfrm>
        </p:grpSpPr>
        <p:sp>
          <p:nvSpPr>
            <p:cNvPr id="7" name="Text Placeholder 5">
              <a:extLst>
                <a:ext uri="{FF2B5EF4-FFF2-40B4-BE49-F238E27FC236}">
                  <a16:creationId xmlns:a16="http://schemas.microsoft.com/office/drawing/2014/main" id="{CCF8AC3A-13F1-A948-AC5F-AAD192E3456F}"/>
                </a:ext>
              </a:extLst>
            </p:cNvPr>
            <p:cNvSpPr txBox="1">
              <a:spLocks/>
            </p:cNvSpPr>
            <p:nvPr/>
          </p:nvSpPr>
          <p:spPr>
            <a:xfrm>
              <a:off x="2867001" y="3960553"/>
              <a:ext cx="1163282" cy="647488"/>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cs typeface="Segoe UI Semilight"/>
                </a:rPr>
                <a:t>App endpoint</a:t>
              </a:r>
              <a:endParaRPr lang="en-US" sz="1800">
                <a:cs typeface="Arial"/>
              </a:endParaRPr>
            </a:p>
          </p:txBody>
        </p:sp>
        <p:cxnSp>
          <p:nvCxnSpPr>
            <p:cNvPr id="8" name="Straight Arrow Connector 7">
              <a:extLst>
                <a:ext uri="{FF2B5EF4-FFF2-40B4-BE49-F238E27FC236}">
                  <a16:creationId xmlns:a16="http://schemas.microsoft.com/office/drawing/2014/main" id="{8B76B98A-190C-DBE3-95C7-B7C45FCDC911}"/>
                </a:ext>
              </a:extLst>
            </p:cNvPr>
            <p:cNvCxnSpPr>
              <a:cxnSpLocks/>
            </p:cNvCxnSpPr>
            <p:nvPr/>
          </p:nvCxnSpPr>
          <p:spPr>
            <a:xfrm>
              <a:off x="1872074" y="3495693"/>
              <a:ext cx="874366" cy="0"/>
            </a:xfrm>
            <a:prstGeom prst="straightConnector1">
              <a:avLst/>
            </a:prstGeom>
            <a:ln w="28575">
              <a:solidFill>
                <a:schemeClr val="tx1"/>
              </a:solidFill>
              <a:tailEnd type="triangle"/>
            </a:ln>
          </p:spPr>
          <p:style>
            <a:lnRef idx="2">
              <a:schemeClr val="accent4"/>
            </a:lnRef>
            <a:fillRef idx="0">
              <a:schemeClr val="accent4"/>
            </a:fillRef>
            <a:effectRef idx="1">
              <a:schemeClr val="accent4"/>
            </a:effectRef>
            <a:fontRef idx="minor">
              <a:schemeClr val="tx1"/>
            </a:fontRef>
          </p:style>
        </p:cxnSp>
        <p:sp>
          <p:nvSpPr>
            <p:cNvPr id="15" name="TextBox 14">
              <a:extLst>
                <a:ext uri="{FF2B5EF4-FFF2-40B4-BE49-F238E27FC236}">
                  <a16:creationId xmlns:a16="http://schemas.microsoft.com/office/drawing/2014/main" id="{3B0FB48C-17E4-D8E4-31DB-4F43AF72929C}"/>
                </a:ext>
              </a:extLst>
            </p:cNvPr>
            <p:cNvSpPr txBox="1"/>
            <p:nvPr/>
          </p:nvSpPr>
          <p:spPr>
            <a:xfrm>
              <a:off x="1765980" y="3076622"/>
              <a:ext cx="1402089" cy="369332"/>
            </a:xfrm>
            <a:prstGeom prst="rect">
              <a:avLst/>
            </a:prstGeom>
            <a:noFill/>
          </p:spPr>
          <p:txBody>
            <a:bodyPr wrap="square">
              <a:spAutoFit/>
            </a:bodyPr>
            <a:lstStyle/>
            <a:p>
              <a:pPr marL="0" indent="0">
                <a:buNone/>
              </a:pPr>
              <a:r>
                <a:rPr lang="en-US"/>
                <a:t>question</a:t>
              </a:r>
            </a:p>
          </p:txBody>
        </p:sp>
        <p:pic>
          <p:nvPicPr>
            <p:cNvPr id="25" name="Graphic 24" descr="Internet with solid fill">
              <a:extLst>
                <a:ext uri="{FF2B5EF4-FFF2-40B4-BE49-F238E27FC236}">
                  <a16:creationId xmlns:a16="http://schemas.microsoft.com/office/drawing/2014/main" id="{4802E67B-E2EF-CB87-255C-279693361A4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9594" y="2765707"/>
              <a:ext cx="1402087" cy="1402087"/>
            </a:xfrm>
            <a:prstGeom prst="rect">
              <a:avLst/>
            </a:prstGeom>
          </p:spPr>
        </p:pic>
      </p:grpSp>
      <p:grpSp>
        <p:nvGrpSpPr>
          <p:cNvPr id="26" name="Group 25">
            <a:extLst>
              <a:ext uri="{FF2B5EF4-FFF2-40B4-BE49-F238E27FC236}">
                <a16:creationId xmlns:a16="http://schemas.microsoft.com/office/drawing/2014/main" id="{61C7BEC8-103C-DEBB-2CF7-DAD728623699}"/>
              </a:ext>
            </a:extLst>
          </p:cNvPr>
          <p:cNvGrpSpPr/>
          <p:nvPr/>
        </p:nvGrpSpPr>
        <p:grpSpPr>
          <a:xfrm>
            <a:off x="8643822" y="5204056"/>
            <a:ext cx="3669842" cy="771020"/>
            <a:chOff x="8698317" y="5064571"/>
            <a:chExt cx="3669842" cy="771020"/>
          </a:xfrm>
        </p:grpSpPr>
        <p:cxnSp>
          <p:nvCxnSpPr>
            <p:cNvPr id="27" name="Straight Arrow Connector 26">
              <a:extLst>
                <a:ext uri="{FF2B5EF4-FFF2-40B4-BE49-F238E27FC236}">
                  <a16:creationId xmlns:a16="http://schemas.microsoft.com/office/drawing/2014/main" id="{897B1253-C41C-A955-5F0B-61264964D4DB}"/>
                </a:ext>
              </a:extLst>
            </p:cNvPr>
            <p:cNvCxnSpPr>
              <a:cxnSpLocks/>
            </p:cNvCxnSpPr>
            <p:nvPr/>
          </p:nvCxnSpPr>
          <p:spPr>
            <a:xfrm>
              <a:off x="8741636" y="5624772"/>
              <a:ext cx="1375417" cy="0"/>
            </a:xfrm>
            <a:prstGeom prst="straightConnector1">
              <a:avLst/>
            </a:prstGeom>
            <a:ln w="28575">
              <a:solidFill>
                <a:schemeClr val="tx1"/>
              </a:solidFill>
              <a:tailEnd type="triangle"/>
            </a:ln>
          </p:spPr>
          <p:style>
            <a:lnRef idx="2">
              <a:schemeClr val="accent4"/>
            </a:lnRef>
            <a:fillRef idx="0">
              <a:schemeClr val="accent4"/>
            </a:fillRef>
            <a:effectRef idx="1">
              <a:schemeClr val="accent4"/>
            </a:effectRef>
            <a:fontRef idx="minor">
              <a:schemeClr val="tx1"/>
            </a:fontRef>
          </p:style>
        </p:cxnSp>
        <p:sp>
          <p:nvSpPr>
            <p:cNvPr id="28" name="TextBox 27">
              <a:extLst>
                <a:ext uri="{FF2B5EF4-FFF2-40B4-BE49-F238E27FC236}">
                  <a16:creationId xmlns:a16="http://schemas.microsoft.com/office/drawing/2014/main" id="{1854D0CE-D57D-268B-D1A0-9D2E0078CF64}"/>
                </a:ext>
              </a:extLst>
            </p:cNvPr>
            <p:cNvSpPr txBox="1"/>
            <p:nvPr/>
          </p:nvSpPr>
          <p:spPr>
            <a:xfrm>
              <a:off x="8698317" y="5194538"/>
              <a:ext cx="1501082" cy="369332"/>
            </a:xfrm>
            <a:prstGeom prst="rect">
              <a:avLst/>
            </a:prstGeom>
            <a:noFill/>
          </p:spPr>
          <p:txBody>
            <a:bodyPr wrap="square">
              <a:spAutoFit/>
            </a:bodyPr>
            <a:lstStyle/>
            <a:p>
              <a:pPr marL="0" indent="0">
                <a:buNone/>
              </a:pPr>
              <a:r>
                <a:rPr lang="en-US"/>
                <a:t>GPT metrics</a:t>
              </a:r>
            </a:p>
          </p:txBody>
        </p:sp>
        <p:sp>
          <p:nvSpPr>
            <p:cNvPr id="34" name="TextBox 33">
              <a:extLst>
                <a:ext uri="{FF2B5EF4-FFF2-40B4-BE49-F238E27FC236}">
                  <a16:creationId xmlns:a16="http://schemas.microsoft.com/office/drawing/2014/main" id="{FCF8CB58-5007-5729-988E-DC5D81FED3FF}"/>
                </a:ext>
              </a:extLst>
            </p:cNvPr>
            <p:cNvSpPr txBox="1"/>
            <p:nvPr/>
          </p:nvSpPr>
          <p:spPr>
            <a:xfrm>
              <a:off x="10215732" y="5064571"/>
              <a:ext cx="2152427" cy="369332"/>
            </a:xfrm>
            <a:prstGeom prst="rect">
              <a:avLst/>
            </a:prstGeom>
            <a:noFill/>
          </p:spPr>
          <p:txBody>
            <a:bodyPr wrap="square">
              <a:spAutoFit/>
            </a:bodyPr>
            <a:lstStyle/>
            <a:p>
              <a:pPr marL="0" indent="0">
                <a:buNone/>
              </a:pPr>
              <a:r>
                <a:rPr lang="en-US" err="1"/>
                <a:t>gpt_groundedness</a:t>
              </a:r>
              <a:endParaRPr lang="en-US"/>
            </a:p>
          </p:txBody>
        </p:sp>
        <p:sp>
          <p:nvSpPr>
            <p:cNvPr id="35" name="TextBox 34">
              <a:extLst>
                <a:ext uri="{FF2B5EF4-FFF2-40B4-BE49-F238E27FC236}">
                  <a16:creationId xmlns:a16="http://schemas.microsoft.com/office/drawing/2014/main" id="{CA68AA88-DED2-734A-8A2E-5344DB1FA9B8}"/>
                </a:ext>
              </a:extLst>
            </p:cNvPr>
            <p:cNvSpPr txBox="1"/>
            <p:nvPr/>
          </p:nvSpPr>
          <p:spPr>
            <a:xfrm>
              <a:off x="10215733" y="5466259"/>
              <a:ext cx="1725751" cy="369332"/>
            </a:xfrm>
            <a:prstGeom prst="rect">
              <a:avLst/>
            </a:prstGeom>
            <a:noFill/>
          </p:spPr>
          <p:txBody>
            <a:bodyPr wrap="square">
              <a:spAutoFit/>
            </a:bodyPr>
            <a:lstStyle/>
            <a:p>
              <a:pPr marL="0" indent="0">
                <a:buNone/>
              </a:pPr>
              <a:r>
                <a:rPr lang="en-US" err="1"/>
                <a:t>gpt_relevance</a:t>
              </a:r>
              <a:endParaRPr lang="en-US"/>
            </a:p>
          </p:txBody>
        </p:sp>
      </p:grpSp>
      <p:grpSp>
        <p:nvGrpSpPr>
          <p:cNvPr id="36" name="Group 35">
            <a:extLst>
              <a:ext uri="{FF2B5EF4-FFF2-40B4-BE49-F238E27FC236}">
                <a16:creationId xmlns:a16="http://schemas.microsoft.com/office/drawing/2014/main" id="{39D2EEBB-CECE-29A7-FC7C-35B4A607C9CA}"/>
              </a:ext>
            </a:extLst>
          </p:cNvPr>
          <p:cNvGrpSpPr/>
          <p:nvPr/>
        </p:nvGrpSpPr>
        <p:grpSpPr>
          <a:xfrm>
            <a:off x="6125525" y="3379606"/>
            <a:ext cx="6325151" cy="1078171"/>
            <a:chOff x="5553068" y="4953877"/>
            <a:chExt cx="6325151" cy="1078171"/>
          </a:xfrm>
        </p:grpSpPr>
        <p:sp>
          <p:nvSpPr>
            <p:cNvPr id="37" name="TextBox 36">
              <a:extLst>
                <a:ext uri="{FF2B5EF4-FFF2-40B4-BE49-F238E27FC236}">
                  <a16:creationId xmlns:a16="http://schemas.microsoft.com/office/drawing/2014/main" id="{EDB84D09-AF83-1207-CFE1-0F5852404648}"/>
                </a:ext>
              </a:extLst>
            </p:cNvPr>
            <p:cNvSpPr txBox="1"/>
            <p:nvPr/>
          </p:nvSpPr>
          <p:spPr>
            <a:xfrm>
              <a:off x="9591630" y="4953877"/>
              <a:ext cx="1725751" cy="369332"/>
            </a:xfrm>
            <a:prstGeom prst="rect">
              <a:avLst/>
            </a:prstGeom>
            <a:noFill/>
          </p:spPr>
          <p:txBody>
            <a:bodyPr wrap="square">
              <a:spAutoFit/>
            </a:bodyPr>
            <a:lstStyle/>
            <a:p>
              <a:pPr marL="0" indent="0">
                <a:buNone/>
              </a:pPr>
              <a:r>
                <a:rPr lang="en-US"/>
                <a:t>length</a:t>
              </a:r>
            </a:p>
          </p:txBody>
        </p:sp>
        <p:sp>
          <p:nvSpPr>
            <p:cNvPr id="38" name="TextBox 37">
              <a:extLst>
                <a:ext uri="{FF2B5EF4-FFF2-40B4-BE49-F238E27FC236}">
                  <a16:creationId xmlns:a16="http://schemas.microsoft.com/office/drawing/2014/main" id="{6642F795-8AAC-4B1B-360C-644309626BDE}"/>
                </a:ext>
              </a:extLst>
            </p:cNvPr>
            <p:cNvSpPr txBox="1"/>
            <p:nvPr/>
          </p:nvSpPr>
          <p:spPr>
            <a:xfrm>
              <a:off x="9591629" y="5662716"/>
              <a:ext cx="2286590" cy="369332"/>
            </a:xfrm>
            <a:prstGeom prst="rect">
              <a:avLst/>
            </a:prstGeom>
            <a:noFill/>
          </p:spPr>
          <p:txBody>
            <a:bodyPr wrap="square">
              <a:spAutoFit/>
            </a:bodyPr>
            <a:lstStyle/>
            <a:p>
              <a:pPr marL="0" indent="0">
                <a:buNone/>
              </a:pPr>
              <a:r>
                <a:rPr lang="en-US" err="1"/>
                <a:t>citations_matched</a:t>
              </a:r>
              <a:endParaRPr lang="en-US"/>
            </a:p>
          </p:txBody>
        </p:sp>
        <p:sp>
          <p:nvSpPr>
            <p:cNvPr id="39" name="TextBox 38">
              <a:extLst>
                <a:ext uri="{FF2B5EF4-FFF2-40B4-BE49-F238E27FC236}">
                  <a16:creationId xmlns:a16="http://schemas.microsoft.com/office/drawing/2014/main" id="{9CBC2E3D-9032-1945-3EBE-59B118165F68}"/>
                </a:ext>
              </a:extLst>
            </p:cNvPr>
            <p:cNvSpPr txBox="1"/>
            <p:nvPr/>
          </p:nvSpPr>
          <p:spPr>
            <a:xfrm>
              <a:off x="9591628" y="5298790"/>
              <a:ext cx="1725751" cy="369332"/>
            </a:xfrm>
            <a:prstGeom prst="rect">
              <a:avLst/>
            </a:prstGeom>
            <a:noFill/>
          </p:spPr>
          <p:txBody>
            <a:bodyPr wrap="square">
              <a:spAutoFit/>
            </a:bodyPr>
            <a:lstStyle/>
            <a:p>
              <a:pPr marL="0" indent="0">
                <a:buNone/>
              </a:pPr>
              <a:r>
                <a:rPr lang="en-US"/>
                <a:t>latency</a:t>
              </a:r>
            </a:p>
          </p:txBody>
        </p:sp>
        <p:cxnSp>
          <p:nvCxnSpPr>
            <p:cNvPr id="40" name="Straight Arrow Connector 39">
              <a:extLst>
                <a:ext uri="{FF2B5EF4-FFF2-40B4-BE49-F238E27FC236}">
                  <a16:creationId xmlns:a16="http://schemas.microsoft.com/office/drawing/2014/main" id="{64E7A2E9-3D13-097F-D5E8-491009D5A155}"/>
                </a:ext>
              </a:extLst>
            </p:cNvPr>
            <p:cNvCxnSpPr>
              <a:cxnSpLocks/>
            </p:cNvCxnSpPr>
            <p:nvPr/>
          </p:nvCxnSpPr>
          <p:spPr>
            <a:xfrm>
              <a:off x="5553068" y="5653943"/>
              <a:ext cx="3927408" cy="0"/>
            </a:xfrm>
            <a:prstGeom prst="straightConnector1">
              <a:avLst/>
            </a:prstGeom>
            <a:ln w="28575">
              <a:solidFill>
                <a:schemeClr val="tx1"/>
              </a:solidFill>
              <a:tailEnd type="triangle"/>
            </a:ln>
          </p:spPr>
          <p:style>
            <a:lnRef idx="2">
              <a:schemeClr val="accent4"/>
            </a:lnRef>
            <a:fillRef idx="0">
              <a:schemeClr val="accent4"/>
            </a:fillRef>
            <a:effectRef idx="1">
              <a:schemeClr val="accent4"/>
            </a:effectRef>
            <a:fontRef idx="minor">
              <a:schemeClr val="tx1"/>
            </a:fontRef>
          </p:style>
        </p:cxnSp>
        <p:sp>
          <p:nvSpPr>
            <p:cNvPr id="41" name="TextBox 40">
              <a:extLst>
                <a:ext uri="{FF2B5EF4-FFF2-40B4-BE49-F238E27FC236}">
                  <a16:creationId xmlns:a16="http://schemas.microsoft.com/office/drawing/2014/main" id="{61EDFE69-5B4B-3139-6F6E-4C94220EEFFF}"/>
                </a:ext>
              </a:extLst>
            </p:cNvPr>
            <p:cNvSpPr txBox="1"/>
            <p:nvPr/>
          </p:nvSpPr>
          <p:spPr>
            <a:xfrm>
              <a:off x="7979394" y="5237250"/>
              <a:ext cx="1501082" cy="369332"/>
            </a:xfrm>
            <a:prstGeom prst="rect">
              <a:avLst/>
            </a:prstGeom>
            <a:noFill/>
          </p:spPr>
          <p:txBody>
            <a:bodyPr wrap="square">
              <a:spAutoFit/>
            </a:bodyPr>
            <a:lstStyle/>
            <a:p>
              <a:pPr marL="0" indent="0">
                <a:buNone/>
              </a:pPr>
              <a:r>
                <a:rPr lang="en-US"/>
                <a:t>code metrics</a:t>
              </a:r>
            </a:p>
          </p:txBody>
        </p:sp>
      </p:grpSp>
      <p:grpSp>
        <p:nvGrpSpPr>
          <p:cNvPr id="42" name="Group 41">
            <a:extLst>
              <a:ext uri="{FF2B5EF4-FFF2-40B4-BE49-F238E27FC236}">
                <a16:creationId xmlns:a16="http://schemas.microsoft.com/office/drawing/2014/main" id="{77FEA386-179B-BDF4-0C87-65960ED7215C}"/>
              </a:ext>
            </a:extLst>
          </p:cNvPr>
          <p:cNvGrpSpPr/>
          <p:nvPr/>
        </p:nvGrpSpPr>
        <p:grpSpPr>
          <a:xfrm>
            <a:off x="1728915" y="3036781"/>
            <a:ext cx="5038620" cy="1982430"/>
            <a:chOff x="1783410" y="2433470"/>
            <a:chExt cx="5038620" cy="1982430"/>
          </a:xfrm>
        </p:grpSpPr>
        <p:sp>
          <p:nvSpPr>
            <p:cNvPr id="43" name="TextBox 42">
              <a:extLst>
                <a:ext uri="{FF2B5EF4-FFF2-40B4-BE49-F238E27FC236}">
                  <a16:creationId xmlns:a16="http://schemas.microsoft.com/office/drawing/2014/main" id="{A957A9FF-35B3-87FF-E50D-9E51475B7F9C}"/>
                </a:ext>
              </a:extLst>
            </p:cNvPr>
            <p:cNvSpPr txBox="1"/>
            <p:nvPr/>
          </p:nvSpPr>
          <p:spPr>
            <a:xfrm>
              <a:off x="3961799" y="3100816"/>
              <a:ext cx="1615142" cy="369332"/>
            </a:xfrm>
            <a:prstGeom prst="rect">
              <a:avLst/>
            </a:prstGeom>
            <a:noFill/>
          </p:spPr>
          <p:txBody>
            <a:bodyPr wrap="square">
              <a:spAutoFit/>
            </a:bodyPr>
            <a:lstStyle/>
            <a:p>
              <a:pPr marL="0" indent="0">
                <a:buNone/>
              </a:pPr>
              <a:r>
                <a:rPr lang="en-US"/>
                <a:t>response</a:t>
              </a:r>
            </a:p>
          </p:txBody>
        </p:sp>
        <p:cxnSp>
          <p:nvCxnSpPr>
            <p:cNvPr id="44" name="Straight Arrow Connector 43">
              <a:extLst>
                <a:ext uri="{FF2B5EF4-FFF2-40B4-BE49-F238E27FC236}">
                  <a16:creationId xmlns:a16="http://schemas.microsoft.com/office/drawing/2014/main" id="{C84C2309-1F4E-43D0-D0C2-7559EECB7AC7}"/>
                </a:ext>
              </a:extLst>
            </p:cNvPr>
            <p:cNvCxnSpPr>
              <a:cxnSpLocks/>
            </p:cNvCxnSpPr>
            <p:nvPr/>
          </p:nvCxnSpPr>
          <p:spPr>
            <a:xfrm>
              <a:off x="3961799" y="3524869"/>
              <a:ext cx="1383936" cy="0"/>
            </a:xfrm>
            <a:prstGeom prst="straightConnector1">
              <a:avLst/>
            </a:prstGeom>
            <a:ln w="28575">
              <a:solidFill>
                <a:schemeClr val="tx1"/>
              </a:solidFill>
              <a:tailEnd type="triangle"/>
            </a:ln>
          </p:spPr>
          <p:style>
            <a:lnRef idx="2">
              <a:schemeClr val="accent4"/>
            </a:lnRef>
            <a:fillRef idx="0">
              <a:schemeClr val="accent4"/>
            </a:fillRef>
            <a:effectRef idx="1">
              <a:schemeClr val="accent4"/>
            </a:effectRef>
            <a:fontRef idx="minor">
              <a:schemeClr val="tx1"/>
            </a:fontRef>
          </p:style>
        </p:cxnSp>
        <p:cxnSp>
          <p:nvCxnSpPr>
            <p:cNvPr id="45" name="Straight Arrow Connector 44">
              <a:extLst>
                <a:ext uri="{FF2B5EF4-FFF2-40B4-BE49-F238E27FC236}">
                  <a16:creationId xmlns:a16="http://schemas.microsoft.com/office/drawing/2014/main" id="{5762EA24-C233-6A32-C889-8FE47C61405D}"/>
                </a:ext>
              </a:extLst>
            </p:cNvPr>
            <p:cNvCxnSpPr>
              <a:cxnSpLocks/>
            </p:cNvCxnSpPr>
            <p:nvPr/>
          </p:nvCxnSpPr>
          <p:spPr>
            <a:xfrm>
              <a:off x="1872074" y="2850708"/>
              <a:ext cx="3478214" cy="0"/>
            </a:xfrm>
            <a:prstGeom prst="straightConnector1">
              <a:avLst/>
            </a:prstGeom>
            <a:ln w="28575">
              <a:solidFill>
                <a:schemeClr val="tx1"/>
              </a:solidFill>
              <a:tailEnd type="triangle"/>
            </a:ln>
          </p:spPr>
          <p:style>
            <a:lnRef idx="2">
              <a:schemeClr val="accent4"/>
            </a:lnRef>
            <a:fillRef idx="0">
              <a:schemeClr val="accent4"/>
            </a:fillRef>
            <a:effectRef idx="1">
              <a:schemeClr val="accent4"/>
            </a:effectRef>
            <a:fontRef idx="minor">
              <a:schemeClr val="tx1"/>
            </a:fontRef>
          </p:style>
        </p:cxnSp>
        <p:sp>
          <p:nvSpPr>
            <p:cNvPr id="46" name="TextBox 45">
              <a:extLst>
                <a:ext uri="{FF2B5EF4-FFF2-40B4-BE49-F238E27FC236}">
                  <a16:creationId xmlns:a16="http://schemas.microsoft.com/office/drawing/2014/main" id="{E1CB9356-8287-FD71-6C08-5D62CC22747F}"/>
                </a:ext>
              </a:extLst>
            </p:cNvPr>
            <p:cNvSpPr txBox="1"/>
            <p:nvPr/>
          </p:nvSpPr>
          <p:spPr>
            <a:xfrm>
              <a:off x="1783410" y="2433470"/>
              <a:ext cx="1020142" cy="369332"/>
            </a:xfrm>
            <a:prstGeom prst="rect">
              <a:avLst/>
            </a:prstGeom>
            <a:noFill/>
          </p:spPr>
          <p:txBody>
            <a:bodyPr wrap="square">
              <a:spAutoFit/>
            </a:bodyPr>
            <a:lstStyle/>
            <a:p>
              <a:pPr marL="0" indent="0">
                <a:buNone/>
              </a:pPr>
              <a:r>
                <a:rPr lang="en-US"/>
                <a:t>answer</a:t>
              </a:r>
            </a:p>
          </p:txBody>
        </p:sp>
        <p:grpSp>
          <p:nvGrpSpPr>
            <p:cNvPr id="47" name="Group 46">
              <a:extLst>
                <a:ext uri="{FF2B5EF4-FFF2-40B4-BE49-F238E27FC236}">
                  <a16:creationId xmlns:a16="http://schemas.microsoft.com/office/drawing/2014/main" id="{AE972BCB-8A5D-0AF8-BF79-AC974B658FB1}"/>
                </a:ext>
              </a:extLst>
            </p:cNvPr>
            <p:cNvGrpSpPr/>
            <p:nvPr/>
          </p:nvGrpSpPr>
          <p:grpSpPr>
            <a:xfrm>
              <a:off x="4535440" y="2571919"/>
              <a:ext cx="2286590" cy="1843981"/>
              <a:chOff x="4691391" y="3428985"/>
              <a:chExt cx="2286590" cy="1843981"/>
            </a:xfrm>
          </p:grpSpPr>
          <p:sp>
            <p:nvSpPr>
              <p:cNvPr id="48" name="Text Placeholder 5">
                <a:extLst>
                  <a:ext uri="{FF2B5EF4-FFF2-40B4-BE49-F238E27FC236}">
                    <a16:creationId xmlns:a16="http://schemas.microsoft.com/office/drawing/2014/main" id="{D1C442B8-5551-DCB1-A2C0-45B2EBB998B5}"/>
                  </a:ext>
                </a:extLst>
              </p:cNvPr>
              <p:cNvSpPr txBox="1">
                <a:spLocks/>
              </p:cNvSpPr>
              <p:nvPr/>
            </p:nvSpPr>
            <p:spPr>
              <a:xfrm>
                <a:off x="4691391" y="4566211"/>
                <a:ext cx="2286590" cy="706755"/>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cs typeface="Segoe UI Semilight"/>
                  </a:rPr>
                  <a:t>Python code</a:t>
                </a:r>
                <a:endParaRPr lang="en-US" sz="1800">
                  <a:cs typeface="Arial"/>
                </a:endParaRPr>
              </a:p>
            </p:txBody>
          </p:sp>
          <p:pic>
            <p:nvPicPr>
              <p:cNvPr id="49" name="Picture 2" descr="Python Software Foundation">
                <a:extLst>
                  <a:ext uri="{FF2B5EF4-FFF2-40B4-BE49-F238E27FC236}">
                    <a16:creationId xmlns:a16="http://schemas.microsoft.com/office/drawing/2014/main" id="{088F40F4-E08F-3A43-C0B7-1FD699C1907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78938" b="14583"/>
              <a:stretch/>
            </p:blipFill>
            <p:spPr bwMode="auto">
              <a:xfrm>
                <a:off x="5263590" y="3428985"/>
                <a:ext cx="1142192" cy="113722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50" name="Group 49">
            <a:extLst>
              <a:ext uri="{FF2B5EF4-FFF2-40B4-BE49-F238E27FC236}">
                <a16:creationId xmlns:a16="http://schemas.microsoft.com/office/drawing/2014/main" id="{EF2470EC-A6CC-4188-8BBF-30415924E710}"/>
              </a:ext>
            </a:extLst>
          </p:cNvPr>
          <p:cNvGrpSpPr/>
          <p:nvPr/>
        </p:nvGrpSpPr>
        <p:grpSpPr>
          <a:xfrm>
            <a:off x="4529337" y="4709071"/>
            <a:ext cx="2286590" cy="2118898"/>
            <a:chOff x="4583832" y="4569586"/>
            <a:chExt cx="2286590" cy="2118898"/>
          </a:xfrm>
        </p:grpSpPr>
        <p:grpSp>
          <p:nvGrpSpPr>
            <p:cNvPr id="51" name="Group 50">
              <a:extLst>
                <a:ext uri="{FF2B5EF4-FFF2-40B4-BE49-F238E27FC236}">
                  <a16:creationId xmlns:a16="http://schemas.microsoft.com/office/drawing/2014/main" id="{A314FB93-234F-F841-8B6E-9F1EE4497C08}"/>
                </a:ext>
              </a:extLst>
            </p:cNvPr>
            <p:cNvGrpSpPr/>
            <p:nvPr/>
          </p:nvGrpSpPr>
          <p:grpSpPr>
            <a:xfrm>
              <a:off x="4583832" y="4844503"/>
              <a:ext cx="2286590" cy="1843981"/>
              <a:chOff x="4583832" y="4844503"/>
              <a:chExt cx="2286590" cy="1843981"/>
            </a:xfrm>
          </p:grpSpPr>
          <p:sp>
            <p:nvSpPr>
              <p:cNvPr id="53" name="Text Placeholder 5">
                <a:extLst>
                  <a:ext uri="{FF2B5EF4-FFF2-40B4-BE49-F238E27FC236}">
                    <a16:creationId xmlns:a16="http://schemas.microsoft.com/office/drawing/2014/main" id="{F33BB6F8-DC0A-5822-98A5-86B56CA861F0}"/>
                  </a:ext>
                </a:extLst>
              </p:cNvPr>
              <p:cNvSpPr txBox="1">
                <a:spLocks/>
              </p:cNvSpPr>
              <p:nvPr/>
            </p:nvSpPr>
            <p:spPr>
              <a:xfrm>
                <a:off x="4583832" y="5981729"/>
                <a:ext cx="2286590" cy="706755"/>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a:cs typeface="Segoe UI Semilight"/>
                  </a:rPr>
                  <a:t>azure-ai-evaluation</a:t>
                </a:r>
                <a:br>
                  <a:rPr lang="en-US" sz="1800">
                    <a:cs typeface="Segoe UI Semilight"/>
                  </a:rPr>
                </a:br>
                <a:r>
                  <a:rPr lang="en-US" sz="1800">
                    <a:cs typeface="Segoe UI Semilight"/>
                  </a:rPr>
                  <a:t>SDK</a:t>
                </a:r>
                <a:endParaRPr lang="en-US" sz="1800">
                  <a:cs typeface="Arial"/>
                </a:endParaRPr>
              </a:p>
            </p:txBody>
          </p:sp>
          <p:pic>
            <p:nvPicPr>
              <p:cNvPr id="54" name="Picture 2" descr="Python Software Foundation">
                <a:extLst>
                  <a:ext uri="{FF2B5EF4-FFF2-40B4-BE49-F238E27FC236}">
                    <a16:creationId xmlns:a16="http://schemas.microsoft.com/office/drawing/2014/main" id="{26EB69F1-CF64-2773-D516-900A0F92F21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78938" b="14583"/>
              <a:stretch/>
            </p:blipFill>
            <p:spPr bwMode="auto">
              <a:xfrm>
                <a:off x="5156031" y="4844503"/>
                <a:ext cx="1142192" cy="1137226"/>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2" name="Straight Arrow Connector 51">
              <a:extLst>
                <a:ext uri="{FF2B5EF4-FFF2-40B4-BE49-F238E27FC236}">
                  <a16:creationId xmlns:a16="http://schemas.microsoft.com/office/drawing/2014/main" id="{37DAEFD8-6823-8396-5AC7-5C0BF3E905AF}"/>
                </a:ext>
              </a:extLst>
            </p:cNvPr>
            <p:cNvCxnSpPr>
              <a:cxnSpLocks/>
            </p:cNvCxnSpPr>
            <p:nvPr/>
          </p:nvCxnSpPr>
          <p:spPr>
            <a:xfrm>
              <a:off x="5703306" y="4569586"/>
              <a:ext cx="0" cy="356506"/>
            </a:xfrm>
            <a:prstGeom prst="straightConnector1">
              <a:avLst/>
            </a:prstGeom>
            <a:ln w="28575">
              <a:solidFill>
                <a:schemeClr val="tx1"/>
              </a:solidFill>
              <a:tailEnd type="triangle"/>
            </a:ln>
          </p:spPr>
          <p:style>
            <a:lnRef idx="2">
              <a:schemeClr val="accent4"/>
            </a:lnRef>
            <a:fillRef idx="0">
              <a:schemeClr val="accent4"/>
            </a:fillRef>
            <a:effectRef idx="1">
              <a:schemeClr val="accent4"/>
            </a:effectRef>
            <a:fontRef idx="minor">
              <a:schemeClr val="tx1"/>
            </a:fontRef>
          </p:style>
        </p:cxnSp>
      </p:grpSp>
      <p:grpSp>
        <p:nvGrpSpPr>
          <p:cNvPr id="55" name="Group 54">
            <a:extLst>
              <a:ext uri="{FF2B5EF4-FFF2-40B4-BE49-F238E27FC236}">
                <a16:creationId xmlns:a16="http://schemas.microsoft.com/office/drawing/2014/main" id="{58434659-7429-4961-D32D-FB385815D0C0}"/>
              </a:ext>
            </a:extLst>
          </p:cNvPr>
          <p:cNvGrpSpPr/>
          <p:nvPr/>
        </p:nvGrpSpPr>
        <p:grpSpPr>
          <a:xfrm>
            <a:off x="705677" y="2994958"/>
            <a:ext cx="1436734" cy="1611264"/>
            <a:chOff x="680660" y="2391647"/>
            <a:chExt cx="1436734" cy="1611264"/>
          </a:xfrm>
        </p:grpSpPr>
        <p:pic>
          <p:nvPicPr>
            <p:cNvPr id="56" name="Graphic 55" descr="Document outline">
              <a:extLst>
                <a:ext uri="{FF2B5EF4-FFF2-40B4-BE49-F238E27FC236}">
                  <a16:creationId xmlns:a16="http://schemas.microsoft.com/office/drawing/2014/main" id="{3F69AC1F-7A55-D85E-23CB-F07A3E79A3D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0660" y="2391647"/>
              <a:ext cx="1227036" cy="1227036"/>
            </a:xfrm>
            <a:prstGeom prst="rect">
              <a:avLst/>
            </a:prstGeom>
          </p:spPr>
        </p:pic>
        <p:sp>
          <p:nvSpPr>
            <p:cNvPr id="57" name="TextBox 56">
              <a:extLst>
                <a:ext uri="{FF2B5EF4-FFF2-40B4-BE49-F238E27FC236}">
                  <a16:creationId xmlns:a16="http://schemas.microsoft.com/office/drawing/2014/main" id="{E1990F1C-FB48-F5FA-41D4-6F0C45169468}"/>
                </a:ext>
              </a:extLst>
            </p:cNvPr>
            <p:cNvSpPr txBox="1"/>
            <p:nvPr/>
          </p:nvSpPr>
          <p:spPr>
            <a:xfrm>
              <a:off x="731335" y="3633579"/>
              <a:ext cx="1386059" cy="369332"/>
            </a:xfrm>
            <a:prstGeom prst="rect">
              <a:avLst/>
            </a:prstGeom>
            <a:noFill/>
          </p:spPr>
          <p:txBody>
            <a:bodyPr wrap="square">
              <a:spAutoFit/>
            </a:bodyPr>
            <a:lstStyle/>
            <a:p>
              <a:pPr marL="0" indent="0">
                <a:buNone/>
              </a:pPr>
              <a:r>
                <a:rPr lang="en-US"/>
                <a:t>truth.jsonl</a:t>
              </a:r>
            </a:p>
          </p:txBody>
        </p:sp>
      </p:grpSp>
      <p:grpSp>
        <p:nvGrpSpPr>
          <p:cNvPr id="58" name="Group 57">
            <a:extLst>
              <a:ext uri="{FF2B5EF4-FFF2-40B4-BE49-F238E27FC236}">
                <a16:creationId xmlns:a16="http://schemas.microsoft.com/office/drawing/2014/main" id="{E2A7467B-EAF3-40E0-BA11-93904F9A76F7}"/>
              </a:ext>
            </a:extLst>
          </p:cNvPr>
          <p:cNvGrpSpPr/>
          <p:nvPr/>
        </p:nvGrpSpPr>
        <p:grpSpPr>
          <a:xfrm>
            <a:off x="6337026" y="5204056"/>
            <a:ext cx="2241810" cy="1665992"/>
            <a:chOff x="6391521" y="5064571"/>
            <a:chExt cx="2241810" cy="1665992"/>
          </a:xfrm>
        </p:grpSpPr>
        <p:sp>
          <p:nvSpPr>
            <p:cNvPr id="59" name="Text Placeholder 5">
              <a:extLst>
                <a:ext uri="{FF2B5EF4-FFF2-40B4-BE49-F238E27FC236}">
                  <a16:creationId xmlns:a16="http://schemas.microsoft.com/office/drawing/2014/main" id="{188A25F2-BDB8-CD79-9377-4D0EDF5A1BFE}"/>
                </a:ext>
              </a:extLst>
            </p:cNvPr>
            <p:cNvSpPr txBox="1">
              <a:spLocks/>
            </p:cNvSpPr>
            <p:nvPr/>
          </p:nvSpPr>
          <p:spPr>
            <a:xfrm>
              <a:off x="7669033" y="6023808"/>
              <a:ext cx="964298" cy="706755"/>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800">
                  <a:cs typeface="Segoe UI Semilight"/>
                </a:rPr>
                <a:t>Azure OpenAI</a:t>
              </a:r>
              <a:endParaRPr lang="en-US" sz="1800">
                <a:cs typeface="Arial"/>
              </a:endParaRPr>
            </a:p>
          </p:txBody>
        </p:sp>
        <p:cxnSp>
          <p:nvCxnSpPr>
            <p:cNvPr id="60" name="Straight Arrow Connector 59">
              <a:extLst>
                <a:ext uri="{FF2B5EF4-FFF2-40B4-BE49-F238E27FC236}">
                  <a16:creationId xmlns:a16="http://schemas.microsoft.com/office/drawing/2014/main" id="{89DF217F-B348-0BEB-DAD9-AF94712BF4CE}"/>
                </a:ext>
              </a:extLst>
            </p:cNvPr>
            <p:cNvCxnSpPr>
              <a:cxnSpLocks/>
            </p:cNvCxnSpPr>
            <p:nvPr/>
          </p:nvCxnSpPr>
          <p:spPr>
            <a:xfrm>
              <a:off x="6423025" y="5626236"/>
              <a:ext cx="1124893" cy="0"/>
            </a:xfrm>
            <a:prstGeom prst="straightConnector1">
              <a:avLst/>
            </a:prstGeom>
            <a:ln w="28575">
              <a:solidFill>
                <a:schemeClr val="tx1"/>
              </a:solidFill>
              <a:tailEnd type="triangle"/>
            </a:ln>
          </p:spPr>
          <p:style>
            <a:lnRef idx="2">
              <a:schemeClr val="accent4"/>
            </a:lnRef>
            <a:fillRef idx="0">
              <a:schemeClr val="accent4"/>
            </a:fillRef>
            <a:effectRef idx="1">
              <a:schemeClr val="accent4"/>
            </a:effectRef>
            <a:fontRef idx="minor">
              <a:schemeClr val="tx1"/>
            </a:fontRef>
          </p:style>
        </p:cxnSp>
        <p:sp>
          <p:nvSpPr>
            <p:cNvPr id="61" name="TextBox 60">
              <a:extLst>
                <a:ext uri="{FF2B5EF4-FFF2-40B4-BE49-F238E27FC236}">
                  <a16:creationId xmlns:a16="http://schemas.microsoft.com/office/drawing/2014/main" id="{63A145C2-E2DA-4C88-E980-054AD59E2449}"/>
                </a:ext>
              </a:extLst>
            </p:cNvPr>
            <p:cNvSpPr txBox="1"/>
            <p:nvPr/>
          </p:nvSpPr>
          <p:spPr>
            <a:xfrm>
              <a:off x="6391521" y="5183794"/>
              <a:ext cx="1615142" cy="369332"/>
            </a:xfrm>
            <a:prstGeom prst="rect">
              <a:avLst/>
            </a:prstGeom>
            <a:noFill/>
          </p:spPr>
          <p:txBody>
            <a:bodyPr wrap="square">
              <a:spAutoFit/>
            </a:bodyPr>
            <a:lstStyle/>
            <a:p>
              <a:pPr marL="0" indent="0">
                <a:buNone/>
              </a:pPr>
              <a:r>
                <a:rPr lang="en-US"/>
                <a:t>prompt</a:t>
              </a:r>
            </a:p>
          </p:txBody>
        </p:sp>
        <p:pic>
          <p:nvPicPr>
            <p:cNvPr id="62" name="Graphic 61">
              <a:extLst>
                <a:ext uri="{FF2B5EF4-FFF2-40B4-BE49-F238E27FC236}">
                  <a16:creationId xmlns:a16="http://schemas.microsoft.com/office/drawing/2014/main" id="{B8F2BBA7-A6E0-6529-9FEF-F173393A44E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66163" y="5064571"/>
              <a:ext cx="930604" cy="930604"/>
            </a:xfrm>
            <a:prstGeom prst="rect">
              <a:avLst/>
            </a:prstGeom>
          </p:spPr>
        </p:pic>
      </p:grpSp>
    </p:spTree>
    <p:extLst>
      <p:ext uri="{BB962C8B-B14F-4D97-AF65-F5344CB8AC3E}">
        <p14:creationId xmlns:p14="http://schemas.microsoft.com/office/powerpoint/2010/main" val="1539146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C9F1-8673-3A2D-992E-5AAD3D1A8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D2CC70-2B45-AC82-0F7E-206F96FE41D0}"/>
              </a:ext>
            </a:extLst>
          </p:cNvPr>
          <p:cNvSpPr>
            <a:spLocks noGrp="1"/>
          </p:cNvSpPr>
          <p:nvPr>
            <p:ph type="title"/>
          </p:nvPr>
        </p:nvSpPr>
        <p:spPr/>
        <p:txBody>
          <a:bodyPr/>
          <a:lstStyle/>
          <a:p>
            <a:r>
              <a:rPr lang="en-US">
                <a:effectLst>
                  <a:glow rad="63500">
                    <a:schemeClr val="bg1">
                      <a:alpha val="40000"/>
                    </a:schemeClr>
                  </a:glow>
                </a:effectLst>
                <a:latin typeface="Segoe UI Semibold" panose="020B0702040204020203" pitchFamily="34" charset="0"/>
                <a:cs typeface="Segoe UI Semibold" panose="020B0702040204020203" pitchFamily="34" charset="0"/>
              </a:rPr>
              <a:t>Step 3: Review the metrics across runs</a:t>
            </a:r>
          </a:p>
        </p:txBody>
      </p:sp>
      <p:sp>
        <p:nvSpPr>
          <p:cNvPr id="5" name="TextBox 4">
            <a:extLst>
              <a:ext uri="{FF2B5EF4-FFF2-40B4-BE49-F238E27FC236}">
                <a16:creationId xmlns:a16="http://schemas.microsoft.com/office/drawing/2014/main" id="{D6EF22AF-AB23-7423-E8AD-8B44891C5A85}"/>
              </a:ext>
            </a:extLst>
          </p:cNvPr>
          <p:cNvSpPr txBox="1"/>
          <p:nvPr/>
        </p:nvSpPr>
        <p:spPr>
          <a:xfrm>
            <a:off x="838200" y="1620144"/>
            <a:ext cx="10407316" cy="461665"/>
          </a:xfrm>
          <a:prstGeom prst="rect">
            <a:avLst/>
          </a:prstGeom>
          <a:noFill/>
        </p:spPr>
        <p:txBody>
          <a:bodyPr wrap="square">
            <a:spAutoFit/>
          </a:bodyPr>
          <a:lstStyle/>
          <a:p>
            <a:pPr marL="0" indent="0">
              <a:buNone/>
            </a:pPr>
            <a:r>
              <a:rPr lang="en-US" sz="2400"/>
              <a:t>After you’ve run some evaluations, review the results:</a:t>
            </a:r>
          </a:p>
        </p:txBody>
      </p:sp>
      <p:sp>
        <p:nvSpPr>
          <p:cNvPr id="7" name="Content Placeholder 3">
            <a:extLst>
              <a:ext uri="{FF2B5EF4-FFF2-40B4-BE49-F238E27FC236}">
                <a16:creationId xmlns:a16="http://schemas.microsoft.com/office/drawing/2014/main" id="{8C1ED155-0926-0AB6-D3F3-C7E5C6D1A995}"/>
              </a:ext>
            </a:extLst>
          </p:cNvPr>
          <p:cNvSpPr>
            <a:spLocks noGrp="1"/>
          </p:cNvSpPr>
          <p:nvPr>
            <p:ph idx="1"/>
          </p:nvPr>
        </p:nvSpPr>
        <p:spPr>
          <a:xfrm>
            <a:off x="910389" y="2351888"/>
            <a:ext cx="9444789" cy="473038"/>
          </a:xfrm>
          <a:solidFill>
            <a:schemeClr val="bg1">
              <a:lumMod val="95000"/>
            </a:schemeClr>
          </a:solidFill>
          <a:ln w="38100">
            <a:noFill/>
          </a:ln>
        </p:spPr>
        <p:txBody>
          <a:bodyPr>
            <a:normAutofit/>
          </a:bodyPr>
          <a:lstStyle/>
          <a:p>
            <a:pPr marL="0" indent="0">
              <a:lnSpc>
                <a:spcPts val="2725"/>
              </a:lnSpc>
              <a:buNone/>
            </a:pPr>
            <a:r>
              <a:rPr lang="en-US" sz="2200" b="0">
                <a:solidFill>
                  <a:srgbClr val="795E26"/>
                </a:solidFill>
                <a:effectLst/>
                <a:latin typeface="Consolas" panose="020B0609020204030204" pitchFamily="49" charset="0"/>
                <a:cs typeface="Consolas" panose="020B0609020204030204" pitchFamily="49" charset="0"/>
              </a:rPr>
              <a:t>python</a:t>
            </a:r>
            <a:r>
              <a:rPr lang="en-US" sz="2200" b="0">
                <a:solidFill>
                  <a:srgbClr val="000000"/>
                </a:solidFill>
                <a:effectLst/>
                <a:latin typeface="Consolas" panose="020B0609020204030204" pitchFamily="49" charset="0"/>
                <a:cs typeface="Consolas" panose="020B0609020204030204" pitchFamily="49" charset="0"/>
              </a:rPr>
              <a:t> </a:t>
            </a:r>
            <a:r>
              <a:rPr lang="en-US" sz="2200" b="0">
                <a:solidFill>
                  <a:srgbClr val="0000FF"/>
                </a:solidFill>
                <a:effectLst/>
                <a:latin typeface="Consolas" panose="020B0609020204030204" pitchFamily="49" charset="0"/>
                <a:cs typeface="Consolas" panose="020B0609020204030204" pitchFamily="49" charset="0"/>
              </a:rPr>
              <a:t>-m</a:t>
            </a:r>
            <a:r>
              <a:rPr lang="en-US" sz="2200" b="0">
                <a:solidFill>
                  <a:srgbClr val="000000"/>
                </a:solidFill>
                <a:effectLst/>
                <a:latin typeface="Consolas" panose="020B0609020204030204" pitchFamily="49" charset="0"/>
                <a:cs typeface="Consolas" panose="020B0609020204030204" pitchFamily="49" charset="0"/>
              </a:rPr>
              <a:t> </a:t>
            </a:r>
            <a:r>
              <a:rPr lang="en-US" sz="2200" b="0">
                <a:solidFill>
                  <a:srgbClr val="A31515"/>
                </a:solidFill>
                <a:effectLst/>
                <a:latin typeface="Consolas" panose="020B0609020204030204" pitchFamily="49" charset="0"/>
                <a:cs typeface="Consolas" panose="020B0609020204030204" pitchFamily="49" charset="0"/>
              </a:rPr>
              <a:t>evaltools</a:t>
            </a:r>
            <a:r>
              <a:rPr lang="en-US" sz="2200" b="0">
                <a:solidFill>
                  <a:srgbClr val="000000"/>
                </a:solidFill>
                <a:effectLst/>
                <a:latin typeface="Consolas" panose="020B0609020204030204" pitchFamily="49" charset="0"/>
                <a:cs typeface="Consolas" panose="020B0609020204030204" pitchFamily="49" charset="0"/>
              </a:rPr>
              <a:t> </a:t>
            </a:r>
            <a:r>
              <a:rPr lang="en-US" sz="2200" b="0">
                <a:solidFill>
                  <a:srgbClr val="A31515"/>
                </a:solidFill>
                <a:effectLst/>
                <a:latin typeface="Consolas" panose="020B0609020204030204" pitchFamily="49" charset="0"/>
                <a:cs typeface="Consolas" panose="020B0609020204030204" pitchFamily="49" charset="0"/>
              </a:rPr>
              <a:t>summary</a:t>
            </a:r>
            <a:r>
              <a:rPr lang="en-US" sz="2200" b="0">
                <a:solidFill>
                  <a:srgbClr val="000000"/>
                </a:solidFill>
                <a:effectLst/>
                <a:latin typeface="Consolas" panose="020B0609020204030204" pitchFamily="49" charset="0"/>
                <a:cs typeface="Consolas" panose="020B0609020204030204" pitchFamily="49" charset="0"/>
              </a:rPr>
              <a:t> </a:t>
            </a:r>
            <a:r>
              <a:rPr lang="en-US" sz="2200" b="0">
                <a:solidFill>
                  <a:srgbClr val="A31515"/>
                </a:solidFill>
                <a:effectLst/>
                <a:latin typeface="Consolas" panose="020B0609020204030204" pitchFamily="49" charset="0"/>
                <a:cs typeface="Consolas" panose="020B0609020204030204" pitchFamily="49" charset="0"/>
              </a:rPr>
              <a:t>evals/results</a:t>
            </a:r>
            <a:endParaRPr lang="en-US" sz="2200" b="0">
              <a:solidFill>
                <a:srgbClr val="000000"/>
              </a:solidFill>
              <a:effectLst/>
              <a:latin typeface="Consolas" panose="020B0609020204030204" pitchFamily="49" charset="0"/>
              <a:cs typeface="Consolas" panose="020B0609020204030204" pitchFamily="49" charset="0"/>
            </a:endParaRPr>
          </a:p>
        </p:txBody>
      </p:sp>
      <p:pic>
        <p:nvPicPr>
          <p:cNvPr id="4" name="Picture 3">
            <a:extLst>
              <a:ext uri="{FF2B5EF4-FFF2-40B4-BE49-F238E27FC236}">
                <a16:creationId xmlns:a16="http://schemas.microsoft.com/office/drawing/2014/main" id="{DE2064D9-996B-272D-4EE1-1B330EE49797}"/>
              </a:ext>
            </a:extLst>
          </p:cNvPr>
          <p:cNvPicPr>
            <a:picLocks noChangeAspect="1"/>
          </p:cNvPicPr>
          <p:nvPr/>
        </p:nvPicPr>
        <p:blipFill>
          <a:blip r:embed="rId3"/>
          <a:srcRect l="218" t="15975" r="18812"/>
          <a:stretch/>
        </p:blipFill>
        <p:spPr>
          <a:xfrm>
            <a:off x="838200" y="3336635"/>
            <a:ext cx="11066345" cy="1216892"/>
          </a:xfrm>
          <a:prstGeom prst="rect">
            <a:avLst/>
          </a:prstGeom>
        </p:spPr>
      </p:pic>
    </p:spTree>
    <p:extLst>
      <p:ext uri="{BB962C8B-B14F-4D97-AF65-F5344CB8AC3E}">
        <p14:creationId xmlns:p14="http://schemas.microsoft.com/office/powerpoint/2010/main" val="1956160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C9F1-8673-3A2D-992E-5AAD3D1A8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D2CC70-2B45-AC82-0F7E-206F96FE41D0}"/>
              </a:ext>
            </a:extLst>
          </p:cNvPr>
          <p:cNvSpPr>
            <a:spLocks noGrp="1"/>
          </p:cNvSpPr>
          <p:nvPr>
            <p:ph type="title"/>
          </p:nvPr>
        </p:nvSpPr>
        <p:spPr/>
        <p:txBody>
          <a:bodyPr/>
          <a:lstStyle/>
          <a:p>
            <a:r>
              <a:rPr lang="en-US">
                <a:effectLst>
                  <a:glow rad="63500">
                    <a:schemeClr val="bg1">
                      <a:alpha val="40000"/>
                    </a:schemeClr>
                  </a:glow>
                </a:effectLst>
                <a:latin typeface="Segoe UI Semibold" panose="020B0702040204020203" pitchFamily="34" charset="0"/>
                <a:cs typeface="Segoe UI Semibold" panose="020B0702040204020203" pitchFamily="34" charset="0"/>
              </a:rPr>
              <a:t>Step 4: Compare specific answers across runs</a:t>
            </a:r>
          </a:p>
        </p:txBody>
      </p:sp>
      <p:sp>
        <p:nvSpPr>
          <p:cNvPr id="7" name="Content Placeholder 3">
            <a:extLst>
              <a:ext uri="{FF2B5EF4-FFF2-40B4-BE49-F238E27FC236}">
                <a16:creationId xmlns:a16="http://schemas.microsoft.com/office/drawing/2014/main" id="{8C1ED155-0926-0AB6-D3F3-C7E5C6D1A995}"/>
              </a:ext>
            </a:extLst>
          </p:cNvPr>
          <p:cNvSpPr>
            <a:spLocks noGrp="1"/>
          </p:cNvSpPr>
          <p:nvPr>
            <p:ph idx="1"/>
          </p:nvPr>
        </p:nvSpPr>
        <p:spPr>
          <a:xfrm>
            <a:off x="910390" y="1679898"/>
            <a:ext cx="10173246" cy="1045449"/>
          </a:xfrm>
          <a:solidFill>
            <a:schemeClr val="bg1">
              <a:lumMod val="95000"/>
            </a:schemeClr>
          </a:solidFill>
          <a:ln w="38100">
            <a:noFill/>
          </a:ln>
        </p:spPr>
        <p:txBody>
          <a:bodyPr>
            <a:noAutofit/>
          </a:bodyPr>
          <a:lstStyle/>
          <a:p>
            <a:pPr marL="0" indent="0">
              <a:lnSpc>
                <a:spcPts val="3025"/>
              </a:lnSpc>
              <a:buNone/>
            </a:pPr>
            <a:r>
              <a:rPr lang="en-US" sz="2400" b="0">
                <a:solidFill>
                  <a:srgbClr val="795E26"/>
                </a:solidFill>
                <a:effectLst/>
                <a:latin typeface="Consolas" panose="020B0609020204030204" pitchFamily="49" charset="0"/>
                <a:cs typeface="Consolas" panose="020B0609020204030204" pitchFamily="49" charset="0"/>
              </a:rPr>
              <a:t>python</a:t>
            </a:r>
            <a:r>
              <a:rPr lang="en-US" sz="2400" b="0">
                <a:solidFill>
                  <a:srgbClr val="000000"/>
                </a:solidFill>
                <a:effectLst/>
                <a:latin typeface="Consolas" panose="020B0609020204030204" pitchFamily="49" charset="0"/>
                <a:cs typeface="Consolas" panose="020B0609020204030204" pitchFamily="49" charset="0"/>
              </a:rPr>
              <a:t> </a:t>
            </a:r>
            <a:r>
              <a:rPr lang="en-US" sz="2400" b="0">
                <a:solidFill>
                  <a:srgbClr val="0000FF"/>
                </a:solidFill>
                <a:effectLst/>
                <a:latin typeface="Consolas" panose="020B0609020204030204" pitchFamily="49" charset="0"/>
                <a:cs typeface="Consolas" panose="020B0609020204030204" pitchFamily="49" charset="0"/>
              </a:rPr>
              <a:t>-m</a:t>
            </a:r>
            <a:r>
              <a:rPr lang="en-US" sz="2400" b="0">
                <a:solidFill>
                  <a:srgbClr val="000000"/>
                </a:solidFill>
                <a:effectLst/>
                <a:latin typeface="Consolas" panose="020B0609020204030204" pitchFamily="49" charset="0"/>
                <a:cs typeface="Consolas" panose="020B0609020204030204" pitchFamily="49" charset="0"/>
              </a:rPr>
              <a:t> </a:t>
            </a:r>
            <a:r>
              <a:rPr lang="en-US" sz="2400" b="0">
                <a:solidFill>
                  <a:srgbClr val="A31515"/>
                </a:solidFill>
                <a:effectLst/>
                <a:latin typeface="Consolas" panose="020B0609020204030204" pitchFamily="49" charset="0"/>
                <a:cs typeface="Consolas" panose="020B0609020204030204" pitchFamily="49" charset="0"/>
              </a:rPr>
              <a:t>evaltools</a:t>
            </a:r>
            <a:r>
              <a:rPr lang="en-US" sz="2400" b="0">
                <a:solidFill>
                  <a:srgbClr val="000000"/>
                </a:solidFill>
                <a:effectLst/>
                <a:latin typeface="Consolas" panose="020B0609020204030204" pitchFamily="49" charset="0"/>
                <a:cs typeface="Consolas" panose="020B0609020204030204" pitchFamily="49" charset="0"/>
              </a:rPr>
              <a:t> </a:t>
            </a:r>
            <a:r>
              <a:rPr lang="en-US" sz="2400" b="0">
                <a:solidFill>
                  <a:srgbClr val="A31515"/>
                </a:solidFill>
                <a:effectLst/>
                <a:latin typeface="Consolas" panose="020B0609020204030204" pitchFamily="49" charset="0"/>
                <a:cs typeface="Consolas" panose="020B0609020204030204" pitchFamily="49" charset="0"/>
              </a:rPr>
              <a:t>diff</a:t>
            </a:r>
            <a:r>
              <a:rPr lang="en-US" sz="2400" b="0">
                <a:solidFill>
                  <a:srgbClr val="000000"/>
                </a:solidFill>
                <a:effectLst/>
                <a:latin typeface="Consolas" panose="020B0609020204030204" pitchFamily="49" charset="0"/>
                <a:cs typeface="Consolas" panose="020B0609020204030204" pitchFamily="49" charset="0"/>
              </a:rPr>
              <a:t> </a:t>
            </a:r>
            <a:r>
              <a:rPr lang="en-US" sz="2400" b="0">
                <a:solidFill>
                  <a:srgbClr val="A31515"/>
                </a:solidFill>
                <a:effectLst/>
                <a:latin typeface="Consolas" panose="020B0609020204030204" pitchFamily="49" charset="0"/>
                <a:cs typeface="Consolas" panose="020B0609020204030204" pitchFamily="49" charset="0"/>
              </a:rPr>
              <a:t>evals/results/baseline/ \</a:t>
            </a:r>
          </a:p>
          <a:p>
            <a:pPr marL="0" indent="0">
              <a:lnSpc>
                <a:spcPts val="3025"/>
              </a:lnSpc>
              <a:buNone/>
            </a:pPr>
            <a:r>
              <a:rPr lang="en-US" sz="2400">
                <a:solidFill>
                  <a:srgbClr val="A31515"/>
                </a:solidFill>
                <a:latin typeface="Consolas" panose="020B0609020204030204" pitchFamily="49" charset="0"/>
                <a:cs typeface="Consolas" panose="020B0609020204030204" pitchFamily="49" charset="0"/>
              </a:rPr>
              <a:t> </a:t>
            </a:r>
            <a:r>
              <a:rPr lang="en-US" sz="2400" b="0">
                <a:solidFill>
                  <a:srgbClr val="000000"/>
                </a:solidFill>
                <a:effectLst/>
                <a:latin typeface="Consolas" panose="020B0609020204030204" pitchFamily="49" charset="0"/>
                <a:cs typeface="Consolas" panose="020B0609020204030204" pitchFamily="49" charset="0"/>
              </a:rPr>
              <a:t>                        </a:t>
            </a:r>
            <a:r>
              <a:rPr lang="en-US" sz="2400" b="0">
                <a:solidFill>
                  <a:srgbClr val="A31515"/>
                </a:solidFill>
                <a:effectLst/>
                <a:latin typeface="Consolas" panose="020B0609020204030204" pitchFamily="49" charset="0"/>
                <a:cs typeface="Consolas" panose="020B0609020204030204" pitchFamily="49" charset="0"/>
              </a:rPr>
              <a:t>evals/results/baseline-reflection</a:t>
            </a:r>
            <a:endParaRPr lang="en-US" sz="2400" b="0">
              <a:solidFill>
                <a:srgbClr val="000000"/>
              </a:solidFill>
              <a:effectLst/>
              <a:latin typeface="Consolas" panose="020B0609020204030204" pitchFamily="49" charset="0"/>
              <a:cs typeface="Consolas" panose="020B0609020204030204" pitchFamily="49" charset="0"/>
            </a:endParaRPr>
          </a:p>
        </p:txBody>
      </p:sp>
      <p:pic>
        <p:nvPicPr>
          <p:cNvPr id="4" name="Picture 3" descr="A screenshot of a computer&#10;&#10;AI-generated content may be incorrect.">
            <a:extLst>
              <a:ext uri="{FF2B5EF4-FFF2-40B4-BE49-F238E27FC236}">
                <a16:creationId xmlns:a16="http://schemas.microsoft.com/office/drawing/2014/main" id="{35F6B221-BA23-97E3-6448-195D1EFF271D}"/>
              </a:ext>
            </a:extLst>
          </p:cNvPr>
          <p:cNvPicPr>
            <a:picLocks noChangeAspect="1"/>
          </p:cNvPicPr>
          <p:nvPr/>
        </p:nvPicPr>
        <p:blipFill>
          <a:blip r:embed="rId3"/>
          <a:stretch>
            <a:fillRect/>
          </a:stretch>
        </p:blipFill>
        <p:spPr>
          <a:xfrm>
            <a:off x="957000" y="2957221"/>
            <a:ext cx="10126636" cy="3111069"/>
          </a:xfrm>
          <a:prstGeom prst="rect">
            <a:avLst/>
          </a:prstGeom>
        </p:spPr>
      </p:pic>
    </p:spTree>
    <p:extLst>
      <p:ext uri="{BB962C8B-B14F-4D97-AF65-F5344CB8AC3E}">
        <p14:creationId xmlns:p14="http://schemas.microsoft.com/office/powerpoint/2010/main" val="2145445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CB1E7-916C-4C4B-2FAE-8D4CCC392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DDABA-FCF4-521F-3C8D-9BFF25D4466A}"/>
              </a:ext>
            </a:extLst>
          </p:cNvPr>
          <p:cNvSpPr>
            <a:spLocks noGrp="1"/>
          </p:cNvSpPr>
          <p:nvPr>
            <p:ph type="title"/>
          </p:nvPr>
        </p:nvSpPr>
        <p:spPr/>
        <p:txBody>
          <a:bodyPr/>
          <a:lstStyle/>
          <a:p>
            <a:r>
              <a:rPr lang="en-US">
                <a:effectLst>
                  <a:glow rad="63500">
                    <a:schemeClr val="bg1">
                      <a:alpha val="40000"/>
                    </a:schemeClr>
                  </a:glow>
                </a:effectLst>
                <a:latin typeface="Segoe UI Semibold" panose="020B0702040204020203" pitchFamily="34" charset="0"/>
                <a:cs typeface="Segoe UI Semibold" panose="020B0702040204020203" pitchFamily="34" charset="0"/>
              </a:rPr>
              <a:t>Step 5: Investigate questions with notable differences</a:t>
            </a:r>
          </a:p>
        </p:txBody>
      </p:sp>
      <p:sp>
        <p:nvSpPr>
          <p:cNvPr id="5" name="Content Placeholder 4">
            <a:extLst>
              <a:ext uri="{FF2B5EF4-FFF2-40B4-BE49-F238E27FC236}">
                <a16:creationId xmlns:a16="http://schemas.microsoft.com/office/drawing/2014/main" id="{380ACF1A-1B3D-994A-7107-FEF64EAA50B7}"/>
              </a:ext>
            </a:extLst>
          </p:cNvPr>
          <p:cNvSpPr>
            <a:spLocks noGrp="1"/>
          </p:cNvSpPr>
          <p:nvPr>
            <p:ph idx="1"/>
          </p:nvPr>
        </p:nvSpPr>
        <p:spPr>
          <a:xfrm>
            <a:off x="584199" y="1435503"/>
            <a:ext cx="5336310" cy="2142125"/>
          </a:xfrm>
        </p:spPr>
        <p:txBody>
          <a:bodyPr/>
          <a:lstStyle/>
          <a:p>
            <a:pPr marL="514350" indent="-514350">
              <a:buFont typeface="+mj-lt"/>
              <a:buAutoNum type="arabicPeriod"/>
            </a:pPr>
            <a:r>
              <a:rPr lang="en-US" sz="2400"/>
              <a:t>Try the question in the app (using same parameters, especially seed)</a:t>
            </a:r>
          </a:p>
          <a:p>
            <a:pPr marL="514350" indent="-514350">
              <a:buFont typeface="+mj-lt"/>
              <a:buAutoNum type="arabicPeriod"/>
            </a:pPr>
            <a:r>
              <a:rPr lang="en-US" sz="2400"/>
              <a:t>Examine thought process to understand how answer was generated</a:t>
            </a:r>
          </a:p>
          <a:p>
            <a:pPr marL="514350" indent="-514350">
              <a:buFont typeface="+mj-lt"/>
              <a:buAutoNum type="arabicPeriod"/>
            </a:pPr>
            <a:r>
              <a:rPr lang="en-US" sz="2400"/>
              <a:t>Look at the source document to see if you agree </a:t>
            </a:r>
          </a:p>
          <a:p>
            <a:pPr marL="514350" indent="-514350">
              <a:buFont typeface="+mj-lt"/>
              <a:buAutoNum type="arabicPeriod"/>
            </a:pPr>
            <a:r>
              <a:rPr lang="en-US" sz="2400"/>
              <a:t>Try with different models or even ChatGPT to compare answers</a:t>
            </a:r>
          </a:p>
          <a:p>
            <a:pPr marL="514350" indent="-514350">
              <a:buFont typeface="+mj-lt"/>
              <a:buAutoNum type="arabicPeriod"/>
            </a:pPr>
            <a:endParaRPr lang="en-US" sz="2400"/>
          </a:p>
        </p:txBody>
      </p:sp>
      <p:pic>
        <p:nvPicPr>
          <p:cNvPr id="10" name="Picture 9" descr="Screens screenshot of a computer&#10;&#10;AI-generated content may be incorrect.">
            <a:extLst>
              <a:ext uri="{FF2B5EF4-FFF2-40B4-BE49-F238E27FC236}">
                <a16:creationId xmlns:a16="http://schemas.microsoft.com/office/drawing/2014/main" id="{055C6AAA-1547-5BE7-8C01-EEE2A350CCCA}"/>
              </a:ext>
            </a:extLst>
          </p:cNvPr>
          <p:cNvPicPr>
            <a:picLocks noChangeAspect="1"/>
          </p:cNvPicPr>
          <p:nvPr/>
        </p:nvPicPr>
        <p:blipFill>
          <a:blip r:embed="rId3"/>
          <a:srcRect r="29701" b="34721"/>
          <a:stretch/>
        </p:blipFill>
        <p:spPr>
          <a:xfrm>
            <a:off x="6096000" y="1435503"/>
            <a:ext cx="4745183" cy="2379114"/>
          </a:xfrm>
          <a:prstGeom prst="rect">
            <a:avLst/>
          </a:prstGeom>
          <a:ln>
            <a:solidFill>
              <a:schemeClr val="tx1"/>
            </a:solidFill>
          </a:ln>
        </p:spPr>
      </p:pic>
      <p:pic>
        <p:nvPicPr>
          <p:cNvPr id="12" name="Picture 11" descr="A screenshot of a chat&#10;&#10;AI-generated content may be incorrect.">
            <a:extLst>
              <a:ext uri="{FF2B5EF4-FFF2-40B4-BE49-F238E27FC236}">
                <a16:creationId xmlns:a16="http://schemas.microsoft.com/office/drawing/2014/main" id="{C2272C79-BC39-E8C3-54E4-C29C14BD6E77}"/>
              </a:ext>
            </a:extLst>
          </p:cNvPr>
          <p:cNvPicPr>
            <a:picLocks noChangeAspect="1"/>
          </p:cNvPicPr>
          <p:nvPr/>
        </p:nvPicPr>
        <p:blipFill>
          <a:blip r:embed="rId4"/>
          <a:srcRect b="8179"/>
          <a:stretch/>
        </p:blipFill>
        <p:spPr>
          <a:xfrm>
            <a:off x="6096000" y="4057350"/>
            <a:ext cx="4745182" cy="2639835"/>
          </a:xfrm>
          <a:prstGeom prst="rect">
            <a:avLst/>
          </a:prstGeom>
          <a:ln>
            <a:solidFill>
              <a:schemeClr val="tx1"/>
            </a:solidFill>
          </a:ln>
        </p:spPr>
      </p:pic>
    </p:spTree>
    <p:extLst>
      <p:ext uri="{BB962C8B-B14F-4D97-AF65-F5344CB8AC3E}">
        <p14:creationId xmlns:p14="http://schemas.microsoft.com/office/powerpoint/2010/main" val="1444713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277A0-1AC4-D837-05E3-CCBA15F658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6674A7-B4E2-10F9-97E6-8C0FBDF5CFA5}"/>
              </a:ext>
            </a:extLst>
          </p:cNvPr>
          <p:cNvSpPr>
            <a:spLocks noGrp="1"/>
          </p:cNvSpPr>
          <p:nvPr>
            <p:ph type="title"/>
          </p:nvPr>
        </p:nvSpPr>
        <p:spPr/>
        <p:txBody>
          <a:bodyPr/>
          <a:lstStyle/>
          <a:p>
            <a:r>
              <a:rPr lang="en-US">
                <a:effectLst>
                  <a:glow rad="63500">
                    <a:schemeClr val="bg1">
                      <a:alpha val="40000"/>
                    </a:schemeClr>
                  </a:glow>
                </a:effectLst>
                <a:latin typeface="Segoe UI Semibold" panose="020B0702040204020203" pitchFamily="34" charset="0"/>
                <a:cs typeface="Segoe UI Semibold" panose="020B0702040204020203" pitchFamily="34" charset="0"/>
              </a:rPr>
              <a:t>Remember...</a:t>
            </a:r>
          </a:p>
        </p:txBody>
      </p:sp>
      <p:sp>
        <p:nvSpPr>
          <p:cNvPr id="5" name="Content Placeholder 4">
            <a:extLst>
              <a:ext uri="{FF2B5EF4-FFF2-40B4-BE49-F238E27FC236}">
                <a16:creationId xmlns:a16="http://schemas.microsoft.com/office/drawing/2014/main" id="{8A44035F-1976-129A-78B0-788CEBF0AE45}"/>
              </a:ext>
            </a:extLst>
          </p:cNvPr>
          <p:cNvSpPr>
            <a:spLocks noGrp="1"/>
          </p:cNvSpPr>
          <p:nvPr>
            <p:ph idx="1"/>
          </p:nvPr>
        </p:nvSpPr>
        <p:spPr>
          <a:xfrm>
            <a:off x="584199" y="1435503"/>
            <a:ext cx="11607801" cy="3914918"/>
          </a:xfrm>
        </p:spPr>
        <p:txBody>
          <a:bodyPr/>
          <a:lstStyle/>
          <a:p>
            <a:pPr marL="0" indent="0">
              <a:buNone/>
            </a:pPr>
            <a:r>
              <a:rPr lang="en-US" sz="2400"/>
              <a:t>Evaluations aren't perfect!</a:t>
            </a:r>
          </a:p>
          <a:p>
            <a:pPr marL="0" indent="0">
              <a:buNone/>
            </a:pPr>
            <a:endParaRPr lang="en-US" sz="2400"/>
          </a:p>
          <a:p>
            <a:pPr marL="0" indent="0">
              <a:buNone/>
            </a:pPr>
            <a:r>
              <a:rPr lang="en-US" sz="2400"/>
              <a:t>Sometimes worse answers aren't worse. 😊 Sometimes better answers aren't better. 😓</a:t>
            </a:r>
          </a:p>
          <a:p>
            <a:pPr marL="0" indent="0">
              <a:buNone/>
            </a:pPr>
            <a:endParaRPr lang="en-US" sz="2400"/>
          </a:p>
          <a:p>
            <a:pPr marL="0" indent="0">
              <a:buNone/>
            </a:pPr>
            <a:r>
              <a:rPr lang="en-US" sz="2400"/>
              <a:t>To improve evaluation quality:</a:t>
            </a:r>
          </a:p>
          <a:p>
            <a:r>
              <a:rPr lang="en-US" sz="2400"/>
              <a:t>Make sure ground truth reflects user questions, including "multi-hop" questions</a:t>
            </a:r>
          </a:p>
          <a:p>
            <a:r>
              <a:rPr lang="en-US" sz="2400"/>
              <a:t>Modify the evaluator prompts if they aren't accurately scoring answers</a:t>
            </a:r>
          </a:p>
          <a:p>
            <a:pPr marL="0" indent="0">
              <a:buNone/>
            </a:pPr>
            <a:endParaRPr lang="en-US" sz="2400"/>
          </a:p>
          <a:p>
            <a:pPr marL="0" indent="0">
              <a:buNone/>
            </a:pPr>
            <a:r>
              <a:rPr lang="en-US" sz="2400"/>
              <a:t>Evaluations can teach you a lot, so </a:t>
            </a:r>
            <a:r>
              <a:rPr lang="en-US" sz="2400" b="1"/>
              <a:t>please</a:t>
            </a:r>
            <a:r>
              <a:rPr lang="en-US" sz="2400"/>
              <a:t>, set up eval workflows!</a:t>
            </a:r>
          </a:p>
        </p:txBody>
      </p:sp>
      <p:pic>
        <p:nvPicPr>
          <p:cNvPr id="1026" name="Picture 2">
            <a:extLst>
              <a:ext uri="{FF2B5EF4-FFF2-40B4-BE49-F238E27FC236}">
                <a16:creationId xmlns:a16="http://schemas.microsoft.com/office/drawing/2014/main" id="{8C65F67B-7F48-454D-02FD-9AAC398DE1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2222" y="4771808"/>
            <a:ext cx="2278270" cy="1139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6148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2B217-7A12-A7D8-CD18-F7CA0172AC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02060A-0DCF-EE5F-457C-F7AD1F83E270}"/>
              </a:ext>
            </a:extLst>
          </p:cNvPr>
          <p:cNvSpPr>
            <a:spLocks noGrp="1"/>
          </p:cNvSpPr>
          <p:nvPr>
            <p:ph type="title"/>
          </p:nvPr>
        </p:nvSpPr>
        <p:spPr>
          <a:xfrm>
            <a:off x="585216" y="3152001"/>
            <a:ext cx="6675120" cy="553998"/>
          </a:xfrm>
        </p:spPr>
        <p:txBody>
          <a:bodyPr/>
          <a:lstStyle/>
          <a:p>
            <a:r>
              <a:rPr lang="en-US"/>
              <a:t>Final thoughts</a:t>
            </a:r>
          </a:p>
        </p:txBody>
      </p:sp>
    </p:spTree>
    <p:extLst>
      <p:ext uri="{BB962C8B-B14F-4D97-AF65-F5344CB8AC3E}">
        <p14:creationId xmlns:p14="http://schemas.microsoft.com/office/powerpoint/2010/main" val="111746184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2CECFB-8F55-E5FA-106D-661EF6CFAFB2}"/>
              </a:ext>
            </a:extLst>
          </p:cNvPr>
          <p:cNvSpPr>
            <a:spLocks noGrp="1"/>
          </p:cNvSpPr>
          <p:nvPr>
            <p:ph type="title"/>
          </p:nvPr>
        </p:nvSpPr>
        <p:spPr/>
        <p:txBody>
          <a:bodyPr/>
          <a:lstStyle/>
          <a:p>
            <a:r>
              <a:rPr lang="en-US"/>
              <a:t>Takeaways</a:t>
            </a:r>
          </a:p>
        </p:txBody>
      </p:sp>
      <p:sp>
        <p:nvSpPr>
          <p:cNvPr id="4" name="Content Placeholder 3">
            <a:extLst>
              <a:ext uri="{FF2B5EF4-FFF2-40B4-BE49-F238E27FC236}">
                <a16:creationId xmlns:a16="http://schemas.microsoft.com/office/drawing/2014/main" id="{E737E8DF-16B8-7C12-08FE-C1A92CB6DA17}"/>
              </a:ext>
            </a:extLst>
          </p:cNvPr>
          <p:cNvSpPr>
            <a:spLocks noGrp="1"/>
          </p:cNvSpPr>
          <p:nvPr>
            <p:ph sz="quarter" idx="10"/>
          </p:nvPr>
        </p:nvSpPr>
        <p:spPr>
          <a:xfrm>
            <a:off x="584200" y="1435100"/>
            <a:ext cx="11018838" cy="4702826"/>
          </a:xfrm>
        </p:spPr>
        <p:txBody>
          <a:bodyPr/>
          <a:lstStyle/>
          <a:p>
            <a:r>
              <a:rPr lang="en-US"/>
              <a:t>Agentic RAG is powerful, but can be hard to control</a:t>
            </a:r>
          </a:p>
          <a:p>
            <a:pPr lvl="1"/>
            <a:r>
              <a:rPr lang="en-US"/>
              <a:t>Need to consistently get orchestrator to “make the right choice”</a:t>
            </a:r>
          </a:p>
          <a:p>
            <a:r>
              <a:rPr lang="en-US"/>
              <a:t>Reflection adds complexity</a:t>
            </a:r>
          </a:p>
          <a:p>
            <a:pPr lvl="1"/>
            <a:r>
              <a:rPr lang="en-US"/>
              <a:t>We don’t always know when reflection will improve answer quality</a:t>
            </a:r>
          </a:p>
          <a:p>
            <a:r>
              <a:rPr lang="en-US"/>
              <a:t>Reflection adds latency</a:t>
            </a:r>
          </a:p>
          <a:p>
            <a:r>
              <a:rPr lang="en-US"/>
              <a:t>How much can you improve the model and search settings </a:t>
            </a:r>
            <a:r>
              <a:rPr lang="en-US" i="1"/>
              <a:t>before</a:t>
            </a:r>
            <a:r>
              <a:rPr lang="en-US"/>
              <a:t> adding agentic RAG?</a:t>
            </a:r>
          </a:p>
          <a:p>
            <a:endParaRPr lang="en-US"/>
          </a:p>
          <a:p>
            <a:endParaRPr lang="en-US"/>
          </a:p>
          <a:p>
            <a:endParaRPr lang="en-US"/>
          </a:p>
        </p:txBody>
      </p:sp>
    </p:spTree>
    <p:extLst>
      <p:ext uri="{BB962C8B-B14F-4D97-AF65-F5344CB8AC3E}">
        <p14:creationId xmlns:p14="http://schemas.microsoft.com/office/powerpoint/2010/main" val="308712932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DD06A2-70EC-3C7B-0DBE-FE6EDF644A2C}"/>
            </a:ext>
          </a:extLst>
        </p:cNvPr>
        <p:cNvGrpSpPr/>
        <p:nvPr/>
      </p:nvGrpSpPr>
      <p:grpSpPr>
        <a:xfrm>
          <a:off x="0" y="0"/>
          <a:ext cx="0" cy="0"/>
          <a:chOff x="0" y="0"/>
          <a:chExt cx="0" cy="0"/>
        </a:xfrm>
      </p:grpSpPr>
      <p:sp>
        <p:nvSpPr>
          <p:cNvPr id="2" name="Title 7" hidden="1">
            <a:extLst>
              <a:ext uri="{FF2B5EF4-FFF2-40B4-BE49-F238E27FC236}">
                <a16:creationId xmlns:a16="http://schemas.microsoft.com/office/drawing/2014/main" id="{9FEEE715-47B0-F169-A6DE-9E4DC65F3C02}"/>
              </a:ext>
            </a:extLst>
          </p:cNvPr>
          <p:cNvSpPr txBox="1">
            <a:spLocks noGrp="1"/>
          </p:cNvSpPr>
          <p:nvPr>
            <p:ph type="title" idx="4294967295"/>
          </p:nvPr>
        </p:nvSpPr>
        <p:spPr>
          <a:xfrm>
            <a:off x="588264" y="-867866"/>
            <a:ext cx="4127692" cy="553998"/>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CA" sz="3600" b="0" i="0" u="none" strike="noStrike" kern="1200" cap="none" spc="-50" normalizeH="0" baseline="0" noProof="0">
                <a:ln w="3175">
                  <a:noFill/>
                </a:ln>
                <a:solidFill>
                  <a:schemeClr val="tx1"/>
                </a:solidFill>
                <a:effectLst/>
                <a:uLnTx/>
                <a:uFillTx/>
                <a:latin typeface="+mj-lt"/>
                <a:ea typeface="+mn-ea"/>
                <a:cs typeface="Segoe UI" pitchFamily="34" charset="0"/>
              </a:rPr>
              <a:t>Azure AI Search 2/2</a:t>
            </a:r>
          </a:p>
        </p:txBody>
      </p:sp>
      <p:pic>
        <p:nvPicPr>
          <p:cNvPr id="13" name="Graphic 437806336" descr="Azure AI Search icon">
            <a:extLst>
              <a:ext uri="{FF2B5EF4-FFF2-40B4-BE49-F238E27FC236}">
                <a16:creationId xmlns:a16="http://schemas.microsoft.com/office/drawing/2014/main" id="{7DE3BF49-015D-2D92-5A4C-13D2792F5D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8264" y="1716017"/>
            <a:ext cx="1831336" cy="1833155"/>
          </a:xfrm>
          <a:prstGeom prst="rect">
            <a:avLst/>
          </a:prstGeom>
        </p:spPr>
      </p:pic>
      <p:sp>
        <p:nvSpPr>
          <p:cNvPr id="8" name="Title 7">
            <a:extLst>
              <a:ext uri="{FF2B5EF4-FFF2-40B4-BE49-F238E27FC236}">
                <a16:creationId xmlns:a16="http://schemas.microsoft.com/office/drawing/2014/main" id="{15EB5AF4-236C-1B5B-6358-BC6156A6068C}"/>
              </a:ext>
            </a:extLst>
          </p:cNvPr>
          <p:cNvSpPr>
            <a:spLocks/>
          </p:cNvSpPr>
          <p:nvPr/>
        </p:nvSpPr>
        <p:spPr>
          <a:xfrm>
            <a:off x="588264" y="3609132"/>
            <a:ext cx="4127692" cy="553998"/>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schemeClr val="tx1"/>
                </a:solidFill>
                <a:effectLst/>
                <a:uLnTx/>
                <a:uFillTx/>
                <a:latin typeface="+mj-lt"/>
                <a:ea typeface="+mn-ea"/>
                <a:cs typeface="Segoe UI" pitchFamily="34" charset="0"/>
              </a:rPr>
              <a:t>Azure AI Search</a:t>
            </a:r>
          </a:p>
        </p:txBody>
      </p:sp>
      <p:sp>
        <p:nvSpPr>
          <p:cNvPr id="9" name="Rounded Rectangle 5">
            <a:extLst>
              <a:ext uri="{FF2B5EF4-FFF2-40B4-BE49-F238E27FC236}">
                <a16:creationId xmlns:a16="http://schemas.microsoft.com/office/drawing/2014/main" id="{D171DB16-2EB7-2A7D-67B3-63A9C342A2CE}"/>
              </a:ext>
              <a:ext uri="{C183D7F6-B498-43B3-948B-1728B52AA6E4}">
                <adec:decorative xmlns:adec="http://schemas.microsoft.com/office/drawing/2017/decorative" val="1"/>
              </a:ext>
            </a:extLst>
          </p:cNvPr>
          <p:cNvSpPr/>
          <p:nvPr/>
        </p:nvSpPr>
        <p:spPr bwMode="auto">
          <a:xfrm>
            <a:off x="5068512" y="1473727"/>
            <a:ext cx="6535224" cy="3910546"/>
          </a:xfrm>
          <a:prstGeom prst="roundRect">
            <a:avLst>
              <a:gd name="adj" fmla="val 4308"/>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17" name="Content Placeholder 3">
            <a:extLst>
              <a:ext uri="{FF2B5EF4-FFF2-40B4-BE49-F238E27FC236}">
                <a16:creationId xmlns:a16="http://schemas.microsoft.com/office/drawing/2014/main" id="{0CC188EA-B49F-20E1-9E9F-AE09B7BFB269}"/>
              </a:ext>
            </a:extLst>
          </p:cNvPr>
          <p:cNvSpPr txBox="1">
            <a:spLocks/>
          </p:cNvSpPr>
          <p:nvPr/>
        </p:nvSpPr>
        <p:spPr>
          <a:xfrm>
            <a:off x="5571760" y="1771541"/>
            <a:ext cx="6031974" cy="461665"/>
          </a:xfrm>
          <a:prstGeom prst="rect">
            <a:avLst/>
          </a:prstGeom>
        </p:spPr>
        <p:txBody>
          <a:bodyPr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1200"/>
              </a:spcBef>
              <a:buNone/>
            </a:pPr>
            <a:r>
              <a:rPr lang="en-US" sz="2400"/>
              <a:t>Comprehensive search solution</a:t>
            </a:r>
          </a:p>
        </p:txBody>
      </p:sp>
      <p:cxnSp>
        <p:nvCxnSpPr>
          <p:cNvPr id="18" name="Straight Connector 17">
            <a:extLst>
              <a:ext uri="{FF2B5EF4-FFF2-40B4-BE49-F238E27FC236}">
                <a16:creationId xmlns:a16="http://schemas.microsoft.com/office/drawing/2014/main" id="{5623E1CA-C2FE-A2AD-7F72-04DA9645B38B}"/>
              </a:ext>
              <a:ext uri="{C183D7F6-B498-43B3-948B-1728B52AA6E4}">
                <adec:decorative xmlns:adec="http://schemas.microsoft.com/office/drawing/2017/decorative" val="1"/>
              </a:ext>
            </a:extLst>
          </p:cNvPr>
          <p:cNvCxnSpPr>
            <a:cxnSpLocks/>
          </p:cNvCxnSpPr>
          <p:nvPr/>
        </p:nvCxnSpPr>
        <p:spPr>
          <a:xfrm>
            <a:off x="5068511" y="2531021"/>
            <a:ext cx="6535224" cy="0"/>
          </a:xfrm>
          <a:prstGeom prst="lin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9" name="Content Placeholder 3">
            <a:extLst>
              <a:ext uri="{FF2B5EF4-FFF2-40B4-BE49-F238E27FC236}">
                <a16:creationId xmlns:a16="http://schemas.microsoft.com/office/drawing/2014/main" id="{13F7145A-DB99-C9AA-5F3D-3EDC2221C2B8}"/>
              </a:ext>
            </a:extLst>
          </p:cNvPr>
          <p:cNvSpPr txBox="1">
            <a:spLocks/>
          </p:cNvSpPr>
          <p:nvPr/>
        </p:nvSpPr>
        <p:spPr>
          <a:xfrm>
            <a:off x="5571760" y="2828836"/>
            <a:ext cx="6031974" cy="461665"/>
          </a:xfrm>
          <a:prstGeom prst="rect">
            <a:avLst/>
          </a:prstGeom>
        </p:spPr>
        <p:txBody>
          <a:bodyPr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1200"/>
              </a:spcBef>
              <a:buNone/>
            </a:pPr>
            <a:r>
              <a:rPr lang="en-US" sz="2400"/>
              <a:t>Enterprise-ready </a:t>
            </a:r>
          </a:p>
        </p:txBody>
      </p:sp>
      <p:cxnSp>
        <p:nvCxnSpPr>
          <p:cNvPr id="21" name="Straight Connector 20">
            <a:extLst>
              <a:ext uri="{FF2B5EF4-FFF2-40B4-BE49-F238E27FC236}">
                <a16:creationId xmlns:a16="http://schemas.microsoft.com/office/drawing/2014/main" id="{B420FC6A-AB7F-E71F-7285-E47852EA8A46}"/>
              </a:ext>
              <a:ext uri="{C183D7F6-B498-43B3-948B-1728B52AA6E4}">
                <adec:decorative xmlns:adec="http://schemas.microsoft.com/office/drawing/2017/decorative" val="1"/>
              </a:ext>
            </a:extLst>
          </p:cNvPr>
          <p:cNvCxnSpPr>
            <a:cxnSpLocks/>
          </p:cNvCxnSpPr>
          <p:nvPr/>
        </p:nvCxnSpPr>
        <p:spPr>
          <a:xfrm>
            <a:off x="5068511" y="3588316"/>
            <a:ext cx="6535224" cy="0"/>
          </a:xfrm>
          <a:prstGeom prst="lin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20" name="Content Placeholder 3">
            <a:extLst>
              <a:ext uri="{FF2B5EF4-FFF2-40B4-BE49-F238E27FC236}">
                <a16:creationId xmlns:a16="http://schemas.microsoft.com/office/drawing/2014/main" id="{B74C5CB1-1272-A885-07F5-9CAA1408E2AB}"/>
              </a:ext>
            </a:extLst>
          </p:cNvPr>
          <p:cNvSpPr txBox="1">
            <a:spLocks/>
          </p:cNvSpPr>
          <p:nvPr/>
        </p:nvSpPr>
        <p:spPr>
          <a:xfrm>
            <a:off x="5571760" y="3886131"/>
            <a:ext cx="6031974" cy="1200329"/>
          </a:xfrm>
          <a:prstGeom prst="rect">
            <a:avLst/>
          </a:prstGeom>
        </p:spPr>
        <p:txBody>
          <a:bodyPr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1200"/>
              </a:spcBef>
              <a:buNone/>
            </a:pPr>
            <a:r>
              <a:rPr lang="en-US" sz="2400"/>
              <a:t>Integrated with Semantic Kernel, </a:t>
            </a:r>
            <a:r>
              <a:rPr lang="en-US" sz="2400" err="1"/>
              <a:t>LangChain</a:t>
            </a:r>
            <a:r>
              <a:rPr lang="en-US" sz="2400"/>
              <a:t>, </a:t>
            </a:r>
            <a:r>
              <a:rPr lang="en-US" sz="2400" err="1"/>
              <a:t>LlamaIndex</a:t>
            </a:r>
            <a:r>
              <a:rPr lang="en-US" sz="2400"/>
              <a:t>, Azure OpenAI Service, Azure AI Studio, and more</a:t>
            </a:r>
          </a:p>
        </p:txBody>
      </p:sp>
      <p:sp>
        <p:nvSpPr>
          <p:cNvPr id="25" name="Rectangle: Rounded Corners 7">
            <a:extLst>
              <a:ext uri="{FF2B5EF4-FFF2-40B4-BE49-F238E27FC236}">
                <a16:creationId xmlns:a16="http://schemas.microsoft.com/office/drawing/2014/main" id="{06ADE3DF-EE8B-A9FC-950D-DB7803AE0E7A}"/>
              </a:ext>
            </a:extLst>
          </p:cNvPr>
          <p:cNvSpPr/>
          <p:nvPr/>
        </p:nvSpPr>
        <p:spPr>
          <a:xfrm>
            <a:off x="5068509" y="5551010"/>
            <a:ext cx="5054905" cy="361910"/>
          </a:xfrm>
          <a:prstGeom prst="roundRect">
            <a:avLst>
              <a:gd name="adj" fmla="val 50000"/>
            </a:avLst>
          </a:prstGeom>
          <a:gradFill>
            <a:gsLst>
              <a:gs pos="32000">
                <a:srgbClr val="C03BC4"/>
              </a:gs>
              <a:gs pos="100000">
                <a:srgbClr val="399A91"/>
              </a:gs>
              <a:gs pos="68000">
                <a:srgbClr val="0078D4"/>
              </a:gs>
              <a:gs pos="0">
                <a:srgbClr val="FF5C39"/>
              </a:gs>
            </a:gsLst>
            <a:path path="circle">
              <a:fillToRect l="100000" t="100000"/>
            </a:path>
          </a:gradFill>
          <a:ln w="25400">
            <a:solidFill>
              <a:schemeClr val="bg1"/>
            </a:solidFill>
          </a:ln>
        </p:spPr>
        <p:style>
          <a:lnRef idx="3">
            <a:schemeClr val="lt1"/>
          </a:lnRef>
          <a:fillRef idx="1">
            <a:schemeClr val="accent4"/>
          </a:fillRef>
          <a:effectRef idx="1">
            <a:schemeClr val="accent4"/>
          </a:effectRef>
          <a:fontRef idx="minor">
            <a:schemeClr val="lt1"/>
          </a:fontRef>
        </p:style>
        <p:txBody>
          <a:bodyPr wrap="none" tIns="36000" bIns="3600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mj-lt"/>
                <a:ea typeface="+mn-ea"/>
                <a:cs typeface="+mn-cs"/>
              </a:rPr>
              <a:t>💻 </a:t>
            </a:r>
            <a:r>
              <a:rPr kumimoji="0" lang="en-US" sz="1200" b="0" i="0" u="none" strike="noStrike" kern="1200" cap="none" spc="0" normalizeH="0" baseline="0" noProof="0">
                <a:ln>
                  <a:noFill/>
                </a:ln>
                <a:solidFill>
                  <a:schemeClr val="bg1"/>
                </a:solidFill>
                <a:effectLst/>
                <a:uLnTx/>
                <a:uFillTx/>
                <a:latin typeface="+mj-lt"/>
                <a:ea typeface="+mn-ea"/>
                <a:cs typeface="+mn-cs"/>
                <a:hlinkClick r:id="rId5">
                  <a:extLst>
                    <a:ext uri="{A12FA001-AC4F-418D-AE19-62706E023703}">
                      <ahyp:hlinkClr xmlns:ahyp="http://schemas.microsoft.com/office/drawing/2018/hyperlinkcolor" val="tx"/>
                    </a:ext>
                  </a:extLst>
                </a:hlinkClick>
              </a:rPr>
              <a:t>Demo: Azure AI search with vectors </a:t>
            </a:r>
            <a:r>
              <a:rPr kumimoji="0" lang="en-US" sz="1200" b="0" i="0" u="none" strike="noStrike" kern="1200" cap="none" spc="0" normalizeH="0" baseline="0" noProof="0">
                <a:ln>
                  <a:noFill/>
                </a:ln>
                <a:solidFill>
                  <a:schemeClr val="bg1"/>
                </a:solidFill>
                <a:effectLst/>
                <a:uLnTx/>
                <a:uFillTx/>
                <a:latin typeface="+mj-lt"/>
                <a:ea typeface="+mn-ea"/>
                <a:cs typeface="+mn-cs"/>
              </a:rPr>
              <a:t>(</a:t>
            </a:r>
            <a:r>
              <a:rPr kumimoji="0" lang="en-US" sz="1200" b="0" i="0" u="none" strike="noStrike" kern="1200" cap="none" spc="0" normalizeH="0" baseline="0" noProof="0">
                <a:ln>
                  <a:noFill/>
                </a:ln>
                <a:solidFill>
                  <a:schemeClr val="bg1"/>
                </a:solidFill>
                <a:effectLst/>
                <a:uLnTx/>
                <a:uFillTx/>
                <a:latin typeface="+mj-lt"/>
                <a:ea typeface="+mn-ea"/>
                <a:cs typeface="+mn-cs"/>
                <a:hlinkClick r:id="rId6">
                  <a:extLst>
                    <a:ext uri="{A12FA001-AC4F-418D-AE19-62706E023703}">
                      <ahyp:hlinkClr xmlns:ahyp="http://schemas.microsoft.com/office/drawing/2018/hyperlinkcolor" val="tx"/>
                    </a:ext>
                  </a:extLst>
                </a:hlinkClick>
              </a:rPr>
              <a:t>aka.ms/</a:t>
            </a:r>
            <a:r>
              <a:rPr kumimoji="0" lang="en-US" sz="1200" b="0" i="0" u="none" strike="noStrike" kern="1200" cap="none" spc="0" normalizeH="0" baseline="0" noProof="0" err="1">
                <a:ln>
                  <a:noFill/>
                </a:ln>
                <a:solidFill>
                  <a:schemeClr val="bg1"/>
                </a:solidFill>
                <a:effectLst/>
                <a:uLnTx/>
                <a:uFillTx/>
                <a:latin typeface="+mj-lt"/>
                <a:ea typeface="+mn-ea"/>
                <a:cs typeface="+mn-cs"/>
                <a:hlinkClick r:id="rId6">
                  <a:extLst>
                    <a:ext uri="{A12FA001-AC4F-418D-AE19-62706E023703}">
                      <ahyp:hlinkClr xmlns:ahyp="http://schemas.microsoft.com/office/drawing/2018/hyperlinkcolor" val="tx"/>
                    </a:ext>
                  </a:extLst>
                </a:hlinkClick>
              </a:rPr>
              <a:t>aitour</a:t>
            </a:r>
            <a:r>
              <a:rPr kumimoji="0" lang="en-US" sz="1200" b="0" i="0" u="none" strike="noStrike" kern="1200" cap="none" spc="0" normalizeH="0" baseline="0" noProof="0">
                <a:ln>
                  <a:noFill/>
                </a:ln>
                <a:solidFill>
                  <a:schemeClr val="bg1"/>
                </a:solidFill>
                <a:effectLst/>
                <a:uLnTx/>
                <a:uFillTx/>
                <a:latin typeface="+mj-lt"/>
                <a:ea typeface="+mn-ea"/>
                <a:cs typeface="+mn-cs"/>
                <a:hlinkClick r:id="rId6">
                  <a:extLst>
                    <a:ext uri="{A12FA001-AC4F-418D-AE19-62706E023703}">
                      <ahyp:hlinkClr xmlns:ahyp="http://schemas.microsoft.com/office/drawing/2018/hyperlinkcolor" val="tx"/>
                    </a:ext>
                  </a:extLst>
                </a:hlinkClick>
              </a:rPr>
              <a:t>/azure-search</a:t>
            </a:r>
            <a:r>
              <a:rPr kumimoji="0" lang="en-US" sz="1200" b="0" i="0" u="none" strike="noStrike" kern="1200" cap="none" spc="0" normalizeH="0" baseline="0" noProof="0">
                <a:ln>
                  <a:noFill/>
                </a:ln>
                <a:solidFill>
                  <a:schemeClr val="bg1"/>
                </a:solidFill>
                <a:effectLst/>
                <a:uLnTx/>
                <a:uFillTx/>
                <a:latin typeface="+mj-lt"/>
                <a:ea typeface="+mn-ea"/>
                <a:cs typeface="+mn-cs"/>
              </a:rPr>
              <a:t>)</a:t>
            </a:r>
          </a:p>
        </p:txBody>
      </p:sp>
    </p:spTree>
    <p:extLst>
      <p:ext uri="{BB962C8B-B14F-4D97-AF65-F5344CB8AC3E}">
        <p14:creationId xmlns:p14="http://schemas.microsoft.com/office/powerpoint/2010/main" val="12499004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42" presetClass="path" presetSubtype="0" decel="100000" fill="hold" grpId="1" nodeType="withEffect">
                                  <p:stCondLst>
                                    <p:cond delay="100"/>
                                  </p:stCondLst>
                                  <p:childTnLst>
                                    <p:animMotion origin="layout" path="M 0 -2.59259E-6 L 0 0.03542 " pathEditMode="relative" rAng="0" ptsTypes="AA">
                                      <p:cBhvr>
                                        <p:cTn id="9" dur="700" spd="-100000" fill="hold"/>
                                        <p:tgtEl>
                                          <p:spTgt spid="25"/>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42" presetClass="path" presetSubtype="0" decel="100000" fill="hold" grpId="1" nodeType="withEffect">
                                  <p:stCondLst>
                                    <p:cond delay="0"/>
                                  </p:stCondLst>
                                  <p:childTnLst>
                                    <p:animMotion origin="layout" path="M 0 -2.59259E-6 L 0 0.03542 " pathEditMode="relative" rAng="0" ptsTypes="AA">
                                      <p:cBhvr>
                                        <p:cTn id="14" dur="700" spd="-100000" fill="hold"/>
                                        <p:tgtEl>
                                          <p:spTgt spid="17"/>
                                        </p:tgtEl>
                                        <p:attrNameLst>
                                          <p:attrName>ppt_x</p:attrName>
                                          <p:attrName>ppt_y</p:attrName>
                                        </p:attrNameLst>
                                      </p:cBhvr>
                                      <p:rCtr x="0" y="1759"/>
                                    </p:animMotion>
                                  </p:childTnLst>
                                </p:cTn>
                              </p:par>
                              <p:par>
                                <p:cTn id="15" presetID="10"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par>
                                <p:cTn id="18" presetID="42" presetClass="path" presetSubtype="0" decel="100000" fill="hold" nodeType="withEffect">
                                  <p:stCondLst>
                                    <p:cond delay="0"/>
                                  </p:stCondLst>
                                  <p:childTnLst>
                                    <p:animMotion origin="layout" path="M 0 -2.59259E-6 L 0 0.03542 " pathEditMode="relative" rAng="0" ptsTypes="AA">
                                      <p:cBhvr>
                                        <p:cTn id="19" dur="700" spd="-100000" fill="hold"/>
                                        <p:tgtEl>
                                          <p:spTgt spid="18"/>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42" presetClass="path" presetSubtype="0" decel="100000" fill="hold" grpId="1" nodeType="withEffect">
                                  <p:stCondLst>
                                    <p:cond delay="0"/>
                                  </p:stCondLst>
                                  <p:childTnLst>
                                    <p:animMotion origin="layout" path="M 0 -2.59259E-6 L 0 0.03542 " pathEditMode="relative" rAng="0" ptsTypes="AA">
                                      <p:cBhvr>
                                        <p:cTn id="24" dur="700" spd="-100000" fill="hold"/>
                                        <p:tgtEl>
                                          <p:spTgt spid="19"/>
                                        </p:tgtEl>
                                        <p:attrNameLst>
                                          <p:attrName>ppt_x</p:attrName>
                                          <p:attrName>ppt_y</p:attrName>
                                        </p:attrNameLst>
                                      </p:cBhvr>
                                      <p:rCtr x="0" y="1759"/>
                                    </p:animMotion>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42" presetClass="path" presetSubtype="0" decel="100000" fill="hold" grpId="1" nodeType="withEffect">
                                  <p:stCondLst>
                                    <p:cond delay="0"/>
                                  </p:stCondLst>
                                  <p:childTnLst>
                                    <p:animMotion origin="layout" path="M 0 -2.59259E-6 L 0 0.03542 " pathEditMode="relative" rAng="0" ptsTypes="AA">
                                      <p:cBhvr>
                                        <p:cTn id="29" dur="700" spd="-100000" fill="hold"/>
                                        <p:tgtEl>
                                          <p:spTgt spid="9"/>
                                        </p:tgtEl>
                                        <p:attrNameLst>
                                          <p:attrName>ppt_x</p:attrName>
                                          <p:attrName>ppt_y</p:attrName>
                                        </p:attrNameLst>
                                      </p:cBhvr>
                                      <p:rCtr x="0" y="1759"/>
                                    </p:animMotion>
                                  </p:childTnLst>
                                </p:cTn>
                              </p:par>
                              <p:par>
                                <p:cTn id="30" presetID="10" presetClass="entr" presetSubtype="0"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42" presetClass="path" presetSubtype="0" decel="100000" fill="hold" nodeType="withEffect">
                                  <p:stCondLst>
                                    <p:cond delay="0"/>
                                  </p:stCondLst>
                                  <p:childTnLst>
                                    <p:animMotion origin="layout" path="M 0 -2.59259E-6 L 0 0.03542 " pathEditMode="relative" rAng="0" ptsTypes="AA">
                                      <p:cBhvr>
                                        <p:cTn id="34" dur="700" spd="-100000" fill="hold"/>
                                        <p:tgtEl>
                                          <p:spTgt spid="21"/>
                                        </p:tgtEl>
                                        <p:attrNameLst>
                                          <p:attrName>ppt_x</p:attrName>
                                          <p:attrName>ppt_y</p:attrName>
                                        </p:attrNameLst>
                                      </p:cBhvr>
                                      <p:rCtr x="0" y="1759"/>
                                    </p:animMotion>
                                  </p:childTnLst>
                                </p:cTn>
                              </p:par>
                              <p:par>
                                <p:cTn id="35" presetID="10"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par>
                                <p:cTn id="38" presetID="42" presetClass="path" presetSubtype="0" decel="100000" fill="hold" grpId="1" nodeType="withEffect">
                                  <p:stCondLst>
                                    <p:cond delay="0"/>
                                  </p:stCondLst>
                                  <p:childTnLst>
                                    <p:animMotion origin="layout" path="M 0 -2.59259E-6 L 0 0.03542 " pathEditMode="relative" rAng="0" ptsTypes="AA">
                                      <p:cBhvr>
                                        <p:cTn id="39" dur="700" spd="-100000" fill="hold"/>
                                        <p:tgtEl>
                                          <p:spTgt spid="20"/>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7" grpId="0"/>
      <p:bldP spid="17" grpId="1"/>
      <p:bldP spid="19" grpId="0"/>
      <p:bldP spid="19" grpId="1"/>
      <p:bldP spid="20" grpId="0"/>
      <p:bldP spid="20" grpId="1"/>
      <p:bldP spid="25" grpId="0" animBg="1"/>
      <p:bldP spid="25" grpId="1"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C2ECA13-37B2-DC22-4D7F-09D930C39F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483D28-B3DB-D56F-83F6-BE8EA1F91560}"/>
              </a:ext>
            </a:extLst>
          </p:cNvPr>
          <p:cNvSpPr>
            <a:spLocks noGrp="1"/>
          </p:cNvSpPr>
          <p:nvPr>
            <p:ph type="title"/>
          </p:nvPr>
        </p:nvSpPr>
        <p:spPr/>
        <p:txBody>
          <a:bodyPr/>
          <a:lstStyle/>
          <a:p>
            <a:r>
              <a:rPr lang="en-US"/>
              <a:t>Vector search strategies</a:t>
            </a:r>
          </a:p>
        </p:txBody>
      </p:sp>
      <p:sp>
        <p:nvSpPr>
          <p:cNvPr id="18" name="Rectangle: Rounded Corners 7">
            <a:extLst>
              <a:ext uri="{FF2B5EF4-FFF2-40B4-BE49-F238E27FC236}">
                <a16:creationId xmlns:a16="http://schemas.microsoft.com/office/drawing/2014/main" id="{779E61A2-C498-421F-204E-AF4E6CB01694}"/>
              </a:ext>
            </a:extLst>
          </p:cNvPr>
          <p:cNvSpPr/>
          <p:nvPr/>
        </p:nvSpPr>
        <p:spPr>
          <a:xfrm>
            <a:off x="588262" y="6063993"/>
            <a:ext cx="5054905" cy="361910"/>
          </a:xfrm>
          <a:prstGeom prst="roundRect">
            <a:avLst>
              <a:gd name="adj" fmla="val 50000"/>
            </a:avLst>
          </a:prstGeom>
          <a:gradFill>
            <a:gsLst>
              <a:gs pos="32000">
                <a:srgbClr val="C03BC4"/>
              </a:gs>
              <a:gs pos="100000">
                <a:srgbClr val="399A91"/>
              </a:gs>
              <a:gs pos="68000">
                <a:srgbClr val="0078D4"/>
              </a:gs>
              <a:gs pos="0">
                <a:srgbClr val="FF5C39"/>
              </a:gs>
            </a:gsLst>
            <a:path path="circle">
              <a:fillToRect l="100000" t="100000"/>
            </a:path>
          </a:gradFill>
          <a:ln w="25400">
            <a:solidFill>
              <a:schemeClr val="bg1"/>
            </a:solidFill>
          </a:ln>
        </p:spPr>
        <p:style>
          <a:lnRef idx="3">
            <a:schemeClr val="lt1"/>
          </a:lnRef>
          <a:fillRef idx="1">
            <a:schemeClr val="accent4"/>
          </a:fillRef>
          <a:effectRef idx="1">
            <a:schemeClr val="accent4"/>
          </a:effectRef>
          <a:fontRef idx="minor">
            <a:schemeClr val="lt1"/>
          </a:fontRef>
        </p:style>
        <p:txBody>
          <a:bodyPr wrap="none" tIns="36000" bIns="36000" rtlCol="0" anchor="ctr">
            <a:spAutoFit/>
          </a:bodyPr>
          <a:lstStyle/>
          <a:p>
            <a:pPr marR="0" lvl="0" algn="l" defTabSz="914367" rtl="0" eaLnBrk="1" fontAlgn="auto" latinLnBrk="0" hangingPunct="1">
              <a:lnSpc>
                <a:spcPct val="100000"/>
              </a:lnSpc>
              <a:spcBef>
                <a:spcPts val="0"/>
              </a:spcBef>
              <a:spcAft>
                <a:spcPts val="0"/>
              </a:spcAft>
              <a:buClrTx/>
              <a:buSzTx/>
              <a:buFontTx/>
              <a:buNone/>
              <a:tabLst>
                <a:tab pos="2570163" algn="l"/>
              </a:tabLst>
              <a:defRPr/>
            </a:pPr>
            <a:r>
              <a:rPr kumimoji="0" lang="en-US" sz="1200" b="0" i="0" u="none" strike="noStrike" kern="1200" cap="none" spc="0" normalizeH="0" baseline="0" noProof="0">
                <a:ln>
                  <a:noFill/>
                </a:ln>
                <a:solidFill>
                  <a:schemeClr val="bg1"/>
                </a:solidFill>
                <a:effectLst/>
                <a:uLnTx/>
                <a:uFillTx/>
                <a:latin typeface="+mj-lt"/>
                <a:ea typeface="+mn-ea"/>
                <a:cs typeface="+mn-cs"/>
              </a:rPr>
              <a:t>💻 </a:t>
            </a:r>
            <a:r>
              <a:rPr kumimoji="0" lang="en-US" sz="1200" b="0" i="0" u="none" strike="noStrike" kern="1200" cap="none" spc="0" normalizeH="0" baseline="0" noProof="0">
                <a:ln>
                  <a:noFill/>
                </a:ln>
                <a:solidFill>
                  <a:schemeClr val="bg1"/>
                </a:solidFill>
                <a:effectLst/>
                <a:uLnTx/>
                <a:uFillTx/>
                <a:latin typeface="+mj-lt"/>
                <a:ea typeface="+mn-ea"/>
                <a:cs typeface="+mn-cs"/>
                <a:hlinkClick r:id="rId3">
                  <a:extLst>
                    <a:ext uri="{A12FA001-AC4F-418D-AE19-62706E023703}">
                      <ahyp:hlinkClr xmlns:ahyp="http://schemas.microsoft.com/office/drawing/2018/hyperlinkcolor" val="tx"/>
                    </a:ext>
                  </a:extLst>
                </a:hlinkClick>
              </a:rPr>
              <a:t>Demo: Azure AI search with vectors</a:t>
            </a:r>
            <a:r>
              <a:rPr kumimoji="0" lang="en-US" sz="1200" b="0" i="0" u="none" strike="noStrike" kern="1200" cap="none" spc="0" normalizeH="0" baseline="0" noProof="0">
                <a:ln>
                  <a:noFill/>
                </a:ln>
                <a:solidFill>
                  <a:schemeClr val="bg1"/>
                </a:solidFill>
                <a:effectLst/>
                <a:uLnTx/>
                <a:uFillTx/>
                <a:latin typeface="+mj-lt"/>
                <a:ea typeface="+mn-ea"/>
                <a:cs typeface="+mn-cs"/>
              </a:rPr>
              <a:t> (</a:t>
            </a:r>
            <a:r>
              <a:rPr kumimoji="0" lang="en-US" sz="1200" b="0" i="0" u="none" strike="noStrike" kern="1200" cap="none" spc="0" normalizeH="0" baseline="0" noProof="0">
                <a:ln>
                  <a:noFill/>
                </a:ln>
                <a:solidFill>
                  <a:schemeClr val="bg1"/>
                </a:solidFill>
                <a:effectLst/>
                <a:uLnTx/>
                <a:uFillTx/>
                <a:latin typeface="+mj-lt"/>
                <a:ea typeface="+mn-ea"/>
                <a:cs typeface="+mn-cs"/>
                <a:hlinkClick r:id="rId4">
                  <a:extLst>
                    <a:ext uri="{A12FA001-AC4F-418D-AE19-62706E023703}">
                      <ahyp:hlinkClr xmlns:ahyp="http://schemas.microsoft.com/office/drawing/2018/hyperlinkcolor" val="tx"/>
                    </a:ext>
                  </a:extLst>
                </a:hlinkClick>
              </a:rPr>
              <a:t>aka.ms/</a:t>
            </a:r>
            <a:r>
              <a:rPr kumimoji="0" lang="en-US" sz="1200" b="0" i="0" u="none" strike="noStrike" kern="1200" cap="none" spc="0" normalizeH="0" baseline="0" noProof="0" err="1">
                <a:ln>
                  <a:noFill/>
                </a:ln>
                <a:solidFill>
                  <a:schemeClr val="bg1"/>
                </a:solidFill>
                <a:effectLst/>
                <a:uLnTx/>
                <a:uFillTx/>
                <a:latin typeface="+mj-lt"/>
                <a:ea typeface="+mn-ea"/>
                <a:cs typeface="+mn-cs"/>
                <a:hlinkClick r:id="rId4">
                  <a:extLst>
                    <a:ext uri="{A12FA001-AC4F-418D-AE19-62706E023703}">
                      <ahyp:hlinkClr xmlns:ahyp="http://schemas.microsoft.com/office/drawing/2018/hyperlinkcolor" val="tx"/>
                    </a:ext>
                  </a:extLst>
                </a:hlinkClick>
              </a:rPr>
              <a:t>aitour</a:t>
            </a:r>
            <a:r>
              <a:rPr kumimoji="0" lang="en-US" sz="1200" b="0" i="0" u="none" strike="noStrike" kern="1200" cap="none" spc="0" normalizeH="0" baseline="0" noProof="0">
                <a:ln>
                  <a:noFill/>
                </a:ln>
                <a:solidFill>
                  <a:schemeClr val="bg1"/>
                </a:solidFill>
                <a:effectLst/>
                <a:uLnTx/>
                <a:uFillTx/>
                <a:latin typeface="+mj-lt"/>
                <a:ea typeface="+mn-ea"/>
                <a:cs typeface="+mn-cs"/>
                <a:hlinkClick r:id="rId4">
                  <a:extLst>
                    <a:ext uri="{A12FA001-AC4F-418D-AE19-62706E023703}">
                      <ahyp:hlinkClr xmlns:ahyp="http://schemas.microsoft.com/office/drawing/2018/hyperlinkcolor" val="tx"/>
                    </a:ext>
                  </a:extLst>
                </a:hlinkClick>
              </a:rPr>
              <a:t>/azure-search</a:t>
            </a:r>
            <a:r>
              <a:rPr kumimoji="0" lang="en-US" sz="1200" b="0" i="0" u="none" strike="noStrike" kern="1200" cap="none" spc="0" normalizeH="0" baseline="0" noProof="0">
                <a:ln>
                  <a:noFill/>
                </a:ln>
                <a:solidFill>
                  <a:schemeClr val="bg1"/>
                </a:solidFill>
                <a:effectLst/>
                <a:uLnTx/>
                <a:uFillTx/>
                <a:latin typeface="+mj-lt"/>
                <a:ea typeface="+mn-ea"/>
                <a:cs typeface="+mn-cs"/>
              </a:rPr>
              <a:t>)</a:t>
            </a:r>
          </a:p>
        </p:txBody>
      </p:sp>
      <p:sp>
        <p:nvSpPr>
          <p:cNvPr id="19" name="Content Placeholder 5">
            <a:extLst>
              <a:ext uri="{FF2B5EF4-FFF2-40B4-BE49-F238E27FC236}">
                <a16:creationId xmlns:a16="http://schemas.microsoft.com/office/drawing/2014/main" id="{18DDE5E4-98F3-E155-906F-DC68D4B6CFA8}"/>
              </a:ext>
            </a:extLst>
          </p:cNvPr>
          <p:cNvSpPr txBox="1">
            <a:spLocks/>
          </p:cNvSpPr>
          <p:nvPr/>
        </p:nvSpPr>
        <p:spPr>
          <a:xfrm>
            <a:off x="599504" y="4037195"/>
            <a:ext cx="5337657" cy="1860686"/>
          </a:xfrm>
          <a:prstGeom prst="round2SameRect">
            <a:avLst>
              <a:gd name="adj1" fmla="val 0"/>
              <a:gd name="adj2" fmla="val 8370"/>
            </a:avLst>
          </a:prstGeom>
          <a:solidFill>
            <a:schemeClr val="bg1">
              <a:lumMod val="95000"/>
              <a:alpha val="90000"/>
            </a:schemeClr>
          </a:solidFill>
        </p:spPr>
        <p:txBody>
          <a:bodyPr vert="horz" lIns="28800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400" b="0">
                <a:solidFill>
                  <a:schemeClr val="accent2">
                    <a:lumMod val="75000"/>
                  </a:schemeClr>
                </a:solidFill>
                <a:effectLst/>
                <a:latin typeface="Consolas" panose="020B0609020204030204" pitchFamily="49" charset="0"/>
              </a:rPr>
              <a:t>r </a:t>
            </a:r>
            <a:r>
              <a:rPr lang="en-US" sz="1400" b="0">
                <a:effectLst/>
                <a:latin typeface="Consolas" panose="020B0609020204030204" pitchFamily="49" charset="0"/>
              </a:rPr>
              <a:t>=</a:t>
            </a:r>
            <a:r>
              <a:rPr lang="en-US" sz="1400" b="0">
                <a:solidFill>
                  <a:schemeClr val="accent2">
                    <a:lumMod val="75000"/>
                  </a:schemeClr>
                </a:solidFill>
                <a:effectLst/>
                <a:latin typeface="Consolas" panose="020B0609020204030204" pitchFamily="49" charset="0"/>
              </a:rPr>
              <a:t> </a:t>
            </a:r>
            <a:r>
              <a:rPr lang="en-US" sz="1400" b="0" err="1">
                <a:solidFill>
                  <a:schemeClr val="accent2">
                    <a:lumMod val="75000"/>
                  </a:schemeClr>
                </a:solidFill>
                <a:effectLst/>
                <a:latin typeface="Consolas" panose="020B0609020204030204" pitchFamily="49" charset="0"/>
              </a:rPr>
              <a:t>search_client</a:t>
            </a:r>
            <a:r>
              <a:rPr lang="en-US" sz="1400" b="0" err="1">
                <a:effectLst/>
                <a:latin typeface="Consolas" panose="020B0609020204030204" pitchFamily="49" charset="0"/>
              </a:rPr>
              <a:t>.</a:t>
            </a:r>
            <a:r>
              <a:rPr lang="en-US" sz="1400" b="0" err="1">
                <a:solidFill>
                  <a:srgbClr val="7F5A1A"/>
                </a:solidFill>
                <a:effectLst/>
                <a:latin typeface="Consolas" panose="020B0609020204030204" pitchFamily="49" charset="0"/>
              </a:rPr>
              <a:t>search</a:t>
            </a:r>
            <a:r>
              <a:rPr lang="en-US" sz="1400" b="0">
                <a:effectLst/>
                <a:latin typeface="Consolas" panose="020B0609020204030204" pitchFamily="49" charset="0"/>
              </a:rPr>
              <a:t>(</a:t>
            </a:r>
          </a:p>
          <a:p>
            <a:pPr marL="0" indent="0">
              <a:spcBef>
                <a:spcPts val="0"/>
              </a:spcBef>
              <a:buNone/>
            </a:pPr>
            <a:r>
              <a:rPr lang="en-US" sz="1400">
                <a:solidFill>
                  <a:srgbClr val="CCCCCC"/>
                </a:solidFill>
                <a:latin typeface="Consolas" panose="020B0609020204030204" pitchFamily="49" charset="0"/>
              </a:rPr>
              <a:t>        </a:t>
            </a:r>
            <a:r>
              <a:rPr lang="en-US" sz="1400" b="0">
                <a:solidFill>
                  <a:srgbClr val="0078D4"/>
                </a:solidFill>
                <a:effectLst/>
                <a:latin typeface="Consolas" panose="020B0609020204030204" pitchFamily="49" charset="0"/>
              </a:rPr>
              <a:t>None</a:t>
            </a:r>
            <a:r>
              <a:rPr lang="en-US" sz="1400" b="0">
                <a:effectLst/>
                <a:latin typeface="Consolas" panose="020B0609020204030204" pitchFamily="49" charset="0"/>
              </a:rPr>
              <a:t>,</a:t>
            </a:r>
          </a:p>
          <a:p>
            <a:pPr marL="0" indent="0">
              <a:spcBef>
                <a:spcPts val="0"/>
              </a:spcBef>
              <a:buNone/>
            </a:pPr>
            <a:r>
              <a:rPr lang="en-US" sz="1400">
                <a:solidFill>
                  <a:srgbClr val="CCCCCC"/>
                </a:solidFill>
                <a:latin typeface="Consolas" panose="020B0609020204030204" pitchFamily="49" charset="0"/>
              </a:rPr>
              <a:t>        </a:t>
            </a:r>
            <a:r>
              <a:rPr lang="en-US" sz="1400" b="0">
                <a:solidFill>
                  <a:schemeClr val="accent2">
                    <a:lumMod val="75000"/>
                  </a:schemeClr>
                </a:solidFill>
                <a:effectLst/>
                <a:latin typeface="Consolas" panose="020B0609020204030204" pitchFamily="49" charset="0"/>
              </a:rPr>
              <a:t>top</a:t>
            </a:r>
            <a:r>
              <a:rPr lang="en-US" sz="1400" b="0">
                <a:effectLst/>
                <a:latin typeface="Consolas" panose="020B0609020204030204" pitchFamily="49" charset="0"/>
              </a:rPr>
              <a:t>=</a:t>
            </a:r>
            <a:r>
              <a:rPr lang="en-US" sz="1400" b="0">
                <a:solidFill>
                  <a:srgbClr val="07641D"/>
                </a:solidFill>
                <a:effectLst/>
                <a:latin typeface="Consolas" panose="020B0609020204030204" pitchFamily="49" charset="0"/>
              </a:rPr>
              <a:t>5</a:t>
            </a:r>
            <a:r>
              <a:rPr lang="en-US" sz="1400" b="0">
                <a:effectLst/>
                <a:latin typeface="Consolas" panose="020B0609020204030204" pitchFamily="49" charset="0"/>
              </a:rPr>
              <a:t>,</a:t>
            </a:r>
            <a:r>
              <a:rPr lang="en-US" sz="1400" b="0">
                <a:solidFill>
                  <a:srgbClr val="CCCCCC"/>
                </a:solidFill>
                <a:effectLst/>
                <a:latin typeface="Consolas" panose="020B0609020204030204" pitchFamily="49" charset="0"/>
              </a:rPr>
              <a:t> </a:t>
            </a:r>
          </a:p>
          <a:p>
            <a:pPr marL="0" indent="0">
              <a:spcBef>
                <a:spcPts val="0"/>
              </a:spcBef>
              <a:buNone/>
            </a:pPr>
            <a:r>
              <a:rPr lang="en-US" sz="1400" b="0">
                <a:solidFill>
                  <a:srgbClr val="9CDCFE"/>
                </a:solidFill>
                <a:effectLst/>
                <a:latin typeface="Consolas" panose="020B0609020204030204" pitchFamily="49" charset="0"/>
              </a:rPr>
              <a:t>        </a:t>
            </a:r>
            <a:r>
              <a:rPr lang="en-US" sz="1400" b="0" err="1">
                <a:solidFill>
                  <a:schemeClr val="accent2">
                    <a:lumMod val="75000"/>
                  </a:schemeClr>
                </a:solidFill>
                <a:effectLst/>
                <a:latin typeface="Consolas" panose="020B0609020204030204" pitchFamily="49" charset="0"/>
              </a:rPr>
              <a:t>vector_queries</a:t>
            </a:r>
            <a:r>
              <a:rPr lang="en-US" sz="1400" b="0">
                <a:effectLst/>
                <a:latin typeface="Consolas" panose="020B0609020204030204" pitchFamily="49" charset="0"/>
              </a:rPr>
              <a:t>=[</a:t>
            </a:r>
            <a:r>
              <a:rPr lang="en-US" sz="1400" b="0" err="1">
                <a:solidFill>
                  <a:srgbClr val="225B62"/>
                </a:solidFill>
                <a:effectLst/>
                <a:latin typeface="Consolas" panose="020B0609020204030204" pitchFamily="49" charset="0"/>
              </a:rPr>
              <a:t>VectorizedQuery</a:t>
            </a:r>
            <a:r>
              <a:rPr lang="en-US" sz="1400" b="0">
                <a:effectLst/>
                <a:latin typeface="Consolas" panose="020B0609020204030204" pitchFamily="49" charset="0"/>
              </a:rPr>
              <a:t>(</a:t>
            </a:r>
          </a:p>
          <a:p>
            <a:pPr marL="0" indent="0">
              <a:spcBef>
                <a:spcPts val="0"/>
              </a:spcBef>
              <a:buNone/>
            </a:pPr>
            <a:r>
              <a:rPr lang="en-US" sz="1400">
                <a:solidFill>
                  <a:srgbClr val="9CDCFE"/>
                </a:solidFill>
                <a:latin typeface="Consolas" panose="020B0609020204030204" pitchFamily="49" charset="0"/>
              </a:rPr>
              <a:t>            </a:t>
            </a:r>
            <a:r>
              <a:rPr lang="en-US" sz="1400" b="0">
                <a:solidFill>
                  <a:schemeClr val="accent2">
                    <a:lumMod val="75000"/>
                  </a:schemeClr>
                </a:solidFill>
                <a:effectLst/>
                <a:latin typeface="Consolas" panose="020B0609020204030204" pitchFamily="49" charset="0"/>
              </a:rPr>
              <a:t>vector</a:t>
            </a:r>
            <a:r>
              <a:rPr lang="en-US" sz="1400" b="0">
                <a:effectLst/>
                <a:latin typeface="Consolas" panose="020B0609020204030204" pitchFamily="49" charset="0"/>
              </a:rPr>
              <a:t>=</a:t>
            </a:r>
            <a:r>
              <a:rPr lang="en-US" sz="1400" b="0" err="1">
                <a:solidFill>
                  <a:srgbClr val="005A9F"/>
                </a:solidFill>
                <a:effectLst/>
                <a:latin typeface="Consolas" panose="020B0609020204030204" pitchFamily="49" charset="0"/>
              </a:rPr>
              <a:t>search</a:t>
            </a:r>
            <a:r>
              <a:rPr lang="en-US" sz="1400" b="0" err="1">
                <a:solidFill>
                  <a:schemeClr val="accent2">
                    <a:lumMod val="75000"/>
                  </a:schemeClr>
                </a:solidFill>
                <a:effectLst/>
                <a:latin typeface="Consolas" panose="020B0609020204030204" pitchFamily="49" charset="0"/>
              </a:rPr>
              <a:t>_vector</a:t>
            </a:r>
            <a:r>
              <a:rPr lang="en-US" sz="1400" b="0">
                <a:effectLst/>
                <a:latin typeface="Consolas" panose="020B0609020204030204" pitchFamily="49" charset="0"/>
              </a:rPr>
              <a:t>,</a:t>
            </a:r>
            <a:r>
              <a:rPr lang="en-US" sz="1400" b="0">
                <a:solidFill>
                  <a:srgbClr val="CCCCCC"/>
                </a:solidFill>
                <a:effectLst/>
                <a:latin typeface="Consolas" panose="020B0609020204030204" pitchFamily="49" charset="0"/>
              </a:rPr>
              <a:t> </a:t>
            </a:r>
          </a:p>
          <a:p>
            <a:pPr marL="0" indent="0">
              <a:spcBef>
                <a:spcPts val="0"/>
              </a:spcBef>
              <a:buNone/>
            </a:pPr>
            <a:r>
              <a:rPr lang="en-US" sz="1400" b="0">
                <a:solidFill>
                  <a:srgbClr val="9CDCFE"/>
                </a:solidFill>
                <a:effectLst/>
                <a:latin typeface="Consolas" panose="020B0609020204030204" pitchFamily="49" charset="0"/>
              </a:rPr>
              <a:t>            </a:t>
            </a:r>
            <a:r>
              <a:rPr lang="en-US" sz="1400" b="0" err="1">
                <a:solidFill>
                  <a:schemeClr val="accent2">
                    <a:lumMod val="75000"/>
                  </a:schemeClr>
                </a:solidFill>
                <a:effectLst/>
                <a:latin typeface="Consolas" panose="020B0609020204030204" pitchFamily="49" charset="0"/>
              </a:rPr>
              <a:t>k_nearest_neighbors</a:t>
            </a:r>
            <a:r>
              <a:rPr lang="en-US" sz="1400" b="0">
                <a:effectLst/>
                <a:latin typeface="Consolas" panose="020B0609020204030204" pitchFamily="49" charset="0"/>
              </a:rPr>
              <a:t>=</a:t>
            </a:r>
            <a:r>
              <a:rPr lang="en-US" sz="1400" b="0">
                <a:solidFill>
                  <a:srgbClr val="B5CEA8"/>
                </a:solidFill>
                <a:effectLst/>
                <a:latin typeface="Consolas" panose="020B0609020204030204" pitchFamily="49" charset="0"/>
              </a:rPr>
              <a:t>5</a:t>
            </a:r>
            <a:r>
              <a:rPr lang="en-US" sz="1400" b="0">
                <a:effectLst/>
                <a:latin typeface="Consolas" panose="020B0609020204030204" pitchFamily="49" charset="0"/>
              </a:rPr>
              <a:t>,</a:t>
            </a:r>
            <a:r>
              <a:rPr lang="en-US" sz="1400" b="0">
                <a:solidFill>
                  <a:srgbClr val="CCCCCC"/>
                </a:solidFill>
                <a:effectLst/>
                <a:latin typeface="Consolas" panose="020B0609020204030204" pitchFamily="49" charset="0"/>
              </a:rPr>
              <a:t> </a:t>
            </a:r>
          </a:p>
          <a:p>
            <a:pPr marL="0" indent="0">
              <a:spcBef>
                <a:spcPts val="0"/>
              </a:spcBef>
              <a:buNone/>
            </a:pPr>
            <a:r>
              <a:rPr lang="en-US" sz="1400" b="0">
                <a:solidFill>
                  <a:srgbClr val="9CDCFE"/>
                </a:solidFill>
                <a:effectLst/>
                <a:latin typeface="Consolas" panose="020B0609020204030204" pitchFamily="49" charset="0"/>
              </a:rPr>
              <a:t>            </a:t>
            </a:r>
            <a:r>
              <a:rPr lang="en-US" sz="1400" b="0">
                <a:solidFill>
                  <a:schemeClr val="accent2">
                    <a:lumMod val="75000"/>
                  </a:schemeClr>
                </a:solidFill>
                <a:effectLst/>
                <a:latin typeface="Consolas" panose="020B0609020204030204" pitchFamily="49" charset="0"/>
              </a:rPr>
              <a:t>fields</a:t>
            </a:r>
            <a:r>
              <a:rPr lang="en-US" sz="1400" b="0">
                <a:effectLst/>
                <a:latin typeface="Consolas" panose="020B0609020204030204" pitchFamily="49" charset="0"/>
              </a:rPr>
              <a:t>=</a:t>
            </a:r>
            <a:r>
              <a:rPr lang="en-US" sz="1400" b="0">
                <a:solidFill>
                  <a:srgbClr val="CE9178"/>
                </a:solidFill>
                <a:effectLst/>
                <a:latin typeface="Consolas" panose="020B0609020204030204" pitchFamily="49" charset="0"/>
              </a:rPr>
              <a:t>"embedding"</a:t>
            </a:r>
            <a:r>
              <a:rPr lang="en-US" sz="1400" b="0">
                <a:effectLst/>
                <a:latin typeface="Consolas" panose="020B0609020204030204" pitchFamily="49" charset="0"/>
              </a:rPr>
              <a:t>)])</a:t>
            </a:r>
          </a:p>
        </p:txBody>
      </p:sp>
      <p:sp>
        <p:nvSpPr>
          <p:cNvPr id="20" name="Content Placeholder 2">
            <a:extLst>
              <a:ext uri="{FF2B5EF4-FFF2-40B4-BE49-F238E27FC236}">
                <a16:creationId xmlns:a16="http://schemas.microsoft.com/office/drawing/2014/main" id="{5948DF86-0195-DE17-F0B0-19113DA3C3B5}"/>
              </a:ext>
            </a:extLst>
          </p:cNvPr>
          <p:cNvSpPr txBox="1">
            <a:spLocks/>
          </p:cNvSpPr>
          <p:nvPr/>
        </p:nvSpPr>
        <p:spPr>
          <a:xfrm>
            <a:off x="874135" y="2082656"/>
            <a:ext cx="4819650" cy="1550988"/>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anose="020B0604020202020204" pitchFamily="34" charset="0"/>
              <a:buChar char="•"/>
            </a:pPr>
            <a:r>
              <a:rPr lang="en-US" sz="1800"/>
              <a:t>ANN = Approximate Nearest Neighbors</a:t>
            </a:r>
          </a:p>
          <a:p>
            <a:pPr>
              <a:buFont typeface="Arial" panose="020B0604020202020204" pitchFamily="34" charset="0"/>
              <a:buChar char="•"/>
            </a:pPr>
            <a:r>
              <a:rPr lang="en-US" sz="1800"/>
              <a:t>Fast vector search at scale</a:t>
            </a:r>
          </a:p>
          <a:p>
            <a:pPr>
              <a:buFont typeface="Arial" panose="020B0604020202020204" pitchFamily="34" charset="0"/>
              <a:buChar char="•"/>
            </a:pPr>
            <a:r>
              <a:rPr lang="en-US" sz="1800"/>
              <a:t>Uses HNSW, a graph method with excellent performance-recall profile</a:t>
            </a:r>
          </a:p>
          <a:p>
            <a:pPr>
              <a:buFont typeface="Arial" panose="020B0604020202020204" pitchFamily="34" charset="0"/>
              <a:buChar char="•"/>
            </a:pPr>
            <a:r>
              <a:rPr lang="en-US" sz="1800"/>
              <a:t>Fine control over index parameters</a:t>
            </a:r>
          </a:p>
        </p:txBody>
      </p:sp>
      <p:sp>
        <p:nvSpPr>
          <p:cNvPr id="21" name="TextBox 20">
            <a:extLst>
              <a:ext uri="{FF2B5EF4-FFF2-40B4-BE49-F238E27FC236}">
                <a16:creationId xmlns:a16="http://schemas.microsoft.com/office/drawing/2014/main" id="{67B450C4-4CAC-5F0F-4098-0A79DE89AB32}"/>
              </a:ext>
            </a:extLst>
          </p:cNvPr>
          <p:cNvSpPr txBox="1"/>
          <p:nvPr/>
        </p:nvSpPr>
        <p:spPr>
          <a:xfrm>
            <a:off x="874135" y="1608584"/>
            <a:ext cx="4819583" cy="332399"/>
          </a:xfrm>
          <a:prstGeom prst="rect">
            <a:avLst/>
          </a:prstGeom>
          <a:noFill/>
        </p:spPr>
        <p:txBody>
          <a:bodyPr wrap="square" lIns="0" tIns="0" rIns="0" bIns="0" rtlCol="0">
            <a:spAutoFit/>
          </a:bodyPr>
          <a:lstStyle/>
          <a:p>
            <a:pPr lvl="0" defTabSz="932304" fontAlgn="base">
              <a:lnSpc>
                <a:spcPct val="90000"/>
              </a:lnSpc>
              <a:spcBef>
                <a:spcPct val="0"/>
              </a:spcBef>
              <a:spcAft>
                <a:spcPct val="0"/>
              </a:spcAft>
              <a:defRPr/>
            </a:pPr>
            <a:r>
              <a:rPr lang="en-US" sz="2400">
                <a:latin typeface="+mj-lt"/>
              </a:rPr>
              <a:t>ANN search</a:t>
            </a:r>
          </a:p>
        </p:txBody>
      </p:sp>
      <p:sp>
        <p:nvSpPr>
          <p:cNvPr id="22" name="Rounded Rectangle 5">
            <a:extLst>
              <a:ext uri="{FF2B5EF4-FFF2-40B4-BE49-F238E27FC236}">
                <a16:creationId xmlns:a16="http://schemas.microsoft.com/office/drawing/2014/main" id="{A68001D5-26A7-AA59-4581-E0570DEE53DE}"/>
              </a:ext>
              <a:ext uri="{C183D7F6-B498-43B3-948B-1728B52AA6E4}">
                <adec:decorative xmlns:adec="http://schemas.microsoft.com/office/drawing/2017/decorative" val="1"/>
              </a:ext>
            </a:extLst>
          </p:cNvPr>
          <p:cNvSpPr/>
          <p:nvPr/>
        </p:nvSpPr>
        <p:spPr bwMode="auto">
          <a:xfrm>
            <a:off x="599815" y="1311214"/>
            <a:ext cx="5337346" cy="4586666"/>
          </a:xfrm>
          <a:prstGeom prst="roundRect">
            <a:avLst>
              <a:gd name="adj" fmla="val 4308"/>
            </a:avLst>
          </a:prstGeom>
          <a:no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24" name="Content Placeholder 5">
            <a:extLst>
              <a:ext uri="{FF2B5EF4-FFF2-40B4-BE49-F238E27FC236}">
                <a16:creationId xmlns:a16="http://schemas.microsoft.com/office/drawing/2014/main" id="{5EC9D429-F0FD-CB80-5C01-452AA17AAD7B}"/>
              </a:ext>
            </a:extLst>
          </p:cNvPr>
          <p:cNvSpPr txBox="1">
            <a:spLocks/>
          </p:cNvSpPr>
          <p:nvPr/>
        </p:nvSpPr>
        <p:spPr>
          <a:xfrm>
            <a:off x="6254839" y="4037193"/>
            <a:ext cx="5337657" cy="1860687"/>
          </a:xfrm>
          <a:prstGeom prst="round2SameRect">
            <a:avLst>
              <a:gd name="adj1" fmla="val 0"/>
              <a:gd name="adj2" fmla="val 10762"/>
            </a:avLst>
          </a:prstGeom>
          <a:solidFill>
            <a:schemeClr val="bg1">
              <a:lumMod val="95000"/>
              <a:alpha val="90000"/>
            </a:schemeClr>
          </a:solidFill>
        </p:spPr>
        <p:txBody>
          <a:bodyPr vert="horz" lIns="288000" tIns="45720" rIns="91440" bIns="45720" rtlCol="0" anchor="ctr">
            <a:normAutofit/>
          </a:bodyPr>
          <a:lstStyle>
            <a:defPPr>
              <a:defRPr lang="en-US"/>
            </a:defPPr>
            <a:lvl1pPr indent="0" defTabSz="914400">
              <a:lnSpc>
                <a:spcPct val="90000"/>
              </a:lnSpc>
              <a:spcBef>
                <a:spcPts val="0"/>
              </a:spcBef>
              <a:buFont typeface="Arial" panose="020B0604020202020204" pitchFamily="34" charset="0"/>
              <a:buNone/>
              <a:defRPr sz="1400" b="0">
                <a:solidFill>
                  <a:srgbClr val="9CDCFE"/>
                </a:solidFill>
                <a:effectLst/>
                <a:latin typeface="Consolas" panose="020B0609020204030204" pitchFamily="49" charset="0"/>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defRPr sz="1800"/>
            </a:lvl4pPr>
            <a:lvl5pPr marL="2057400" indent="-228600" defTabSz="914400">
              <a:lnSpc>
                <a:spcPct val="90000"/>
              </a:lnSpc>
              <a:spcBef>
                <a:spcPts val="500"/>
              </a:spcBef>
              <a:buFont typeface="Arial" panose="020B0604020202020204" pitchFamily="34" charset="0"/>
              <a:buChar char="•"/>
              <a:defRPr sz="1800"/>
            </a:lvl5pPr>
            <a:lvl6pPr marL="2514600" indent="-228600" defTabSz="914400">
              <a:lnSpc>
                <a:spcPct val="90000"/>
              </a:lnSpc>
              <a:spcBef>
                <a:spcPts val="500"/>
              </a:spcBef>
              <a:buFont typeface="Arial" panose="020B0604020202020204" pitchFamily="34" charset="0"/>
              <a:buChar char="•"/>
              <a:defRPr sz="1800"/>
            </a:lvl6pPr>
            <a:lvl7pPr marL="2971800" indent="-228600" defTabSz="914400">
              <a:lnSpc>
                <a:spcPct val="90000"/>
              </a:lnSpc>
              <a:spcBef>
                <a:spcPts val="500"/>
              </a:spcBef>
              <a:buFont typeface="Arial" panose="020B0604020202020204" pitchFamily="34" charset="0"/>
              <a:buChar char="•"/>
              <a:defRPr sz="1800"/>
            </a:lvl7pPr>
            <a:lvl8pPr marL="3429000" indent="-228600" defTabSz="914400">
              <a:lnSpc>
                <a:spcPct val="90000"/>
              </a:lnSpc>
              <a:spcBef>
                <a:spcPts val="500"/>
              </a:spcBef>
              <a:buFont typeface="Arial" panose="020B0604020202020204" pitchFamily="34" charset="0"/>
              <a:buChar char="•"/>
              <a:defRPr sz="1800"/>
            </a:lvl8pPr>
            <a:lvl9pPr marL="3886200" indent="-228600" defTabSz="914400">
              <a:lnSpc>
                <a:spcPct val="90000"/>
              </a:lnSpc>
              <a:spcBef>
                <a:spcPts val="500"/>
              </a:spcBef>
              <a:buFont typeface="Arial" panose="020B0604020202020204" pitchFamily="34" charset="0"/>
              <a:buChar char="•"/>
              <a:defRPr sz="1800"/>
            </a:lvl9pPr>
          </a:lstStyle>
          <a:p>
            <a:pPr marL="0" indent="0">
              <a:spcBef>
                <a:spcPts val="0"/>
              </a:spcBef>
              <a:buNone/>
            </a:pPr>
            <a:r>
              <a:rPr lang="en-US" sz="1400" b="0">
                <a:solidFill>
                  <a:schemeClr val="accent2">
                    <a:lumMod val="75000"/>
                  </a:schemeClr>
                </a:solidFill>
                <a:effectLst/>
                <a:latin typeface="Consolas" panose="020B0609020204030204" pitchFamily="49" charset="0"/>
              </a:rPr>
              <a:t>r = </a:t>
            </a:r>
            <a:r>
              <a:rPr lang="en-US" sz="1400" b="0" err="1">
                <a:solidFill>
                  <a:schemeClr val="accent2">
                    <a:lumMod val="75000"/>
                  </a:schemeClr>
                </a:solidFill>
                <a:effectLst/>
                <a:latin typeface="Consolas" panose="020B0609020204030204" pitchFamily="49" charset="0"/>
              </a:rPr>
              <a:t>search_client</a:t>
            </a:r>
            <a:r>
              <a:rPr lang="en-US" sz="1400" b="0" err="1">
                <a:solidFill>
                  <a:schemeClr val="tx1"/>
                </a:solidFill>
                <a:effectLst/>
                <a:latin typeface="Consolas" panose="020B0609020204030204" pitchFamily="49" charset="0"/>
              </a:rPr>
              <a:t>.</a:t>
            </a:r>
            <a:r>
              <a:rPr lang="en-US" sz="1400" b="0" err="1">
                <a:solidFill>
                  <a:srgbClr val="7F5A1A"/>
                </a:solidFill>
                <a:effectLst/>
                <a:latin typeface="Consolas" panose="020B0609020204030204" pitchFamily="49" charset="0"/>
              </a:rPr>
              <a:t>search</a:t>
            </a:r>
            <a:r>
              <a:rPr lang="en-US" sz="1400" b="0">
                <a:solidFill>
                  <a:schemeClr val="tx1"/>
                </a:solidFill>
                <a:effectLst/>
                <a:latin typeface="Consolas" panose="020B0609020204030204" pitchFamily="49" charset="0"/>
              </a:rPr>
              <a:t>(</a:t>
            </a:r>
          </a:p>
          <a:p>
            <a:pPr marL="0" indent="0">
              <a:spcBef>
                <a:spcPts val="0"/>
              </a:spcBef>
              <a:buNone/>
            </a:pPr>
            <a:r>
              <a:rPr lang="en-US" sz="1400">
                <a:solidFill>
                  <a:srgbClr val="CCCCCC"/>
                </a:solidFill>
                <a:latin typeface="Consolas" panose="020B0609020204030204" pitchFamily="49" charset="0"/>
              </a:rPr>
              <a:t>        </a:t>
            </a:r>
            <a:r>
              <a:rPr lang="en-US" sz="1400" b="0">
                <a:solidFill>
                  <a:srgbClr val="0078D4"/>
                </a:solidFill>
                <a:effectLst/>
                <a:latin typeface="Consolas" panose="020B0609020204030204" pitchFamily="49" charset="0"/>
              </a:rPr>
              <a:t>None</a:t>
            </a:r>
            <a:r>
              <a:rPr lang="en-US" sz="1400" b="0">
                <a:solidFill>
                  <a:schemeClr val="tx1"/>
                </a:solidFill>
                <a:effectLst/>
                <a:latin typeface="Consolas" panose="020B0609020204030204" pitchFamily="49" charset="0"/>
              </a:rPr>
              <a:t>,</a:t>
            </a:r>
          </a:p>
          <a:p>
            <a:pPr marL="0" indent="0">
              <a:spcBef>
                <a:spcPts val="0"/>
              </a:spcBef>
              <a:buNone/>
            </a:pPr>
            <a:r>
              <a:rPr lang="en-US" sz="1400">
                <a:solidFill>
                  <a:srgbClr val="CCCCCC"/>
                </a:solidFill>
                <a:latin typeface="Consolas" panose="020B0609020204030204" pitchFamily="49" charset="0"/>
              </a:rPr>
              <a:t>        </a:t>
            </a:r>
            <a:r>
              <a:rPr lang="en-US" sz="1400" b="0">
                <a:solidFill>
                  <a:schemeClr val="accent2">
                    <a:lumMod val="75000"/>
                  </a:schemeClr>
                </a:solidFill>
                <a:effectLst/>
                <a:latin typeface="Consolas" panose="020B0609020204030204" pitchFamily="49" charset="0"/>
              </a:rPr>
              <a:t>top</a:t>
            </a:r>
            <a:r>
              <a:rPr lang="en-US" sz="1400" b="0">
                <a:solidFill>
                  <a:schemeClr val="tx1"/>
                </a:solidFill>
                <a:effectLst/>
                <a:latin typeface="Consolas" panose="020B0609020204030204" pitchFamily="49" charset="0"/>
              </a:rPr>
              <a:t>=</a:t>
            </a:r>
            <a:r>
              <a:rPr lang="en-US" sz="1400" b="0">
                <a:solidFill>
                  <a:srgbClr val="07641D"/>
                </a:solidFill>
                <a:effectLst/>
                <a:latin typeface="Consolas" panose="020B0609020204030204" pitchFamily="49" charset="0"/>
              </a:rPr>
              <a:t>5</a:t>
            </a:r>
            <a:r>
              <a:rPr lang="en-US" sz="1400" b="0">
                <a:solidFill>
                  <a:schemeClr val="tx1"/>
                </a:solidFill>
                <a:effectLst/>
                <a:latin typeface="Consolas" panose="020B0609020204030204" pitchFamily="49" charset="0"/>
              </a:rPr>
              <a:t>,</a:t>
            </a:r>
            <a:r>
              <a:rPr lang="en-US" sz="1400" b="0">
                <a:solidFill>
                  <a:srgbClr val="CCCCCC"/>
                </a:solidFill>
                <a:effectLst/>
                <a:latin typeface="Consolas" panose="020B0609020204030204" pitchFamily="49" charset="0"/>
              </a:rPr>
              <a:t> </a:t>
            </a:r>
          </a:p>
          <a:p>
            <a:pPr marL="0" indent="0">
              <a:spcBef>
                <a:spcPts val="0"/>
              </a:spcBef>
              <a:buNone/>
            </a:pPr>
            <a:r>
              <a:rPr lang="en-US" sz="1400" b="0">
                <a:solidFill>
                  <a:srgbClr val="9CDCFE"/>
                </a:solidFill>
                <a:effectLst/>
                <a:latin typeface="Consolas" panose="020B0609020204030204" pitchFamily="49" charset="0"/>
              </a:rPr>
              <a:t>        </a:t>
            </a:r>
            <a:r>
              <a:rPr lang="en-US" sz="1400" b="0" err="1">
                <a:solidFill>
                  <a:schemeClr val="accent2">
                    <a:lumMod val="75000"/>
                  </a:schemeClr>
                </a:solidFill>
                <a:effectLst/>
                <a:latin typeface="Consolas" panose="020B0609020204030204" pitchFamily="49" charset="0"/>
              </a:rPr>
              <a:t>vector_queries</a:t>
            </a:r>
            <a:r>
              <a:rPr lang="en-US" sz="1400" b="0">
                <a:solidFill>
                  <a:srgbClr val="B5CEA8"/>
                </a:solidFill>
                <a:effectLst/>
                <a:latin typeface="Consolas" panose="020B0609020204030204" pitchFamily="49" charset="0"/>
              </a:rPr>
              <a:t>=</a:t>
            </a:r>
            <a:r>
              <a:rPr lang="en-US" sz="1400" b="0">
                <a:solidFill>
                  <a:schemeClr val="tx1"/>
                </a:solidFill>
                <a:effectLst/>
                <a:latin typeface="Consolas" panose="020B0609020204030204" pitchFamily="49" charset="0"/>
              </a:rPr>
              <a:t>[</a:t>
            </a:r>
            <a:r>
              <a:rPr lang="en-US" sz="1400" b="0">
                <a:solidFill>
                  <a:srgbClr val="225B62"/>
                </a:solidFill>
                <a:effectLst/>
                <a:latin typeface="Consolas" panose="020B0609020204030204" pitchFamily="49" charset="0"/>
              </a:rPr>
              <a:t> </a:t>
            </a:r>
            <a:r>
              <a:rPr lang="en-US" sz="1400" b="0">
                <a:solidFill>
                  <a:schemeClr val="tx1"/>
                </a:solidFill>
                <a:effectLst/>
                <a:latin typeface="Consolas" panose="020B0609020204030204" pitchFamily="49" charset="0"/>
              </a:rPr>
              <a:t>(</a:t>
            </a:r>
          </a:p>
          <a:p>
            <a:pPr marL="0" indent="0">
              <a:spcBef>
                <a:spcPts val="0"/>
              </a:spcBef>
              <a:buNone/>
            </a:pPr>
            <a:r>
              <a:rPr lang="en-US" sz="1400">
                <a:solidFill>
                  <a:srgbClr val="9CDCFE"/>
                </a:solidFill>
                <a:latin typeface="Consolas" panose="020B0609020204030204" pitchFamily="49" charset="0"/>
              </a:rPr>
              <a:t>            </a:t>
            </a:r>
            <a:r>
              <a:rPr lang="en-US" sz="1400" b="0">
                <a:solidFill>
                  <a:schemeClr val="accent2">
                    <a:lumMod val="75000"/>
                  </a:schemeClr>
                </a:solidFill>
                <a:effectLst/>
                <a:latin typeface="Consolas" panose="020B0609020204030204" pitchFamily="49" charset="0"/>
              </a:rPr>
              <a:t>vector</a:t>
            </a:r>
            <a:r>
              <a:rPr lang="en-US" sz="1400" b="0">
                <a:solidFill>
                  <a:schemeClr val="tx1"/>
                </a:solidFill>
                <a:effectLst/>
                <a:latin typeface="Consolas" panose="020B0609020204030204" pitchFamily="49" charset="0"/>
              </a:rPr>
              <a:t>=</a:t>
            </a:r>
            <a:r>
              <a:rPr lang="en-US" sz="1400" b="0" err="1">
                <a:solidFill>
                  <a:srgbClr val="2A446F"/>
                </a:solidFill>
                <a:effectLst/>
                <a:latin typeface="Consolas" panose="020B0609020204030204" pitchFamily="49" charset="0"/>
              </a:rPr>
              <a:t>search_vector</a:t>
            </a:r>
            <a:r>
              <a:rPr lang="en-US" sz="1400" b="0">
                <a:solidFill>
                  <a:schemeClr val="tx1"/>
                </a:solidFill>
                <a:effectLst/>
                <a:latin typeface="Consolas" panose="020B0609020204030204" pitchFamily="49" charset="0"/>
              </a:rPr>
              <a:t>,</a:t>
            </a:r>
            <a:r>
              <a:rPr lang="en-US" sz="1400" b="0">
                <a:solidFill>
                  <a:srgbClr val="CCCCCC"/>
                </a:solidFill>
                <a:effectLst/>
                <a:latin typeface="Consolas" panose="020B0609020204030204" pitchFamily="49" charset="0"/>
              </a:rPr>
              <a:t> </a:t>
            </a:r>
          </a:p>
          <a:p>
            <a:pPr marL="0" indent="0">
              <a:spcBef>
                <a:spcPts val="0"/>
              </a:spcBef>
              <a:buNone/>
            </a:pPr>
            <a:r>
              <a:rPr lang="en-US" sz="1400" b="0">
                <a:solidFill>
                  <a:srgbClr val="9CDCFE"/>
                </a:solidFill>
                <a:effectLst/>
                <a:latin typeface="Consolas" panose="020B0609020204030204" pitchFamily="49" charset="0"/>
              </a:rPr>
              <a:t>            </a:t>
            </a:r>
            <a:r>
              <a:rPr lang="en-US" sz="1400" b="0" err="1">
                <a:solidFill>
                  <a:schemeClr val="accent2">
                    <a:lumMod val="75000"/>
                  </a:schemeClr>
                </a:solidFill>
                <a:effectLst/>
                <a:latin typeface="Consolas" panose="020B0609020204030204" pitchFamily="49" charset="0"/>
              </a:rPr>
              <a:t>k_nearest_neighbors</a:t>
            </a:r>
            <a:r>
              <a:rPr lang="en-US" sz="1400" b="0">
                <a:solidFill>
                  <a:schemeClr val="tx1"/>
                </a:solidFill>
                <a:effectLst/>
                <a:latin typeface="Consolas" panose="020B0609020204030204" pitchFamily="49" charset="0"/>
              </a:rPr>
              <a:t>=</a:t>
            </a:r>
            <a:r>
              <a:rPr lang="en-US" sz="1400" b="0">
                <a:solidFill>
                  <a:srgbClr val="B5CEA8"/>
                </a:solidFill>
                <a:effectLst/>
                <a:latin typeface="Consolas" panose="020B0609020204030204" pitchFamily="49" charset="0"/>
              </a:rPr>
              <a:t>5</a:t>
            </a:r>
            <a:r>
              <a:rPr lang="en-US" sz="1400" b="0">
                <a:solidFill>
                  <a:schemeClr val="tx1"/>
                </a:solidFill>
                <a:effectLst/>
                <a:latin typeface="Consolas" panose="020B0609020204030204" pitchFamily="49" charset="0"/>
              </a:rPr>
              <a:t>,</a:t>
            </a:r>
            <a:r>
              <a:rPr lang="en-US" sz="1400" b="0">
                <a:solidFill>
                  <a:srgbClr val="CCCCCC"/>
                </a:solidFill>
                <a:effectLst/>
                <a:latin typeface="Consolas" panose="020B0609020204030204" pitchFamily="49" charset="0"/>
              </a:rPr>
              <a:t> </a:t>
            </a:r>
          </a:p>
          <a:p>
            <a:pPr marL="0" indent="0">
              <a:spcBef>
                <a:spcPts val="0"/>
              </a:spcBef>
              <a:buNone/>
            </a:pPr>
            <a:r>
              <a:rPr lang="en-US" sz="1400" b="0">
                <a:solidFill>
                  <a:srgbClr val="9CDCFE"/>
                </a:solidFill>
                <a:effectLst/>
                <a:latin typeface="Consolas" panose="020B0609020204030204" pitchFamily="49" charset="0"/>
              </a:rPr>
              <a:t>            </a:t>
            </a:r>
            <a:r>
              <a:rPr lang="en-US" sz="1400" b="0">
                <a:solidFill>
                  <a:schemeClr val="accent2">
                    <a:lumMod val="75000"/>
                  </a:schemeClr>
                </a:solidFill>
                <a:effectLst/>
                <a:latin typeface="Consolas" panose="020B0609020204030204" pitchFamily="49" charset="0"/>
              </a:rPr>
              <a:t>fields</a:t>
            </a:r>
            <a:r>
              <a:rPr lang="en-US" sz="1400" b="0">
                <a:solidFill>
                  <a:schemeClr val="tx1"/>
                </a:solidFill>
                <a:effectLst/>
                <a:latin typeface="Consolas" panose="020B0609020204030204" pitchFamily="49" charset="0"/>
              </a:rPr>
              <a:t>=</a:t>
            </a:r>
            <a:r>
              <a:rPr lang="en-US">
                <a:solidFill>
                  <a:srgbClr val="CE9178"/>
                </a:solidFill>
              </a:rPr>
              <a:t>"embedding"</a:t>
            </a:r>
            <a:r>
              <a:rPr lang="en-US" b="0">
                <a:solidFill>
                  <a:schemeClr val="tx1"/>
                </a:solidFill>
                <a:effectLst/>
                <a:latin typeface="Consolas" panose="020B0609020204030204" pitchFamily="49" charset="0"/>
              </a:rPr>
              <a:t>,</a:t>
            </a:r>
          </a:p>
          <a:p>
            <a:pPr marL="0" indent="0">
              <a:spcBef>
                <a:spcPts val="0"/>
              </a:spcBef>
              <a:buNone/>
            </a:pPr>
            <a:r>
              <a:rPr lang="en-US" b="0">
                <a:solidFill>
                  <a:srgbClr val="9CDCFE"/>
                </a:solidFill>
                <a:effectLst/>
                <a:latin typeface="Consolas" panose="020B0609020204030204" pitchFamily="49" charset="0"/>
              </a:rPr>
              <a:t>            </a:t>
            </a:r>
            <a:r>
              <a:rPr lang="en-US" b="0">
                <a:solidFill>
                  <a:schemeClr val="accent2">
                    <a:lumMod val="75000"/>
                  </a:schemeClr>
                </a:solidFill>
                <a:effectLst/>
                <a:latin typeface="Consolas" panose="020B0609020204030204" pitchFamily="49" charset="0"/>
              </a:rPr>
              <a:t>exhaustive</a:t>
            </a:r>
            <a:r>
              <a:rPr lang="en-US" b="0">
                <a:solidFill>
                  <a:schemeClr val="tx1"/>
                </a:solidFill>
                <a:effectLst/>
                <a:latin typeface="Consolas" panose="020B0609020204030204" pitchFamily="49" charset="0"/>
              </a:rPr>
              <a:t>=</a:t>
            </a:r>
            <a:r>
              <a:rPr lang="en-US" b="0">
                <a:solidFill>
                  <a:srgbClr val="0078D4"/>
                </a:solidFill>
                <a:effectLst/>
                <a:latin typeface="Consolas" panose="020B0609020204030204" pitchFamily="49" charset="0"/>
              </a:rPr>
              <a:t>True</a:t>
            </a:r>
            <a:r>
              <a:rPr lang="en-US" b="0">
                <a:solidFill>
                  <a:schemeClr val="tx1"/>
                </a:solidFill>
                <a:effectLst/>
                <a:latin typeface="Consolas" panose="020B0609020204030204" pitchFamily="49" charset="0"/>
              </a:rPr>
              <a:t>)])</a:t>
            </a:r>
          </a:p>
        </p:txBody>
      </p:sp>
      <p:sp>
        <p:nvSpPr>
          <p:cNvPr id="25" name="Content Placeholder 6">
            <a:extLst>
              <a:ext uri="{FF2B5EF4-FFF2-40B4-BE49-F238E27FC236}">
                <a16:creationId xmlns:a16="http://schemas.microsoft.com/office/drawing/2014/main" id="{B9937ECD-580F-C034-FAD8-C30CCA738D77}"/>
              </a:ext>
            </a:extLst>
          </p:cNvPr>
          <p:cNvSpPr txBox="1">
            <a:spLocks/>
          </p:cNvSpPr>
          <p:nvPr/>
        </p:nvSpPr>
        <p:spPr>
          <a:xfrm>
            <a:off x="6529159" y="2082656"/>
            <a:ext cx="4908550" cy="160655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anose="020B0604020202020204" pitchFamily="34" charset="0"/>
              <a:buChar char="•"/>
            </a:pPr>
            <a:r>
              <a:rPr lang="en-US" sz="1800"/>
              <a:t>KNN = K Nearest Neighbors</a:t>
            </a:r>
          </a:p>
          <a:p>
            <a:pPr>
              <a:buFont typeface="Arial" panose="020B0604020202020204" pitchFamily="34" charset="0"/>
              <a:buChar char="•"/>
            </a:pPr>
            <a:r>
              <a:rPr lang="en-US" sz="1800"/>
              <a:t>Per-query or built into schema</a:t>
            </a:r>
          </a:p>
          <a:p>
            <a:pPr>
              <a:buFont typeface="Arial" panose="020B0604020202020204" pitchFamily="34" charset="0"/>
              <a:buChar char="•"/>
            </a:pPr>
            <a:r>
              <a:rPr lang="en-US" sz="1800"/>
              <a:t>Useful to create recall baselines</a:t>
            </a:r>
          </a:p>
          <a:p>
            <a:pPr>
              <a:buFont typeface="Arial" panose="020B0604020202020204" pitchFamily="34" charset="0"/>
              <a:buChar char="•"/>
            </a:pPr>
            <a:r>
              <a:rPr lang="en-US" sz="1800"/>
              <a:t>Scenarios with highly selective filters</a:t>
            </a:r>
          </a:p>
          <a:p>
            <a:pPr lvl="1">
              <a:buFont typeface="Arial" panose="020B0604020202020204" pitchFamily="34" charset="0"/>
              <a:buChar char="•"/>
            </a:pPr>
            <a:r>
              <a:rPr lang="en-US" sz="1800"/>
              <a:t>e.g., dense multi-tenant apps</a:t>
            </a:r>
          </a:p>
        </p:txBody>
      </p:sp>
      <p:sp>
        <p:nvSpPr>
          <p:cNvPr id="26" name="TextBox 25">
            <a:extLst>
              <a:ext uri="{FF2B5EF4-FFF2-40B4-BE49-F238E27FC236}">
                <a16:creationId xmlns:a16="http://schemas.microsoft.com/office/drawing/2014/main" id="{587BEBC4-40E3-ABCC-9AAC-48F6F200F271}"/>
              </a:ext>
            </a:extLst>
          </p:cNvPr>
          <p:cNvSpPr txBox="1"/>
          <p:nvPr/>
        </p:nvSpPr>
        <p:spPr>
          <a:xfrm>
            <a:off x="6529159" y="1608584"/>
            <a:ext cx="3983126" cy="332399"/>
          </a:xfrm>
          <a:prstGeom prst="rect">
            <a:avLst/>
          </a:prstGeom>
          <a:noFill/>
        </p:spPr>
        <p:txBody>
          <a:bodyPr wrap="square" lIns="0" tIns="0" rIns="0" bIns="0" rtlCol="0">
            <a:spAutoFit/>
          </a:bodyPr>
          <a:lstStyle/>
          <a:p>
            <a:pPr lvl="0" defTabSz="932304" fontAlgn="base">
              <a:lnSpc>
                <a:spcPct val="90000"/>
              </a:lnSpc>
              <a:spcBef>
                <a:spcPct val="0"/>
              </a:spcBef>
              <a:spcAft>
                <a:spcPct val="0"/>
              </a:spcAft>
              <a:defRPr/>
            </a:pPr>
            <a:r>
              <a:rPr lang="en-US" sz="2400">
                <a:latin typeface="+mj-lt"/>
              </a:rPr>
              <a:t>Exhaustive KNN search</a:t>
            </a:r>
          </a:p>
        </p:txBody>
      </p:sp>
      <p:sp>
        <p:nvSpPr>
          <p:cNvPr id="27" name="Rounded Rectangle 5">
            <a:extLst>
              <a:ext uri="{FF2B5EF4-FFF2-40B4-BE49-F238E27FC236}">
                <a16:creationId xmlns:a16="http://schemas.microsoft.com/office/drawing/2014/main" id="{D2B008A5-6967-0997-A1C7-70A33DA9B8A8}"/>
              </a:ext>
              <a:ext uri="{C183D7F6-B498-43B3-948B-1728B52AA6E4}">
                <adec:decorative xmlns:adec="http://schemas.microsoft.com/office/drawing/2017/decorative" val="1"/>
              </a:ext>
            </a:extLst>
          </p:cNvPr>
          <p:cNvSpPr/>
          <p:nvPr/>
        </p:nvSpPr>
        <p:spPr bwMode="auto">
          <a:xfrm>
            <a:off x="6254839" y="1311214"/>
            <a:ext cx="5337346" cy="4586666"/>
          </a:xfrm>
          <a:prstGeom prst="roundRect">
            <a:avLst>
              <a:gd name="adj" fmla="val 4308"/>
            </a:avLst>
          </a:prstGeom>
          <a:no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Tree>
    <p:extLst>
      <p:ext uri="{BB962C8B-B14F-4D97-AF65-F5344CB8AC3E}">
        <p14:creationId xmlns:p14="http://schemas.microsoft.com/office/powerpoint/2010/main" val="13928838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42" presetClass="path" presetSubtype="0" decel="100000" fill="hold" grpId="1" nodeType="withEffect">
                                  <p:stCondLst>
                                    <p:cond delay="200"/>
                                  </p:stCondLst>
                                  <p:childTnLst>
                                    <p:animMotion origin="layout" path="M 0 -2.59259E-6 L 0 0.03542 " pathEditMode="relative" rAng="0" ptsTypes="AA">
                                      <p:cBhvr>
                                        <p:cTn id="9" dur="700" spd="-100000" fill="hold"/>
                                        <p:tgtEl>
                                          <p:spTgt spid="18"/>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par>
                                <p:cTn id="13" presetID="42" presetClass="path" presetSubtype="0" decel="100000" fill="hold" grpId="1" nodeType="withEffect">
                                  <p:stCondLst>
                                    <p:cond delay="0"/>
                                  </p:stCondLst>
                                  <p:childTnLst>
                                    <p:animMotion origin="layout" path="M 0 -2.59259E-6 L 0 0.03542 " pathEditMode="relative" rAng="0" ptsTypes="AA">
                                      <p:cBhvr>
                                        <p:cTn id="14" dur="700" spd="-100000" fill="hold"/>
                                        <p:tgtEl>
                                          <p:spTgt spid="22"/>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par>
                                <p:cTn id="18" presetID="42" presetClass="path" presetSubtype="0" decel="100000" fill="hold" grpId="1" nodeType="withEffect">
                                  <p:stCondLst>
                                    <p:cond delay="0"/>
                                  </p:stCondLst>
                                  <p:childTnLst>
                                    <p:animMotion origin="layout" path="M 0 -2.59259E-6 L 0 0.03542 " pathEditMode="relative" rAng="0" ptsTypes="AA">
                                      <p:cBhvr>
                                        <p:cTn id="19" dur="700" spd="-100000" fill="hold"/>
                                        <p:tgtEl>
                                          <p:spTgt spid="21"/>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42" presetClass="path" presetSubtype="0" decel="100000" fill="hold" grpId="1" nodeType="withEffect">
                                  <p:stCondLst>
                                    <p:cond delay="0"/>
                                  </p:stCondLst>
                                  <p:childTnLst>
                                    <p:animMotion origin="layout" path="M 0 -2.59259E-6 L 0 0.03542 " pathEditMode="relative" rAng="0" ptsTypes="AA">
                                      <p:cBhvr>
                                        <p:cTn id="24" dur="700" spd="-100000" fill="hold"/>
                                        <p:tgtEl>
                                          <p:spTgt spid="20"/>
                                        </p:tgtEl>
                                        <p:attrNameLst>
                                          <p:attrName>ppt_x</p:attrName>
                                          <p:attrName>ppt_y</p:attrName>
                                        </p:attrNameLst>
                                      </p:cBhvr>
                                      <p:rCtr x="0" y="1759"/>
                                    </p:animMotion>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42" presetClass="path" presetSubtype="0" decel="100000" fill="hold" grpId="1" nodeType="withEffect">
                                  <p:stCondLst>
                                    <p:cond delay="0"/>
                                  </p:stCondLst>
                                  <p:childTnLst>
                                    <p:animMotion origin="layout" path="M 0 -2.59259E-6 L 0 0.03542 " pathEditMode="relative" rAng="0" ptsTypes="AA">
                                      <p:cBhvr>
                                        <p:cTn id="29" dur="700" spd="-100000" fill="hold"/>
                                        <p:tgtEl>
                                          <p:spTgt spid="19"/>
                                        </p:tgtEl>
                                        <p:attrNameLst>
                                          <p:attrName>ppt_x</p:attrName>
                                          <p:attrName>ppt_y</p:attrName>
                                        </p:attrNameLst>
                                      </p:cBhvr>
                                      <p:rCtr x="0" y="1759"/>
                                    </p:animMotion>
                                  </p:childTnLst>
                                </p:cTn>
                              </p:par>
                              <p:par>
                                <p:cTn id="30" presetID="10" presetClass="entr" presetSubtype="0" fill="hold" grpId="0" nodeType="withEffect">
                                  <p:stCondLst>
                                    <p:cond delay="10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par>
                                <p:cTn id="33" presetID="42" presetClass="path" presetSubtype="0" decel="100000" fill="hold" grpId="1" nodeType="withEffect">
                                  <p:stCondLst>
                                    <p:cond delay="100"/>
                                  </p:stCondLst>
                                  <p:childTnLst>
                                    <p:animMotion origin="layout" path="M 0 -2.59259E-6 L 0 0.03542 " pathEditMode="relative" rAng="0" ptsTypes="AA">
                                      <p:cBhvr>
                                        <p:cTn id="34" dur="700" spd="-100000" fill="hold"/>
                                        <p:tgtEl>
                                          <p:spTgt spid="27"/>
                                        </p:tgtEl>
                                        <p:attrNameLst>
                                          <p:attrName>ppt_x</p:attrName>
                                          <p:attrName>ppt_y</p:attrName>
                                        </p:attrNameLst>
                                      </p:cBhvr>
                                      <p:rCtr x="0" y="1759"/>
                                    </p:animMotion>
                                  </p:childTnLst>
                                </p:cTn>
                              </p:par>
                              <p:par>
                                <p:cTn id="35" presetID="10" presetClass="entr" presetSubtype="0" fill="hold" grpId="0" nodeType="withEffect">
                                  <p:stCondLst>
                                    <p:cond delay="10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500"/>
                                        <p:tgtEl>
                                          <p:spTgt spid="26"/>
                                        </p:tgtEl>
                                      </p:cBhvr>
                                    </p:animEffect>
                                  </p:childTnLst>
                                </p:cTn>
                              </p:par>
                              <p:par>
                                <p:cTn id="38" presetID="42" presetClass="path" presetSubtype="0" decel="100000" fill="hold" grpId="1" nodeType="withEffect">
                                  <p:stCondLst>
                                    <p:cond delay="100"/>
                                  </p:stCondLst>
                                  <p:childTnLst>
                                    <p:animMotion origin="layout" path="M 0 -2.59259E-6 L 0 0.03542 " pathEditMode="relative" rAng="0" ptsTypes="AA">
                                      <p:cBhvr>
                                        <p:cTn id="39" dur="700" spd="-100000" fill="hold"/>
                                        <p:tgtEl>
                                          <p:spTgt spid="26"/>
                                        </p:tgtEl>
                                        <p:attrNameLst>
                                          <p:attrName>ppt_x</p:attrName>
                                          <p:attrName>ppt_y</p:attrName>
                                        </p:attrNameLst>
                                      </p:cBhvr>
                                      <p:rCtr x="0" y="1759"/>
                                    </p:animMotion>
                                  </p:childTnLst>
                                </p:cTn>
                              </p:par>
                              <p:par>
                                <p:cTn id="40" presetID="10" presetClass="entr" presetSubtype="0" fill="hold" grpId="0" nodeType="withEffect">
                                  <p:stCondLst>
                                    <p:cond delay="10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par>
                                <p:cTn id="43" presetID="42" presetClass="path" presetSubtype="0" decel="100000" fill="hold" grpId="1" nodeType="withEffect">
                                  <p:stCondLst>
                                    <p:cond delay="100"/>
                                  </p:stCondLst>
                                  <p:childTnLst>
                                    <p:animMotion origin="layout" path="M 0 -2.59259E-6 L 0 0.03542 " pathEditMode="relative" rAng="0" ptsTypes="AA">
                                      <p:cBhvr>
                                        <p:cTn id="44" dur="700" spd="-100000" fill="hold"/>
                                        <p:tgtEl>
                                          <p:spTgt spid="25"/>
                                        </p:tgtEl>
                                        <p:attrNameLst>
                                          <p:attrName>ppt_x</p:attrName>
                                          <p:attrName>ppt_y</p:attrName>
                                        </p:attrNameLst>
                                      </p:cBhvr>
                                      <p:rCtr x="0" y="1759"/>
                                    </p:animMotion>
                                  </p:childTnLst>
                                </p:cTn>
                              </p:par>
                              <p:par>
                                <p:cTn id="45" presetID="10" presetClass="entr" presetSubtype="0" fill="hold" grpId="0" nodeType="withEffect">
                                  <p:stCondLst>
                                    <p:cond delay="10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par>
                                <p:cTn id="48" presetID="42" presetClass="path" presetSubtype="0" decel="100000" fill="hold" grpId="1" nodeType="withEffect">
                                  <p:stCondLst>
                                    <p:cond delay="100"/>
                                  </p:stCondLst>
                                  <p:childTnLst>
                                    <p:animMotion origin="layout" path="M 0 -2.59259E-6 L 0 0.03542 " pathEditMode="relative" rAng="0" ptsTypes="AA">
                                      <p:cBhvr>
                                        <p:cTn id="49" dur="700" spd="-100000" fill="hold"/>
                                        <p:tgtEl>
                                          <p:spTgt spid="24"/>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9" grpId="0" animBg="1"/>
      <p:bldP spid="19" grpId="1" animBg="1"/>
      <p:bldP spid="20" grpId="0"/>
      <p:bldP spid="20" grpId="1"/>
      <p:bldP spid="21" grpId="0"/>
      <p:bldP spid="21" grpId="1"/>
      <p:bldP spid="22" grpId="0" animBg="1"/>
      <p:bldP spid="22" grpId="1" animBg="1"/>
      <p:bldP spid="24" grpId="0" animBg="1"/>
      <p:bldP spid="24" grpId="1" animBg="1"/>
      <p:bldP spid="25" grpId="0"/>
      <p:bldP spid="25" grpId="1"/>
      <p:bldP spid="26" grpId="0"/>
      <p:bldP spid="26" grpId="1"/>
      <p:bldP spid="27" grpId="0" animBg="1"/>
      <p:bldP spid="27" grpId="1"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8ACB35D-6234-0B8A-E356-3074C0F7F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0D2159-1A47-0858-F54B-BC8C620C3DFB}"/>
              </a:ext>
            </a:extLst>
          </p:cNvPr>
          <p:cNvSpPr>
            <a:spLocks noGrp="1"/>
          </p:cNvSpPr>
          <p:nvPr>
            <p:ph type="title"/>
          </p:nvPr>
        </p:nvSpPr>
        <p:spPr>
          <a:xfrm>
            <a:off x="445062" y="457200"/>
            <a:ext cx="10424996" cy="553998"/>
          </a:xfrm>
        </p:spPr>
        <p:txBody>
          <a:bodyPr>
            <a:normAutofit/>
          </a:bodyPr>
          <a:lstStyle/>
          <a:p>
            <a:r>
              <a:rPr lang="en-US" b="1" dirty="0">
                <a:latin typeface="Segoe UI Semibold" panose="020B0502040204020203" pitchFamily="34" charset="0"/>
                <a:cs typeface="Segoe UI Semibold" panose="020B0502040204020203" pitchFamily="34" charset="0"/>
              </a:rPr>
              <a:t>Hybrid search</a:t>
            </a:r>
          </a:p>
        </p:txBody>
      </p:sp>
      <p:sp>
        <p:nvSpPr>
          <p:cNvPr id="3" name="Content Placeholder 2">
            <a:extLst>
              <a:ext uri="{FF2B5EF4-FFF2-40B4-BE49-F238E27FC236}">
                <a16:creationId xmlns:a16="http://schemas.microsoft.com/office/drawing/2014/main" id="{71BBEE08-5A62-4219-5316-414B1495FD13}"/>
              </a:ext>
            </a:extLst>
          </p:cNvPr>
          <p:cNvSpPr>
            <a:spLocks noGrp="1"/>
          </p:cNvSpPr>
          <p:nvPr>
            <p:ph sz="quarter" idx="10"/>
          </p:nvPr>
        </p:nvSpPr>
        <p:spPr>
          <a:xfrm>
            <a:off x="584199" y="1435100"/>
            <a:ext cx="6295572" cy="4343240"/>
          </a:xfrm>
        </p:spPr>
        <p:txBody>
          <a:bodyPr wrap="square">
            <a:spAutoFit/>
          </a:bodyPr>
          <a:lstStyle/>
          <a:p>
            <a:pPr marL="0" indent="0">
              <a:buNone/>
            </a:pPr>
            <a:r>
              <a:rPr lang="en-US" sz="2400"/>
              <a:t>All information retrieval tricks apply!</a:t>
            </a:r>
            <a:endParaRPr lang="en-US" sz="2400">
              <a:sym typeface="Wingdings" panose="05000000000000000000" pitchFamily="2" charset="2"/>
            </a:endParaRPr>
          </a:p>
          <a:p>
            <a:pPr lvl="1"/>
            <a:endParaRPr lang="en-US">
              <a:sym typeface="Wingdings" panose="05000000000000000000" pitchFamily="2" charset="2"/>
            </a:endParaRPr>
          </a:p>
          <a:p>
            <a:pPr marL="0" indent="0">
              <a:buNone/>
            </a:pPr>
            <a:r>
              <a:rPr lang="en-US" sz="2300">
                <a:sym typeface="Wingdings" panose="05000000000000000000" pitchFamily="2" charset="2"/>
              </a:rPr>
              <a:t>Complete search stacks do better:</a:t>
            </a:r>
          </a:p>
          <a:p>
            <a:pPr lvl="1"/>
            <a:r>
              <a:rPr lang="en-US" sz="2300"/>
              <a:t>Hybrid retrieval (keywords + vectors) &gt; pure-vector or keyword</a:t>
            </a:r>
          </a:p>
          <a:p>
            <a:pPr lvl="1"/>
            <a:r>
              <a:rPr lang="en-US" sz="2300"/>
              <a:t>Hybrid + Reranking &gt; Hybrid</a:t>
            </a:r>
          </a:p>
          <a:p>
            <a:pPr lvl="1"/>
            <a:endParaRPr lang="en-US" sz="2300"/>
          </a:p>
          <a:p>
            <a:pPr marL="0" indent="0">
              <a:buNone/>
            </a:pPr>
            <a:r>
              <a:rPr lang="en-US" sz="2300">
                <a:sym typeface="Wingdings" panose="05000000000000000000" pitchFamily="2" charset="2"/>
              </a:rPr>
              <a:t>Identify good &amp; bad candidates</a:t>
            </a:r>
          </a:p>
          <a:p>
            <a:pPr lvl="1"/>
            <a:r>
              <a:rPr lang="en-US" sz="2300"/>
              <a:t>Normalized scores from Semantic ranker</a:t>
            </a:r>
          </a:p>
          <a:p>
            <a:pPr lvl="1"/>
            <a:r>
              <a:rPr lang="en-US" sz="2300"/>
              <a:t>Exclude documents below a threshold</a:t>
            </a:r>
          </a:p>
          <a:p>
            <a:pPr marL="228600" lvl="1" indent="0">
              <a:buNone/>
            </a:pPr>
            <a:endParaRPr lang="en-US"/>
          </a:p>
        </p:txBody>
      </p:sp>
      <p:grpSp>
        <p:nvGrpSpPr>
          <p:cNvPr id="11" name="Group 10">
            <a:extLst>
              <a:ext uri="{FF2B5EF4-FFF2-40B4-BE49-F238E27FC236}">
                <a16:creationId xmlns:a16="http://schemas.microsoft.com/office/drawing/2014/main" id="{C1175602-5514-2C40-2748-963A40721838}"/>
              </a:ext>
            </a:extLst>
          </p:cNvPr>
          <p:cNvGrpSpPr/>
          <p:nvPr/>
        </p:nvGrpSpPr>
        <p:grpSpPr>
          <a:xfrm>
            <a:off x="6285719" y="1448907"/>
            <a:ext cx="5120640" cy="4021309"/>
            <a:chOff x="6443681" y="2325429"/>
            <a:chExt cx="4634697" cy="3708932"/>
          </a:xfrm>
        </p:grpSpPr>
        <p:grpSp>
          <p:nvGrpSpPr>
            <p:cNvPr id="12" name="Group 11">
              <a:extLst>
                <a:ext uri="{FF2B5EF4-FFF2-40B4-BE49-F238E27FC236}">
                  <a16:creationId xmlns:a16="http://schemas.microsoft.com/office/drawing/2014/main" id="{F880CCE4-2103-38DE-5DF7-2E7D4F34413D}"/>
                </a:ext>
              </a:extLst>
            </p:cNvPr>
            <p:cNvGrpSpPr/>
            <p:nvPr/>
          </p:nvGrpSpPr>
          <p:grpSpPr>
            <a:xfrm>
              <a:off x="6443681" y="2325429"/>
              <a:ext cx="4634697" cy="3708932"/>
              <a:chOff x="1549191" y="4116845"/>
              <a:chExt cx="2864840" cy="3084634"/>
            </a:xfrm>
          </p:grpSpPr>
          <p:sp>
            <p:nvSpPr>
              <p:cNvPr id="15" name="Flowchart: Magnetic Disk 4">
                <a:extLst>
                  <a:ext uri="{FF2B5EF4-FFF2-40B4-BE49-F238E27FC236}">
                    <a16:creationId xmlns:a16="http://schemas.microsoft.com/office/drawing/2014/main" id="{828D8AD5-B105-96D3-1579-AE9C801DFF25}"/>
                  </a:ext>
                </a:extLst>
              </p:cNvPr>
              <p:cNvSpPr/>
              <p:nvPr/>
            </p:nvSpPr>
            <p:spPr>
              <a:xfrm>
                <a:off x="1549191" y="4116845"/>
                <a:ext cx="1145936" cy="708685"/>
              </a:xfrm>
              <a:prstGeom prst="flowChartMagneticDisk">
                <a:avLst/>
              </a:prstGeom>
              <a:solidFill>
                <a:srgbClr val="0078D4"/>
              </a:solidFill>
              <a:ln w="25400">
                <a:solidFill>
                  <a:schemeClr val="bg1"/>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a:latin typeface="Segoe UI" panose="020B0502040204020203" pitchFamily="34" charset="0"/>
                    <a:cs typeface="Segoe UI" panose="020B0502040204020203" pitchFamily="34" charset="0"/>
                  </a:rPr>
                  <a:t>Vector</a:t>
                </a:r>
              </a:p>
            </p:txBody>
          </p:sp>
          <p:sp>
            <p:nvSpPr>
              <p:cNvPr id="17" name="Flowchart: Magnetic Disk 5">
                <a:extLst>
                  <a:ext uri="{FF2B5EF4-FFF2-40B4-BE49-F238E27FC236}">
                    <a16:creationId xmlns:a16="http://schemas.microsoft.com/office/drawing/2014/main" id="{B85E29AB-1C94-26FA-A31F-21DDA255C770}"/>
                  </a:ext>
                </a:extLst>
              </p:cNvPr>
              <p:cNvSpPr/>
              <p:nvPr/>
            </p:nvSpPr>
            <p:spPr>
              <a:xfrm>
                <a:off x="3268095" y="4116845"/>
                <a:ext cx="1145936" cy="708685"/>
              </a:xfrm>
              <a:prstGeom prst="flowChartMagneticDisk">
                <a:avLst/>
              </a:prstGeom>
              <a:solidFill>
                <a:srgbClr val="0078D4"/>
              </a:solidFill>
              <a:ln w="25400">
                <a:solidFill>
                  <a:schemeClr val="bg1"/>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a:latin typeface="Segoe UI" panose="020B0502040204020203" pitchFamily="34" charset="0"/>
                    <a:cs typeface="Segoe UI" panose="020B0502040204020203" pitchFamily="34" charset="0"/>
                  </a:rPr>
                  <a:t>Keywords</a:t>
                </a:r>
              </a:p>
            </p:txBody>
          </p:sp>
          <p:sp>
            <p:nvSpPr>
              <p:cNvPr id="18" name="Rectangle: Rounded Corners 7">
                <a:extLst>
                  <a:ext uri="{FF2B5EF4-FFF2-40B4-BE49-F238E27FC236}">
                    <a16:creationId xmlns:a16="http://schemas.microsoft.com/office/drawing/2014/main" id="{C3FB6047-84B5-6850-FA86-E78CA23C5CA7}"/>
                  </a:ext>
                </a:extLst>
              </p:cNvPr>
              <p:cNvSpPr/>
              <p:nvPr/>
            </p:nvSpPr>
            <p:spPr>
              <a:xfrm>
                <a:off x="2352441" y="5395155"/>
                <a:ext cx="1393707" cy="708685"/>
              </a:xfrm>
              <a:prstGeom prst="roundRect">
                <a:avLst/>
              </a:prstGeom>
              <a:solidFill>
                <a:srgbClr val="0078D4"/>
              </a:solidFill>
              <a:ln w="25400">
                <a:solidFill>
                  <a:schemeClr val="bg1"/>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a:latin typeface="Segoe UI" panose="020B0502040204020203" pitchFamily="34" charset="0"/>
                    <a:cs typeface="Segoe UI" panose="020B0502040204020203" pitchFamily="34" charset="0"/>
                  </a:rPr>
                  <a:t>Fusion</a:t>
                </a:r>
                <a:br>
                  <a:rPr lang="en-US">
                    <a:latin typeface="Segoe UI" panose="020B0502040204020203" pitchFamily="34" charset="0"/>
                    <a:cs typeface="Segoe UI" panose="020B0502040204020203" pitchFamily="34" charset="0"/>
                  </a:rPr>
                </a:br>
                <a:r>
                  <a:rPr lang="en-US" sz="1400">
                    <a:latin typeface="Segoe UI" panose="020B0502040204020203" pitchFamily="34" charset="0"/>
                    <a:cs typeface="Segoe UI" panose="020B0502040204020203" pitchFamily="34" charset="0"/>
                  </a:rPr>
                  <a:t>(RRF)</a:t>
                </a:r>
                <a:endParaRPr lang="en-US">
                  <a:latin typeface="Segoe UI" panose="020B0502040204020203" pitchFamily="34" charset="0"/>
                  <a:cs typeface="Segoe UI" panose="020B0502040204020203" pitchFamily="34" charset="0"/>
                </a:endParaRPr>
              </a:p>
            </p:txBody>
          </p:sp>
          <p:sp>
            <p:nvSpPr>
              <p:cNvPr id="19" name="Rectangle: Rounded Corners 8">
                <a:extLst>
                  <a:ext uri="{FF2B5EF4-FFF2-40B4-BE49-F238E27FC236}">
                    <a16:creationId xmlns:a16="http://schemas.microsoft.com/office/drawing/2014/main" id="{60994124-5982-18BF-CACE-8EE175F3A666}"/>
                  </a:ext>
                </a:extLst>
              </p:cNvPr>
              <p:cNvSpPr/>
              <p:nvPr/>
            </p:nvSpPr>
            <p:spPr>
              <a:xfrm>
                <a:off x="2352441" y="6492794"/>
                <a:ext cx="1393707" cy="708685"/>
              </a:xfrm>
              <a:prstGeom prst="roundRect">
                <a:avLst/>
              </a:prstGeom>
              <a:solidFill>
                <a:srgbClr val="0078D4"/>
              </a:solidFill>
              <a:ln w="25400">
                <a:solidFill>
                  <a:schemeClr val="bg1"/>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a:latin typeface="Segoe UI" panose="020B0502040204020203" pitchFamily="34" charset="0"/>
                    <a:cs typeface="Segoe UI" panose="020B0502040204020203" pitchFamily="34" charset="0"/>
                  </a:rPr>
                  <a:t>Reranking model</a:t>
                </a:r>
              </a:p>
            </p:txBody>
          </p:sp>
          <p:cxnSp>
            <p:nvCxnSpPr>
              <p:cNvPr id="20" name="Straight Arrow Connector 19">
                <a:extLst>
                  <a:ext uri="{FF2B5EF4-FFF2-40B4-BE49-F238E27FC236}">
                    <a16:creationId xmlns:a16="http://schemas.microsoft.com/office/drawing/2014/main" id="{E83479BD-BB09-FB67-6917-2E266301F3F8}"/>
                  </a:ext>
                </a:extLst>
              </p:cNvPr>
              <p:cNvCxnSpPr>
                <a:cxnSpLocks/>
                <a:endCxn id="19" idx="0"/>
              </p:cNvCxnSpPr>
              <p:nvPr/>
            </p:nvCxnSpPr>
            <p:spPr>
              <a:xfrm>
                <a:off x="3049294" y="6103841"/>
                <a:ext cx="1" cy="388953"/>
              </a:xfrm>
              <a:prstGeom prst="straightConnector1">
                <a:avLst/>
              </a:prstGeom>
              <a:ln w="25400" cap="rnd">
                <a:solidFill>
                  <a:srgbClr val="0078D4"/>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grpSp>
        <p:cxnSp>
          <p:nvCxnSpPr>
            <p:cNvPr id="13" name="Connector: Elbow 22">
              <a:extLst>
                <a:ext uri="{FF2B5EF4-FFF2-40B4-BE49-F238E27FC236}">
                  <a16:creationId xmlns:a16="http://schemas.microsoft.com/office/drawing/2014/main" id="{A250088B-EAEB-E62B-524E-787131389F12}"/>
                </a:ext>
              </a:extLst>
            </p:cNvPr>
            <p:cNvCxnSpPr>
              <a:cxnSpLocks/>
              <a:stCxn id="15" idx="3"/>
            </p:cNvCxnSpPr>
            <p:nvPr/>
          </p:nvCxnSpPr>
          <p:spPr>
            <a:xfrm rot="16200000" flipH="1">
              <a:off x="7949346" y="2598820"/>
              <a:ext cx="342454" cy="1499904"/>
            </a:xfrm>
            <a:prstGeom prst="bentConnector2">
              <a:avLst/>
            </a:prstGeom>
            <a:ln w="25400" cap="rnd">
              <a:solidFill>
                <a:srgbClr val="0078D4"/>
              </a:solidFill>
              <a:headEnd type="none" w="sm" len="sm"/>
              <a:tailEnd type="none" w="lg" len="sm"/>
            </a:ln>
          </p:spPr>
          <p:style>
            <a:lnRef idx="1">
              <a:schemeClr val="accent1"/>
            </a:lnRef>
            <a:fillRef idx="0">
              <a:schemeClr val="accent1"/>
            </a:fillRef>
            <a:effectRef idx="0">
              <a:schemeClr val="accent1"/>
            </a:effectRef>
            <a:fontRef idx="minor">
              <a:schemeClr val="tx1"/>
            </a:fontRef>
          </p:style>
        </p:cxnSp>
        <p:cxnSp>
          <p:nvCxnSpPr>
            <p:cNvPr id="14" name="Connector: Elbow 23">
              <a:extLst>
                <a:ext uri="{FF2B5EF4-FFF2-40B4-BE49-F238E27FC236}">
                  <a16:creationId xmlns:a16="http://schemas.microsoft.com/office/drawing/2014/main" id="{E4CB6E9D-8D0C-98E8-E14D-E055F3387D4E}"/>
                </a:ext>
              </a:extLst>
            </p:cNvPr>
            <p:cNvCxnSpPr>
              <a:cxnSpLocks/>
              <a:stCxn id="17" idx="3"/>
              <a:endCxn id="18" idx="0"/>
            </p:cNvCxnSpPr>
            <p:nvPr/>
          </p:nvCxnSpPr>
          <p:spPr>
            <a:xfrm rot="5400000">
              <a:off x="9168528" y="2879544"/>
              <a:ext cx="684911" cy="1280912"/>
            </a:xfrm>
            <a:prstGeom prst="bentConnector3">
              <a:avLst>
                <a:gd name="adj1" fmla="val 50000"/>
              </a:avLst>
            </a:prstGeom>
            <a:ln w="25400" cap="rnd">
              <a:solidFill>
                <a:srgbClr val="0078D4"/>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grpSp>
      <p:sp>
        <p:nvSpPr>
          <p:cNvPr id="4" name="Rectangle: Rounded Corners 7">
            <a:extLst>
              <a:ext uri="{FF2B5EF4-FFF2-40B4-BE49-F238E27FC236}">
                <a16:creationId xmlns:a16="http://schemas.microsoft.com/office/drawing/2014/main" id="{3CC37855-F6C3-EA86-4C1F-3ABF02959F6B}"/>
              </a:ext>
            </a:extLst>
          </p:cNvPr>
          <p:cNvSpPr/>
          <p:nvPr/>
        </p:nvSpPr>
        <p:spPr>
          <a:xfrm>
            <a:off x="588261" y="5999076"/>
            <a:ext cx="11015474" cy="491747"/>
          </a:xfrm>
          <a:prstGeom prst="roundRect">
            <a:avLst>
              <a:gd name="adj" fmla="val 50000"/>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25400">
            <a:solidFill>
              <a:schemeClr val="bg1"/>
            </a:solidFill>
          </a:ln>
        </p:spPr>
        <p:style>
          <a:lnRef idx="3">
            <a:schemeClr val="lt1"/>
          </a:lnRef>
          <a:fillRef idx="1">
            <a:schemeClr val="accent4"/>
          </a:fillRef>
          <a:effectRef idx="1">
            <a:schemeClr val="accent4"/>
          </a:effectRef>
          <a:fontRef idx="minor">
            <a:schemeClr val="lt1"/>
          </a:fontRef>
        </p:style>
        <p:txBody>
          <a:bodyPr wrap="square" tIns="36000" bIns="36000" rtlCol="0" anchor="ctr">
            <a:spAutoFit/>
          </a:bodyPr>
          <a:lstStyle/>
          <a:p>
            <a:pPr lvl="0">
              <a:defRPr/>
            </a:pPr>
            <a:r>
              <a:rPr kumimoji="0" lang="en-US" sz="1800" b="0" i="0" u="none" strike="noStrike" kern="1200" cap="none" spc="0" normalizeH="0" baseline="0" noProof="0">
                <a:ln>
                  <a:noFill/>
                </a:ln>
                <a:solidFill>
                  <a:schemeClr val="bg1"/>
                </a:solidFill>
                <a:effectLst/>
                <a:uLnTx/>
                <a:uFillTx/>
                <a:latin typeface="Segoe UI" panose="020B0502040204020203" pitchFamily="34" charset="0"/>
                <a:cs typeface="Segoe UI" panose="020B0502040204020203" pitchFamily="34" charset="0"/>
              </a:rPr>
              <a:t>💻 </a:t>
            </a:r>
            <a:r>
              <a:rPr kumimoji="0" lang="en-US" sz="1800" b="0" i="0" u="none" strike="noStrike" kern="1200" cap="none" spc="0" normalizeH="0" baseline="0" noProof="0">
                <a:ln>
                  <a:noFill/>
                </a:ln>
                <a:solidFill>
                  <a:schemeClr val="bg1"/>
                </a:solidFill>
                <a:effectLst/>
                <a:uLnTx/>
                <a:uFillTx/>
                <a:latin typeface="Segoe UI" panose="020B0502040204020203" pitchFamily="34" charset="0"/>
                <a:cs typeface="Segoe UI" panose="020B0502040204020203" pitchFamily="34" charset="0"/>
                <a:hlinkClick r:id="rId3">
                  <a:extLst>
                    <a:ext uri="{A12FA001-AC4F-418D-AE19-62706E023703}">
                      <ahyp:hlinkClr xmlns:ahyp="http://schemas.microsoft.com/office/drawing/2018/hyperlinkcolor" val="tx"/>
                    </a:ext>
                  </a:extLst>
                </a:hlinkClick>
              </a:rPr>
              <a:t>Demo: </a:t>
            </a:r>
            <a:r>
              <a:rPr kumimoji="0" lang="en-US" sz="1800" b="0" i="0" u="none" strike="noStrike" kern="1200" cap="none" spc="0" normalizeH="0" baseline="0" noProof="0" err="1">
                <a:ln>
                  <a:noFill/>
                </a:ln>
                <a:solidFill>
                  <a:schemeClr val="bg1"/>
                </a:solidFill>
                <a:effectLst/>
                <a:uLnTx/>
                <a:uFillTx/>
                <a:latin typeface="Segoe UI" panose="020B0502040204020203" pitchFamily="34" charset="0"/>
                <a:cs typeface="Segoe UI" panose="020B0502040204020203" pitchFamily="34" charset="0"/>
                <a:hlinkClick r:id="rId3">
                  <a:extLst>
                    <a:ext uri="{A12FA001-AC4F-418D-AE19-62706E023703}">
                      <ahyp:hlinkClr xmlns:ahyp="http://schemas.microsoft.com/office/drawing/2018/hyperlinkcolor" val="tx"/>
                    </a:ext>
                  </a:extLst>
                </a:hlinkClick>
              </a:rPr>
              <a:t>search_relevance.ipynb</a:t>
            </a:r>
            <a:r>
              <a:rPr kumimoji="0" lang="en-US" sz="1800" b="0" i="0" u="none" strike="noStrike" kern="1200" cap="none" spc="0" normalizeH="0" baseline="0" noProof="0">
                <a:ln>
                  <a:noFill/>
                </a:ln>
                <a:solidFill>
                  <a:schemeClr val="bg1"/>
                </a:solidFill>
                <a:effectLst/>
                <a:uLnTx/>
                <a:uFillTx/>
                <a:latin typeface="Segoe UI" panose="020B0502040204020203" pitchFamily="34" charset="0"/>
                <a:cs typeface="Segoe UI" panose="020B0502040204020203" pitchFamily="34" charset="0"/>
              </a:rPr>
              <a:t> </a:t>
            </a:r>
            <a:r>
              <a:rPr lang="en-US" sz="1800">
                <a:solidFill>
                  <a:schemeClr val="bg1"/>
                </a:solidFill>
                <a:latin typeface="Segoe UI" panose="020B0502040204020203" pitchFamily="34" charset="0"/>
                <a:cs typeface="Segoe UI" panose="020B0502040204020203" pitchFamily="34" charset="0"/>
              </a:rPr>
              <a:t>(</a:t>
            </a:r>
            <a:r>
              <a:rPr lang="en-US" sz="1800">
                <a:solidFill>
                  <a:schemeClr val="bg1"/>
                </a:solidFill>
                <a:latin typeface="Segoe UI" panose="020B0502040204020203" pitchFamily="34" charset="0"/>
                <a:cs typeface="Segoe UI" panose="020B0502040204020203" pitchFamily="34" charset="0"/>
                <a:hlinkClick r:id="rId4">
                  <a:extLst>
                    <a:ext uri="{A12FA001-AC4F-418D-AE19-62706E023703}">
                      <ahyp:hlinkClr xmlns:ahyp="http://schemas.microsoft.com/office/drawing/2018/hyperlinkcolor" val="tx"/>
                    </a:ext>
                  </a:extLst>
                </a:hlinkClick>
              </a:rPr>
              <a:t>aka.ms/</a:t>
            </a:r>
            <a:r>
              <a:rPr lang="en-US" sz="1800" err="1">
                <a:solidFill>
                  <a:schemeClr val="bg1"/>
                </a:solidFill>
                <a:latin typeface="Segoe UI" panose="020B0502040204020203" pitchFamily="34" charset="0"/>
                <a:cs typeface="Segoe UI" panose="020B0502040204020203" pitchFamily="34" charset="0"/>
                <a:hlinkClick r:id="rId4">
                  <a:extLst>
                    <a:ext uri="{A12FA001-AC4F-418D-AE19-62706E023703}">
                      <ahyp:hlinkClr xmlns:ahyp="http://schemas.microsoft.com/office/drawing/2018/hyperlinkcolor" val="tx"/>
                    </a:ext>
                  </a:extLst>
                </a:hlinkClick>
              </a:rPr>
              <a:t>aitour</a:t>
            </a:r>
            <a:r>
              <a:rPr lang="en-US" sz="1800">
                <a:solidFill>
                  <a:schemeClr val="bg1"/>
                </a:solidFill>
                <a:latin typeface="Segoe UI" panose="020B0502040204020203" pitchFamily="34" charset="0"/>
                <a:cs typeface="Segoe UI" panose="020B0502040204020203" pitchFamily="34" charset="0"/>
                <a:hlinkClick r:id="rId4">
                  <a:extLst>
                    <a:ext uri="{A12FA001-AC4F-418D-AE19-62706E023703}">
                      <ahyp:hlinkClr xmlns:ahyp="http://schemas.microsoft.com/office/drawing/2018/hyperlinkcolor" val="tx"/>
                    </a:ext>
                  </a:extLst>
                </a:hlinkClick>
              </a:rPr>
              <a:t>/search-relevance</a:t>
            </a:r>
            <a:r>
              <a:rPr lang="en-US" sz="1800">
                <a:solidFill>
                  <a:schemeClr val="bg1"/>
                </a:solidFill>
                <a:latin typeface="Segoe UI" panose="020B0502040204020203" pitchFamily="34" charset="0"/>
                <a:cs typeface="Segoe UI" panose="020B0502040204020203" pitchFamily="34" charset="0"/>
              </a:rPr>
              <a:t>) </a:t>
            </a:r>
            <a:r>
              <a:rPr kumimoji="0" lang="en-US" sz="1800" b="0" i="0" u="none" strike="noStrike" kern="1200" cap="none" spc="0" normalizeH="0" baseline="0" noProof="0">
                <a:ln>
                  <a:noFill/>
                </a:ln>
                <a:solidFill>
                  <a:schemeClr val="bg1"/>
                </a:solidFill>
                <a:effectLst/>
                <a:uLnTx/>
                <a:uFillTx/>
                <a:latin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341376495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8ACB35D-6234-0B8A-E356-3074C0F7F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0D2159-1A47-0858-F54B-BC8C620C3DFB}"/>
              </a:ext>
            </a:extLst>
          </p:cNvPr>
          <p:cNvSpPr>
            <a:spLocks noGrp="1"/>
          </p:cNvSpPr>
          <p:nvPr>
            <p:ph type="title"/>
          </p:nvPr>
        </p:nvSpPr>
        <p:spPr>
          <a:xfrm>
            <a:off x="588263" y="457200"/>
            <a:ext cx="11018520" cy="553998"/>
          </a:xfrm>
        </p:spPr>
        <p:txBody>
          <a:bodyPr/>
          <a:lstStyle/>
          <a:p>
            <a:r>
              <a:rPr lang="en-US">
                <a:cs typeface="Segoe UI"/>
              </a:rPr>
              <a:t>Optimal relevance: Hybrid search, Semantic ranker</a:t>
            </a:r>
          </a:p>
        </p:txBody>
      </p:sp>
      <p:sp>
        <p:nvSpPr>
          <p:cNvPr id="36" name="Rectangle: Rounded Corners 7">
            <a:extLst>
              <a:ext uri="{FF2B5EF4-FFF2-40B4-BE49-F238E27FC236}">
                <a16:creationId xmlns:a16="http://schemas.microsoft.com/office/drawing/2014/main" id="{962C76DC-B41C-54E1-05F4-587A4DB11068}"/>
              </a:ext>
            </a:extLst>
          </p:cNvPr>
          <p:cNvSpPr/>
          <p:nvPr/>
        </p:nvSpPr>
        <p:spPr>
          <a:xfrm>
            <a:off x="5864085" y="6306760"/>
            <a:ext cx="5966525" cy="361910"/>
          </a:xfrm>
          <a:prstGeom prst="roundRect">
            <a:avLst>
              <a:gd name="adj" fmla="val 50000"/>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25400">
            <a:solidFill>
              <a:schemeClr val="bg1"/>
            </a:solidFill>
          </a:ln>
        </p:spPr>
        <p:style>
          <a:lnRef idx="3">
            <a:schemeClr val="lt1"/>
          </a:lnRef>
          <a:fillRef idx="1">
            <a:schemeClr val="accent4"/>
          </a:fillRef>
          <a:effectRef idx="1">
            <a:schemeClr val="accent4"/>
          </a:effectRef>
          <a:fontRef idx="minor">
            <a:schemeClr val="lt1"/>
          </a:fontRef>
        </p:style>
        <p:txBody>
          <a:bodyPr wrap="none" tIns="36000" bIns="36000" rtlCol="0" anchor="ctr">
            <a:spAutoFit/>
          </a:bodyPr>
          <a:lstStyle/>
          <a:p>
            <a:pPr marR="0" lvl="0" algn="l" defTabSz="914367" rtl="0" eaLnBrk="1" fontAlgn="auto" latinLnBrk="0" hangingPunct="1">
              <a:lnSpc>
                <a:spcPct val="100000"/>
              </a:lnSpc>
              <a:spcBef>
                <a:spcPts val="0"/>
              </a:spcBef>
              <a:spcAft>
                <a:spcPts val="0"/>
              </a:spcAft>
              <a:buClrTx/>
              <a:buSzTx/>
              <a:buFontTx/>
              <a:buNone/>
              <a:tabLst>
                <a:tab pos="2570163" algn="l"/>
              </a:tabLst>
              <a:defRPr/>
            </a:pPr>
            <a:r>
              <a:rPr kumimoji="0" lang="en-US" sz="1200" b="0" i="0" u="none" strike="noStrike" kern="1200" cap="none" spc="0" normalizeH="0" baseline="0" noProof="0">
                <a:ln>
                  <a:noFill/>
                </a:ln>
                <a:solidFill>
                  <a:schemeClr val="bg1"/>
                </a:solidFill>
                <a:effectLst/>
                <a:uLnTx/>
                <a:uFillTx/>
                <a:latin typeface="+mj-lt"/>
                <a:ea typeface="+mn-ea"/>
                <a:cs typeface="+mn-cs"/>
              </a:rPr>
              <a:t>💻 </a:t>
            </a:r>
            <a:r>
              <a:rPr kumimoji="0" lang="en-US" sz="1200" b="0" i="0" u="none" strike="noStrike" kern="1200" cap="none" spc="0" normalizeH="0" baseline="0" noProof="0">
                <a:ln>
                  <a:noFill/>
                </a:ln>
                <a:solidFill>
                  <a:schemeClr val="bg1"/>
                </a:solidFill>
                <a:effectLst/>
                <a:uLnTx/>
                <a:uFillTx/>
                <a:latin typeface="+mj-lt"/>
                <a:ea typeface="+mn-ea"/>
                <a:cs typeface="+mn-cs"/>
                <a:hlinkClick r:id="rId3">
                  <a:extLst>
                    <a:ext uri="{A12FA001-AC4F-418D-AE19-62706E023703}">
                      <ahyp:hlinkClr xmlns:ahyp="http://schemas.microsoft.com/office/drawing/2018/hyperlinkcolor" val="tx"/>
                    </a:ext>
                  </a:extLst>
                </a:hlinkClick>
              </a:rPr>
              <a:t>Demo: Compare text, vector, hybrid, </a:t>
            </a:r>
            <a:r>
              <a:rPr kumimoji="0" lang="en-US" sz="1200" b="0" i="0" u="none" strike="noStrike" kern="1200" cap="none" spc="0" normalizeH="0" baseline="0" noProof="0" err="1">
                <a:ln>
                  <a:noFill/>
                </a:ln>
                <a:solidFill>
                  <a:schemeClr val="bg1"/>
                </a:solidFill>
                <a:effectLst/>
                <a:uLnTx/>
                <a:uFillTx/>
                <a:latin typeface="+mj-lt"/>
                <a:ea typeface="+mn-ea"/>
                <a:cs typeface="+mn-cs"/>
                <a:hlinkClick r:id="rId3">
                  <a:extLst>
                    <a:ext uri="{A12FA001-AC4F-418D-AE19-62706E023703}">
                      <ahyp:hlinkClr xmlns:ahyp="http://schemas.microsoft.com/office/drawing/2018/hyperlinkcolor" val="tx"/>
                    </a:ext>
                  </a:extLst>
                </a:hlinkClick>
              </a:rPr>
              <a:t>reranker</a:t>
            </a:r>
            <a:r>
              <a:rPr kumimoji="0" lang="en-US" sz="1200" b="0" i="0" u="none" strike="noStrike" kern="1200" cap="none" spc="0" normalizeH="0" baseline="0" noProof="0">
                <a:ln>
                  <a:noFill/>
                </a:ln>
                <a:solidFill>
                  <a:schemeClr val="bg1"/>
                </a:solidFill>
                <a:effectLst/>
                <a:uLnTx/>
                <a:uFillTx/>
                <a:latin typeface="+mj-lt"/>
                <a:ea typeface="+mn-ea"/>
                <a:cs typeface="+mn-cs"/>
              </a:rPr>
              <a:t> (</a:t>
            </a:r>
            <a:r>
              <a:rPr kumimoji="0" lang="en-US" sz="1200" b="0" i="0" u="none" strike="noStrike" kern="1200" cap="none" spc="0" normalizeH="0" baseline="0" noProof="0">
                <a:ln>
                  <a:noFill/>
                </a:ln>
                <a:solidFill>
                  <a:schemeClr val="bg1"/>
                </a:solidFill>
                <a:effectLst/>
                <a:uLnTx/>
                <a:uFillTx/>
                <a:latin typeface="+mj-lt"/>
                <a:ea typeface="+mn-ea"/>
                <a:cs typeface="+mn-cs"/>
                <a:hlinkClick r:id="rId4">
                  <a:extLst>
                    <a:ext uri="{A12FA001-AC4F-418D-AE19-62706E023703}">
                      <ahyp:hlinkClr xmlns:ahyp="http://schemas.microsoft.com/office/drawing/2018/hyperlinkcolor" val="tx"/>
                    </a:ext>
                  </a:extLst>
                </a:hlinkClick>
              </a:rPr>
              <a:t>aka.ms/</a:t>
            </a:r>
            <a:r>
              <a:rPr kumimoji="0" lang="en-US" sz="1200" b="0" i="0" u="none" strike="noStrike" kern="1200" cap="none" spc="0" normalizeH="0" baseline="0" noProof="0" err="1">
                <a:ln>
                  <a:noFill/>
                </a:ln>
                <a:solidFill>
                  <a:schemeClr val="bg1"/>
                </a:solidFill>
                <a:effectLst/>
                <a:uLnTx/>
                <a:uFillTx/>
                <a:latin typeface="+mj-lt"/>
                <a:ea typeface="+mn-ea"/>
                <a:cs typeface="+mn-cs"/>
                <a:hlinkClick r:id="rId4">
                  <a:extLst>
                    <a:ext uri="{A12FA001-AC4F-418D-AE19-62706E023703}">
                      <ahyp:hlinkClr xmlns:ahyp="http://schemas.microsoft.com/office/drawing/2018/hyperlinkcolor" val="tx"/>
                    </a:ext>
                  </a:extLst>
                </a:hlinkClick>
              </a:rPr>
              <a:t>aitour</a:t>
            </a:r>
            <a:r>
              <a:rPr kumimoji="0" lang="en-US" sz="1200" b="0" i="0" u="none" strike="noStrike" kern="1200" cap="none" spc="0" normalizeH="0" baseline="0" noProof="0">
                <a:ln>
                  <a:noFill/>
                </a:ln>
                <a:solidFill>
                  <a:schemeClr val="bg1"/>
                </a:solidFill>
                <a:effectLst/>
                <a:uLnTx/>
                <a:uFillTx/>
                <a:latin typeface="+mj-lt"/>
                <a:ea typeface="+mn-ea"/>
                <a:cs typeface="+mn-cs"/>
                <a:hlinkClick r:id="rId4">
                  <a:extLst>
                    <a:ext uri="{A12FA001-AC4F-418D-AE19-62706E023703}">
                      <ahyp:hlinkClr xmlns:ahyp="http://schemas.microsoft.com/office/drawing/2018/hyperlinkcolor" val="tx"/>
                    </a:ext>
                  </a:extLst>
                </a:hlinkClick>
              </a:rPr>
              <a:t>/search-relevance</a:t>
            </a:r>
            <a:r>
              <a:rPr kumimoji="0" lang="en-US" sz="1200" b="0" i="0" u="none" strike="noStrike" kern="1200" cap="none" spc="0" normalizeH="0" baseline="0" noProof="0">
                <a:ln>
                  <a:noFill/>
                </a:ln>
                <a:solidFill>
                  <a:schemeClr val="bg1"/>
                </a:solidFill>
                <a:effectLst/>
                <a:uLnTx/>
                <a:uFillTx/>
                <a:latin typeface="+mj-lt"/>
                <a:ea typeface="+mn-ea"/>
                <a:cs typeface="+mn-cs"/>
              </a:rPr>
              <a:t>)</a:t>
            </a:r>
          </a:p>
        </p:txBody>
      </p:sp>
      <p:grpSp>
        <p:nvGrpSpPr>
          <p:cNvPr id="61" name="Group 60">
            <a:extLst>
              <a:ext uri="{FF2B5EF4-FFF2-40B4-BE49-F238E27FC236}">
                <a16:creationId xmlns:a16="http://schemas.microsoft.com/office/drawing/2014/main" id="{E95898D9-1A9E-99D3-BF44-49B65A404625}"/>
              </a:ext>
            </a:extLst>
          </p:cNvPr>
          <p:cNvGrpSpPr/>
          <p:nvPr/>
        </p:nvGrpSpPr>
        <p:grpSpPr>
          <a:xfrm>
            <a:off x="8376890" y="2868136"/>
            <a:ext cx="3587717" cy="923883"/>
            <a:chOff x="8376890" y="2868136"/>
            <a:chExt cx="3587717" cy="923883"/>
          </a:xfrm>
        </p:grpSpPr>
        <p:sp>
          <p:nvSpPr>
            <p:cNvPr id="19" name="Rectangle: Rounded Corners 8">
              <a:extLst>
                <a:ext uri="{FF2B5EF4-FFF2-40B4-BE49-F238E27FC236}">
                  <a16:creationId xmlns:a16="http://schemas.microsoft.com/office/drawing/2014/main" id="{60994124-5982-18BF-CACE-8EE175F3A666}"/>
                </a:ext>
                <a:ext uri="{C183D7F6-B498-43B3-948B-1728B52AA6E4}">
                  <adec:decorative xmlns:adec="http://schemas.microsoft.com/office/drawing/2017/decorative" val="1"/>
                </a:ext>
              </a:extLst>
            </p:cNvPr>
            <p:cNvSpPr/>
            <p:nvPr/>
          </p:nvSpPr>
          <p:spPr>
            <a:xfrm>
              <a:off x="9473483" y="2868136"/>
              <a:ext cx="2491124" cy="923883"/>
            </a:xfrm>
            <a:prstGeom prst="roundRect">
              <a:avLst/>
            </a:prstGeom>
            <a:gradFill>
              <a:gsLst>
                <a:gs pos="32000">
                  <a:srgbClr val="C03BC4"/>
                </a:gs>
                <a:gs pos="100000">
                  <a:srgbClr val="399A91"/>
                </a:gs>
                <a:gs pos="68000">
                  <a:srgbClr val="0078D4"/>
                </a:gs>
                <a:gs pos="0">
                  <a:srgbClr val="FF5C39"/>
                </a:gs>
              </a:gsLst>
              <a:path path="circle">
                <a:fillToRect l="100000" t="100000"/>
              </a:path>
            </a:gradFill>
            <a:ln w="25400">
              <a:solidFill>
                <a:schemeClr val="bg1"/>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a:t>Reranking model</a:t>
              </a:r>
            </a:p>
          </p:txBody>
        </p:sp>
        <p:cxnSp>
          <p:nvCxnSpPr>
            <p:cNvPr id="5" name="Straight Arrow Connector 4">
              <a:extLst>
                <a:ext uri="{FF2B5EF4-FFF2-40B4-BE49-F238E27FC236}">
                  <a16:creationId xmlns:a16="http://schemas.microsoft.com/office/drawing/2014/main" id="{6A4F2907-0C66-84E0-D9BC-AF0EF2D2D429}"/>
                </a:ext>
                <a:ext uri="{C183D7F6-B498-43B3-948B-1728B52AA6E4}">
                  <adec:decorative xmlns:adec="http://schemas.microsoft.com/office/drawing/2017/decorative" val="1"/>
                </a:ext>
              </a:extLst>
            </p:cNvPr>
            <p:cNvCxnSpPr>
              <a:cxnSpLocks/>
              <a:stCxn id="18" idx="3"/>
              <a:endCxn id="19" idx="1"/>
            </p:cNvCxnSpPr>
            <p:nvPr/>
          </p:nvCxnSpPr>
          <p:spPr>
            <a:xfrm>
              <a:off x="8376890" y="3330078"/>
              <a:ext cx="1096593" cy="0"/>
            </a:xfrm>
            <a:prstGeom prst="straightConnector1">
              <a:avLst/>
            </a:prstGeom>
            <a:ln w="12700" cap="rnd">
              <a:solidFill>
                <a:srgbClr val="BFBFBF"/>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3AFEA3F0-FB7F-FBF6-A9F8-56F1B0CC495E}"/>
              </a:ext>
            </a:extLst>
          </p:cNvPr>
          <p:cNvGrpSpPr/>
          <p:nvPr/>
        </p:nvGrpSpPr>
        <p:grpSpPr>
          <a:xfrm>
            <a:off x="3928829" y="2243927"/>
            <a:ext cx="4448061" cy="2274417"/>
            <a:chOff x="3928829" y="2243927"/>
            <a:chExt cx="4448061" cy="2274417"/>
          </a:xfrm>
        </p:grpSpPr>
        <p:sp>
          <p:nvSpPr>
            <p:cNvPr id="18" name="Rectangle: Rounded Corners 7">
              <a:extLst>
                <a:ext uri="{FF2B5EF4-FFF2-40B4-BE49-F238E27FC236}">
                  <a16:creationId xmlns:a16="http://schemas.microsoft.com/office/drawing/2014/main" id="{C3FB6047-84B5-6850-FA86-E78CA23C5CA7}"/>
                </a:ext>
                <a:ext uri="{C183D7F6-B498-43B3-948B-1728B52AA6E4}">
                  <adec:decorative xmlns:adec="http://schemas.microsoft.com/office/drawing/2017/decorative" val="1"/>
                </a:ext>
              </a:extLst>
            </p:cNvPr>
            <p:cNvSpPr/>
            <p:nvPr/>
          </p:nvSpPr>
          <p:spPr>
            <a:xfrm>
              <a:off x="5885766" y="2868136"/>
              <a:ext cx="2491124" cy="923883"/>
            </a:xfrm>
            <a:prstGeom prst="roundRect">
              <a:avLst/>
            </a:prstGeom>
            <a:gradFill>
              <a:gsLst>
                <a:gs pos="32000">
                  <a:srgbClr val="C03BC4"/>
                </a:gs>
                <a:gs pos="100000">
                  <a:srgbClr val="399A91"/>
                </a:gs>
                <a:gs pos="68000">
                  <a:srgbClr val="0078D4"/>
                </a:gs>
                <a:gs pos="0">
                  <a:srgbClr val="FF5C39"/>
                </a:gs>
              </a:gsLst>
              <a:path path="circle">
                <a:fillToRect l="100000" t="100000"/>
              </a:path>
            </a:gradFill>
            <a:ln w="25400">
              <a:solidFill>
                <a:schemeClr val="bg1"/>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a:t>Fusion</a:t>
              </a:r>
              <a:br>
                <a:rPr lang="en-US"/>
              </a:br>
              <a:r>
                <a:rPr lang="en-US" sz="1400"/>
                <a:t>(RRF)</a:t>
              </a:r>
              <a:endParaRPr lang="en-US"/>
            </a:p>
          </p:txBody>
        </p:sp>
        <p:cxnSp>
          <p:nvCxnSpPr>
            <p:cNvPr id="6" name="Connector: Elbow 22">
              <a:extLst>
                <a:ext uri="{FF2B5EF4-FFF2-40B4-BE49-F238E27FC236}">
                  <a16:creationId xmlns:a16="http://schemas.microsoft.com/office/drawing/2014/main" id="{F6CCD6A2-97DA-166E-FB07-1F05163FB57F}"/>
                </a:ext>
                <a:ext uri="{C183D7F6-B498-43B3-948B-1728B52AA6E4}">
                  <adec:decorative xmlns:adec="http://schemas.microsoft.com/office/drawing/2017/decorative" val="1"/>
                </a:ext>
              </a:extLst>
            </p:cNvPr>
            <p:cNvCxnSpPr>
              <a:cxnSpLocks/>
              <a:stCxn id="15" idx="4"/>
              <a:endCxn id="18" idx="1"/>
            </p:cNvCxnSpPr>
            <p:nvPr/>
          </p:nvCxnSpPr>
          <p:spPr>
            <a:xfrm flipV="1">
              <a:off x="3936921" y="3330078"/>
              <a:ext cx="1948845" cy="1188266"/>
            </a:xfrm>
            <a:prstGeom prst="bentConnector3">
              <a:avLst>
                <a:gd name="adj1" fmla="val 50000"/>
              </a:avLst>
            </a:prstGeom>
            <a:ln w="12700" cap="rnd">
              <a:solidFill>
                <a:srgbClr val="BFBFBF"/>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cxnSp>
          <p:nvCxnSpPr>
            <p:cNvPr id="8" name="Connector: Elbow 23">
              <a:extLst>
                <a:ext uri="{FF2B5EF4-FFF2-40B4-BE49-F238E27FC236}">
                  <a16:creationId xmlns:a16="http://schemas.microsoft.com/office/drawing/2014/main" id="{696716E6-36E6-BCFE-B20B-A2DC0E1FDD72}"/>
                </a:ext>
                <a:ext uri="{C183D7F6-B498-43B3-948B-1728B52AA6E4}">
                  <adec:decorative xmlns:adec="http://schemas.microsoft.com/office/drawing/2017/decorative" val="1"/>
                </a:ext>
              </a:extLst>
            </p:cNvPr>
            <p:cNvCxnSpPr>
              <a:cxnSpLocks/>
              <a:stCxn id="17" idx="4"/>
              <a:endCxn id="18" idx="1"/>
            </p:cNvCxnSpPr>
            <p:nvPr/>
          </p:nvCxnSpPr>
          <p:spPr>
            <a:xfrm>
              <a:off x="3928829" y="2243927"/>
              <a:ext cx="1956937" cy="1086151"/>
            </a:xfrm>
            <a:prstGeom prst="bentConnector3">
              <a:avLst>
                <a:gd name="adj1" fmla="val 50000"/>
              </a:avLst>
            </a:prstGeom>
            <a:ln w="12700" cap="rnd">
              <a:solidFill>
                <a:srgbClr val="BFBFBF"/>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grpSp>
      <p:graphicFrame>
        <p:nvGraphicFramePr>
          <p:cNvPr id="3" name="Table 2">
            <a:extLst>
              <a:ext uri="{FF2B5EF4-FFF2-40B4-BE49-F238E27FC236}">
                <a16:creationId xmlns:a16="http://schemas.microsoft.com/office/drawing/2014/main" id="{3F4386A3-E62A-CA6C-C472-6DE6F1F9EB3C}"/>
              </a:ext>
            </a:extLst>
          </p:cNvPr>
          <p:cNvGraphicFramePr>
            <a:graphicFrameLocks noGrp="1"/>
          </p:cNvGraphicFramePr>
          <p:nvPr>
            <p:extLst>
              <p:ext uri="{D42A27DB-BD31-4B8C-83A1-F6EECF244321}">
                <p14:modId xmlns:p14="http://schemas.microsoft.com/office/powerpoint/2010/main" val="1532456312"/>
              </p:ext>
            </p:extLst>
          </p:nvPr>
        </p:nvGraphicFramePr>
        <p:xfrm>
          <a:off x="1657338" y="2831668"/>
          <a:ext cx="2587337" cy="640080"/>
        </p:xfrm>
        <a:graphic>
          <a:graphicData uri="http://schemas.openxmlformats.org/drawingml/2006/table">
            <a:tbl>
              <a:tblPr bandRow="1">
                <a:tableStyleId>{5C22544A-7EE6-4342-B048-85BDC9FD1C3A}</a:tableStyleId>
              </a:tblPr>
              <a:tblGrid>
                <a:gridCol w="409432">
                  <a:extLst>
                    <a:ext uri="{9D8B030D-6E8A-4147-A177-3AD203B41FA5}">
                      <a16:colId xmlns:a16="http://schemas.microsoft.com/office/drawing/2014/main" val="461969700"/>
                    </a:ext>
                  </a:extLst>
                </a:gridCol>
                <a:gridCol w="2177905">
                  <a:extLst>
                    <a:ext uri="{9D8B030D-6E8A-4147-A177-3AD203B41FA5}">
                      <a16:colId xmlns:a16="http://schemas.microsoft.com/office/drawing/2014/main" val="1482892922"/>
                    </a:ext>
                  </a:extLst>
                </a:gridCol>
              </a:tblGrid>
              <a:tr h="305171">
                <a:tc>
                  <a:txBody>
                    <a:bodyPr/>
                    <a:lstStyle/>
                    <a:p>
                      <a:r>
                        <a:rPr lang="en-US"/>
                        <a:t>1</a:t>
                      </a:r>
                    </a:p>
                  </a:txBody>
                  <a:tcPr/>
                </a:tc>
                <a:tc>
                  <a:txBody>
                    <a:bodyPr/>
                    <a:lstStyle/>
                    <a:p>
                      <a:r>
                        <a:rPr lang="en-US"/>
                        <a:t>Scuba Diving in </a:t>
                      </a:r>
                      <a:r>
                        <a:rPr lang="en-US" b="0" u="none"/>
                        <a:t>Bahamas</a:t>
                      </a:r>
                    </a:p>
                  </a:txBody>
                  <a:tcPr/>
                </a:tc>
                <a:extLst>
                  <a:ext uri="{0D108BD9-81ED-4DB2-BD59-A6C34878D82A}">
                    <a16:rowId xmlns:a16="http://schemas.microsoft.com/office/drawing/2014/main" val="4216800493"/>
                  </a:ext>
                </a:extLst>
              </a:tr>
            </a:tbl>
          </a:graphicData>
        </a:graphic>
      </p:graphicFrame>
      <p:graphicFrame>
        <p:nvGraphicFramePr>
          <p:cNvPr id="10" name="Table 9">
            <a:extLst>
              <a:ext uri="{FF2B5EF4-FFF2-40B4-BE49-F238E27FC236}">
                <a16:creationId xmlns:a16="http://schemas.microsoft.com/office/drawing/2014/main" id="{E1ABC343-2D12-1B07-BA44-7A0D3B0784F3}"/>
              </a:ext>
            </a:extLst>
          </p:cNvPr>
          <p:cNvGraphicFramePr>
            <a:graphicFrameLocks noGrp="1"/>
          </p:cNvGraphicFramePr>
          <p:nvPr>
            <p:extLst>
              <p:ext uri="{D42A27DB-BD31-4B8C-83A1-F6EECF244321}">
                <p14:modId xmlns:p14="http://schemas.microsoft.com/office/powerpoint/2010/main" val="872716694"/>
              </p:ext>
            </p:extLst>
          </p:nvPr>
        </p:nvGraphicFramePr>
        <p:xfrm>
          <a:off x="1657338" y="5072176"/>
          <a:ext cx="2587337" cy="1280160"/>
        </p:xfrm>
        <a:graphic>
          <a:graphicData uri="http://schemas.openxmlformats.org/drawingml/2006/table">
            <a:tbl>
              <a:tblPr bandRow="1">
                <a:tableStyleId>{5C22544A-7EE6-4342-B048-85BDC9FD1C3A}</a:tableStyleId>
              </a:tblPr>
              <a:tblGrid>
                <a:gridCol w="409432">
                  <a:extLst>
                    <a:ext uri="{9D8B030D-6E8A-4147-A177-3AD203B41FA5}">
                      <a16:colId xmlns:a16="http://schemas.microsoft.com/office/drawing/2014/main" val="461969700"/>
                    </a:ext>
                  </a:extLst>
                </a:gridCol>
                <a:gridCol w="2177905">
                  <a:extLst>
                    <a:ext uri="{9D8B030D-6E8A-4147-A177-3AD203B41FA5}">
                      <a16:colId xmlns:a16="http://schemas.microsoft.com/office/drawing/2014/main" val="1482892922"/>
                    </a:ext>
                  </a:extLst>
                </a:gridCol>
              </a:tblGrid>
              <a:tr h="305171">
                <a:tc>
                  <a:txBody>
                    <a:bodyPr/>
                    <a:lstStyle/>
                    <a:p>
                      <a:r>
                        <a:rPr lang="en-US"/>
                        <a:t>1</a:t>
                      </a:r>
                    </a:p>
                  </a:txBody>
                  <a:tcPr/>
                </a:tc>
                <a:tc>
                  <a:txBody>
                    <a:bodyPr/>
                    <a:lstStyle/>
                    <a:p>
                      <a:r>
                        <a:rPr lang="en-US"/>
                        <a:t>Scuba Diving in </a:t>
                      </a:r>
                      <a:r>
                        <a:rPr lang="en-US" b="0" u="none"/>
                        <a:t>the Carribean</a:t>
                      </a:r>
                    </a:p>
                  </a:txBody>
                  <a:tcPr/>
                </a:tc>
                <a:extLst>
                  <a:ext uri="{0D108BD9-81ED-4DB2-BD59-A6C34878D82A}">
                    <a16:rowId xmlns:a16="http://schemas.microsoft.com/office/drawing/2014/main" val="4216800493"/>
                  </a:ext>
                </a:extLst>
              </a:tr>
              <a:tr h="305170">
                <a:tc>
                  <a:txBody>
                    <a:bodyPr/>
                    <a:lstStyle/>
                    <a:p>
                      <a:pPr lvl="0">
                        <a:buNone/>
                      </a:pPr>
                      <a:r>
                        <a:rPr lang="en-US"/>
                        <a:t>2</a:t>
                      </a:r>
                    </a:p>
                  </a:txBody>
                  <a:tcPr/>
                </a:tc>
                <a:tc>
                  <a:txBody>
                    <a:bodyPr/>
                    <a:lstStyle/>
                    <a:p>
                      <a:pPr lvl="0">
                        <a:buNone/>
                      </a:pPr>
                      <a:r>
                        <a:rPr lang="en-US" b="0" u="none"/>
                        <a:t>Water skiing in Seychelles</a:t>
                      </a:r>
                      <a:endParaRPr lang="en-US" b="1" u="sng"/>
                    </a:p>
                  </a:txBody>
                  <a:tcPr/>
                </a:tc>
                <a:extLst>
                  <a:ext uri="{0D108BD9-81ED-4DB2-BD59-A6C34878D82A}">
                    <a16:rowId xmlns:a16="http://schemas.microsoft.com/office/drawing/2014/main" val="605482149"/>
                  </a:ext>
                </a:extLst>
              </a:tr>
            </a:tbl>
          </a:graphicData>
        </a:graphic>
      </p:graphicFrame>
      <p:graphicFrame>
        <p:nvGraphicFramePr>
          <p:cNvPr id="13" name="Table 12">
            <a:extLst>
              <a:ext uri="{FF2B5EF4-FFF2-40B4-BE49-F238E27FC236}">
                <a16:creationId xmlns:a16="http://schemas.microsoft.com/office/drawing/2014/main" id="{02B94CFD-43B5-BF7C-A333-6C0498D132C5}"/>
              </a:ext>
            </a:extLst>
          </p:cNvPr>
          <p:cNvGraphicFramePr>
            <a:graphicFrameLocks noGrp="1"/>
          </p:cNvGraphicFramePr>
          <p:nvPr>
            <p:extLst>
              <p:ext uri="{D42A27DB-BD31-4B8C-83A1-F6EECF244321}">
                <p14:modId xmlns:p14="http://schemas.microsoft.com/office/powerpoint/2010/main" val="2963778879"/>
              </p:ext>
            </p:extLst>
          </p:nvPr>
        </p:nvGraphicFramePr>
        <p:xfrm>
          <a:off x="5934660" y="3900743"/>
          <a:ext cx="2442230" cy="1920240"/>
        </p:xfrm>
        <a:graphic>
          <a:graphicData uri="http://schemas.openxmlformats.org/drawingml/2006/table">
            <a:tbl>
              <a:tblPr bandRow="1">
                <a:tableStyleId>{5C22544A-7EE6-4342-B048-85BDC9FD1C3A}</a:tableStyleId>
              </a:tblPr>
              <a:tblGrid>
                <a:gridCol w="386469">
                  <a:extLst>
                    <a:ext uri="{9D8B030D-6E8A-4147-A177-3AD203B41FA5}">
                      <a16:colId xmlns:a16="http://schemas.microsoft.com/office/drawing/2014/main" val="461969700"/>
                    </a:ext>
                  </a:extLst>
                </a:gridCol>
                <a:gridCol w="2055761">
                  <a:extLst>
                    <a:ext uri="{9D8B030D-6E8A-4147-A177-3AD203B41FA5}">
                      <a16:colId xmlns:a16="http://schemas.microsoft.com/office/drawing/2014/main" val="1482892922"/>
                    </a:ext>
                  </a:extLst>
                </a:gridCol>
              </a:tblGrid>
              <a:tr h="305171">
                <a:tc>
                  <a:txBody>
                    <a:bodyPr/>
                    <a:lstStyle/>
                    <a:p>
                      <a:r>
                        <a:rPr lang="en-US"/>
                        <a:t>1</a:t>
                      </a:r>
                    </a:p>
                  </a:txBody>
                  <a:tcPr/>
                </a:tc>
                <a:tc>
                  <a:txBody>
                    <a:bodyPr/>
                    <a:lstStyle/>
                    <a:p>
                      <a:r>
                        <a:rPr lang="en-US"/>
                        <a:t>Scuba Diving in the Carribean</a:t>
                      </a:r>
                      <a:endParaRPr lang="en-US" b="1" u="sng"/>
                    </a:p>
                  </a:txBody>
                  <a:tcPr/>
                </a:tc>
                <a:extLst>
                  <a:ext uri="{0D108BD9-81ED-4DB2-BD59-A6C34878D82A}">
                    <a16:rowId xmlns:a16="http://schemas.microsoft.com/office/drawing/2014/main" val="4216800493"/>
                  </a:ext>
                </a:extLst>
              </a:tr>
              <a:tr h="305170">
                <a:tc>
                  <a:txBody>
                    <a:bodyPr/>
                    <a:lstStyle/>
                    <a:p>
                      <a:pPr lvl="0">
                        <a:buNone/>
                      </a:pPr>
                      <a:r>
                        <a:rPr lang="en-US"/>
                        <a:t>2</a:t>
                      </a:r>
                    </a:p>
                  </a:txBody>
                  <a:tcPr/>
                </a:tc>
                <a:tc>
                  <a:txBody>
                    <a:bodyPr/>
                    <a:lstStyle/>
                    <a:p>
                      <a:pPr lvl="0">
                        <a:buNone/>
                      </a:pPr>
                      <a:r>
                        <a:rPr lang="en-US" sz="1800" b="0" i="0" u="none" strike="noStrike" noProof="0">
                          <a:solidFill>
                            <a:srgbClr val="000000"/>
                          </a:solidFill>
                          <a:latin typeface="Segoe UI"/>
                        </a:rPr>
                        <a:t>Scuba Diving in Bahamas</a:t>
                      </a:r>
                      <a:endParaRPr lang="en-US"/>
                    </a:p>
                  </a:txBody>
                  <a:tcPr/>
                </a:tc>
                <a:extLst>
                  <a:ext uri="{0D108BD9-81ED-4DB2-BD59-A6C34878D82A}">
                    <a16:rowId xmlns:a16="http://schemas.microsoft.com/office/drawing/2014/main" val="1956623344"/>
                  </a:ext>
                </a:extLst>
              </a:tr>
              <a:tr h="305170">
                <a:tc>
                  <a:txBody>
                    <a:bodyPr/>
                    <a:lstStyle/>
                    <a:p>
                      <a:pPr lvl="0">
                        <a:buNone/>
                      </a:pPr>
                      <a:r>
                        <a:rPr lang="en-US"/>
                        <a:t>3</a:t>
                      </a:r>
                    </a:p>
                  </a:txBody>
                  <a:tcPr/>
                </a:tc>
                <a:tc>
                  <a:txBody>
                    <a:bodyPr/>
                    <a:lstStyle/>
                    <a:p>
                      <a:pPr lvl="0">
                        <a:buNone/>
                      </a:pPr>
                      <a:r>
                        <a:rPr lang="en-US" b="0" u="none"/>
                        <a:t>Water skiing in Seychelles</a:t>
                      </a:r>
                      <a:endParaRPr lang="en-US" b="1" u="sng"/>
                    </a:p>
                  </a:txBody>
                  <a:tcPr/>
                </a:tc>
                <a:extLst>
                  <a:ext uri="{0D108BD9-81ED-4DB2-BD59-A6C34878D82A}">
                    <a16:rowId xmlns:a16="http://schemas.microsoft.com/office/drawing/2014/main" val="605482149"/>
                  </a:ext>
                </a:extLst>
              </a:tr>
            </a:tbl>
          </a:graphicData>
        </a:graphic>
      </p:graphicFrame>
      <p:graphicFrame>
        <p:nvGraphicFramePr>
          <p:cNvPr id="14" name="Table 13">
            <a:extLst>
              <a:ext uri="{FF2B5EF4-FFF2-40B4-BE49-F238E27FC236}">
                <a16:creationId xmlns:a16="http://schemas.microsoft.com/office/drawing/2014/main" id="{4AFB2F8F-1FCA-E01B-94C2-895BE90D0202}"/>
              </a:ext>
            </a:extLst>
          </p:cNvPr>
          <p:cNvGraphicFramePr>
            <a:graphicFrameLocks noGrp="1"/>
          </p:cNvGraphicFramePr>
          <p:nvPr>
            <p:extLst>
              <p:ext uri="{D42A27DB-BD31-4B8C-83A1-F6EECF244321}">
                <p14:modId xmlns:p14="http://schemas.microsoft.com/office/powerpoint/2010/main" val="1308212886"/>
              </p:ext>
            </p:extLst>
          </p:nvPr>
        </p:nvGraphicFramePr>
        <p:xfrm>
          <a:off x="9473484" y="3975739"/>
          <a:ext cx="2491124" cy="1280160"/>
        </p:xfrm>
        <a:graphic>
          <a:graphicData uri="http://schemas.openxmlformats.org/drawingml/2006/table">
            <a:tbl>
              <a:tblPr bandRow="1">
                <a:tableStyleId>{5C22544A-7EE6-4342-B048-85BDC9FD1C3A}</a:tableStyleId>
              </a:tblPr>
              <a:tblGrid>
                <a:gridCol w="394207">
                  <a:extLst>
                    <a:ext uri="{9D8B030D-6E8A-4147-A177-3AD203B41FA5}">
                      <a16:colId xmlns:a16="http://schemas.microsoft.com/office/drawing/2014/main" val="461969700"/>
                    </a:ext>
                  </a:extLst>
                </a:gridCol>
                <a:gridCol w="2096917">
                  <a:extLst>
                    <a:ext uri="{9D8B030D-6E8A-4147-A177-3AD203B41FA5}">
                      <a16:colId xmlns:a16="http://schemas.microsoft.com/office/drawing/2014/main" val="1482892922"/>
                    </a:ext>
                  </a:extLst>
                </a:gridCol>
              </a:tblGrid>
              <a:tr h="305171">
                <a:tc>
                  <a:txBody>
                    <a:bodyPr/>
                    <a:lstStyle/>
                    <a:p>
                      <a:r>
                        <a:rPr lang="en-US"/>
                        <a:t>1</a:t>
                      </a:r>
                    </a:p>
                  </a:txBody>
                  <a:tcPr/>
                </a:tc>
                <a:tc>
                  <a:txBody>
                    <a:bodyPr/>
                    <a:lstStyle/>
                    <a:p>
                      <a:r>
                        <a:rPr lang="en-US"/>
                        <a:t>Scuba Diving in Bahamas</a:t>
                      </a:r>
                      <a:endParaRPr lang="en-US" b="1" u="sng"/>
                    </a:p>
                  </a:txBody>
                  <a:tcPr/>
                </a:tc>
                <a:extLst>
                  <a:ext uri="{0D108BD9-81ED-4DB2-BD59-A6C34878D82A}">
                    <a16:rowId xmlns:a16="http://schemas.microsoft.com/office/drawing/2014/main" val="4216800493"/>
                  </a:ext>
                </a:extLst>
              </a:tr>
              <a:tr h="305170">
                <a:tc>
                  <a:txBody>
                    <a:bodyPr/>
                    <a:lstStyle/>
                    <a:p>
                      <a:pPr lvl="0">
                        <a:buNone/>
                      </a:pPr>
                      <a:r>
                        <a:rPr lang="en-US"/>
                        <a:t>2</a:t>
                      </a:r>
                    </a:p>
                  </a:txBody>
                  <a:tcPr/>
                </a:tc>
                <a:tc>
                  <a:txBody>
                    <a:bodyPr/>
                    <a:lstStyle/>
                    <a:p>
                      <a:pPr lvl="0">
                        <a:buNone/>
                      </a:pPr>
                      <a:r>
                        <a:rPr lang="en-US" sz="1800" b="0" i="0" u="none" strike="noStrike" noProof="0">
                          <a:solidFill>
                            <a:srgbClr val="000000"/>
                          </a:solidFill>
                          <a:latin typeface="Segoe UI"/>
                        </a:rPr>
                        <a:t>Scuba Diving in the Carribean</a:t>
                      </a:r>
                      <a:endParaRPr lang="en-US"/>
                    </a:p>
                  </a:txBody>
                  <a:tcPr/>
                </a:tc>
                <a:extLst>
                  <a:ext uri="{0D108BD9-81ED-4DB2-BD59-A6C34878D82A}">
                    <a16:rowId xmlns:a16="http://schemas.microsoft.com/office/drawing/2014/main" val="1956623344"/>
                  </a:ext>
                </a:extLst>
              </a:tr>
            </a:tbl>
          </a:graphicData>
        </a:graphic>
      </p:graphicFrame>
      <mc:AlternateContent xmlns:mc="http://schemas.openxmlformats.org/markup-compatibility/2006" xmlns:p14="http://schemas.microsoft.com/office/powerpoint/2010/main">
        <mc:Choice Requires="p14">
          <p:contentPart p14:bwMode="auto" r:id="rId5">
            <p14:nvContentPartPr>
              <p14:cNvPr id="21" name="Ink 20">
                <a:extLst>
                  <a:ext uri="{FF2B5EF4-FFF2-40B4-BE49-F238E27FC236}">
                    <a16:creationId xmlns:a16="http://schemas.microsoft.com/office/drawing/2014/main" id="{5D8B67D6-6824-A5B9-6CEC-EFDC0B9D4E2C}"/>
                  </a:ext>
                </a:extLst>
              </p14:cNvPr>
              <p14:cNvContentPartPr/>
              <p14:nvPr/>
            </p14:nvContentPartPr>
            <p14:xfrm>
              <a:off x="3757768" y="-357298"/>
              <a:ext cx="11373" cy="11373"/>
            </p14:xfrm>
          </p:contentPart>
        </mc:Choice>
        <mc:Fallback xmlns="">
          <p:pic>
            <p:nvPicPr>
              <p:cNvPr id="21" name="Ink 20">
                <a:extLst>
                  <a:ext uri="{FF2B5EF4-FFF2-40B4-BE49-F238E27FC236}">
                    <a16:creationId xmlns:a16="http://schemas.microsoft.com/office/drawing/2014/main" id="{5D8B67D6-6824-A5B9-6CEC-EFDC0B9D4E2C}"/>
                  </a:ext>
                </a:extLst>
              </p:cNvPr>
              <p:cNvPicPr/>
              <p:nvPr/>
            </p:nvPicPr>
            <p:blipFill>
              <a:blip r:embed="rId6"/>
              <a:stretch>
                <a:fillRect/>
              </a:stretch>
            </p:blipFill>
            <p:spPr>
              <a:xfrm>
                <a:off x="3189118" y="-925948"/>
                <a:ext cx="1137300" cy="1137300"/>
              </a:xfrm>
              <a:prstGeom prst="rect">
                <a:avLst/>
              </a:prstGeom>
            </p:spPr>
          </p:pic>
        </mc:Fallback>
      </mc:AlternateContent>
      <p:sp>
        <p:nvSpPr>
          <p:cNvPr id="25" name="TextBox 24">
            <a:extLst>
              <a:ext uri="{FF2B5EF4-FFF2-40B4-BE49-F238E27FC236}">
                <a16:creationId xmlns:a16="http://schemas.microsoft.com/office/drawing/2014/main" id="{F8759295-025E-3D72-7FC2-40D7AD877BB0}"/>
              </a:ext>
            </a:extLst>
          </p:cNvPr>
          <p:cNvSpPr txBox="1"/>
          <p:nvPr/>
        </p:nvSpPr>
        <p:spPr>
          <a:xfrm>
            <a:off x="588457" y="1266456"/>
            <a:ext cx="10588833"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cs typeface="Segoe UI"/>
              </a:rPr>
              <a:t>Question: "What underwater activities can I do in the Bahamas?"</a:t>
            </a:r>
          </a:p>
        </p:txBody>
      </p:sp>
      <p:cxnSp>
        <p:nvCxnSpPr>
          <p:cNvPr id="20" name="Connector: Curved 19">
            <a:extLst>
              <a:ext uri="{FF2B5EF4-FFF2-40B4-BE49-F238E27FC236}">
                <a16:creationId xmlns:a16="http://schemas.microsoft.com/office/drawing/2014/main" id="{51BFDBA1-C6D1-62EC-74A0-9FEE35745678}"/>
              </a:ext>
            </a:extLst>
          </p:cNvPr>
          <p:cNvCxnSpPr>
            <a:cxnSpLocks/>
          </p:cNvCxnSpPr>
          <p:nvPr/>
        </p:nvCxnSpPr>
        <p:spPr>
          <a:xfrm flipV="1">
            <a:off x="4239684" y="4238590"/>
            <a:ext cx="1698842" cy="1086151"/>
          </a:xfrm>
          <a:prstGeom prst="curvedConnector3">
            <a:avLst/>
          </a:prstGeom>
          <a:ln w="57150">
            <a:solidFill>
              <a:schemeClr val="accent1"/>
            </a:solidFill>
            <a:prstDash val="solid"/>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22">
            <a:extLst>
              <a:ext uri="{FF2B5EF4-FFF2-40B4-BE49-F238E27FC236}">
                <a16:creationId xmlns:a16="http://schemas.microsoft.com/office/drawing/2014/main" id="{EAE1FC49-5100-C700-A4CC-2787523335F9}"/>
              </a:ext>
            </a:extLst>
          </p:cNvPr>
          <p:cNvCxnSpPr>
            <a:cxnSpLocks/>
            <a:stCxn id="3" idx="3"/>
            <a:endCxn id="13" idx="1"/>
          </p:cNvCxnSpPr>
          <p:nvPr/>
        </p:nvCxnSpPr>
        <p:spPr>
          <a:xfrm>
            <a:off x="4244675" y="3151708"/>
            <a:ext cx="1689985" cy="1709155"/>
          </a:xfrm>
          <a:prstGeom prst="curvedConnector3">
            <a:avLst>
              <a:gd name="adj1" fmla="val 50000"/>
            </a:avLst>
          </a:prstGeom>
          <a:ln w="57150">
            <a:solidFill>
              <a:schemeClr val="accent2"/>
            </a:solidFill>
            <a:prstDash val="solid"/>
            <a:headEnd type="none" w="lg" len="med"/>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cxnSp>
        <p:nvCxnSpPr>
          <p:cNvPr id="24" name="Connector: Curved 23">
            <a:extLst>
              <a:ext uri="{FF2B5EF4-FFF2-40B4-BE49-F238E27FC236}">
                <a16:creationId xmlns:a16="http://schemas.microsoft.com/office/drawing/2014/main" id="{A2CAC83C-DE2E-1749-A429-32400A285F24}"/>
              </a:ext>
            </a:extLst>
          </p:cNvPr>
          <p:cNvCxnSpPr>
            <a:cxnSpLocks/>
          </p:cNvCxnSpPr>
          <p:nvPr/>
        </p:nvCxnSpPr>
        <p:spPr>
          <a:xfrm flipV="1">
            <a:off x="4239684" y="5462124"/>
            <a:ext cx="1694976" cy="539000"/>
          </a:xfrm>
          <a:prstGeom prst="curvedConnector3">
            <a:avLst/>
          </a:prstGeom>
          <a:ln w="57150">
            <a:solidFill>
              <a:srgbClr val="C03BC4"/>
            </a:solidFill>
            <a:prstDash val="solid"/>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9" name="Connector: Curved 22">
            <a:extLst>
              <a:ext uri="{FF2B5EF4-FFF2-40B4-BE49-F238E27FC236}">
                <a16:creationId xmlns:a16="http://schemas.microsoft.com/office/drawing/2014/main" id="{91314671-B9A4-6864-4191-E5B247A627DB}"/>
              </a:ext>
            </a:extLst>
          </p:cNvPr>
          <p:cNvCxnSpPr>
            <a:cxnSpLocks/>
            <a:stCxn id="13" idx="3"/>
          </p:cNvCxnSpPr>
          <p:nvPr/>
        </p:nvCxnSpPr>
        <p:spPr>
          <a:xfrm flipV="1">
            <a:off x="8376890" y="4304963"/>
            <a:ext cx="1096593" cy="555900"/>
          </a:xfrm>
          <a:prstGeom prst="curvedConnector3">
            <a:avLst/>
          </a:prstGeom>
          <a:ln w="57150">
            <a:solidFill>
              <a:schemeClr val="accent2"/>
            </a:solidFill>
            <a:prstDash val="solid"/>
            <a:headEnd type="none" w="lg" len="med"/>
            <a:tailEnd type="triangle"/>
          </a:ln>
          <a:effectLst>
            <a:glow rad="12700">
              <a:schemeClr val="bg1"/>
            </a:glow>
          </a:effectLst>
        </p:spPr>
        <p:style>
          <a:lnRef idx="1">
            <a:schemeClr val="accent1"/>
          </a:lnRef>
          <a:fillRef idx="0">
            <a:schemeClr val="accent1"/>
          </a:fillRef>
          <a:effectRef idx="0">
            <a:schemeClr val="accent1"/>
          </a:effectRef>
          <a:fontRef idx="minor">
            <a:schemeClr val="tx1"/>
          </a:fontRef>
        </p:style>
      </p:cxnSp>
      <p:cxnSp>
        <p:nvCxnSpPr>
          <p:cNvPr id="22" name="Connector: Curved 19">
            <a:extLst>
              <a:ext uri="{FF2B5EF4-FFF2-40B4-BE49-F238E27FC236}">
                <a16:creationId xmlns:a16="http://schemas.microsoft.com/office/drawing/2014/main" id="{1F3A853C-C0D6-1B2A-58A5-764FE89B6E08}"/>
              </a:ext>
            </a:extLst>
          </p:cNvPr>
          <p:cNvCxnSpPr>
            <a:cxnSpLocks/>
          </p:cNvCxnSpPr>
          <p:nvPr/>
        </p:nvCxnSpPr>
        <p:spPr>
          <a:xfrm>
            <a:off x="8373024" y="4195377"/>
            <a:ext cx="1100459" cy="784908"/>
          </a:xfrm>
          <a:prstGeom prst="curvedConnector3">
            <a:avLst/>
          </a:prstGeom>
          <a:ln w="57150">
            <a:solidFill>
              <a:schemeClr val="accent1"/>
            </a:solidFill>
            <a:prstDash val="solid"/>
            <a:headEnd type="none" w="lg" len="med"/>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65F9E9B9-AC3D-DC7B-31E0-91467542D078}"/>
              </a:ext>
            </a:extLst>
          </p:cNvPr>
          <p:cNvGrpSpPr/>
          <p:nvPr/>
        </p:nvGrpSpPr>
        <p:grpSpPr>
          <a:xfrm>
            <a:off x="429104" y="1781985"/>
            <a:ext cx="3507817" cy="3198300"/>
            <a:chOff x="429104" y="1781985"/>
            <a:chExt cx="3507817" cy="3198300"/>
          </a:xfrm>
        </p:grpSpPr>
        <p:sp>
          <p:nvSpPr>
            <p:cNvPr id="15" name="Flowchart: Magnetic Disk 4">
              <a:extLst>
                <a:ext uri="{FF2B5EF4-FFF2-40B4-BE49-F238E27FC236}">
                  <a16:creationId xmlns:a16="http://schemas.microsoft.com/office/drawing/2014/main" id="{828D8AD5-B105-96D3-1579-AE9C801DFF25}"/>
                </a:ext>
                <a:ext uri="{C183D7F6-B498-43B3-948B-1728B52AA6E4}">
                  <adec:decorative xmlns:adec="http://schemas.microsoft.com/office/drawing/2017/decorative" val="1"/>
                </a:ext>
              </a:extLst>
            </p:cNvPr>
            <p:cNvSpPr/>
            <p:nvPr/>
          </p:nvSpPr>
          <p:spPr>
            <a:xfrm>
              <a:off x="1888665" y="4056402"/>
              <a:ext cx="2048256" cy="923883"/>
            </a:xfrm>
            <a:prstGeom prst="flowChartMagneticDisk">
              <a:avLst/>
            </a:prstGeom>
            <a:gradFill>
              <a:gsLst>
                <a:gs pos="32000">
                  <a:srgbClr val="C03BC4"/>
                </a:gs>
                <a:gs pos="100000">
                  <a:srgbClr val="399A91"/>
                </a:gs>
                <a:gs pos="68000">
                  <a:srgbClr val="0078D4"/>
                </a:gs>
                <a:gs pos="0">
                  <a:srgbClr val="FF5C39"/>
                </a:gs>
              </a:gsLst>
              <a:path path="circle">
                <a:fillToRect l="100000" t="100000"/>
              </a:path>
            </a:gradFill>
            <a:ln w="25400">
              <a:solidFill>
                <a:schemeClr val="bg1"/>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a:t>Vector results</a:t>
              </a:r>
            </a:p>
          </p:txBody>
        </p:sp>
        <p:sp>
          <p:nvSpPr>
            <p:cNvPr id="17" name="Flowchart: Magnetic Disk 5">
              <a:extLst>
                <a:ext uri="{FF2B5EF4-FFF2-40B4-BE49-F238E27FC236}">
                  <a16:creationId xmlns:a16="http://schemas.microsoft.com/office/drawing/2014/main" id="{B85E29AB-1C94-26FA-A31F-21DDA255C770}"/>
                </a:ext>
                <a:ext uri="{C183D7F6-B498-43B3-948B-1728B52AA6E4}">
                  <adec:decorative xmlns:adec="http://schemas.microsoft.com/office/drawing/2017/decorative" val="1"/>
                </a:ext>
              </a:extLst>
            </p:cNvPr>
            <p:cNvSpPr/>
            <p:nvPr/>
          </p:nvSpPr>
          <p:spPr>
            <a:xfrm>
              <a:off x="1880573" y="1781985"/>
              <a:ext cx="2048256" cy="923883"/>
            </a:xfrm>
            <a:prstGeom prst="flowChartMagneticDisk">
              <a:avLst/>
            </a:prstGeom>
            <a:gradFill>
              <a:gsLst>
                <a:gs pos="32000">
                  <a:srgbClr val="C03BC4"/>
                </a:gs>
                <a:gs pos="100000">
                  <a:srgbClr val="399A91"/>
                </a:gs>
                <a:gs pos="68000">
                  <a:srgbClr val="0078D4"/>
                </a:gs>
                <a:gs pos="0">
                  <a:srgbClr val="FF5C39"/>
                </a:gs>
              </a:gsLst>
              <a:path path="circle">
                <a:fillToRect l="100000" t="100000"/>
              </a:path>
            </a:gradFill>
            <a:ln w="25400">
              <a:solidFill>
                <a:schemeClr val="bg1"/>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a:t>Keyword results</a:t>
              </a:r>
            </a:p>
          </p:txBody>
        </p:sp>
        <p:cxnSp>
          <p:nvCxnSpPr>
            <p:cNvPr id="7" name="Connector: Elbow 6">
              <a:extLst>
                <a:ext uri="{FF2B5EF4-FFF2-40B4-BE49-F238E27FC236}">
                  <a16:creationId xmlns:a16="http://schemas.microsoft.com/office/drawing/2014/main" id="{DA4E2305-AA02-36D7-D5AA-8F232527E339}"/>
                </a:ext>
              </a:extLst>
            </p:cNvPr>
            <p:cNvCxnSpPr>
              <a:cxnSpLocks/>
              <a:endCxn id="17" idx="2"/>
            </p:cNvCxnSpPr>
            <p:nvPr/>
          </p:nvCxnSpPr>
          <p:spPr>
            <a:xfrm rot="5400000" flipH="1" flipV="1">
              <a:off x="1064529" y="2266103"/>
              <a:ext cx="838220" cy="793868"/>
            </a:xfrm>
            <a:prstGeom prst="bentConnector2">
              <a:avLst/>
            </a:prstGeom>
            <a:ln w="12700" cap="rnd">
              <a:solidFill>
                <a:srgbClr val="BFBFBF"/>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E528F9E3-2BDF-6884-514D-D1346D9B49FF}"/>
                </a:ext>
              </a:extLst>
            </p:cNvPr>
            <p:cNvCxnSpPr>
              <a:cxnSpLocks/>
              <a:endCxn id="15" idx="2"/>
            </p:cNvCxnSpPr>
            <p:nvPr/>
          </p:nvCxnSpPr>
          <p:spPr>
            <a:xfrm rot="16200000" flipH="1">
              <a:off x="1023647" y="3653326"/>
              <a:ext cx="974256" cy="755780"/>
            </a:xfrm>
            <a:prstGeom prst="bentConnector2">
              <a:avLst/>
            </a:prstGeom>
            <a:ln w="12700" cap="rnd">
              <a:solidFill>
                <a:srgbClr val="BFBFBF"/>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pic>
          <p:nvPicPr>
            <p:cNvPr id="16" name="Graphic 15" descr="Badge Question Mark with solid fill">
              <a:extLst>
                <a:ext uri="{FF2B5EF4-FFF2-40B4-BE49-F238E27FC236}">
                  <a16:creationId xmlns:a16="http://schemas.microsoft.com/office/drawing/2014/main" id="{FB91C214-6BB8-98DE-ED02-652EE48B9BC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9104" y="2922203"/>
              <a:ext cx="914400" cy="914400"/>
            </a:xfrm>
            <a:prstGeom prst="rect">
              <a:avLst/>
            </a:prstGeom>
          </p:spPr>
        </p:pic>
      </p:grpSp>
    </p:spTree>
    <p:extLst>
      <p:ext uri="{BB962C8B-B14F-4D97-AF65-F5344CB8AC3E}">
        <p14:creationId xmlns:p14="http://schemas.microsoft.com/office/powerpoint/2010/main" val="7446655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974F4E3-1F1E-C71E-1959-65B12773495F}"/>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B573B542-5109-0288-886F-659543420755}"/>
              </a:ext>
            </a:extLst>
          </p:cNvPr>
          <p:cNvSpPr>
            <a:spLocks noGrp="1"/>
          </p:cNvSpPr>
          <p:nvPr>
            <p:ph type="title"/>
          </p:nvPr>
        </p:nvSpPr>
        <p:spPr/>
        <p:txBody>
          <a:bodyPr/>
          <a:lstStyle/>
          <a:p>
            <a:r>
              <a:rPr lang="en-US"/>
              <a:t>Avoiding noise: Using minimum score thresholds</a:t>
            </a:r>
          </a:p>
        </p:txBody>
      </p:sp>
      <p:sp>
        <p:nvSpPr>
          <p:cNvPr id="22" name="Text Placeholder 4">
            <a:extLst>
              <a:ext uri="{FF2B5EF4-FFF2-40B4-BE49-F238E27FC236}">
                <a16:creationId xmlns:a16="http://schemas.microsoft.com/office/drawing/2014/main" id="{9C08938B-F842-47CB-E443-8DEA90BF09EC}"/>
              </a:ext>
            </a:extLst>
          </p:cNvPr>
          <p:cNvSpPr txBox="1">
            <a:spLocks/>
          </p:cNvSpPr>
          <p:nvPr/>
        </p:nvSpPr>
        <p:spPr>
          <a:xfrm>
            <a:off x="588263" y="1019905"/>
            <a:ext cx="9833045" cy="553998"/>
          </a:xfrm>
          <a:prstGeom prst="rect">
            <a:avLst/>
          </a:prstGeom>
          <a:noFill/>
        </p:spPr>
        <p:txBody>
          <a:bodyPr lIns="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112" lvl="1" indent="0">
              <a:spcBef>
                <a:spcPts val="0"/>
              </a:spcBef>
              <a:spcAft>
                <a:spcPts val="1200"/>
              </a:spcAft>
              <a:buNone/>
            </a:pPr>
            <a:r>
              <a:rPr lang="en-US" sz="2800">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latin typeface="+mj-lt"/>
                <a:cs typeface="Segoe UI" pitchFamily="34" charset="0"/>
              </a:rPr>
              <a:t>Semantic ranker scores range from 0-4: </a:t>
            </a:r>
          </a:p>
        </p:txBody>
      </p:sp>
      <p:cxnSp>
        <p:nvCxnSpPr>
          <p:cNvPr id="6" name="Straight Connector 5">
            <a:extLst>
              <a:ext uri="{FF2B5EF4-FFF2-40B4-BE49-F238E27FC236}">
                <a16:creationId xmlns:a16="http://schemas.microsoft.com/office/drawing/2014/main" id="{89E4F24F-390D-15C3-A085-17CD71E74C0E}"/>
              </a:ext>
              <a:ext uri="{C183D7F6-B498-43B3-948B-1728B52AA6E4}">
                <adec:decorative xmlns:adec="http://schemas.microsoft.com/office/drawing/2017/decorative" val="1"/>
              </a:ext>
            </a:extLst>
          </p:cNvPr>
          <p:cNvCxnSpPr>
            <a:cxnSpLocks/>
          </p:cNvCxnSpPr>
          <p:nvPr/>
        </p:nvCxnSpPr>
        <p:spPr>
          <a:xfrm>
            <a:off x="586740" y="2197628"/>
            <a:ext cx="11018520" cy="0"/>
          </a:xfrm>
          <a:prstGeom prst="line">
            <a:avLst/>
          </a:prstGeom>
          <a:solidFill>
            <a:schemeClr val="bg1"/>
          </a:solidFill>
          <a:ln w="12700" cap="rnd">
            <a:solidFill>
              <a:srgbClr val="D9D9D6"/>
            </a:solidFill>
            <a:headEnd type="oval" w="lg" len="lg"/>
            <a:tailEnd type="oval" w="lg" len="lg"/>
          </a:ln>
          <a:effectLst/>
        </p:spPr>
        <p:style>
          <a:lnRef idx="1">
            <a:schemeClr val="accent2"/>
          </a:lnRef>
          <a:fillRef idx="3">
            <a:schemeClr val="accent2"/>
          </a:fillRef>
          <a:effectRef idx="2">
            <a:schemeClr val="accent2"/>
          </a:effectRef>
          <a:fontRef idx="minor">
            <a:schemeClr val="lt1"/>
          </a:fontRef>
        </p:style>
      </p:cxnSp>
      <p:cxnSp>
        <p:nvCxnSpPr>
          <p:cNvPr id="14" name="Straight Connector 13">
            <a:extLst>
              <a:ext uri="{FF2B5EF4-FFF2-40B4-BE49-F238E27FC236}">
                <a16:creationId xmlns:a16="http://schemas.microsoft.com/office/drawing/2014/main" id="{E8EC5A5E-0B25-C7DF-1317-CC7EDAFB8C75}"/>
              </a:ext>
              <a:ext uri="{C183D7F6-B498-43B3-948B-1728B52AA6E4}">
                <adec:decorative xmlns:adec="http://schemas.microsoft.com/office/drawing/2017/decorative" val="1"/>
              </a:ext>
            </a:extLst>
          </p:cNvPr>
          <p:cNvCxnSpPr>
            <a:cxnSpLocks/>
          </p:cNvCxnSpPr>
          <p:nvPr/>
        </p:nvCxnSpPr>
        <p:spPr>
          <a:xfrm>
            <a:off x="1488027" y="2197628"/>
            <a:ext cx="0" cy="216038"/>
          </a:xfrm>
          <a:prstGeom prst="line">
            <a:avLst/>
          </a:prstGeom>
          <a:solidFill>
            <a:schemeClr val="bg1"/>
          </a:solidFill>
          <a:ln w="12700" cap="rnd">
            <a:solidFill>
              <a:srgbClr val="D9D9D6"/>
            </a:solidFill>
            <a:headEnd type="none" w="lg" len="lg"/>
            <a:tailEnd type="none" w="lg" len="lg"/>
          </a:ln>
          <a:effectLst/>
        </p:spPr>
        <p:style>
          <a:lnRef idx="1">
            <a:schemeClr val="accent2"/>
          </a:lnRef>
          <a:fillRef idx="3">
            <a:schemeClr val="accent2"/>
          </a:fillRef>
          <a:effectRef idx="2">
            <a:schemeClr val="accent2"/>
          </a:effectRef>
          <a:fontRef idx="minor">
            <a:schemeClr val="lt1"/>
          </a:fontRef>
        </p:style>
      </p:cxnSp>
      <p:cxnSp>
        <p:nvCxnSpPr>
          <p:cNvPr id="16" name="Straight Connector 15">
            <a:extLst>
              <a:ext uri="{FF2B5EF4-FFF2-40B4-BE49-F238E27FC236}">
                <a16:creationId xmlns:a16="http://schemas.microsoft.com/office/drawing/2014/main" id="{0A3A52EE-9BD3-4E06-286D-360266D5D9A4}"/>
              </a:ext>
              <a:ext uri="{C183D7F6-B498-43B3-948B-1728B52AA6E4}">
                <adec:decorative xmlns:adec="http://schemas.microsoft.com/office/drawing/2017/decorative" val="1"/>
              </a:ext>
            </a:extLst>
          </p:cNvPr>
          <p:cNvCxnSpPr>
            <a:cxnSpLocks/>
          </p:cNvCxnSpPr>
          <p:nvPr/>
        </p:nvCxnSpPr>
        <p:spPr>
          <a:xfrm>
            <a:off x="3780500" y="2197628"/>
            <a:ext cx="0" cy="216038"/>
          </a:xfrm>
          <a:prstGeom prst="line">
            <a:avLst/>
          </a:prstGeom>
          <a:solidFill>
            <a:schemeClr val="bg1"/>
          </a:solidFill>
          <a:ln w="12700" cap="rnd">
            <a:solidFill>
              <a:srgbClr val="D9D9D6"/>
            </a:solidFill>
            <a:headEnd type="none" w="lg" len="lg"/>
            <a:tailEnd type="none" w="lg" len="lg"/>
          </a:ln>
          <a:effectLst/>
        </p:spPr>
        <p:style>
          <a:lnRef idx="1">
            <a:schemeClr val="accent2"/>
          </a:lnRef>
          <a:fillRef idx="3">
            <a:schemeClr val="accent2"/>
          </a:fillRef>
          <a:effectRef idx="2">
            <a:schemeClr val="accent2"/>
          </a:effectRef>
          <a:fontRef idx="minor">
            <a:schemeClr val="lt1"/>
          </a:fontRef>
        </p:style>
      </p:cxnSp>
      <p:cxnSp>
        <p:nvCxnSpPr>
          <p:cNvPr id="17" name="Straight Connector 16">
            <a:extLst>
              <a:ext uri="{FF2B5EF4-FFF2-40B4-BE49-F238E27FC236}">
                <a16:creationId xmlns:a16="http://schemas.microsoft.com/office/drawing/2014/main" id="{03F246EE-F7FE-D289-E508-15B3FDAD632C}"/>
              </a:ext>
              <a:ext uri="{C183D7F6-B498-43B3-948B-1728B52AA6E4}">
                <adec:decorative xmlns:adec="http://schemas.microsoft.com/office/drawing/2017/decorative" val="1"/>
              </a:ext>
            </a:extLst>
          </p:cNvPr>
          <p:cNvCxnSpPr>
            <a:cxnSpLocks/>
          </p:cNvCxnSpPr>
          <p:nvPr/>
        </p:nvCxnSpPr>
        <p:spPr>
          <a:xfrm>
            <a:off x="6081296" y="2197628"/>
            <a:ext cx="0" cy="216038"/>
          </a:xfrm>
          <a:prstGeom prst="line">
            <a:avLst/>
          </a:prstGeom>
          <a:solidFill>
            <a:schemeClr val="bg1"/>
          </a:solidFill>
          <a:ln w="12700" cap="rnd">
            <a:solidFill>
              <a:srgbClr val="D9D9D6"/>
            </a:solidFill>
            <a:headEnd type="none" w="lg" len="lg"/>
            <a:tailEnd type="none" w="lg" len="lg"/>
          </a:ln>
          <a:effectLst/>
        </p:spPr>
        <p:style>
          <a:lnRef idx="1">
            <a:schemeClr val="accent2"/>
          </a:lnRef>
          <a:fillRef idx="3">
            <a:schemeClr val="accent2"/>
          </a:fillRef>
          <a:effectRef idx="2">
            <a:schemeClr val="accent2"/>
          </a:effectRef>
          <a:fontRef idx="minor">
            <a:schemeClr val="lt1"/>
          </a:fontRef>
        </p:style>
      </p:cxnSp>
      <p:cxnSp>
        <p:nvCxnSpPr>
          <p:cNvPr id="18" name="Straight Connector 17">
            <a:extLst>
              <a:ext uri="{FF2B5EF4-FFF2-40B4-BE49-F238E27FC236}">
                <a16:creationId xmlns:a16="http://schemas.microsoft.com/office/drawing/2014/main" id="{6CB2F792-E155-8EE9-0FE6-46A5F5DB4562}"/>
              </a:ext>
              <a:ext uri="{C183D7F6-B498-43B3-948B-1728B52AA6E4}">
                <adec:decorative xmlns:adec="http://schemas.microsoft.com/office/drawing/2017/decorative" val="1"/>
              </a:ext>
            </a:extLst>
          </p:cNvPr>
          <p:cNvCxnSpPr>
            <a:cxnSpLocks/>
          </p:cNvCxnSpPr>
          <p:nvPr/>
        </p:nvCxnSpPr>
        <p:spPr>
          <a:xfrm>
            <a:off x="8319948" y="2197628"/>
            <a:ext cx="0" cy="216038"/>
          </a:xfrm>
          <a:prstGeom prst="line">
            <a:avLst/>
          </a:prstGeom>
          <a:solidFill>
            <a:schemeClr val="bg1"/>
          </a:solidFill>
          <a:ln w="12700" cap="rnd">
            <a:solidFill>
              <a:srgbClr val="D9D9D6"/>
            </a:solidFill>
            <a:headEnd type="none" w="lg" len="lg"/>
            <a:tailEnd type="none" w="lg" len="lg"/>
          </a:ln>
          <a:effectLst/>
        </p:spPr>
        <p:style>
          <a:lnRef idx="1">
            <a:schemeClr val="accent2"/>
          </a:lnRef>
          <a:fillRef idx="3">
            <a:schemeClr val="accent2"/>
          </a:fillRef>
          <a:effectRef idx="2">
            <a:schemeClr val="accent2"/>
          </a:effectRef>
          <a:fontRef idx="minor">
            <a:schemeClr val="lt1"/>
          </a:fontRef>
        </p:style>
      </p:cxnSp>
      <p:cxnSp>
        <p:nvCxnSpPr>
          <p:cNvPr id="19" name="Straight Connector 18">
            <a:extLst>
              <a:ext uri="{FF2B5EF4-FFF2-40B4-BE49-F238E27FC236}">
                <a16:creationId xmlns:a16="http://schemas.microsoft.com/office/drawing/2014/main" id="{3101740E-C884-1367-33D0-C2E0DE2E5580}"/>
              </a:ext>
              <a:ext uri="{C183D7F6-B498-43B3-948B-1728B52AA6E4}">
                <adec:decorative xmlns:adec="http://schemas.microsoft.com/office/drawing/2017/decorative" val="1"/>
              </a:ext>
            </a:extLst>
          </p:cNvPr>
          <p:cNvCxnSpPr>
            <a:cxnSpLocks/>
          </p:cNvCxnSpPr>
          <p:nvPr/>
        </p:nvCxnSpPr>
        <p:spPr>
          <a:xfrm>
            <a:off x="10703973" y="2197628"/>
            <a:ext cx="0" cy="216038"/>
          </a:xfrm>
          <a:prstGeom prst="line">
            <a:avLst/>
          </a:prstGeom>
          <a:solidFill>
            <a:schemeClr val="bg1"/>
          </a:solidFill>
          <a:ln w="12700" cap="rnd">
            <a:solidFill>
              <a:srgbClr val="D9D9D6"/>
            </a:solidFill>
            <a:headEnd type="none" w="lg" len="lg"/>
            <a:tailEnd type="none" w="lg" len="lg"/>
          </a:ln>
          <a:effectLst/>
        </p:spPr>
        <p:style>
          <a:lnRef idx="1">
            <a:schemeClr val="accent2"/>
          </a:lnRef>
          <a:fillRef idx="3">
            <a:schemeClr val="accent2"/>
          </a:fillRef>
          <a:effectRef idx="2">
            <a:schemeClr val="accent2"/>
          </a:effectRef>
          <a:fontRef idx="minor">
            <a:schemeClr val="lt1"/>
          </a:fontRef>
        </p:style>
      </p:cxnSp>
      <p:sp>
        <p:nvSpPr>
          <p:cNvPr id="8" name="TextBox 7">
            <a:extLst>
              <a:ext uri="{FF2B5EF4-FFF2-40B4-BE49-F238E27FC236}">
                <a16:creationId xmlns:a16="http://schemas.microsoft.com/office/drawing/2014/main" id="{C8E9F4D6-ED27-152B-CD1D-5C15CDAD1A88}"/>
              </a:ext>
            </a:extLst>
          </p:cNvPr>
          <p:cNvSpPr txBox="1"/>
          <p:nvPr/>
        </p:nvSpPr>
        <p:spPr>
          <a:xfrm>
            <a:off x="1249810" y="2542258"/>
            <a:ext cx="472736" cy="400110"/>
          </a:xfrm>
          <a:prstGeom prst="rect">
            <a:avLst/>
          </a:prstGeom>
          <a:noFill/>
        </p:spPr>
        <p:txBody>
          <a:bodyPr wrap="square">
            <a:spAutoFit/>
          </a:bodyPr>
          <a:lstStyle/>
          <a:p>
            <a:pPr algn="ctr"/>
            <a:r>
              <a:rPr lang="en-US" sz="2000">
                <a:solidFill>
                  <a:schemeClr val="tx1"/>
                </a:solidFill>
                <a:latin typeface="+mj-lt"/>
              </a:rPr>
              <a:t>0</a:t>
            </a:r>
          </a:p>
        </p:txBody>
      </p:sp>
      <p:sp>
        <p:nvSpPr>
          <p:cNvPr id="20" name="TextBox 19">
            <a:extLst>
              <a:ext uri="{FF2B5EF4-FFF2-40B4-BE49-F238E27FC236}">
                <a16:creationId xmlns:a16="http://schemas.microsoft.com/office/drawing/2014/main" id="{FFA22101-D435-6288-0295-3B0F617C13AA}"/>
              </a:ext>
            </a:extLst>
          </p:cNvPr>
          <p:cNvSpPr txBox="1"/>
          <p:nvPr/>
        </p:nvSpPr>
        <p:spPr>
          <a:xfrm>
            <a:off x="490398" y="3060474"/>
            <a:ext cx="2007276" cy="1277273"/>
          </a:xfrm>
          <a:prstGeom prst="rect">
            <a:avLst/>
          </a:prstGeom>
          <a:noFill/>
        </p:spPr>
        <p:txBody>
          <a:bodyPr wrap="square">
            <a:spAutoFit/>
          </a:bodyPr>
          <a:lstStyle/>
          <a:p>
            <a:pPr algn="ctr"/>
            <a:r>
              <a:rPr lang="en-US" sz="2400">
                <a:latin typeface="+mj-lt"/>
              </a:rPr>
              <a:t>Worst</a:t>
            </a:r>
          </a:p>
          <a:p>
            <a:pPr algn="ctr"/>
            <a:r>
              <a:rPr lang="en-US" sz="2400">
                <a:latin typeface="+mj-lt"/>
              </a:rPr>
              <a:t>Quality</a:t>
            </a:r>
          </a:p>
          <a:p>
            <a:pPr algn="ctr">
              <a:spcBef>
                <a:spcPts val="600"/>
              </a:spcBef>
            </a:pPr>
            <a:r>
              <a:rPr lang="en-US" sz="2400">
                <a:solidFill>
                  <a:schemeClr val="tx1"/>
                </a:solidFill>
                <a:latin typeface="+mj-lt"/>
              </a:rPr>
              <a:t>👎🏼</a:t>
            </a:r>
          </a:p>
        </p:txBody>
      </p:sp>
      <p:sp>
        <p:nvSpPr>
          <p:cNvPr id="10" name="TextBox 9">
            <a:extLst>
              <a:ext uri="{FF2B5EF4-FFF2-40B4-BE49-F238E27FC236}">
                <a16:creationId xmlns:a16="http://schemas.microsoft.com/office/drawing/2014/main" id="{326F28C9-6043-EF45-6DA8-E8BDC2C81E0B}"/>
              </a:ext>
            </a:extLst>
          </p:cNvPr>
          <p:cNvSpPr txBox="1"/>
          <p:nvPr/>
        </p:nvSpPr>
        <p:spPr>
          <a:xfrm>
            <a:off x="3535228" y="2542258"/>
            <a:ext cx="472736" cy="400110"/>
          </a:xfrm>
          <a:prstGeom prst="rect">
            <a:avLst/>
          </a:prstGeom>
          <a:noFill/>
        </p:spPr>
        <p:txBody>
          <a:bodyPr wrap="square">
            <a:spAutoFit/>
          </a:bodyPr>
          <a:lstStyle/>
          <a:p>
            <a:pPr algn="ctr"/>
            <a:r>
              <a:rPr lang="en-US" sz="2000">
                <a:latin typeface="+mj-lt"/>
              </a:rPr>
              <a:t>1</a:t>
            </a:r>
            <a:endParaRPr lang="en-US" sz="2000">
              <a:solidFill>
                <a:schemeClr val="tx1"/>
              </a:solidFill>
              <a:latin typeface="+mj-lt"/>
            </a:endParaRPr>
          </a:p>
        </p:txBody>
      </p:sp>
      <p:sp>
        <p:nvSpPr>
          <p:cNvPr id="11" name="TextBox 10">
            <a:extLst>
              <a:ext uri="{FF2B5EF4-FFF2-40B4-BE49-F238E27FC236}">
                <a16:creationId xmlns:a16="http://schemas.microsoft.com/office/drawing/2014/main" id="{FB92A4A8-5C0A-E3C7-10C7-F8415B6AD403}"/>
              </a:ext>
            </a:extLst>
          </p:cNvPr>
          <p:cNvSpPr txBox="1"/>
          <p:nvPr/>
        </p:nvSpPr>
        <p:spPr>
          <a:xfrm>
            <a:off x="5849705" y="2542258"/>
            <a:ext cx="472736" cy="400110"/>
          </a:xfrm>
          <a:prstGeom prst="rect">
            <a:avLst/>
          </a:prstGeom>
          <a:noFill/>
        </p:spPr>
        <p:txBody>
          <a:bodyPr wrap="square">
            <a:spAutoFit/>
          </a:bodyPr>
          <a:lstStyle/>
          <a:p>
            <a:pPr algn="ctr"/>
            <a:r>
              <a:rPr lang="en-US" sz="2000">
                <a:latin typeface="+mj-lt"/>
              </a:rPr>
              <a:t>2</a:t>
            </a:r>
            <a:endParaRPr lang="en-US" sz="2000">
              <a:solidFill>
                <a:schemeClr val="tx1"/>
              </a:solidFill>
              <a:latin typeface="+mj-lt"/>
            </a:endParaRPr>
          </a:p>
        </p:txBody>
      </p:sp>
      <p:sp>
        <p:nvSpPr>
          <p:cNvPr id="12" name="TextBox 11">
            <a:extLst>
              <a:ext uri="{FF2B5EF4-FFF2-40B4-BE49-F238E27FC236}">
                <a16:creationId xmlns:a16="http://schemas.microsoft.com/office/drawing/2014/main" id="{ABE06C74-6A7D-1DFC-8E01-ADD4B252E7F1}"/>
              </a:ext>
            </a:extLst>
          </p:cNvPr>
          <p:cNvSpPr txBox="1"/>
          <p:nvPr/>
        </p:nvSpPr>
        <p:spPr>
          <a:xfrm>
            <a:off x="8086813" y="2542258"/>
            <a:ext cx="472736" cy="400110"/>
          </a:xfrm>
          <a:prstGeom prst="rect">
            <a:avLst/>
          </a:prstGeom>
          <a:noFill/>
        </p:spPr>
        <p:txBody>
          <a:bodyPr wrap="square">
            <a:spAutoFit/>
          </a:bodyPr>
          <a:lstStyle/>
          <a:p>
            <a:pPr algn="ctr"/>
            <a:r>
              <a:rPr lang="en-US" sz="2000">
                <a:latin typeface="+mj-lt"/>
              </a:rPr>
              <a:t>3</a:t>
            </a:r>
            <a:endParaRPr lang="en-US" sz="2000">
              <a:solidFill>
                <a:schemeClr val="tx1"/>
              </a:solidFill>
              <a:latin typeface="+mj-lt"/>
            </a:endParaRPr>
          </a:p>
        </p:txBody>
      </p:sp>
      <p:sp>
        <p:nvSpPr>
          <p:cNvPr id="9" name="TextBox 8">
            <a:extLst>
              <a:ext uri="{FF2B5EF4-FFF2-40B4-BE49-F238E27FC236}">
                <a16:creationId xmlns:a16="http://schemas.microsoft.com/office/drawing/2014/main" id="{131FE6A6-4CC5-2E0E-066F-08CEE8753479}"/>
              </a:ext>
            </a:extLst>
          </p:cNvPr>
          <p:cNvSpPr txBox="1"/>
          <p:nvPr/>
        </p:nvSpPr>
        <p:spPr>
          <a:xfrm>
            <a:off x="10479349" y="2542258"/>
            <a:ext cx="472736" cy="400110"/>
          </a:xfrm>
          <a:prstGeom prst="rect">
            <a:avLst/>
          </a:prstGeom>
          <a:noFill/>
        </p:spPr>
        <p:txBody>
          <a:bodyPr wrap="square">
            <a:spAutoFit/>
          </a:bodyPr>
          <a:lstStyle/>
          <a:p>
            <a:pPr algn="ctr"/>
            <a:r>
              <a:rPr lang="en-US" sz="2000">
                <a:latin typeface="+mj-lt"/>
              </a:rPr>
              <a:t>4</a:t>
            </a:r>
            <a:endParaRPr lang="en-US" sz="2000">
              <a:solidFill>
                <a:schemeClr val="tx1"/>
              </a:solidFill>
              <a:latin typeface="+mj-lt"/>
            </a:endParaRPr>
          </a:p>
        </p:txBody>
      </p:sp>
      <p:sp>
        <p:nvSpPr>
          <p:cNvPr id="21" name="TextBox 20">
            <a:extLst>
              <a:ext uri="{FF2B5EF4-FFF2-40B4-BE49-F238E27FC236}">
                <a16:creationId xmlns:a16="http://schemas.microsoft.com/office/drawing/2014/main" id="{FD392A09-5508-02EA-E848-D1BFA017E66C}"/>
              </a:ext>
            </a:extLst>
          </p:cNvPr>
          <p:cNvSpPr txBox="1"/>
          <p:nvPr/>
        </p:nvSpPr>
        <p:spPr>
          <a:xfrm>
            <a:off x="9948073" y="3060474"/>
            <a:ext cx="1523818" cy="1277273"/>
          </a:xfrm>
          <a:prstGeom prst="rect">
            <a:avLst/>
          </a:prstGeom>
          <a:noFill/>
        </p:spPr>
        <p:txBody>
          <a:bodyPr wrap="square">
            <a:spAutoFit/>
          </a:bodyPr>
          <a:lstStyle/>
          <a:p>
            <a:pPr algn="ctr"/>
            <a:r>
              <a:rPr lang="en-US" sz="2400">
                <a:latin typeface="+mj-lt"/>
              </a:rPr>
              <a:t>Best</a:t>
            </a:r>
          </a:p>
          <a:p>
            <a:pPr algn="ctr"/>
            <a:r>
              <a:rPr lang="en-US" sz="2400">
                <a:latin typeface="+mj-lt"/>
              </a:rPr>
              <a:t>Quality</a:t>
            </a:r>
          </a:p>
          <a:p>
            <a:pPr algn="ctr">
              <a:spcBef>
                <a:spcPts val="600"/>
              </a:spcBef>
            </a:pPr>
            <a:r>
              <a:rPr lang="en-US" sz="2400">
                <a:latin typeface="+mj-lt"/>
              </a:rPr>
              <a:t>👍🏼</a:t>
            </a:r>
          </a:p>
        </p:txBody>
      </p:sp>
      <p:sp>
        <p:nvSpPr>
          <p:cNvPr id="24" name="TextBox 23">
            <a:extLst>
              <a:ext uri="{FF2B5EF4-FFF2-40B4-BE49-F238E27FC236}">
                <a16:creationId xmlns:a16="http://schemas.microsoft.com/office/drawing/2014/main" id="{D35008F2-D22E-16C7-38B3-8DA9173501BC}"/>
              </a:ext>
            </a:extLst>
          </p:cNvPr>
          <p:cNvSpPr txBox="1"/>
          <p:nvPr/>
        </p:nvSpPr>
        <p:spPr>
          <a:xfrm>
            <a:off x="586740" y="4506586"/>
            <a:ext cx="11018520" cy="1863478"/>
          </a:xfrm>
          <a:prstGeom prst="rect">
            <a:avLst/>
          </a:prstGeom>
          <a:solidFill>
            <a:schemeClr val="bg1">
              <a:lumMod val="95000"/>
            </a:schemeClr>
          </a:solidFill>
        </p:spPr>
        <p:txBody>
          <a:bodyPr wrap="square" lIns="288000" anchor="ctr">
            <a:noAutofit/>
          </a:bodyPr>
          <a:lstStyle/>
          <a:p>
            <a:r>
              <a:rPr lang="en-US" err="1">
                <a:solidFill>
                  <a:srgbClr val="000000"/>
                </a:solidFill>
                <a:effectLst/>
                <a:latin typeface="Menlo" panose="020B0609030804020204" pitchFamily="49" charset="0"/>
              </a:rPr>
              <a:t>qualified_documents</a:t>
            </a:r>
            <a:r>
              <a:rPr lang="en-US">
                <a:solidFill>
                  <a:srgbClr val="000000"/>
                </a:solidFill>
                <a:effectLst/>
                <a:latin typeface="Menlo" panose="020B0609030804020204" pitchFamily="49" charset="0"/>
              </a:rPr>
              <a:t> = [</a:t>
            </a:r>
          </a:p>
          <a:p>
            <a:r>
              <a:rPr lang="en-US">
                <a:solidFill>
                  <a:srgbClr val="000000"/>
                </a:solidFill>
                <a:latin typeface="Menlo" panose="020B0609030804020204" pitchFamily="49" charset="0"/>
              </a:rPr>
              <a:t>	</a:t>
            </a:r>
            <a:r>
              <a:rPr lang="en-US">
                <a:solidFill>
                  <a:srgbClr val="000000"/>
                </a:solidFill>
                <a:effectLst/>
                <a:latin typeface="Menlo" panose="020B0609030804020204" pitchFamily="49" charset="0"/>
              </a:rPr>
              <a:t>doc </a:t>
            </a:r>
            <a:r>
              <a:rPr lang="en-US">
                <a:solidFill>
                  <a:srgbClr val="AF00DB"/>
                </a:solidFill>
                <a:effectLst/>
                <a:latin typeface="Menlo" panose="020B0609030804020204" pitchFamily="49" charset="0"/>
              </a:rPr>
              <a:t>for</a:t>
            </a:r>
            <a:r>
              <a:rPr lang="en-US">
                <a:solidFill>
                  <a:srgbClr val="000000"/>
                </a:solidFill>
                <a:effectLst/>
                <a:latin typeface="Menlo" panose="020B0609030804020204" pitchFamily="49" charset="0"/>
              </a:rPr>
              <a:t> doc </a:t>
            </a:r>
            <a:r>
              <a:rPr lang="en-US">
                <a:solidFill>
                  <a:srgbClr val="AF00DB"/>
                </a:solidFill>
                <a:effectLst/>
                <a:latin typeface="Menlo" panose="020B0609030804020204" pitchFamily="49" charset="0"/>
              </a:rPr>
              <a:t>in</a:t>
            </a:r>
            <a:r>
              <a:rPr lang="en-US">
                <a:solidFill>
                  <a:srgbClr val="000000"/>
                </a:solidFill>
                <a:effectLst/>
                <a:latin typeface="Menlo" panose="020B0609030804020204" pitchFamily="49" charset="0"/>
              </a:rPr>
              <a:t> documents</a:t>
            </a:r>
          </a:p>
          <a:p>
            <a:r>
              <a:rPr lang="en-US">
                <a:solidFill>
                  <a:srgbClr val="000000"/>
                </a:solidFill>
                <a:latin typeface="Menlo" panose="020B0609030804020204" pitchFamily="49" charset="0"/>
              </a:rPr>
              <a:t>	</a:t>
            </a:r>
            <a:r>
              <a:rPr lang="en-US">
                <a:solidFill>
                  <a:srgbClr val="AF00DB"/>
                </a:solidFill>
                <a:effectLst/>
                <a:latin typeface="Menlo" panose="020B0609030804020204" pitchFamily="49" charset="0"/>
              </a:rPr>
              <a:t>if</a:t>
            </a:r>
            <a:r>
              <a:rPr lang="en-US">
                <a:solidFill>
                  <a:srgbClr val="000000"/>
                </a:solidFill>
                <a:effectLst/>
                <a:latin typeface="Menlo" panose="020B0609030804020204" pitchFamily="49" charset="0"/>
              </a:rPr>
              <a:t> </a:t>
            </a:r>
            <a:r>
              <a:rPr lang="en-US" err="1">
                <a:solidFill>
                  <a:srgbClr val="001080"/>
                </a:solidFill>
                <a:effectLst/>
                <a:latin typeface="Menlo" panose="020B0609030804020204" pitchFamily="49" charset="0"/>
              </a:rPr>
              <a:t>doc</a:t>
            </a:r>
            <a:r>
              <a:rPr lang="en-US" err="1">
                <a:solidFill>
                  <a:srgbClr val="000000"/>
                </a:solidFill>
                <a:effectLst/>
                <a:latin typeface="Menlo" panose="020B0609030804020204" pitchFamily="49" charset="0"/>
              </a:rPr>
              <a:t>.</a:t>
            </a:r>
            <a:r>
              <a:rPr lang="en-US" err="1">
                <a:solidFill>
                  <a:srgbClr val="795E26"/>
                </a:solidFill>
                <a:effectLst/>
                <a:latin typeface="Menlo" panose="020B0609030804020204" pitchFamily="49" charset="0"/>
              </a:rPr>
              <a:t>get</a:t>
            </a:r>
            <a:r>
              <a:rPr lang="en-US">
                <a:solidFill>
                  <a:srgbClr val="000000"/>
                </a:solidFill>
                <a:effectLst/>
                <a:latin typeface="Menlo" panose="020B0609030804020204" pitchFamily="49" charset="0"/>
              </a:rPr>
              <a:t>(</a:t>
            </a:r>
            <a:r>
              <a:rPr lang="en-US">
                <a:solidFill>
                  <a:srgbClr val="A31515"/>
                </a:solidFill>
                <a:effectLst/>
                <a:latin typeface="Menlo" panose="020B0609030804020204" pitchFamily="49" charset="0"/>
              </a:rPr>
              <a:t>"@</a:t>
            </a:r>
            <a:r>
              <a:rPr lang="en-US" err="1">
                <a:solidFill>
                  <a:srgbClr val="A31515"/>
                </a:solidFill>
                <a:effectLst/>
                <a:latin typeface="Menlo" panose="020B0609030804020204" pitchFamily="49" charset="0"/>
              </a:rPr>
              <a:t>search.reranker_score</a:t>
            </a:r>
            <a:r>
              <a:rPr lang="en-US">
                <a:solidFill>
                  <a:srgbClr val="A31515"/>
                </a:solidFill>
                <a:effectLst/>
                <a:latin typeface="Menlo" panose="020B0609030804020204" pitchFamily="49" charset="0"/>
              </a:rPr>
              <a:t>"</a:t>
            </a:r>
            <a:r>
              <a:rPr lang="en-US">
                <a:solidFill>
                  <a:srgbClr val="000000"/>
                </a:solidFill>
                <a:effectLst/>
                <a:latin typeface="Menlo" panose="020B0609030804020204" pitchFamily="49" charset="0"/>
              </a:rPr>
              <a:t>) &gt;= </a:t>
            </a:r>
            <a:r>
              <a:rPr lang="en-US" err="1">
                <a:solidFill>
                  <a:srgbClr val="000000"/>
                </a:solidFill>
                <a:effectLst/>
                <a:latin typeface="Menlo" panose="020B0609030804020204" pitchFamily="49" charset="0"/>
              </a:rPr>
              <a:t>min_score</a:t>
            </a:r>
            <a:endParaRPr lang="en-US">
              <a:solidFill>
                <a:srgbClr val="000000"/>
              </a:solidFill>
              <a:effectLst/>
              <a:latin typeface="Menlo" panose="020B0609030804020204" pitchFamily="49" charset="0"/>
            </a:endParaRPr>
          </a:p>
          <a:p>
            <a:r>
              <a:rPr lang="en-US">
                <a:solidFill>
                  <a:srgbClr val="000000"/>
                </a:solidFill>
                <a:effectLst/>
                <a:latin typeface="Menlo" panose="020B0609030804020204" pitchFamily="49" charset="0"/>
              </a:rPr>
              <a:t>]</a:t>
            </a:r>
          </a:p>
        </p:txBody>
      </p:sp>
    </p:spTree>
    <p:extLst>
      <p:ext uri="{BB962C8B-B14F-4D97-AF65-F5344CB8AC3E}">
        <p14:creationId xmlns:p14="http://schemas.microsoft.com/office/powerpoint/2010/main" val="285288001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835893-D1D0-AE26-FD77-B45849B31A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468EC-2AFD-4E87-D5F5-4935B2418AB2}"/>
              </a:ext>
            </a:extLst>
          </p:cNvPr>
          <p:cNvSpPr>
            <a:spLocks noGrp="1"/>
          </p:cNvSpPr>
          <p:nvPr>
            <p:ph type="title"/>
          </p:nvPr>
        </p:nvSpPr>
        <p:spPr>
          <a:xfrm>
            <a:off x="585216" y="3152001"/>
            <a:ext cx="6675120" cy="553998"/>
          </a:xfrm>
        </p:spPr>
        <p:txBody>
          <a:bodyPr/>
          <a:lstStyle/>
          <a:p>
            <a:r>
              <a:rPr lang="en-US"/>
              <a:t>Conclusion</a:t>
            </a:r>
          </a:p>
        </p:txBody>
      </p:sp>
    </p:spTree>
    <p:extLst>
      <p:ext uri="{BB962C8B-B14F-4D97-AF65-F5344CB8AC3E}">
        <p14:creationId xmlns:p14="http://schemas.microsoft.com/office/powerpoint/2010/main" val="3802105364"/>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78DC09-C59E-67FF-8126-192547A7D9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322ED-7FF0-3EDA-9703-1FD2BF70D4D5}"/>
              </a:ext>
            </a:extLst>
          </p:cNvPr>
          <p:cNvSpPr>
            <a:spLocks noGrp="1"/>
          </p:cNvSpPr>
          <p:nvPr>
            <p:ph type="title"/>
          </p:nvPr>
        </p:nvSpPr>
        <p:spPr/>
        <p:txBody>
          <a:bodyPr/>
          <a:lstStyle/>
          <a:p>
            <a:r>
              <a:rPr lang="en-US"/>
              <a:t>Example uses</a:t>
            </a:r>
          </a:p>
        </p:txBody>
      </p:sp>
      <p:sp>
        <p:nvSpPr>
          <p:cNvPr id="24" name="Rounded Rectangle 5">
            <a:extLst>
              <a:ext uri="{FF2B5EF4-FFF2-40B4-BE49-F238E27FC236}">
                <a16:creationId xmlns:a16="http://schemas.microsoft.com/office/drawing/2014/main" id="{B1EF89B0-B345-48C7-C71D-46F0FD54A323}"/>
              </a:ext>
              <a:ext uri="{C183D7F6-B498-43B3-948B-1728B52AA6E4}">
                <adec:decorative xmlns:adec="http://schemas.microsoft.com/office/drawing/2017/decorative" val="1"/>
              </a:ext>
            </a:extLst>
          </p:cNvPr>
          <p:cNvSpPr/>
          <p:nvPr/>
        </p:nvSpPr>
        <p:spPr bwMode="auto">
          <a:xfrm>
            <a:off x="592478" y="1192610"/>
            <a:ext cx="7448863" cy="4739759"/>
          </a:xfrm>
          <a:prstGeom prst="roundRect">
            <a:avLst>
              <a:gd name="adj" fmla="val 4760"/>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11" name="Content Placeholder 2">
            <a:extLst>
              <a:ext uri="{FF2B5EF4-FFF2-40B4-BE49-F238E27FC236}">
                <a16:creationId xmlns:a16="http://schemas.microsoft.com/office/drawing/2014/main" id="{971F16E9-7BC0-7A81-370E-96175E5313E4}"/>
              </a:ext>
            </a:extLst>
          </p:cNvPr>
          <p:cNvSpPr txBox="1">
            <a:spLocks/>
          </p:cNvSpPr>
          <p:nvPr/>
        </p:nvSpPr>
        <p:spPr>
          <a:xfrm>
            <a:off x="758612" y="1435100"/>
            <a:ext cx="5511800" cy="4739759"/>
          </a:xfrm>
          <a:prstGeom prst="rect">
            <a:avLst/>
          </a:prstGeom>
        </p:spPr>
        <p:txBody>
          <a:bodyPr lIns="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a:t>Developers have used Azure AI search </a:t>
            </a:r>
            <a:br>
              <a:rPr lang="en-US" sz="2000"/>
            </a:br>
            <a:r>
              <a:rPr lang="en-US" sz="2000"/>
              <a:t>to create RAG apps for…</a:t>
            </a:r>
          </a:p>
        </p:txBody>
      </p:sp>
      <p:grpSp>
        <p:nvGrpSpPr>
          <p:cNvPr id="35" name="Group 34" descr="Government building icon">
            <a:extLst>
              <a:ext uri="{FF2B5EF4-FFF2-40B4-BE49-F238E27FC236}">
                <a16:creationId xmlns:a16="http://schemas.microsoft.com/office/drawing/2014/main" id="{24705658-C84F-C13E-1DD1-C21081266760}"/>
              </a:ext>
            </a:extLst>
          </p:cNvPr>
          <p:cNvGrpSpPr/>
          <p:nvPr/>
        </p:nvGrpSpPr>
        <p:grpSpPr>
          <a:xfrm>
            <a:off x="766890" y="2477840"/>
            <a:ext cx="426575" cy="426575"/>
            <a:chOff x="766890" y="2477840"/>
            <a:chExt cx="426575" cy="426575"/>
          </a:xfrm>
        </p:grpSpPr>
        <p:sp>
          <p:nvSpPr>
            <p:cNvPr id="18" name="Oval 17">
              <a:extLst>
                <a:ext uri="{FF2B5EF4-FFF2-40B4-BE49-F238E27FC236}">
                  <a16:creationId xmlns:a16="http://schemas.microsoft.com/office/drawing/2014/main" id="{1C28FD2F-836D-14B4-4F95-B19DCBE3D81C}"/>
                </a:ext>
                <a:ext uri="{C183D7F6-B498-43B3-948B-1728B52AA6E4}">
                  <adec:decorative xmlns:adec="http://schemas.microsoft.com/office/drawing/2017/decorative" val="1"/>
                </a:ext>
              </a:extLst>
            </p:cNvPr>
            <p:cNvSpPr/>
            <p:nvPr/>
          </p:nvSpPr>
          <p:spPr bwMode="auto">
            <a:xfrm>
              <a:off x="766890" y="2477840"/>
              <a:ext cx="426575" cy="426575"/>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000">
                <a:solidFill>
                  <a:schemeClr val="tx1"/>
                </a:solidFill>
                <a:highlight>
                  <a:srgbClr val="FFFF00"/>
                </a:highlight>
                <a:latin typeface="+mj-lt"/>
                <a:cs typeface="Segoe UI" panose="020B0502040204020203" pitchFamily="34" charset="0"/>
              </a:endParaRPr>
            </a:p>
          </p:txBody>
        </p:sp>
        <p:pic>
          <p:nvPicPr>
            <p:cNvPr id="34" name="Graphic 33">
              <a:extLst>
                <a:ext uri="{FF2B5EF4-FFF2-40B4-BE49-F238E27FC236}">
                  <a16:creationId xmlns:a16="http://schemas.microsoft.com/office/drawing/2014/main" id="{B0302A19-5BAC-74AD-91B8-9166F880ED41}"/>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6268" y="2587218"/>
              <a:ext cx="207818" cy="207818"/>
            </a:xfrm>
            <a:prstGeom prst="rect">
              <a:avLst/>
            </a:prstGeom>
          </p:spPr>
        </p:pic>
      </p:grpSp>
      <p:sp>
        <p:nvSpPr>
          <p:cNvPr id="13" name="TextBox 12">
            <a:extLst>
              <a:ext uri="{FF2B5EF4-FFF2-40B4-BE49-F238E27FC236}">
                <a16:creationId xmlns:a16="http://schemas.microsoft.com/office/drawing/2014/main" id="{6EC505D1-9182-FDC9-6BF0-05131AB6C597}"/>
              </a:ext>
            </a:extLst>
          </p:cNvPr>
          <p:cNvSpPr txBox="1"/>
          <p:nvPr/>
        </p:nvSpPr>
        <p:spPr>
          <a:xfrm>
            <a:off x="1315656" y="2521851"/>
            <a:ext cx="5511799" cy="338554"/>
          </a:xfrm>
          <a:prstGeom prst="rect">
            <a:avLst/>
          </a:prstGeom>
          <a:noFill/>
        </p:spPr>
        <p:txBody>
          <a:bodyPr wrap="square">
            <a:spAutoFit/>
          </a:bodyPr>
          <a:lstStyle/>
          <a:p>
            <a:r>
              <a:rPr lang="en-US" sz="1600"/>
              <a:t>Public government data</a:t>
            </a:r>
          </a:p>
        </p:txBody>
      </p:sp>
      <p:grpSp>
        <p:nvGrpSpPr>
          <p:cNvPr id="36" name="Group 35" descr="Team icon">
            <a:extLst>
              <a:ext uri="{FF2B5EF4-FFF2-40B4-BE49-F238E27FC236}">
                <a16:creationId xmlns:a16="http://schemas.microsoft.com/office/drawing/2014/main" id="{807733B6-4B25-C4F5-4A68-5421CB7C7D91}"/>
              </a:ext>
            </a:extLst>
          </p:cNvPr>
          <p:cNvGrpSpPr/>
          <p:nvPr/>
        </p:nvGrpSpPr>
        <p:grpSpPr>
          <a:xfrm>
            <a:off x="766890" y="3046537"/>
            <a:ext cx="426575" cy="426575"/>
            <a:chOff x="766890" y="3046537"/>
            <a:chExt cx="426575" cy="426575"/>
          </a:xfrm>
        </p:grpSpPr>
        <p:sp>
          <p:nvSpPr>
            <p:cNvPr id="19" name="Oval 18">
              <a:extLst>
                <a:ext uri="{FF2B5EF4-FFF2-40B4-BE49-F238E27FC236}">
                  <a16:creationId xmlns:a16="http://schemas.microsoft.com/office/drawing/2014/main" id="{64B815BB-6DDA-EF86-B430-ABC9C5AE9C62}"/>
                </a:ext>
                <a:ext uri="{C183D7F6-B498-43B3-948B-1728B52AA6E4}">
                  <adec:decorative xmlns:adec="http://schemas.microsoft.com/office/drawing/2017/decorative" val="1"/>
                </a:ext>
              </a:extLst>
            </p:cNvPr>
            <p:cNvSpPr/>
            <p:nvPr/>
          </p:nvSpPr>
          <p:spPr bwMode="auto">
            <a:xfrm>
              <a:off x="766890" y="3046537"/>
              <a:ext cx="426575" cy="426575"/>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000">
                <a:solidFill>
                  <a:schemeClr val="tx1"/>
                </a:solidFill>
                <a:highlight>
                  <a:srgbClr val="FFFF00"/>
                </a:highlight>
                <a:latin typeface="+mj-lt"/>
                <a:cs typeface="Segoe UI" panose="020B0502040204020203" pitchFamily="34" charset="0"/>
              </a:endParaRPr>
            </a:p>
          </p:txBody>
        </p:sp>
        <p:pic>
          <p:nvPicPr>
            <p:cNvPr id="32" name="Graphic 31">
              <a:extLst>
                <a:ext uri="{FF2B5EF4-FFF2-40B4-BE49-F238E27FC236}">
                  <a16:creationId xmlns:a16="http://schemas.microsoft.com/office/drawing/2014/main" id="{29467D24-AF5B-1CD9-9685-612AA970D375}"/>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6268" y="3155915"/>
              <a:ext cx="207818" cy="207818"/>
            </a:xfrm>
            <a:prstGeom prst="rect">
              <a:avLst/>
            </a:prstGeom>
          </p:spPr>
        </p:pic>
      </p:grpSp>
      <p:sp>
        <p:nvSpPr>
          <p:cNvPr id="14" name="TextBox 13">
            <a:extLst>
              <a:ext uri="{FF2B5EF4-FFF2-40B4-BE49-F238E27FC236}">
                <a16:creationId xmlns:a16="http://schemas.microsoft.com/office/drawing/2014/main" id="{7EC33D28-DAEB-F63A-AF84-D3C2DBC7ADA9}"/>
              </a:ext>
            </a:extLst>
          </p:cNvPr>
          <p:cNvSpPr txBox="1"/>
          <p:nvPr/>
        </p:nvSpPr>
        <p:spPr>
          <a:xfrm>
            <a:off x="1315656" y="3090548"/>
            <a:ext cx="5511799" cy="338554"/>
          </a:xfrm>
          <a:prstGeom prst="rect">
            <a:avLst/>
          </a:prstGeom>
          <a:noFill/>
        </p:spPr>
        <p:txBody>
          <a:bodyPr wrap="square">
            <a:spAutoFit/>
          </a:bodyPr>
          <a:lstStyle/>
          <a:p>
            <a:r>
              <a:rPr lang="en-US" sz="1600"/>
              <a:t>Internal HR documents, company meetings, presentations </a:t>
            </a:r>
          </a:p>
        </p:txBody>
      </p:sp>
      <p:grpSp>
        <p:nvGrpSpPr>
          <p:cNvPr id="37" name="Group 36" descr="Person icon">
            <a:extLst>
              <a:ext uri="{FF2B5EF4-FFF2-40B4-BE49-F238E27FC236}">
                <a16:creationId xmlns:a16="http://schemas.microsoft.com/office/drawing/2014/main" id="{792764F6-FA55-9AA1-7380-DD9E6054F5F2}"/>
              </a:ext>
            </a:extLst>
          </p:cNvPr>
          <p:cNvGrpSpPr/>
          <p:nvPr/>
        </p:nvGrpSpPr>
        <p:grpSpPr>
          <a:xfrm>
            <a:off x="766890" y="3615234"/>
            <a:ext cx="426575" cy="426575"/>
            <a:chOff x="766890" y="3615234"/>
            <a:chExt cx="426575" cy="426575"/>
          </a:xfrm>
        </p:grpSpPr>
        <p:sp>
          <p:nvSpPr>
            <p:cNvPr id="20" name="Oval 19">
              <a:extLst>
                <a:ext uri="{FF2B5EF4-FFF2-40B4-BE49-F238E27FC236}">
                  <a16:creationId xmlns:a16="http://schemas.microsoft.com/office/drawing/2014/main" id="{E8C8D4A1-74EF-8C4C-3417-D2026EE60DCA}"/>
                </a:ext>
                <a:ext uri="{C183D7F6-B498-43B3-948B-1728B52AA6E4}">
                  <adec:decorative xmlns:adec="http://schemas.microsoft.com/office/drawing/2017/decorative" val="1"/>
                </a:ext>
              </a:extLst>
            </p:cNvPr>
            <p:cNvSpPr/>
            <p:nvPr/>
          </p:nvSpPr>
          <p:spPr bwMode="auto">
            <a:xfrm>
              <a:off x="766890" y="3615234"/>
              <a:ext cx="426575" cy="426575"/>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000">
                <a:solidFill>
                  <a:schemeClr val="tx1"/>
                </a:solidFill>
                <a:highlight>
                  <a:srgbClr val="FFFF00"/>
                </a:highlight>
                <a:latin typeface="+mj-lt"/>
                <a:cs typeface="Segoe UI" panose="020B0502040204020203" pitchFamily="34" charset="0"/>
              </a:endParaRPr>
            </a:p>
          </p:txBody>
        </p:sp>
        <p:pic>
          <p:nvPicPr>
            <p:cNvPr id="30" name="Graphic 29">
              <a:extLst>
                <a:ext uri="{FF2B5EF4-FFF2-40B4-BE49-F238E27FC236}">
                  <a16:creationId xmlns:a16="http://schemas.microsoft.com/office/drawing/2014/main" id="{6174E5EC-C3F0-0C80-AD1B-14AC9910CBDD}"/>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6268" y="3724612"/>
              <a:ext cx="207818" cy="207818"/>
            </a:xfrm>
            <a:prstGeom prst="rect">
              <a:avLst/>
            </a:prstGeom>
          </p:spPr>
        </p:pic>
      </p:grpSp>
      <p:sp>
        <p:nvSpPr>
          <p:cNvPr id="15" name="TextBox 14">
            <a:extLst>
              <a:ext uri="{FF2B5EF4-FFF2-40B4-BE49-F238E27FC236}">
                <a16:creationId xmlns:a16="http://schemas.microsoft.com/office/drawing/2014/main" id="{996CD3F0-B5A1-5794-B9B3-FF81C4507AA9}"/>
              </a:ext>
            </a:extLst>
          </p:cNvPr>
          <p:cNvSpPr txBox="1"/>
          <p:nvPr/>
        </p:nvSpPr>
        <p:spPr>
          <a:xfrm>
            <a:off x="1315656" y="3659245"/>
            <a:ext cx="5511799" cy="338554"/>
          </a:xfrm>
          <a:prstGeom prst="rect">
            <a:avLst/>
          </a:prstGeom>
          <a:noFill/>
        </p:spPr>
        <p:txBody>
          <a:bodyPr wrap="square">
            <a:spAutoFit/>
          </a:bodyPr>
          <a:lstStyle/>
          <a:p>
            <a:r>
              <a:rPr lang="en-US" sz="1600"/>
              <a:t>Customer support requests and call transcripts</a:t>
            </a:r>
          </a:p>
        </p:txBody>
      </p:sp>
      <p:grpSp>
        <p:nvGrpSpPr>
          <p:cNvPr id="38" name="Group 37" descr="Document pulse icon">
            <a:extLst>
              <a:ext uri="{FF2B5EF4-FFF2-40B4-BE49-F238E27FC236}">
                <a16:creationId xmlns:a16="http://schemas.microsoft.com/office/drawing/2014/main" id="{AD5951B9-BF54-DBAF-7C15-224472DA1269}"/>
              </a:ext>
            </a:extLst>
          </p:cNvPr>
          <p:cNvGrpSpPr/>
          <p:nvPr/>
        </p:nvGrpSpPr>
        <p:grpSpPr>
          <a:xfrm>
            <a:off x="766890" y="4183931"/>
            <a:ext cx="426575" cy="426575"/>
            <a:chOff x="766890" y="4183931"/>
            <a:chExt cx="426575" cy="426575"/>
          </a:xfrm>
        </p:grpSpPr>
        <p:sp>
          <p:nvSpPr>
            <p:cNvPr id="21" name="Oval 20">
              <a:extLst>
                <a:ext uri="{FF2B5EF4-FFF2-40B4-BE49-F238E27FC236}">
                  <a16:creationId xmlns:a16="http://schemas.microsoft.com/office/drawing/2014/main" id="{A519554C-1E78-4D8E-7AE0-1D5C693E9BDD}"/>
                </a:ext>
                <a:ext uri="{C183D7F6-B498-43B3-948B-1728B52AA6E4}">
                  <adec:decorative xmlns:adec="http://schemas.microsoft.com/office/drawing/2017/decorative" val="1"/>
                </a:ext>
              </a:extLst>
            </p:cNvPr>
            <p:cNvSpPr/>
            <p:nvPr/>
          </p:nvSpPr>
          <p:spPr bwMode="auto">
            <a:xfrm>
              <a:off x="766890" y="4183931"/>
              <a:ext cx="426575" cy="426575"/>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000">
                <a:solidFill>
                  <a:schemeClr val="tx1"/>
                </a:solidFill>
                <a:highlight>
                  <a:srgbClr val="FFFF00"/>
                </a:highlight>
                <a:latin typeface="+mj-lt"/>
                <a:cs typeface="Segoe UI" panose="020B0502040204020203" pitchFamily="34" charset="0"/>
              </a:endParaRPr>
            </a:p>
          </p:txBody>
        </p:sp>
        <p:pic>
          <p:nvPicPr>
            <p:cNvPr id="28" name="Graphic 27">
              <a:extLst>
                <a:ext uri="{FF2B5EF4-FFF2-40B4-BE49-F238E27FC236}">
                  <a16:creationId xmlns:a16="http://schemas.microsoft.com/office/drawing/2014/main" id="{C998DCC5-4531-CD16-3AB7-78BEAA09864B}"/>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76268" y="4293309"/>
              <a:ext cx="207818" cy="207818"/>
            </a:xfrm>
            <a:prstGeom prst="rect">
              <a:avLst/>
            </a:prstGeom>
          </p:spPr>
        </p:pic>
      </p:grpSp>
      <p:sp>
        <p:nvSpPr>
          <p:cNvPr id="16" name="TextBox 15">
            <a:extLst>
              <a:ext uri="{FF2B5EF4-FFF2-40B4-BE49-F238E27FC236}">
                <a16:creationId xmlns:a16="http://schemas.microsoft.com/office/drawing/2014/main" id="{E235668F-5439-4057-8880-0AD100360C53}"/>
              </a:ext>
            </a:extLst>
          </p:cNvPr>
          <p:cNvSpPr txBox="1"/>
          <p:nvPr/>
        </p:nvSpPr>
        <p:spPr>
          <a:xfrm>
            <a:off x="1315656" y="4227942"/>
            <a:ext cx="5511799" cy="338554"/>
          </a:xfrm>
          <a:prstGeom prst="rect">
            <a:avLst/>
          </a:prstGeom>
          <a:noFill/>
        </p:spPr>
        <p:txBody>
          <a:bodyPr wrap="square">
            <a:spAutoFit/>
          </a:bodyPr>
          <a:lstStyle/>
          <a:p>
            <a:r>
              <a:rPr lang="en-US" sz="1600"/>
              <a:t>Technical documentation and issue trackers</a:t>
            </a:r>
          </a:p>
        </p:txBody>
      </p:sp>
      <p:grpSp>
        <p:nvGrpSpPr>
          <p:cNvPr id="39" name="Group 38" descr="Book icon">
            <a:extLst>
              <a:ext uri="{FF2B5EF4-FFF2-40B4-BE49-F238E27FC236}">
                <a16:creationId xmlns:a16="http://schemas.microsoft.com/office/drawing/2014/main" id="{FCB80144-2F92-4192-D850-ACCE43C53980}"/>
              </a:ext>
            </a:extLst>
          </p:cNvPr>
          <p:cNvGrpSpPr/>
          <p:nvPr/>
        </p:nvGrpSpPr>
        <p:grpSpPr>
          <a:xfrm>
            <a:off x="766890" y="4752628"/>
            <a:ext cx="426575" cy="426575"/>
            <a:chOff x="766890" y="4752628"/>
            <a:chExt cx="426575" cy="426575"/>
          </a:xfrm>
        </p:grpSpPr>
        <p:sp>
          <p:nvSpPr>
            <p:cNvPr id="22" name="Oval 21">
              <a:extLst>
                <a:ext uri="{FF2B5EF4-FFF2-40B4-BE49-F238E27FC236}">
                  <a16:creationId xmlns:a16="http://schemas.microsoft.com/office/drawing/2014/main" id="{31149909-70FB-6773-1CCA-7D3BF335C672}"/>
                </a:ext>
                <a:ext uri="{C183D7F6-B498-43B3-948B-1728B52AA6E4}">
                  <adec:decorative xmlns:adec="http://schemas.microsoft.com/office/drawing/2017/decorative" val="1"/>
                </a:ext>
              </a:extLst>
            </p:cNvPr>
            <p:cNvSpPr/>
            <p:nvPr/>
          </p:nvSpPr>
          <p:spPr bwMode="auto">
            <a:xfrm>
              <a:off x="766890" y="4752628"/>
              <a:ext cx="426575" cy="426575"/>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endParaRPr lang="en-US" sz="1000">
                <a:solidFill>
                  <a:schemeClr val="tx1"/>
                </a:solidFill>
                <a:highlight>
                  <a:srgbClr val="FFFF00"/>
                </a:highlight>
                <a:latin typeface="+mj-lt"/>
                <a:cs typeface="Segoe UI" panose="020B0502040204020203" pitchFamily="34" charset="0"/>
              </a:endParaRPr>
            </a:p>
          </p:txBody>
        </p:sp>
        <p:pic>
          <p:nvPicPr>
            <p:cNvPr id="26" name="Graphic 25">
              <a:extLst>
                <a:ext uri="{FF2B5EF4-FFF2-40B4-BE49-F238E27FC236}">
                  <a16:creationId xmlns:a16="http://schemas.microsoft.com/office/drawing/2014/main" id="{27D2FD5A-DA49-9E3B-2D20-1396088380E7}"/>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76268" y="4862006"/>
              <a:ext cx="207818" cy="207818"/>
            </a:xfrm>
            <a:prstGeom prst="rect">
              <a:avLst/>
            </a:prstGeom>
          </p:spPr>
        </p:pic>
      </p:grpSp>
      <p:sp>
        <p:nvSpPr>
          <p:cNvPr id="17" name="TextBox 16">
            <a:extLst>
              <a:ext uri="{FF2B5EF4-FFF2-40B4-BE49-F238E27FC236}">
                <a16:creationId xmlns:a16="http://schemas.microsoft.com/office/drawing/2014/main" id="{6D1971CD-B6CD-3736-B9F4-A5605F4B89F4}"/>
              </a:ext>
            </a:extLst>
          </p:cNvPr>
          <p:cNvSpPr txBox="1"/>
          <p:nvPr/>
        </p:nvSpPr>
        <p:spPr>
          <a:xfrm>
            <a:off x="1315656" y="4796640"/>
            <a:ext cx="5511799" cy="338554"/>
          </a:xfrm>
          <a:prstGeom prst="rect">
            <a:avLst/>
          </a:prstGeom>
          <a:noFill/>
        </p:spPr>
        <p:txBody>
          <a:bodyPr wrap="square">
            <a:spAutoFit/>
          </a:bodyPr>
          <a:lstStyle/>
          <a:p>
            <a:r>
              <a:rPr lang="en-US" sz="1600"/>
              <a:t>Product manuals</a:t>
            </a:r>
          </a:p>
        </p:txBody>
      </p:sp>
      <p:pic>
        <p:nvPicPr>
          <p:cNvPr id="9" name="Picture 8" descr="Screenshot asking AI how to test click a button.">
            <a:extLst>
              <a:ext uri="{FF2B5EF4-FFF2-40B4-BE49-F238E27FC236}">
                <a16:creationId xmlns:a16="http://schemas.microsoft.com/office/drawing/2014/main" id="{EC1B0B3E-EA9D-4317-B7A9-2B78E548B882}"/>
              </a:ext>
            </a:extLst>
          </p:cNvPr>
          <p:cNvPicPr>
            <a:picLocks noChangeAspect="1"/>
          </p:cNvPicPr>
          <p:nvPr/>
        </p:nvPicPr>
        <p:blipFill>
          <a:blip r:embed="rId13"/>
          <a:stretch>
            <a:fillRect/>
          </a:stretch>
        </p:blipFill>
        <p:spPr>
          <a:xfrm>
            <a:off x="6993588" y="1856758"/>
            <a:ext cx="4667092" cy="3621289"/>
          </a:xfrm>
          <a:prstGeom prst="roundRect">
            <a:avLst>
              <a:gd name="adj" fmla="val 4756"/>
            </a:avLst>
          </a:prstGeom>
          <a:solidFill>
            <a:schemeClr val="bg1"/>
          </a:solidFill>
          <a:ln w="12700" cap="rnd">
            <a:solidFill>
              <a:srgbClr val="D9D9D6"/>
            </a:solidFill>
            <a:headEnd type="none" w="med" len="med"/>
            <a:tailEnd type="none" w="med" len="med"/>
          </a:ln>
          <a:effectLst/>
        </p:spPr>
      </p:pic>
      <p:sp>
        <p:nvSpPr>
          <p:cNvPr id="23" name="TextBox 22">
            <a:extLst>
              <a:ext uri="{FF2B5EF4-FFF2-40B4-BE49-F238E27FC236}">
                <a16:creationId xmlns:a16="http://schemas.microsoft.com/office/drawing/2014/main" id="{B9461BC0-CE38-1721-47C7-9E1D12D26FAB}"/>
              </a:ext>
            </a:extLst>
          </p:cNvPr>
          <p:cNvSpPr txBox="1"/>
          <p:nvPr/>
        </p:nvSpPr>
        <p:spPr>
          <a:xfrm>
            <a:off x="2050474" y="5669129"/>
            <a:ext cx="8091054" cy="493383"/>
          </a:xfrm>
          <a:prstGeom prst="roundRect">
            <a:avLst>
              <a:gd name="adj" fmla="val 50000"/>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spAutoFit/>
          </a:bodyPr>
          <a:lstStyle>
            <a:defPPr>
              <a:defRPr lang="en-US"/>
            </a:defPPr>
            <a:lvl1pPr algn="ctr" defTabSz="914400" fontAlgn="base">
              <a:spcBef>
                <a:spcPct val="0"/>
              </a:spcBef>
              <a:spcAft>
                <a:spcPct val="0"/>
              </a:spcAft>
              <a:defRPr sz="1800" b="1">
                <a:ln w="3175">
                  <a:noFill/>
                </a:ln>
                <a:solidFill>
                  <a:schemeClr val="bg1"/>
                </a:solidFill>
                <a:latin typeface="Segoe UI Semibold" panose="020F0502020204030204" pitchFamily="34" charset="0"/>
                <a:cs typeface="Segoe UI" pitchFamily="34" charset="0"/>
              </a:defRPr>
            </a:lvl1pPr>
          </a:lstStyle>
          <a:p>
            <a:r>
              <a:rPr lang="en-US" b="0" u="sng">
                <a:latin typeface="+mj-lt"/>
                <a:hlinkClick r:id="rId14">
                  <a:extLst>
                    <a:ext uri="{A12FA001-AC4F-418D-AE19-62706E023703}">
                      <ahyp:hlinkClr xmlns:ahyp="http://schemas.microsoft.com/office/drawing/2018/hyperlinkcolor" val="tx"/>
                    </a:ext>
                  </a:extLst>
                </a:hlinkClick>
              </a:rPr>
              <a:t>Customer Story: PwC scales </a:t>
            </a:r>
            <a:r>
              <a:rPr lang="en-US" b="0" u="sng" err="1">
                <a:latin typeface="+mj-lt"/>
                <a:hlinkClick r:id="rId14">
                  <a:extLst>
                    <a:ext uri="{A12FA001-AC4F-418D-AE19-62706E023703}">
                      <ahyp:hlinkClr xmlns:ahyp="http://schemas.microsoft.com/office/drawing/2018/hyperlinkcolor" val="tx"/>
                    </a:ext>
                  </a:extLst>
                </a:hlinkClick>
              </a:rPr>
              <a:t>GenAI</a:t>
            </a:r>
            <a:r>
              <a:rPr lang="en-US" b="0" u="sng">
                <a:latin typeface="+mj-lt"/>
                <a:hlinkClick r:id="rId14">
                  <a:extLst>
                    <a:ext uri="{A12FA001-AC4F-418D-AE19-62706E023703}">
                      <ahyp:hlinkClr xmlns:ahyp="http://schemas.microsoft.com/office/drawing/2018/hyperlinkcolor" val="tx"/>
                    </a:ext>
                  </a:extLst>
                </a:hlinkClick>
              </a:rPr>
              <a:t> for enterprise with Microsoft Azure AI</a:t>
            </a:r>
            <a:endParaRPr lang="en-US" b="0" u="sng">
              <a:latin typeface="+mj-lt"/>
            </a:endParaRPr>
          </a:p>
        </p:txBody>
      </p:sp>
    </p:spTree>
    <p:extLst>
      <p:ext uri="{BB962C8B-B14F-4D97-AF65-F5344CB8AC3E}">
        <p14:creationId xmlns:p14="http://schemas.microsoft.com/office/powerpoint/2010/main" val="18890439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42" presetClass="path" presetSubtype="0" decel="100000" fill="hold" nodeType="withEffect">
                                  <p:stCondLst>
                                    <p:cond delay="100"/>
                                  </p:stCondLst>
                                  <p:childTnLst>
                                    <p:animMotion origin="layout" path="M 4.79167E-6 -2.96296E-6 L 4.79167E-6 0.03542 " pathEditMode="relative" rAng="0" ptsTypes="AA">
                                      <p:cBhvr>
                                        <p:cTn id="9" dur="700" spd="-100000" fill="hold"/>
                                        <p:tgtEl>
                                          <p:spTgt spid="9"/>
                                        </p:tgtEl>
                                        <p:attrNameLst>
                                          <p:attrName>ppt_x</p:attrName>
                                          <p:attrName>ppt_y</p:attrName>
                                        </p:attrNameLst>
                                      </p:cBhvr>
                                      <p:rCtr x="0" y="1759"/>
                                    </p:animMotion>
                                  </p:childTnLst>
                                </p:cTn>
                              </p:par>
                              <p:par>
                                <p:cTn id="10" presetID="10" presetClass="entr" presetSubtype="0" fill="hold" grpId="0" nodeType="withEffect">
                                  <p:stCondLst>
                                    <p:cond delay="20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par>
                                <p:cTn id="13" presetID="42" presetClass="path" presetSubtype="0" decel="100000" fill="hold" grpId="1" nodeType="withEffect">
                                  <p:stCondLst>
                                    <p:cond delay="200"/>
                                  </p:stCondLst>
                                  <p:childTnLst>
                                    <p:animMotion origin="layout" path="M 4.79167E-6 -2.96296E-6 L 4.79167E-6 0.03542 " pathEditMode="relative" rAng="0" ptsTypes="AA">
                                      <p:cBhvr>
                                        <p:cTn id="14" dur="700" spd="-100000" fill="hold"/>
                                        <p:tgtEl>
                                          <p:spTgt spid="23"/>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par>
                                <p:cTn id="18" presetID="42" presetClass="path" presetSubtype="0" decel="100000" fill="hold" grpId="1" nodeType="withEffect">
                                  <p:stCondLst>
                                    <p:cond delay="0"/>
                                  </p:stCondLst>
                                  <p:childTnLst>
                                    <p:animMotion origin="layout" path="M 4.79167E-6 -2.96296E-6 L 4.79167E-6 0.03542 " pathEditMode="relative" rAng="0" ptsTypes="AA">
                                      <p:cBhvr>
                                        <p:cTn id="19" dur="700" spd="-100000" fill="hold"/>
                                        <p:tgtEl>
                                          <p:spTgt spid="24"/>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42" presetClass="path" presetSubtype="0" decel="100000" fill="hold" grpId="1" nodeType="withEffect">
                                  <p:stCondLst>
                                    <p:cond delay="0"/>
                                  </p:stCondLst>
                                  <p:childTnLst>
                                    <p:animMotion origin="layout" path="M 4.79167E-6 -2.96296E-6 L 4.79167E-6 0.03542 " pathEditMode="relative" rAng="0" ptsTypes="AA">
                                      <p:cBhvr>
                                        <p:cTn id="24" dur="700" spd="-100000" fill="hold"/>
                                        <p:tgtEl>
                                          <p:spTgt spid="11"/>
                                        </p:tgtEl>
                                        <p:attrNameLst>
                                          <p:attrName>ppt_x</p:attrName>
                                          <p:attrName>ppt_y</p:attrName>
                                        </p:attrNameLst>
                                      </p:cBhvr>
                                      <p:rCtr x="0" y="1759"/>
                                    </p:animMotion>
                                  </p:childTnLst>
                                </p:cTn>
                              </p:par>
                              <p:par>
                                <p:cTn id="25" presetID="10" presetClass="entr" presetSubtype="0" fill="hold" nodeType="with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childTnLst>
                                </p:cTn>
                              </p:par>
                              <p:par>
                                <p:cTn id="28" presetID="42" presetClass="path" presetSubtype="0" decel="100000" fill="hold" nodeType="withEffect">
                                  <p:stCondLst>
                                    <p:cond delay="0"/>
                                  </p:stCondLst>
                                  <p:childTnLst>
                                    <p:animMotion origin="layout" path="M 4.79167E-6 -2.96296E-6 L 4.79167E-6 0.03542 " pathEditMode="relative" rAng="0" ptsTypes="AA">
                                      <p:cBhvr>
                                        <p:cTn id="29" dur="700" spd="-100000" fill="hold"/>
                                        <p:tgtEl>
                                          <p:spTgt spid="35"/>
                                        </p:tgtEl>
                                        <p:attrNameLst>
                                          <p:attrName>ppt_x</p:attrName>
                                          <p:attrName>ppt_y</p:attrName>
                                        </p:attrNameLst>
                                      </p:cBhvr>
                                      <p:rCtr x="0" y="1759"/>
                                    </p:animMotion>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42" presetClass="path" presetSubtype="0" decel="100000" fill="hold" grpId="1" nodeType="withEffect">
                                  <p:stCondLst>
                                    <p:cond delay="0"/>
                                  </p:stCondLst>
                                  <p:childTnLst>
                                    <p:animMotion origin="layout" path="M 4.79167E-6 -2.96296E-6 L 4.79167E-6 0.03542 " pathEditMode="relative" rAng="0" ptsTypes="AA">
                                      <p:cBhvr>
                                        <p:cTn id="34" dur="700" spd="-100000" fill="hold"/>
                                        <p:tgtEl>
                                          <p:spTgt spid="13"/>
                                        </p:tgtEl>
                                        <p:attrNameLst>
                                          <p:attrName>ppt_x</p:attrName>
                                          <p:attrName>ppt_y</p:attrName>
                                        </p:attrNameLst>
                                      </p:cBhvr>
                                      <p:rCtr x="0" y="1759"/>
                                    </p:animMotion>
                                  </p:childTnLst>
                                </p:cTn>
                              </p:par>
                              <p:par>
                                <p:cTn id="35" presetID="10"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500"/>
                                        <p:tgtEl>
                                          <p:spTgt spid="36"/>
                                        </p:tgtEl>
                                      </p:cBhvr>
                                    </p:animEffect>
                                  </p:childTnLst>
                                </p:cTn>
                              </p:par>
                              <p:par>
                                <p:cTn id="38" presetID="42" presetClass="path" presetSubtype="0" decel="100000" fill="hold" nodeType="withEffect">
                                  <p:stCondLst>
                                    <p:cond delay="0"/>
                                  </p:stCondLst>
                                  <p:childTnLst>
                                    <p:animMotion origin="layout" path="M 4.79167E-6 -2.96296E-6 L 4.79167E-6 0.03542 " pathEditMode="relative" rAng="0" ptsTypes="AA">
                                      <p:cBhvr>
                                        <p:cTn id="39" dur="700" spd="-100000" fill="hold"/>
                                        <p:tgtEl>
                                          <p:spTgt spid="36"/>
                                        </p:tgtEl>
                                        <p:attrNameLst>
                                          <p:attrName>ppt_x</p:attrName>
                                          <p:attrName>ppt_y</p:attrName>
                                        </p:attrNameLst>
                                      </p:cBhvr>
                                      <p:rCtr x="0" y="1759"/>
                                    </p:animMotion>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42" presetClass="path" presetSubtype="0" decel="100000" fill="hold" grpId="1" nodeType="withEffect">
                                  <p:stCondLst>
                                    <p:cond delay="0"/>
                                  </p:stCondLst>
                                  <p:childTnLst>
                                    <p:animMotion origin="layout" path="M 4.79167E-6 -2.96296E-6 L 4.79167E-6 0.03542 " pathEditMode="relative" rAng="0" ptsTypes="AA">
                                      <p:cBhvr>
                                        <p:cTn id="44" dur="700" spd="-100000" fill="hold"/>
                                        <p:tgtEl>
                                          <p:spTgt spid="14"/>
                                        </p:tgtEl>
                                        <p:attrNameLst>
                                          <p:attrName>ppt_x</p:attrName>
                                          <p:attrName>ppt_y</p:attrName>
                                        </p:attrNameLst>
                                      </p:cBhvr>
                                      <p:rCtr x="0" y="1759"/>
                                    </p:animMotion>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500"/>
                                        <p:tgtEl>
                                          <p:spTgt spid="37"/>
                                        </p:tgtEl>
                                      </p:cBhvr>
                                    </p:animEffect>
                                  </p:childTnLst>
                                </p:cTn>
                              </p:par>
                              <p:par>
                                <p:cTn id="48" presetID="42" presetClass="path" presetSubtype="0" decel="100000" fill="hold" nodeType="withEffect">
                                  <p:stCondLst>
                                    <p:cond delay="0"/>
                                  </p:stCondLst>
                                  <p:childTnLst>
                                    <p:animMotion origin="layout" path="M 4.79167E-6 -2.96296E-6 L 4.79167E-6 0.03542 " pathEditMode="relative" rAng="0" ptsTypes="AA">
                                      <p:cBhvr>
                                        <p:cTn id="49" dur="700" spd="-100000" fill="hold"/>
                                        <p:tgtEl>
                                          <p:spTgt spid="37"/>
                                        </p:tgtEl>
                                        <p:attrNameLst>
                                          <p:attrName>ppt_x</p:attrName>
                                          <p:attrName>ppt_y</p:attrName>
                                        </p:attrNameLst>
                                      </p:cBhvr>
                                      <p:rCtr x="0" y="1759"/>
                                    </p:animMotion>
                                  </p:childTnLst>
                                </p:cTn>
                              </p:par>
                              <p:par>
                                <p:cTn id="50" presetID="10"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par>
                                <p:cTn id="53" presetID="42" presetClass="path" presetSubtype="0" decel="100000" fill="hold" grpId="1" nodeType="withEffect">
                                  <p:stCondLst>
                                    <p:cond delay="0"/>
                                  </p:stCondLst>
                                  <p:childTnLst>
                                    <p:animMotion origin="layout" path="M 4.79167E-6 -2.96296E-6 L 4.79167E-6 0.03542 " pathEditMode="relative" rAng="0" ptsTypes="AA">
                                      <p:cBhvr>
                                        <p:cTn id="54" dur="700" spd="-100000" fill="hold"/>
                                        <p:tgtEl>
                                          <p:spTgt spid="15"/>
                                        </p:tgtEl>
                                        <p:attrNameLst>
                                          <p:attrName>ppt_x</p:attrName>
                                          <p:attrName>ppt_y</p:attrName>
                                        </p:attrNameLst>
                                      </p:cBhvr>
                                      <p:rCtr x="0" y="1759"/>
                                    </p:animMotion>
                                  </p:childTnLst>
                                </p:cTn>
                              </p:par>
                              <p:par>
                                <p:cTn id="55" presetID="10" presetClass="entr" presetSubtype="0" fill="hold"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500"/>
                                        <p:tgtEl>
                                          <p:spTgt spid="38"/>
                                        </p:tgtEl>
                                      </p:cBhvr>
                                    </p:animEffect>
                                  </p:childTnLst>
                                </p:cTn>
                              </p:par>
                              <p:par>
                                <p:cTn id="58" presetID="42" presetClass="path" presetSubtype="0" decel="100000" fill="hold" nodeType="withEffect">
                                  <p:stCondLst>
                                    <p:cond delay="0"/>
                                  </p:stCondLst>
                                  <p:childTnLst>
                                    <p:animMotion origin="layout" path="M 4.79167E-6 -2.96296E-6 L 4.79167E-6 0.03542 " pathEditMode="relative" rAng="0" ptsTypes="AA">
                                      <p:cBhvr>
                                        <p:cTn id="59" dur="700" spd="-100000" fill="hold"/>
                                        <p:tgtEl>
                                          <p:spTgt spid="38"/>
                                        </p:tgtEl>
                                        <p:attrNameLst>
                                          <p:attrName>ppt_x</p:attrName>
                                          <p:attrName>ppt_y</p:attrName>
                                        </p:attrNameLst>
                                      </p:cBhvr>
                                      <p:rCtr x="0" y="1759"/>
                                    </p:animMotion>
                                  </p:childTnLst>
                                </p:cTn>
                              </p:par>
                              <p:par>
                                <p:cTn id="60" presetID="10"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par>
                                <p:cTn id="63" presetID="42" presetClass="path" presetSubtype="0" decel="100000" fill="hold" grpId="1" nodeType="withEffect">
                                  <p:stCondLst>
                                    <p:cond delay="0"/>
                                  </p:stCondLst>
                                  <p:childTnLst>
                                    <p:animMotion origin="layout" path="M 4.79167E-6 -2.96296E-6 L 4.79167E-6 0.03542 " pathEditMode="relative" rAng="0" ptsTypes="AA">
                                      <p:cBhvr>
                                        <p:cTn id="64" dur="700" spd="-100000" fill="hold"/>
                                        <p:tgtEl>
                                          <p:spTgt spid="16"/>
                                        </p:tgtEl>
                                        <p:attrNameLst>
                                          <p:attrName>ppt_x</p:attrName>
                                          <p:attrName>ppt_y</p:attrName>
                                        </p:attrNameLst>
                                      </p:cBhvr>
                                      <p:rCtr x="0" y="1759"/>
                                    </p:animMotion>
                                  </p:childTnLst>
                                </p:cTn>
                              </p:par>
                              <p:par>
                                <p:cTn id="65" presetID="10" presetClass="entr" presetSubtype="0" fill="hold" nodeType="with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fade">
                                      <p:cBhvr>
                                        <p:cTn id="67" dur="500"/>
                                        <p:tgtEl>
                                          <p:spTgt spid="39"/>
                                        </p:tgtEl>
                                      </p:cBhvr>
                                    </p:animEffect>
                                  </p:childTnLst>
                                </p:cTn>
                              </p:par>
                              <p:par>
                                <p:cTn id="68" presetID="42" presetClass="path" presetSubtype="0" decel="100000" fill="hold" nodeType="withEffect">
                                  <p:stCondLst>
                                    <p:cond delay="0"/>
                                  </p:stCondLst>
                                  <p:childTnLst>
                                    <p:animMotion origin="layout" path="M 4.79167E-6 -2.96296E-6 L 4.79167E-6 0.03542 " pathEditMode="relative" rAng="0" ptsTypes="AA">
                                      <p:cBhvr>
                                        <p:cTn id="69" dur="700" spd="-100000" fill="hold"/>
                                        <p:tgtEl>
                                          <p:spTgt spid="39"/>
                                        </p:tgtEl>
                                        <p:attrNameLst>
                                          <p:attrName>ppt_x</p:attrName>
                                          <p:attrName>ppt_y</p:attrName>
                                        </p:attrNameLst>
                                      </p:cBhvr>
                                      <p:rCtr x="0" y="1759"/>
                                    </p:animMotion>
                                  </p:childTnLst>
                                </p:cTn>
                              </p:par>
                              <p:par>
                                <p:cTn id="70" presetID="10"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childTnLst>
                                </p:cTn>
                              </p:par>
                              <p:par>
                                <p:cTn id="73" presetID="42" presetClass="path" presetSubtype="0" decel="100000" fill="hold" grpId="1" nodeType="withEffect">
                                  <p:stCondLst>
                                    <p:cond delay="0"/>
                                  </p:stCondLst>
                                  <p:childTnLst>
                                    <p:animMotion origin="layout" path="M 4.79167E-6 -2.96296E-6 L 4.79167E-6 0.03542 " pathEditMode="relative" rAng="0" ptsTypes="AA">
                                      <p:cBhvr>
                                        <p:cTn id="74" dur="700" spd="-100000" fill="hold"/>
                                        <p:tgtEl>
                                          <p:spTgt spid="17"/>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11" grpId="0"/>
      <p:bldP spid="11" grpId="1"/>
      <p:bldP spid="13" grpId="0"/>
      <p:bldP spid="13" grpId="1"/>
      <p:bldP spid="14" grpId="0"/>
      <p:bldP spid="14" grpId="1"/>
      <p:bldP spid="15" grpId="0"/>
      <p:bldP spid="15" grpId="1"/>
      <p:bldP spid="16" grpId="0"/>
      <p:bldP spid="16" grpId="1"/>
      <p:bldP spid="17" grpId="0"/>
      <p:bldP spid="17" grpId="1"/>
      <p:bldP spid="23" grpId="0" animBg="1"/>
      <p:bldP spid="23" grpId="1" animBg="1"/>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BBFF4D-01E5-2AD9-5111-5B3B60F7DB84}"/>
              </a:ext>
            </a:extLst>
          </p:cNvPr>
          <p:cNvSpPr>
            <a:spLocks noGrp="1"/>
          </p:cNvSpPr>
          <p:nvPr>
            <p:ph type="title"/>
          </p:nvPr>
        </p:nvSpPr>
        <p:spPr>
          <a:xfrm>
            <a:off x="588264" y="3152001"/>
            <a:ext cx="4127692" cy="553998"/>
          </a:xfrm>
        </p:spPr>
        <p:txBody>
          <a:bodyPr/>
          <a:lstStyle/>
          <a:p>
            <a:r>
              <a:rPr lang="en-US"/>
              <a:t>Next steps</a:t>
            </a:r>
          </a:p>
        </p:txBody>
      </p:sp>
      <p:sp>
        <p:nvSpPr>
          <p:cNvPr id="5" name="TextBox 4">
            <a:extLst>
              <a:ext uri="{FF2B5EF4-FFF2-40B4-BE49-F238E27FC236}">
                <a16:creationId xmlns:a16="http://schemas.microsoft.com/office/drawing/2014/main" id="{5D0DA8CD-CB5C-D4A7-216E-244174267154}"/>
              </a:ext>
            </a:extLst>
          </p:cNvPr>
          <p:cNvSpPr txBox="1"/>
          <p:nvPr/>
        </p:nvSpPr>
        <p:spPr>
          <a:xfrm>
            <a:off x="5937665" y="815523"/>
            <a:ext cx="5511385" cy="641201"/>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l">
              <a:defRPr/>
            </a:pPr>
            <a:r>
              <a:rPr lang="en-US" sz="2000">
                <a:gradFill>
                  <a:gsLst>
                    <a:gs pos="6993">
                      <a:srgbClr val="000000"/>
                    </a:gs>
                    <a:gs pos="20280">
                      <a:srgbClr val="000000"/>
                    </a:gs>
                  </a:gsLst>
                  <a:lin ang="0" scaled="0"/>
                </a:gradFill>
              </a:rPr>
              <a:t>Learn more about Azure AI Search</a:t>
            </a:r>
          </a:p>
          <a:p>
            <a:pPr lvl="0" algn="l">
              <a:defRPr/>
            </a:pPr>
            <a:r>
              <a:rPr lang="en-US" sz="2000">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hlinkClick r:id="rId3">
                  <a:extLst>
                    <a:ext uri="{A12FA001-AC4F-418D-AE19-62706E023703}">
                      <ahyp:hlinkClr xmlns:ahyp="http://schemas.microsoft.com/office/drawing/2018/hyperlinkcolor" val="tx"/>
                    </a:ext>
                  </a:extLst>
                </a:hlinkClick>
              </a:rPr>
              <a:t>aka.ms/AzureAISearch </a:t>
            </a:r>
            <a:endParaRPr lang="en-US" sz="2000">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endParaRPr>
          </a:p>
        </p:txBody>
      </p:sp>
      <p:sp>
        <p:nvSpPr>
          <p:cNvPr id="6" name="TextBox 5">
            <a:extLst>
              <a:ext uri="{FF2B5EF4-FFF2-40B4-BE49-F238E27FC236}">
                <a16:creationId xmlns:a16="http://schemas.microsoft.com/office/drawing/2014/main" id="{99DF6D2D-D7B4-2E91-31CC-81E61EF06D0A}"/>
              </a:ext>
            </a:extLst>
          </p:cNvPr>
          <p:cNvSpPr txBox="1"/>
          <p:nvPr/>
        </p:nvSpPr>
        <p:spPr>
          <a:xfrm>
            <a:off x="5937665" y="1940578"/>
            <a:ext cx="5511386" cy="1256754"/>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l">
              <a:defRPr/>
            </a:pPr>
            <a:r>
              <a:rPr lang="en-US" sz="2000">
                <a:gradFill>
                  <a:gsLst>
                    <a:gs pos="6993">
                      <a:srgbClr val="000000"/>
                    </a:gs>
                    <a:gs pos="20280">
                      <a:srgbClr val="000000"/>
                    </a:gs>
                  </a:gsLst>
                  <a:lin ang="0" scaled="0"/>
                </a:gradFill>
              </a:rPr>
              <a:t>Dig more into quality evaluation details and why Azure AI Search will make your application generate better results</a:t>
            </a:r>
          </a:p>
          <a:p>
            <a:pPr lvl="0" algn="l">
              <a:defRPr/>
            </a:pPr>
            <a:r>
              <a:rPr lang="en-US" sz="2000" err="1">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hlinkClick r:id="rId4">
                  <a:extLst>
                    <a:ext uri="{A12FA001-AC4F-418D-AE19-62706E023703}">
                      <ahyp:hlinkClr xmlns:ahyp="http://schemas.microsoft.com/office/drawing/2018/hyperlinkcolor" val="tx"/>
                    </a:ext>
                  </a:extLst>
                </a:hlinkClick>
              </a:rPr>
              <a:t>aka.ms</a:t>
            </a:r>
            <a:r>
              <a:rPr lang="en-US" sz="2000">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hlinkClick r:id="rId4">
                  <a:extLst>
                    <a:ext uri="{A12FA001-AC4F-418D-AE19-62706E023703}">
                      <ahyp:hlinkClr xmlns:ahyp="http://schemas.microsoft.com/office/drawing/2018/hyperlinkcolor" val="tx"/>
                    </a:ext>
                  </a:extLst>
                </a:hlinkClick>
              </a:rPr>
              <a:t>/</a:t>
            </a:r>
            <a:r>
              <a:rPr lang="en-US" sz="2000" err="1">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hlinkClick r:id="rId4">
                  <a:extLst>
                    <a:ext uri="{A12FA001-AC4F-418D-AE19-62706E023703}">
                      <ahyp:hlinkClr xmlns:ahyp="http://schemas.microsoft.com/office/drawing/2018/hyperlinkcolor" val="tx"/>
                    </a:ext>
                  </a:extLst>
                </a:hlinkClick>
              </a:rPr>
              <a:t>ragrelevance</a:t>
            </a:r>
            <a:r>
              <a:rPr lang="en-US" sz="2000">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hlinkClick r:id="rId4">
                  <a:extLst>
                    <a:ext uri="{A12FA001-AC4F-418D-AE19-62706E023703}">
                      <ahyp:hlinkClr xmlns:ahyp="http://schemas.microsoft.com/office/drawing/2018/hyperlinkcolor" val="tx"/>
                    </a:ext>
                  </a:extLst>
                </a:hlinkClick>
              </a:rPr>
              <a:t> </a:t>
            </a:r>
            <a:endParaRPr lang="en-US" sz="2000">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endParaRPr>
          </a:p>
        </p:txBody>
      </p:sp>
      <p:sp>
        <p:nvSpPr>
          <p:cNvPr id="7" name="TextBox 6">
            <a:extLst>
              <a:ext uri="{FF2B5EF4-FFF2-40B4-BE49-F238E27FC236}">
                <a16:creationId xmlns:a16="http://schemas.microsoft.com/office/drawing/2014/main" id="{5266014B-F9DB-B2B0-B1A8-611893967EB4}"/>
              </a:ext>
            </a:extLst>
          </p:cNvPr>
          <p:cNvSpPr txBox="1"/>
          <p:nvPr/>
        </p:nvSpPr>
        <p:spPr>
          <a:xfrm>
            <a:off x="5937665" y="3681186"/>
            <a:ext cx="3873086" cy="923330"/>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l">
              <a:defRPr/>
            </a:pPr>
            <a:r>
              <a:rPr lang="en-US" sz="2000">
                <a:gradFill>
                  <a:gsLst>
                    <a:gs pos="6993">
                      <a:srgbClr val="000000"/>
                    </a:gs>
                    <a:gs pos="20280">
                      <a:srgbClr val="000000"/>
                    </a:gs>
                  </a:gsLst>
                  <a:lin ang="0" scaled="0"/>
                </a:gradFill>
              </a:rPr>
              <a:t>Deploy a RAG chat application for your organization’s data</a:t>
            </a:r>
            <a:br>
              <a:rPr lang="en-US" sz="2000">
                <a:gradFill>
                  <a:gsLst>
                    <a:gs pos="6993">
                      <a:srgbClr val="000000"/>
                    </a:gs>
                    <a:gs pos="20280">
                      <a:srgbClr val="000000"/>
                    </a:gs>
                  </a:gsLst>
                  <a:lin ang="0" scaled="0"/>
                </a:gradFill>
              </a:rPr>
            </a:br>
            <a:r>
              <a:rPr lang="en-US" sz="2000" err="1">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hlinkClick r:id="rId5">
                  <a:extLst>
                    <a:ext uri="{A12FA001-AC4F-418D-AE19-62706E023703}">
                      <ahyp:hlinkClr xmlns:ahyp="http://schemas.microsoft.com/office/drawing/2018/hyperlinkcolor" val="tx"/>
                    </a:ext>
                  </a:extLst>
                </a:hlinkClick>
              </a:rPr>
              <a:t>aka.ms</a:t>
            </a:r>
            <a:r>
              <a:rPr lang="en-US" sz="2000">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hlinkClick r:id="rId5">
                  <a:extLst>
                    <a:ext uri="{A12FA001-AC4F-418D-AE19-62706E023703}">
                      <ahyp:hlinkClr xmlns:ahyp="http://schemas.microsoft.com/office/drawing/2018/hyperlinkcolor" val="tx"/>
                    </a:ext>
                  </a:extLst>
                </a:hlinkClick>
              </a:rPr>
              <a:t>/</a:t>
            </a:r>
            <a:r>
              <a:rPr lang="en-US" sz="2000" err="1">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hlinkClick r:id="rId5">
                  <a:extLst>
                    <a:ext uri="{A12FA001-AC4F-418D-AE19-62706E023703}">
                      <ahyp:hlinkClr xmlns:ahyp="http://schemas.microsoft.com/office/drawing/2018/hyperlinkcolor" val="tx"/>
                    </a:ext>
                  </a:extLst>
                </a:hlinkClick>
              </a:rPr>
              <a:t>azai</a:t>
            </a:r>
            <a:r>
              <a:rPr lang="en-US" sz="2000">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hlinkClick r:id="rId5">
                  <a:extLst>
                    <a:ext uri="{A12FA001-AC4F-418D-AE19-62706E023703}">
                      <ahyp:hlinkClr xmlns:ahyp="http://schemas.microsoft.com/office/drawing/2018/hyperlinkcolor" val="tx"/>
                    </a:ext>
                  </a:extLst>
                </a:hlinkClick>
              </a:rPr>
              <a:t>/python</a:t>
            </a:r>
            <a:endParaRPr lang="en-US" sz="2000">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endParaRPr>
          </a:p>
        </p:txBody>
      </p:sp>
      <p:sp>
        <p:nvSpPr>
          <p:cNvPr id="11" name="TextBox 10">
            <a:extLst>
              <a:ext uri="{FF2B5EF4-FFF2-40B4-BE49-F238E27FC236}">
                <a16:creationId xmlns:a16="http://schemas.microsoft.com/office/drawing/2014/main" id="{1751E53A-5B24-2692-C694-72EAC8234583}"/>
              </a:ext>
            </a:extLst>
          </p:cNvPr>
          <p:cNvSpPr txBox="1"/>
          <p:nvPr/>
        </p:nvSpPr>
        <p:spPr>
          <a:xfrm>
            <a:off x="5937665" y="5088369"/>
            <a:ext cx="4939886" cy="923330"/>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l">
              <a:defRPr/>
            </a:pPr>
            <a:r>
              <a:rPr lang="en-US" sz="2000">
                <a:gradFill>
                  <a:gsLst>
                    <a:gs pos="6993">
                      <a:srgbClr val="000000"/>
                    </a:gs>
                    <a:gs pos="20280">
                      <a:srgbClr val="000000"/>
                    </a:gs>
                  </a:gsLst>
                  <a:lin ang="0" scaled="0"/>
                </a:gradFill>
              </a:rPr>
              <a:t>Explore Azure AI Studio for a complete RAG development experience</a:t>
            </a:r>
            <a:br>
              <a:rPr lang="en-US" sz="2000">
                <a:gradFill>
                  <a:gsLst>
                    <a:gs pos="6993">
                      <a:srgbClr val="000000"/>
                    </a:gs>
                    <a:gs pos="20280">
                      <a:srgbClr val="000000"/>
                    </a:gs>
                  </a:gsLst>
                  <a:lin ang="0" scaled="0"/>
                </a:gradFill>
              </a:rPr>
            </a:br>
            <a:r>
              <a:rPr lang="en-US" sz="2000" err="1">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hlinkClick r:id="rId6">
                  <a:extLst>
                    <a:ext uri="{A12FA001-AC4F-418D-AE19-62706E023703}">
                      <ahyp:hlinkClr xmlns:ahyp="http://schemas.microsoft.com/office/drawing/2018/hyperlinkcolor" val="tx"/>
                    </a:ext>
                  </a:extLst>
                </a:hlinkClick>
              </a:rPr>
              <a:t>aka.ms</a:t>
            </a:r>
            <a:r>
              <a:rPr lang="en-US" sz="2000">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hlinkClick r:id="rId6">
                  <a:extLst>
                    <a:ext uri="{A12FA001-AC4F-418D-AE19-62706E023703}">
                      <ahyp:hlinkClr xmlns:ahyp="http://schemas.microsoft.com/office/drawing/2018/hyperlinkcolor" val="tx"/>
                    </a:ext>
                  </a:extLst>
                </a:hlinkClick>
              </a:rPr>
              <a:t>/</a:t>
            </a:r>
            <a:r>
              <a:rPr lang="en-US" sz="2000" err="1">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hlinkClick r:id="rId6">
                  <a:extLst>
                    <a:ext uri="{A12FA001-AC4F-418D-AE19-62706E023703}">
                      <ahyp:hlinkClr xmlns:ahyp="http://schemas.microsoft.com/office/drawing/2018/hyperlinkcolor" val="tx"/>
                    </a:ext>
                  </a:extLst>
                </a:hlinkClick>
              </a:rPr>
              <a:t>AzureAIStudio</a:t>
            </a:r>
            <a:endParaRPr lang="en-US" sz="2000">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cs typeface="Segoe UI" panose="020B0502040204020203" pitchFamily="34" charset="0"/>
            </a:endParaRPr>
          </a:p>
        </p:txBody>
      </p:sp>
      <p:grpSp>
        <p:nvGrpSpPr>
          <p:cNvPr id="14" name="Group 13">
            <a:extLst>
              <a:ext uri="{FF2B5EF4-FFF2-40B4-BE49-F238E27FC236}">
                <a16:creationId xmlns:a16="http://schemas.microsoft.com/office/drawing/2014/main" id="{8127533E-34C4-B924-78D5-1838D73EDD55}"/>
              </a:ext>
              <a:ext uri="{C183D7F6-B498-43B3-948B-1728B52AA6E4}">
                <adec:decorative xmlns:adec="http://schemas.microsoft.com/office/drawing/2017/decorative" val="1"/>
              </a:ext>
            </a:extLst>
          </p:cNvPr>
          <p:cNvGrpSpPr/>
          <p:nvPr/>
        </p:nvGrpSpPr>
        <p:grpSpPr>
          <a:xfrm>
            <a:off x="4946650" y="765364"/>
            <a:ext cx="741520" cy="5155430"/>
            <a:chOff x="4356100" y="765364"/>
            <a:chExt cx="741520" cy="5155430"/>
          </a:xfrm>
          <a:gradFill flip="none" rotWithShape="1">
            <a:gsLst>
              <a:gs pos="0">
                <a:srgbClr val="FF5C39"/>
              </a:gs>
              <a:gs pos="32000">
                <a:srgbClr val="C03BC4"/>
              </a:gs>
              <a:gs pos="68000">
                <a:srgbClr val="0078D4"/>
              </a:gs>
              <a:gs pos="100000">
                <a:srgbClr val="399A91"/>
              </a:gs>
            </a:gsLst>
            <a:lin ang="16200000" scaled="1"/>
            <a:tileRect/>
          </a:gradFill>
        </p:grpSpPr>
        <p:sp>
          <p:nvSpPr>
            <p:cNvPr id="8" name="Oval 7">
              <a:extLst>
                <a:ext uri="{FF2B5EF4-FFF2-40B4-BE49-F238E27FC236}">
                  <a16:creationId xmlns:a16="http://schemas.microsoft.com/office/drawing/2014/main" id="{7C5CFA28-EF59-DA12-7425-E7F0C304E268}"/>
                </a:ext>
                <a:ext uri="{C183D7F6-B498-43B3-948B-1728B52AA6E4}">
                  <adec:decorative xmlns:adec="http://schemas.microsoft.com/office/drawing/2017/decorative" val="1"/>
                </a:ext>
              </a:extLst>
            </p:cNvPr>
            <p:cNvSpPr/>
            <p:nvPr/>
          </p:nvSpPr>
          <p:spPr bwMode="auto">
            <a:xfrm>
              <a:off x="4356100" y="765364"/>
              <a:ext cx="741520" cy="741520"/>
            </a:xfrm>
            <a:prstGeom prst="ellipse">
              <a:avLst/>
            </a:prstGeom>
            <a:grp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r>
                <a:rPr lang="en-US" sz="2400">
                  <a:gradFill>
                    <a:gsLst>
                      <a:gs pos="1399">
                        <a:srgbClr val="FFFFFF"/>
                      </a:gs>
                      <a:gs pos="17000">
                        <a:srgbClr val="FFFFFF"/>
                      </a:gs>
                    </a:gsLst>
                    <a:path path="circle">
                      <a:fillToRect l="100000" t="100000"/>
                    </a:path>
                  </a:gradFill>
                  <a:latin typeface="+mj-lt"/>
                  <a:cs typeface="Segoe UI" panose="020B0502040204020203" pitchFamily="34" charset="0"/>
                </a:rPr>
                <a:t>1</a:t>
              </a:r>
            </a:p>
          </p:txBody>
        </p:sp>
        <p:sp>
          <p:nvSpPr>
            <p:cNvPr id="9" name="Oval 8">
              <a:extLst>
                <a:ext uri="{FF2B5EF4-FFF2-40B4-BE49-F238E27FC236}">
                  <a16:creationId xmlns:a16="http://schemas.microsoft.com/office/drawing/2014/main" id="{1ABAD386-7FAF-96D5-FE1C-2C7CB19B2850}"/>
                </a:ext>
                <a:ext uri="{C183D7F6-B498-43B3-948B-1728B52AA6E4}">
                  <adec:decorative xmlns:adec="http://schemas.microsoft.com/office/drawing/2017/decorative" val="1"/>
                </a:ext>
              </a:extLst>
            </p:cNvPr>
            <p:cNvSpPr/>
            <p:nvPr/>
          </p:nvSpPr>
          <p:spPr bwMode="auto">
            <a:xfrm>
              <a:off x="4356100" y="2187936"/>
              <a:ext cx="741520" cy="741520"/>
            </a:xfrm>
            <a:prstGeom prst="ellipse">
              <a:avLst/>
            </a:prstGeom>
            <a:grp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r>
                <a:rPr lang="en-US" sz="2400">
                  <a:gradFill>
                    <a:gsLst>
                      <a:gs pos="1399">
                        <a:srgbClr val="FFFFFF"/>
                      </a:gs>
                      <a:gs pos="17000">
                        <a:srgbClr val="FFFFFF"/>
                      </a:gs>
                    </a:gsLst>
                    <a:path path="circle">
                      <a:fillToRect l="100000" t="100000"/>
                    </a:path>
                  </a:gradFill>
                  <a:latin typeface="+mj-lt"/>
                  <a:cs typeface="Segoe UI" panose="020B0502040204020203" pitchFamily="34" charset="0"/>
                </a:rPr>
                <a:t>2</a:t>
              </a:r>
            </a:p>
          </p:txBody>
        </p:sp>
        <p:sp>
          <p:nvSpPr>
            <p:cNvPr id="10" name="Oval 9">
              <a:extLst>
                <a:ext uri="{FF2B5EF4-FFF2-40B4-BE49-F238E27FC236}">
                  <a16:creationId xmlns:a16="http://schemas.microsoft.com/office/drawing/2014/main" id="{B5556FE3-3568-B2E6-EC69-4FDBEB190EE2}"/>
                </a:ext>
                <a:ext uri="{C183D7F6-B498-43B3-948B-1728B52AA6E4}">
                  <adec:decorative xmlns:adec="http://schemas.microsoft.com/office/drawing/2017/decorative" val="1"/>
                </a:ext>
              </a:extLst>
            </p:cNvPr>
            <p:cNvSpPr/>
            <p:nvPr/>
          </p:nvSpPr>
          <p:spPr bwMode="auto">
            <a:xfrm>
              <a:off x="4356100" y="3782350"/>
              <a:ext cx="741520" cy="741520"/>
            </a:xfrm>
            <a:prstGeom prst="ellipse">
              <a:avLst/>
            </a:prstGeom>
            <a:grp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r>
                <a:rPr lang="en-US" sz="2400">
                  <a:gradFill>
                    <a:gsLst>
                      <a:gs pos="1399">
                        <a:srgbClr val="FFFFFF"/>
                      </a:gs>
                      <a:gs pos="17000">
                        <a:srgbClr val="FFFFFF"/>
                      </a:gs>
                    </a:gsLst>
                    <a:path path="circle">
                      <a:fillToRect l="100000" t="100000"/>
                    </a:path>
                  </a:gradFill>
                  <a:latin typeface="+mj-lt"/>
                  <a:cs typeface="Segoe UI" panose="020B0502040204020203" pitchFamily="34" charset="0"/>
                </a:rPr>
                <a:t>3</a:t>
              </a:r>
            </a:p>
          </p:txBody>
        </p:sp>
        <p:sp>
          <p:nvSpPr>
            <p:cNvPr id="12" name="Oval 11">
              <a:extLst>
                <a:ext uri="{FF2B5EF4-FFF2-40B4-BE49-F238E27FC236}">
                  <a16:creationId xmlns:a16="http://schemas.microsoft.com/office/drawing/2014/main" id="{D65CDBD1-654F-18E0-CEF5-824645D78DA8}"/>
                </a:ext>
                <a:ext uri="{C183D7F6-B498-43B3-948B-1728B52AA6E4}">
                  <adec:decorative xmlns:adec="http://schemas.microsoft.com/office/drawing/2017/decorative" val="1"/>
                </a:ext>
              </a:extLst>
            </p:cNvPr>
            <p:cNvSpPr/>
            <p:nvPr/>
          </p:nvSpPr>
          <p:spPr bwMode="auto">
            <a:xfrm>
              <a:off x="4356100" y="5179274"/>
              <a:ext cx="741520" cy="741520"/>
            </a:xfrm>
            <a:prstGeom prst="ellipse">
              <a:avLst/>
            </a:prstGeom>
            <a:grp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r>
                <a:rPr lang="en-US" sz="2400">
                  <a:gradFill>
                    <a:gsLst>
                      <a:gs pos="1399">
                        <a:srgbClr val="FFFFFF"/>
                      </a:gs>
                      <a:gs pos="17000">
                        <a:srgbClr val="FFFFFF"/>
                      </a:gs>
                    </a:gsLst>
                    <a:path path="circle">
                      <a:fillToRect l="100000" t="100000"/>
                    </a:path>
                  </a:gradFill>
                  <a:latin typeface="+mj-lt"/>
                  <a:cs typeface="Segoe UI" panose="020B0502040204020203" pitchFamily="34" charset="0"/>
                </a:rPr>
                <a:t>4</a:t>
              </a:r>
            </a:p>
          </p:txBody>
        </p:sp>
      </p:grpSp>
      <p:cxnSp>
        <p:nvCxnSpPr>
          <p:cNvPr id="22" name="!!line2">
            <a:extLst>
              <a:ext uri="{FF2B5EF4-FFF2-40B4-BE49-F238E27FC236}">
                <a16:creationId xmlns:a16="http://schemas.microsoft.com/office/drawing/2014/main" id="{9BD55E56-09B7-4F89-D22D-9F0A1E4F5146}"/>
              </a:ext>
              <a:ext uri="{C183D7F6-B498-43B3-948B-1728B52AA6E4}">
                <adec:decorative xmlns:adec="http://schemas.microsoft.com/office/drawing/2017/decorative" val="1"/>
              </a:ext>
            </a:extLst>
          </p:cNvPr>
          <p:cNvCxnSpPr>
            <a:cxnSpLocks/>
          </p:cNvCxnSpPr>
          <p:nvPr/>
        </p:nvCxnSpPr>
        <p:spPr>
          <a:xfrm>
            <a:off x="5937665" y="1698651"/>
            <a:ext cx="5678261" cy="0"/>
          </a:xfrm>
          <a:prstGeom prst="lin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4" name="!!line2">
            <a:extLst>
              <a:ext uri="{FF2B5EF4-FFF2-40B4-BE49-F238E27FC236}">
                <a16:creationId xmlns:a16="http://schemas.microsoft.com/office/drawing/2014/main" id="{004C0AEC-4DBB-F8CE-2551-93E0D324C5B6}"/>
              </a:ext>
              <a:ext uri="{C183D7F6-B498-43B3-948B-1728B52AA6E4}">
                <adec:decorative xmlns:adec="http://schemas.microsoft.com/office/drawing/2017/decorative" val="1"/>
              </a:ext>
            </a:extLst>
          </p:cNvPr>
          <p:cNvCxnSpPr>
            <a:cxnSpLocks/>
          </p:cNvCxnSpPr>
          <p:nvPr/>
        </p:nvCxnSpPr>
        <p:spPr>
          <a:xfrm>
            <a:off x="5937665" y="3439259"/>
            <a:ext cx="5678261" cy="0"/>
          </a:xfrm>
          <a:prstGeom prst="lin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5" name="!!line2">
            <a:extLst>
              <a:ext uri="{FF2B5EF4-FFF2-40B4-BE49-F238E27FC236}">
                <a16:creationId xmlns:a16="http://schemas.microsoft.com/office/drawing/2014/main" id="{B6A7C240-D643-39DC-D601-C8F8F82F903C}"/>
              </a:ext>
              <a:ext uri="{C183D7F6-B498-43B3-948B-1728B52AA6E4}">
                <adec:decorative xmlns:adec="http://schemas.microsoft.com/office/drawing/2017/decorative" val="1"/>
              </a:ext>
            </a:extLst>
          </p:cNvPr>
          <p:cNvCxnSpPr>
            <a:cxnSpLocks/>
          </p:cNvCxnSpPr>
          <p:nvPr/>
        </p:nvCxnSpPr>
        <p:spPr>
          <a:xfrm>
            <a:off x="5937665" y="4846443"/>
            <a:ext cx="5678261" cy="0"/>
          </a:xfrm>
          <a:prstGeom prst="lin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1110759869"/>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 name="Rounded Rectangle 24">
            <a:extLst>
              <a:ext uri="{FF2B5EF4-FFF2-40B4-BE49-F238E27FC236}">
                <a16:creationId xmlns:a16="http://schemas.microsoft.com/office/drawing/2014/main" id="{7A90659F-5C90-4C36-4EB7-D394B77C8BDF}"/>
              </a:ext>
              <a:ext uri="{C183D7F6-B498-43B3-948B-1728B52AA6E4}">
                <adec:decorative xmlns:adec="http://schemas.microsoft.com/office/drawing/2017/decorative" val="1"/>
              </a:ext>
            </a:extLst>
          </p:cNvPr>
          <p:cNvSpPr/>
          <p:nvPr/>
        </p:nvSpPr>
        <p:spPr bwMode="auto">
          <a:xfrm>
            <a:off x="7325522" y="1573903"/>
            <a:ext cx="4534356" cy="4080074"/>
          </a:xfrm>
          <a:prstGeom prst="roundRect">
            <a:avLst>
              <a:gd name="adj" fmla="val 3612"/>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err="1">
              <a:gradFill>
                <a:gsLst>
                  <a:gs pos="41958">
                    <a:srgbClr val="FFFFFF"/>
                  </a:gs>
                  <a:gs pos="63000">
                    <a:srgbClr val="FFFFFF"/>
                  </a:gs>
                </a:gsLst>
                <a:lin ang="0" scaled="0"/>
              </a:gradFill>
              <a:latin typeface="Segoe UI"/>
              <a:cs typeface="Segoe UI" panose="020B0502040204020203" pitchFamily="34" charset="0"/>
            </a:endParaRPr>
          </a:p>
        </p:txBody>
      </p:sp>
      <p:sp>
        <p:nvSpPr>
          <p:cNvPr id="23" name="Rectangle: Rounded Corners 18">
            <a:extLst>
              <a:ext uri="{FF2B5EF4-FFF2-40B4-BE49-F238E27FC236}">
                <a16:creationId xmlns:a16="http://schemas.microsoft.com/office/drawing/2014/main" id="{FDD954A8-8393-29F0-6873-0F57FD518096}"/>
              </a:ext>
              <a:ext uri="{C183D7F6-B498-43B3-948B-1728B52AA6E4}">
                <adec:decorative xmlns:adec="http://schemas.microsoft.com/office/drawing/2017/decorative" val="1"/>
              </a:ext>
            </a:extLst>
          </p:cNvPr>
          <p:cNvSpPr/>
          <p:nvPr/>
        </p:nvSpPr>
        <p:spPr bwMode="auto">
          <a:xfrm>
            <a:off x="7320305" y="1573903"/>
            <a:ext cx="4534356" cy="876050"/>
          </a:xfrm>
          <a:prstGeom prst="round2SameRect">
            <a:avLst>
              <a:gd name="adj1" fmla="val 15113"/>
              <a:gd name="adj2" fmla="val 0"/>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CA" sz="1800" b="1">
              <a:ln w="3175">
                <a:noFill/>
              </a:ln>
              <a:solidFill>
                <a:schemeClr val="bg1"/>
              </a:solidFill>
              <a:latin typeface="Segoe UI Semibold" panose="020F0502020204030204" pitchFamily="34" charset="0"/>
              <a:cs typeface="Segoe UI" pitchFamily="34" charset="0"/>
            </a:endParaRPr>
          </a:p>
        </p:txBody>
      </p:sp>
      <p:sp>
        <p:nvSpPr>
          <p:cNvPr id="2" name="Title 1">
            <a:extLst>
              <a:ext uri="{FF2B5EF4-FFF2-40B4-BE49-F238E27FC236}">
                <a16:creationId xmlns:a16="http://schemas.microsoft.com/office/drawing/2014/main" id="{3D4DBD7F-73AD-BD5D-F4B8-6080837EA917}"/>
              </a:ext>
            </a:extLst>
          </p:cNvPr>
          <p:cNvSpPr>
            <a:spLocks noGrp="1"/>
          </p:cNvSpPr>
          <p:nvPr>
            <p:ph type="title"/>
          </p:nvPr>
        </p:nvSpPr>
        <p:spPr/>
        <p:txBody>
          <a:bodyPr/>
          <a:lstStyle/>
          <a:p>
            <a:r>
              <a:rPr lang="en-US"/>
              <a:t>Efficient vector storage: Quantization</a:t>
            </a:r>
          </a:p>
        </p:txBody>
      </p:sp>
      <p:sp>
        <p:nvSpPr>
          <p:cNvPr id="17" name="Text Placeholder 4">
            <a:extLst>
              <a:ext uri="{FF2B5EF4-FFF2-40B4-BE49-F238E27FC236}">
                <a16:creationId xmlns:a16="http://schemas.microsoft.com/office/drawing/2014/main" id="{D4D1A894-1FC1-4D33-5916-587A26632199}"/>
              </a:ext>
            </a:extLst>
          </p:cNvPr>
          <p:cNvSpPr txBox="1">
            <a:spLocks/>
          </p:cNvSpPr>
          <p:nvPr/>
        </p:nvSpPr>
        <p:spPr>
          <a:xfrm>
            <a:off x="588263" y="1019905"/>
            <a:ext cx="11259180" cy="553998"/>
          </a:xfrm>
          <a:prstGeom prst="rect">
            <a:avLst/>
          </a:prstGeom>
          <a:noFill/>
        </p:spPr>
        <p:txBody>
          <a:bodyPr lIns="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112" lvl="1" indent="0">
              <a:spcBef>
                <a:spcPts val="0"/>
              </a:spcBef>
              <a:spcAft>
                <a:spcPts val="1200"/>
              </a:spcAft>
              <a:buNone/>
            </a:pPr>
            <a:r>
              <a:rPr lang="en-US">
                <a:ln w="3175">
                  <a:noFill/>
                </a:ln>
                <a:gradFill flip="none" rotWithShape="1">
                  <a:gsLst>
                    <a:gs pos="0">
                      <a:srgbClr val="FF5C39"/>
                    </a:gs>
                    <a:gs pos="32000">
                      <a:srgbClr val="C03BC4"/>
                    </a:gs>
                    <a:gs pos="68000">
                      <a:srgbClr val="0078D4"/>
                    </a:gs>
                    <a:gs pos="100000">
                      <a:srgbClr val="399A91"/>
                    </a:gs>
                  </a:gsLst>
                  <a:path path="circle">
                    <a:fillToRect l="100000" t="100000"/>
                  </a:path>
                  <a:tileRect r="-100000" b="-100000"/>
                </a:gradFill>
                <a:latin typeface="+mj-lt"/>
                <a:cs typeface="Segoe UI" pitchFamily="34" charset="0"/>
              </a:rPr>
              <a:t>Store more vectors with less space using quantization</a:t>
            </a:r>
          </a:p>
        </p:txBody>
      </p:sp>
      <p:sp>
        <p:nvSpPr>
          <p:cNvPr id="19" name="Rounded Rectangle 5">
            <a:extLst>
              <a:ext uri="{FF2B5EF4-FFF2-40B4-BE49-F238E27FC236}">
                <a16:creationId xmlns:a16="http://schemas.microsoft.com/office/drawing/2014/main" id="{7A7F2A05-0A4C-242F-F14A-3373834E91B6}"/>
              </a:ext>
              <a:ext uri="{C183D7F6-B498-43B3-948B-1728B52AA6E4}">
                <adec:decorative xmlns:adec="http://schemas.microsoft.com/office/drawing/2017/decorative" val="1"/>
              </a:ext>
            </a:extLst>
          </p:cNvPr>
          <p:cNvSpPr/>
          <p:nvPr/>
        </p:nvSpPr>
        <p:spPr bwMode="auto">
          <a:xfrm>
            <a:off x="599815" y="1582609"/>
            <a:ext cx="6539593" cy="2277687"/>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21" name="TextBox 20">
            <a:extLst>
              <a:ext uri="{FF2B5EF4-FFF2-40B4-BE49-F238E27FC236}">
                <a16:creationId xmlns:a16="http://schemas.microsoft.com/office/drawing/2014/main" id="{3A2DF649-8B2C-119F-EC7F-626EC14C6738}"/>
              </a:ext>
            </a:extLst>
          </p:cNvPr>
          <p:cNvSpPr txBox="1"/>
          <p:nvPr/>
        </p:nvSpPr>
        <p:spPr>
          <a:xfrm>
            <a:off x="917924" y="1701662"/>
            <a:ext cx="4289635" cy="246221"/>
          </a:xfrm>
          <a:prstGeom prst="rect">
            <a:avLst/>
          </a:prstGeom>
          <a:noFill/>
        </p:spPr>
        <p:txBody>
          <a:bodyPr wrap="square" lIns="0" tIns="0" rIns="0" bIns="0" rtlCol="0">
            <a:spAutoFit/>
          </a:bodyPr>
          <a:lstStyle/>
          <a:p>
            <a:r>
              <a:rPr lang="en-US" sz="1600">
                <a:latin typeface="+mj-lt"/>
              </a:rPr>
              <a:t>Scalar quantization from float32 to int8:</a:t>
            </a:r>
          </a:p>
        </p:txBody>
      </p:sp>
      <p:sp>
        <p:nvSpPr>
          <p:cNvPr id="10" name="TextBox 9">
            <a:extLst>
              <a:ext uri="{FF2B5EF4-FFF2-40B4-BE49-F238E27FC236}">
                <a16:creationId xmlns:a16="http://schemas.microsoft.com/office/drawing/2014/main" id="{B71B329C-8722-3C47-FE7D-BF7E493214C4}"/>
              </a:ext>
            </a:extLst>
          </p:cNvPr>
          <p:cNvSpPr txBox="1"/>
          <p:nvPr/>
        </p:nvSpPr>
        <p:spPr>
          <a:xfrm>
            <a:off x="917924" y="2080621"/>
            <a:ext cx="418879" cy="369332"/>
          </a:xfrm>
          <a:prstGeom prst="rect">
            <a:avLst/>
          </a:prstGeom>
          <a:noFill/>
        </p:spPr>
        <p:txBody>
          <a:bodyPr wrap="square" lIns="0" tIns="0" rIns="0" bIns="0" rtlCol="0">
            <a:spAutoFit/>
          </a:bodyPr>
          <a:lstStyle/>
          <a:p>
            <a:pPr algn="l"/>
            <a:r>
              <a:rPr lang="en-US" sz="1200">
                <a:latin typeface="+mj-lt"/>
              </a:rPr>
              <a:t>Min float</a:t>
            </a:r>
          </a:p>
        </p:txBody>
      </p:sp>
      <p:sp>
        <p:nvSpPr>
          <p:cNvPr id="14" name="TextBox 13">
            <a:extLst>
              <a:ext uri="{FF2B5EF4-FFF2-40B4-BE49-F238E27FC236}">
                <a16:creationId xmlns:a16="http://schemas.microsoft.com/office/drawing/2014/main" id="{C19F69FE-09F5-7AC9-9781-7B0E618421DD}"/>
              </a:ext>
            </a:extLst>
          </p:cNvPr>
          <p:cNvSpPr txBox="1"/>
          <p:nvPr/>
        </p:nvSpPr>
        <p:spPr>
          <a:xfrm>
            <a:off x="1269109" y="2795748"/>
            <a:ext cx="807373" cy="436907"/>
          </a:xfrm>
          <a:prstGeom prst="rect">
            <a:avLst/>
          </a:prstGeom>
          <a:noFill/>
        </p:spPr>
        <p:txBody>
          <a:bodyPr wrap="square" lIns="0" tIns="0" rIns="0" bIns="0" rtlCol="0">
            <a:spAutoFit/>
          </a:bodyPr>
          <a:lstStyle/>
          <a:p>
            <a:pPr algn="r"/>
            <a:r>
              <a:rPr lang="en-US" sz="1400">
                <a:latin typeface="+mj-lt"/>
              </a:rPr>
              <a:t>~Min observed value</a:t>
            </a:r>
          </a:p>
        </p:txBody>
      </p:sp>
      <p:sp>
        <p:nvSpPr>
          <p:cNvPr id="12" name="TextBox 11">
            <a:extLst>
              <a:ext uri="{FF2B5EF4-FFF2-40B4-BE49-F238E27FC236}">
                <a16:creationId xmlns:a16="http://schemas.microsoft.com/office/drawing/2014/main" id="{77D5A9DF-BA2A-C680-793E-329CD948D187}"/>
              </a:ext>
            </a:extLst>
          </p:cNvPr>
          <p:cNvSpPr txBox="1"/>
          <p:nvPr/>
        </p:nvSpPr>
        <p:spPr>
          <a:xfrm>
            <a:off x="2359256" y="3434773"/>
            <a:ext cx="552512" cy="249661"/>
          </a:xfrm>
          <a:prstGeom prst="rect">
            <a:avLst/>
          </a:prstGeom>
          <a:noFill/>
        </p:spPr>
        <p:txBody>
          <a:bodyPr wrap="square" lIns="0" tIns="0" rIns="0" bIns="0" rtlCol="0">
            <a:spAutoFit/>
          </a:bodyPr>
          <a:lstStyle/>
          <a:p>
            <a:pPr algn="ctr"/>
            <a:r>
              <a:rPr lang="en-US" sz="1600">
                <a:latin typeface="+mj-lt"/>
              </a:rPr>
              <a:t>-127</a:t>
            </a:r>
          </a:p>
        </p:txBody>
      </p:sp>
      <p:sp>
        <p:nvSpPr>
          <p:cNvPr id="13" name="TextBox 12">
            <a:extLst>
              <a:ext uri="{FF2B5EF4-FFF2-40B4-BE49-F238E27FC236}">
                <a16:creationId xmlns:a16="http://schemas.microsoft.com/office/drawing/2014/main" id="{B3E9B638-EC1E-45A6-FE79-9455A650235B}"/>
              </a:ext>
            </a:extLst>
          </p:cNvPr>
          <p:cNvSpPr txBox="1"/>
          <p:nvPr/>
        </p:nvSpPr>
        <p:spPr>
          <a:xfrm>
            <a:off x="4879889" y="3467121"/>
            <a:ext cx="511175" cy="249661"/>
          </a:xfrm>
          <a:prstGeom prst="rect">
            <a:avLst/>
          </a:prstGeom>
          <a:noFill/>
        </p:spPr>
        <p:txBody>
          <a:bodyPr wrap="square" lIns="0" tIns="0" rIns="0" bIns="0" rtlCol="0">
            <a:spAutoFit/>
          </a:bodyPr>
          <a:lstStyle/>
          <a:p>
            <a:pPr algn="ctr"/>
            <a:r>
              <a:rPr lang="en-US" sz="1600">
                <a:latin typeface="+mj-lt"/>
              </a:rPr>
              <a:t>128</a:t>
            </a:r>
          </a:p>
        </p:txBody>
      </p:sp>
      <p:sp>
        <p:nvSpPr>
          <p:cNvPr id="15" name="TextBox 14">
            <a:extLst>
              <a:ext uri="{FF2B5EF4-FFF2-40B4-BE49-F238E27FC236}">
                <a16:creationId xmlns:a16="http://schemas.microsoft.com/office/drawing/2014/main" id="{A8B046D1-FAAC-7A03-FCD6-607DC0C9EBCA}"/>
              </a:ext>
            </a:extLst>
          </p:cNvPr>
          <p:cNvSpPr txBox="1"/>
          <p:nvPr/>
        </p:nvSpPr>
        <p:spPr>
          <a:xfrm>
            <a:off x="5629407" y="2795748"/>
            <a:ext cx="820989" cy="436907"/>
          </a:xfrm>
          <a:prstGeom prst="rect">
            <a:avLst/>
          </a:prstGeom>
          <a:noFill/>
        </p:spPr>
        <p:txBody>
          <a:bodyPr wrap="square" lIns="0" tIns="0" rIns="0" bIns="0" rtlCol="0">
            <a:spAutoFit/>
          </a:bodyPr>
          <a:lstStyle/>
          <a:p>
            <a:pPr algn="l"/>
            <a:r>
              <a:rPr lang="en-US" sz="1400">
                <a:latin typeface="+mj-lt"/>
              </a:rPr>
              <a:t>~Max observed value</a:t>
            </a:r>
          </a:p>
        </p:txBody>
      </p:sp>
      <p:sp>
        <p:nvSpPr>
          <p:cNvPr id="11" name="TextBox 10">
            <a:extLst>
              <a:ext uri="{FF2B5EF4-FFF2-40B4-BE49-F238E27FC236}">
                <a16:creationId xmlns:a16="http://schemas.microsoft.com/office/drawing/2014/main" id="{240CA03C-EFE5-7A24-FE9C-1C464EA07AC3}"/>
              </a:ext>
            </a:extLst>
          </p:cNvPr>
          <p:cNvSpPr txBox="1"/>
          <p:nvPr/>
        </p:nvSpPr>
        <p:spPr>
          <a:xfrm>
            <a:off x="6364517" y="2080622"/>
            <a:ext cx="437064" cy="369332"/>
          </a:xfrm>
          <a:prstGeom prst="rect">
            <a:avLst/>
          </a:prstGeom>
          <a:noFill/>
        </p:spPr>
        <p:txBody>
          <a:bodyPr wrap="square" lIns="0" tIns="0" rIns="0" bIns="0" rtlCol="0">
            <a:spAutoFit/>
          </a:bodyPr>
          <a:lstStyle/>
          <a:p>
            <a:pPr algn="r"/>
            <a:r>
              <a:rPr lang="en-US" sz="1200">
                <a:latin typeface="+mj-lt"/>
              </a:rPr>
              <a:t>Max float</a:t>
            </a:r>
          </a:p>
        </p:txBody>
      </p:sp>
      <p:sp>
        <p:nvSpPr>
          <p:cNvPr id="20" name="Rounded Rectangle 5">
            <a:extLst>
              <a:ext uri="{FF2B5EF4-FFF2-40B4-BE49-F238E27FC236}">
                <a16:creationId xmlns:a16="http://schemas.microsoft.com/office/drawing/2014/main" id="{26F28580-7E7A-BAD7-678C-52471EFB8D66}"/>
              </a:ext>
              <a:ext uri="{C183D7F6-B498-43B3-948B-1728B52AA6E4}">
                <adec:decorative xmlns:adec="http://schemas.microsoft.com/office/drawing/2017/decorative" val="1"/>
              </a:ext>
            </a:extLst>
          </p:cNvPr>
          <p:cNvSpPr/>
          <p:nvPr/>
        </p:nvSpPr>
        <p:spPr bwMode="auto">
          <a:xfrm>
            <a:off x="599815" y="3982909"/>
            <a:ext cx="6539593" cy="2277687"/>
          </a:xfrm>
          <a:prstGeom prst="roundRect">
            <a:avLst>
              <a:gd name="adj" fmla="val 5895"/>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algn="ctr" defTabSz="811670">
              <a:spcBef>
                <a:spcPts val="174"/>
              </a:spcBef>
            </a:pPr>
            <a:endParaRPr lang="en-US" sz="2400">
              <a:gradFill>
                <a:gsLst>
                  <a:gs pos="41958">
                    <a:srgbClr val="FFFFFF"/>
                  </a:gs>
                  <a:gs pos="63000">
                    <a:srgbClr val="FFFFFF"/>
                  </a:gs>
                </a:gsLst>
                <a:lin ang="0" scaled="0"/>
              </a:gradFill>
              <a:latin typeface="Segoe UI"/>
              <a:cs typeface="Segoe UI" panose="020B0502040204020203" pitchFamily="34" charset="0"/>
            </a:endParaRPr>
          </a:p>
        </p:txBody>
      </p:sp>
      <p:sp>
        <p:nvSpPr>
          <p:cNvPr id="49" name="TextBox 48">
            <a:extLst>
              <a:ext uri="{FF2B5EF4-FFF2-40B4-BE49-F238E27FC236}">
                <a16:creationId xmlns:a16="http://schemas.microsoft.com/office/drawing/2014/main" id="{DF44A340-54D1-4E79-B6E0-63902A1B6996}"/>
              </a:ext>
            </a:extLst>
          </p:cNvPr>
          <p:cNvSpPr txBox="1"/>
          <p:nvPr/>
        </p:nvSpPr>
        <p:spPr>
          <a:xfrm>
            <a:off x="889765" y="4101340"/>
            <a:ext cx="4289635" cy="246221"/>
          </a:xfrm>
          <a:prstGeom prst="rect">
            <a:avLst/>
          </a:prstGeom>
          <a:noFill/>
        </p:spPr>
        <p:txBody>
          <a:bodyPr wrap="square" lIns="0" tIns="0" rIns="0" bIns="0" rtlCol="0">
            <a:spAutoFit/>
          </a:bodyPr>
          <a:lstStyle/>
          <a:p>
            <a:r>
              <a:rPr lang="en-US" sz="1600">
                <a:latin typeface="+mj-lt"/>
              </a:rPr>
              <a:t>Binary quantization to a single bit:</a:t>
            </a:r>
          </a:p>
        </p:txBody>
      </p:sp>
      <p:sp>
        <p:nvSpPr>
          <p:cNvPr id="53" name="Oval 52">
            <a:extLst>
              <a:ext uri="{FF2B5EF4-FFF2-40B4-BE49-F238E27FC236}">
                <a16:creationId xmlns:a16="http://schemas.microsoft.com/office/drawing/2014/main" id="{E394EC55-356D-9426-B0F8-E87831FD6C93}"/>
              </a:ext>
              <a:ext uri="{C183D7F6-B498-43B3-948B-1728B52AA6E4}">
                <adec:decorative xmlns:adec="http://schemas.microsoft.com/office/drawing/2017/decorative" val="1"/>
              </a:ext>
            </a:extLst>
          </p:cNvPr>
          <p:cNvSpPr/>
          <p:nvPr/>
        </p:nvSpPr>
        <p:spPr bwMode="auto">
          <a:xfrm>
            <a:off x="859194" y="4494913"/>
            <a:ext cx="232818" cy="232818"/>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r>
              <a:rPr lang="en-US" sz="1100" b="1">
                <a:gradFill>
                  <a:gsLst>
                    <a:gs pos="1399">
                      <a:srgbClr val="FFFFFF"/>
                    </a:gs>
                    <a:gs pos="17000">
                      <a:srgbClr val="FFFFFF"/>
                    </a:gs>
                  </a:gsLst>
                  <a:path path="circle">
                    <a:fillToRect l="100000" t="100000"/>
                  </a:path>
                </a:gradFill>
                <a:cs typeface="Segoe UI" panose="020B0502040204020203" pitchFamily="34" charset="0"/>
              </a:rPr>
              <a:t>1</a:t>
            </a:r>
          </a:p>
        </p:txBody>
      </p:sp>
      <p:sp>
        <p:nvSpPr>
          <p:cNvPr id="51" name="Rectangle 50">
            <a:extLst>
              <a:ext uri="{FF2B5EF4-FFF2-40B4-BE49-F238E27FC236}">
                <a16:creationId xmlns:a16="http://schemas.microsoft.com/office/drawing/2014/main" id="{F2E8D4D2-89EA-AAAC-73FD-BC47FAED032A}"/>
              </a:ext>
            </a:extLst>
          </p:cNvPr>
          <p:cNvSpPr/>
          <p:nvPr/>
        </p:nvSpPr>
        <p:spPr>
          <a:xfrm>
            <a:off x="1210572" y="4500523"/>
            <a:ext cx="5669456" cy="193899"/>
          </a:xfrm>
          <a:prstGeom prst="rect">
            <a:avLst/>
          </a:prstGeom>
          <a:noFill/>
          <a:ln>
            <a:noFill/>
          </a:ln>
        </p:spPr>
        <p:txBody>
          <a:bodyPr wrap="square" lIns="0" tIns="0" rIns="0" bIns="0" anchor="t" anchorCtr="0">
            <a:spAutoFit/>
          </a:bodyPr>
          <a:lstStyle/>
          <a:p>
            <a:pPr marL="0" lvl="2" defTabSz="828675" fontAlgn="base">
              <a:lnSpc>
                <a:spcPct val="90000"/>
              </a:lnSpc>
              <a:spcBef>
                <a:spcPts val="1000"/>
              </a:spcBef>
              <a:tabLst>
                <a:tab pos="1773238" algn="l"/>
              </a:tabLst>
              <a:defRPr/>
            </a:pPr>
            <a:r>
              <a:rPr lang="en-US" sz="1400"/>
              <a:t>Pick a center value C based on a sample or offline knowledge</a:t>
            </a:r>
          </a:p>
        </p:txBody>
      </p:sp>
      <p:sp>
        <p:nvSpPr>
          <p:cNvPr id="58" name="Oval 57">
            <a:extLst>
              <a:ext uri="{FF2B5EF4-FFF2-40B4-BE49-F238E27FC236}">
                <a16:creationId xmlns:a16="http://schemas.microsoft.com/office/drawing/2014/main" id="{39E56B31-53B6-7107-2D73-9CAA8E671F2A}"/>
              </a:ext>
              <a:ext uri="{C183D7F6-B498-43B3-948B-1728B52AA6E4}">
                <adec:decorative xmlns:adec="http://schemas.microsoft.com/office/drawing/2017/decorative" val="1"/>
              </a:ext>
            </a:extLst>
          </p:cNvPr>
          <p:cNvSpPr/>
          <p:nvPr/>
        </p:nvSpPr>
        <p:spPr bwMode="auto">
          <a:xfrm>
            <a:off x="859194" y="4851834"/>
            <a:ext cx="232818" cy="232818"/>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r>
              <a:rPr lang="en-US" sz="1100" b="1">
                <a:gradFill>
                  <a:gsLst>
                    <a:gs pos="1399">
                      <a:srgbClr val="FFFFFF"/>
                    </a:gs>
                    <a:gs pos="17000">
                      <a:srgbClr val="FFFFFF"/>
                    </a:gs>
                  </a:gsLst>
                  <a:path path="circle">
                    <a:fillToRect l="100000" t="100000"/>
                  </a:path>
                </a:gradFill>
                <a:cs typeface="Segoe UI" panose="020B0502040204020203" pitchFamily="34" charset="0"/>
              </a:rPr>
              <a:t>2</a:t>
            </a:r>
          </a:p>
        </p:txBody>
      </p:sp>
      <p:sp>
        <p:nvSpPr>
          <p:cNvPr id="56" name="Rectangle 55">
            <a:extLst>
              <a:ext uri="{FF2B5EF4-FFF2-40B4-BE49-F238E27FC236}">
                <a16:creationId xmlns:a16="http://schemas.microsoft.com/office/drawing/2014/main" id="{E16B1468-992D-BA3C-2D02-84506233AD70}"/>
              </a:ext>
            </a:extLst>
          </p:cNvPr>
          <p:cNvSpPr/>
          <p:nvPr/>
        </p:nvSpPr>
        <p:spPr>
          <a:xfrm>
            <a:off x="1250178" y="4857444"/>
            <a:ext cx="3883960" cy="193899"/>
          </a:xfrm>
          <a:prstGeom prst="rect">
            <a:avLst/>
          </a:prstGeom>
          <a:noFill/>
          <a:ln>
            <a:noFill/>
          </a:ln>
        </p:spPr>
        <p:txBody>
          <a:bodyPr wrap="square" lIns="0" tIns="0" rIns="0" bIns="0" anchor="t" anchorCtr="0">
            <a:spAutoFit/>
          </a:bodyPr>
          <a:lstStyle/>
          <a:p>
            <a:pPr marL="0" lvl="2" defTabSz="828675" fontAlgn="base">
              <a:lnSpc>
                <a:spcPct val="90000"/>
              </a:lnSpc>
              <a:spcBef>
                <a:spcPts val="1000"/>
              </a:spcBef>
              <a:tabLst>
                <a:tab pos="1773238" algn="l"/>
              </a:tabLst>
              <a:defRPr/>
            </a:pPr>
            <a:r>
              <a:rPr lang="en-US" sz="1400"/>
              <a:t>If &gt;= C, it’s a 1, otherwise it’s a 0</a:t>
            </a:r>
          </a:p>
        </p:txBody>
      </p:sp>
      <p:sp>
        <p:nvSpPr>
          <p:cNvPr id="63" name="Oval 62">
            <a:extLst>
              <a:ext uri="{FF2B5EF4-FFF2-40B4-BE49-F238E27FC236}">
                <a16:creationId xmlns:a16="http://schemas.microsoft.com/office/drawing/2014/main" id="{2D1D49E9-F1F9-5166-E423-56360508946B}"/>
              </a:ext>
              <a:ext uri="{C183D7F6-B498-43B3-948B-1728B52AA6E4}">
                <adec:decorative xmlns:adec="http://schemas.microsoft.com/office/drawing/2017/decorative" val="1"/>
              </a:ext>
            </a:extLst>
          </p:cNvPr>
          <p:cNvSpPr/>
          <p:nvPr/>
        </p:nvSpPr>
        <p:spPr bwMode="auto">
          <a:xfrm>
            <a:off x="859194" y="5208756"/>
            <a:ext cx="232818" cy="232818"/>
          </a:xfrm>
          <a:prstGeom prst="ellipse">
            <a:avLst/>
          </a:prstGeom>
          <a:gradFill flip="none" rotWithShape="1">
            <a:gsLst>
              <a:gs pos="0">
                <a:srgbClr val="FF5C39"/>
              </a:gs>
              <a:gs pos="32000">
                <a:srgbClr val="C03BC4"/>
              </a:gs>
              <a:gs pos="68000">
                <a:srgbClr val="0078D4"/>
              </a:gs>
              <a:gs pos="100000">
                <a:srgbClr val="399A91"/>
              </a:gs>
            </a:gsLst>
            <a:path path="circle">
              <a:fillToRect l="100000" t="100000"/>
            </a:path>
            <a:tileRect r="-100000" b="-100000"/>
          </a:gra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32449">
              <a:spcBef>
                <a:spcPts val="600"/>
              </a:spcBef>
            </a:pPr>
            <a:r>
              <a:rPr lang="en-US" sz="1100" b="1">
                <a:gradFill>
                  <a:gsLst>
                    <a:gs pos="1399">
                      <a:srgbClr val="FFFFFF"/>
                    </a:gs>
                    <a:gs pos="17000">
                      <a:srgbClr val="FFFFFF"/>
                    </a:gs>
                  </a:gsLst>
                  <a:path path="circle">
                    <a:fillToRect l="100000" t="100000"/>
                  </a:path>
                </a:gradFill>
                <a:cs typeface="Segoe UI" panose="020B0502040204020203" pitchFamily="34" charset="0"/>
              </a:rPr>
              <a:t>3</a:t>
            </a:r>
          </a:p>
        </p:txBody>
      </p:sp>
      <p:sp>
        <p:nvSpPr>
          <p:cNvPr id="61" name="Rectangle 60">
            <a:extLst>
              <a:ext uri="{FF2B5EF4-FFF2-40B4-BE49-F238E27FC236}">
                <a16:creationId xmlns:a16="http://schemas.microsoft.com/office/drawing/2014/main" id="{F2C24CAA-3E27-92BA-6BF6-65463DA5951A}"/>
              </a:ext>
            </a:extLst>
          </p:cNvPr>
          <p:cNvSpPr/>
          <p:nvPr/>
        </p:nvSpPr>
        <p:spPr>
          <a:xfrm>
            <a:off x="1250178" y="5214366"/>
            <a:ext cx="3883960" cy="193899"/>
          </a:xfrm>
          <a:prstGeom prst="rect">
            <a:avLst/>
          </a:prstGeom>
          <a:noFill/>
          <a:ln>
            <a:noFill/>
          </a:ln>
        </p:spPr>
        <p:txBody>
          <a:bodyPr wrap="square" lIns="0" tIns="0" rIns="0" bIns="0" anchor="t" anchorCtr="0">
            <a:spAutoFit/>
          </a:bodyPr>
          <a:lstStyle/>
          <a:p>
            <a:pPr marL="0" lvl="2" defTabSz="828675" fontAlgn="base">
              <a:lnSpc>
                <a:spcPct val="90000"/>
              </a:lnSpc>
              <a:spcBef>
                <a:spcPts val="1000"/>
              </a:spcBef>
              <a:tabLst>
                <a:tab pos="1773238" algn="l"/>
              </a:tabLst>
              <a:defRPr/>
            </a:pPr>
            <a:r>
              <a:rPr lang="en-US" sz="1400"/>
              <a:t>Repeat for each dimension</a:t>
            </a:r>
          </a:p>
        </p:txBody>
      </p:sp>
      <p:sp>
        <p:nvSpPr>
          <p:cNvPr id="29" name="Oval 28">
            <a:extLst>
              <a:ext uri="{FF2B5EF4-FFF2-40B4-BE49-F238E27FC236}">
                <a16:creationId xmlns:a16="http://schemas.microsoft.com/office/drawing/2014/main" id="{124A96BE-6D9D-51F2-9041-7D652D6E0478}"/>
              </a:ext>
            </a:extLst>
          </p:cNvPr>
          <p:cNvSpPr>
            <a:spLocks/>
          </p:cNvSpPr>
          <p:nvPr/>
        </p:nvSpPr>
        <p:spPr>
          <a:xfrm>
            <a:off x="2233256" y="5868235"/>
            <a:ext cx="252000" cy="252000"/>
          </a:xfrm>
          <a:prstGeom prst="ellipse">
            <a:avLst/>
          </a:prstGeom>
          <a:solidFill>
            <a:srgbClr val="D9D9D6"/>
          </a:solidFill>
          <a:ln>
            <a:noFill/>
          </a:ln>
        </p:spPr>
        <p:txBody>
          <a:bodyPr wrap="square" lIns="0" tIns="0" rIns="0" bIns="0" anchor="ctr" anchorCtr="0">
            <a:noAutofit/>
          </a:bodyPr>
          <a:lstStyle/>
          <a:p>
            <a:pPr marL="0" lvl="2" algn="ctr" defTabSz="828675" fontAlgn="base">
              <a:lnSpc>
                <a:spcPct val="90000"/>
              </a:lnSpc>
              <a:spcBef>
                <a:spcPts val="1000"/>
              </a:spcBef>
              <a:tabLst>
                <a:tab pos="1773238" algn="l"/>
              </a:tabLst>
              <a:defRPr/>
            </a:pPr>
            <a:r>
              <a:rPr lang="en-US" sz="1200">
                <a:latin typeface="Segoe UI Semibold" panose="020B0502040204020203" pitchFamily="34" charset="0"/>
              </a:rPr>
              <a:t>0</a:t>
            </a:r>
          </a:p>
        </p:txBody>
      </p:sp>
      <p:sp>
        <p:nvSpPr>
          <p:cNvPr id="30" name="Oval 29">
            <a:extLst>
              <a:ext uri="{FF2B5EF4-FFF2-40B4-BE49-F238E27FC236}">
                <a16:creationId xmlns:a16="http://schemas.microsoft.com/office/drawing/2014/main" id="{9C3C2951-83D3-C1A2-6C92-F4E3D98F3468}"/>
              </a:ext>
            </a:extLst>
          </p:cNvPr>
          <p:cNvSpPr>
            <a:spLocks/>
          </p:cNvSpPr>
          <p:nvPr/>
        </p:nvSpPr>
        <p:spPr>
          <a:xfrm>
            <a:off x="5271022" y="5868235"/>
            <a:ext cx="252000" cy="252000"/>
          </a:xfrm>
          <a:prstGeom prst="ellipse">
            <a:avLst/>
          </a:prstGeom>
          <a:solidFill>
            <a:srgbClr val="D9D9D6"/>
          </a:solidFill>
          <a:ln>
            <a:noFill/>
          </a:ln>
        </p:spPr>
        <p:txBody>
          <a:bodyPr wrap="square" lIns="0" tIns="0" rIns="0" bIns="0" anchor="ctr" anchorCtr="0">
            <a:noAutofit/>
          </a:bodyPr>
          <a:lstStyle/>
          <a:p>
            <a:pPr marL="0" lvl="2" algn="ctr" defTabSz="828675" fontAlgn="base">
              <a:lnSpc>
                <a:spcPct val="90000"/>
              </a:lnSpc>
              <a:spcBef>
                <a:spcPts val="1000"/>
              </a:spcBef>
              <a:tabLst>
                <a:tab pos="1773238" algn="l"/>
              </a:tabLst>
              <a:defRPr/>
            </a:pPr>
            <a:r>
              <a:rPr lang="en-US" sz="1200">
                <a:latin typeface="Segoe UI Semibold" panose="020B0502040204020203" pitchFamily="34" charset="0"/>
              </a:rPr>
              <a:t>1</a:t>
            </a:r>
          </a:p>
        </p:txBody>
      </p:sp>
      <p:graphicFrame>
        <p:nvGraphicFramePr>
          <p:cNvPr id="24" name="Content Placeholder 6">
            <a:extLst>
              <a:ext uri="{FF2B5EF4-FFF2-40B4-BE49-F238E27FC236}">
                <a16:creationId xmlns:a16="http://schemas.microsoft.com/office/drawing/2014/main" id="{58F18A0A-0C56-5328-D905-1634E90D2F8D}"/>
              </a:ext>
            </a:extLst>
          </p:cNvPr>
          <p:cNvGraphicFramePr>
            <a:graphicFrameLocks/>
          </p:cNvGraphicFramePr>
          <p:nvPr>
            <p:extLst>
              <p:ext uri="{D42A27DB-BD31-4B8C-83A1-F6EECF244321}">
                <p14:modId xmlns:p14="http://schemas.microsoft.com/office/powerpoint/2010/main" val="2526496542"/>
              </p:ext>
            </p:extLst>
          </p:nvPr>
        </p:nvGraphicFramePr>
        <p:xfrm>
          <a:off x="7325522" y="1585230"/>
          <a:ext cx="4534358" cy="2380876"/>
        </p:xfrm>
        <a:graphic>
          <a:graphicData uri="http://schemas.openxmlformats.org/drawingml/2006/table">
            <a:tbl>
              <a:tblPr firstRow="1" bandRow="1">
                <a:tableStyleId>{C083E6E3-FA7D-4D7B-A595-EF9225AFEA82}</a:tableStyleId>
              </a:tblPr>
              <a:tblGrid>
                <a:gridCol w="1910338">
                  <a:extLst>
                    <a:ext uri="{9D8B030D-6E8A-4147-A177-3AD203B41FA5}">
                      <a16:colId xmlns:a16="http://schemas.microsoft.com/office/drawing/2014/main" val="2346987327"/>
                    </a:ext>
                  </a:extLst>
                </a:gridCol>
                <a:gridCol w="2624020">
                  <a:extLst>
                    <a:ext uri="{9D8B030D-6E8A-4147-A177-3AD203B41FA5}">
                      <a16:colId xmlns:a16="http://schemas.microsoft.com/office/drawing/2014/main" val="475982767"/>
                    </a:ext>
                  </a:extLst>
                </a:gridCol>
              </a:tblGrid>
              <a:tr h="812923">
                <a:tc>
                  <a:txBody>
                    <a:bodyPr/>
                    <a:lstStyle/>
                    <a:p>
                      <a:pPr algn="l"/>
                      <a:r>
                        <a:rPr lang="en-US" sz="1600" b="0">
                          <a:solidFill>
                            <a:schemeClr val="bg1"/>
                          </a:solidFill>
                          <a:latin typeface="+mj-lt"/>
                        </a:rPr>
                        <a:t>Model</a:t>
                      </a:r>
                    </a:p>
                  </a:txBody>
                  <a:tcPr marL="108000" anchor="ctr">
                    <a:lnL>
                      <a:noFill/>
                    </a:lnL>
                    <a:lnR>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latin typeface="+mj-lt"/>
                        </a:rPr>
                        <a:t>Search Quality MIRACL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a:solidFill>
                            <a:schemeClr val="bg1"/>
                          </a:solidFill>
                          <a:latin typeface="+mj-lt"/>
                        </a:rPr>
                        <a:t>(Semantic Search on 18 languages, nDCG@10, higher=better)</a:t>
                      </a:r>
                    </a:p>
                  </a:txBody>
                  <a:tcPr marL="288000" anchor="ctr">
                    <a:lnL>
                      <a:noFill/>
                    </a:lnL>
                    <a:lnR>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0921342"/>
                  </a:ext>
                </a:extLst>
              </a:tr>
              <a:tr h="607044">
                <a:tc>
                  <a:txBody>
                    <a:bodyPr/>
                    <a:lstStyle/>
                    <a:p>
                      <a:pPr marL="0" algn="l" defTabSz="932742" rtl="0" eaLnBrk="1" latinLnBrk="0" hangingPunct="1"/>
                      <a:r>
                        <a:rPr lang="en-US" sz="1600" b="0" kern="1200">
                          <a:solidFill>
                            <a:schemeClr val="tx1"/>
                          </a:solidFill>
                          <a:latin typeface="+mj-lt"/>
                          <a:ea typeface="+mn-ea"/>
                          <a:cs typeface="+mn-cs"/>
                        </a:rPr>
                        <a:t>Cohere Embed v3</a:t>
                      </a:r>
                    </a:p>
                  </a:txBody>
                  <a:tcPr marT="216000" marB="144000" anchor="ctr">
                    <a:lnL>
                      <a:noFill/>
                    </a:lnL>
                    <a:lnR>
                      <a:noFill/>
                    </a:lnR>
                    <a:lnT w="3175"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32742" rtl="0" eaLnBrk="1" latinLnBrk="0" hangingPunct="1"/>
                      <a:endParaRPr lang="en-US" sz="1600" b="0" kern="1200">
                        <a:gradFill>
                          <a:gsLst>
                            <a:gs pos="0">
                              <a:srgbClr val="C03BC4"/>
                            </a:gs>
                            <a:gs pos="80000">
                              <a:srgbClr val="0078D4"/>
                            </a:gs>
                          </a:gsLst>
                          <a:path path="circle">
                            <a:fillToRect l="100000" t="100000"/>
                          </a:path>
                        </a:gradFill>
                        <a:latin typeface="+mj-lt"/>
                        <a:ea typeface="+mn-ea"/>
                        <a:cs typeface="+mn-cs"/>
                      </a:endParaRPr>
                    </a:p>
                  </a:txBody>
                  <a:tcPr marT="216000" marB="144000" anchor="ctr">
                    <a:lnL>
                      <a:noFill/>
                    </a:lnL>
                    <a:lnR>
                      <a:noFill/>
                    </a:lnR>
                    <a:lnT w="3175"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958004"/>
                  </a:ext>
                </a:extLst>
              </a:tr>
              <a:tr h="320303">
                <a:tc>
                  <a:txBody>
                    <a:bodyPr/>
                    <a:lstStyle/>
                    <a:p>
                      <a:pPr algn="l"/>
                      <a:r>
                        <a:rPr lang="en-US" sz="1200">
                          <a:solidFill>
                            <a:schemeClr val="tx1">
                              <a:alpha val="80000"/>
                            </a:schemeClr>
                          </a:solidFill>
                        </a:rPr>
                        <a:t>Embed v3</a:t>
                      </a:r>
                    </a:p>
                  </a:txBody>
                  <a:tcPr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tx1">
                              <a:alpha val="80000"/>
                            </a:schemeClr>
                          </a:solidFill>
                        </a:rPr>
                        <a:t>66.3</a:t>
                      </a:r>
                    </a:p>
                  </a:txBody>
                  <a:tcPr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084830"/>
                  </a:ext>
                </a:extLst>
              </a:tr>
              <a:tr h="320303">
                <a:tc>
                  <a:txBody>
                    <a:bodyPr/>
                    <a:lstStyle/>
                    <a:p>
                      <a:pPr algn="l"/>
                      <a:r>
                        <a:rPr lang="en-US" sz="1200">
                          <a:solidFill>
                            <a:schemeClr val="tx1">
                              <a:alpha val="80000"/>
                            </a:schemeClr>
                          </a:solidFill>
                        </a:rPr>
                        <a:t>Embed v3 – int8</a:t>
                      </a:r>
                    </a:p>
                  </a:txBody>
                  <a:tcPr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tx1">
                              <a:alpha val="80000"/>
                            </a:schemeClr>
                          </a:solidFill>
                        </a:rPr>
                        <a:t>66.1</a:t>
                      </a:r>
                    </a:p>
                  </a:txBody>
                  <a:tcPr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629317"/>
                  </a:ext>
                </a:extLst>
              </a:tr>
              <a:tr h="320303">
                <a:tc>
                  <a:txBody>
                    <a:bodyPr/>
                    <a:lstStyle/>
                    <a:p>
                      <a:pPr algn="l"/>
                      <a:r>
                        <a:rPr lang="en-US" sz="1200">
                          <a:solidFill>
                            <a:schemeClr val="tx1">
                              <a:alpha val="80000"/>
                            </a:schemeClr>
                          </a:solidFill>
                        </a:rPr>
                        <a:t>Embed v3 - binary</a:t>
                      </a:r>
                    </a:p>
                  </a:txBody>
                  <a:tcPr anchor="ctr">
                    <a:lnL>
                      <a:noFill/>
                    </a:lnL>
                    <a:lnR>
                      <a:noFill/>
                    </a:lnR>
                    <a:lnT w="12700" cap="flat" cmpd="sng" algn="ctr">
                      <a:solidFill>
                        <a:srgbClr val="BFBFB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tx1">
                              <a:alpha val="80000"/>
                            </a:schemeClr>
                          </a:solidFill>
                        </a:rPr>
                        <a:t>62.8</a:t>
                      </a:r>
                    </a:p>
                  </a:txBody>
                  <a:tcPr anchor="ctr">
                    <a:lnL>
                      <a:noFill/>
                    </a:lnL>
                    <a:lnR>
                      <a:noFill/>
                    </a:lnR>
                    <a:lnT w="12700" cap="flat" cmpd="sng" algn="ctr">
                      <a:solidFill>
                        <a:srgbClr val="BFBFB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0370897"/>
                  </a:ext>
                </a:extLst>
              </a:tr>
            </a:tbl>
          </a:graphicData>
        </a:graphic>
      </p:graphicFrame>
      <p:sp>
        <p:nvSpPr>
          <p:cNvPr id="26" name="TextBox 25">
            <a:extLst>
              <a:ext uri="{FF2B5EF4-FFF2-40B4-BE49-F238E27FC236}">
                <a16:creationId xmlns:a16="http://schemas.microsoft.com/office/drawing/2014/main" id="{5849BDB1-86E4-9AB7-1D55-902934FAD15D}"/>
              </a:ext>
            </a:extLst>
          </p:cNvPr>
          <p:cNvSpPr txBox="1"/>
          <p:nvPr/>
        </p:nvSpPr>
        <p:spPr>
          <a:xfrm>
            <a:off x="7543996" y="4168404"/>
            <a:ext cx="3364843" cy="184666"/>
          </a:xfrm>
          <a:prstGeom prst="rect">
            <a:avLst/>
          </a:prstGeom>
          <a:noFill/>
        </p:spPr>
        <p:txBody>
          <a:bodyPr wrap="square" lIns="0" tIns="0" rIns="0" bIns="0" rtlCol="0">
            <a:spAutoFit/>
          </a:bodyPr>
          <a:lstStyle/>
          <a:p>
            <a:r>
              <a:rPr lang="en-US" sz="1200">
                <a:ln w="3175">
                  <a:noFill/>
                </a:ln>
                <a:latin typeface="+mj-lt"/>
                <a:cs typeface="Segoe UI" pitchFamily="34" charset="0"/>
              </a:rPr>
              <a:t>Example:</a:t>
            </a:r>
          </a:p>
        </p:txBody>
      </p:sp>
      <p:sp>
        <p:nvSpPr>
          <p:cNvPr id="27" name="TextBox 26">
            <a:extLst>
              <a:ext uri="{FF2B5EF4-FFF2-40B4-BE49-F238E27FC236}">
                <a16:creationId xmlns:a16="http://schemas.microsoft.com/office/drawing/2014/main" id="{921F1FF3-12FE-ABF9-F371-0E07DF911E85}"/>
              </a:ext>
            </a:extLst>
          </p:cNvPr>
          <p:cNvSpPr txBox="1"/>
          <p:nvPr/>
        </p:nvSpPr>
        <p:spPr>
          <a:xfrm>
            <a:off x="7543996" y="4440280"/>
            <a:ext cx="4034209" cy="492443"/>
          </a:xfrm>
          <a:prstGeom prst="rect">
            <a:avLst/>
          </a:prstGeom>
          <a:noFill/>
        </p:spPr>
        <p:txBody>
          <a:bodyPr wrap="square" lIns="0" tIns="0" rIns="0" bIns="0" rtlCol="0">
            <a:spAutoFit/>
          </a:bodyPr>
          <a:lstStyle/>
          <a:p>
            <a:r>
              <a:rPr lang="en-US" sz="1600">
                <a:solidFill>
                  <a:schemeClr val="tx1">
                    <a:alpha val="80000"/>
                  </a:schemeClr>
                </a:solidFill>
              </a:rPr>
              <a:t>Cohere v3 embeddings, 62.8 vs 66.3 </a:t>
            </a:r>
            <a:br>
              <a:rPr lang="en-US" sz="1600">
                <a:solidFill>
                  <a:schemeClr val="tx1">
                    <a:alpha val="80000"/>
                  </a:schemeClr>
                </a:solidFill>
              </a:rPr>
            </a:br>
            <a:r>
              <a:rPr lang="en-US" sz="1600">
                <a:solidFill>
                  <a:schemeClr val="tx1">
                    <a:alpha val="80000"/>
                  </a:schemeClr>
                </a:solidFill>
                <a:sym typeface="Wingdings" panose="05000000000000000000" pitchFamily="2" charset="2"/>
              </a:rPr>
              <a:t> 94.7% original performance preserved</a:t>
            </a:r>
            <a:endParaRPr lang="en-US" sz="1600">
              <a:solidFill>
                <a:schemeClr val="tx1">
                  <a:alpha val="80000"/>
                </a:schemeClr>
              </a:solidFill>
            </a:endParaRPr>
          </a:p>
        </p:txBody>
      </p:sp>
      <p:sp>
        <p:nvSpPr>
          <p:cNvPr id="28" name="TextBox 27">
            <a:extLst>
              <a:ext uri="{FF2B5EF4-FFF2-40B4-BE49-F238E27FC236}">
                <a16:creationId xmlns:a16="http://schemas.microsoft.com/office/drawing/2014/main" id="{F98B8271-B9D4-6B74-15DE-CEB88CC0D12B}"/>
              </a:ext>
            </a:extLst>
          </p:cNvPr>
          <p:cNvSpPr txBox="1"/>
          <p:nvPr/>
        </p:nvSpPr>
        <p:spPr>
          <a:xfrm>
            <a:off x="7543996" y="5260657"/>
            <a:ext cx="3472425" cy="246221"/>
          </a:xfrm>
          <a:prstGeom prst="rect">
            <a:avLst/>
          </a:prstGeom>
          <a:noFill/>
        </p:spPr>
        <p:txBody>
          <a:bodyPr wrap="none" rtlCol="0">
            <a:spAutoFit/>
          </a:bodyPr>
          <a:lstStyle/>
          <a:p>
            <a:r>
              <a:rPr lang="en-US" sz="1000"/>
              <a:t>Source: </a:t>
            </a:r>
            <a:r>
              <a:rPr lang="en-US" sz="1000">
                <a:solidFill>
                  <a:srgbClr val="0078D4"/>
                </a:solidFill>
                <a:hlinkClick r:id="rId3">
                  <a:extLst>
                    <a:ext uri="{A12FA001-AC4F-418D-AE19-62706E023703}">
                      <ahyp:hlinkClr xmlns:ahyp="http://schemas.microsoft.com/office/drawing/2018/hyperlinkcolor" val="tx"/>
                    </a:ext>
                  </a:extLst>
                </a:hlinkClick>
              </a:rPr>
              <a:t>https://cohere.com/blog/int8-binary-embeddings</a:t>
            </a:r>
            <a:endParaRPr lang="en-US" sz="1000">
              <a:solidFill>
                <a:srgbClr val="0078D4"/>
              </a:solidFill>
            </a:endParaRPr>
          </a:p>
        </p:txBody>
      </p:sp>
      <p:cxnSp>
        <p:nvCxnSpPr>
          <p:cNvPr id="5" name="Straight Connector 4">
            <a:extLst>
              <a:ext uri="{FF2B5EF4-FFF2-40B4-BE49-F238E27FC236}">
                <a16:creationId xmlns:a16="http://schemas.microsoft.com/office/drawing/2014/main" id="{07003FA9-5E76-486B-AD96-CB4BF7B0930B}"/>
              </a:ext>
              <a:ext uri="{C183D7F6-B498-43B3-948B-1728B52AA6E4}">
                <adec:decorative xmlns:adec="http://schemas.microsoft.com/office/drawing/2017/decorative" val="1"/>
              </a:ext>
            </a:extLst>
          </p:cNvPr>
          <p:cNvCxnSpPr>
            <a:cxnSpLocks/>
          </p:cNvCxnSpPr>
          <p:nvPr/>
        </p:nvCxnSpPr>
        <p:spPr>
          <a:xfrm>
            <a:off x="917924" y="2620991"/>
            <a:ext cx="5883657" cy="0"/>
          </a:xfrm>
          <a:prstGeom prst="line">
            <a:avLst/>
          </a:prstGeom>
          <a:ln w="19050" cap="rnd">
            <a:gradFill flip="none" rotWithShape="1">
              <a:gsLst>
                <a:gs pos="0">
                  <a:srgbClr val="FF5C39"/>
                </a:gs>
                <a:gs pos="32000">
                  <a:srgbClr val="C03BC4"/>
                </a:gs>
                <a:gs pos="68000">
                  <a:srgbClr val="0078D4"/>
                </a:gs>
                <a:gs pos="100000">
                  <a:srgbClr val="399A91"/>
                </a:gs>
              </a:gsLst>
              <a:path path="circle">
                <a:fillToRect l="100000" t="100000"/>
              </a:path>
              <a:tileRect r="-100000" b="-100000"/>
            </a:gradFill>
            <a:headEnd type="arrow" w="lg" len="sm"/>
            <a:tailEnd type="arrow" w="lg" len="sm"/>
          </a:ln>
          <a:effectLst>
            <a:outerShdw blurRad="63500" dist="63500" dir="2700000" algn="tl" rotWithShape="0">
              <a:srgbClr val="454142">
                <a:alpha val="20000"/>
              </a:srgbClr>
            </a:outerShdw>
          </a:effectLst>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26885F5-22B7-B6EA-493A-4A655C7D2EC8}"/>
              </a:ext>
              <a:ext uri="{C183D7F6-B498-43B3-948B-1728B52AA6E4}">
                <adec:decorative xmlns:adec="http://schemas.microsoft.com/office/drawing/2017/decorative" val="1"/>
              </a:ext>
            </a:extLst>
          </p:cNvPr>
          <p:cNvCxnSpPr>
            <a:cxnSpLocks/>
          </p:cNvCxnSpPr>
          <p:nvPr/>
        </p:nvCxnSpPr>
        <p:spPr>
          <a:xfrm>
            <a:off x="2074956" y="2472226"/>
            <a:ext cx="0" cy="278850"/>
          </a:xfrm>
          <a:prstGeom prst="line">
            <a:avLst/>
          </a:prstGeom>
          <a:ln w="19050">
            <a:solidFill>
              <a:srgbClr val="0A74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9DF60C-2EC4-5C43-F6DB-4638562BB620}"/>
              </a:ext>
              <a:ext uri="{C183D7F6-B498-43B3-948B-1728B52AA6E4}">
                <adec:decorative xmlns:adec="http://schemas.microsoft.com/office/drawing/2017/decorative" val="1"/>
              </a:ext>
            </a:extLst>
          </p:cNvPr>
          <p:cNvCxnSpPr>
            <a:cxnSpLocks/>
          </p:cNvCxnSpPr>
          <p:nvPr/>
        </p:nvCxnSpPr>
        <p:spPr>
          <a:xfrm>
            <a:off x="2074956" y="2600075"/>
            <a:ext cx="552512" cy="781440"/>
          </a:xfrm>
          <a:prstGeom prst="lin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6" name="Straight Connector 5">
            <a:extLst>
              <a:ext uri="{FF2B5EF4-FFF2-40B4-BE49-F238E27FC236}">
                <a16:creationId xmlns:a16="http://schemas.microsoft.com/office/drawing/2014/main" id="{19BFEDCD-BA6A-646F-DAE9-0F948B17C9EA}"/>
              </a:ext>
              <a:ext uri="{C183D7F6-B498-43B3-948B-1728B52AA6E4}">
                <adec:decorative xmlns:adec="http://schemas.microsoft.com/office/drawing/2017/decorative" val="1"/>
              </a:ext>
            </a:extLst>
          </p:cNvPr>
          <p:cNvCxnSpPr>
            <a:cxnSpLocks/>
          </p:cNvCxnSpPr>
          <p:nvPr/>
        </p:nvCxnSpPr>
        <p:spPr>
          <a:xfrm>
            <a:off x="2635512" y="3381515"/>
            <a:ext cx="2499965" cy="0"/>
          </a:xfrm>
          <a:prstGeom prst="line">
            <a:avLst/>
          </a:prstGeom>
          <a:ln w="19050" cap="flat" cmpd="sng" algn="ctr">
            <a:gradFill flip="none" rotWithShape="1">
              <a:gsLst>
                <a:gs pos="0">
                  <a:srgbClr val="C03BC4"/>
                </a:gs>
                <a:gs pos="80000">
                  <a:srgbClr val="0A74D4"/>
                </a:gs>
              </a:gsLst>
              <a:path path="circle">
                <a:fillToRect l="100000" t="100000"/>
              </a:path>
              <a:tileRect r="-100000" b="-10000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 name="Straight Connector 3">
            <a:extLst>
              <a:ext uri="{FF2B5EF4-FFF2-40B4-BE49-F238E27FC236}">
                <a16:creationId xmlns:a16="http://schemas.microsoft.com/office/drawing/2014/main" id="{A81529A5-E561-EE8D-A7DA-0CBA6F8E6AEE}"/>
              </a:ext>
              <a:ext uri="{C183D7F6-B498-43B3-948B-1728B52AA6E4}">
                <adec:decorative xmlns:adec="http://schemas.microsoft.com/office/drawing/2017/decorative" val="1"/>
              </a:ext>
            </a:extLst>
          </p:cNvPr>
          <p:cNvCxnSpPr>
            <a:cxnSpLocks/>
          </p:cNvCxnSpPr>
          <p:nvPr/>
        </p:nvCxnSpPr>
        <p:spPr>
          <a:xfrm flipH="1">
            <a:off x="5135477" y="2620991"/>
            <a:ext cx="485886" cy="760525"/>
          </a:xfrm>
          <a:prstGeom prst="lin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8" name="Straight Connector 7">
            <a:extLst>
              <a:ext uri="{FF2B5EF4-FFF2-40B4-BE49-F238E27FC236}">
                <a16:creationId xmlns:a16="http://schemas.microsoft.com/office/drawing/2014/main" id="{F7ED2F28-1152-020A-7BC8-D4F6457D372C}"/>
              </a:ext>
              <a:ext uri="{C183D7F6-B498-43B3-948B-1728B52AA6E4}">
                <adec:decorative xmlns:adec="http://schemas.microsoft.com/office/drawing/2017/decorative" val="1"/>
              </a:ext>
            </a:extLst>
          </p:cNvPr>
          <p:cNvCxnSpPr>
            <a:cxnSpLocks/>
          </p:cNvCxnSpPr>
          <p:nvPr/>
        </p:nvCxnSpPr>
        <p:spPr>
          <a:xfrm>
            <a:off x="5628344" y="2484423"/>
            <a:ext cx="0" cy="278850"/>
          </a:xfrm>
          <a:prstGeom prst="line">
            <a:avLst/>
          </a:prstGeom>
          <a:ln w="19050">
            <a:solidFill>
              <a:srgbClr val="C03BC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87BDD91-8E1A-02E2-B082-3233AFB1ECA0}"/>
              </a:ext>
              <a:ext uri="{C183D7F6-B498-43B3-948B-1728B52AA6E4}">
                <adec:decorative xmlns:adec="http://schemas.microsoft.com/office/drawing/2017/decorative" val="1"/>
              </a:ext>
            </a:extLst>
          </p:cNvPr>
          <p:cNvCxnSpPr>
            <a:cxnSpLocks/>
          </p:cNvCxnSpPr>
          <p:nvPr/>
        </p:nvCxnSpPr>
        <p:spPr>
          <a:xfrm>
            <a:off x="3859329" y="5532811"/>
            <a:ext cx="0" cy="275008"/>
          </a:xfrm>
          <a:prstGeom prst="line">
            <a:avLst/>
          </a:prstGeom>
          <a:ln w="19050">
            <a:solidFill>
              <a:srgbClr val="9847C7"/>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85C3705-B731-40E0-5E4F-3B77A9ADF6C1}"/>
              </a:ext>
              <a:ext uri="{C183D7F6-B498-43B3-948B-1728B52AA6E4}">
                <adec:decorative xmlns:adec="http://schemas.microsoft.com/office/drawing/2017/decorative" val="1"/>
              </a:ext>
            </a:extLst>
          </p:cNvPr>
          <p:cNvCxnSpPr>
            <a:cxnSpLocks/>
          </p:cNvCxnSpPr>
          <p:nvPr/>
        </p:nvCxnSpPr>
        <p:spPr>
          <a:xfrm>
            <a:off x="964423" y="5690647"/>
            <a:ext cx="1415698" cy="264916"/>
          </a:xfrm>
          <a:prstGeom prst="lin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39" name="Straight Connector 38">
            <a:extLst>
              <a:ext uri="{FF2B5EF4-FFF2-40B4-BE49-F238E27FC236}">
                <a16:creationId xmlns:a16="http://schemas.microsoft.com/office/drawing/2014/main" id="{45240678-CFE5-C9F5-D3EF-4CFF76B99C24}"/>
              </a:ext>
              <a:ext uri="{C183D7F6-B498-43B3-948B-1728B52AA6E4}">
                <adec:decorative xmlns:adec="http://schemas.microsoft.com/office/drawing/2017/decorative" val="1"/>
              </a:ext>
            </a:extLst>
          </p:cNvPr>
          <p:cNvCxnSpPr>
            <a:cxnSpLocks/>
          </p:cNvCxnSpPr>
          <p:nvPr/>
        </p:nvCxnSpPr>
        <p:spPr>
          <a:xfrm flipH="1">
            <a:off x="2380121" y="5690647"/>
            <a:ext cx="1476495" cy="264916"/>
          </a:xfrm>
          <a:prstGeom prst="lin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40" name="Straight Connector 39">
            <a:extLst>
              <a:ext uri="{FF2B5EF4-FFF2-40B4-BE49-F238E27FC236}">
                <a16:creationId xmlns:a16="http://schemas.microsoft.com/office/drawing/2014/main" id="{55E93375-DE09-E123-FB9A-889E63B6DDCE}"/>
              </a:ext>
              <a:ext uri="{C183D7F6-B498-43B3-948B-1728B52AA6E4}">
                <adec:decorative xmlns:adec="http://schemas.microsoft.com/office/drawing/2017/decorative" val="1"/>
              </a:ext>
            </a:extLst>
          </p:cNvPr>
          <p:cNvCxnSpPr>
            <a:cxnSpLocks/>
          </p:cNvCxnSpPr>
          <p:nvPr/>
        </p:nvCxnSpPr>
        <p:spPr>
          <a:xfrm>
            <a:off x="3862042" y="5690647"/>
            <a:ext cx="1532268" cy="256059"/>
          </a:xfrm>
          <a:prstGeom prst="lin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41" name="Straight Connector 40">
            <a:extLst>
              <a:ext uri="{FF2B5EF4-FFF2-40B4-BE49-F238E27FC236}">
                <a16:creationId xmlns:a16="http://schemas.microsoft.com/office/drawing/2014/main" id="{FB80E401-FF84-8E10-7F8D-7898310C48B7}"/>
              </a:ext>
              <a:ext uri="{C183D7F6-B498-43B3-948B-1728B52AA6E4}">
                <adec:decorative xmlns:adec="http://schemas.microsoft.com/office/drawing/2017/decorative" val="1"/>
              </a:ext>
            </a:extLst>
          </p:cNvPr>
          <p:cNvCxnSpPr>
            <a:cxnSpLocks/>
          </p:cNvCxnSpPr>
          <p:nvPr/>
        </p:nvCxnSpPr>
        <p:spPr>
          <a:xfrm flipH="1">
            <a:off x="5394310" y="5690647"/>
            <a:ext cx="1359925" cy="256059"/>
          </a:xfrm>
          <a:prstGeom prst="line">
            <a:avLst/>
          </a:prstGeom>
          <a:solidFill>
            <a:schemeClr val="bg1"/>
          </a:solidFill>
          <a:ln w="12700" cap="rnd">
            <a:solidFill>
              <a:srgbClr val="D9D9D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44" name="Straight Connector 43">
            <a:extLst>
              <a:ext uri="{FF2B5EF4-FFF2-40B4-BE49-F238E27FC236}">
                <a16:creationId xmlns:a16="http://schemas.microsoft.com/office/drawing/2014/main" id="{6B148474-27E6-8566-EA6B-39B70BD04A0D}"/>
              </a:ext>
              <a:ext uri="{C183D7F6-B498-43B3-948B-1728B52AA6E4}">
                <adec:decorative xmlns:adec="http://schemas.microsoft.com/office/drawing/2017/decorative" val="1"/>
              </a:ext>
            </a:extLst>
          </p:cNvPr>
          <p:cNvCxnSpPr>
            <a:cxnSpLocks/>
          </p:cNvCxnSpPr>
          <p:nvPr/>
        </p:nvCxnSpPr>
        <p:spPr>
          <a:xfrm>
            <a:off x="917924" y="5670623"/>
            <a:ext cx="5883657" cy="20024"/>
          </a:xfrm>
          <a:prstGeom prst="line">
            <a:avLst/>
          </a:prstGeom>
          <a:ln w="19050" cap="rnd">
            <a:gradFill flip="none" rotWithShape="1">
              <a:gsLst>
                <a:gs pos="0">
                  <a:srgbClr val="FF5C39"/>
                </a:gs>
                <a:gs pos="32000">
                  <a:srgbClr val="C03BC4"/>
                </a:gs>
                <a:gs pos="68000">
                  <a:srgbClr val="0078D4"/>
                </a:gs>
                <a:gs pos="100000">
                  <a:srgbClr val="399A91"/>
                </a:gs>
              </a:gsLst>
              <a:path path="circle">
                <a:fillToRect l="100000" t="100000"/>
              </a:path>
              <a:tileRect r="-100000" b="-100000"/>
            </a:gradFill>
            <a:headEnd type="arrow" w="lg" len="sm"/>
            <a:tailEnd type="arrow" w="lg" len="sm"/>
          </a:ln>
          <a:effectLst>
            <a:outerShdw blurRad="63500" dist="63500" dir="2700000" algn="tl" rotWithShape="0">
              <a:srgbClr val="454142">
                <a:alpha val="20000"/>
              </a:srgb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24699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42" presetClass="path" presetSubtype="0" decel="100000" fill="hold" grpId="1" nodeType="withEffect">
                                  <p:stCondLst>
                                    <p:cond delay="0"/>
                                  </p:stCondLst>
                                  <p:childTnLst>
                                    <p:animMotion origin="layout" path="M 4.79167E-6 -2.96296E-6 L 4.79167E-6 0.03542 " pathEditMode="relative" rAng="0" ptsTypes="AA">
                                      <p:cBhvr>
                                        <p:cTn id="9" dur="700" spd="-100000" fill="hold"/>
                                        <p:tgtEl>
                                          <p:spTgt spid="21"/>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42" presetClass="path" presetSubtype="0" decel="100000" fill="hold" grpId="1" nodeType="withEffect">
                                  <p:stCondLst>
                                    <p:cond delay="0"/>
                                  </p:stCondLst>
                                  <p:childTnLst>
                                    <p:animMotion origin="layout" path="M 4.79167E-6 -2.96296E-6 L 4.79167E-6 0.03542 " pathEditMode="relative" rAng="0" ptsTypes="AA">
                                      <p:cBhvr>
                                        <p:cTn id="14" dur="700" spd="-100000" fill="hold"/>
                                        <p:tgtEl>
                                          <p:spTgt spid="10"/>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42" presetClass="path" presetSubtype="0" decel="100000" fill="hold" grpId="1" nodeType="withEffect">
                                  <p:stCondLst>
                                    <p:cond delay="0"/>
                                  </p:stCondLst>
                                  <p:childTnLst>
                                    <p:animMotion origin="layout" path="M 4.79167E-6 -2.96296E-6 L 4.79167E-6 0.03542 " pathEditMode="relative" rAng="0" ptsTypes="AA">
                                      <p:cBhvr>
                                        <p:cTn id="19" dur="700" spd="-100000" fill="hold"/>
                                        <p:tgtEl>
                                          <p:spTgt spid="11"/>
                                        </p:tgtEl>
                                        <p:attrNameLst>
                                          <p:attrName>ppt_x</p:attrName>
                                          <p:attrName>ppt_y</p:attrName>
                                        </p:attrNameLst>
                                      </p:cBhvr>
                                      <p:rCtr x="0" y="1759"/>
                                    </p:animMotion>
                                  </p:childTnLst>
                                </p:cTn>
                              </p:par>
                              <p:par>
                                <p:cTn id="20" presetID="10"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42" presetClass="path" presetSubtype="0" decel="100000" fill="hold" nodeType="withEffect">
                                  <p:stCondLst>
                                    <p:cond delay="0"/>
                                  </p:stCondLst>
                                  <p:childTnLst>
                                    <p:animMotion origin="layout" path="M 4.79167E-6 -2.96296E-6 L 4.79167E-6 0.03542 " pathEditMode="relative" rAng="0" ptsTypes="AA">
                                      <p:cBhvr>
                                        <p:cTn id="24" dur="700" spd="-100000" fill="hold"/>
                                        <p:tgtEl>
                                          <p:spTgt spid="5"/>
                                        </p:tgtEl>
                                        <p:attrNameLst>
                                          <p:attrName>ppt_x</p:attrName>
                                          <p:attrName>ppt_y</p:attrName>
                                        </p:attrNameLst>
                                      </p:cBhvr>
                                      <p:rCtr x="0" y="1759"/>
                                    </p:animMotion>
                                  </p:childTnLst>
                                </p:cTn>
                              </p:par>
                              <p:par>
                                <p:cTn id="25" presetID="10"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par>
                                <p:cTn id="28" presetID="42" presetClass="path" presetSubtype="0" decel="100000" fill="hold" nodeType="withEffect">
                                  <p:stCondLst>
                                    <p:cond delay="0"/>
                                  </p:stCondLst>
                                  <p:childTnLst>
                                    <p:animMotion origin="layout" path="M 4.79167E-6 -2.96296E-6 L 4.79167E-6 0.03542 " pathEditMode="relative" rAng="0" ptsTypes="AA">
                                      <p:cBhvr>
                                        <p:cTn id="29" dur="700" spd="-100000" fill="hold"/>
                                        <p:tgtEl>
                                          <p:spTgt spid="7"/>
                                        </p:tgtEl>
                                        <p:attrNameLst>
                                          <p:attrName>ppt_x</p:attrName>
                                          <p:attrName>ppt_y</p:attrName>
                                        </p:attrNameLst>
                                      </p:cBhvr>
                                      <p:rCtr x="0" y="1759"/>
                                    </p:animMotion>
                                  </p:childTnLst>
                                </p:cTn>
                              </p:par>
                              <p:par>
                                <p:cTn id="30" presetID="10" presetClass="entr" presetSubtype="0" fill="hold"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42" presetClass="path" presetSubtype="0" decel="100000" fill="hold" nodeType="withEffect">
                                  <p:stCondLst>
                                    <p:cond delay="0"/>
                                  </p:stCondLst>
                                  <p:childTnLst>
                                    <p:animMotion origin="layout" path="M 4.79167E-6 -2.96296E-6 L 4.79167E-6 0.03542 " pathEditMode="relative" rAng="0" ptsTypes="AA">
                                      <p:cBhvr>
                                        <p:cTn id="34" dur="700" spd="-100000" fill="hold"/>
                                        <p:tgtEl>
                                          <p:spTgt spid="8"/>
                                        </p:tgtEl>
                                        <p:attrNameLst>
                                          <p:attrName>ppt_x</p:attrName>
                                          <p:attrName>ppt_y</p:attrName>
                                        </p:attrNameLst>
                                      </p:cBhvr>
                                      <p:rCtr x="0" y="1759"/>
                                    </p:animMotion>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42" presetClass="path" presetSubtype="0" decel="100000" fill="hold" grpId="1" nodeType="withEffect">
                                  <p:stCondLst>
                                    <p:cond delay="0"/>
                                  </p:stCondLst>
                                  <p:childTnLst>
                                    <p:animMotion origin="layout" path="M 4.79167E-6 -2.96296E-6 L 4.79167E-6 0.03542 " pathEditMode="relative" rAng="0" ptsTypes="AA">
                                      <p:cBhvr>
                                        <p:cTn id="39" dur="700" spd="-100000" fill="hold"/>
                                        <p:tgtEl>
                                          <p:spTgt spid="14"/>
                                        </p:tgtEl>
                                        <p:attrNameLst>
                                          <p:attrName>ppt_x</p:attrName>
                                          <p:attrName>ppt_y</p:attrName>
                                        </p:attrNameLst>
                                      </p:cBhvr>
                                      <p:rCtr x="0" y="1759"/>
                                    </p:animMotion>
                                  </p:childTnLst>
                                </p:cTn>
                              </p:par>
                              <p:par>
                                <p:cTn id="40" presetID="10" presetClass="entr" presetSubtype="0" fill="hold"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par>
                                <p:cTn id="43" presetID="42" presetClass="path" presetSubtype="0" decel="100000" fill="hold" nodeType="withEffect">
                                  <p:stCondLst>
                                    <p:cond delay="0"/>
                                  </p:stCondLst>
                                  <p:childTnLst>
                                    <p:animMotion origin="layout" path="M 4.79167E-6 -2.96296E-6 L 4.79167E-6 0.03542 " pathEditMode="relative" rAng="0" ptsTypes="AA">
                                      <p:cBhvr>
                                        <p:cTn id="44" dur="700" spd="-100000" fill="hold"/>
                                        <p:tgtEl>
                                          <p:spTgt spid="9"/>
                                        </p:tgtEl>
                                        <p:attrNameLst>
                                          <p:attrName>ppt_x</p:attrName>
                                          <p:attrName>ppt_y</p:attrName>
                                        </p:attrNameLst>
                                      </p:cBhvr>
                                      <p:rCtr x="0" y="1759"/>
                                    </p:animMotion>
                                  </p:childTnLst>
                                </p:cTn>
                              </p:par>
                              <p:par>
                                <p:cTn id="45" presetID="10"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par>
                                <p:cTn id="48" presetID="42" presetClass="path" presetSubtype="0" decel="100000" fill="hold" grpId="1" nodeType="withEffect">
                                  <p:stCondLst>
                                    <p:cond delay="0"/>
                                  </p:stCondLst>
                                  <p:childTnLst>
                                    <p:animMotion origin="layout" path="M 4.79167E-6 -2.96296E-6 L 4.79167E-6 0.03542 " pathEditMode="relative" rAng="0" ptsTypes="AA">
                                      <p:cBhvr>
                                        <p:cTn id="49" dur="700" spd="-100000" fill="hold"/>
                                        <p:tgtEl>
                                          <p:spTgt spid="12"/>
                                        </p:tgtEl>
                                        <p:attrNameLst>
                                          <p:attrName>ppt_x</p:attrName>
                                          <p:attrName>ppt_y</p:attrName>
                                        </p:attrNameLst>
                                      </p:cBhvr>
                                      <p:rCtr x="0" y="1759"/>
                                    </p:animMotion>
                                  </p:childTnLst>
                                </p:cTn>
                              </p:par>
                              <p:par>
                                <p:cTn id="50" presetID="10" presetClass="entr" presetSubtype="0" fill="hold" nodeType="with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500"/>
                                        <p:tgtEl>
                                          <p:spTgt spid="6"/>
                                        </p:tgtEl>
                                      </p:cBhvr>
                                    </p:animEffect>
                                  </p:childTnLst>
                                </p:cTn>
                              </p:par>
                              <p:par>
                                <p:cTn id="53" presetID="42" presetClass="path" presetSubtype="0" decel="100000" fill="hold" nodeType="withEffect">
                                  <p:stCondLst>
                                    <p:cond delay="0"/>
                                  </p:stCondLst>
                                  <p:childTnLst>
                                    <p:animMotion origin="layout" path="M 4.79167E-6 -2.96296E-6 L 4.79167E-6 0.03542 " pathEditMode="relative" rAng="0" ptsTypes="AA">
                                      <p:cBhvr>
                                        <p:cTn id="54" dur="700" spd="-100000" fill="hold"/>
                                        <p:tgtEl>
                                          <p:spTgt spid="6"/>
                                        </p:tgtEl>
                                        <p:attrNameLst>
                                          <p:attrName>ppt_x</p:attrName>
                                          <p:attrName>ppt_y</p:attrName>
                                        </p:attrNameLst>
                                      </p:cBhvr>
                                      <p:rCtr x="0" y="1759"/>
                                    </p:animMotion>
                                  </p:childTnLst>
                                </p:cTn>
                              </p:par>
                              <p:par>
                                <p:cTn id="55" presetID="10" presetClass="entr" presetSubtype="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cTn>
                              </p:par>
                              <p:par>
                                <p:cTn id="58" presetID="42" presetClass="path" presetSubtype="0" decel="100000" fill="hold" grpId="1" nodeType="withEffect">
                                  <p:stCondLst>
                                    <p:cond delay="0"/>
                                  </p:stCondLst>
                                  <p:childTnLst>
                                    <p:animMotion origin="layout" path="M 4.79167E-6 -2.96296E-6 L 4.79167E-6 0.03542 " pathEditMode="relative" rAng="0" ptsTypes="AA">
                                      <p:cBhvr>
                                        <p:cTn id="59" dur="700" spd="-100000" fill="hold"/>
                                        <p:tgtEl>
                                          <p:spTgt spid="13"/>
                                        </p:tgtEl>
                                        <p:attrNameLst>
                                          <p:attrName>ppt_x</p:attrName>
                                          <p:attrName>ppt_y</p:attrName>
                                        </p:attrNameLst>
                                      </p:cBhvr>
                                      <p:rCtr x="0" y="1759"/>
                                    </p:animMotion>
                                  </p:childTnLst>
                                </p:cTn>
                              </p:par>
                              <p:par>
                                <p:cTn id="60" presetID="10"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childTnLst>
                                </p:cTn>
                              </p:par>
                              <p:par>
                                <p:cTn id="63" presetID="42" presetClass="path" presetSubtype="0" decel="100000" fill="hold" grpId="1" nodeType="withEffect">
                                  <p:stCondLst>
                                    <p:cond delay="0"/>
                                  </p:stCondLst>
                                  <p:childTnLst>
                                    <p:animMotion origin="layout" path="M 4.79167E-6 -2.96296E-6 L 4.79167E-6 0.03542 " pathEditMode="relative" rAng="0" ptsTypes="AA">
                                      <p:cBhvr>
                                        <p:cTn id="64" dur="700" spd="-100000" fill="hold"/>
                                        <p:tgtEl>
                                          <p:spTgt spid="15"/>
                                        </p:tgtEl>
                                        <p:attrNameLst>
                                          <p:attrName>ppt_x</p:attrName>
                                          <p:attrName>ppt_y</p:attrName>
                                        </p:attrNameLst>
                                      </p:cBhvr>
                                      <p:rCtr x="0" y="1759"/>
                                    </p:animMotion>
                                  </p:childTnLst>
                                </p:cTn>
                              </p:par>
                              <p:par>
                                <p:cTn id="65" presetID="10" presetClass="entr" presetSubtype="0"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500"/>
                                        <p:tgtEl>
                                          <p:spTgt spid="19"/>
                                        </p:tgtEl>
                                      </p:cBhvr>
                                    </p:animEffect>
                                  </p:childTnLst>
                                </p:cTn>
                              </p:par>
                              <p:par>
                                <p:cTn id="68" presetID="42" presetClass="path" presetSubtype="0" decel="100000" fill="hold" grpId="1" nodeType="withEffect">
                                  <p:stCondLst>
                                    <p:cond delay="0"/>
                                  </p:stCondLst>
                                  <p:childTnLst>
                                    <p:animMotion origin="layout" path="M 4.79167E-6 -2.96296E-6 L 4.79167E-6 0.03542 " pathEditMode="relative" rAng="0" ptsTypes="AA">
                                      <p:cBhvr>
                                        <p:cTn id="69" dur="700" spd="-100000" fill="hold"/>
                                        <p:tgtEl>
                                          <p:spTgt spid="19"/>
                                        </p:tgtEl>
                                        <p:attrNameLst>
                                          <p:attrName>ppt_x</p:attrName>
                                          <p:attrName>ppt_y</p:attrName>
                                        </p:attrNameLst>
                                      </p:cBhvr>
                                      <p:rCtr x="0" y="1759"/>
                                    </p:animMotion>
                                  </p:childTnLst>
                                </p:cTn>
                              </p:par>
                              <p:par>
                                <p:cTn id="70" presetID="10" presetClass="entr" presetSubtype="0" fill="hold" nodeType="with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fade">
                                      <p:cBhvr>
                                        <p:cTn id="72" dur="500"/>
                                        <p:tgtEl>
                                          <p:spTgt spid="4"/>
                                        </p:tgtEl>
                                      </p:cBhvr>
                                    </p:animEffect>
                                  </p:childTnLst>
                                </p:cTn>
                              </p:par>
                              <p:par>
                                <p:cTn id="73" presetID="42" presetClass="path" presetSubtype="0" decel="100000" fill="hold" nodeType="withEffect">
                                  <p:stCondLst>
                                    <p:cond delay="0"/>
                                  </p:stCondLst>
                                  <p:childTnLst>
                                    <p:animMotion origin="layout" path="M 4.79167E-6 -2.96296E-6 L 4.79167E-6 0.03542 " pathEditMode="relative" rAng="0" ptsTypes="AA">
                                      <p:cBhvr>
                                        <p:cTn id="74" dur="700" spd="-100000" fill="hold"/>
                                        <p:tgtEl>
                                          <p:spTgt spid="4"/>
                                        </p:tgtEl>
                                        <p:attrNameLst>
                                          <p:attrName>ppt_x</p:attrName>
                                          <p:attrName>ppt_y</p:attrName>
                                        </p:attrNameLst>
                                      </p:cBhvr>
                                      <p:rCtr x="0" y="1759"/>
                                    </p:animMotion>
                                  </p:childTnLst>
                                </p:cTn>
                              </p:par>
                              <p:par>
                                <p:cTn id="75" presetID="10"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500"/>
                                        <p:tgtEl>
                                          <p:spTgt spid="49"/>
                                        </p:tgtEl>
                                      </p:cBhvr>
                                    </p:animEffect>
                                  </p:childTnLst>
                                </p:cTn>
                              </p:par>
                              <p:par>
                                <p:cTn id="78" presetID="42" presetClass="path" presetSubtype="0" decel="100000" fill="hold" grpId="1" nodeType="withEffect">
                                  <p:stCondLst>
                                    <p:cond delay="0"/>
                                  </p:stCondLst>
                                  <p:childTnLst>
                                    <p:animMotion origin="layout" path="M 4.79167E-6 -2.96296E-6 L 4.79167E-6 0.03542 " pathEditMode="relative" rAng="0" ptsTypes="AA">
                                      <p:cBhvr>
                                        <p:cTn id="79" dur="700" spd="-100000" fill="hold"/>
                                        <p:tgtEl>
                                          <p:spTgt spid="49"/>
                                        </p:tgtEl>
                                        <p:attrNameLst>
                                          <p:attrName>ppt_x</p:attrName>
                                          <p:attrName>ppt_y</p:attrName>
                                        </p:attrNameLst>
                                      </p:cBhvr>
                                      <p:rCtr x="0" y="1759"/>
                                    </p:animMotion>
                                  </p:childTnLst>
                                </p:cTn>
                              </p:par>
                              <p:par>
                                <p:cTn id="80" presetID="10" presetClass="entr" presetSubtype="0" fill="hold" grpId="0" nodeType="withEffect">
                                  <p:stCondLst>
                                    <p:cond delay="0"/>
                                  </p:stCondLst>
                                  <p:childTnLst>
                                    <p:set>
                                      <p:cBhvr>
                                        <p:cTn id="81" dur="1" fill="hold">
                                          <p:stCondLst>
                                            <p:cond delay="0"/>
                                          </p:stCondLst>
                                        </p:cTn>
                                        <p:tgtEl>
                                          <p:spTgt spid="53"/>
                                        </p:tgtEl>
                                        <p:attrNameLst>
                                          <p:attrName>style.visibility</p:attrName>
                                        </p:attrNameLst>
                                      </p:cBhvr>
                                      <p:to>
                                        <p:strVal val="visible"/>
                                      </p:to>
                                    </p:set>
                                    <p:animEffect transition="in" filter="fade">
                                      <p:cBhvr>
                                        <p:cTn id="82" dur="500"/>
                                        <p:tgtEl>
                                          <p:spTgt spid="53"/>
                                        </p:tgtEl>
                                      </p:cBhvr>
                                    </p:animEffect>
                                  </p:childTnLst>
                                </p:cTn>
                              </p:par>
                              <p:par>
                                <p:cTn id="83" presetID="42" presetClass="path" presetSubtype="0" decel="100000" fill="hold" grpId="1" nodeType="withEffect">
                                  <p:stCondLst>
                                    <p:cond delay="0"/>
                                  </p:stCondLst>
                                  <p:childTnLst>
                                    <p:animMotion origin="layout" path="M 4.79167E-6 -2.96296E-6 L 4.79167E-6 0.03542 " pathEditMode="relative" rAng="0" ptsTypes="AA">
                                      <p:cBhvr>
                                        <p:cTn id="84" dur="700" spd="-100000" fill="hold"/>
                                        <p:tgtEl>
                                          <p:spTgt spid="53"/>
                                        </p:tgtEl>
                                        <p:attrNameLst>
                                          <p:attrName>ppt_x</p:attrName>
                                          <p:attrName>ppt_y</p:attrName>
                                        </p:attrNameLst>
                                      </p:cBhvr>
                                      <p:rCtr x="0" y="1759"/>
                                    </p:animMotion>
                                  </p:childTnLst>
                                </p:cTn>
                              </p:par>
                              <p:par>
                                <p:cTn id="85" presetID="10" presetClass="entr" presetSubtype="0" fill="hold" grpId="0" nodeType="withEffect">
                                  <p:stCondLst>
                                    <p:cond delay="0"/>
                                  </p:stCondLst>
                                  <p:childTnLst>
                                    <p:set>
                                      <p:cBhvr>
                                        <p:cTn id="86" dur="1" fill="hold">
                                          <p:stCondLst>
                                            <p:cond delay="0"/>
                                          </p:stCondLst>
                                        </p:cTn>
                                        <p:tgtEl>
                                          <p:spTgt spid="51"/>
                                        </p:tgtEl>
                                        <p:attrNameLst>
                                          <p:attrName>style.visibility</p:attrName>
                                        </p:attrNameLst>
                                      </p:cBhvr>
                                      <p:to>
                                        <p:strVal val="visible"/>
                                      </p:to>
                                    </p:set>
                                    <p:animEffect transition="in" filter="fade">
                                      <p:cBhvr>
                                        <p:cTn id="87" dur="500"/>
                                        <p:tgtEl>
                                          <p:spTgt spid="51"/>
                                        </p:tgtEl>
                                      </p:cBhvr>
                                    </p:animEffect>
                                  </p:childTnLst>
                                </p:cTn>
                              </p:par>
                              <p:par>
                                <p:cTn id="88" presetID="42" presetClass="path" presetSubtype="0" decel="100000" fill="hold" grpId="1" nodeType="withEffect">
                                  <p:stCondLst>
                                    <p:cond delay="0"/>
                                  </p:stCondLst>
                                  <p:childTnLst>
                                    <p:animMotion origin="layout" path="M 4.79167E-6 -2.96296E-6 L 4.79167E-6 0.03542 " pathEditMode="relative" rAng="0" ptsTypes="AA">
                                      <p:cBhvr>
                                        <p:cTn id="89" dur="700" spd="-100000" fill="hold"/>
                                        <p:tgtEl>
                                          <p:spTgt spid="51"/>
                                        </p:tgtEl>
                                        <p:attrNameLst>
                                          <p:attrName>ppt_x</p:attrName>
                                          <p:attrName>ppt_y</p:attrName>
                                        </p:attrNameLst>
                                      </p:cBhvr>
                                      <p:rCtr x="0" y="1759"/>
                                    </p:animMotion>
                                  </p:childTnLst>
                                </p:cTn>
                              </p:par>
                              <p:par>
                                <p:cTn id="90" presetID="10" presetClass="entr" presetSubtype="0" fill="hold" grpId="0" nodeType="withEffect">
                                  <p:stCondLst>
                                    <p:cond delay="0"/>
                                  </p:stCondLst>
                                  <p:childTnLst>
                                    <p:set>
                                      <p:cBhvr>
                                        <p:cTn id="91" dur="1" fill="hold">
                                          <p:stCondLst>
                                            <p:cond delay="0"/>
                                          </p:stCondLst>
                                        </p:cTn>
                                        <p:tgtEl>
                                          <p:spTgt spid="58"/>
                                        </p:tgtEl>
                                        <p:attrNameLst>
                                          <p:attrName>style.visibility</p:attrName>
                                        </p:attrNameLst>
                                      </p:cBhvr>
                                      <p:to>
                                        <p:strVal val="visible"/>
                                      </p:to>
                                    </p:set>
                                    <p:animEffect transition="in" filter="fade">
                                      <p:cBhvr>
                                        <p:cTn id="92" dur="500"/>
                                        <p:tgtEl>
                                          <p:spTgt spid="58"/>
                                        </p:tgtEl>
                                      </p:cBhvr>
                                    </p:animEffect>
                                  </p:childTnLst>
                                </p:cTn>
                              </p:par>
                              <p:par>
                                <p:cTn id="93" presetID="42" presetClass="path" presetSubtype="0" decel="100000" fill="hold" grpId="1" nodeType="withEffect">
                                  <p:stCondLst>
                                    <p:cond delay="0"/>
                                  </p:stCondLst>
                                  <p:childTnLst>
                                    <p:animMotion origin="layout" path="M 4.79167E-6 -2.96296E-6 L 4.79167E-6 0.03542 " pathEditMode="relative" rAng="0" ptsTypes="AA">
                                      <p:cBhvr>
                                        <p:cTn id="94" dur="700" spd="-100000" fill="hold"/>
                                        <p:tgtEl>
                                          <p:spTgt spid="58"/>
                                        </p:tgtEl>
                                        <p:attrNameLst>
                                          <p:attrName>ppt_x</p:attrName>
                                          <p:attrName>ppt_y</p:attrName>
                                        </p:attrNameLst>
                                      </p:cBhvr>
                                      <p:rCtr x="0" y="1759"/>
                                    </p:animMotion>
                                  </p:childTnLst>
                                </p:cTn>
                              </p:par>
                              <p:par>
                                <p:cTn id="95" presetID="10" presetClass="entr" presetSubtype="0" fill="hold" grpId="0" nodeType="withEffect">
                                  <p:stCondLst>
                                    <p:cond delay="0"/>
                                  </p:stCondLst>
                                  <p:childTnLst>
                                    <p:set>
                                      <p:cBhvr>
                                        <p:cTn id="96" dur="1" fill="hold">
                                          <p:stCondLst>
                                            <p:cond delay="0"/>
                                          </p:stCondLst>
                                        </p:cTn>
                                        <p:tgtEl>
                                          <p:spTgt spid="56"/>
                                        </p:tgtEl>
                                        <p:attrNameLst>
                                          <p:attrName>style.visibility</p:attrName>
                                        </p:attrNameLst>
                                      </p:cBhvr>
                                      <p:to>
                                        <p:strVal val="visible"/>
                                      </p:to>
                                    </p:set>
                                    <p:animEffect transition="in" filter="fade">
                                      <p:cBhvr>
                                        <p:cTn id="97" dur="500"/>
                                        <p:tgtEl>
                                          <p:spTgt spid="56"/>
                                        </p:tgtEl>
                                      </p:cBhvr>
                                    </p:animEffect>
                                  </p:childTnLst>
                                </p:cTn>
                              </p:par>
                              <p:par>
                                <p:cTn id="98" presetID="42" presetClass="path" presetSubtype="0" decel="100000" fill="hold" grpId="1" nodeType="withEffect">
                                  <p:stCondLst>
                                    <p:cond delay="0"/>
                                  </p:stCondLst>
                                  <p:childTnLst>
                                    <p:animMotion origin="layout" path="M 4.79167E-6 -2.96296E-6 L 4.79167E-6 0.03542 " pathEditMode="relative" rAng="0" ptsTypes="AA">
                                      <p:cBhvr>
                                        <p:cTn id="99" dur="700" spd="-100000" fill="hold"/>
                                        <p:tgtEl>
                                          <p:spTgt spid="56"/>
                                        </p:tgtEl>
                                        <p:attrNameLst>
                                          <p:attrName>ppt_x</p:attrName>
                                          <p:attrName>ppt_y</p:attrName>
                                        </p:attrNameLst>
                                      </p:cBhvr>
                                      <p:rCtr x="0" y="1759"/>
                                    </p:animMotion>
                                  </p:childTnLst>
                                </p:cTn>
                              </p:par>
                              <p:par>
                                <p:cTn id="100" presetID="10" presetClass="entr" presetSubtype="0" fill="hold" grpId="0" nodeType="withEffect">
                                  <p:stCondLst>
                                    <p:cond delay="0"/>
                                  </p:stCondLst>
                                  <p:childTnLst>
                                    <p:set>
                                      <p:cBhvr>
                                        <p:cTn id="101" dur="1" fill="hold">
                                          <p:stCondLst>
                                            <p:cond delay="0"/>
                                          </p:stCondLst>
                                        </p:cTn>
                                        <p:tgtEl>
                                          <p:spTgt spid="63"/>
                                        </p:tgtEl>
                                        <p:attrNameLst>
                                          <p:attrName>style.visibility</p:attrName>
                                        </p:attrNameLst>
                                      </p:cBhvr>
                                      <p:to>
                                        <p:strVal val="visible"/>
                                      </p:to>
                                    </p:set>
                                    <p:animEffect transition="in" filter="fade">
                                      <p:cBhvr>
                                        <p:cTn id="102" dur="500"/>
                                        <p:tgtEl>
                                          <p:spTgt spid="63"/>
                                        </p:tgtEl>
                                      </p:cBhvr>
                                    </p:animEffect>
                                  </p:childTnLst>
                                </p:cTn>
                              </p:par>
                              <p:par>
                                <p:cTn id="103" presetID="42" presetClass="path" presetSubtype="0" decel="100000" fill="hold" grpId="1" nodeType="withEffect">
                                  <p:stCondLst>
                                    <p:cond delay="0"/>
                                  </p:stCondLst>
                                  <p:childTnLst>
                                    <p:animMotion origin="layout" path="M 4.79167E-6 -2.96296E-6 L 4.79167E-6 0.03542 " pathEditMode="relative" rAng="0" ptsTypes="AA">
                                      <p:cBhvr>
                                        <p:cTn id="104" dur="700" spd="-100000" fill="hold"/>
                                        <p:tgtEl>
                                          <p:spTgt spid="63"/>
                                        </p:tgtEl>
                                        <p:attrNameLst>
                                          <p:attrName>ppt_x</p:attrName>
                                          <p:attrName>ppt_y</p:attrName>
                                        </p:attrNameLst>
                                      </p:cBhvr>
                                      <p:rCtr x="0" y="1759"/>
                                    </p:animMotion>
                                  </p:childTnLst>
                                </p:cTn>
                              </p:par>
                              <p:par>
                                <p:cTn id="105" presetID="10" presetClass="entr" presetSubtype="0" fill="hold" grpId="0" nodeType="withEffect">
                                  <p:stCondLst>
                                    <p:cond delay="0"/>
                                  </p:stCondLst>
                                  <p:childTnLst>
                                    <p:set>
                                      <p:cBhvr>
                                        <p:cTn id="106" dur="1" fill="hold">
                                          <p:stCondLst>
                                            <p:cond delay="0"/>
                                          </p:stCondLst>
                                        </p:cTn>
                                        <p:tgtEl>
                                          <p:spTgt spid="61"/>
                                        </p:tgtEl>
                                        <p:attrNameLst>
                                          <p:attrName>style.visibility</p:attrName>
                                        </p:attrNameLst>
                                      </p:cBhvr>
                                      <p:to>
                                        <p:strVal val="visible"/>
                                      </p:to>
                                    </p:set>
                                    <p:animEffect transition="in" filter="fade">
                                      <p:cBhvr>
                                        <p:cTn id="107" dur="500"/>
                                        <p:tgtEl>
                                          <p:spTgt spid="61"/>
                                        </p:tgtEl>
                                      </p:cBhvr>
                                    </p:animEffect>
                                  </p:childTnLst>
                                </p:cTn>
                              </p:par>
                              <p:par>
                                <p:cTn id="108" presetID="42" presetClass="path" presetSubtype="0" decel="100000" fill="hold" grpId="1" nodeType="withEffect">
                                  <p:stCondLst>
                                    <p:cond delay="0"/>
                                  </p:stCondLst>
                                  <p:childTnLst>
                                    <p:animMotion origin="layout" path="M 4.79167E-6 -2.96296E-6 L 4.79167E-6 0.03542 " pathEditMode="relative" rAng="0" ptsTypes="AA">
                                      <p:cBhvr>
                                        <p:cTn id="109" dur="700" spd="-100000" fill="hold"/>
                                        <p:tgtEl>
                                          <p:spTgt spid="61"/>
                                        </p:tgtEl>
                                        <p:attrNameLst>
                                          <p:attrName>ppt_x</p:attrName>
                                          <p:attrName>ppt_y</p:attrName>
                                        </p:attrNameLst>
                                      </p:cBhvr>
                                      <p:rCtr x="0" y="1759"/>
                                    </p:animMotion>
                                  </p:childTnLst>
                                </p:cTn>
                              </p:par>
                              <p:par>
                                <p:cTn id="110" presetID="10" presetClass="entr" presetSubtype="0" fill="hold" nodeType="withEffect">
                                  <p:stCondLst>
                                    <p:cond delay="0"/>
                                  </p:stCondLst>
                                  <p:childTnLst>
                                    <p:set>
                                      <p:cBhvr>
                                        <p:cTn id="111" dur="1" fill="hold">
                                          <p:stCondLst>
                                            <p:cond delay="0"/>
                                          </p:stCondLst>
                                        </p:cTn>
                                        <p:tgtEl>
                                          <p:spTgt spid="44"/>
                                        </p:tgtEl>
                                        <p:attrNameLst>
                                          <p:attrName>style.visibility</p:attrName>
                                        </p:attrNameLst>
                                      </p:cBhvr>
                                      <p:to>
                                        <p:strVal val="visible"/>
                                      </p:to>
                                    </p:set>
                                    <p:animEffect transition="in" filter="fade">
                                      <p:cBhvr>
                                        <p:cTn id="112" dur="500"/>
                                        <p:tgtEl>
                                          <p:spTgt spid="44"/>
                                        </p:tgtEl>
                                      </p:cBhvr>
                                    </p:animEffect>
                                  </p:childTnLst>
                                </p:cTn>
                              </p:par>
                              <p:par>
                                <p:cTn id="113" presetID="42" presetClass="path" presetSubtype="0" decel="100000" fill="hold" nodeType="withEffect">
                                  <p:stCondLst>
                                    <p:cond delay="0"/>
                                  </p:stCondLst>
                                  <p:childTnLst>
                                    <p:animMotion origin="layout" path="M 4.79167E-6 -2.96296E-6 L 4.79167E-6 0.03542 " pathEditMode="relative" rAng="0" ptsTypes="AA">
                                      <p:cBhvr>
                                        <p:cTn id="114" dur="700" spd="-100000" fill="hold"/>
                                        <p:tgtEl>
                                          <p:spTgt spid="44"/>
                                        </p:tgtEl>
                                        <p:attrNameLst>
                                          <p:attrName>ppt_x</p:attrName>
                                          <p:attrName>ppt_y</p:attrName>
                                        </p:attrNameLst>
                                      </p:cBhvr>
                                      <p:rCtr x="0" y="1759"/>
                                    </p:animMotion>
                                  </p:childTnLst>
                                </p:cTn>
                              </p:par>
                              <p:par>
                                <p:cTn id="115" presetID="10" presetClass="entr" presetSubtype="0" fill="hold" nodeType="withEffect">
                                  <p:stCondLst>
                                    <p:cond delay="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7" dur="500"/>
                                        <p:tgtEl>
                                          <p:spTgt spid="37"/>
                                        </p:tgtEl>
                                      </p:cBhvr>
                                    </p:animEffect>
                                  </p:childTnLst>
                                </p:cTn>
                              </p:par>
                              <p:par>
                                <p:cTn id="118" presetID="42" presetClass="path" presetSubtype="0" decel="100000" fill="hold" nodeType="withEffect">
                                  <p:stCondLst>
                                    <p:cond delay="0"/>
                                  </p:stCondLst>
                                  <p:childTnLst>
                                    <p:animMotion origin="layout" path="M 4.79167E-6 -2.96296E-6 L 4.79167E-6 0.03542 " pathEditMode="relative" rAng="0" ptsTypes="AA">
                                      <p:cBhvr>
                                        <p:cTn id="119" dur="700" spd="-100000" fill="hold"/>
                                        <p:tgtEl>
                                          <p:spTgt spid="37"/>
                                        </p:tgtEl>
                                        <p:attrNameLst>
                                          <p:attrName>ppt_x</p:attrName>
                                          <p:attrName>ppt_y</p:attrName>
                                        </p:attrNameLst>
                                      </p:cBhvr>
                                      <p:rCtr x="0" y="1759"/>
                                    </p:animMotion>
                                  </p:childTnLst>
                                </p:cTn>
                              </p:par>
                              <p:par>
                                <p:cTn id="120" presetID="10" presetClass="entr" presetSubtype="0" fill="hold" nodeType="withEffect">
                                  <p:stCondLst>
                                    <p:cond delay="0"/>
                                  </p:stCondLst>
                                  <p:childTnLst>
                                    <p:set>
                                      <p:cBhvr>
                                        <p:cTn id="121" dur="1" fill="hold">
                                          <p:stCondLst>
                                            <p:cond delay="0"/>
                                          </p:stCondLst>
                                        </p:cTn>
                                        <p:tgtEl>
                                          <p:spTgt spid="38"/>
                                        </p:tgtEl>
                                        <p:attrNameLst>
                                          <p:attrName>style.visibility</p:attrName>
                                        </p:attrNameLst>
                                      </p:cBhvr>
                                      <p:to>
                                        <p:strVal val="visible"/>
                                      </p:to>
                                    </p:set>
                                    <p:animEffect transition="in" filter="fade">
                                      <p:cBhvr>
                                        <p:cTn id="122" dur="500"/>
                                        <p:tgtEl>
                                          <p:spTgt spid="38"/>
                                        </p:tgtEl>
                                      </p:cBhvr>
                                    </p:animEffect>
                                  </p:childTnLst>
                                </p:cTn>
                              </p:par>
                              <p:par>
                                <p:cTn id="123" presetID="42" presetClass="path" presetSubtype="0" decel="100000" fill="hold" nodeType="withEffect">
                                  <p:stCondLst>
                                    <p:cond delay="0"/>
                                  </p:stCondLst>
                                  <p:childTnLst>
                                    <p:animMotion origin="layout" path="M 4.79167E-6 -2.96296E-6 L 4.79167E-6 0.03542 " pathEditMode="relative" rAng="0" ptsTypes="AA">
                                      <p:cBhvr>
                                        <p:cTn id="124" dur="700" spd="-100000" fill="hold"/>
                                        <p:tgtEl>
                                          <p:spTgt spid="38"/>
                                        </p:tgtEl>
                                        <p:attrNameLst>
                                          <p:attrName>ppt_x</p:attrName>
                                          <p:attrName>ppt_y</p:attrName>
                                        </p:attrNameLst>
                                      </p:cBhvr>
                                      <p:rCtr x="0" y="1759"/>
                                    </p:animMotion>
                                  </p:childTnLst>
                                </p:cTn>
                              </p:par>
                              <p:par>
                                <p:cTn id="125" presetID="10" presetClass="entr" presetSubtype="0" fill="hold" grpId="0" nodeType="withEffect">
                                  <p:stCondLst>
                                    <p:cond delay="0"/>
                                  </p:stCondLst>
                                  <p:childTnLst>
                                    <p:set>
                                      <p:cBhvr>
                                        <p:cTn id="126" dur="1" fill="hold">
                                          <p:stCondLst>
                                            <p:cond delay="0"/>
                                          </p:stCondLst>
                                        </p:cTn>
                                        <p:tgtEl>
                                          <p:spTgt spid="29"/>
                                        </p:tgtEl>
                                        <p:attrNameLst>
                                          <p:attrName>style.visibility</p:attrName>
                                        </p:attrNameLst>
                                      </p:cBhvr>
                                      <p:to>
                                        <p:strVal val="visible"/>
                                      </p:to>
                                    </p:set>
                                    <p:animEffect transition="in" filter="fade">
                                      <p:cBhvr>
                                        <p:cTn id="127" dur="500"/>
                                        <p:tgtEl>
                                          <p:spTgt spid="29"/>
                                        </p:tgtEl>
                                      </p:cBhvr>
                                    </p:animEffect>
                                  </p:childTnLst>
                                </p:cTn>
                              </p:par>
                              <p:par>
                                <p:cTn id="128" presetID="42" presetClass="path" presetSubtype="0" decel="100000" fill="hold" grpId="1" nodeType="withEffect">
                                  <p:stCondLst>
                                    <p:cond delay="0"/>
                                  </p:stCondLst>
                                  <p:childTnLst>
                                    <p:animMotion origin="layout" path="M 4.79167E-6 -2.96296E-6 L 4.79167E-6 0.03542 " pathEditMode="relative" rAng="0" ptsTypes="AA">
                                      <p:cBhvr>
                                        <p:cTn id="129" dur="700" spd="-100000" fill="hold"/>
                                        <p:tgtEl>
                                          <p:spTgt spid="29"/>
                                        </p:tgtEl>
                                        <p:attrNameLst>
                                          <p:attrName>ppt_x</p:attrName>
                                          <p:attrName>ppt_y</p:attrName>
                                        </p:attrNameLst>
                                      </p:cBhvr>
                                      <p:rCtr x="0" y="1759"/>
                                    </p:animMotion>
                                  </p:childTnLst>
                                </p:cTn>
                              </p:par>
                              <p:par>
                                <p:cTn id="130" presetID="10" presetClass="entr" presetSubtype="0" fill="hold" grpId="0" nodeType="withEffect">
                                  <p:stCondLst>
                                    <p:cond delay="0"/>
                                  </p:stCondLst>
                                  <p:childTnLst>
                                    <p:set>
                                      <p:cBhvr>
                                        <p:cTn id="131" dur="1" fill="hold">
                                          <p:stCondLst>
                                            <p:cond delay="0"/>
                                          </p:stCondLst>
                                        </p:cTn>
                                        <p:tgtEl>
                                          <p:spTgt spid="20"/>
                                        </p:tgtEl>
                                        <p:attrNameLst>
                                          <p:attrName>style.visibility</p:attrName>
                                        </p:attrNameLst>
                                      </p:cBhvr>
                                      <p:to>
                                        <p:strVal val="visible"/>
                                      </p:to>
                                    </p:set>
                                    <p:animEffect transition="in" filter="fade">
                                      <p:cBhvr>
                                        <p:cTn id="132" dur="500"/>
                                        <p:tgtEl>
                                          <p:spTgt spid="20"/>
                                        </p:tgtEl>
                                      </p:cBhvr>
                                    </p:animEffect>
                                  </p:childTnLst>
                                </p:cTn>
                              </p:par>
                              <p:par>
                                <p:cTn id="133" presetID="42" presetClass="path" presetSubtype="0" decel="100000" fill="hold" grpId="1" nodeType="withEffect">
                                  <p:stCondLst>
                                    <p:cond delay="0"/>
                                  </p:stCondLst>
                                  <p:childTnLst>
                                    <p:animMotion origin="layout" path="M 4.79167E-6 -2.96296E-6 L 4.79167E-6 0.03542 " pathEditMode="relative" rAng="0" ptsTypes="AA">
                                      <p:cBhvr>
                                        <p:cTn id="134" dur="700" spd="-100000" fill="hold"/>
                                        <p:tgtEl>
                                          <p:spTgt spid="20"/>
                                        </p:tgtEl>
                                        <p:attrNameLst>
                                          <p:attrName>ppt_x</p:attrName>
                                          <p:attrName>ppt_y</p:attrName>
                                        </p:attrNameLst>
                                      </p:cBhvr>
                                      <p:rCtr x="0" y="1759"/>
                                    </p:animMotion>
                                  </p:childTnLst>
                                </p:cTn>
                              </p:par>
                              <p:par>
                                <p:cTn id="135" presetID="10" presetClass="entr" presetSubtype="0" fill="hold" nodeType="withEffect">
                                  <p:stCondLst>
                                    <p:cond delay="0"/>
                                  </p:stCondLst>
                                  <p:childTnLst>
                                    <p:set>
                                      <p:cBhvr>
                                        <p:cTn id="136" dur="1" fill="hold">
                                          <p:stCondLst>
                                            <p:cond delay="0"/>
                                          </p:stCondLst>
                                        </p:cTn>
                                        <p:tgtEl>
                                          <p:spTgt spid="39"/>
                                        </p:tgtEl>
                                        <p:attrNameLst>
                                          <p:attrName>style.visibility</p:attrName>
                                        </p:attrNameLst>
                                      </p:cBhvr>
                                      <p:to>
                                        <p:strVal val="visible"/>
                                      </p:to>
                                    </p:set>
                                    <p:animEffect transition="in" filter="fade">
                                      <p:cBhvr>
                                        <p:cTn id="137" dur="500"/>
                                        <p:tgtEl>
                                          <p:spTgt spid="39"/>
                                        </p:tgtEl>
                                      </p:cBhvr>
                                    </p:animEffect>
                                  </p:childTnLst>
                                </p:cTn>
                              </p:par>
                              <p:par>
                                <p:cTn id="138" presetID="42" presetClass="path" presetSubtype="0" decel="100000" fill="hold" nodeType="withEffect">
                                  <p:stCondLst>
                                    <p:cond delay="0"/>
                                  </p:stCondLst>
                                  <p:childTnLst>
                                    <p:animMotion origin="layout" path="M 4.79167E-6 -2.96296E-6 L 4.79167E-6 0.03542 " pathEditMode="relative" rAng="0" ptsTypes="AA">
                                      <p:cBhvr>
                                        <p:cTn id="139" dur="700" spd="-100000" fill="hold"/>
                                        <p:tgtEl>
                                          <p:spTgt spid="39"/>
                                        </p:tgtEl>
                                        <p:attrNameLst>
                                          <p:attrName>ppt_x</p:attrName>
                                          <p:attrName>ppt_y</p:attrName>
                                        </p:attrNameLst>
                                      </p:cBhvr>
                                      <p:rCtr x="0" y="1759"/>
                                    </p:animMotion>
                                  </p:childTnLst>
                                </p:cTn>
                              </p:par>
                              <p:par>
                                <p:cTn id="140" presetID="10" presetClass="entr" presetSubtype="0" fill="hold" nodeType="withEffect">
                                  <p:stCondLst>
                                    <p:cond delay="0"/>
                                  </p:stCondLst>
                                  <p:childTnLst>
                                    <p:set>
                                      <p:cBhvr>
                                        <p:cTn id="141" dur="1" fill="hold">
                                          <p:stCondLst>
                                            <p:cond delay="0"/>
                                          </p:stCondLst>
                                        </p:cTn>
                                        <p:tgtEl>
                                          <p:spTgt spid="40"/>
                                        </p:tgtEl>
                                        <p:attrNameLst>
                                          <p:attrName>style.visibility</p:attrName>
                                        </p:attrNameLst>
                                      </p:cBhvr>
                                      <p:to>
                                        <p:strVal val="visible"/>
                                      </p:to>
                                    </p:set>
                                    <p:animEffect transition="in" filter="fade">
                                      <p:cBhvr>
                                        <p:cTn id="142" dur="500"/>
                                        <p:tgtEl>
                                          <p:spTgt spid="40"/>
                                        </p:tgtEl>
                                      </p:cBhvr>
                                    </p:animEffect>
                                  </p:childTnLst>
                                </p:cTn>
                              </p:par>
                              <p:par>
                                <p:cTn id="143" presetID="42" presetClass="path" presetSubtype="0" decel="100000" fill="hold" nodeType="withEffect">
                                  <p:stCondLst>
                                    <p:cond delay="0"/>
                                  </p:stCondLst>
                                  <p:childTnLst>
                                    <p:animMotion origin="layout" path="M 4.79167E-6 -2.96296E-6 L 4.79167E-6 0.03542 " pathEditMode="relative" rAng="0" ptsTypes="AA">
                                      <p:cBhvr>
                                        <p:cTn id="144" dur="700" spd="-100000" fill="hold"/>
                                        <p:tgtEl>
                                          <p:spTgt spid="40"/>
                                        </p:tgtEl>
                                        <p:attrNameLst>
                                          <p:attrName>ppt_x</p:attrName>
                                          <p:attrName>ppt_y</p:attrName>
                                        </p:attrNameLst>
                                      </p:cBhvr>
                                      <p:rCtr x="0" y="1759"/>
                                    </p:animMotion>
                                  </p:childTnLst>
                                </p:cTn>
                              </p:par>
                              <p:par>
                                <p:cTn id="145" presetID="10" presetClass="entr" presetSubtype="0" fill="hold" grpId="0" nodeType="withEffect">
                                  <p:stCondLst>
                                    <p:cond delay="0"/>
                                  </p:stCondLst>
                                  <p:childTnLst>
                                    <p:set>
                                      <p:cBhvr>
                                        <p:cTn id="146" dur="1" fill="hold">
                                          <p:stCondLst>
                                            <p:cond delay="0"/>
                                          </p:stCondLst>
                                        </p:cTn>
                                        <p:tgtEl>
                                          <p:spTgt spid="30"/>
                                        </p:tgtEl>
                                        <p:attrNameLst>
                                          <p:attrName>style.visibility</p:attrName>
                                        </p:attrNameLst>
                                      </p:cBhvr>
                                      <p:to>
                                        <p:strVal val="visible"/>
                                      </p:to>
                                    </p:set>
                                    <p:animEffect transition="in" filter="fade">
                                      <p:cBhvr>
                                        <p:cTn id="147" dur="500"/>
                                        <p:tgtEl>
                                          <p:spTgt spid="30"/>
                                        </p:tgtEl>
                                      </p:cBhvr>
                                    </p:animEffect>
                                  </p:childTnLst>
                                </p:cTn>
                              </p:par>
                              <p:par>
                                <p:cTn id="148" presetID="42" presetClass="path" presetSubtype="0" decel="100000" fill="hold" grpId="1" nodeType="withEffect">
                                  <p:stCondLst>
                                    <p:cond delay="0"/>
                                  </p:stCondLst>
                                  <p:childTnLst>
                                    <p:animMotion origin="layout" path="M 4.79167E-6 -2.96296E-6 L 4.79167E-6 0.03542 " pathEditMode="relative" rAng="0" ptsTypes="AA">
                                      <p:cBhvr>
                                        <p:cTn id="149" dur="700" spd="-100000" fill="hold"/>
                                        <p:tgtEl>
                                          <p:spTgt spid="30"/>
                                        </p:tgtEl>
                                        <p:attrNameLst>
                                          <p:attrName>ppt_x</p:attrName>
                                          <p:attrName>ppt_y</p:attrName>
                                        </p:attrNameLst>
                                      </p:cBhvr>
                                      <p:rCtr x="0" y="1759"/>
                                    </p:animMotion>
                                  </p:childTnLst>
                                </p:cTn>
                              </p:par>
                              <p:par>
                                <p:cTn id="150" presetID="10" presetClass="entr" presetSubtype="0" fill="hold" nodeType="withEffect">
                                  <p:stCondLst>
                                    <p:cond delay="0"/>
                                  </p:stCondLst>
                                  <p:childTnLst>
                                    <p:set>
                                      <p:cBhvr>
                                        <p:cTn id="151" dur="1" fill="hold">
                                          <p:stCondLst>
                                            <p:cond delay="0"/>
                                          </p:stCondLst>
                                        </p:cTn>
                                        <p:tgtEl>
                                          <p:spTgt spid="41"/>
                                        </p:tgtEl>
                                        <p:attrNameLst>
                                          <p:attrName>style.visibility</p:attrName>
                                        </p:attrNameLst>
                                      </p:cBhvr>
                                      <p:to>
                                        <p:strVal val="visible"/>
                                      </p:to>
                                    </p:set>
                                    <p:animEffect transition="in" filter="fade">
                                      <p:cBhvr>
                                        <p:cTn id="152" dur="500"/>
                                        <p:tgtEl>
                                          <p:spTgt spid="41"/>
                                        </p:tgtEl>
                                      </p:cBhvr>
                                    </p:animEffect>
                                  </p:childTnLst>
                                </p:cTn>
                              </p:par>
                              <p:par>
                                <p:cTn id="153" presetID="42" presetClass="path" presetSubtype="0" decel="100000" fill="hold" nodeType="withEffect">
                                  <p:stCondLst>
                                    <p:cond delay="0"/>
                                  </p:stCondLst>
                                  <p:childTnLst>
                                    <p:animMotion origin="layout" path="M 4.79167E-6 -2.96296E-6 L 4.79167E-6 0.03542 " pathEditMode="relative" rAng="0" ptsTypes="AA">
                                      <p:cBhvr>
                                        <p:cTn id="154" dur="700" spd="-100000" fill="hold"/>
                                        <p:tgtEl>
                                          <p:spTgt spid="41"/>
                                        </p:tgtEl>
                                        <p:attrNameLst>
                                          <p:attrName>ppt_x</p:attrName>
                                          <p:attrName>ppt_y</p:attrName>
                                        </p:attrNameLst>
                                      </p:cBhvr>
                                      <p:rCtr x="0" y="1759"/>
                                    </p:animMotion>
                                  </p:childTnLst>
                                </p:cTn>
                              </p:par>
                            </p:childTnLst>
                          </p:cTn>
                        </p:par>
                      </p:childTnLst>
                    </p:cTn>
                  </p:par>
                  <p:par>
                    <p:cTn id="155" fill="hold">
                      <p:stCondLst>
                        <p:cond delay="indefinite"/>
                      </p:stCondLst>
                      <p:childTnLst>
                        <p:par>
                          <p:cTn id="156" fill="hold">
                            <p:stCondLst>
                              <p:cond delay="0"/>
                            </p:stCondLst>
                            <p:childTnLst>
                              <p:par>
                                <p:cTn id="157" presetID="10" presetClass="entr" presetSubtype="0" fill="hold" grpId="0" nodeType="clickEffect">
                                  <p:stCondLst>
                                    <p:cond delay="0"/>
                                  </p:stCondLst>
                                  <p:childTnLst>
                                    <p:set>
                                      <p:cBhvr>
                                        <p:cTn id="158" dur="1" fill="hold">
                                          <p:stCondLst>
                                            <p:cond delay="0"/>
                                          </p:stCondLst>
                                        </p:cTn>
                                        <p:tgtEl>
                                          <p:spTgt spid="25"/>
                                        </p:tgtEl>
                                        <p:attrNameLst>
                                          <p:attrName>style.visibility</p:attrName>
                                        </p:attrNameLst>
                                      </p:cBhvr>
                                      <p:to>
                                        <p:strVal val="visible"/>
                                      </p:to>
                                    </p:set>
                                    <p:animEffect transition="in" filter="fade">
                                      <p:cBhvr>
                                        <p:cTn id="159" dur="500"/>
                                        <p:tgtEl>
                                          <p:spTgt spid="25"/>
                                        </p:tgtEl>
                                      </p:cBhvr>
                                    </p:animEffect>
                                  </p:childTnLst>
                                </p:cTn>
                              </p:par>
                              <p:par>
                                <p:cTn id="160" presetID="42" presetClass="path" presetSubtype="0" decel="100000" fill="hold" grpId="1" nodeType="withEffect">
                                  <p:stCondLst>
                                    <p:cond delay="0"/>
                                  </p:stCondLst>
                                  <p:childTnLst>
                                    <p:animMotion origin="layout" path="M 4.79167E-6 -2.96296E-6 L 4.79167E-6 0.03542 " pathEditMode="relative" rAng="0" ptsTypes="AA">
                                      <p:cBhvr>
                                        <p:cTn id="161" dur="700" spd="-100000" fill="hold"/>
                                        <p:tgtEl>
                                          <p:spTgt spid="25"/>
                                        </p:tgtEl>
                                        <p:attrNameLst>
                                          <p:attrName>ppt_x</p:attrName>
                                          <p:attrName>ppt_y</p:attrName>
                                        </p:attrNameLst>
                                      </p:cBhvr>
                                      <p:rCtr x="0" y="1759"/>
                                    </p:animMotion>
                                  </p:childTnLst>
                                </p:cTn>
                              </p:par>
                              <p:par>
                                <p:cTn id="162" presetID="10" presetClass="entr" presetSubtype="0" fill="hold" grpId="0" nodeType="withEffect">
                                  <p:stCondLst>
                                    <p:cond delay="0"/>
                                  </p:stCondLst>
                                  <p:childTnLst>
                                    <p:set>
                                      <p:cBhvr>
                                        <p:cTn id="163" dur="1" fill="hold">
                                          <p:stCondLst>
                                            <p:cond delay="0"/>
                                          </p:stCondLst>
                                        </p:cTn>
                                        <p:tgtEl>
                                          <p:spTgt spid="27"/>
                                        </p:tgtEl>
                                        <p:attrNameLst>
                                          <p:attrName>style.visibility</p:attrName>
                                        </p:attrNameLst>
                                      </p:cBhvr>
                                      <p:to>
                                        <p:strVal val="visible"/>
                                      </p:to>
                                    </p:set>
                                    <p:animEffect transition="in" filter="fade">
                                      <p:cBhvr>
                                        <p:cTn id="164" dur="500"/>
                                        <p:tgtEl>
                                          <p:spTgt spid="27"/>
                                        </p:tgtEl>
                                      </p:cBhvr>
                                    </p:animEffect>
                                  </p:childTnLst>
                                </p:cTn>
                              </p:par>
                              <p:par>
                                <p:cTn id="165" presetID="42" presetClass="path" presetSubtype="0" decel="100000" fill="hold" grpId="1" nodeType="withEffect">
                                  <p:stCondLst>
                                    <p:cond delay="0"/>
                                  </p:stCondLst>
                                  <p:childTnLst>
                                    <p:animMotion origin="layout" path="M 4.79167E-6 -2.96296E-6 L 4.79167E-6 0.03542 " pathEditMode="relative" rAng="0" ptsTypes="AA">
                                      <p:cBhvr>
                                        <p:cTn id="166" dur="700" spd="-100000" fill="hold"/>
                                        <p:tgtEl>
                                          <p:spTgt spid="27"/>
                                        </p:tgtEl>
                                        <p:attrNameLst>
                                          <p:attrName>ppt_x</p:attrName>
                                          <p:attrName>ppt_y</p:attrName>
                                        </p:attrNameLst>
                                      </p:cBhvr>
                                      <p:rCtr x="0" y="1759"/>
                                    </p:animMotion>
                                  </p:childTnLst>
                                </p:cTn>
                              </p:par>
                              <p:par>
                                <p:cTn id="167" presetID="10" presetClass="entr" presetSubtype="0" fill="hold" grpId="0" nodeType="withEffect">
                                  <p:stCondLst>
                                    <p:cond delay="0"/>
                                  </p:stCondLst>
                                  <p:childTnLst>
                                    <p:set>
                                      <p:cBhvr>
                                        <p:cTn id="168" dur="1" fill="hold">
                                          <p:stCondLst>
                                            <p:cond delay="0"/>
                                          </p:stCondLst>
                                        </p:cTn>
                                        <p:tgtEl>
                                          <p:spTgt spid="26"/>
                                        </p:tgtEl>
                                        <p:attrNameLst>
                                          <p:attrName>style.visibility</p:attrName>
                                        </p:attrNameLst>
                                      </p:cBhvr>
                                      <p:to>
                                        <p:strVal val="visible"/>
                                      </p:to>
                                    </p:set>
                                    <p:animEffect transition="in" filter="fade">
                                      <p:cBhvr>
                                        <p:cTn id="169" dur="500"/>
                                        <p:tgtEl>
                                          <p:spTgt spid="26"/>
                                        </p:tgtEl>
                                      </p:cBhvr>
                                    </p:animEffect>
                                  </p:childTnLst>
                                </p:cTn>
                              </p:par>
                              <p:par>
                                <p:cTn id="170" presetID="42" presetClass="path" presetSubtype="0" decel="100000" fill="hold" grpId="1" nodeType="withEffect">
                                  <p:stCondLst>
                                    <p:cond delay="0"/>
                                  </p:stCondLst>
                                  <p:childTnLst>
                                    <p:animMotion origin="layout" path="M 4.79167E-6 -2.96296E-6 L 4.79167E-6 0.03542 " pathEditMode="relative" rAng="0" ptsTypes="AA">
                                      <p:cBhvr>
                                        <p:cTn id="171" dur="700" spd="-100000" fill="hold"/>
                                        <p:tgtEl>
                                          <p:spTgt spid="26"/>
                                        </p:tgtEl>
                                        <p:attrNameLst>
                                          <p:attrName>ppt_x</p:attrName>
                                          <p:attrName>ppt_y</p:attrName>
                                        </p:attrNameLst>
                                      </p:cBhvr>
                                      <p:rCtr x="0" y="1759"/>
                                    </p:animMotion>
                                  </p:childTnLst>
                                </p:cTn>
                              </p:par>
                              <p:par>
                                <p:cTn id="172" presetID="10" presetClass="entr" presetSubtype="0" fill="hold" grpId="0" nodeType="withEffect">
                                  <p:stCondLst>
                                    <p:cond delay="0"/>
                                  </p:stCondLst>
                                  <p:childTnLst>
                                    <p:set>
                                      <p:cBhvr>
                                        <p:cTn id="173" dur="1" fill="hold">
                                          <p:stCondLst>
                                            <p:cond delay="0"/>
                                          </p:stCondLst>
                                        </p:cTn>
                                        <p:tgtEl>
                                          <p:spTgt spid="28"/>
                                        </p:tgtEl>
                                        <p:attrNameLst>
                                          <p:attrName>style.visibility</p:attrName>
                                        </p:attrNameLst>
                                      </p:cBhvr>
                                      <p:to>
                                        <p:strVal val="visible"/>
                                      </p:to>
                                    </p:set>
                                    <p:animEffect transition="in" filter="fade">
                                      <p:cBhvr>
                                        <p:cTn id="174" dur="500"/>
                                        <p:tgtEl>
                                          <p:spTgt spid="28"/>
                                        </p:tgtEl>
                                      </p:cBhvr>
                                    </p:animEffect>
                                  </p:childTnLst>
                                </p:cTn>
                              </p:par>
                              <p:par>
                                <p:cTn id="175" presetID="42" presetClass="path" presetSubtype="0" decel="100000" fill="hold" grpId="1" nodeType="withEffect">
                                  <p:stCondLst>
                                    <p:cond delay="0"/>
                                  </p:stCondLst>
                                  <p:childTnLst>
                                    <p:animMotion origin="layout" path="M 4.79167E-6 -2.96296E-6 L 4.79167E-6 0.03542 " pathEditMode="relative" rAng="0" ptsTypes="AA">
                                      <p:cBhvr>
                                        <p:cTn id="176" dur="700" spd="-100000" fill="hold"/>
                                        <p:tgtEl>
                                          <p:spTgt spid="28"/>
                                        </p:tgtEl>
                                        <p:attrNameLst>
                                          <p:attrName>ppt_x</p:attrName>
                                          <p:attrName>ppt_y</p:attrName>
                                        </p:attrNameLst>
                                      </p:cBhvr>
                                      <p:rCtr x="0" y="1759"/>
                                    </p:animMotion>
                                  </p:childTnLst>
                                </p:cTn>
                              </p:par>
                              <p:par>
                                <p:cTn id="177" presetID="10" presetClass="entr" presetSubtype="0" fill="hold" nodeType="withEffect">
                                  <p:stCondLst>
                                    <p:cond delay="0"/>
                                  </p:stCondLst>
                                  <p:childTnLst>
                                    <p:set>
                                      <p:cBhvr>
                                        <p:cTn id="178" dur="1" fill="hold">
                                          <p:stCondLst>
                                            <p:cond delay="0"/>
                                          </p:stCondLst>
                                        </p:cTn>
                                        <p:tgtEl>
                                          <p:spTgt spid="24"/>
                                        </p:tgtEl>
                                        <p:attrNameLst>
                                          <p:attrName>style.visibility</p:attrName>
                                        </p:attrNameLst>
                                      </p:cBhvr>
                                      <p:to>
                                        <p:strVal val="visible"/>
                                      </p:to>
                                    </p:set>
                                    <p:animEffect transition="in" filter="fade">
                                      <p:cBhvr>
                                        <p:cTn id="179" dur="500"/>
                                        <p:tgtEl>
                                          <p:spTgt spid="24"/>
                                        </p:tgtEl>
                                      </p:cBhvr>
                                    </p:animEffect>
                                  </p:childTnLst>
                                </p:cTn>
                              </p:par>
                              <p:par>
                                <p:cTn id="180" presetID="42" presetClass="path" presetSubtype="0" decel="100000" fill="hold" nodeType="withEffect">
                                  <p:stCondLst>
                                    <p:cond delay="0"/>
                                  </p:stCondLst>
                                  <p:childTnLst>
                                    <p:animMotion origin="layout" path="M 1.04167E-6 3.7037E-7 L 1.04167E-6 0.03542 " pathEditMode="relative" rAng="0" ptsTypes="AA">
                                      <p:cBhvr>
                                        <p:cTn id="181" dur="700" spd="-100000" fill="hold"/>
                                        <p:tgtEl>
                                          <p:spTgt spid="24"/>
                                        </p:tgtEl>
                                        <p:attrNameLst>
                                          <p:attrName>ppt_x</p:attrName>
                                          <p:attrName>ppt_y</p:attrName>
                                        </p:attrNameLst>
                                      </p:cBhvr>
                                      <p:rCtr x="0" y="1759"/>
                                    </p:animMotion>
                                  </p:childTnLst>
                                </p:cTn>
                              </p:par>
                              <p:par>
                                <p:cTn id="182" presetID="10" presetClass="entr" presetSubtype="0" fill="hold" grpId="0" nodeType="withEffect">
                                  <p:stCondLst>
                                    <p:cond delay="0"/>
                                  </p:stCondLst>
                                  <p:childTnLst>
                                    <p:set>
                                      <p:cBhvr>
                                        <p:cTn id="183" dur="1" fill="hold">
                                          <p:stCondLst>
                                            <p:cond delay="0"/>
                                          </p:stCondLst>
                                        </p:cTn>
                                        <p:tgtEl>
                                          <p:spTgt spid="23"/>
                                        </p:tgtEl>
                                        <p:attrNameLst>
                                          <p:attrName>style.visibility</p:attrName>
                                        </p:attrNameLst>
                                      </p:cBhvr>
                                      <p:to>
                                        <p:strVal val="visible"/>
                                      </p:to>
                                    </p:set>
                                    <p:animEffect transition="in" filter="fade">
                                      <p:cBhvr>
                                        <p:cTn id="184" dur="500"/>
                                        <p:tgtEl>
                                          <p:spTgt spid="23"/>
                                        </p:tgtEl>
                                      </p:cBhvr>
                                    </p:animEffect>
                                  </p:childTnLst>
                                </p:cTn>
                              </p:par>
                              <p:par>
                                <p:cTn id="185" presetID="42" presetClass="path" presetSubtype="0" decel="100000" fill="hold" grpId="1" nodeType="withEffect">
                                  <p:stCondLst>
                                    <p:cond delay="0"/>
                                  </p:stCondLst>
                                  <p:childTnLst>
                                    <p:animMotion origin="layout" path="M 1.875E-6 2.96296E-6 L 1.875E-6 0.03541 " pathEditMode="relative" rAng="0" ptsTypes="AA">
                                      <p:cBhvr>
                                        <p:cTn id="186" dur="700" spd="-100000" fill="hold"/>
                                        <p:tgtEl>
                                          <p:spTgt spid="2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3" grpId="0" animBg="1"/>
      <p:bldP spid="23" grpId="1" animBg="1"/>
      <p:bldP spid="19" grpId="0" animBg="1"/>
      <p:bldP spid="19" grpId="1" animBg="1"/>
      <p:bldP spid="21" grpId="0"/>
      <p:bldP spid="21" grpId="1"/>
      <p:bldP spid="10" grpId="0"/>
      <p:bldP spid="10" grpId="1"/>
      <p:bldP spid="14" grpId="0"/>
      <p:bldP spid="14" grpId="1"/>
      <p:bldP spid="12" grpId="0"/>
      <p:bldP spid="12" grpId="1"/>
      <p:bldP spid="13" grpId="0"/>
      <p:bldP spid="13" grpId="1"/>
      <p:bldP spid="15" grpId="0"/>
      <p:bldP spid="15" grpId="1"/>
      <p:bldP spid="11" grpId="0"/>
      <p:bldP spid="11" grpId="1"/>
      <p:bldP spid="20" grpId="0" animBg="1"/>
      <p:bldP spid="20" grpId="1" animBg="1"/>
      <p:bldP spid="49" grpId="0"/>
      <p:bldP spid="49" grpId="1"/>
      <p:bldP spid="53" grpId="0" animBg="1"/>
      <p:bldP spid="53" grpId="1" animBg="1"/>
      <p:bldP spid="51" grpId="0"/>
      <p:bldP spid="51" grpId="1"/>
      <p:bldP spid="58" grpId="0" animBg="1"/>
      <p:bldP spid="58" grpId="1" animBg="1"/>
      <p:bldP spid="56" grpId="0"/>
      <p:bldP spid="56" grpId="1"/>
      <p:bldP spid="63" grpId="0" animBg="1"/>
      <p:bldP spid="63" grpId="1" animBg="1"/>
      <p:bldP spid="61" grpId="0"/>
      <p:bldP spid="61" grpId="1"/>
      <p:bldP spid="29" grpId="0" animBg="1"/>
      <p:bldP spid="29" grpId="1" animBg="1"/>
      <p:bldP spid="30" grpId="0" animBg="1"/>
      <p:bldP spid="30" grpId="1" animBg="1"/>
      <p:bldP spid="26" grpId="0"/>
      <p:bldP spid="26" grpId="1"/>
      <p:bldP spid="27" grpId="0"/>
      <p:bldP spid="27" grpId="1"/>
      <p:bldP spid="28" grpId="0"/>
      <p:bldP spid="28" grpId="1"/>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EA90497-C4EB-C38B-1DDA-50460ECEFA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D8026C-745A-9BD6-FA0C-6089F50EED1D}"/>
              </a:ext>
            </a:extLst>
          </p:cNvPr>
          <p:cNvSpPr>
            <a:spLocks noGrp="1"/>
          </p:cNvSpPr>
          <p:nvPr>
            <p:ph type="title"/>
          </p:nvPr>
        </p:nvSpPr>
        <p:spPr/>
        <p:txBody>
          <a:bodyPr/>
          <a:lstStyle/>
          <a:p>
            <a:r>
              <a:rPr lang="en-US"/>
              <a:t>Azure AI Search: Enterprise-ready</a:t>
            </a:r>
          </a:p>
        </p:txBody>
      </p:sp>
      <p:sp>
        <p:nvSpPr>
          <p:cNvPr id="8" name="Rounded Rectangle 1">
            <a:extLst>
              <a:ext uri="{FF2B5EF4-FFF2-40B4-BE49-F238E27FC236}">
                <a16:creationId xmlns:a16="http://schemas.microsoft.com/office/drawing/2014/main" id="{83660A12-F384-ACF0-E7DE-B3648B011190}"/>
              </a:ext>
              <a:ext uri="{C183D7F6-B498-43B3-948B-1728B52AA6E4}">
                <adec:decorative xmlns:adec="http://schemas.microsoft.com/office/drawing/2017/decorative" val="1"/>
              </a:ext>
            </a:extLst>
          </p:cNvPr>
          <p:cNvSpPr/>
          <p:nvPr/>
        </p:nvSpPr>
        <p:spPr bwMode="auto">
          <a:xfrm>
            <a:off x="831798" y="1434031"/>
            <a:ext cx="10891016" cy="975126"/>
          </a:xfrm>
          <a:prstGeom prst="roundRect">
            <a:avLst>
              <a:gd name="adj" fmla="val 7154"/>
            </a:avLst>
          </a:prstGeom>
          <a:solidFill>
            <a:schemeClr val="accent2">
              <a:lumMod val="75000"/>
            </a:schemeClr>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ysClr val="windowText" lastClr="000000"/>
              </a:solidFill>
              <a:effectLst/>
              <a:uLnTx/>
              <a:uFillTx/>
              <a:latin typeface="Segoe UI Semibold"/>
              <a:ea typeface="+mn-ea"/>
              <a:cs typeface="Segoe UI" pitchFamily="34" charset="0"/>
            </a:endParaRPr>
          </a:p>
        </p:txBody>
      </p:sp>
      <p:pic>
        <p:nvPicPr>
          <p:cNvPr id="6" name="Graphic 5" descr="Lock">
            <a:extLst>
              <a:ext uri="{FF2B5EF4-FFF2-40B4-BE49-F238E27FC236}">
                <a16:creationId xmlns:a16="http://schemas.microsoft.com/office/drawing/2014/main" id="{991805D5-41ED-398B-6DA7-94FF9CF822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9947" y="1585173"/>
            <a:ext cx="629963" cy="629963"/>
          </a:xfrm>
          <a:prstGeom prst="rect">
            <a:avLst/>
          </a:prstGeom>
          <a:effectLst>
            <a:outerShdw blurRad="63500" dist="127000" dir="2700000" algn="tl" rotWithShape="0">
              <a:srgbClr val="454142">
                <a:alpha val="20000"/>
              </a:srgbClr>
            </a:outerShdw>
          </a:effectLst>
        </p:spPr>
      </p:pic>
      <p:sp>
        <p:nvSpPr>
          <p:cNvPr id="4" name="TextBox 3">
            <a:extLst>
              <a:ext uri="{FF2B5EF4-FFF2-40B4-BE49-F238E27FC236}">
                <a16:creationId xmlns:a16="http://schemas.microsoft.com/office/drawing/2014/main" id="{8A29ABB0-8618-9C50-1FDB-04391BEC7CEC}"/>
              </a:ext>
            </a:extLst>
          </p:cNvPr>
          <p:cNvSpPr txBox="1"/>
          <p:nvPr/>
        </p:nvSpPr>
        <p:spPr>
          <a:xfrm>
            <a:off x="2185877" y="1767705"/>
            <a:ext cx="1943481" cy="307777"/>
          </a:xfrm>
          <a:prstGeom prst="rect">
            <a:avLst/>
          </a:prstGeom>
          <a:noFill/>
        </p:spPr>
        <p:txBody>
          <a:bodyPr wrap="none" lIns="0" tIns="0" rIns="0" bIns="0" rtlCol="0">
            <a:spAutoFit/>
          </a:bodyPr>
          <a:lstStyle/>
          <a:p>
            <a:pPr algn="l"/>
            <a:r>
              <a:rPr lang="en-US" sz="2000" b="1">
                <a:solidFill>
                  <a:schemeClr val="bg1"/>
                </a:solidFill>
              </a:rPr>
              <a:t>Data Encryption</a:t>
            </a:r>
          </a:p>
        </p:txBody>
      </p:sp>
      <p:sp>
        <p:nvSpPr>
          <p:cNvPr id="5" name="TextBox 4">
            <a:extLst>
              <a:ext uri="{FF2B5EF4-FFF2-40B4-BE49-F238E27FC236}">
                <a16:creationId xmlns:a16="http://schemas.microsoft.com/office/drawing/2014/main" id="{A79F57ED-749C-D6CC-D522-0D6A1C999287}"/>
              </a:ext>
            </a:extLst>
          </p:cNvPr>
          <p:cNvSpPr txBox="1"/>
          <p:nvPr/>
        </p:nvSpPr>
        <p:spPr>
          <a:xfrm>
            <a:off x="5945720" y="1613817"/>
            <a:ext cx="5502215" cy="615553"/>
          </a:xfrm>
          <a:prstGeom prst="rect">
            <a:avLst/>
          </a:prstGeom>
          <a:noFill/>
        </p:spPr>
        <p:txBody>
          <a:bodyPr wrap="square" lIns="0" tIns="0" rIns="0" bIns="0" rtlCol="0" anchor="ctr">
            <a:spAutoFit/>
          </a:bodyPr>
          <a:lstStyle/>
          <a:p>
            <a:pPr algn="l"/>
            <a:r>
              <a:rPr lang="en-US" sz="2000">
                <a:solidFill>
                  <a:schemeClr val="bg1"/>
                </a:solidFill>
              </a:rPr>
              <a:t>Including option for customer-managed encryption keys</a:t>
            </a:r>
          </a:p>
        </p:txBody>
      </p:sp>
      <p:sp>
        <p:nvSpPr>
          <p:cNvPr id="9" name="Rounded Rectangle 1">
            <a:extLst>
              <a:ext uri="{FF2B5EF4-FFF2-40B4-BE49-F238E27FC236}">
                <a16:creationId xmlns:a16="http://schemas.microsoft.com/office/drawing/2014/main" id="{7ACBC306-3129-38F4-95DE-25DAC83BB93A}"/>
              </a:ext>
              <a:ext uri="{C183D7F6-B498-43B3-948B-1728B52AA6E4}">
                <adec:decorative xmlns:adec="http://schemas.microsoft.com/office/drawing/2017/decorative" val="1"/>
              </a:ext>
            </a:extLst>
          </p:cNvPr>
          <p:cNvSpPr/>
          <p:nvPr/>
        </p:nvSpPr>
        <p:spPr bwMode="auto">
          <a:xfrm>
            <a:off x="831798" y="2719855"/>
            <a:ext cx="10891016" cy="975126"/>
          </a:xfrm>
          <a:prstGeom prst="roundRect">
            <a:avLst>
              <a:gd name="adj" fmla="val 7154"/>
            </a:avLst>
          </a:prstGeom>
          <a:solidFill>
            <a:schemeClr val="accent2">
              <a:lumMod val="75000"/>
            </a:schemeClr>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ysClr val="windowText" lastClr="000000"/>
              </a:solidFill>
              <a:effectLst/>
              <a:uLnTx/>
              <a:uFillTx/>
              <a:latin typeface="Segoe UI Semibold"/>
              <a:ea typeface="+mn-ea"/>
              <a:cs typeface="Segoe UI" pitchFamily="34" charset="0"/>
            </a:endParaRPr>
          </a:p>
        </p:txBody>
      </p:sp>
      <p:pic>
        <p:nvPicPr>
          <p:cNvPr id="12" name="Graphic 77" descr="User">
            <a:extLst>
              <a:ext uri="{FF2B5EF4-FFF2-40B4-BE49-F238E27FC236}">
                <a16:creationId xmlns:a16="http://schemas.microsoft.com/office/drawing/2014/main" id="{5E29549B-86AD-CACA-C861-94D25A9EA13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9947" y="2870997"/>
            <a:ext cx="629963" cy="629963"/>
          </a:xfrm>
          <a:prstGeom prst="rect">
            <a:avLst/>
          </a:prstGeom>
          <a:effectLst>
            <a:outerShdw blurRad="63500" dist="127000" dir="2700000" algn="tl" rotWithShape="0">
              <a:srgbClr val="454142">
                <a:alpha val="20000"/>
              </a:srgbClr>
            </a:outerShdw>
          </a:effectLst>
        </p:spPr>
      </p:pic>
      <p:sp>
        <p:nvSpPr>
          <p:cNvPr id="13" name="TextBox 12">
            <a:extLst>
              <a:ext uri="{FF2B5EF4-FFF2-40B4-BE49-F238E27FC236}">
                <a16:creationId xmlns:a16="http://schemas.microsoft.com/office/drawing/2014/main" id="{71BDB464-1FB1-187B-D6F4-1971E7DA2526}"/>
              </a:ext>
            </a:extLst>
          </p:cNvPr>
          <p:cNvSpPr txBox="1"/>
          <p:nvPr/>
        </p:nvSpPr>
        <p:spPr>
          <a:xfrm>
            <a:off x="2185877" y="3053529"/>
            <a:ext cx="2675989" cy="307777"/>
          </a:xfrm>
          <a:prstGeom prst="rect">
            <a:avLst/>
          </a:prstGeom>
          <a:noFill/>
        </p:spPr>
        <p:txBody>
          <a:bodyPr wrap="none" lIns="0" tIns="0" rIns="0" bIns="0" rtlCol="0">
            <a:spAutoFit/>
          </a:bodyPr>
          <a:lstStyle/>
          <a:p>
            <a:pPr algn="l"/>
            <a:r>
              <a:rPr lang="en-US" sz="2000" b="1">
                <a:solidFill>
                  <a:schemeClr val="bg1"/>
                </a:solidFill>
              </a:rPr>
              <a:t>Secure Authentication</a:t>
            </a:r>
          </a:p>
        </p:txBody>
      </p:sp>
      <p:sp>
        <p:nvSpPr>
          <p:cNvPr id="14" name="TextBox 13">
            <a:extLst>
              <a:ext uri="{FF2B5EF4-FFF2-40B4-BE49-F238E27FC236}">
                <a16:creationId xmlns:a16="http://schemas.microsoft.com/office/drawing/2014/main" id="{CD21602C-452E-8AF1-CE4D-6A0C5EB1D007}"/>
              </a:ext>
            </a:extLst>
          </p:cNvPr>
          <p:cNvSpPr txBox="1"/>
          <p:nvPr/>
        </p:nvSpPr>
        <p:spPr>
          <a:xfrm>
            <a:off x="5945720" y="3053529"/>
            <a:ext cx="5502215" cy="307777"/>
          </a:xfrm>
          <a:prstGeom prst="rect">
            <a:avLst/>
          </a:prstGeom>
          <a:noFill/>
        </p:spPr>
        <p:txBody>
          <a:bodyPr wrap="square" lIns="0" tIns="0" rIns="0" bIns="0" rtlCol="0" anchor="ctr">
            <a:spAutoFit/>
          </a:bodyPr>
          <a:lstStyle/>
          <a:p>
            <a:pPr algn="l"/>
            <a:r>
              <a:rPr lang="en-US" sz="2000">
                <a:solidFill>
                  <a:schemeClr val="bg1"/>
                </a:solidFill>
              </a:rPr>
              <a:t>Managed identity and RBAC support</a:t>
            </a:r>
          </a:p>
        </p:txBody>
      </p:sp>
      <p:sp>
        <p:nvSpPr>
          <p:cNvPr id="10" name="Rounded Rectangle 1">
            <a:extLst>
              <a:ext uri="{FF2B5EF4-FFF2-40B4-BE49-F238E27FC236}">
                <a16:creationId xmlns:a16="http://schemas.microsoft.com/office/drawing/2014/main" id="{44FCB5EC-854C-040C-87A5-879F886BC0CA}"/>
              </a:ext>
              <a:ext uri="{C183D7F6-B498-43B3-948B-1728B52AA6E4}">
                <adec:decorative xmlns:adec="http://schemas.microsoft.com/office/drawing/2017/decorative" val="1"/>
              </a:ext>
            </a:extLst>
          </p:cNvPr>
          <p:cNvSpPr/>
          <p:nvPr/>
        </p:nvSpPr>
        <p:spPr bwMode="auto">
          <a:xfrm>
            <a:off x="831798" y="4005679"/>
            <a:ext cx="10891016" cy="975126"/>
          </a:xfrm>
          <a:prstGeom prst="roundRect">
            <a:avLst>
              <a:gd name="adj" fmla="val 7154"/>
            </a:avLst>
          </a:prstGeom>
          <a:solidFill>
            <a:schemeClr val="accent2">
              <a:lumMod val="75000"/>
            </a:schemeClr>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ysClr val="windowText" lastClr="000000"/>
              </a:solidFill>
              <a:effectLst/>
              <a:uLnTx/>
              <a:uFillTx/>
              <a:latin typeface="Segoe UI Semibold"/>
              <a:ea typeface="+mn-ea"/>
              <a:cs typeface="Segoe UI" pitchFamily="34" charset="0"/>
            </a:endParaRPr>
          </a:p>
        </p:txBody>
      </p:sp>
      <p:pic>
        <p:nvPicPr>
          <p:cNvPr id="15" name="Graphic 14" descr="Network diagram with solid fill">
            <a:extLst>
              <a:ext uri="{FF2B5EF4-FFF2-40B4-BE49-F238E27FC236}">
                <a16:creationId xmlns:a16="http://schemas.microsoft.com/office/drawing/2014/main" id="{AE158AF4-A95D-C0B9-521E-156DDB011A4B}"/>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1169947" y="4133845"/>
            <a:ext cx="629963" cy="629963"/>
          </a:xfrm>
          <a:prstGeom prst="rect">
            <a:avLst/>
          </a:prstGeom>
          <a:effectLst>
            <a:outerShdw blurRad="63500" dist="127000" dir="2700000" algn="tl" rotWithShape="0">
              <a:srgbClr val="454142">
                <a:alpha val="20000"/>
              </a:srgbClr>
            </a:outerShdw>
          </a:effectLst>
        </p:spPr>
      </p:pic>
      <p:sp>
        <p:nvSpPr>
          <p:cNvPr id="16" name="TextBox 15">
            <a:extLst>
              <a:ext uri="{FF2B5EF4-FFF2-40B4-BE49-F238E27FC236}">
                <a16:creationId xmlns:a16="http://schemas.microsoft.com/office/drawing/2014/main" id="{C5E71481-B8CA-BC42-7EC0-CC13531167F9}"/>
              </a:ext>
            </a:extLst>
          </p:cNvPr>
          <p:cNvSpPr txBox="1"/>
          <p:nvPr/>
        </p:nvSpPr>
        <p:spPr>
          <a:xfrm>
            <a:off x="2185877" y="4316377"/>
            <a:ext cx="2162772" cy="307777"/>
          </a:xfrm>
          <a:prstGeom prst="rect">
            <a:avLst/>
          </a:prstGeom>
          <a:noFill/>
        </p:spPr>
        <p:txBody>
          <a:bodyPr wrap="none" lIns="0" tIns="0" rIns="0" bIns="0" rtlCol="0">
            <a:spAutoFit/>
          </a:bodyPr>
          <a:lstStyle/>
          <a:p>
            <a:pPr algn="l"/>
            <a:r>
              <a:rPr lang="en-US" sz="2000" b="1">
                <a:solidFill>
                  <a:schemeClr val="bg1"/>
                </a:solidFill>
              </a:rPr>
              <a:t>Network Isolation</a:t>
            </a:r>
          </a:p>
        </p:txBody>
      </p:sp>
      <p:sp>
        <p:nvSpPr>
          <p:cNvPr id="17" name="TextBox 16">
            <a:extLst>
              <a:ext uri="{FF2B5EF4-FFF2-40B4-BE49-F238E27FC236}">
                <a16:creationId xmlns:a16="http://schemas.microsoft.com/office/drawing/2014/main" id="{7F620009-7445-2D8F-EDF7-B8522E3C64E4}"/>
              </a:ext>
            </a:extLst>
          </p:cNvPr>
          <p:cNvSpPr txBox="1"/>
          <p:nvPr/>
        </p:nvSpPr>
        <p:spPr>
          <a:xfrm>
            <a:off x="5945720" y="4316377"/>
            <a:ext cx="5502215" cy="307777"/>
          </a:xfrm>
          <a:prstGeom prst="rect">
            <a:avLst/>
          </a:prstGeom>
          <a:noFill/>
        </p:spPr>
        <p:txBody>
          <a:bodyPr wrap="square" lIns="0" tIns="0" rIns="0" bIns="0" rtlCol="0" anchor="ctr">
            <a:spAutoFit/>
          </a:bodyPr>
          <a:lstStyle/>
          <a:p>
            <a:pPr algn="l"/>
            <a:r>
              <a:rPr lang="en-US" sz="2000">
                <a:solidFill>
                  <a:schemeClr val="bg1"/>
                </a:solidFill>
              </a:rPr>
              <a:t>Private endpoints, virtual networks</a:t>
            </a:r>
          </a:p>
        </p:txBody>
      </p:sp>
      <p:sp>
        <p:nvSpPr>
          <p:cNvPr id="11" name="Rounded Rectangle 1">
            <a:extLst>
              <a:ext uri="{FF2B5EF4-FFF2-40B4-BE49-F238E27FC236}">
                <a16:creationId xmlns:a16="http://schemas.microsoft.com/office/drawing/2014/main" id="{43507092-CC55-3267-7752-E5F313AC6FC6}"/>
              </a:ext>
              <a:ext uri="{C183D7F6-B498-43B3-948B-1728B52AA6E4}">
                <adec:decorative xmlns:adec="http://schemas.microsoft.com/office/drawing/2017/decorative" val="1"/>
              </a:ext>
            </a:extLst>
          </p:cNvPr>
          <p:cNvSpPr/>
          <p:nvPr/>
        </p:nvSpPr>
        <p:spPr bwMode="auto">
          <a:xfrm>
            <a:off x="831798" y="5291503"/>
            <a:ext cx="10891016" cy="975126"/>
          </a:xfrm>
          <a:prstGeom prst="roundRect">
            <a:avLst>
              <a:gd name="adj" fmla="val 7154"/>
            </a:avLst>
          </a:prstGeom>
          <a:solidFill>
            <a:schemeClr val="accent2">
              <a:lumMod val="75000"/>
            </a:schemeClr>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ysClr val="windowText" lastClr="000000"/>
              </a:solidFill>
              <a:effectLst/>
              <a:uLnTx/>
              <a:uFillTx/>
              <a:latin typeface="Segoe UI Semibold"/>
              <a:ea typeface="+mn-ea"/>
              <a:cs typeface="Segoe UI" pitchFamily="34" charset="0"/>
            </a:endParaRPr>
          </a:p>
        </p:txBody>
      </p:sp>
      <p:pic>
        <p:nvPicPr>
          <p:cNvPr id="18" name="Graphic 17" descr="Diploma with solid fill">
            <a:extLst>
              <a:ext uri="{FF2B5EF4-FFF2-40B4-BE49-F238E27FC236}">
                <a16:creationId xmlns:a16="http://schemas.microsoft.com/office/drawing/2014/main" id="{CFD291C9-B5D6-E8BF-2519-8DFD1CF12B11}"/>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1169947" y="5430440"/>
            <a:ext cx="629963" cy="629963"/>
          </a:xfrm>
          <a:prstGeom prst="rect">
            <a:avLst/>
          </a:prstGeom>
          <a:effectLst>
            <a:outerShdw blurRad="63500" dist="127000" dir="2700000" algn="tl" rotWithShape="0">
              <a:srgbClr val="454142">
                <a:alpha val="20000"/>
              </a:srgbClr>
            </a:outerShdw>
          </a:effectLst>
        </p:spPr>
      </p:pic>
      <p:sp>
        <p:nvSpPr>
          <p:cNvPr id="19" name="TextBox 18">
            <a:extLst>
              <a:ext uri="{FF2B5EF4-FFF2-40B4-BE49-F238E27FC236}">
                <a16:creationId xmlns:a16="http://schemas.microsoft.com/office/drawing/2014/main" id="{B9A38B3A-9A19-202B-C5EA-522178728951}"/>
              </a:ext>
            </a:extLst>
          </p:cNvPr>
          <p:cNvSpPr txBox="1"/>
          <p:nvPr/>
        </p:nvSpPr>
        <p:spPr>
          <a:xfrm>
            <a:off x="2185877" y="5612972"/>
            <a:ext cx="3091552" cy="307777"/>
          </a:xfrm>
          <a:prstGeom prst="rect">
            <a:avLst/>
          </a:prstGeom>
          <a:noFill/>
        </p:spPr>
        <p:txBody>
          <a:bodyPr wrap="none" lIns="0" tIns="0" rIns="0" bIns="0" rtlCol="0">
            <a:spAutoFit/>
          </a:bodyPr>
          <a:lstStyle/>
          <a:p>
            <a:pPr algn="l"/>
            <a:r>
              <a:rPr lang="en-US" sz="2000" b="1">
                <a:solidFill>
                  <a:schemeClr val="bg1"/>
                </a:solidFill>
              </a:rPr>
              <a:t>Compliance Certifications</a:t>
            </a:r>
          </a:p>
        </p:txBody>
      </p:sp>
      <p:sp>
        <p:nvSpPr>
          <p:cNvPr id="20" name="TextBox 19">
            <a:extLst>
              <a:ext uri="{FF2B5EF4-FFF2-40B4-BE49-F238E27FC236}">
                <a16:creationId xmlns:a16="http://schemas.microsoft.com/office/drawing/2014/main" id="{4CC8767F-C6FA-B6F7-713E-344C60602480}"/>
              </a:ext>
            </a:extLst>
          </p:cNvPr>
          <p:cNvSpPr txBox="1"/>
          <p:nvPr/>
        </p:nvSpPr>
        <p:spPr>
          <a:xfrm>
            <a:off x="5945720" y="5459084"/>
            <a:ext cx="5502215" cy="615553"/>
          </a:xfrm>
          <a:prstGeom prst="rect">
            <a:avLst/>
          </a:prstGeom>
          <a:noFill/>
        </p:spPr>
        <p:txBody>
          <a:bodyPr wrap="square" lIns="0" tIns="0" rIns="0" bIns="0" rtlCol="0" anchor="ctr">
            <a:spAutoFit/>
          </a:bodyPr>
          <a:lstStyle/>
          <a:p>
            <a:pPr algn="l"/>
            <a:r>
              <a:rPr lang="en-US" sz="2000">
                <a:solidFill>
                  <a:schemeClr val="bg1"/>
                </a:solidFill>
              </a:rPr>
              <a:t>Extensive certifications across finance, healthcare, government, etc.</a:t>
            </a:r>
          </a:p>
        </p:txBody>
      </p:sp>
    </p:spTree>
    <p:extLst>
      <p:ext uri="{BB962C8B-B14F-4D97-AF65-F5344CB8AC3E}">
        <p14:creationId xmlns:p14="http://schemas.microsoft.com/office/powerpoint/2010/main" val="31500739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42" presetClass="path" presetSubtype="0" decel="100000" fill="hold" grpId="1" nodeType="withEffect">
                                  <p:stCondLst>
                                    <p:cond delay="0"/>
                                  </p:stCondLst>
                                  <p:childTnLst>
                                    <p:animMotion origin="layout" path="M -3.75E-6 -2.59259E-6 L -3.75E-6 0.03542 " pathEditMode="relative" rAng="0" ptsTypes="AA">
                                      <p:cBhvr>
                                        <p:cTn id="9" dur="700" spd="-100000" fill="hold"/>
                                        <p:tgtEl>
                                          <p:spTgt spid="8"/>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42" presetClass="path" presetSubtype="0" decel="100000" fill="hold" grpId="1" nodeType="withEffect">
                                  <p:stCondLst>
                                    <p:cond delay="0"/>
                                  </p:stCondLst>
                                  <p:childTnLst>
                                    <p:animMotion origin="layout" path="M -3.75E-6 -2.59259E-6 L -3.75E-6 0.03542 " pathEditMode="relative" rAng="0" ptsTypes="AA">
                                      <p:cBhvr>
                                        <p:cTn id="14" dur="700" spd="-100000" fill="hold"/>
                                        <p:tgtEl>
                                          <p:spTgt spid="9"/>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42" presetClass="path" presetSubtype="0" decel="100000" fill="hold" grpId="1" nodeType="withEffect">
                                  <p:stCondLst>
                                    <p:cond delay="0"/>
                                  </p:stCondLst>
                                  <p:childTnLst>
                                    <p:animMotion origin="layout" path="M -3.75E-6 -2.59259E-6 L -3.75E-6 0.03542 " pathEditMode="relative" rAng="0" ptsTypes="AA">
                                      <p:cBhvr>
                                        <p:cTn id="19" dur="700" spd="-100000" fill="hold"/>
                                        <p:tgtEl>
                                          <p:spTgt spid="10"/>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42" presetClass="path" presetSubtype="0" decel="100000" fill="hold" grpId="1" nodeType="withEffect">
                                  <p:stCondLst>
                                    <p:cond delay="0"/>
                                  </p:stCondLst>
                                  <p:childTnLst>
                                    <p:animMotion origin="layout" path="M -3.75E-6 -2.59259E-6 L -3.75E-6 0.03542 " pathEditMode="relative" rAng="0" ptsTypes="AA">
                                      <p:cBhvr>
                                        <p:cTn id="24" dur="700" spd="-100000" fill="hold"/>
                                        <p:tgtEl>
                                          <p:spTgt spid="11"/>
                                        </p:tgtEl>
                                        <p:attrNameLst>
                                          <p:attrName>ppt_x</p:attrName>
                                          <p:attrName>ppt_y</p:attrName>
                                        </p:attrNameLst>
                                      </p:cBhvr>
                                      <p:rCtr x="0" y="1759"/>
                                    </p:animMotion>
                                  </p:childTnLst>
                                </p:cTn>
                              </p:par>
                              <p:par>
                                <p:cTn id="25" presetID="10"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42" presetClass="path" presetSubtype="0" decel="100000" fill="hold" nodeType="withEffect">
                                  <p:stCondLst>
                                    <p:cond delay="0"/>
                                  </p:stCondLst>
                                  <p:childTnLst>
                                    <p:animMotion origin="layout" path="M -4.79167E-6 -3.33333E-6 L -4.79167E-6 0.03542 " pathEditMode="relative" rAng="0" ptsTypes="AA">
                                      <p:cBhvr>
                                        <p:cTn id="29" dur="700" spd="-100000" fill="hold"/>
                                        <p:tgtEl>
                                          <p:spTgt spid="6"/>
                                        </p:tgtEl>
                                        <p:attrNameLst>
                                          <p:attrName>ppt_x</p:attrName>
                                          <p:attrName>ppt_y</p:attrName>
                                        </p:attrNameLst>
                                      </p:cBhvr>
                                      <p:rCtr x="0" y="1759"/>
                                    </p:animMotion>
                                  </p:childTnLst>
                                </p:cTn>
                              </p:par>
                              <p:par>
                                <p:cTn id="30" presetID="10" presetClass="entr" presetSubtype="0"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par>
                                <p:cTn id="33" presetID="42" presetClass="path" presetSubtype="0" decel="100000" fill="hold" grpId="1" nodeType="withEffect">
                                  <p:stCondLst>
                                    <p:cond delay="0"/>
                                  </p:stCondLst>
                                  <p:childTnLst>
                                    <p:animMotion origin="layout" path="M -3.75E-6 -2.59259E-6 L -3.75E-6 0.03542 " pathEditMode="relative" rAng="0" ptsTypes="AA">
                                      <p:cBhvr>
                                        <p:cTn id="34" dur="700" spd="-100000" fill="hold"/>
                                        <p:tgtEl>
                                          <p:spTgt spid="4"/>
                                        </p:tgtEl>
                                        <p:attrNameLst>
                                          <p:attrName>ppt_x</p:attrName>
                                          <p:attrName>ppt_y</p:attrName>
                                        </p:attrNameLst>
                                      </p:cBhvr>
                                      <p:rCtr x="0" y="1759"/>
                                    </p:animMotion>
                                  </p:childTnLst>
                                </p:cTn>
                              </p:par>
                              <p:par>
                                <p:cTn id="35" presetID="10"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par>
                                <p:cTn id="38" presetID="42" presetClass="path" presetSubtype="0" decel="100000" fill="hold" grpId="1" nodeType="withEffect">
                                  <p:stCondLst>
                                    <p:cond delay="0"/>
                                  </p:stCondLst>
                                  <p:childTnLst>
                                    <p:animMotion origin="layout" path="M -1.25E-6 -2.59259E-6 L -1.25E-6 0.03542 " pathEditMode="relative" rAng="0" ptsTypes="AA">
                                      <p:cBhvr>
                                        <p:cTn id="39" dur="700" spd="-100000" fill="hold"/>
                                        <p:tgtEl>
                                          <p:spTgt spid="5"/>
                                        </p:tgtEl>
                                        <p:attrNameLst>
                                          <p:attrName>ppt_x</p:attrName>
                                          <p:attrName>ppt_y</p:attrName>
                                        </p:attrNameLst>
                                      </p:cBhvr>
                                      <p:rCtr x="0" y="1759"/>
                                    </p:animMotion>
                                  </p:childTnLst>
                                </p:cTn>
                              </p:par>
                              <p:par>
                                <p:cTn id="40" presetID="10" presetClass="entr" presetSubtype="0"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par>
                                <p:cTn id="43" presetID="42" presetClass="path" presetSubtype="0" decel="100000" fill="hold" nodeType="withEffect">
                                  <p:stCondLst>
                                    <p:cond delay="0"/>
                                  </p:stCondLst>
                                  <p:childTnLst>
                                    <p:animMotion origin="layout" path="M -4.79167E-6 -3.33333E-6 L -4.79167E-6 0.03542 " pathEditMode="relative" rAng="0" ptsTypes="AA">
                                      <p:cBhvr>
                                        <p:cTn id="44" dur="700" spd="-100000" fill="hold"/>
                                        <p:tgtEl>
                                          <p:spTgt spid="12"/>
                                        </p:tgtEl>
                                        <p:attrNameLst>
                                          <p:attrName>ppt_x</p:attrName>
                                          <p:attrName>ppt_y</p:attrName>
                                        </p:attrNameLst>
                                      </p:cBhvr>
                                      <p:rCtr x="0" y="1759"/>
                                    </p:animMotion>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42" presetClass="path" presetSubtype="0" decel="100000" fill="hold" grpId="1" nodeType="withEffect">
                                  <p:stCondLst>
                                    <p:cond delay="0"/>
                                  </p:stCondLst>
                                  <p:childTnLst>
                                    <p:animMotion origin="layout" path="M -2.5E-6 -2.59259E-6 L -2.5E-6 0.03542 " pathEditMode="relative" rAng="0" ptsTypes="AA">
                                      <p:cBhvr>
                                        <p:cTn id="49" dur="700" spd="-100000" fill="hold"/>
                                        <p:tgtEl>
                                          <p:spTgt spid="13"/>
                                        </p:tgtEl>
                                        <p:attrNameLst>
                                          <p:attrName>ppt_x</p:attrName>
                                          <p:attrName>ppt_y</p:attrName>
                                        </p:attrNameLst>
                                      </p:cBhvr>
                                      <p:rCtr x="0" y="1759"/>
                                    </p:animMotion>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42" presetClass="path" presetSubtype="0" decel="100000" fill="hold" grpId="1" nodeType="withEffect">
                                  <p:stCondLst>
                                    <p:cond delay="0"/>
                                  </p:stCondLst>
                                  <p:childTnLst>
                                    <p:animMotion origin="layout" path="M -1.25E-6 -2.59259E-6 L -1.25E-6 0.03542 " pathEditMode="relative" rAng="0" ptsTypes="AA">
                                      <p:cBhvr>
                                        <p:cTn id="54" dur="700" spd="-100000" fill="hold"/>
                                        <p:tgtEl>
                                          <p:spTgt spid="14"/>
                                        </p:tgtEl>
                                        <p:attrNameLst>
                                          <p:attrName>ppt_x</p:attrName>
                                          <p:attrName>ppt_y</p:attrName>
                                        </p:attrNameLst>
                                      </p:cBhvr>
                                      <p:rCtr x="0" y="1759"/>
                                    </p:animMotion>
                                  </p:childTnLst>
                                </p:cTn>
                              </p:par>
                              <p:par>
                                <p:cTn id="55" presetID="10" presetClass="entr" presetSubtype="0" fill="hold"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par>
                                <p:cTn id="58" presetID="42" presetClass="path" presetSubtype="0" decel="100000" fill="hold" nodeType="withEffect">
                                  <p:stCondLst>
                                    <p:cond delay="0"/>
                                  </p:stCondLst>
                                  <p:childTnLst>
                                    <p:animMotion origin="layout" path="M -4.79167E-6 -1.11111E-6 L -4.79167E-6 0.03542 " pathEditMode="relative" rAng="0" ptsTypes="AA">
                                      <p:cBhvr>
                                        <p:cTn id="59" dur="700" spd="-100000" fill="hold"/>
                                        <p:tgtEl>
                                          <p:spTgt spid="15"/>
                                        </p:tgtEl>
                                        <p:attrNameLst>
                                          <p:attrName>ppt_x</p:attrName>
                                          <p:attrName>ppt_y</p:attrName>
                                        </p:attrNameLst>
                                      </p:cBhvr>
                                      <p:rCtr x="0" y="1759"/>
                                    </p:animMotion>
                                  </p:childTnLst>
                                </p:cTn>
                              </p:par>
                              <p:par>
                                <p:cTn id="60" presetID="10"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par>
                                <p:cTn id="63" presetID="42" presetClass="path" presetSubtype="0" decel="100000" fill="hold" grpId="1" nodeType="withEffect">
                                  <p:stCondLst>
                                    <p:cond delay="0"/>
                                  </p:stCondLst>
                                  <p:childTnLst>
                                    <p:animMotion origin="layout" path="M 1.25E-6 -1.85185E-6 L 1.25E-6 0.03542 " pathEditMode="relative" rAng="0" ptsTypes="AA">
                                      <p:cBhvr>
                                        <p:cTn id="64" dur="700" spd="-100000" fill="hold"/>
                                        <p:tgtEl>
                                          <p:spTgt spid="16"/>
                                        </p:tgtEl>
                                        <p:attrNameLst>
                                          <p:attrName>ppt_x</p:attrName>
                                          <p:attrName>ppt_y</p:attrName>
                                        </p:attrNameLst>
                                      </p:cBhvr>
                                      <p:rCtr x="0" y="1759"/>
                                    </p:animMotion>
                                  </p:childTnLst>
                                </p:cTn>
                              </p:par>
                              <p:par>
                                <p:cTn id="65" presetID="10" presetClass="entr" presetSubtype="0"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par>
                                <p:cTn id="68" presetID="42" presetClass="path" presetSubtype="0" decel="100000" fill="hold" grpId="1" nodeType="withEffect">
                                  <p:stCondLst>
                                    <p:cond delay="0"/>
                                  </p:stCondLst>
                                  <p:childTnLst>
                                    <p:animMotion origin="layout" path="M -1.25E-6 -1.85185E-6 L -1.25E-6 0.03542 " pathEditMode="relative" rAng="0" ptsTypes="AA">
                                      <p:cBhvr>
                                        <p:cTn id="69" dur="700" spd="-100000" fill="hold"/>
                                        <p:tgtEl>
                                          <p:spTgt spid="17"/>
                                        </p:tgtEl>
                                        <p:attrNameLst>
                                          <p:attrName>ppt_x</p:attrName>
                                          <p:attrName>ppt_y</p:attrName>
                                        </p:attrNameLst>
                                      </p:cBhvr>
                                      <p:rCtr x="0" y="1759"/>
                                    </p:animMotion>
                                  </p:childTnLst>
                                </p:cTn>
                              </p:par>
                              <p:par>
                                <p:cTn id="70" presetID="10" presetClass="entr" presetSubtype="0" fill="hold"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par>
                                <p:cTn id="73" presetID="42" presetClass="path" presetSubtype="0" decel="100000" fill="hold" nodeType="withEffect">
                                  <p:stCondLst>
                                    <p:cond delay="0"/>
                                  </p:stCondLst>
                                  <p:childTnLst>
                                    <p:animMotion origin="layout" path="M -4.79167E-6 -1.48148E-6 L -4.79167E-6 0.03542 " pathEditMode="relative" rAng="0" ptsTypes="AA">
                                      <p:cBhvr>
                                        <p:cTn id="74" dur="700" spd="-100000" fill="hold"/>
                                        <p:tgtEl>
                                          <p:spTgt spid="18"/>
                                        </p:tgtEl>
                                        <p:attrNameLst>
                                          <p:attrName>ppt_x</p:attrName>
                                          <p:attrName>ppt_y</p:attrName>
                                        </p:attrNameLst>
                                      </p:cBhvr>
                                      <p:rCtr x="0" y="1759"/>
                                    </p:animMotion>
                                  </p:childTnLst>
                                </p:cTn>
                              </p:par>
                              <p:par>
                                <p:cTn id="75" presetID="10" presetClass="entr" presetSubtype="0"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par>
                                <p:cTn id="78" presetID="42" presetClass="path" presetSubtype="0" decel="100000" fill="hold" grpId="1" nodeType="withEffect">
                                  <p:stCondLst>
                                    <p:cond delay="0"/>
                                  </p:stCondLst>
                                  <p:childTnLst>
                                    <p:animMotion origin="layout" path="M 4.16667E-7 -2.22222E-6 L 4.16667E-7 0.03542 " pathEditMode="relative" rAng="0" ptsTypes="AA">
                                      <p:cBhvr>
                                        <p:cTn id="79" dur="700" spd="-100000" fill="hold"/>
                                        <p:tgtEl>
                                          <p:spTgt spid="19"/>
                                        </p:tgtEl>
                                        <p:attrNameLst>
                                          <p:attrName>ppt_x</p:attrName>
                                          <p:attrName>ppt_y</p:attrName>
                                        </p:attrNameLst>
                                      </p:cBhvr>
                                      <p:rCtr x="0" y="1759"/>
                                    </p:animMotion>
                                  </p:childTnLst>
                                </p:cTn>
                              </p:par>
                              <p:par>
                                <p:cTn id="80" presetID="10" presetClass="entr" presetSubtype="0"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par>
                                <p:cTn id="83" presetID="42" presetClass="path" presetSubtype="0" decel="100000" fill="hold" grpId="1" nodeType="withEffect">
                                  <p:stCondLst>
                                    <p:cond delay="0"/>
                                  </p:stCondLst>
                                  <p:childTnLst>
                                    <p:animMotion origin="layout" path="M -1.25E-6 -2.22222E-6 L -1.25E-6 0.03542 " pathEditMode="relative" rAng="0" ptsTypes="AA">
                                      <p:cBhvr>
                                        <p:cTn id="84" dur="700" spd="-100000" fill="hold"/>
                                        <p:tgtEl>
                                          <p:spTgt spid="20"/>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4" grpId="0"/>
      <p:bldP spid="4" grpId="1"/>
      <p:bldP spid="5" grpId="0"/>
      <p:bldP spid="5" grpId="1"/>
      <p:bldP spid="9" grpId="0" animBg="1"/>
      <p:bldP spid="9" grpId="1" animBg="1"/>
      <p:bldP spid="13" grpId="0"/>
      <p:bldP spid="13" grpId="1"/>
      <p:bldP spid="14" grpId="0"/>
      <p:bldP spid="14" grpId="1"/>
      <p:bldP spid="10" grpId="0" animBg="1"/>
      <p:bldP spid="10" grpId="1" animBg="1"/>
      <p:bldP spid="16" grpId="0"/>
      <p:bldP spid="16" grpId="1"/>
      <p:bldP spid="17" grpId="0"/>
      <p:bldP spid="17" grpId="1"/>
      <p:bldP spid="11" grpId="0" animBg="1"/>
      <p:bldP spid="11" grpId="1" animBg="1"/>
      <p:bldP spid="19" grpId="0"/>
      <p:bldP spid="19" grpId="1"/>
      <p:bldP spid="20" grpId="0"/>
      <p:bldP spid="20" grpId="1"/>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8BF00AB-C7B2-B402-3F3B-B11E69BA44C9}"/>
              </a:ext>
            </a:extLst>
          </p:cNvPr>
          <p:cNvSpPr>
            <a:spLocks noGrp="1"/>
          </p:cNvSpPr>
          <p:nvPr>
            <p:ph type="title"/>
          </p:nvPr>
        </p:nvSpPr>
        <p:spPr>
          <a:xfrm>
            <a:off x="588263" y="494271"/>
            <a:ext cx="3860169" cy="492443"/>
          </a:xfrm>
        </p:spPr>
        <p:txBody>
          <a:bodyPr/>
          <a:lstStyle/>
          <a:p>
            <a:r>
              <a:rPr lang="en-US"/>
              <a:t>Improving Retrieval in Large Datasets</a:t>
            </a:r>
          </a:p>
        </p:txBody>
      </p:sp>
      <p:sp>
        <p:nvSpPr>
          <p:cNvPr id="18" name="Text Placeholder 17">
            <a:extLst>
              <a:ext uri="{FF2B5EF4-FFF2-40B4-BE49-F238E27FC236}">
                <a16:creationId xmlns:a16="http://schemas.microsoft.com/office/drawing/2014/main" id="{2A7FA31C-C6E5-4918-FEE9-B2D476B6C1AD}"/>
              </a:ext>
            </a:extLst>
          </p:cNvPr>
          <p:cNvSpPr>
            <a:spLocks noGrp="1"/>
          </p:cNvSpPr>
          <p:nvPr>
            <p:ph type="body" sz="quarter" idx="11"/>
          </p:nvPr>
        </p:nvSpPr>
        <p:spPr>
          <a:xfrm>
            <a:off x="5647174" y="709187"/>
            <a:ext cx="6320413" cy="5022914"/>
          </a:xfrm>
        </p:spPr>
        <p:txBody>
          <a:bodyPr/>
          <a:lstStyle/>
          <a:p>
            <a:r>
              <a:rPr lang="en-US" sz="2400">
                <a:solidFill>
                  <a:schemeClr val="tx1"/>
                </a:solidFill>
                <a:latin typeface="Consolas" panose="020B0609020204030204" pitchFamily="49" charset="0"/>
                <a:ea typeface="Segoe UI" pitchFamily="34" charset="0"/>
                <a:cs typeface="Consolas" panose="020B0609020204030204" pitchFamily="49" charset="0"/>
              </a:rPr>
              <a:t>“Hi </a:t>
            </a:r>
            <a:r>
              <a:rPr lang="en-US" sz="2400" err="1">
                <a:solidFill>
                  <a:schemeClr val="tx1"/>
                </a:solidFill>
                <a:latin typeface="Consolas" panose="020B0609020204030204" pitchFamily="49" charset="0"/>
                <a:ea typeface="Segoe UI" pitchFamily="34" charset="0"/>
                <a:cs typeface="Consolas" panose="020B0609020204030204" pitchFamily="49" charset="0"/>
              </a:rPr>
              <a:t>HRBot</a:t>
            </a:r>
            <a:r>
              <a:rPr lang="en-US" sz="2400">
                <a:solidFill>
                  <a:schemeClr val="tx1"/>
                </a:solidFill>
                <a:latin typeface="Consolas" panose="020B0609020204030204" pitchFamily="49" charset="0"/>
                <a:ea typeface="Segoe UI" pitchFamily="34" charset="0"/>
                <a:cs typeface="Consolas" panose="020B0609020204030204" pitchFamily="49" charset="0"/>
              </a:rPr>
              <a:t>, I’m based in the US, does my health plan cover annual eyesight checks?”</a:t>
            </a:r>
          </a:p>
          <a:p>
            <a:endParaRPr lang="en-US">
              <a:solidFill>
                <a:schemeClr val="tx1"/>
              </a:solidFill>
              <a:ea typeface="Segoe UI" pitchFamily="34" charset="0"/>
            </a:endParaRPr>
          </a:p>
          <a:p>
            <a:r>
              <a:rPr lang="en-US" sz="2400">
                <a:solidFill>
                  <a:schemeClr val="tx1"/>
                </a:solidFill>
                <a:latin typeface="Consolas" panose="020B0609020204030204" pitchFamily="49" charset="0"/>
                <a:ea typeface="Segoe UI" pitchFamily="34" charset="0"/>
                <a:cs typeface="Consolas" panose="020B0609020204030204" pitchFamily="49" charset="0"/>
                <a:sym typeface="Wingdings" panose="05000000000000000000" pitchFamily="2" charset="2"/>
              </a:rPr>
              <a:t></a:t>
            </a:r>
          </a:p>
          <a:p>
            <a:endParaRPr lang="en-US" sz="2400">
              <a:solidFill>
                <a:schemeClr val="tx1"/>
              </a:solidFill>
              <a:latin typeface="Consolas" panose="020B0609020204030204" pitchFamily="49" charset="0"/>
              <a:ea typeface="Segoe UI" pitchFamily="34" charset="0"/>
              <a:cs typeface="Consolas" panose="020B0609020204030204" pitchFamily="49" charset="0"/>
              <a:sym typeface="Wingdings" panose="05000000000000000000" pitchFamily="2" charset="2"/>
            </a:endParaRPr>
          </a:p>
          <a:p>
            <a:r>
              <a:rPr lang="en-US">
                <a:solidFill>
                  <a:schemeClr val="tx1"/>
                </a:solidFill>
                <a:ea typeface="Segoe UI" pitchFamily="34" charset="0"/>
                <a:sym typeface="Wingdings" panose="05000000000000000000" pitchFamily="2" charset="2"/>
              </a:rPr>
              <a:t>filter=category eq 'healthcare' and region eq 'US'</a:t>
            </a:r>
          </a:p>
          <a:p>
            <a:endParaRPr lang="en-US">
              <a:solidFill>
                <a:schemeClr val="tx1"/>
              </a:solidFill>
              <a:ea typeface="Segoe UI" pitchFamily="34" charset="0"/>
              <a:sym typeface="Wingdings" panose="05000000000000000000" pitchFamily="2" charset="2"/>
            </a:endParaRPr>
          </a:p>
          <a:p>
            <a:r>
              <a:rPr lang="en-US" sz="2400">
                <a:solidFill>
                  <a:schemeClr val="tx1"/>
                </a:solidFill>
                <a:latin typeface="Consolas" panose="020B0609020204030204" pitchFamily="49" charset="0"/>
                <a:ea typeface="Segoe UI" pitchFamily="34" charset="0"/>
                <a:cs typeface="Consolas" panose="020B0609020204030204" pitchFamily="49" charset="0"/>
                <a:sym typeface="Wingdings" panose="05000000000000000000" pitchFamily="2" charset="2"/>
              </a:rPr>
              <a:t>search=annual eyesight check coverage</a:t>
            </a:r>
          </a:p>
          <a:p>
            <a:endParaRPr lang="en-US">
              <a:solidFill>
                <a:schemeClr val="tx1"/>
              </a:solidFill>
              <a:ea typeface="Segoe UI" pitchFamily="34" charset="0"/>
              <a:sym typeface="Wingdings" panose="05000000000000000000" pitchFamily="2" charset="2"/>
            </a:endParaRPr>
          </a:p>
          <a:p>
            <a:r>
              <a:rPr lang="en-US" sz="2400" err="1">
                <a:solidFill>
                  <a:schemeClr val="tx1"/>
                </a:solidFill>
                <a:latin typeface="Consolas" panose="020B0609020204030204" pitchFamily="49" charset="0"/>
                <a:ea typeface="Segoe UI" pitchFamily="34" charset="0"/>
                <a:cs typeface="Consolas" panose="020B0609020204030204" pitchFamily="49" charset="0"/>
                <a:sym typeface="Wingdings" panose="05000000000000000000" pitchFamily="2" charset="2"/>
              </a:rPr>
              <a:t>vectorQueries</a:t>
            </a:r>
            <a:r>
              <a:rPr lang="en-US" sz="2400">
                <a:solidFill>
                  <a:schemeClr val="tx1"/>
                </a:solidFill>
                <a:latin typeface="Consolas" panose="020B0609020204030204" pitchFamily="49" charset="0"/>
                <a:ea typeface="Segoe UI" pitchFamily="34" charset="0"/>
                <a:cs typeface="Consolas" panose="020B0609020204030204" pitchFamily="49" charset="0"/>
                <a:sym typeface="Wingdings" panose="05000000000000000000" pitchFamily="2" charset="2"/>
              </a:rPr>
              <a:t>=[…]</a:t>
            </a:r>
            <a:endParaRPr lang="en-US" sz="2400">
              <a:solidFill>
                <a:schemeClr val="tx1"/>
              </a:solidFill>
              <a:latin typeface="Consolas" panose="020B0609020204030204" pitchFamily="49" charset="0"/>
              <a:ea typeface="Segoe UI" pitchFamily="34" charset="0"/>
              <a:cs typeface="Consolas" panose="020B0609020204030204" pitchFamily="49" charset="0"/>
            </a:endParaRPr>
          </a:p>
        </p:txBody>
      </p:sp>
      <p:sp>
        <p:nvSpPr>
          <p:cNvPr id="4" name="Text Placeholder 4">
            <a:extLst>
              <a:ext uri="{FF2B5EF4-FFF2-40B4-BE49-F238E27FC236}">
                <a16:creationId xmlns:a16="http://schemas.microsoft.com/office/drawing/2014/main" id="{6A177F97-9862-6BB8-DD53-AA9566155F04}"/>
              </a:ext>
            </a:extLst>
          </p:cNvPr>
          <p:cNvSpPr txBox="1">
            <a:spLocks/>
          </p:cNvSpPr>
          <p:nvPr/>
        </p:nvSpPr>
        <p:spPr>
          <a:xfrm>
            <a:off x="560450" y="1676291"/>
            <a:ext cx="4086854" cy="948576"/>
          </a:xfrm>
          <a:prstGeom prst="rect">
            <a:avLst/>
          </a:prstGeom>
          <a:noFill/>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1200"/>
              </a:spcAft>
              <a:buNone/>
            </a:pPr>
            <a:r>
              <a:rPr lang="en-US" sz="1600" b="1">
                <a:ln w="3175">
                  <a:noFill/>
                </a:ln>
                <a:gradFill flip="none" rotWithShape="1">
                  <a:gsLst>
                    <a:gs pos="80000">
                      <a:srgbClr val="8DC8E8"/>
                    </a:gs>
                    <a:gs pos="0">
                      <a:srgbClr val="D59ED7"/>
                    </a:gs>
                  </a:gsLst>
                  <a:path path="circle">
                    <a:fillToRect l="100000" t="100000"/>
                  </a:path>
                  <a:tileRect r="-100000" b="-100000"/>
                </a:gradFill>
                <a:latin typeface="Segoe UI Semibold" panose="020B0502040204020203" pitchFamily="34" charset="0"/>
              </a:rPr>
              <a:t>Filtering the dataset is highly impactful</a:t>
            </a:r>
          </a:p>
          <a:p>
            <a:pPr marL="187325" lvl="1" indent="-176213">
              <a:spcBef>
                <a:spcPts val="0"/>
              </a:spcBef>
              <a:spcAft>
                <a:spcPts val="300"/>
              </a:spcAft>
              <a:buFont typeface="Arial" panose="020B0604020202020204" pitchFamily="34" charset="0"/>
              <a:buChar char="•"/>
            </a:pPr>
            <a:r>
              <a:rPr lang="en-US" sz="1200"/>
              <a:t>Quality: focus on subset of data that’s known to matter</a:t>
            </a:r>
          </a:p>
          <a:p>
            <a:pPr marL="187325" lvl="1" indent="-176213">
              <a:spcBef>
                <a:spcPts val="0"/>
              </a:spcBef>
              <a:spcAft>
                <a:spcPts val="300"/>
              </a:spcAft>
              <a:buFont typeface="Arial" panose="020B0604020202020204" pitchFamily="34" charset="0"/>
              <a:buChar char="•"/>
            </a:pPr>
            <a:r>
              <a:rPr lang="en-US" sz="1200"/>
              <a:t>Performance: reduce recall set size</a:t>
            </a:r>
          </a:p>
        </p:txBody>
      </p:sp>
      <p:sp>
        <p:nvSpPr>
          <p:cNvPr id="5" name="Text Placeholder 4">
            <a:extLst>
              <a:ext uri="{FF2B5EF4-FFF2-40B4-BE49-F238E27FC236}">
                <a16:creationId xmlns:a16="http://schemas.microsoft.com/office/drawing/2014/main" id="{66BA032B-FE57-463E-0C49-243205A9A863}"/>
              </a:ext>
            </a:extLst>
          </p:cNvPr>
          <p:cNvSpPr txBox="1">
            <a:spLocks/>
          </p:cNvSpPr>
          <p:nvPr/>
        </p:nvSpPr>
        <p:spPr>
          <a:xfrm>
            <a:off x="560449" y="2881147"/>
            <a:ext cx="4258977" cy="1895248"/>
          </a:xfrm>
          <a:prstGeom prst="rect">
            <a:avLst/>
          </a:prstGeom>
          <a:noFill/>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1200"/>
              </a:spcAft>
              <a:buNone/>
            </a:pPr>
            <a:r>
              <a:rPr lang="en-US" sz="1600" b="1">
                <a:ln w="3175">
                  <a:noFill/>
                </a:ln>
                <a:gradFill flip="none" rotWithShape="1">
                  <a:gsLst>
                    <a:gs pos="80000">
                      <a:srgbClr val="8DC8E8"/>
                    </a:gs>
                    <a:gs pos="0">
                      <a:srgbClr val="D59ED7"/>
                    </a:gs>
                  </a:gsLst>
                  <a:path path="circle">
                    <a:fillToRect l="100000" t="100000"/>
                  </a:path>
                  <a:tileRect r="-100000" b="-100000"/>
                </a:gradFill>
                <a:latin typeface="Segoe UI Semibold" panose="020B0502040204020203" pitchFamily="34" charset="0"/>
              </a:rPr>
              <a:t>How can you subset a dataset </a:t>
            </a:r>
            <a:br>
              <a:rPr lang="en-US" sz="1600" b="1">
                <a:ln w="3175">
                  <a:noFill/>
                </a:ln>
                <a:gradFill flip="none" rotWithShape="1">
                  <a:gsLst>
                    <a:gs pos="80000">
                      <a:srgbClr val="8DC8E8"/>
                    </a:gs>
                    <a:gs pos="0">
                      <a:srgbClr val="D59ED7"/>
                    </a:gs>
                  </a:gsLst>
                  <a:path path="circle">
                    <a:fillToRect l="100000" t="100000"/>
                  </a:path>
                  <a:tileRect r="-100000" b="-100000"/>
                </a:gradFill>
                <a:latin typeface="Segoe UI Semibold" panose="020B0502040204020203" pitchFamily="34" charset="0"/>
              </a:rPr>
            </a:br>
            <a:r>
              <a:rPr lang="en-US" sz="1600" b="1">
                <a:ln w="3175">
                  <a:noFill/>
                </a:ln>
                <a:gradFill flip="none" rotWithShape="1">
                  <a:gsLst>
                    <a:gs pos="80000">
                      <a:srgbClr val="8DC8E8"/>
                    </a:gs>
                    <a:gs pos="0">
                      <a:srgbClr val="D59ED7"/>
                    </a:gs>
                  </a:gsLst>
                  <a:path path="circle">
                    <a:fillToRect l="100000" t="100000"/>
                  </a:path>
                  <a:tileRect r="-100000" b="-100000"/>
                </a:gradFill>
                <a:latin typeface="Segoe UI Semibold" panose="020B0502040204020203" pitchFamily="34" charset="0"/>
              </a:rPr>
              <a:t>with discrete filters?</a:t>
            </a:r>
          </a:p>
          <a:p>
            <a:pPr marL="187325" lvl="1" indent="-176213">
              <a:spcBef>
                <a:spcPts val="0"/>
              </a:spcBef>
              <a:spcAft>
                <a:spcPts val="300"/>
              </a:spcAft>
              <a:buFont typeface="Arial" panose="020B0604020202020204" pitchFamily="34" charset="0"/>
              <a:buChar char="•"/>
            </a:pPr>
            <a:r>
              <a:rPr lang="en-US" sz="1200"/>
              <a:t>Query classification by intent, topic, language, etc.</a:t>
            </a:r>
          </a:p>
          <a:p>
            <a:pPr marL="187325" lvl="1" indent="-176213">
              <a:spcBef>
                <a:spcPts val="0"/>
              </a:spcBef>
              <a:spcAft>
                <a:spcPts val="300"/>
              </a:spcAft>
              <a:buFont typeface="Arial" panose="020B0604020202020204" pitchFamily="34" charset="0"/>
              <a:buChar char="•"/>
            </a:pPr>
            <a:r>
              <a:rPr lang="en-US" sz="1200"/>
              <a:t>Filter extraction from context/history</a:t>
            </a:r>
          </a:p>
          <a:p>
            <a:pPr marL="187325" lvl="1" indent="-176213">
              <a:spcBef>
                <a:spcPts val="0"/>
              </a:spcBef>
              <a:spcAft>
                <a:spcPts val="300"/>
              </a:spcAft>
              <a:buFont typeface="Arial" panose="020B0604020202020204" pitchFamily="34" charset="0"/>
              <a:buChar char="•"/>
            </a:pPr>
            <a:endParaRPr lang="en-US" sz="1200"/>
          </a:p>
          <a:p>
            <a:pPr marL="182562" lvl="1" indent="-171450">
              <a:spcBef>
                <a:spcPts val="0"/>
              </a:spcBef>
              <a:spcAft>
                <a:spcPts val="300"/>
              </a:spcAft>
              <a:buFont typeface="Segoe UI" panose="020B0502040204020203" pitchFamily="34" charset="0"/>
              <a:buChar char="→"/>
            </a:pPr>
            <a:r>
              <a:rPr lang="en-US" sz="1200"/>
              <a:t>Azure AI Search high-performance filters work with keyword, vector, and hybrid search</a:t>
            </a:r>
          </a:p>
        </p:txBody>
      </p:sp>
      <p:sp>
        <p:nvSpPr>
          <p:cNvPr id="6" name="Text Placeholder 4">
            <a:extLst>
              <a:ext uri="{FF2B5EF4-FFF2-40B4-BE49-F238E27FC236}">
                <a16:creationId xmlns:a16="http://schemas.microsoft.com/office/drawing/2014/main" id="{9225D9C6-6803-086F-2AEA-CE309376100C}"/>
              </a:ext>
            </a:extLst>
          </p:cNvPr>
          <p:cNvSpPr txBox="1">
            <a:spLocks/>
          </p:cNvSpPr>
          <p:nvPr/>
        </p:nvSpPr>
        <p:spPr>
          <a:xfrm>
            <a:off x="560450" y="4882070"/>
            <a:ext cx="4086854" cy="1163728"/>
          </a:xfrm>
          <a:prstGeom prst="rect">
            <a:avLst/>
          </a:prstGeom>
          <a:noFill/>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1200"/>
              </a:spcAft>
              <a:buNone/>
            </a:pPr>
            <a:r>
              <a:rPr lang="en-US" sz="1600" b="1">
                <a:ln w="3175">
                  <a:noFill/>
                </a:ln>
                <a:gradFill flip="none" rotWithShape="1">
                  <a:gsLst>
                    <a:gs pos="80000">
                      <a:srgbClr val="8DC8E8"/>
                    </a:gs>
                    <a:gs pos="0">
                      <a:srgbClr val="D59ED7"/>
                    </a:gs>
                  </a:gsLst>
                  <a:path path="circle">
                    <a:fillToRect l="100000" t="100000"/>
                  </a:path>
                  <a:tileRect r="-100000" b="-100000"/>
                </a:gradFill>
                <a:latin typeface="Segoe UI Semibold" panose="020B0502040204020203" pitchFamily="34" charset="0"/>
              </a:rPr>
              <a:t>Multi-tenant scenarios</a:t>
            </a:r>
          </a:p>
          <a:p>
            <a:pPr marL="187325" lvl="1" indent="-176213">
              <a:spcBef>
                <a:spcPts val="0"/>
              </a:spcBef>
              <a:spcAft>
                <a:spcPts val="300"/>
              </a:spcAft>
              <a:buFont typeface="Arial" panose="020B0604020202020204" pitchFamily="34" charset="0"/>
              <a:buChar char="•"/>
            </a:pPr>
            <a:r>
              <a:rPr lang="en-US" sz="1200"/>
              <a:t>Special case of filters, data is a set partition</a:t>
            </a:r>
          </a:p>
          <a:p>
            <a:pPr marL="187325" lvl="1" indent="-176213">
              <a:spcBef>
                <a:spcPts val="0"/>
              </a:spcBef>
              <a:spcAft>
                <a:spcPts val="300"/>
              </a:spcAft>
              <a:buFont typeface="Arial" panose="020B0604020202020204" pitchFamily="34" charset="0"/>
              <a:buChar char="•"/>
            </a:pPr>
            <a:r>
              <a:rPr lang="en-US" sz="1200"/>
              <a:t>Consider whether you want vector indexes, </a:t>
            </a:r>
            <a:br>
              <a:rPr lang="en-US" sz="1200"/>
            </a:br>
            <a:r>
              <a:rPr lang="en-US" sz="1200"/>
              <a:t>brute-force search, or both</a:t>
            </a:r>
          </a:p>
        </p:txBody>
      </p:sp>
    </p:spTree>
    <p:extLst>
      <p:ext uri="{BB962C8B-B14F-4D97-AF65-F5344CB8AC3E}">
        <p14:creationId xmlns:p14="http://schemas.microsoft.com/office/powerpoint/2010/main" val="1756630960"/>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A694FBA-222F-C5C5-5E43-90248D1A1D55}"/>
              </a:ext>
            </a:extLst>
          </p:cNvPr>
          <p:cNvSpPr>
            <a:spLocks noGrp="1"/>
          </p:cNvSpPr>
          <p:nvPr>
            <p:ph type="title"/>
          </p:nvPr>
        </p:nvSpPr>
        <p:spPr/>
        <p:txBody>
          <a:bodyPr/>
          <a:lstStyle/>
          <a:p>
            <a:pPr algn="ctr"/>
            <a:r>
              <a:rPr lang="en-US"/>
              <a:t>Robust retrieval for RAG apps</a:t>
            </a:r>
          </a:p>
        </p:txBody>
      </p:sp>
      <p:sp>
        <p:nvSpPr>
          <p:cNvPr id="6" name="Content Placeholder 5">
            <a:extLst>
              <a:ext uri="{FF2B5EF4-FFF2-40B4-BE49-F238E27FC236}">
                <a16:creationId xmlns:a16="http://schemas.microsoft.com/office/drawing/2014/main" id="{222EA8C9-335F-A16A-AE7C-4C2C92C99336}"/>
              </a:ext>
            </a:extLst>
          </p:cNvPr>
          <p:cNvSpPr>
            <a:spLocks noGrp="1"/>
          </p:cNvSpPr>
          <p:nvPr>
            <p:ph sz="quarter" idx="10"/>
          </p:nvPr>
        </p:nvSpPr>
        <p:spPr>
          <a:xfrm>
            <a:off x="584200" y="1435100"/>
            <a:ext cx="6583680" cy="4833938"/>
          </a:xfrm>
        </p:spPr>
        <p:txBody>
          <a:bodyPr>
            <a:normAutofit/>
          </a:bodyPr>
          <a:lstStyle/>
          <a:p>
            <a:r>
              <a:rPr lang="en-US" sz="2400"/>
              <a:t>Responses only as good as retrieved data</a:t>
            </a:r>
          </a:p>
          <a:p>
            <a:r>
              <a:rPr lang="en-US" sz="2400"/>
              <a:t>Keyword search recall challenges</a:t>
            </a:r>
            <a:endParaRPr lang="en-US"/>
          </a:p>
          <a:p>
            <a:pPr lvl="1"/>
            <a:r>
              <a:rPr lang="en-US"/>
              <a:t>“vocabulary gap”</a:t>
            </a:r>
          </a:p>
          <a:p>
            <a:pPr lvl="1"/>
            <a:r>
              <a:rPr lang="en-US"/>
              <a:t>Gets worse with natural language questions</a:t>
            </a:r>
          </a:p>
          <a:p>
            <a:r>
              <a:rPr lang="en-US" sz="2400"/>
              <a:t>Vector-based retrieval finds</a:t>
            </a:r>
            <a:br>
              <a:rPr lang="en-US" sz="2400"/>
            </a:br>
            <a:r>
              <a:rPr lang="en-US" sz="2400"/>
              <a:t>documents by semantic similarity</a:t>
            </a:r>
          </a:p>
          <a:p>
            <a:pPr lvl="1"/>
            <a:r>
              <a:rPr lang="en-US"/>
              <a:t>Robust to variation in how concepts are articulated</a:t>
            </a:r>
            <a:br>
              <a:rPr lang="en-US"/>
            </a:br>
            <a:r>
              <a:rPr lang="en-US"/>
              <a:t>(word choices, morphology, specificity, etc.)</a:t>
            </a:r>
          </a:p>
        </p:txBody>
      </p:sp>
      <p:sp>
        <p:nvSpPr>
          <p:cNvPr id="7" name="Rounded Rectangle 1">
            <a:extLst>
              <a:ext uri="{FF2B5EF4-FFF2-40B4-BE49-F238E27FC236}">
                <a16:creationId xmlns:a16="http://schemas.microsoft.com/office/drawing/2014/main" id="{00DC3CEF-365B-AE74-F5B9-BAD8782C9589}"/>
              </a:ext>
              <a:ext uri="{C183D7F6-B498-43B3-948B-1728B52AA6E4}">
                <adec:decorative xmlns:adec="http://schemas.microsoft.com/office/drawing/2017/decorative" val="1"/>
              </a:ext>
            </a:extLst>
          </p:cNvPr>
          <p:cNvSpPr/>
          <p:nvPr/>
        </p:nvSpPr>
        <p:spPr bwMode="auto">
          <a:xfrm>
            <a:off x="7573482" y="1435100"/>
            <a:ext cx="4047018" cy="4833938"/>
          </a:xfrm>
          <a:prstGeom prst="roundRect">
            <a:avLst>
              <a:gd name="adj" fmla="val 2824"/>
            </a:avLst>
          </a:prstGeom>
          <a:solidFill>
            <a:srgbClr val="FFFFFF">
              <a:lumMod val="95000"/>
            </a:srgbClr>
          </a:solidFill>
          <a:ln w="9525" cap="flat" cmpd="sng" algn="ctr">
            <a:noFill/>
            <a:prstDash val="solid"/>
            <a:headEnd type="none" w="med" len="med"/>
            <a:tailEnd type="none" w="med" len="med"/>
          </a:ln>
          <a:effectLst>
            <a:outerShdw blurRad="63500" dist="127000" dir="2700000" algn="tl" rotWithShape="0">
              <a:srgbClr val="454142">
                <a:alpha val="20000"/>
              </a:srgb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2800" b="0" i="0" u="none" strike="noStrike" kern="0" cap="none" spc="0" normalizeH="0" baseline="0" noProof="0">
                <a:ln>
                  <a:noFill/>
                </a:ln>
                <a:solidFill>
                  <a:srgbClr val="000000"/>
                </a:solidFill>
                <a:effectLst/>
                <a:uLnTx/>
                <a:uFillTx/>
                <a:latin typeface="Segoe UI Semibold"/>
                <a:ea typeface="+mn-ea"/>
                <a:cs typeface="Segoe UI" pitchFamily="34" charset="0"/>
              </a:rPr>
              <a:t>Example</a:t>
            </a:r>
          </a:p>
        </p:txBody>
      </p:sp>
      <p:sp>
        <p:nvSpPr>
          <p:cNvPr id="9" name="Rounded Rectangle 1">
            <a:extLst>
              <a:ext uri="{FF2B5EF4-FFF2-40B4-BE49-F238E27FC236}">
                <a16:creationId xmlns:a16="http://schemas.microsoft.com/office/drawing/2014/main" id="{CCD2FF03-E77C-0CB7-4EE9-5762C7A951A3}"/>
              </a:ext>
              <a:ext uri="{C183D7F6-B498-43B3-948B-1728B52AA6E4}">
                <adec:decorative xmlns:adec="http://schemas.microsoft.com/office/drawing/2017/decorative" val="1"/>
              </a:ext>
            </a:extLst>
          </p:cNvPr>
          <p:cNvSpPr/>
          <p:nvPr/>
        </p:nvSpPr>
        <p:spPr bwMode="auto">
          <a:xfrm>
            <a:off x="7573482" y="2516319"/>
            <a:ext cx="4047018" cy="2671501"/>
          </a:xfrm>
          <a:prstGeom prst="roundRect">
            <a:avLst>
              <a:gd name="adj" fmla="val 0"/>
            </a:avLst>
          </a:prstGeom>
        </p:spPr>
        <p:txBody>
          <a:bodyPr vert="horz" wrap="square" lIns="365760" tIns="0" rIns="365760" bIns="0" rtlCol="0" anchor="ctr" anchorCtr="0">
            <a:spAutoFit/>
          </a:bodyPr>
          <a:lstStyle/>
          <a:p>
            <a:pPr algn="ctr" defTabSz="932742">
              <a:spcBef>
                <a:spcPct val="20000"/>
              </a:spcBef>
              <a:buSzPct val="90000"/>
            </a:pPr>
            <a:r>
              <a:rPr lang="en-US" sz="2400">
                <a:solidFill>
                  <a:srgbClr val="C03BC4"/>
                </a:solidFill>
                <a:latin typeface="Segoe UI Semibold"/>
                <a:cs typeface="Segoe UI" panose="020B0502040204020203" pitchFamily="34" charset="0"/>
              </a:rPr>
              <a:t>Question: </a:t>
            </a:r>
          </a:p>
          <a:p>
            <a:pPr algn="ctr" defTabSz="932742">
              <a:spcBef>
                <a:spcPct val="20000"/>
              </a:spcBef>
              <a:buSzPct val="90000"/>
            </a:pPr>
            <a:r>
              <a:rPr lang="en-US" sz="2000">
                <a:solidFill>
                  <a:srgbClr val="000000"/>
                </a:solidFill>
                <a:cs typeface="Segoe UI" panose="020B0502040204020203" pitchFamily="34" charset="0"/>
              </a:rPr>
              <a:t>“Looking for lessons on underwater activities”</a:t>
            </a:r>
          </a:p>
          <a:p>
            <a:pPr algn="ctr" defTabSz="932742">
              <a:spcBef>
                <a:spcPct val="20000"/>
              </a:spcBef>
              <a:buSzPct val="90000"/>
            </a:pPr>
            <a:endParaRPr lang="en-US" sz="2400">
              <a:solidFill>
                <a:srgbClr val="000000"/>
              </a:solidFill>
              <a:cs typeface="Segoe UI" panose="020B0502040204020203" pitchFamily="34" charset="0"/>
            </a:endParaRPr>
          </a:p>
          <a:p>
            <a:pPr algn="ctr" defTabSz="932742">
              <a:spcBef>
                <a:spcPct val="20000"/>
              </a:spcBef>
              <a:buSzPct val="90000"/>
            </a:pPr>
            <a:r>
              <a:rPr lang="en-US" sz="2400">
                <a:solidFill>
                  <a:srgbClr val="F4364C"/>
                </a:solidFill>
                <a:latin typeface="Segoe UI Semibold"/>
                <a:cs typeface="Segoe UI" panose="020B0502040204020203" pitchFamily="34" charset="0"/>
              </a:rPr>
              <a:t>Won’t match:</a:t>
            </a:r>
          </a:p>
          <a:p>
            <a:pPr algn="ctr" defTabSz="932742">
              <a:spcBef>
                <a:spcPct val="20000"/>
              </a:spcBef>
              <a:buSzPct val="90000"/>
            </a:pPr>
            <a:r>
              <a:rPr lang="en-US" sz="2000">
                <a:solidFill>
                  <a:srgbClr val="000000"/>
                </a:solidFill>
                <a:cs typeface="Segoe UI" panose="020B0502040204020203" pitchFamily="34" charset="0"/>
              </a:rPr>
              <a:t>“Scuba classes”</a:t>
            </a:r>
          </a:p>
          <a:p>
            <a:pPr algn="ctr" defTabSz="932742">
              <a:spcBef>
                <a:spcPct val="20000"/>
              </a:spcBef>
              <a:buSzPct val="90000"/>
            </a:pPr>
            <a:r>
              <a:rPr lang="en-US" sz="2000">
                <a:solidFill>
                  <a:srgbClr val="000000"/>
                </a:solidFill>
                <a:cs typeface="Segoe UI" panose="020B0502040204020203" pitchFamily="34" charset="0"/>
              </a:rPr>
              <a:t>“Snorkeling group sessions”</a:t>
            </a:r>
          </a:p>
        </p:txBody>
      </p:sp>
    </p:spTree>
    <p:extLst>
      <p:ext uri="{BB962C8B-B14F-4D97-AF65-F5344CB8AC3E}">
        <p14:creationId xmlns:p14="http://schemas.microsoft.com/office/powerpoint/2010/main" val="1605010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42" presetClass="path" presetSubtype="0" decel="100000" fill="hold" grpId="1" nodeType="withEffect">
                                  <p:stCondLst>
                                    <p:cond delay="0"/>
                                  </p:stCondLst>
                                  <p:childTnLst>
                                    <p:animMotion origin="layout" path="M 6.25E-7 -4.07407E-6 L 6.25E-7 0.03542 " pathEditMode="relative" rAng="0" ptsTypes="AA">
                                      <p:cBhvr>
                                        <p:cTn id="9" dur="700" spd="-100000" fill="hold"/>
                                        <p:tgtEl>
                                          <p:spTgt spid="7"/>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42" presetClass="path" presetSubtype="0" decel="100000" fill="hold" grpId="1" nodeType="withEffect">
                                  <p:stCondLst>
                                    <p:cond delay="0"/>
                                  </p:stCondLst>
                                  <p:childTnLst>
                                    <p:animMotion origin="layout" path="M 6.25E-7 -4.07407E-6 L 6.25E-7 0.03542 " pathEditMode="relative" rAng="0" ptsTypes="AA">
                                      <p:cBhvr>
                                        <p:cTn id="14" dur="700" spd="-100000" fill="hold"/>
                                        <p:tgtEl>
                                          <p:spTgt spid="9"/>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p:bldP spid="9" grpId="1"/>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CD4AECCD-1093-5C19-AF62-7718E6486A83}"/>
              </a:ext>
            </a:extLst>
          </p:cNvPr>
          <p:cNvSpPr>
            <a:spLocks noGrp="1"/>
          </p:cNvSpPr>
          <p:nvPr>
            <p:ph type="title" idx="4294967295"/>
          </p:nvPr>
        </p:nvSpPr>
        <p:spPr>
          <a:xfrm>
            <a:off x="588263" y="-1155500"/>
            <a:ext cx="11018520" cy="553998"/>
          </a:xfrm>
        </p:spPr>
        <p:txBody>
          <a:bodyPr/>
          <a:lstStyle/>
          <a:p>
            <a:r>
              <a:rPr lang="en-US" sz="3600" b="0" kern="1200" spc="-50" baseline="0">
                <a:ln>
                  <a:noFill/>
                </a:ln>
                <a:solidFill>
                  <a:srgbClr val="FFFFFF"/>
                </a:solidFill>
                <a:effectLst/>
                <a:latin typeface="Segoe UI Semibold" panose="020B0502040204020203" pitchFamily="34" charset="0"/>
                <a:ea typeface="+mn-ea"/>
                <a:cs typeface="Segoe UI" panose="020B0502040204020203" pitchFamily="34" charset="0"/>
              </a:rPr>
              <a:t>Announcement slide (dark) with color rotation</a:t>
            </a:r>
            <a:endParaRPr lang="en-US"/>
          </a:p>
        </p:txBody>
      </p:sp>
      <p:sp>
        <p:nvSpPr>
          <p:cNvPr id="96" name="Oval 95" descr="Background rotating color animation">
            <a:extLst>
              <a:ext uri="{FF2B5EF4-FFF2-40B4-BE49-F238E27FC236}">
                <a16:creationId xmlns:a16="http://schemas.microsoft.com/office/drawing/2014/main" id="{EF1F7445-381C-037D-46CC-F37049BF5BAD}"/>
              </a:ext>
            </a:extLst>
          </p:cNvPr>
          <p:cNvSpPr/>
          <p:nvPr/>
        </p:nvSpPr>
        <p:spPr bwMode="auto">
          <a:xfrm rot="1429251">
            <a:off x="-2870496" y="-889031"/>
            <a:ext cx="6475603" cy="3841080"/>
          </a:xfrm>
          <a:prstGeom prst="ellipse">
            <a:avLst/>
          </a:prstGeom>
          <a:gradFill flip="none" rotWithShape="1">
            <a:gsLst>
              <a:gs pos="90000">
                <a:srgbClr val="399A91"/>
              </a:gs>
              <a:gs pos="65000">
                <a:srgbClr val="0078D4">
                  <a:lumMod val="100000"/>
                </a:srgbClr>
              </a:gs>
              <a:gs pos="10000">
                <a:srgbClr val="F4364C">
                  <a:lumMod val="100000"/>
                </a:srgbClr>
              </a:gs>
              <a:gs pos="35000">
                <a:srgbClr val="C03BC4">
                  <a:lumMod val="100000"/>
                </a:srgbClr>
              </a:gs>
            </a:gsLst>
            <a:lin ang="10800000" scaled="1"/>
            <a:tileRect/>
          </a:gradFill>
          <a:ln>
            <a:noFill/>
            <a:headEnd type="none" w="med" len="med"/>
            <a:tailEnd type="none" w="med" len="med"/>
          </a:ln>
          <a:effectLst>
            <a:softEdge rad="5334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27432" rIns="0" bIns="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1" u="none" strike="noStrike" kern="1200" cap="none" spc="0" normalizeH="0" baseline="0" noProof="0">
              <a:ln>
                <a:noFill/>
              </a:ln>
              <a:gradFill>
                <a:gsLst>
                  <a:gs pos="76923">
                    <a:srgbClr val="FFFFFF"/>
                  </a:gs>
                  <a:gs pos="74000">
                    <a:srgbClr val="FFFFFF"/>
                  </a:gs>
                </a:gsLst>
                <a:path path="circle">
                  <a:fillToRect l="100000" t="100000"/>
                </a:path>
              </a:gradFill>
              <a:effectLst/>
              <a:uLnTx/>
              <a:uFillTx/>
              <a:latin typeface="Segoe UI Semibold" panose="020B0502040204020203" pitchFamily="34" charset="0"/>
              <a:ea typeface="+mn-ea"/>
              <a:cs typeface="Segoe UI" pitchFamily="34" charset="0"/>
            </a:endParaRPr>
          </a:p>
        </p:txBody>
      </p:sp>
      <p:sp>
        <p:nvSpPr>
          <p:cNvPr id="20" name="Rectangle: Rounded Corners 19">
            <a:extLst>
              <a:ext uri="{FF2B5EF4-FFF2-40B4-BE49-F238E27FC236}">
                <a16:creationId xmlns:a16="http://schemas.microsoft.com/office/drawing/2014/main" id="{2441AFC3-4ECC-7DA2-2784-F7107020D9A1}"/>
              </a:ext>
              <a:ext uri="{C183D7F6-B498-43B3-948B-1728B52AA6E4}">
                <adec:decorative xmlns:adec="http://schemas.microsoft.com/office/drawing/2017/decorative" val="1"/>
              </a:ext>
            </a:extLst>
          </p:cNvPr>
          <p:cNvSpPr/>
          <p:nvPr/>
        </p:nvSpPr>
        <p:spPr bwMode="auto">
          <a:xfrm>
            <a:off x="138684" y="137160"/>
            <a:ext cx="11914632" cy="6583680"/>
          </a:xfrm>
          <a:prstGeom prst="roundRect">
            <a:avLst>
              <a:gd name="adj" fmla="val 2697"/>
            </a:avLst>
          </a:prstGeom>
          <a:solidFill>
            <a:srgbClr val="091F2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91F2C"/>
              </a:solidFill>
              <a:effectLst/>
              <a:uLnTx/>
              <a:uFillTx/>
              <a:latin typeface="Segoe UI"/>
              <a:ea typeface="Segoe UI" pitchFamily="34" charset="0"/>
              <a:cs typeface="Segoe UI" pitchFamily="34" charset="0"/>
            </a:endParaRPr>
          </a:p>
        </p:txBody>
      </p:sp>
      <p:sp>
        <p:nvSpPr>
          <p:cNvPr id="10" name="Rectangle: Rounded Corners 16">
            <a:extLst>
              <a:ext uri="{FF2B5EF4-FFF2-40B4-BE49-F238E27FC236}">
                <a16:creationId xmlns:a16="http://schemas.microsoft.com/office/drawing/2014/main" id="{9A8DC6B0-DB6C-2D74-370A-0575B4306563}"/>
              </a:ext>
              <a:ext uri="{C183D7F6-B498-43B3-948B-1728B52AA6E4}">
                <adec:decorative xmlns:adec="http://schemas.microsoft.com/office/drawing/2017/decorative" val="0"/>
              </a:ext>
            </a:extLst>
          </p:cNvPr>
          <p:cNvSpPr/>
          <p:nvPr/>
        </p:nvSpPr>
        <p:spPr bwMode="auto">
          <a:xfrm>
            <a:off x="5278541" y="1151705"/>
            <a:ext cx="1634918" cy="442484"/>
          </a:xfrm>
          <a:prstGeom prst="roundRect">
            <a:avLst>
              <a:gd name="adj" fmla="val 36259"/>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panose="020B0502040204020203" pitchFamily="34" charset="0"/>
                <a:ea typeface="+mn-ea"/>
                <a:cs typeface="Segoe UI" pitchFamily="34" charset="0"/>
              </a:rPr>
              <a:t>Announcing</a:t>
            </a:r>
          </a:p>
        </p:txBody>
      </p:sp>
      <p:sp>
        <p:nvSpPr>
          <p:cNvPr id="11" name="Title 6">
            <a:extLst>
              <a:ext uri="{FF2B5EF4-FFF2-40B4-BE49-F238E27FC236}">
                <a16:creationId xmlns:a16="http://schemas.microsoft.com/office/drawing/2014/main" id="{2629A142-CBFC-69EE-D2F6-4B905A31BE37}"/>
              </a:ext>
            </a:extLst>
          </p:cNvPr>
          <p:cNvSpPr txBox="1">
            <a:spLocks/>
          </p:cNvSpPr>
          <p:nvPr/>
        </p:nvSpPr>
        <p:spPr>
          <a:xfrm>
            <a:off x="1528762" y="1761891"/>
            <a:ext cx="9134476" cy="553998"/>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lvl="0">
              <a:defRPr/>
            </a:pPr>
            <a:r>
              <a:rPr lang="en-US" sz="3600">
                <a:solidFill>
                  <a:schemeClr val="bg1"/>
                </a:solidFill>
              </a:rPr>
              <a:t>Increased Vector, Storage, Compute Capacity</a:t>
            </a:r>
            <a:endParaRPr kumimoji="0" lang="en-US" sz="3600" b="1" u="none" strike="noStrike" kern="1200" cap="none" spc="0" normalizeH="0" baseline="0" noProof="0">
              <a:ln>
                <a:noFill/>
              </a:ln>
              <a:solidFill>
                <a:schemeClr val="bg1"/>
              </a:solidFill>
              <a:effectLst/>
              <a:uLnTx/>
              <a:uFillTx/>
              <a:latin typeface="Segoe UI Semibold" panose="020B0502040204020203" pitchFamily="34" charset="0"/>
            </a:endParaRPr>
          </a:p>
        </p:txBody>
      </p:sp>
      <p:grpSp>
        <p:nvGrpSpPr>
          <p:cNvPr id="13" name="Group 12">
            <a:extLst>
              <a:ext uri="{FF2B5EF4-FFF2-40B4-BE49-F238E27FC236}">
                <a16:creationId xmlns:a16="http://schemas.microsoft.com/office/drawing/2014/main" id="{13AEC2A1-5D2E-4C76-EF21-E58BE1C4D1BA}"/>
              </a:ext>
            </a:extLst>
          </p:cNvPr>
          <p:cNvGrpSpPr/>
          <p:nvPr/>
        </p:nvGrpSpPr>
        <p:grpSpPr>
          <a:xfrm>
            <a:off x="1055687" y="2861858"/>
            <a:ext cx="10430679" cy="3338526"/>
            <a:chOff x="1055687" y="2861858"/>
            <a:chExt cx="10430679" cy="3338526"/>
          </a:xfrm>
        </p:grpSpPr>
        <p:grpSp>
          <p:nvGrpSpPr>
            <p:cNvPr id="14" name="Group 13">
              <a:extLst>
                <a:ext uri="{FF2B5EF4-FFF2-40B4-BE49-F238E27FC236}">
                  <a16:creationId xmlns:a16="http://schemas.microsoft.com/office/drawing/2014/main" id="{5642D334-A2F5-7CD6-B78C-E9A5BFAC7C1B}"/>
                </a:ext>
              </a:extLst>
            </p:cNvPr>
            <p:cNvGrpSpPr/>
            <p:nvPr/>
          </p:nvGrpSpPr>
          <p:grpSpPr>
            <a:xfrm>
              <a:off x="1055687" y="2861858"/>
              <a:ext cx="10430679" cy="3338526"/>
              <a:chOff x="1055687" y="2861858"/>
              <a:chExt cx="10430679" cy="3338526"/>
            </a:xfrm>
          </p:grpSpPr>
          <p:grpSp>
            <p:nvGrpSpPr>
              <p:cNvPr id="7" name="Group 6">
                <a:extLst>
                  <a:ext uri="{FF2B5EF4-FFF2-40B4-BE49-F238E27FC236}">
                    <a16:creationId xmlns:a16="http://schemas.microsoft.com/office/drawing/2014/main" id="{390ACFE9-B72E-9BE2-C47E-5D73F3F83B0F}"/>
                  </a:ext>
                </a:extLst>
              </p:cNvPr>
              <p:cNvGrpSpPr/>
              <p:nvPr/>
            </p:nvGrpSpPr>
            <p:grpSpPr>
              <a:xfrm>
                <a:off x="1055687" y="2862600"/>
                <a:ext cx="4817746" cy="2921895"/>
                <a:chOff x="497204" y="2398093"/>
                <a:chExt cx="4817746" cy="2921895"/>
              </a:xfrm>
            </p:grpSpPr>
            <p:sp>
              <p:nvSpPr>
                <p:cNvPr id="3" name="TextBox 2">
                  <a:extLst>
                    <a:ext uri="{FF2B5EF4-FFF2-40B4-BE49-F238E27FC236}">
                      <a16:creationId xmlns:a16="http://schemas.microsoft.com/office/drawing/2014/main" id="{BAAC809E-DCAD-9C98-DAC6-EA84F257B14F}"/>
                    </a:ext>
                  </a:extLst>
                </p:cNvPr>
                <p:cNvSpPr txBox="1"/>
                <p:nvPr/>
              </p:nvSpPr>
              <p:spPr>
                <a:xfrm>
                  <a:off x="497204" y="2398093"/>
                  <a:ext cx="4520883" cy="969496"/>
                </a:xfrm>
                <a:prstGeom prst="rect">
                  <a:avLst/>
                </a:prstGeom>
                <a:solidFill>
                  <a:schemeClr val="bg1"/>
                </a:solidFill>
              </p:spPr>
              <p:txBody>
                <a:bodyPr wrap="square">
                  <a:spAutoFit/>
                </a:bodyPr>
                <a:lstStyle/>
                <a:p>
                  <a:pPr marL="11112" lvl="1">
                    <a:spcAft>
                      <a:spcPts val="900"/>
                    </a:spcAft>
                  </a:pPr>
                  <a:r>
                    <a:rPr lang="en-US" sz="1400">
                      <a:latin typeface="+mj-lt"/>
                    </a:rPr>
                    <a:t>Same workloads can be handled with smaller tiers</a:t>
                  </a:r>
                </a:p>
                <a:p>
                  <a:pPr marL="11112" lvl="1">
                    <a:spcAft>
                      <a:spcPts val="900"/>
                    </a:spcAft>
                  </a:pPr>
                  <a:r>
                    <a:rPr lang="en-US" sz="1400">
                      <a:latin typeface="+mj-lt"/>
                    </a:rPr>
                    <a:t>Build billion-vector search services</a:t>
                  </a:r>
                </a:p>
                <a:p>
                  <a:pPr marL="11112" lvl="1">
                    <a:spcAft>
                      <a:spcPts val="900"/>
                    </a:spcAft>
                  </a:pPr>
                  <a:r>
                    <a:rPr lang="en-US" sz="1400">
                      <a:latin typeface="+mj-lt"/>
                    </a:rPr>
                    <a:t>Includes all the power of a full retrieval system</a:t>
                  </a:r>
                </a:p>
              </p:txBody>
            </p:sp>
            <p:sp>
              <p:nvSpPr>
                <p:cNvPr id="4" name="TextBox 3">
                  <a:extLst>
                    <a:ext uri="{FF2B5EF4-FFF2-40B4-BE49-F238E27FC236}">
                      <a16:creationId xmlns:a16="http://schemas.microsoft.com/office/drawing/2014/main" id="{AC455A66-4C83-E2F0-261D-36120BCDBED1}"/>
                    </a:ext>
                  </a:extLst>
                </p:cNvPr>
                <p:cNvSpPr txBox="1"/>
                <p:nvPr/>
              </p:nvSpPr>
              <p:spPr>
                <a:xfrm>
                  <a:off x="497205" y="3750328"/>
                  <a:ext cx="4817745" cy="1569660"/>
                </a:xfrm>
                <a:prstGeom prst="rect">
                  <a:avLst/>
                </a:prstGeom>
                <a:solidFill>
                  <a:schemeClr val="bg1"/>
                </a:solidFill>
              </p:spPr>
              <p:txBody>
                <a:bodyPr wrap="square">
                  <a:spAutoFit/>
                </a:bodyPr>
                <a:lstStyle/>
                <a:p>
                  <a:pPr>
                    <a:spcAft>
                      <a:spcPts val="900"/>
                    </a:spcAft>
                  </a:pPr>
                  <a:r>
                    <a:rPr lang="en-US" sz="1800" b="1">
                      <a:ln w="3175">
                        <a:noFill/>
                      </a:ln>
                      <a:gradFill flip="none" rotWithShape="1">
                        <a:gsLst>
                          <a:gs pos="80000">
                            <a:srgbClr val="8DC8E8"/>
                          </a:gs>
                          <a:gs pos="0">
                            <a:srgbClr val="D59ED7"/>
                          </a:gs>
                        </a:gsLst>
                        <a:path path="circle">
                          <a:fillToRect l="100000" t="100000"/>
                        </a:path>
                        <a:tileRect r="-100000" b="-100000"/>
                      </a:gradFill>
                      <a:latin typeface="Segoe UI Semibold" panose="020B0502040204020203" pitchFamily="34" charset="0"/>
                      <a:cs typeface="Segoe UI" pitchFamily="34" charset="0"/>
                    </a:rPr>
                    <a:t>Details</a:t>
                  </a:r>
                </a:p>
                <a:p>
                  <a:pPr marL="222250" lvl="1" indent="-222250">
                    <a:spcAft>
                      <a:spcPts val="900"/>
                    </a:spcAft>
                    <a:buFont typeface="Arial" panose="020B0604020202020204" pitchFamily="34" charset="0"/>
                    <a:buChar char="•"/>
                  </a:pPr>
                  <a:r>
                    <a:rPr lang="en-US" sz="1200"/>
                    <a:t>Up to </a:t>
                  </a:r>
                  <a:r>
                    <a:rPr lang="en-US" sz="1200" b="1"/>
                    <a:t>12x increase </a:t>
                  </a:r>
                  <a:r>
                    <a:rPr lang="en-US" sz="1200"/>
                    <a:t>in vector density increase</a:t>
                  </a:r>
                </a:p>
                <a:p>
                  <a:pPr marL="222250" lvl="1" indent="-222250">
                    <a:spcAft>
                      <a:spcPts val="900"/>
                    </a:spcAft>
                    <a:buFont typeface="Arial" panose="020B0604020202020204" pitchFamily="34" charset="0"/>
                    <a:buChar char="•"/>
                  </a:pPr>
                  <a:r>
                    <a:rPr lang="en-US" sz="1200"/>
                    <a:t>Up to </a:t>
                  </a:r>
                  <a:r>
                    <a:rPr lang="en-US" sz="1200" b="1"/>
                    <a:t>6x total storage </a:t>
                  </a:r>
                  <a:r>
                    <a:rPr lang="en-US" sz="1200"/>
                    <a:t>limit increase</a:t>
                  </a:r>
                </a:p>
                <a:p>
                  <a:pPr marL="222250" lvl="1" indent="-222250">
                    <a:spcAft>
                      <a:spcPts val="900"/>
                    </a:spcAft>
                    <a:buFont typeface="Arial" panose="020B0604020202020204" pitchFamily="34" charset="0"/>
                    <a:buChar char="•"/>
                  </a:pPr>
                  <a:r>
                    <a:rPr lang="en-US" sz="1200" b="1"/>
                    <a:t>More compute capacity </a:t>
                  </a:r>
                  <a:r>
                    <a:rPr lang="en-US" sz="1200"/>
                    <a:t>in most tiers</a:t>
                  </a:r>
                </a:p>
                <a:p>
                  <a:pPr marL="222250" lvl="1" indent="-222250">
                    <a:spcAft>
                      <a:spcPts val="900"/>
                    </a:spcAft>
                    <a:buFont typeface="Arial" panose="020B0604020202020204" pitchFamily="34" charset="0"/>
                    <a:buChar char="•"/>
                  </a:pPr>
                  <a:r>
                    <a:rPr lang="en-US" sz="1200"/>
                    <a:t>Applies to newly created services</a:t>
                  </a:r>
                </a:p>
              </p:txBody>
            </p:sp>
          </p:grpSp>
          <p:graphicFrame>
            <p:nvGraphicFramePr>
              <p:cNvPr id="5" name="Chart 4">
                <a:extLst>
                  <a:ext uri="{FF2B5EF4-FFF2-40B4-BE49-F238E27FC236}">
                    <a16:creationId xmlns:a16="http://schemas.microsoft.com/office/drawing/2014/main" id="{3ED3AD46-E783-49ED-3043-87B00CBEA601}"/>
                  </a:ext>
                </a:extLst>
              </p:cNvPr>
              <p:cNvGraphicFramePr>
                <a:graphicFrameLocks/>
              </p:cNvGraphicFramePr>
              <p:nvPr/>
            </p:nvGraphicFramePr>
            <p:xfrm>
              <a:off x="5873433" y="2861858"/>
              <a:ext cx="5612933" cy="3338526"/>
            </p:xfrm>
            <a:graphic>
              <a:graphicData uri="http://schemas.openxmlformats.org/drawingml/2006/chart">
                <c:chart xmlns:c="http://schemas.openxmlformats.org/drawingml/2006/chart" xmlns:r="http://schemas.openxmlformats.org/officeDocument/2006/relationships" r:id="rId3"/>
              </a:graphicData>
            </a:graphic>
          </p:graphicFrame>
        </p:grpSp>
        <p:cxnSp>
          <p:nvCxnSpPr>
            <p:cNvPr id="6" name="Straight Connector 5">
              <a:extLst>
                <a:ext uri="{FF2B5EF4-FFF2-40B4-BE49-F238E27FC236}">
                  <a16:creationId xmlns:a16="http://schemas.microsoft.com/office/drawing/2014/main" id="{6FAD461E-4827-B1EA-32D4-BF745D0BC251}"/>
                </a:ext>
              </a:extLst>
            </p:cNvPr>
            <p:cNvCxnSpPr>
              <a:cxnSpLocks/>
            </p:cNvCxnSpPr>
            <p:nvPr/>
          </p:nvCxnSpPr>
          <p:spPr>
            <a:xfrm flipH="1">
              <a:off x="1157591" y="4036172"/>
              <a:ext cx="4017524" cy="0"/>
            </a:xfrm>
            <a:prstGeom prst="line">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spTree>
    <p:extLst>
      <p:ext uri="{BB962C8B-B14F-4D97-AF65-F5344CB8AC3E}">
        <p14:creationId xmlns:p14="http://schemas.microsoft.com/office/powerpoint/2010/main" val="26331730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2" nodeType="with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wipe(down)">
                                      <p:cBhvr>
                                        <p:cTn id="7" dur="1250"/>
                                        <p:tgtEl>
                                          <p:spTgt spid="96"/>
                                        </p:tgtEl>
                                      </p:cBhvr>
                                    </p:animEffect>
                                  </p:childTnLst>
                                </p:cTn>
                              </p:par>
                              <p:par>
                                <p:cTn id="8" presetID="8" presetClass="emph" presetSubtype="0" repeatCount="indefinite" fill="hold" grpId="0" nodeType="withEffect">
                                  <p:stCondLst>
                                    <p:cond delay="0"/>
                                  </p:stCondLst>
                                  <p:childTnLst>
                                    <p:animRot by="-21600000">
                                      <p:cBhvr>
                                        <p:cTn id="9" dur="25000" fill="hold"/>
                                        <p:tgtEl>
                                          <p:spTgt spid="96"/>
                                        </p:tgtEl>
                                        <p:attrNameLst>
                                          <p:attrName>r</p:attrName>
                                        </p:attrNameLst>
                                      </p:cBhvr>
                                    </p:animRot>
                                  </p:childTnLst>
                                </p:cTn>
                              </p:par>
                              <p:par>
                                <p:cTn id="10" presetID="1" presetClass="path" presetSubtype="0" repeatCount="indefinite" fill="hold" grpId="1" nodeType="withEffect">
                                  <p:stCondLst>
                                    <p:cond delay="0"/>
                                  </p:stCondLst>
                                  <p:childTnLst>
                                    <p:animMotion origin="layout" path="M 2.08333E-7 -1.11111E-6 C 0.06406 -0.20833 0.76497 -0.22315 0.92292 -0.08819 C 1.08112 0.04676 1.00846 0.74537 0.94792 0.80995 C 0.8875 0.87454 0.075 0.86505 0.02018 0.81667 C -0.03268 0.76736 -0.0418 0.17245 2.08333E-7 -1.11111E-6 Z " pathEditMode="relative" rAng="0" ptsTypes="AAAAA">
                                      <p:cBhvr>
                                        <p:cTn id="11" dur="45000" fill="hold"/>
                                        <p:tgtEl>
                                          <p:spTgt spid="96"/>
                                        </p:tgtEl>
                                        <p:attrNameLst>
                                          <p:attrName>ppt_x</p:attrName>
                                          <p:attrName>ppt_y</p:attrName>
                                        </p:attrNameLst>
                                      </p:cBhvr>
                                      <p:rCtr x="49596" y="33981"/>
                                    </p:animMotion>
                                  </p:childTnLst>
                                </p:cTn>
                              </p:par>
                              <p:par>
                                <p:cTn id="12" presetID="10" presetClass="entr" presetSubtype="0" fill="hold" grpId="0" nodeType="withEffect">
                                  <p:stCondLst>
                                    <p:cond delay="10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par>
                                <p:cTn id="15" presetID="42" presetClass="path" presetSubtype="0" decel="100000" fill="hold" grpId="1" nodeType="withEffect">
                                  <p:stCondLst>
                                    <p:cond delay="100"/>
                                  </p:stCondLst>
                                  <p:childTnLst>
                                    <p:animMotion origin="layout" path="M 0 -2.22222E-6 L 0 0.03542 " pathEditMode="relative" rAng="0" ptsTypes="AA">
                                      <p:cBhvr>
                                        <p:cTn id="16" dur="700" spd="-100000" fill="hold"/>
                                        <p:tgtEl>
                                          <p:spTgt spid="11"/>
                                        </p:tgtEl>
                                        <p:attrNameLst>
                                          <p:attrName>ppt_x</p:attrName>
                                          <p:attrName>ppt_y</p:attrName>
                                        </p:attrNameLst>
                                      </p:cBhvr>
                                      <p:rCtr x="0" y="1759"/>
                                    </p:animMotion>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42" presetClass="path" presetSubtype="0" decel="100000" fill="hold" grpId="1" nodeType="withEffect">
                                  <p:stCondLst>
                                    <p:cond delay="0"/>
                                  </p:stCondLst>
                                  <p:childTnLst>
                                    <p:animMotion origin="layout" path="M 0 0 L 0 0.03542 " pathEditMode="relative" rAng="0" ptsTypes="AA">
                                      <p:cBhvr>
                                        <p:cTn id="21" dur="700" spd="-100000" fill="hold"/>
                                        <p:tgtEl>
                                          <p:spTgt spid="10"/>
                                        </p:tgtEl>
                                        <p:attrNameLst>
                                          <p:attrName>ppt_x</p:attrName>
                                          <p:attrName>ppt_y</p:attrName>
                                        </p:attrNameLst>
                                      </p:cBhvr>
                                      <p:rCtr x="0" y="1759"/>
                                    </p:animMotion>
                                  </p:childTnLst>
                                </p:cTn>
                              </p:par>
                              <p:par>
                                <p:cTn id="22" presetID="10" presetClass="entr" presetSubtype="0" fill="hold" nodeType="withEffect">
                                  <p:stCondLst>
                                    <p:cond delay="40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42" presetClass="path" presetSubtype="0" decel="100000" fill="hold" nodeType="withEffect">
                                  <p:stCondLst>
                                    <p:cond delay="400"/>
                                  </p:stCondLst>
                                  <p:childTnLst>
                                    <p:animMotion origin="layout" path="M -4.375E-6 -3.7037E-7 L -4.375E-6 0.03542 " pathEditMode="relative" rAng="0" ptsTypes="AA">
                                      <p:cBhvr>
                                        <p:cTn id="26" dur="700" spd="-100000" fill="hold"/>
                                        <p:tgtEl>
                                          <p:spTgt spid="1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P spid="96" grpId="1" animBg="1"/>
      <p:bldP spid="96" grpId="2" animBg="1"/>
      <p:bldP spid="10" grpId="0" animBg="1"/>
      <p:bldP spid="10" grpId="1" animBg="1"/>
      <p:bldP spid="11" grpId="0"/>
      <p:bldP spid="11" grpId="1"/>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82B78-4564-0458-17CD-97420B499234}"/>
              </a:ext>
            </a:extLst>
          </p:cNvPr>
          <p:cNvSpPr>
            <a:spLocks noGrp="1"/>
          </p:cNvSpPr>
          <p:nvPr>
            <p:ph type="title"/>
          </p:nvPr>
        </p:nvSpPr>
        <p:spPr/>
        <p:txBody>
          <a:bodyPr/>
          <a:lstStyle/>
          <a:p>
            <a:r>
              <a:rPr lang="en-US"/>
              <a:t>New Expanded Capacity</a:t>
            </a:r>
          </a:p>
        </p:txBody>
      </p:sp>
      <p:graphicFrame>
        <p:nvGraphicFramePr>
          <p:cNvPr id="4" name="Content Placeholder 6">
            <a:extLst>
              <a:ext uri="{FF2B5EF4-FFF2-40B4-BE49-F238E27FC236}">
                <a16:creationId xmlns:a16="http://schemas.microsoft.com/office/drawing/2014/main" id="{80145565-040B-B2BB-EFCC-A3C56E5ED6D7}"/>
              </a:ext>
            </a:extLst>
          </p:cNvPr>
          <p:cNvGraphicFramePr>
            <a:graphicFrameLocks noGrp="1"/>
          </p:cNvGraphicFramePr>
          <p:nvPr>
            <p:ph sz="quarter" idx="10"/>
          </p:nvPr>
        </p:nvGraphicFramePr>
        <p:xfrm>
          <a:off x="584200" y="1816714"/>
          <a:ext cx="10926482" cy="3139440"/>
        </p:xfrm>
        <a:graphic>
          <a:graphicData uri="http://schemas.openxmlformats.org/drawingml/2006/table">
            <a:tbl>
              <a:tblPr firstRow="1" bandRow="1">
                <a:tableStyleId>{C083E6E3-FA7D-4D7B-A595-EF9225AFEA82}</a:tableStyleId>
              </a:tblPr>
              <a:tblGrid>
                <a:gridCol w="1560926">
                  <a:extLst>
                    <a:ext uri="{9D8B030D-6E8A-4147-A177-3AD203B41FA5}">
                      <a16:colId xmlns:a16="http://schemas.microsoft.com/office/drawing/2014/main" val="3124769561"/>
                    </a:ext>
                  </a:extLst>
                </a:gridCol>
                <a:gridCol w="1560926">
                  <a:extLst>
                    <a:ext uri="{9D8B030D-6E8A-4147-A177-3AD203B41FA5}">
                      <a16:colId xmlns:a16="http://schemas.microsoft.com/office/drawing/2014/main" val="851559686"/>
                    </a:ext>
                  </a:extLst>
                </a:gridCol>
                <a:gridCol w="1560926">
                  <a:extLst>
                    <a:ext uri="{9D8B030D-6E8A-4147-A177-3AD203B41FA5}">
                      <a16:colId xmlns:a16="http://schemas.microsoft.com/office/drawing/2014/main" val="2980451353"/>
                    </a:ext>
                  </a:extLst>
                </a:gridCol>
                <a:gridCol w="1560926">
                  <a:extLst>
                    <a:ext uri="{9D8B030D-6E8A-4147-A177-3AD203B41FA5}">
                      <a16:colId xmlns:a16="http://schemas.microsoft.com/office/drawing/2014/main" val="4189437378"/>
                    </a:ext>
                  </a:extLst>
                </a:gridCol>
                <a:gridCol w="1560926">
                  <a:extLst>
                    <a:ext uri="{9D8B030D-6E8A-4147-A177-3AD203B41FA5}">
                      <a16:colId xmlns:a16="http://schemas.microsoft.com/office/drawing/2014/main" val="2022509576"/>
                    </a:ext>
                  </a:extLst>
                </a:gridCol>
                <a:gridCol w="1560926">
                  <a:extLst>
                    <a:ext uri="{9D8B030D-6E8A-4147-A177-3AD203B41FA5}">
                      <a16:colId xmlns:a16="http://schemas.microsoft.com/office/drawing/2014/main" val="2346987327"/>
                    </a:ext>
                  </a:extLst>
                </a:gridCol>
                <a:gridCol w="1560926">
                  <a:extLst>
                    <a:ext uri="{9D8B030D-6E8A-4147-A177-3AD203B41FA5}">
                      <a16:colId xmlns:a16="http://schemas.microsoft.com/office/drawing/2014/main" val="239975510"/>
                    </a:ext>
                  </a:extLst>
                </a:gridCol>
              </a:tblGrid>
              <a:tr h="220345">
                <a:tc>
                  <a:txBody>
                    <a:bodyPr/>
                    <a:lstStyle/>
                    <a:p>
                      <a:r>
                        <a:rPr lang="en-US" b="0"/>
                        <a:t>SKU</a:t>
                      </a:r>
                    </a:p>
                  </a:txBody>
                  <a:tcPr/>
                </a:tc>
                <a:tc>
                  <a:txBody>
                    <a:bodyPr/>
                    <a:lstStyle/>
                    <a:p>
                      <a:r>
                        <a:rPr lang="en-US" b="0"/>
                        <a:t>Previous vector limit</a:t>
                      </a:r>
                    </a:p>
                  </a:txBody>
                  <a:tcPr/>
                </a:tc>
                <a:tc>
                  <a:txBody>
                    <a:bodyPr/>
                    <a:lstStyle/>
                    <a:p>
                      <a:r>
                        <a:rPr lang="en-US" b="0"/>
                        <a:t>New vector limit</a:t>
                      </a:r>
                    </a:p>
                  </a:txBody>
                  <a:tcPr>
                    <a:solidFill>
                      <a:schemeClr val="accent3"/>
                    </a:solidFill>
                  </a:tcPr>
                </a:tc>
                <a:tc>
                  <a:txBody>
                    <a:bodyPr/>
                    <a:lstStyle/>
                    <a:p>
                      <a:r>
                        <a:rPr lang="en-US" b="0"/>
                        <a:t>Previous storage limit</a:t>
                      </a:r>
                    </a:p>
                  </a:txBody>
                  <a:tcPr/>
                </a:tc>
                <a:tc>
                  <a:txBody>
                    <a:bodyPr/>
                    <a:lstStyle/>
                    <a:p>
                      <a:r>
                        <a:rPr lang="en-US" b="0"/>
                        <a:t>New storage limit</a:t>
                      </a:r>
                    </a:p>
                  </a:txBody>
                  <a:tcPr>
                    <a:solidFill>
                      <a:schemeClr val="accent3"/>
                    </a:solidFill>
                  </a:tcPr>
                </a:tc>
                <a:tc>
                  <a:txBody>
                    <a:bodyPr/>
                    <a:lstStyle/>
                    <a:p>
                      <a:r>
                        <a:rPr lang="en-US" b="0"/>
                        <a:t>Previous max service size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New max Service size</a:t>
                      </a:r>
                    </a:p>
                    <a:p>
                      <a:endParaRPr lang="en-US" b="0"/>
                    </a:p>
                  </a:txBody>
                  <a:tcPr>
                    <a:solidFill>
                      <a:schemeClr val="accent3"/>
                    </a:solidFill>
                  </a:tcPr>
                </a:tc>
                <a:extLst>
                  <a:ext uri="{0D108BD9-81ED-4DB2-BD59-A6C34878D82A}">
                    <a16:rowId xmlns:a16="http://schemas.microsoft.com/office/drawing/2014/main" val="2250921342"/>
                  </a:ext>
                </a:extLst>
              </a:tr>
              <a:tr h="370840">
                <a:tc>
                  <a:txBody>
                    <a:bodyPr/>
                    <a:lstStyle/>
                    <a:p>
                      <a:r>
                        <a:rPr lang="en-US"/>
                        <a:t>Basic</a:t>
                      </a:r>
                    </a:p>
                  </a:txBody>
                  <a:tcPr/>
                </a:tc>
                <a:tc>
                  <a:txBody>
                    <a:bodyPr/>
                    <a:lstStyle/>
                    <a:p>
                      <a:pPr algn="r"/>
                      <a:r>
                        <a:rPr lang="en-US"/>
                        <a:t>1</a:t>
                      </a:r>
                    </a:p>
                  </a:txBody>
                  <a:tcPr/>
                </a:tc>
                <a:tc>
                  <a:txBody>
                    <a:bodyPr/>
                    <a:lstStyle/>
                    <a:p>
                      <a:pPr algn="r"/>
                      <a:r>
                        <a:rPr lang="en-US"/>
                        <a:t>5 (5x)</a:t>
                      </a:r>
                    </a:p>
                  </a:txBody>
                  <a:tcPr>
                    <a:solidFill>
                      <a:schemeClr val="accent3"/>
                    </a:solidFill>
                  </a:tcPr>
                </a:tc>
                <a:tc>
                  <a:txBody>
                    <a:bodyPr/>
                    <a:lstStyle/>
                    <a:p>
                      <a:pPr algn="r"/>
                      <a:r>
                        <a:rPr lang="en-US"/>
                        <a:t>2</a:t>
                      </a:r>
                    </a:p>
                  </a:txBody>
                  <a:tcPr/>
                </a:tc>
                <a:tc>
                  <a:txBody>
                    <a:bodyPr/>
                    <a:lstStyle/>
                    <a:p>
                      <a:pPr algn="r"/>
                      <a:r>
                        <a:rPr lang="en-US"/>
                        <a:t>15 (7.5x)</a:t>
                      </a:r>
                    </a:p>
                  </a:txBody>
                  <a:tcPr>
                    <a:solidFill>
                      <a:schemeClr val="accent3"/>
                    </a:solidFill>
                  </a:tcPr>
                </a:tc>
                <a:tc>
                  <a:txBody>
                    <a:bodyPr/>
                    <a:lstStyle/>
                    <a:p>
                      <a:pPr algn="r"/>
                      <a:r>
                        <a:rPr lang="en-US"/>
                        <a:t>2 GB</a:t>
                      </a:r>
                    </a:p>
                  </a:txBody>
                  <a:tcPr/>
                </a:tc>
                <a:tc>
                  <a:txBody>
                    <a:bodyPr/>
                    <a:lstStyle/>
                    <a:p>
                      <a:pPr algn="r"/>
                      <a:r>
                        <a:rPr lang="en-US"/>
                        <a:t>45 GB</a:t>
                      </a:r>
                    </a:p>
                  </a:txBody>
                  <a:tcPr>
                    <a:solidFill>
                      <a:schemeClr val="accent3"/>
                    </a:solidFill>
                  </a:tcPr>
                </a:tc>
                <a:extLst>
                  <a:ext uri="{0D108BD9-81ED-4DB2-BD59-A6C34878D82A}">
                    <a16:rowId xmlns:a16="http://schemas.microsoft.com/office/drawing/2014/main" val="249958004"/>
                  </a:ext>
                </a:extLst>
              </a:tr>
              <a:tr h="370840">
                <a:tc>
                  <a:txBody>
                    <a:bodyPr/>
                    <a:lstStyle/>
                    <a:p>
                      <a:r>
                        <a:rPr lang="en-US"/>
                        <a:t>S1</a:t>
                      </a:r>
                    </a:p>
                  </a:txBody>
                  <a:tcPr/>
                </a:tc>
                <a:tc>
                  <a:txBody>
                    <a:bodyPr/>
                    <a:lstStyle/>
                    <a:p>
                      <a:pPr algn="r"/>
                      <a:r>
                        <a:rPr lang="en-US"/>
                        <a:t>3</a:t>
                      </a:r>
                    </a:p>
                  </a:txBody>
                  <a:tcPr/>
                </a:tc>
                <a:tc>
                  <a:txBody>
                    <a:bodyPr/>
                    <a:lstStyle/>
                    <a:p>
                      <a:pPr algn="r"/>
                      <a:r>
                        <a:rPr lang="en-US"/>
                        <a:t>35 (11.5x)</a:t>
                      </a:r>
                    </a:p>
                  </a:txBody>
                  <a:tcPr>
                    <a:solidFill>
                      <a:schemeClr val="accent3"/>
                    </a:solidFill>
                  </a:tcPr>
                </a:tc>
                <a:tc>
                  <a:txBody>
                    <a:bodyPr/>
                    <a:lstStyle/>
                    <a:p>
                      <a:pPr algn="r"/>
                      <a:r>
                        <a:rPr lang="en-US"/>
                        <a:t>25</a:t>
                      </a:r>
                    </a:p>
                  </a:txBody>
                  <a:tcPr/>
                </a:tc>
                <a:tc>
                  <a:txBody>
                    <a:bodyPr/>
                    <a:lstStyle/>
                    <a:p>
                      <a:pPr algn="r"/>
                      <a:r>
                        <a:rPr lang="en-US"/>
                        <a:t>160 (6.4x)</a:t>
                      </a:r>
                    </a:p>
                  </a:txBody>
                  <a:tcPr>
                    <a:solidFill>
                      <a:schemeClr val="accent3"/>
                    </a:solidFill>
                  </a:tcPr>
                </a:tc>
                <a:tc>
                  <a:txBody>
                    <a:bodyPr/>
                    <a:lstStyle/>
                    <a:p>
                      <a:pPr algn="r"/>
                      <a:r>
                        <a:rPr lang="en-US"/>
                        <a:t>300 GB</a:t>
                      </a:r>
                    </a:p>
                  </a:txBody>
                  <a:tcPr/>
                </a:tc>
                <a:tc>
                  <a:txBody>
                    <a:bodyPr/>
                    <a:lstStyle/>
                    <a:p>
                      <a:pPr algn="r"/>
                      <a:r>
                        <a:rPr lang="en-US"/>
                        <a:t>1.88 TB</a:t>
                      </a:r>
                    </a:p>
                  </a:txBody>
                  <a:tcPr>
                    <a:solidFill>
                      <a:schemeClr val="accent3"/>
                    </a:solidFill>
                  </a:tcPr>
                </a:tc>
                <a:extLst>
                  <a:ext uri="{0D108BD9-81ED-4DB2-BD59-A6C34878D82A}">
                    <a16:rowId xmlns:a16="http://schemas.microsoft.com/office/drawing/2014/main" val="1743084830"/>
                  </a:ext>
                </a:extLst>
              </a:tr>
              <a:tr h="370840">
                <a:tc>
                  <a:txBody>
                    <a:bodyPr/>
                    <a:lstStyle/>
                    <a:p>
                      <a:r>
                        <a:rPr lang="en-US"/>
                        <a:t>S2</a:t>
                      </a:r>
                    </a:p>
                  </a:txBody>
                  <a:tcPr/>
                </a:tc>
                <a:tc>
                  <a:txBody>
                    <a:bodyPr/>
                    <a:lstStyle/>
                    <a:p>
                      <a:pPr algn="r"/>
                      <a:r>
                        <a:rPr lang="en-US"/>
                        <a:t>12</a:t>
                      </a:r>
                    </a:p>
                  </a:txBody>
                  <a:tcPr/>
                </a:tc>
                <a:tc>
                  <a:txBody>
                    <a:bodyPr/>
                    <a:lstStyle/>
                    <a:p>
                      <a:pPr algn="r"/>
                      <a:r>
                        <a:rPr lang="en-US"/>
                        <a:t>150 (12.5x)</a:t>
                      </a:r>
                    </a:p>
                  </a:txBody>
                  <a:tcPr>
                    <a:solidFill>
                      <a:schemeClr val="accent3"/>
                    </a:solidFill>
                  </a:tcPr>
                </a:tc>
                <a:tc>
                  <a:txBody>
                    <a:bodyPr/>
                    <a:lstStyle/>
                    <a:p>
                      <a:pPr algn="r"/>
                      <a:r>
                        <a:rPr lang="en-US"/>
                        <a:t>100</a:t>
                      </a:r>
                    </a:p>
                  </a:txBody>
                  <a:tcPr/>
                </a:tc>
                <a:tc>
                  <a:txBody>
                    <a:bodyPr/>
                    <a:lstStyle/>
                    <a:p>
                      <a:pPr algn="r"/>
                      <a:r>
                        <a:rPr lang="en-US"/>
                        <a:t>512 (5x)</a:t>
                      </a:r>
                    </a:p>
                  </a:txBody>
                  <a:tcPr>
                    <a:solidFill>
                      <a:schemeClr val="accent3"/>
                    </a:solidFill>
                  </a:tcPr>
                </a:tc>
                <a:tc>
                  <a:txBody>
                    <a:bodyPr/>
                    <a:lstStyle/>
                    <a:p>
                      <a:pPr algn="r"/>
                      <a:r>
                        <a:rPr lang="en-US"/>
                        <a:t>1.2 TB</a:t>
                      </a:r>
                    </a:p>
                  </a:txBody>
                  <a:tcPr/>
                </a:tc>
                <a:tc>
                  <a:txBody>
                    <a:bodyPr/>
                    <a:lstStyle/>
                    <a:p>
                      <a:pPr algn="r"/>
                      <a:r>
                        <a:rPr lang="en-US"/>
                        <a:t>6 TB</a:t>
                      </a:r>
                    </a:p>
                  </a:txBody>
                  <a:tcPr>
                    <a:solidFill>
                      <a:schemeClr val="accent3"/>
                    </a:solidFill>
                  </a:tcPr>
                </a:tc>
                <a:extLst>
                  <a:ext uri="{0D108BD9-81ED-4DB2-BD59-A6C34878D82A}">
                    <a16:rowId xmlns:a16="http://schemas.microsoft.com/office/drawing/2014/main" val="378629317"/>
                  </a:ext>
                </a:extLst>
              </a:tr>
              <a:tr h="370840">
                <a:tc>
                  <a:txBody>
                    <a:bodyPr/>
                    <a:lstStyle/>
                    <a:p>
                      <a:r>
                        <a:rPr lang="en-US"/>
                        <a:t>S3</a:t>
                      </a:r>
                    </a:p>
                  </a:txBody>
                  <a:tcPr/>
                </a:tc>
                <a:tc>
                  <a:txBody>
                    <a:bodyPr/>
                    <a:lstStyle/>
                    <a:p>
                      <a:pPr algn="r"/>
                      <a:r>
                        <a:rPr lang="en-US"/>
                        <a:t>36</a:t>
                      </a:r>
                    </a:p>
                  </a:txBody>
                  <a:tcPr/>
                </a:tc>
                <a:tc>
                  <a:txBody>
                    <a:bodyPr/>
                    <a:lstStyle/>
                    <a:p>
                      <a:pPr algn="r"/>
                      <a:r>
                        <a:rPr lang="en-US"/>
                        <a:t>300 (8.3x)</a:t>
                      </a:r>
                    </a:p>
                  </a:txBody>
                  <a:tcPr>
                    <a:solidFill>
                      <a:schemeClr val="accent3"/>
                    </a:solidFill>
                  </a:tcPr>
                </a:tc>
                <a:tc>
                  <a:txBody>
                    <a:bodyPr/>
                    <a:lstStyle/>
                    <a:p>
                      <a:pPr algn="r"/>
                      <a:r>
                        <a:rPr lang="en-US"/>
                        <a:t>200</a:t>
                      </a:r>
                    </a:p>
                  </a:txBody>
                  <a:tcPr/>
                </a:tc>
                <a:tc>
                  <a:txBody>
                    <a:bodyPr/>
                    <a:lstStyle/>
                    <a:p>
                      <a:pPr algn="r"/>
                      <a:r>
                        <a:rPr lang="en-US"/>
                        <a:t>1024 (5x)</a:t>
                      </a:r>
                    </a:p>
                  </a:txBody>
                  <a:tcPr>
                    <a:solidFill>
                      <a:schemeClr val="accent3"/>
                    </a:solidFill>
                  </a:tcPr>
                </a:tc>
                <a:tc>
                  <a:txBody>
                    <a:bodyPr/>
                    <a:lstStyle/>
                    <a:p>
                      <a:pPr algn="r"/>
                      <a:r>
                        <a:rPr lang="en-US"/>
                        <a:t>2.4 TB</a:t>
                      </a:r>
                    </a:p>
                  </a:txBody>
                  <a:tcPr/>
                </a:tc>
                <a:tc>
                  <a:txBody>
                    <a:bodyPr/>
                    <a:lstStyle/>
                    <a:p>
                      <a:pPr algn="r"/>
                      <a:r>
                        <a:rPr lang="en-US"/>
                        <a:t>12 TB</a:t>
                      </a:r>
                    </a:p>
                  </a:txBody>
                  <a:tcPr>
                    <a:solidFill>
                      <a:schemeClr val="accent3"/>
                    </a:solidFill>
                  </a:tcPr>
                </a:tc>
                <a:extLst>
                  <a:ext uri="{0D108BD9-81ED-4DB2-BD59-A6C34878D82A}">
                    <a16:rowId xmlns:a16="http://schemas.microsoft.com/office/drawing/2014/main" val="1530370897"/>
                  </a:ext>
                </a:extLst>
              </a:tr>
              <a:tr h="370840">
                <a:tc>
                  <a:txBody>
                    <a:bodyPr/>
                    <a:lstStyle/>
                    <a:p>
                      <a:r>
                        <a:rPr lang="en-US"/>
                        <a:t>L1</a:t>
                      </a:r>
                    </a:p>
                  </a:txBody>
                  <a:tcPr/>
                </a:tc>
                <a:tc>
                  <a:txBody>
                    <a:bodyPr/>
                    <a:lstStyle/>
                    <a:p>
                      <a:pPr algn="r"/>
                      <a:r>
                        <a:rPr lang="en-US"/>
                        <a:t>12</a:t>
                      </a:r>
                    </a:p>
                  </a:txBody>
                  <a:tcPr/>
                </a:tc>
                <a:tc>
                  <a:txBody>
                    <a:bodyPr/>
                    <a:lstStyle/>
                    <a:p>
                      <a:pPr algn="r"/>
                      <a:r>
                        <a:rPr lang="en-US"/>
                        <a:t>150 (12.5x)</a:t>
                      </a:r>
                    </a:p>
                  </a:txBody>
                  <a:tcPr>
                    <a:solidFill>
                      <a:schemeClr val="accent3"/>
                    </a:solidFill>
                  </a:tcPr>
                </a:tc>
                <a:tc>
                  <a:txBody>
                    <a:bodyPr/>
                    <a:lstStyle/>
                    <a:p>
                      <a:pPr algn="r"/>
                      <a:r>
                        <a:rPr lang="en-US"/>
                        <a:t>1024</a:t>
                      </a:r>
                    </a:p>
                  </a:txBody>
                  <a:tcPr/>
                </a:tc>
                <a:tc>
                  <a:txBody>
                    <a:bodyPr/>
                    <a:lstStyle/>
                    <a:p>
                      <a:pPr algn="r"/>
                      <a:r>
                        <a:rPr lang="en-US"/>
                        <a:t>2048 (2x)</a:t>
                      </a:r>
                    </a:p>
                  </a:txBody>
                  <a:tcPr>
                    <a:solidFill>
                      <a:schemeClr val="accent3"/>
                    </a:solidFill>
                  </a:tcPr>
                </a:tc>
                <a:tc>
                  <a:txBody>
                    <a:bodyPr/>
                    <a:lstStyle/>
                    <a:p>
                      <a:pPr algn="r"/>
                      <a:r>
                        <a:rPr lang="en-US"/>
                        <a:t>12 TB</a:t>
                      </a:r>
                    </a:p>
                  </a:txBody>
                  <a:tcPr/>
                </a:tc>
                <a:tc>
                  <a:txBody>
                    <a:bodyPr/>
                    <a:lstStyle/>
                    <a:p>
                      <a:pPr algn="r"/>
                      <a:r>
                        <a:rPr lang="en-US"/>
                        <a:t>24 TB</a:t>
                      </a:r>
                    </a:p>
                  </a:txBody>
                  <a:tcPr>
                    <a:solidFill>
                      <a:schemeClr val="accent3"/>
                    </a:solidFill>
                  </a:tcPr>
                </a:tc>
                <a:extLst>
                  <a:ext uri="{0D108BD9-81ED-4DB2-BD59-A6C34878D82A}">
                    <a16:rowId xmlns:a16="http://schemas.microsoft.com/office/drawing/2014/main" val="2754519630"/>
                  </a:ext>
                </a:extLst>
              </a:tr>
              <a:tr h="370840">
                <a:tc>
                  <a:txBody>
                    <a:bodyPr/>
                    <a:lstStyle/>
                    <a:p>
                      <a:r>
                        <a:rPr lang="en-US"/>
                        <a:t>L2</a:t>
                      </a:r>
                    </a:p>
                  </a:txBody>
                  <a:tcPr/>
                </a:tc>
                <a:tc>
                  <a:txBody>
                    <a:bodyPr/>
                    <a:lstStyle/>
                    <a:p>
                      <a:pPr algn="r"/>
                      <a:r>
                        <a:rPr lang="en-US"/>
                        <a:t>36</a:t>
                      </a:r>
                    </a:p>
                  </a:txBody>
                  <a:tcPr/>
                </a:tc>
                <a:tc>
                  <a:txBody>
                    <a:bodyPr/>
                    <a:lstStyle/>
                    <a:p>
                      <a:pPr algn="r"/>
                      <a:r>
                        <a:rPr lang="en-US"/>
                        <a:t>300 (8.3x)</a:t>
                      </a:r>
                    </a:p>
                  </a:txBody>
                  <a:tcPr>
                    <a:solidFill>
                      <a:schemeClr val="accent3"/>
                    </a:solidFill>
                  </a:tcPr>
                </a:tc>
                <a:tc>
                  <a:txBody>
                    <a:bodyPr/>
                    <a:lstStyle/>
                    <a:p>
                      <a:pPr algn="r"/>
                      <a:r>
                        <a:rPr lang="en-US"/>
                        <a:t>2048</a:t>
                      </a:r>
                    </a:p>
                  </a:txBody>
                  <a:tcPr/>
                </a:tc>
                <a:tc>
                  <a:txBody>
                    <a:bodyPr/>
                    <a:lstStyle/>
                    <a:p>
                      <a:pPr algn="r"/>
                      <a:r>
                        <a:rPr lang="en-US"/>
                        <a:t>4096 (2x)</a:t>
                      </a:r>
                    </a:p>
                  </a:txBody>
                  <a:tcPr>
                    <a:solidFill>
                      <a:schemeClr val="accent3"/>
                    </a:solidFill>
                  </a:tcPr>
                </a:tc>
                <a:tc>
                  <a:txBody>
                    <a:bodyPr/>
                    <a:lstStyle/>
                    <a:p>
                      <a:pPr algn="r"/>
                      <a:r>
                        <a:rPr lang="en-US"/>
                        <a:t>24 TB</a:t>
                      </a:r>
                    </a:p>
                  </a:txBody>
                  <a:tcPr/>
                </a:tc>
                <a:tc>
                  <a:txBody>
                    <a:bodyPr/>
                    <a:lstStyle/>
                    <a:p>
                      <a:pPr algn="r"/>
                      <a:r>
                        <a:rPr lang="en-US"/>
                        <a:t>48 TB</a:t>
                      </a:r>
                    </a:p>
                  </a:txBody>
                  <a:tcPr>
                    <a:solidFill>
                      <a:schemeClr val="accent3"/>
                    </a:solidFill>
                  </a:tcPr>
                </a:tc>
                <a:extLst>
                  <a:ext uri="{0D108BD9-81ED-4DB2-BD59-A6C34878D82A}">
                    <a16:rowId xmlns:a16="http://schemas.microsoft.com/office/drawing/2014/main" val="3981408772"/>
                  </a:ext>
                </a:extLst>
              </a:tr>
            </a:tbl>
          </a:graphicData>
        </a:graphic>
      </p:graphicFrame>
      <p:sp>
        <p:nvSpPr>
          <p:cNvPr id="5" name="TextBox 4">
            <a:extLst>
              <a:ext uri="{FF2B5EF4-FFF2-40B4-BE49-F238E27FC236}">
                <a16:creationId xmlns:a16="http://schemas.microsoft.com/office/drawing/2014/main" id="{E0036C79-8930-813C-FD75-E0053AEAD120}"/>
              </a:ext>
            </a:extLst>
          </p:cNvPr>
          <p:cNvSpPr txBox="1"/>
          <p:nvPr/>
        </p:nvSpPr>
        <p:spPr>
          <a:xfrm>
            <a:off x="584200" y="5761670"/>
            <a:ext cx="7253076" cy="635559"/>
          </a:xfrm>
          <a:prstGeom prst="rect">
            <a:avLst/>
          </a:prstGeom>
          <a:noFill/>
        </p:spPr>
        <p:txBody>
          <a:bodyPr wrap="none" rtlCol="0">
            <a:spAutoFit/>
          </a:bodyPr>
          <a:lstStyle/>
          <a:p>
            <a:pPr marL="285750" indent="-285750">
              <a:buFont typeface="Wingdings" panose="05000000000000000000" pitchFamily="2" charset="2"/>
              <a:buChar char="à"/>
            </a:pPr>
            <a:r>
              <a:rPr lang="en-US"/>
              <a:t>Basic SKU now supports up to 3 partitions, up from a single partition</a:t>
            </a:r>
          </a:p>
          <a:p>
            <a:pPr marL="285750" indent="-285750">
              <a:buFont typeface="Wingdings" panose="05000000000000000000" pitchFamily="2" charset="2"/>
              <a:buChar char="à"/>
            </a:pPr>
            <a:r>
              <a:rPr lang="en-US"/>
              <a:t>Limits are GB/partition</a:t>
            </a:r>
          </a:p>
        </p:txBody>
      </p:sp>
    </p:spTree>
    <p:extLst>
      <p:ext uri="{BB962C8B-B14F-4D97-AF65-F5344CB8AC3E}">
        <p14:creationId xmlns:p14="http://schemas.microsoft.com/office/powerpoint/2010/main" val="3105813379"/>
      </p:ext>
    </p:extLst>
  </p:cSld>
  <p:clrMapOvr>
    <a:masterClrMapping/>
  </p:clrMapOvr>
  <p:transition>
    <p:fade/>
  </p:transition>
</p:sld>
</file>

<file path=ppt/theme/theme1.xml><?xml version="1.0" encoding="utf-8"?>
<a:theme xmlns:a="http://schemas.openxmlformats.org/drawingml/2006/main" name="Microsoft AI Tour 16:9 Template Light">
  <a:themeElements>
    <a:clrScheme name="Custom 193">
      <a:dk1>
        <a:srgbClr val="000000"/>
      </a:dk1>
      <a:lt1>
        <a:srgbClr val="FFFFFF"/>
      </a:lt1>
      <a:dk2>
        <a:srgbClr val="2A446F"/>
      </a:dk2>
      <a:lt2>
        <a:srgbClr val="E8E6DF"/>
      </a:lt2>
      <a:accent1>
        <a:srgbClr val="8661C5"/>
      </a:accent1>
      <a:accent2>
        <a:srgbClr val="0078D4"/>
      </a:accent2>
      <a:accent3>
        <a:srgbClr val="8DE971"/>
      </a:accent3>
      <a:accent4>
        <a:srgbClr val="8C8279"/>
      </a:accent4>
      <a:accent5>
        <a:srgbClr val="463668"/>
      </a:accent5>
      <a:accent6>
        <a:srgbClr val="D7D2CB"/>
      </a:accent6>
      <a:hlink>
        <a:srgbClr val="8661C5"/>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AI Tour_2024_16-9 Event-template.potx" id="{10A8AE99-8A8D-4608-9F84-61FDF4D5C73D}" vid="{B4F0B07B-3A4D-4C62-94BD-A9EACF6FFAE2}"/>
    </a:ext>
  </a:extLst>
</a:theme>
</file>

<file path=ppt/theme/theme2.xml><?xml version="1.0" encoding="utf-8"?>
<a:theme xmlns:a="http://schemas.openxmlformats.org/drawingml/2006/main" name="Microsoft AI Tour 16:9 Template Dark">
  <a:themeElements>
    <a:clrScheme name="Custom 197">
      <a:dk1>
        <a:srgbClr val="091F2C"/>
      </a:dk1>
      <a:lt1>
        <a:srgbClr val="FFFFFF"/>
      </a:lt1>
      <a:dk2>
        <a:srgbClr val="091F2C"/>
      </a:dk2>
      <a:lt2>
        <a:srgbClr val="E8E6DF"/>
      </a:lt2>
      <a:accent1>
        <a:srgbClr val="C5B4E3"/>
      </a:accent1>
      <a:accent2>
        <a:srgbClr val="0078D4"/>
      </a:accent2>
      <a:accent3>
        <a:srgbClr val="8DE971"/>
      </a:accent3>
      <a:accent4>
        <a:srgbClr val="D7D2CB"/>
      </a:accent4>
      <a:accent5>
        <a:srgbClr val="8661C5"/>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AI Tour_2024_16-9 Event-template.potx" id="{10A8AE99-8A8D-4608-9F84-61FDF4D5C73D}" vid="{837E6454-BB5A-485A-B15D-3D489AC26F9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a29421e1-74d8-4915-bb0d-c72892872ba0">
      <Terms xmlns="http://schemas.microsoft.com/office/infopath/2007/PartnerControls"/>
    </lcf76f155ced4ddcb4097134ff3c332f>
    <TaxCatchAll xmlns="230e9df3-be65-4c73-a93b-d1236ebd677e" xsi:nil="true"/>
  </documentManagement>
</p:properties>
</file>

<file path=customXml/itemProps1.xml><?xml version="1.0" encoding="utf-8"?>
<ds:datastoreItem xmlns:ds="http://schemas.openxmlformats.org/officeDocument/2006/customXml" ds:itemID="{7F8B597F-A116-4900-A4A9-7E4146894003}"/>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F990F116-B58F-4255-B05B-DA3808E0E5C6}">
  <ds:schemaRefs>
    <ds:schemaRef ds:uri="230e9df3-be65-4c73-a93b-d1236ebd677e"/>
    <ds:schemaRef ds:uri="4b8daba7-7726-4c34-9cdd-54c5aec2096d"/>
    <ds:schemaRef ds:uri="804751ba-60e0-4191-9865-d7e5284c1d69"/>
    <ds:schemaRef ds:uri="913b567d-4c83-4181-a45c-f04ce7e1b72e"/>
    <ds:schemaRef ds:uri="a8a70cf7-9110-44f4-b9e3-de58eb84488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Microsoft AI Tour 16:9 Template Light</Template>
  <TotalTime>1255</TotalTime>
  <Words>5345</Words>
  <Application>Microsoft Macintosh PowerPoint</Application>
  <PresentationFormat>Widescreen</PresentationFormat>
  <Paragraphs>670</Paragraphs>
  <Slides>43</Slides>
  <Notes>37</Notes>
  <HiddenSlides>14</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43</vt:i4>
      </vt:variant>
    </vt:vector>
  </HeadingPairs>
  <TitlesOfParts>
    <vt:vector size="55" baseType="lpstr">
      <vt:lpstr>Aptos</vt:lpstr>
      <vt:lpstr>Arial</vt:lpstr>
      <vt:lpstr>Calibri</vt:lpstr>
      <vt:lpstr>Consolas</vt:lpstr>
      <vt:lpstr>Menlo</vt:lpstr>
      <vt:lpstr>Segoe Sans Display Semibold</vt:lpstr>
      <vt:lpstr>Segoe UI</vt:lpstr>
      <vt:lpstr>Segoe UI Semibold</vt:lpstr>
      <vt:lpstr>Segoe UI Semilight</vt:lpstr>
      <vt:lpstr>Wingdings</vt:lpstr>
      <vt:lpstr>Microsoft AI Tour 16:9 Template Light</vt:lpstr>
      <vt:lpstr>Microsoft AI Tour 16:9 Template Dark</vt:lpstr>
      <vt:lpstr>Agentic RAG with Reflection</vt:lpstr>
      <vt:lpstr>Agenda</vt:lpstr>
      <vt:lpstr>Retrieval-augmented  generation (RAG)​</vt:lpstr>
      <vt:lpstr>The limitations of LLMS</vt:lpstr>
      <vt:lpstr>Incorporating domain knowledge</vt:lpstr>
      <vt:lpstr>RAG: Retrieval Augmented Generation</vt:lpstr>
      <vt:lpstr>Advanced RAG with query rewriting</vt:lpstr>
      <vt:lpstr>RAG on Documents </vt:lpstr>
      <vt:lpstr>Components of a high-quality RAG</vt:lpstr>
      <vt:lpstr>Agentic RAG</vt:lpstr>
      <vt:lpstr>Why might RAG fail?</vt:lpstr>
      <vt:lpstr>Evaluating RAG Answers</vt:lpstr>
      <vt:lpstr>Example Evaluation</vt:lpstr>
      <vt:lpstr>Improving Answers using Evaluations</vt:lpstr>
      <vt:lpstr>Agentic RAG Loop</vt:lpstr>
      <vt:lpstr>Single and Multi Step Reflection</vt:lpstr>
      <vt:lpstr>Single Step Reflection</vt:lpstr>
      <vt:lpstr>Multi Step Reflection</vt:lpstr>
      <vt:lpstr>Demo</vt:lpstr>
      <vt:lpstr>Evaluation</vt:lpstr>
      <vt:lpstr>Bulk evaluation flow</vt:lpstr>
      <vt:lpstr>Step 1: Generate ground truth data</vt:lpstr>
      <vt:lpstr>Step 2: Evaluate app against ground truth</vt:lpstr>
      <vt:lpstr>Step 3: Review the metrics across runs</vt:lpstr>
      <vt:lpstr>Step 4: Compare specific answers across runs</vt:lpstr>
      <vt:lpstr>Step 5: Investigate questions with notable differences</vt:lpstr>
      <vt:lpstr>Remember...</vt:lpstr>
      <vt:lpstr>Final thoughts</vt:lpstr>
      <vt:lpstr>Takeaways</vt:lpstr>
      <vt:lpstr>Azure AI Search 2/2</vt:lpstr>
      <vt:lpstr>Vector search strategies</vt:lpstr>
      <vt:lpstr>Hybrid search</vt:lpstr>
      <vt:lpstr>Optimal relevance: Hybrid search, Semantic ranker</vt:lpstr>
      <vt:lpstr>Avoiding noise: Using minimum score thresholds</vt:lpstr>
      <vt:lpstr>Conclusion</vt:lpstr>
      <vt:lpstr>Example uses</vt:lpstr>
      <vt:lpstr>Next steps</vt:lpstr>
      <vt:lpstr>Efficient vector storage: Quantization</vt:lpstr>
      <vt:lpstr>Azure AI Search: Enterprise-ready</vt:lpstr>
      <vt:lpstr>Improving Retrieval in Large Datasets</vt:lpstr>
      <vt:lpstr>Robust retrieval for RAG apps</vt:lpstr>
      <vt:lpstr>Announcement slide (dark) with color rotation</vt:lpstr>
      <vt:lpstr>New Expanded Capacity</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AI Tour</dc:title>
  <dc:subject>Microsoft AI Tour</dc:subject>
  <dc:creator>Pamela Fox</dc:creator>
  <cp:keywords>Microsoft AI Tour</cp:keywords>
  <dc:description/>
  <cp:lastModifiedBy>Pamela Fox</cp:lastModifiedBy>
  <cp:revision>3</cp:revision>
  <cp:lastPrinted>2023-02-15T20:48:24Z</cp:lastPrinted>
  <dcterms:created xsi:type="dcterms:W3CDTF">2024-07-15T23:59:48Z</dcterms:created>
  <dcterms:modified xsi:type="dcterms:W3CDTF">2025-04-23T18:40:26Z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0x0101001BD4B4487B57D443AED9979943B92646</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MediaServiceImageTags">
    <vt:lpwstr/>
  </property>
  <property fmtid="{D5CDD505-2E9C-101B-9397-08002B2CF9AE}" pid="19" name="Lead Signoff">
    <vt:bool>false</vt:bool>
  </property>
  <property fmtid="{D5CDD505-2E9C-101B-9397-08002B2CF9AE}" pid="20" name="State">
    <vt:lpwstr>Open</vt:lpwstr>
  </property>
  <property fmtid="{D5CDD505-2E9C-101B-9397-08002B2CF9AE}" pid="21" name="Mail Sent">
    <vt:bool>false</vt:bool>
  </property>
  <property fmtid="{D5CDD505-2E9C-101B-9397-08002B2CF9AE}" pid="22" name="xd_Signature">
    <vt:bool>false</vt:bool>
  </property>
  <property fmtid="{D5CDD505-2E9C-101B-9397-08002B2CF9AE}" pid="23" name="xd_ProgID">
    <vt:lpwstr/>
  </property>
  <property fmtid="{D5CDD505-2E9C-101B-9397-08002B2CF9AE}" pid="24" name="_SourceUrl">
    <vt:lpwstr/>
  </property>
  <property fmtid="{D5CDD505-2E9C-101B-9397-08002B2CF9AE}" pid="25" name="_SharedFileIndex">
    <vt:lpwstr/>
  </property>
  <property fmtid="{D5CDD505-2E9C-101B-9397-08002B2CF9AE}" pid="26" name="ComplianceAssetId">
    <vt:lpwstr/>
  </property>
  <property fmtid="{D5CDD505-2E9C-101B-9397-08002B2CF9AE}" pid="27" name="TemplateUrl">
    <vt:lpwstr/>
  </property>
  <property fmtid="{D5CDD505-2E9C-101B-9397-08002B2CF9AE}" pid="28" name="_ExtendedDescription">
    <vt:lpwstr/>
  </property>
  <property fmtid="{D5CDD505-2E9C-101B-9397-08002B2CF9AE}" pid="29" name="TriggerFlowInfo">
    <vt:lpwstr/>
  </property>
</Properties>
</file>