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2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3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theme/theme4.xml" ContentType="application/vnd.openxmlformats-officedocument.theme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551" r:id="rId5"/>
    <p:sldMasterId id="2147485852" r:id="rId6"/>
    <p:sldMasterId id="2147485906" r:id="rId7"/>
    <p:sldMasterId id="2147485924" r:id="rId8"/>
  </p:sldMasterIdLst>
  <p:notesMasterIdLst>
    <p:notesMasterId r:id="rId43"/>
  </p:notesMasterIdLst>
  <p:handoutMasterIdLst>
    <p:handoutMasterId r:id="rId44"/>
  </p:handoutMasterIdLst>
  <p:sldIdLst>
    <p:sldId id="271" r:id="rId9"/>
    <p:sldId id="296" r:id="rId10"/>
    <p:sldId id="360" r:id="rId11"/>
    <p:sldId id="307" r:id="rId12"/>
    <p:sldId id="261" r:id="rId13"/>
    <p:sldId id="297" r:id="rId14"/>
    <p:sldId id="298" r:id="rId15"/>
    <p:sldId id="299" r:id="rId16"/>
    <p:sldId id="300" r:id="rId17"/>
    <p:sldId id="270" r:id="rId18"/>
    <p:sldId id="256" r:id="rId19"/>
    <p:sldId id="301" r:id="rId20"/>
    <p:sldId id="285" r:id="rId21"/>
    <p:sldId id="257" r:id="rId22"/>
    <p:sldId id="303" r:id="rId23"/>
    <p:sldId id="286" r:id="rId24"/>
    <p:sldId id="293" r:id="rId25"/>
    <p:sldId id="302" r:id="rId26"/>
    <p:sldId id="304" r:id="rId27"/>
    <p:sldId id="287" r:id="rId28"/>
    <p:sldId id="291" r:id="rId29"/>
    <p:sldId id="292" r:id="rId30"/>
    <p:sldId id="268" r:id="rId31"/>
    <p:sldId id="306" r:id="rId32"/>
    <p:sldId id="308" r:id="rId33"/>
    <p:sldId id="309" r:id="rId34"/>
    <p:sldId id="269" r:id="rId35"/>
    <p:sldId id="311" r:id="rId36"/>
    <p:sldId id="2147482834" r:id="rId37"/>
    <p:sldId id="312" r:id="rId38"/>
    <p:sldId id="313" r:id="rId39"/>
    <p:sldId id="289" r:id="rId40"/>
    <p:sldId id="2147482581" r:id="rId41"/>
    <p:sldId id="263" r:id="rId42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C040DBC9-5A32-4349-B757-226103DA4B0C}">
          <p14:sldIdLst>
            <p14:sldId id="271"/>
            <p14:sldId id="296"/>
            <p14:sldId id="360"/>
            <p14:sldId id="307"/>
            <p14:sldId id="261"/>
            <p14:sldId id="297"/>
            <p14:sldId id="298"/>
            <p14:sldId id="299"/>
            <p14:sldId id="300"/>
            <p14:sldId id="270"/>
            <p14:sldId id="256"/>
            <p14:sldId id="301"/>
            <p14:sldId id="285"/>
            <p14:sldId id="257"/>
            <p14:sldId id="303"/>
            <p14:sldId id="286"/>
            <p14:sldId id="293"/>
            <p14:sldId id="302"/>
            <p14:sldId id="304"/>
            <p14:sldId id="287"/>
            <p14:sldId id="291"/>
            <p14:sldId id="292"/>
            <p14:sldId id="268"/>
            <p14:sldId id="306"/>
            <p14:sldId id="308"/>
            <p14:sldId id="309"/>
            <p14:sldId id="269"/>
            <p14:sldId id="311"/>
            <p14:sldId id="2147482834"/>
            <p14:sldId id="312"/>
            <p14:sldId id="313"/>
            <p14:sldId id="289"/>
            <p14:sldId id="2147482581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3280C-6AAF-B0FE-47DF-3425564CE7DE}" name="Allison Sparrow" initials="AS" userId="S::alsparrow@microsoft.com::c67eeae2-bc25-40f7-a31a-74e931390c1e" providerId="AD"/>
  <p188:author id="{EBB4B15B-C155-85BB-24C9-54F2B97955F2}" name="Pablo Castro" initials="PC" userId="S::pablocas@microsoft.com::93083297-f88d-4e51-9931-a14ae08793ea" providerId="AD"/>
  <p188:author id="{279115A6-EC1B-4870-4FE3-378FC85D5EB2}" name="Jodi Swanson (Chilco Strategies Inc)" initials="JI" userId="S::v-jswanson_microsoft.com#ext#@stinsondesigninc.onmicrosoft.com::49f01594-21dc-448f-804b-19a6f9252619" providerId="AD"/>
  <p188:author id="{D94EBEAC-6DB7-FFDC-1735-E160E05A4F8B}" name="Laurel Geisbush (MURPHY AND ASSOCIATES INC)" initials="LG" userId="S::v-lgeisbush@microsoft.com::58ee82d4-3398-485b-911a-8ebb9a041c9c" providerId="AD"/>
  <p188:author id="{5A1D65B3-FAD1-0BF0-9E33-52426D1DDF5C}" name="Jodi Swanson (Chilco Strategies Inc)" initials="JS" userId="S::v-jswanson@microsoft.com::02196e26-3ea3-4e32-a301-16ffff5ce286" providerId="AD"/>
  <p188:author id="{DB240AB5-5075-F2B6-CB29-ED89C7F443E0}" name="Courtney Brewer" initials="CB" userId="S::cobrewer@microsoft.com::626e6965-4ba5-40a4-9f1e-e602d2a30d97" providerId="AD"/>
  <p188:author id="{6AFA61D8-796F-555E-A395-B33F90AAF99E}" name="Monica Lueder" initials="ML" userId="S::monical@microsoft.com::75969e72-ba9c-4e32-a4ac-c8f3aeff9ba2" providerId="AD"/>
  <p188:author id="{98AA16E9-6F42-0421-4A5D-410E64BE366D}" name="Gia Mondragon" initials="GM" userId="S::gimondra@microsoft.com::942c60c1-e28f-4a6b-9058-6fe50a0db74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446F"/>
    <a:srgbClr val="73262F"/>
    <a:srgbClr val="FFB3BB"/>
    <a:srgbClr val="152237"/>
    <a:srgbClr val="8DC8E8"/>
    <a:srgbClr val="FFF8F3"/>
    <a:srgbClr val="FAE4A2"/>
    <a:srgbClr val="8661C5"/>
    <a:srgbClr val="0078D4"/>
    <a:srgbClr val="E1D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F1EC0-0B67-422F-95B0-65BD10534000}" v="1" dt="2025-05-19T17:29:55.442"/>
    <p1510:client id="{3BBD18DA-6677-4321-A972-7C1029896BE8}" v="13484" dt="2025-05-20T00:05:47.439"/>
    <p1510:client id="{CCAD7873-C68C-4358-B003-A438CF9A13F4}" v="960" dt="2025-05-20T00:10:05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presProps" Target="presProps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5400">
              <a:solidFill>
                <a:srgbClr val="F4F6F9"/>
              </a:solidFill>
            </a:ln>
          </c:spPr>
          <c:dPt>
            <c:idx val="0"/>
            <c:bubble3D val="0"/>
            <c:spPr>
              <a:gradFill flip="none" rotWithShape="1">
                <a:gsLst>
                  <a:gs pos="0">
                    <a:srgbClr val="F3C8D1"/>
                  </a:gs>
                  <a:gs pos="70000">
                    <a:srgbClr val="BDD2E5"/>
                  </a:gs>
                </a:gsLst>
                <a:lin ang="16200000" scaled="1"/>
                <a:tileRect/>
              </a:gradFill>
              <a:ln w="25400">
                <a:solidFill>
                  <a:srgbClr val="F4F6F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7B2-4A31-8426-0D417C08118D}"/>
              </c:ext>
            </c:extLst>
          </c:dPt>
          <c:dPt>
            <c:idx val="1"/>
            <c:bubble3D val="0"/>
            <c:spPr>
              <a:gradFill flip="none" rotWithShape="1">
                <a:gsLst>
                  <a:gs pos="0">
                    <a:srgbClr val="C4D0E2"/>
                  </a:gs>
                  <a:gs pos="70000">
                    <a:srgbClr val="F3C8D1"/>
                  </a:gs>
                </a:gsLst>
                <a:lin ang="0" scaled="1"/>
                <a:tileRect/>
              </a:gradFill>
              <a:ln w="25400">
                <a:solidFill>
                  <a:srgbClr val="F4F6F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7B2-4A31-8426-0D417C08118D}"/>
              </c:ext>
            </c:extLst>
          </c:dPt>
          <c:dPt>
            <c:idx val="2"/>
            <c:bubble3D val="0"/>
            <c:spPr>
              <a:gradFill flip="none" rotWithShape="1">
                <a:gsLst>
                  <a:gs pos="30000">
                    <a:srgbClr val="BDD2E5"/>
                  </a:gs>
                  <a:gs pos="100000">
                    <a:srgbClr val="C4D0E2"/>
                  </a:gs>
                </a:gsLst>
                <a:lin ang="5400000" scaled="1"/>
                <a:tileRect/>
              </a:gradFill>
              <a:ln w="25400">
                <a:solidFill>
                  <a:srgbClr val="F4F6F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7B2-4A31-8426-0D417C08118D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B2-4A31-8426-0D417C0811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gradFill>
              <a:gsLst>
                <a:gs pos="51000">
                  <a:srgbClr val="F65567">
                    <a:alpha val="40000"/>
                  </a:srgbClr>
                </a:gs>
                <a:gs pos="0">
                  <a:srgbClr val="AC35AF">
                    <a:alpha val="40000"/>
                  </a:srgbClr>
                </a:gs>
              </a:gsLst>
              <a:lin ang="19800000" scaled="0"/>
            </a:gradFill>
            <a:ln w="25400">
              <a:solidFill>
                <a:srgbClr val="F4F6F9"/>
              </a:solidFill>
            </a:ln>
          </c:spPr>
          <c:dPt>
            <c:idx val="0"/>
            <c:bubble3D val="0"/>
            <c:spPr>
              <a:gradFill flip="none" rotWithShape="1">
                <a:gsLst>
                  <a:gs pos="17000">
                    <a:srgbClr val="F3C8D1">
                      <a:alpha val="70000"/>
                    </a:srgbClr>
                  </a:gs>
                  <a:gs pos="89000">
                    <a:srgbClr val="BDD2E5">
                      <a:alpha val="7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25400">
                <a:solidFill>
                  <a:srgbClr val="F4F6F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DA2-42CC-B0AD-D36596F55FCD}"/>
              </c:ext>
            </c:extLst>
          </c:dPt>
          <c:dPt>
            <c:idx val="1"/>
            <c:bubble3D val="0"/>
            <c:spPr>
              <a:gradFill flip="none" rotWithShape="1">
                <a:gsLst>
                  <a:gs pos="28000">
                    <a:srgbClr val="F3C8D1">
                      <a:alpha val="70000"/>
                    </a:srgbClr>
                  </a:gs>
                  <a:gs pos="97000">
                    <a:srgbClr val="C4D0E2">
                      <a:alpha val="7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25400">
                <a:solidFill>
                  <a:srgbClr val="F4F6F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DA2-42CC-B0AD-D36596F55FCD}"/>
              </c:ext>
            </c:extLst>
          </c:dPt>
          <c:dPt>
            <c:idx val="2"/>
            <c:bubble3D val="0"/>
            <c:spPr>
              <a:gradFill flip="none" rotWithShape="1">
                <a:gsLst>
                  <a:gs pos="0">
                    <a:srgbClr val="D6CDDC">
                      <a:alpha val="70000"/>
                    </a:srgbClr>
                  </a:gs>
                  <a:gs pos="82000">
                    <a:srgbClr val="BDD2E5">
                      <a:alpha val="7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25400">
                <a:solidFill>
                  <a:srgbClr val="F4F6F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DA2-42CC-B0AD-D36596F55FCD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DA2-42CC-B0AD-D36596F55F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905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2A446F"/>
                </a:solidFill>
                <a:latin typeface="Segoe UI Variable Display Semib" pitchFamily="2" charset="0"/>
                <a:ea typeface="+mn-ea"/>
                <a:cs typeface="Segoe UI Semibold" panose="020B0702040204020203" pitchFamily="34" charset="0"/>
              </a:defRPr>
            </a:pPr>
            <a:r>
              <a:rPr lang="en-US" sz="1400">
                <a:solidFill>
                  <a:srgbClr val="152237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Traditional search vs agentic retrieval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2A446F"/>
              </a:solidFill>
              <a:latin typeface="Segoe UI Variable Display Semib" pitchFamily="2" charset="0"/>
              <a:ea typeface="+mn-ea"/>
              <a:cs typeface="Segoe UI Semibold" panose="020B0702040204020203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0"/>
          <c:tx>
            <c:strRef>
              <c:f>Sheet1!$A$4:$B$4</c:f>
              <c:strCache>
                <c:ptCount val="2"/>
                <c:pt idx="0">
                  <c:v>Complex</c:v>
                </c:pt>
                <c:pt idx="1">
                  <c:v>Search</c:v>
                </c:pt>
              </c:strCache>
            </c:strRef>
          </c:tx>
          <c:spPr>
            <a:solidFill>
              <a:srgbClr val="73262F"/>
            </a:solidFill>
            <a:ln>
              <a:noFill/>
            </a:ln>
            <a:effectLst/>
          </c:spPr>
          <c:invertIfNegative val="0"/>
          <c:cat>
            <c:strRef>
              <c:f>Sheet1!$C$1:$D$1</c:f>
              <c:strCache>
                <c:ptCount val="2"/>
                <c:pt idx="0">
                  <c:v>Answer score</c:v>
                </c:pt>
                <c:pt idx="1">
                  <c:v>Content score</c:v>
                </c:pt>
              </c:strCache>
            </c:strRef>
          </c:cat>
          <c:val>
            <c:numRef>
              <c:f>Sheet1!$C$4:$D$4</c:f>
              <c:numCache>
                <c:formatCode>General</c:formatCode>
                <c:ptCount val="2"/>
                <c:pt idx="0">
                  <c:v>41.55</c:v>
                </c:pt>
                <c:pt idx="1">
                  <c:v>31.03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E7-014B-9164-A75896147D9C}"/>
            </c:ext>
          </c:extLst>
        </c:ser>
        <c:ser>
          <c:idx val="3"/>
          <c:order val="1"/>
          <c:tx>
            <c:strRef>
              <c:f>Sheet1!$A$5:$B$5</c:f>
              <c:strCache>
                <c:ptCount val="2"/>
                <c:pt idx="0">
                  <c:v>Complex</c:v>
                </c:pt>
                <c:pt idx="1">
                  <c:v>Agentric Retrieval</c:v>
                </c:pt>
              </c:strCache>
            </c:strRef>
          </c:tx>
          <c:spPr>
            <a:solidFill>
              <a:srgbClr val="8DC8E8"/>
            </a:solidFill>
            <a:ln>
              <a:noFill/>
            </a:ln>
            <a:effectLst/>
          </c:spPr>
          <c:invertIfNegative val="0"/>
          <c:cat>
            <c:strRef>
              <c:f>Sheet1!$C$1:$D$1</c:f>
              <c:strCache>
                <c:ptCount val="2"/>
                <c:pt idx="0">
                  <c:v>Answer score</c:v>
                </c:pt>
                <c:pt idx="1">
                  <c:v>Content score</c:v>
                </c:pt>
              </c:strCache>
            </c:strRef>
          </c:cat>
          <c:val>
            <c:numRef>
              <c:f>Sheet1!$C$5:$D$5</c:f>
              <c:numCache>
                <c:formatCode>General</c:formatCode>
                <c:ptCount val="2"/>
                <c:pt idx="0">
                  <c:v>57.63</c:v>
                </c:pt>
                <c:pt idx="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E7-014B-9164-A75896147D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5"/>
        <c:axId val="1904596159"/>
        <c:axId val="1904600479"/>
      </c:barChart>
      <c:catAx>
        <c:axId val="19045961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4600479"/>
        <c:crosses val="autoZero"/>
        <c:auto val="1"/>
        <c:lblAlgn val="ctr"/>
        <c:lblOffset val="100"/>
        <c:noMultiLvlLbl val="0"/>
      </c:catAx>
      <c:valAx>
        <c:axId val="1904600479"/>
        <c:scaling>
          <c:orientation val="minMax"/>
          <c:max val="6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4596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Segoe UI Variable Display Semib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5/19/2025 6:13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46125" y="1181100"/>
            <a:ext cx="5670550" cy="31892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1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 panose="020B0502040204020203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5/19/2025 6:13 PM</a:t>
            </a:fld>
            <a:endParaRPr kumimoji="0" lang="en-US" sz="1200" b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069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A9FAE-3428-A3A3-5F11-313A0F75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5A8A9-5D7A-E772-27F3-B942BB9AE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45404-1BCF-D9B5-FF6C-2CE55FADE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ED8F6-4EFC-29AA-3045-DAA2D973C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4A4EC1-C524-ED45-A185-10510AA0C8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03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11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49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FDAD6-AFBF-18E2-C3B8-944ECE483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C36D7-F611-C8AF-CA26-C0C117071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41B5E1-5F4B-B25E-441C-C98328730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B06117E-78B0-897A-04AC-2C6F79BFEBF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C3AAD-02E1-0CCD-AF16-283AE81F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F20E75F-3FF2-B249-4798-46D5C17CFAAF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E2F19A73-88F5-4B80-A929-CF8E66EE5449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1C81B-033F-3830-F0C7-04B1A670C7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47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686BA-1710-3914-14F7-0F05615A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1902D-7659-1275-3B5B-F5D05F770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A9219-3A2B-83AE-1F05-8F3C8AE06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F41D4C3-D38E-3DBE-3BE1-431A0A75B11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127F6-EDBD-BAC3-A1BE-A646F06A07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F9BD81-26DE-261D-84D5-3E3F7418DC6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1B727-3B5D-E0C5-FF8C-BC6200632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16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5A63A-FC5A-96DA-84D7-1FDF3A55C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B9D44-2EFB-239B-55C1-1B12F4015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BC66B-32E8-8656-9D6A-2A6827AF6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55A0CDE-703E-C779-53AA-03060E8ADA7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D1981-66D6-9956-EA70-FA615EA22D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E1E7D8-9197-305D-5B9F-31FCACD2E20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F6090-5358-8CE0-29C2-A398BC0F9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53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F3D29-CA1A-1999-0B8C-7D982E745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6EDC3-DDBB-A36A-1E4D-99DEB3C68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6A4F5-334C-6F4B-B50D-71516C2E5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4CEA912-E046-3CE8-D32C-0D87D8ED3A1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C9553-A366-BC66-C445-48DBA70C03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1C17FF-4EEA-4F7C-7F79-3655941071B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9F9D8-D126-F903-C9D2-F1A325DAF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62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B2AA7-1247-F116-65F8-4B5C380D6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49F6F-23CA-5A6C-0E3B-F7DA246F9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FEC0E-1F44-A0E9-49E8-3DF593235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E3DFC80-6314-4F73-9406-50727D2A757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2979C-DE19-8AA9-1822-ADE107AFC1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7FA00A3-A075-6635-B92F-BC419530308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E82CB-39E6-1631-D874-F73F08D4F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50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66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32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63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AFBC4-830E-D8EB-1E82-5B5CB98C4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1F288-49A3-0C85-3D53-3C8DD27E8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2B4CA-5E2B-AD52-6BAD-5C2385FEF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9C7B9D7-45FB-39D4-2646-39E7451FF89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C3E6D-BDBE-836F-0E7A-E973FFD3B4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7DFD5BE-83AA-B32C-381C-872418A7548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AB316-AE30-322D-1601-A8355ED71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27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5F37A-3DCE-ACF7-E3A3-F76FEFFD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9AEA3-A73D-2A4D-5C54-BDE2EF84A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79063-94E3-B5D1-6C70-39BB52E1F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810"/>
              </a:spcAft>
            </a:pPr>
            <a:endParaRPr lang="en-US" sz="1200">
              <a:solidFill>
                <a:srgbClr val="000000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07A4B-67F6-AAF8-7640-86DA6BF38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5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7E7C3F-570D-674B-A591-D32D552AFC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665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431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D29EF-417C-4DAD-704D-E3D8CAA03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1FF8C-AEC3-5FA9-DA01-ADE8FAB03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9F4DC-9483-31C9-C88E-FBDA57735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1FD8967-8561-3920-2B4B-7D468B171B0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B2124-D67F-665A-68EF-0E27C3E150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9ED9C1-5E47-DBB4-C854-72CBE6DD73C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5/19/2025 6:13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2EA9F-ABA5-523A-6D4B-8D8E64CFC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169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5/19/2025 6:13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7545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1B43-2023-51D5-EAEE-EA5BDFE4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8370A-B3B4-ED82-4A2D-F6111F871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613B6-A606-CDFB-6C4E-4C9EE10B4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D6F6444-2084-7FBD-3839-18A0156EB78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6D8A3-ACE5-F670-CAE5-0BE6C99EF3E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3C31ECF-9D96-78B4-5A45-AA8C197AA08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5/19/2025 6:13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592DE-AC7B-D1E5-F95B-5DE3B67B6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7500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jpe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jpe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jpe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3.jpeg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jpeg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3.jpeg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Relationship Id="rId5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5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emf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4.xml"/><Relationship Id="rId5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.emf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3.jpeg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9.jpe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4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3.jpeg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5.xml"/><Relationship Id="rId5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5.xml"/><Relationship Id="rId5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Relationship Id="rId5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5.xml"/><Relationship Id="rId5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5.xml"/><Relationship Id="rId5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Relationship Id="rId5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5.xml"/><Relationship Id="rId5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9.jpeg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9.jpeg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9.jpeg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9.jpeg"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9.jpeg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9.jpeg"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9.jpeg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5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78E58A-F050-2D4C-8CDE-EE12DA3AD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5" name="Picture 4" descr="A close up of a sign&#10;&#10;AI-generated content may be incorrect.">
            <a:extLst>
              <a:ext uri="{FF2B5EF4-FFF2-40B4-BE49-F238E27FC236}">
                <a16:creationId xmlns:a16="http://schemas.microsoft.com/office/drawing/2014/main" id="{8DBF2036-0A95-6172-2982-A3932BB20C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465" y="2703056"/>
            <a:ext cx="3376457" cy="1514143"/>
          </a:xfrm>
          <a:prstGeom prst="rect">
            <a:avLst/>
          </a:prstGeom>
        </p:spPr>
      </p:pic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892706-E514-9308-1054-E66D5F1305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54093-2407-868E-D935-592C706F2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C92DC79C-790E-8B3B-3A8A-E29B953EF5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colorful hexagons&#10;&#10;AI-generated content may be incorrect.">
            <a:extLst>
              <a:ext uri="{FF2B5EF4-FFF2-40B4-BE49-F238E27FC236}">
                <a16:creationId xmlns:a16="http://schemas.microsoft.com/office/drawing/2014/main" id="{C459F199-2A2D-6CE7-FD4F-C67A96274D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4023B5-FCD6-2A9F-A834-F37F444390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8" b="102"/>
          <a:stretch/>
        </p:blipFill>
        <p:spPr>
          <a:xfrm>
            <a:off x="3008" y="1693"/>
            <a:ext cx="12188991" cy="68546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Dark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0462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A234-CF81-C509-43C3-276D71D0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FC0D3-79DF-DA8A-A295-8CFBBF3A6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B2426-EB1B-B167-822C-C2B1C6A57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FE1-13EE-402D-9FF8-2EDA4F83B76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52D8B-9986-E0A5-213D-229725B8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AB2F4-BC71-3D18-86CE-712FC769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8298-2C42-4A43-BBBD-D50776351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408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7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 descr="Theme 7 16x9 background live shapes">
            <a:extLst>
              <a:ext uri="{FF2B5EF4-FFF2-40B4-BE49-F238E27FC236}">
                <a16:creationId xmlns:a16="http://schemas.microsoft.com/office/drawing/2014/main" id="{1D5E2B0A-A131-90A3-4F11-AEABD73BD5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0" y="-1402736"/>
            <a:chExt cx="1918074" cy="1078992"/>
          </a:xfrm>
        </p:grpSpPr>
        <p:sp>
          <p:nvSpPr>
            <p:cNvPr id="27" name="Rectangle 26">
              <a:hlinkClick r:id="" action="ppaction://noaction"/>
              <a:extLst>
                <a:ext uri="{FF2B5EF4-FFF2-40B4-BE49-F238E27FC236}">
                  <a16:creationId xmlns:a16="http://schemas.microsoft.com/office/drawing/2014/main" id="{A4930299-6198-1641-57F1-13DF5C95B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6"/>
              <a:ext cx="1918074" cy="107899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505751D-42F3-B0A8-8024-1FC682FB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1402736"/>
              <a:ext cx="1918074" cy="1078992"/>
            </a:xfrm>
            <a:prstGeom prst="rect">
              <a:avLst/>
            </a:prstGeom>
          </p:spPr>
        </p:pic>
        <p:sp>
          <p:nvSpPr>
            <p:cNvPr id="29" name="Rectangle 28">
              <a:hlinkClick r:id="" action="ppaction://noaction"/>
              <a:extLst>
                <a:ext uri="{FF2B5EF4-FFF2-40B4-BE49-F238E27FC236}">
                  <a16:creationId xmlns:a16="http://schemas.microsoft.com/office/drawing/2014/main" id="{68724290-E668-3407-D417-8E84F4D1B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5"/>
              <a:ext cx="1918074" cy="1078991"/>
            </a:xfrm>
            <a:prstGeom prst="rect">
              <a:avLst/>
            </a:prstGeom>
            <a:gradFill flip="none" rotWithShape="1">
              <a:gsLst>
                <a:gs pos="0">
                  <a:srgbClr val="FFF8E5">
                    <a:alpha val="60000"/>
                  </a:srgbClr>
                </a:gs>
                <a:gs pos="6000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37466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500" b="0" i="0" u="none" strike="noStrike" cap="none" spc="0" normalizeH="0" baseline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6847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everal cubes&#10;&#10;AI-generated content may be incorrect.">
            <a:extLst>
              <a:ext uri="{FF2B5EF4-FFF2-40B4-BE49-F238E27FC236}">
                <a16:creationId xmlns:a16="http://schemas.microsoft.com/office/drawing/2014/main" id="{9DBEF36C-9F70-C79E-ACA0-D5B443EE16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AI-generated content may be incorrect.">
            <a:extLst>
              <a:ext uri="{FF2B5EF4-FFF2-40B4-BE49-F238E27FC236}">
                <a16:creationId xmlns:a16="http://schemas.microsoft.com/office/drawing/2014/main" id="{0269CA22-C0A8-1306-404C-17E5D3F3AD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465" y="2703056"/>
            <a:ext cx="3376457" cy="1514143"/>
          </a:xfrm>
          <a:prstGeom prst="rect">
            <a:avLst/>
          </a:prstGeom>
        </p:spPr>
      </p:pic>
      <p:pic>
        <p:nvPicPr>
          <p:cNvPr id="10" name="MS logo white - EMF" descr="Microsoft logo white text version">
            <a:extLst>
              <a:ext uri="{FF2B5EF4-FFF2-40B4-BE49-F238E27FC236}">
                <a16:creationId xmlns:a16="http://schemas.microsoft.com/office/drawing/2014/main" id="{C2E04E97-EBB4-15B9-B98C-DFFA25C0C2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several cubes&#10;&#10;AI-generated content may be incorrect.">
            <a:extLst>
              <a:ext uri="{FF2B5EF4-FFF2-40B4-BE49-F238E27FC236}">
                <a16:creationId xmlns:a16="http://schemas.microsoft.com/office/drawing/2014/main" id="{8129A2C3-CEC4-826D-AA26-68D2F3D9FD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EB5EB062-3EB9-AE51-7945-D4F3E1AA0D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0430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colorful hexagons&#10;&#10;AI-generated content may be incorrect.">
            <a:extLst>
              <a:ext uri="{FF2B5EF4-FFF2-40B4-BE49-F238E27FC236}">
                <a16:creationId xmlns:a16="http://schemas.microsoft.com/office/drawing/2014/main" id="{8A919DF2-8E23-FA31-B6DE-AC81C61AA2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light&#10;&#10;AI-generated content may be incorrect.">
            <a:extLst>
              <a:ext uri="{FF2B5EF4-FFF2-40B4-BE49-F238E27FC236}">
                <a16:creationId xmlns:a16="http://schemas.microsoft.com/office/drawing/2014/main" id="{1B0C208C-22E3-C652-34E5-E589C7AE10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78E58A-F050-2D4C-8CDE-EE12DA3AD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" name="Picture 4" descr="A close up of a sign&#10;&#10;AI-generated content may be incorrect.">
            <a:extLst>
              <a:ext uri="{FF2B5EF4-FFF2-40B4-BE49-F238E27FC236}">
                <a16:creationId xmlns:a16="http://schemas.microsoft.com/office/drawing/2014/main" id="{8DBF2036-0A95-6172-2982-A3932BB20C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465" y="2703056"/>
            <a:ext cx="3376457" cy="1514143"/>
          </a:xfrm>
          <a:prstGeom prst="rect">
            <a:avLst/>
          </a:prstGeom>
        </p:spPr>
      </p:pic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892706-E514-9308-1054-E66D5F1305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0361"/>
      </p:ext>
    </p:extLst>
  </p:cSld>
  <p:clrMapOvr>
    <a:masterClrMapping/>
  </p:clrMapOvr>
  <p:transition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54093-2407-868E-D935-592C706F2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C92DC79C-790E-8B3B-3A8A-E29B953EF5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494135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b="1" i="0" spc="-50" baseline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55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77063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96667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276561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28592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47889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92739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83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31811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04588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38100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37831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103755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378598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7975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71220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072746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072872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127439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33293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944480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35013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9675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857137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849314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809139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185515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7474643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008090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811902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4639073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773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96494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 b="0" i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6505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 b="0" i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74740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 b="0" i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753010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866782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4079113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colorful hexagons&#10;&#10;AI-generated content may be incorrect.">
            <a:extLst>
              <a:ext uri="{FF2B5EF4-FFF2-40B4-BE49-F238E27FC236}">
                <a16:creationId xmlns:a16="http://schemas.microsoft.com/office/drawing/2014/main" id="{C459F199-2A2D-6CE7-FD4F-C67A96274D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044853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362869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34B5B5-9563-3C0D-49CE-08EEB1B219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3" t="583" r="-13" b="10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03028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52454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785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70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89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1148787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37742"/>
      </p:ext>
    </p:extLst>
  </p:cSld>
  <p:clrMapOvr>
    <a:masterClrMapping/>
  </p:clrMapOvr>
  <p:transition>
    <p:fade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Dark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268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1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Theme 1 16x9 background live shapes">
            <a:extLst>
              <a:ext uri="{FF2B5EF4-FFF2-40B4-BE49-F238E27FC236}">
                <a16:creationId xmlns:a16="http://schemas.microsoft.com/office/drawing/2014/main" id="{C0E15311-C9BE-C867-A356-3D78F9853C7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2"/>
            <a:chOff x="7823983" y="0"/>
            <a:chExt cx="22756845" cy="12801600"/>
          </a:xfrm>
        </p:grpSpPr>
        <p:sp>
          <p:nvSpPr>
            <p:cNvPr id="3" name="Rectangle 2">
              <a:hlinkClick r:id="" action="ppaction://noaction"/>
              <a:extLst>
                <a:ext uri="{FF2B5EF4-FFF2-40B4-BE49-F238E27FC236}">
                  <a16:creationId xmlns:a16="http://schemas.microsoft.com/office/drawing/2014/main" id="{EFC71651-07AF-DD6D-8D6B-20B26425B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0"/>
              <a:ext cx="22756845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 i="0">
                <a:solidFill>
                  <a:srgbClr val="091F2C"/>
                </a:solidFill>
                <a:latin typeface="Segoe UI Semibold" panose="020B0502040204020203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CC43FF-8C74-FA5C-69B4-85A567733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7823983" y="0"/>
              <a:ext cx="22756845" cy="128016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EF4850A3-8A2F-8B93-468C-0100C31EB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12"/>
              <a:ext cx="22756845" cy="12801588"/>
            </a:xfrm>
            <a:prstGeom prst="rect">
              <a:avLst/>
            </a:prstGeom>
            <a:gradFill flip="none" rotWithShape="1">
              <a:gsLst>
                <a:gs pos="0">
                  <a:srgbClr val="FFBAA8">
                    <a:lumMod val="75000"/>
                    <a:lumOff val="25000"/>
                    <a:alpha val="45000"/>
                  </a:srgbClr>
                </a:gs>
                <a:gs pos="44000">
                  <a:srgbClr val="CBCCCA">
                    <a:alpha val="45000"/>
                  </a:srgbClr>
                </a:gs>
              </a:gsLst>
              <a:lin ang="150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479" tIns="58783" rIns="73479" bIns="5878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 b="1" i="0">
                <a:solidFill>
                  <a:srgbClr val="091F2C"/>
                </a:solidFill>
                <a:latin typeface="Segoe UI Semibold" panose="020B0502040204020203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51314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7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 descr="Theme 7 16x9 background live shapes">
            <a:extLst>
              <a:ext uri="{FF2B5EF4-FFF2-40B4-BE49-F238E27FC236}">
                <a16:creationId xmlns:a16="http://schemas.microsoft.com/office/drawing/2014/main" id="{1D5E2B0A-A131-90A3-4F11-AEABD73BD5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0" y="-1402736"/>
            <a:chExt cx="1918074" cy="1078992"/>
          </a:xfrm>
        </p:grpSpPr>
        <p:sp>
          <p:nvSpPr>
            <p:cNvPr id="27" name="Rectangle 26">
              <a:hlinkClick r:id="" action="ppaction://noaction"/>
              <a:extLst>
                <a:ext uri="{FF2B5EF4-FFF2-40B4-BE49-F238E27FC236}">
                  <a16:creationId xmlns:a16="http://schemas.microsoft.com/office/drawing/2014/main" id="{A4930299-6198-1641-57F1-13DF5C95B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6"/>
              <a:ext cx="1918074" cy="107899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 i="0">
                <a:solidFill>
                  <a:srgbClr val="091F2C"/>
                </a:solidFill>
                <a:latin typeface="Segoe UI Semibold" panose="020B0502040204020203" pitchFamily="34" charset="0"/>
                <a:cs typeface="Segoe UI" pitchFamily="34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505751D-42F3-B0A8-8024-1FC682FB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1402736"/>
              <a:ext cx="1918074" cy="1078992"/>
            </a:xfrm>
            <a:prstGeom prst="rect">
              <a:avLst/>
            </a:prstGeom>
          </p:spPr>
        </p:pic>
        <p:sp>
          <p:nvSpPr>
            <p:cNvPr id="29" name="Rectangle 28">
              <a:hlinkClick r:id="" action="ppaction://noaction"/>
              <a:extLst>
                <a:ext uri="{FF2B5EF4-FFF2-40B4-BE49-F238E27FC236}">
                  <a16:creationId xmlns:a16="http://schemas.microsoft.com/office/drawing/2014/main" id="{68724290-E668-3407-D417-8E84F4D1B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5"/>
              <a:ext cx="1918074" cy="1078991"/>
            </a:xfrm>
            <a:prstGeom prst="rect">
              <a:avLst/>
            </a:prstGeom>
            <a:gradFill flip="none" rotWithShape="1">
              <a:gsLst>
                <a:gs pos="0">
                  <a:srgbClr val="FFF8E5">
                    <a:alpha val="60000"/>
                  </a:srgbClr>
                </a:gs>
                <a:gs pos="6000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37466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500" b="0" i="0" u="none" strike="noStrike" cap="none" spc="0" normalizeH="0" baseline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86931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 descr="Theme 6 16x9 background live shapes">
            <a:extLst>
              <a:ext uri="{FF2B5EF4-FFF2-40B4-BE49-F238E27FC236}">
                <a16:creationId xmlns:a16="http://schemas.microsoft.com/office/drawing/2014/main" id="{015E8758-8AD5-33E3-7075-9EBD7214B07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0" y="-1402736"/>
            <a:chExt cx="1918074" cy="1078992"/>
          </a:xfrm>
        </p:grpSpPr>
        <p:sp>
          <p:nvSpPr>
            <p:cNvPr id="23" name="Rectangle 22">
              <a:hlinkClick r:id="" action="ppaction://noaction"/>
              <a:extLst>
                <a:ext uri="{FF2B5EF4-FFF2-40B4-BE49-F238E27FC236}">
                  <a16:creationId xmlns:a16="http://schemas.microsoft.com/office/drawing/2014/main" id="{D750F67A-569C-CBA2-940A-441C138FA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6"/>
              <a:ext cx="1918074" cy="107899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 i="0">
                <a:solidFill>
                  <a:srgbClr val="091F2C"/>
                </a:solidFill>
                <a:latin typeface="Segoe UI Semibold" panose="020B0502040204020203" pitchFamily="34" charset="0"/>
                <a:cs typeface="Segoe UI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42E5D0F-EA15-A97B-1246-F92FD64DC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0" y="-1402736"/>
              <a:ext cx="1918074" cy="1078992"/>
            </a:xfrm>
            <a:prstGeom prst="rect">
              <a:avLst/>
            </a:prstGeom>
          </p:spPr>
        </p:pic>
        <p:sp>
          <p:nvSpPr>
            <p:cNvPr id="25" name="Rectangle 24">
              <a:hlinkClick r:id="" action="ppaction://noaction"/>
              <a:extLst>
                <a:ext uri="{FF2B5EF4-FFF2-40B4-BE49-F238E27FC236}">
                  <a16:creationId xmlns:a16="http://schemas.microsoft.com/office/drawing/2014/main" id="{86D236A9-3859-42A3-96A9-00BF164F3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5"/>
              <a:ext cx="1918074" cy="1078991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37466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500" b="0" i="0" u="none" strike="noStrike" cap="none" spc="0" normalizeH="0" baseline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08638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78E58A-F050-2D4C-8CDE-EE12DA3AD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5" name="Picture 4" descr="A close up of a sign&#10;&#10;AI-generated content may be incorrect.">
            <a:extLst>
              <a:ext uri="{FF2B5EF4-FFF2-40B4-BE49-F238E27FC236}">
                <a16:creationId xmlns:a16="http://schemas.microsoft.com/office/drawing/2014/main" id="{8DBF2036-0A95-6172-2982-A3932BB20C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465" y="2703056"/>
            <a:ext cx="3376457" cy="1514143"/>
          </a:xfrm>
          <a:prstGeom prst="rect">
            <a:avLst/>
          </a:prstGeom>
        </p:spPr>
      </p:pic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892706-E514-9308-1054-E66D5F1305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62778"/>
      </p:ext>
    </p:extLst>
  </p:cSld>
  <p:clrMapOvr>
    <a:masterClrMapping/>
  </p:clrMapOvr>
  <p:transition>
    <p:fade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54093-2407-868E-D935-592C706F2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C92DC79C-790E-8B3B-3A8A-E29B953EF5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848505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67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21874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99547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471758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6852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07051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74441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48432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99205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27460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07030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86560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12076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0670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3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58E24D2-84FD-0797-B2A8-AA4E2A0C3BB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0" y="0"/>
            <a:chExt cx="38404800" cy="12801600"/>
          </a:xfrm>
        </p:grpSpPr>
        <p:sp>
          <p:nvSpPr>
            <p:cNvPr id="15" name="Rectangle 14">
              <a:hlinkClick r:id="" action="ppaction://noaction"/>
              <a:extLst>
                <a:ext uri="{FF2B5EF4-FFF2-40B4-BE49-F238E27FC236}">
                  <a16:creationId xmlns:a16="http://schemas.microsoft.com/office/drawing/2014/main" id="{92779643-5AB6-8F0E-2614-26D2926F70BF}"/>
                </a:ext>
              </a:extLst>
            </p:cNvPr>
            <p:cNvSpPr/>
            <p:nvPr userDrawn="1"/>
          </p:nvSpPr>
          <p:spPr bwMode="auto">
            <a:xfrm>
              <a:off x="0" y="0"/>
              <a:ext cx="38404800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pic>
          <p:nvPicPr>
            <p:cNvPr id="16" name="Picture 15" descr="A white background with light&#10;&#10;Description automatically generated">
              <a:extLst>
                <a:ext uri="{FF2B5EF4-FFF2-40B4-BE49-F238E27FC236}">
                  <a16:creationId xmlns:a16="http://schemas.microsoft.com/office/drawing/2014/main" id="{2BA5F44E-1CD1-6C52-3624-468DC08FCD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09" b="40594"/>
            <a:stretch/>
          </p:blipFill>
          <p:spPr>
            <a:xfrm>
              <a:off x="0" y="0"/>
              <a:ext cx="38404800" cy="12801600"/>
            </a:xfrm>
            <a:prstGeom prst="rect">
              <a:avLst/>
            </a:prstGeom>
          </p:spPr>
        </p:pic>
        <p:sp>
          <p:nvSpPr>
            <p:cNvPr id="17" name="Rectangle 16">
              <a:hlinkClick r:id="" action="ppaction://noaction"/>
              <a:extLst>
                <a:ext uri="{FF2B5EF4-FFF2-40B4-BE49-F238E27FC236}">
                  <a16:creationId xmlns:a16="http://schemas.microsoft.com/office/drawing/2014/main" id="{B7B5FC0A-F698-FF1E-492D-E8CA7F6C2404}"/>
                </a:ext>
              </a:extLst>
            </p:cNvPr>
            <p:cNvSpPr/>
            <p:nvPr userDrawn="1"/>
          </p:nvSpPr>
          <p:spPr bwMode="auto">
            <a:xfrm>
              <a:off x="0" y="0"/>
              <a:ext cx="38404800" cy="12801600"/>
            </a:xfrm>
            <a:prstGeom prst="rect">
              <a:avLst/>
            </a:prstGeom>
            <a:gradFill flip="none" rotWithShape="1">
              <a:gsLst>
                <a:gs pos="0">
                  <a:srgbClr val="F65567">
                    <a:alpha val="33000"/>
                  </a:srgbClr>
                </a:gs>
                <a:gs pos="58000">
                  <a:srgbClr val="238CD9">
                    <a:alpha val="33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2220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6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663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1248">
          <p15:clr>
            <a:srgbClr val="A4A3A4"/>
          </p15:clr>
        </p15:guide>
        <p15:guide id="26" pos="11478">
          <p15:clr>
            <a:srgbClr val="A4A3A4"/>
          </p15:clr>
        </p15:guide>
        <p15:guide id="27" pos="11712">
          <p15:clr>
            <a:srgbClr val="A4A3A4"/>
          </p15:clr>
        </p15:guide>
        <p15:guide id="28" pos="1482">
          <p15:clr>
            <a:srgbClr val="A4A3A4"/>
          </p15:clr>
        </p15:guide>
        <p15:guide id="29" pos="10686">
          <p15:clr>
            <a:srgbClr val="A4A3A4"/>
          </p15:clr>
        </p15:guide>
        <p15:guide id="31" pos="9666">
          <p15:clr>
            <a:srgbClr val="A4A3A4"/>
          </p15:clr>
        </p15:guide>
        <p15:guide id="32" pos="9432">
          <p15:clr>
            <a:srgbClr val="A4A3A4"/>
          </p15:clr>
        </p15:guide>
        <p15:guide id="33" pos="8640">
          <p15:clr>
            <a:srgbClr val="A4A3A4"/>
          </p15:clr>
        </p15:guide>
        <p15:guide id="34" pos="8412">
          <p15:clr>
            <a:srgbClr val="A4A3A4"/>
          </p15:clr>
        </p15:guide>
        <p15:guide id="35" pos="7620">
          <p15:clr>
            <a:srgbClr val="A4A3A4"/>
          </p15:clr>
        </p15:guide>
        <p15:guide id="36" pos="7392">
          <p15:clr>
            <a:srgbClr val="A4A3A4"/>
          </p15:clr>
        </p15:guide>
        <p15:guide id="37" pos="6594">
          <p15:clr>
            <a:srgbClr val="A4A3A4"/>
          </p15:clr>
        </p15:guide>
        <p15:guide id="38" pos="6366">
          <p15:clr>
            <a:srgbClr val="A4A3A4"/>
          </p15:clr>
        </p15:guide>
        <p15:guide id="39" pos="5568">
          <p15:clr>
            <a:srgbClr val="A4A3A4"/>
          </p15:clr>
        </p15:guide>
        <p15:guide id="40" pos="5340">
          <p15:clr>
            <a:srgbClr val="A4A3A4"/>
          </p15:clr>
        </p15:guide>
        <p15:guide id="41" pos="4548">
          <p15:clr>
            <a:srgbClr val="A4A3A4"/>
          </p15:clr>
        </p15:guide>
        <p15:guide id="42" pos="4320">
          <p15:clr>
            <a:srgbClr val="A4A3A4"/>
          </p15:clr>
        </p15:guide>
        <p15:guide id="43" pos="3528">
          <p15:clr>
            <a:srgbClr val="A4A3A4"/>
          </p15:clr>
        </p15:guide>
        <p15:guide id="44" pos="3294">
          <p15:clr>
            <a:srgbClr val="A4A3A4"/>
          </p15:clr>
        </p15:guide>
        <p15:guide id="46" pos="2274">
          <p15:clr>
            <a:srgbClr val="A4A3A4"/>
          </p15:clr>
        </p15:guide>
        <p15:guide id="47" orient="horz" pos="1272">
          <p15:clr>
            <a:srgbClr val="5ACBF0"/>
          </p15:clr>
        </p15:guide>
        <p15:guide id="48" orient="horz" pos="906">
          <p15:clr>
            <a:srgbClr val="5ACBF0"/>
          </p15:clr>
        </p15:guide>
        <p15:guide id="49" pos="10452">
          <p15:clr>
            <a:srgbClr val="A4A3A4"/>
          </p15:clr>
        </p15:guide>
        <p15:guide id="50" pos="2508">
          <p15:clr>
            <a:srgbClr val="A4A3A4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78E58A-F050-2D4C-8CDE-EE12DA3AD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5" name="Picture 4" descr="A close up of a sign&#10;&#10;AI-generated content may be incorrect.">
            <a:extLst>
              <a:ext uri="{FF2B5EF4-FFF2-40B4-BE49-F238E27FC236}">
                <a16:creationId xmlns:a16="http://schemas.microsoft.com/office/drawing/2014/main" id="{8DBF2036-0A95-6172-2982-A3932BB20C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465" y="2703056"/>
            <a:ext cx="3376457" cy="1514143"/>
          </a:xfrm>
          <a:prstGeom prst="rect">
            <a:avLst/>
          </a:prstGeom>
        </p:spPr>
      </p:pic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892706-E514-9308-1054-E66D5F1305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159695"/>
      </p:ext>
    </p:extLst>
  </p:cSld>
  <p:clrMapOvr>
    <a:masterClrMapping/>
  </p:clrMapOvr>
  <p:transition>
    <p:fade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54093-2407-868E-D935-592C706F2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3008" y="0"/>
            <a:ext cx="12188991" cy="6858000"/>
          </a:xfrm>
          <a:prstGeom prst="rect">
            <a:avLst/>
          </a:prstGeom>
        </p:spPr>
      </p:pic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C92DC79C-790E-8B3B-3A8A-E29B953EF5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79396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036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54723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829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292974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83994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71879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841309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36641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38470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15323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396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25763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35390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38518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25911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26955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495700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746301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413399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184814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575210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662554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929850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967558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782344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761880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85201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1287110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27508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896807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769856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0528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763753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9187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63495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166448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7100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546742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colorful hexagons&#10;&#10;AI-generated content may be incorrect.">
            <a:extLst>
              <a:ext uri="{FF2B5EF4-FFF2-40B4-BE49-F238E27FC236}">
                <a16:creationId xmlns:a16="http://schemas.microsoft.com/office/drawing/2014/main" id="{C459F199-2A2D-6CE7-FD4F-C67A96274D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248349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713171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4023B5-FCD6-2A9F-A834-F37F444390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8" b="102"/>
          <a:stretch/>
        </p:blipFill>
        <p:spPr>
          <a:xfrm>
            <a:off x="3008" y="1693"/>
            <a:ext cx="12188991" cy="68546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68504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58438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8251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083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Theme 1 16x9 background live shapes">
            <a:extLst>
              <a:ext uri="{FF2B5EF4-FFF2-40B4-BE49-F238E27FC236}">
                <a16:creationId xmlns:a16="http://schemas.microsoft.com/office/drawing/2014/main" id="{C0E15311-C9BE-C867-A356-3D78F9853C7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2"/>
            <a:chOff x="7823983" y="0"/>
            <a:chExt cx="22756845" cy="12801600"/>
          </a:xfrm>
        </p:grpSpPr>
        <p:sp>
          <p:nvSpPr>
            <p:cNvPr id="3" name="Rectangle 2">
              <a:hlinkClick r:id="" action="ppaction://noaction"/>
              <a:extLst>
                <a:ext uri="{FF2B5EF4-FFF2-40B4-BE49-F238E27FC236}">
                  <a16:creationId xmlns:a16="http://schemas.microsoft.com/office/drawing/2014/main" id="{EFC71651-07AF-DD6D-8D6B-20B26425B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0"/>
              <a:ext cx="22756845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CC43FF-8C74-FA5C-69B4-85A567733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7823983" y="0"/>
              <a:ext cx="22756845" cy="128016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EF4850A3-8A2F-8B93-468C-0100C31EB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12"/>
              <a:ext cx="22756845" cy="12801588"/>
            </a:xfrm>
            <a:prstGeom prst="rect">
              <a:avLst/>
            </a:prstGeom>
            <a:gradFill flip="none" rotWithShape="1">
              <a:gsLst>
                <a:gs pos="0">
                  <a:srgbClr val="FFBAA8">
                    <a:lumMod val="75000"/>
                    <a:lumOff val="25000"/>
                    <a:alpha val="45000"/>
                  </a:srgbClr>
                </a:gs>
                <a:gs pos="44000">
                  <a:srgbClr val="CBCCCA">
                    <a:alpha val="45000"/>
                  </a:srgbClr>
                </a:gs>
              </a:gsLst>
              <a:lin ang="150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479" tIns="58783" rIns="73479" bIns="5878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33599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2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eme 2 16x9 background live shapes">
            <a:extLst>
              <a:ext uri="{FF2B5EF4-FFF2-40B4-BE49-F238E27FC236}">
                <a16:creationId xmlns:a16="http://schemas.microsoft.com/office/drawing/2014/main" id="{2C9F669A-A2E3-13A8-CF6F-878DBA275EA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7823983" y="0"/>
            <a:chExt cx="22756845" cy="12801600"/>
          </a:xfrm>
        </p:grpSpPr>
        <p:sp>
          <p:nvSpPr>
            <p:cNvPr id="7" name="Rectangle 6">
              <a:hlinkClick r:id="" action="ppaction://noaction"/>
              <a:extLst>
                <a:ext uri="{FF2B5EF4-FFF2-40B4-BE49-F238E27FC236}">
                  <a16:creationId xmlns:a16="http://schemas.microsoft.com/office/drawing/2014/main" id="{0B41CE57-799E-5170-BE26-9C2C5EC57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0"/>
              <a:ext cx="22756845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DEC80F5-20C7-6914-1D71-23CBD1BEF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7823983" y="0"/>
              <a:ext cx="22756845" cy="12801600"/>
            </a:xfrm>
            <a:prstGeom prst="rect">
              <a:avLst/>
            </a:prstGeom>
          </p:spPr>
        </p:pic>
        <p:sp>
          <p:nvSpPr>
            <p:cNvPr id="9" name="Rectangle 8">
              <a:hlinkClick r:id="" action="ppaction://noaction"/>
              <a:extLst>
                <a:ext uri="{FF2B5EF4-FFF2-40B4-BE49-F238E27FC236}">
                  <a16:creationId xmlns:a16="http://schemas.microsoft.com/office/drawing/2014/main" id="{6FAD1995-E9C3-6803-E792-A4B29ABB0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12"/>
              <a:ext cx="22756845" cy="12801588"/>
            </a:xfrm>
            <a:prstGeom prst="rect">
              <a:avLst/>
            </a:prstGeom>
            <a:gradFill flip="none" rotWithShape="1">
              <a:gsLst>
                <a:gs pos="0">
                  <a:srgbClr val="FFCE4C">
                    <a:alpha val="35000"/>
                  </a:srgbClr>
                </a:gs>
                <a:gs pos="45000">
                  <a:srgbClr val="41AFA1">
                    <a:alpha val="3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4931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3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descr="Theme 3 16x9 background live shapes">
            <a:extLst>
              <a:ext uri="{FF2B5EF4-FFF2-40B4-BE49-F238E27FC236}">
                <a16:creationId xmlns:a16="http://schemas.microsoft.com/office/drawing/2014/main" id="{701B9F81-D668-8FC3-113F-F8E72862127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7823983" y="0"/>
            <a:chExt cx="22756845" cy="12801600"/>
          </a:xfrm>
        </p:grpSpPr>
        <p:sp>
          <p:nvSpPr>
            <p:cNvPr id="11" name="Rectangle 10">
              <a:hlinkClick r:id="" action="ppaction://noaction"/>
              <a:extLst>
                <a:ext uri="{FF2B5EF4-FFF2-40B4-BE49-F238E27FC236}">
                  <a16:creationId xmlns:a16="http://schemas.microsoft.com/office/drawing/2014/main" id="{69B2D4A8-DEF8-AC9C-C93D-613F4D10C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0"/>
              <a:ext cx="22756845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7E170B6-641B-0C89-09A4-5A8372632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7823983" y="0"/>
              <a:ext cx="22756845" cy="12801600"/>
            </a:xfrm>
            <a:prstGeom prst="rect">
              <a:avLst/>
            </a:prstGeom>
          </p:spPr>
        </p:pic>
        <p:sp>
          <p:nvSpPr>
            <p:cNvPr id="13" name="Rectangle 12">
              <a:hlinkClick r:id="" action="ppaction://noaction"/>
              <a:extLst>
                <a:ext uri="{FF2B5EF4-FFF2-40B4-BE49-F238E27FC236}">
                  <a16:creationId xmlns:a16="http://schemas.microsoft.com/office/drawing/2014/main" id="{43352A4B-C89E-A9B3-F717-BDDC685AB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12"/>
              <a:ext cx="22756845" cy="12801588"/>
            </a:xfrm>
            <a:prstGeom prst="rect">
              <a:avLst/>
            </a:prstGeom>
            <a:gradFill flip="none" rotWithShape="1">
              <a:gsLst>
                <a:gs pos="0">
                  <a:srgbClr val="F65567">
                    <a:alpha val="33000"/>
                  </a:srgbClr>
                </a:gs>
                <a:gs pos="58000">
                  <a:srgbClr val="238CD9">
                    <a:alpha val="33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479" tIns="58783" rIns="73479" bIns="5878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87288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4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 descr="Theme 4 16x9 background live shapes">
            <a:extLst>
              <a:ext uri="{FF2B5EF4-FFF2-40B4-BE49-F238E27FC236}">
                <a16:creationId xmlns:a16="http://schemas.microsoft.com/office/drawing/2014/main" id="{A5D90BAF-4418-AE99-EDEB-EA7D5C9210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7823983" y="0"/>
            <a:chExt cx="22756845" cy="12801612"/>
          </a:xfrm>
        </p:grpSpPr>
        <p:sp>
          <p:nvSpPr>
            <p:cNvPr id="15" name="Rectangle 14">
              <a:hlinkClick r:id="" action="ppaction://noaction"/>
              <a:extLst>
                <a:ext uri="{FF2B5EF4-FFF2-40B4-BE49-F238E27FC236}">
                  <a16:creationId xmlns:a16="http://schemas.microsoft.com/office/drawing/2014/main" id="{6DCBF5A5-3B47-2DE4-FE52-7FC6C9B4C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0"/>
              <a:ext cx="22756845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2C6E3DB-3082-7071-2E58-009660DC1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7823983" y="0"/>
              <a:ext cx="22756845" cy="12801600"/>
            </a:xfrm>
            <a:prstGeom prst="rect">
              <a:avLst/>
            </a:prstGeom>
          </p:spPr>
        </p:pic>
        <p:sp>
          <p:nvSpPr>
            <p:cNvPr id="17" name="Rectangle 16">
              <a:hlinkClick r:id="" action="ppaction://noaction"/>
              <a:extLst>
                <a:ext uri="{FF2B5EF4-FFF2-40B4-BE49-F238E27FC236}">
                  <a16:creationId xmlns:a16="http://schemas.microsoft.com/office/drawing/2014/main" id="{E4A822BB-508E-BB29-85CA-BCAD53D70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12"/>
              <a:ext cx="22756845" cy="12801600"/>
            </a:xfrm>
            <a:prstGeom prst="rect">
              <a:avLst/>
            </a:prstGeom>
            <a:gradFill flip="none" rotWithShape="1">
              <a:gsLst>
                <a:gs pos="58000">
                  <a:srgbClr val="CA6CCD">
                    <a:alpha val="33000"/>
                  </a:srgbClr>
                </a:gs>
                <a:gs pos="0">
                  <a:srgbClr val="FF7F62">
                    <a:alpha val="33000"/>
                    <a:lumMod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3479" tIns="58783" rIns="73479" bIns="5878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42039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5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 descr="Theme 5 16x9 background live shapes">
            <a:extLst>
              <a:ext uri="{FF2B5EF4-FFF2-40B4-BE49-F238E27FC236}">
                <a16:creationId xmlns:a16="http://schemas.microsoft.com/office/drawing/2014/main" id="{F471B4C8-749E-132F-7130-CF7608FCEE1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7823983" y="0"/>
            <a:chExt cx="22756845" cy="12801600"/>
          </a:xfrm>
        </p:grpSpPr>
        <p:sp>
          <p:nvSpPr>
            <p:cNvPr id="19" name="Rectangle 18">
              <a:hlinkClick r:id="" action="ppaction://noaction"/>
              <a:extLst>
                <a:ext uri="{FF2B5EF4-FFF2-40B4-BE49-F238E27FC236}">
                  <a16:creationId xmlns:a16="http://schemas.microsoft.com/office/drawing/2014/main" id="{F6B93EEB-A93D-108F-E45A-83D58E746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0"/>
              <a:ext cx="22756845" cy="1280160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25A433E-5152-221F-A9CC-34181115C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7823983" y="0"/>
              <a:ext cx="22756845" cy="12801600"/>
            </a:xfrm>
            <a:prstGeom prst="rect">
              <a:avLst/>
            </a:prstGeom>
          </p:spPr>
        </p:pic>
        <p:sp>
          <p:nvSpPr>
            <p:cNvPr id="21" name="Rectangle 20">
              <a:hlinkClick r:id="" action="ppaction://noaction"/>
              <a:extLst>
                <a:ext uri="{FF2B5EF4-FFF2-40B4-BE49-F238E27FC236}">
                  <a16:creationId xmlns:a16="http://schemas.microsoft.com/office/drawing/2014/main" id="{F6619842-DA6B-14EB-A137-6942BBC4B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7823983" y="12"/>
              <a:ext cx="22756845" cy="12801588"/>
            </a:xfrm>
            <a:prstGeom prst="rect">
              <a:avLst/>
            </a:prstGeom>
            <a:gradFill flip="none" rotWithShape="1">
              <a:gsLst>
                <a:gs pos="60000">
                  <a:srgbClr val="DCEDE8">
                    <a:alpha val="60000"/>
                  </a:srgbClr>
                </a:gs>
                <a:gs pos="0">
                  <a:srgbClr val="FFF1CC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37466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500" b="0" i="0" u="none" strike="noStrike" cap="none" spc="0" normalizeH="0" baseline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99332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 descr="Theme 6 16x9 background live shapes">
            <a:extLst>
              <a:ext uri="{FF2B5EF4-FFF2-40B4-BE49-F238E27FC236}">
                <a16:creationId xmlns:a16="http://schemas.microsoft.com/office/drawing/2014/main" id="{015E8758-8AD5-33E3-7075-9EBD7214B07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0" y="-1402736"/>
            <a:chExt cx="1918074" cy="1078992"/>
          </a:xfrm>
        </p:grpSpPr>
        <p:sp>
          <p:nvSpPr>
            <p:cNvPr id="23" name="Rectangle 22">
              <a:hlinkClick r:id="" action="ppaction://noaction"/>
              <a:extLst>
                <a:ext uri="{FF2B5EF4-FFF2-40B4-BE49-F238E27FC236}">
                  <a16:creationId xmlns:a16="http://schemas.microsoft.com/office/drawing/2014/main" id="{D750F67A-569C-CBA2-940A-441C138FA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6"/>
              <a:ext cx="1918074" cy="107899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42E5D0F-EA15-A97B-1246-F92FD64DC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0" y="-1402736"/>
              <a:ext cx="1918074" cy="1078992"/>
            </a:xfrm>
            <a:prstGeom prst="rect">
              <a:avLst/>
            </a:prstGeom>
          </p:spPr>
        </p:pic>
        <p:sp>
          <p:nvSpPr>
            <p:cNvPr id="25" name="Rectangle 24">
              <a:hlinkClick r:id="" action="ppaction://noaction"/>
              <a:extLst>
                <a:ext uri="{FF2B5EF4-FFF2-40B4-BE49-F238E27FC236}">
                  <a16:creationId xmlns:a16="http://schemas.microsoft.com/office/drawing/2014/main" id="{86D236A9-3859-42A3-96A9-00BF164F3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5"/>
              <a:ext cx="1918074" cy="1078991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37466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500" b="0" i="0" u="none" strike="noStrike" cap="none" spc="0" normalizeH="0" baseline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1682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7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 descr="Theme 7 16x9 background live shapes">
            <a:extLst>
              <a:ext uri="{FF2B5EF4-FFF2-40B4-BE49-F238E27FC236}">
                <a16:creationId xmlns:a16="http://schemas.microsoft.com/office/drawing/2014/main" id="{1D5E2B0A-A131-90A3-4F11-AEABD73BD5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0" y="-1402736"/>
            <a:chExt cx="1918074" cy="1078992"/>
          </a:xfrm>
        </p:grpSpPr>
        <p:sp>
          <p:nvSpPr>
            <p:cNvPr id="27" name="Rectangle 26">
              <a:hlinkClick r:id="" action="ppaction://noaction"/>
              <a:extLst>
                <a:ext uri="{FF2B5EF4-FFF2-40B4-BE49-F238E27FC236}">
                  <a16:creationId xmlns:a16="http://schemas.microsoft.com/office/drawing/2014/main" id="{A4930299-6198-1641-57F1-13DF5C95B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6"/>
              <a:ext cx="1918074" cy="107899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505751D-42F3-B0A8-8024-1FC682FB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0" y="-1402736"/>
              <a:ext cx="1918074" cy="1078992"/>
            </a:xfrm>
            <a:prstGeom prst="rect">
              <a:avLst/>
            </a:prstGeom>
          </p:spPr>
        </p:pic>
        <p:sp>
          <p:nvSpPr>
            <p:cNvPr id="29" name="Rectangle 28">
              <a:hlinkClick r:id="" action="ppaction://noaction"/>
              <a:extLst>
                <a:ext uri="{FF2B5EF4-FFF2-40B4-BE49-F238E27FC236}">
                  <a16:creationId xmlns:a16="http://schemas.microsoft.com/office/drawing/2014/main" id="{68724290-E668-3407-D417-8E84F4D1B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5"/>
              <a:ext cx="1918074" cy="1078991"/>
            </a:xfrm>
            <a:prstGeom prst="rect">
              <a:avLst/>
            </a:prstGeom>
            <a:gradFill flip="none" rotWithShape="1">
              <a:gsLst>
                <a:gs pos="0">
                  <a:srgbClr val="FFF8E5">
                    <a:alpha val="60000"/>
                  </a:srgbClr>
                </a:gs>
                <a:gs pos="6000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37466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500" b="0" i="0" u="none" strike="noStrike" cap="none" spc="0" normalizeH="0" baseline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61771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1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Theme 1 dark 16x9 background live shapes">
            <a:extLst>
              <a:ext uri="{FF2B5EF4-FFF2-40B4-BE49-F238E27FC236}">
                <a16:creationId xmlns:a16="http://schemas.microsoft.com/office/drawing/2014/main" id="{D6DDA62B-58BD-05FE-12D1-C1AC0D002AB1}"/>
              </a:ext>
            </a:extLst>
          </p:cNvPr>
          <p:cNvGrpSpPr/>
          <p:nvPr userDrawn="1"/>
        </p:nvGrpSpPr>
        <p:grpSpPr>
          <a:xfrm>
            <a:off x="0" y="-1008856"/>
            <a:ext cx="1536237" cy="865414"/>
            <a:chOff x="411480" y="4576565"/>
            <a:chExt cx="2743200" cy="1545336"/>
          </a:xfrm>
        </p:grpSpPr>
        <p:sp>
          <p:nvSpPr>
            <p:cNvPr id="3" name="Rectangle 2">
              <a:hlinkClick r:id="" action="ppaction://noaction"/>
              <a:extLst>
                <a:ext uri="{FF2B5EF4-FFF2-40B4-BE49-F238E27FC236}">
                  <a16:creationId xmlns:a16="http://schemas.microsoft.com/office/drawing/2014/main" id="{D0557860-6A8F-8E52-A580-098D8C0E2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411480" y="4576565"/>
              <a:ext cx="2743200" cy="1545336"/>
            </a:xfrm>
            <a:prstGeom prst="rect">
              <a:avLst/>
            </a:prstGeom>
            <a:gradFill>
              <a:gsLst>
                <a:gs pos="0">
                  <a:srgbClr val="391C0E"/>
                </a:gs>
                <a:gs pos="44000">
                  <a:srgbClr val="000000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FFFFFF"/>
                </a:solidFill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47E1C8F-4FB3-EACE-501C-D6337A818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3" t="4260" r="20414" b="45739"/>
            <a:stretch/>
          </p:blipFill>
          <p:spPr>
            <a:xfrm>
              <a:off x="411480" y="4576565"/>
              <a:ext cx="2743200" cy="1545336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22E67220-0F09-59F1-152B-DC326AC26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480" y="4576565"/>
              <a:ext cx="2743200" cy="1545336"/>
            </a:xfrm>
            <a:prstGeom prst="rect">
              <a:avLst/>
            </a:prstGeom>
            <a:gradFill flip="none" rotWithShape="1">
              <a:gsLst>
                <a:gs pos="0">
                  <a:srgbClr val="391C0E">
                    <a:alpha val="65000"/>
                  </a:srgbClr>
                </a:gs>
                <a:gs pos="44000">
                  <a:srgbClr val="000000">
                    <a:alpha val="6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>
                <a:solidFill>
                  <a:srgbClr val="091F2C"/>
                </a:solidFill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113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2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eme 2 dark 16x9 background live shapes">
            <a:extLst>
              <a:ext uri="{FF2B5EF4-FFF2-40B4-BE49-F238E27FC236}">
                <a16:creationId xmlns:a16="http://schemas.microsoft.com/office/drawing/2014/main" id="{E6FC3824-0482-F354-39BA-F28FAA2CFE62}"/>
              </a:ext>
            </a:extLst>
          </p:cNvPr>
          <p:cNvGrpSpPr/>
          <p:nvPr userDrawn="1"/>
        </p:nvGrpSpPr>
        <p:grpSpPr>
          <a:xfrm>
            <a:off x="0" y="-1008856"/>
            <a:ext cx="1536237" cy="865414"/>
            <a:chOff x="3246120" y="4576565"/>
            <a:chExt cx="2743200" cy="1545336"/>
          </a:xfrm>
        </p:grpSpPr>
        <p:sp>
          <p:nvSpPr>
            <p:cNvPr id="7" name="Rectangle 6">
              <a:hlinkClick r:id="" action="ppaction://noaction"/>
              <a:extLst>
                <a:ext uri="{FF2B5EF4-FFF2-40B4-BE49-F238E27FC236}">
                  <a16:creationId xmlns:a16="http://schemas.microsoft.com/office/drawing/2014/main" id="{B6B5AAEB-982A-222D-1493-9AAD902AE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46120" y="4576565"/>
              <a:ext cx="2743200" cy="1545336"/>
            </a:xfrm>
            <a:prstGeom prst="rect">
              <a:avLst/>
            </a:prstGeom>
            <a:gradFill>
              <a:gsLst>
                <a:gs pos="50000">
                  <a:srgbClr val="112D31"/>
                </a:gs>
                <a:gs pos="0">
                  <a:srgbClr val="152237"/>
                </a:gs>
              </a:gsLst>
              <a:lin ang="135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FFFFFF"/>
                </a:solidFill>
                <a:cs typeface="Segoe UI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44D29B3-CB57-0B92-6545-BBA4A16F8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3" t="4260" r="20414" b="45739"/>
            <a:stretch/>
          </p:blipFill>
          <p:spPr>
            <a:xfrm>
              <a:off x="3246120" y="4576565"/>
              <a:ext cx="2743200" cy="1545336"/>
            </a:xfrm>
            <a:prstGeom prst="rect">
              <a:avLst/>
            </a:prstGeom>
          </p:spPr>
        </p:pic>
        <p:sp>
          <p:nvSpPr>
            <p:cNvPr id="9" name="Rectangle 8">
              <a:hlinkClick r:id="" action="ppaction://noaction"/>
              <a:extLst>
                <a:ext uri="{FF2B5EF4-FFF2-40B4-BE49-F238E27FC236}">
                  <a16:creationId xmlns:a16="http://schemas.microsoft.com/office/drawing/2014/main" id="{AACE6C2F-447A-F29B-C7D4-58B5A6B07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46120" y="4576565"/>
              <a:ext cx="2743200" cy="1545336"/>
            </a:xfrm>
            <a:prstGeom prst="rect">
              <a:avLst/>
            </a:prstGeom>
            <a:gradFill>
              <a:gsLst>
                <a:gs pos="50000">
                  <a:srgbClr val="112D31">
                    <a:alpha val="75000"/>
                  </a:srgbClr>
                </a:gs>
                <a:gs pos="0">
                  <a:srgbClr val="152237">
                    <a:alpha val="75000"/>
                  </a:srgbClr>
                </a:gs>
              </a:gsLst>
              <a:lin ang="135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>
                <a:solidFill>
                  <a:srgbClr val="091F2C"/>
                </a:solidFill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7062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3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descr="Theme 3 dark 16x9 background live shapes">
            <a:extLst>
              <a:ext uri="{FF2B5EF4-FFF2-40B4-BE49-F238E27FC236}">
                <a16:creationId xmlns:a16="http://schemas.microsoft.com/office/drawing/2014/main" id="{17DE4D58-1C9F-4418-F0C2-8D6420E9DA4E}"/>
              </a:ext>
            </a:extLst>
          </p:cNvPr>
          <p:cNvGrpSpPr/>
          <p:nvPr userDrawn="1"/>
        </p:nvGrpSpPr>
        <p:grpSpPr>
          <a:xfrm>
            <a:off x="0" y="-1008856"/>
            <a:ext cx="1536237" cy="865414"/>
            <a:chOff x="6080760" y="4576565"/>
            <a:chExt cx="2743200" cy="1545336"/>
          </a:xfrm>
        </p:grpSpPr>
        <p:sp>
          <p:nvSpPr>
            <p:cNvPr id="11" name="Rectangle 10">
              <a:hlinkClick r:id="" action="ppaction://noaction"/>
              <a:extLst>
                <a:ext uri="{FF2B5EF4-FFF2-40B4-BE49-F238E27FC236}">
                  <a16:creationId xmlns:a16="http://schemas.microsoft.com/office/drawing/2014/main" id="{577586E1-5D84-AE6F-C22E-B0F1CE28D1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0760" y="4576565"/>
              <a:ext cx="2743200" cy="1545336"/>
            </a:xfrm>
            <a:prstGeom prst="rect">
              <a:avLst/>
            </a:prstGeom>
            <a:gradFill>
              <a:gsLst>
                <a:gs pos="0">
                  <a:srgbClr val="381239"/>
                </a:gs>
                <a:gs pos="50000">
                  <a:srgbClr val="152237"/>
                </a:gs>
              </a:gsLst>
              <a:lin ang="135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FFFFFF"/>
                </a:solidFill>
                <a:cs typeface="Segoe UI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AEF63A3-FE56-5736-4DA6-9247DC87B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3" t="4260" r="20414" b="45739"/>
            <a:stretch/>
          </p:blipFill>
          <p:spPr>
            <a:xfrm>
              <a:off x="6080760" y="4576565"/>
              <a:ext cx="2743200" cy="1545336"/>
            </a:xfrm>
            <a:prstGeom prst="rect">
              <a:avLst/>
            </a:prstGeom>
          </p:spPr>
        </p:pic>
        <p:sp>
          <p:nvSpPr>
            <p:cNvPr id="13" name="Rectangle 12">
              <a:hlinkClick r:id="" action="ppaction://noaction"/>
              <a:extLst>
                <a:ext uri="{FF2B5EF4-FFF2-40B4-BE49-F238E27FC236}">
                  <a16:creationId xmlns:a16="http://schemas.microsoft.com/office/drawing/2014/main" id="{F018CB8D-10F0-B1D7-4E76-6C1BD76B3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0760" y="4576565"/>
              <a:ext cx="2743200" cy="1545336"/>
            </a:xfrm>
            <a:prstGeom prst="rect">
              <a:avLst/>
            </a:prstGeom>
            <a:gradFill>
              <a:gsLst>
                <a:gs pos="0">
                  <a:srgbClr val="381239">
                    <a:alpha val="75000"/>
                  </a:srgbClr>
                </a:gs>
                <a:gs pos="50000">
                  <a:srgbClr val="152237">
                    <a:alpha val="75000"/>
                  </a:srgbClr>
                </a:gs>
              </a:gsLst>
              <a:lin ang="135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>
                <a:solidFill>
                  <a:srgbClr val="091F2C"/>
                </a:solidFill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811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4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 descr="Theme 4 dark 16x9 background live shapes">
            <a:extLst>
              <a:ext uri="{FF2B5EF4-FFF2-40B4-BE49-F238E27FC236}">
                <a16:creationId xmlns:a16="http://schemas.microsoft.com/office/drawing/2014/main" id="{534EA82C-75C4-B456-BD21-8C86BF5EE3EA}"/>
              </a:ext>
            </a:extLst>
          </p:cNvPr>
          <p:cNvGrpSpPr/>
          <p:nvPr userDrawn="1"/>
        </p:nvGrpSpPr>
        <p:grpSpPr>
          <a:xfrm>
            <a:off x="0" y="-1008856"/>
            <a:ext cx="1536237" cy="865414"/>
            <a:chOff x="8915400" y="4576565"/>
            <a:chExt cx="2743200" cy="1545336"/>
          </a:xfrm>
        </p:grpSpPr>
        <p:sp>
          <p:nvSpPr>
            <p:cNvPr id="15" name="Rectangle 14">
              <a:hlinkClick r:id="" action="ppaction://noaction"/>
              <a:extLst>
                <a:ext uri="{FF2B5EF4-FFF2-40B4-BE49-F238E27FC236}">
                  <a16:creationId xmlns:a16="http://schemas.microsoft.com/office/drawing/2014/main" id="{231D00E5-270B-B7C1-FF89-254D54FB0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15400" y="4576565"/>
              <a:ext cx="2743200" cy="1545336"/>
            </a:xfrm>
            <a:prstGeom prst="rect">
              <a:avLst/>
            </a:prstGeom>
            <a:gradFill>
              <a:gsLst>
                <a:gs pos="50000">
                  <a:srgbClr val="381239"/>
                </a:gs>
                <a:gs pos="0">
                  <a:srgbClr val="391317"/>
                </a:gs>
              </a:gsLst>
              <a:lin ang="135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FFFFFF"/>
                </a:solidFill>
                <a:cs typeface="Segoe UI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879650E-33E6-A499-D887-2835B4287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3" t="4260" r="20414" b="45739"/>
            <a:stretch/>
          </p:blipFill>
          <p:spPr>
            <a:xfrm>
              <a:off x="8915400" y="4576565"/>
              <a:ext cx="2743200" cy="1545336"/>
            </a:xfrm>
            <a:prstGeom prst="rect">
              <a:avLst/>
            </a:prstGeom>
          </p:spPr>
        </p:pic>
        <p:sp>
          <p:nvSpPr>
            <p:cNvPr id="17" name="Rectangle 16">
              <a:hlinkClick r:id="" action="ppaction://noaction"/>
              <a:extLst>
                <a:ext uri="{FF2B5EF4-FFF2-40B4-BE49-F238E27FC236}">
                  <a16:creationId xmlns:a16="http://schemas.microsoft.com/office/drawing/2014/main" id="{19002412-C0F3-6202-431A-F249772146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15400" y="4576565"/>
              <a:ext cx="2743200" cy="1545336"/>
            </a:xfrm>
            <a:prstGeom prst="rect">
              <a:avLst/>
            </a:prstGeom>
            <a:gradFill>
              <a:gsLst>
                <a:gs pos="50000">
                  <a:srgbClr val="381239">
                    <a:alpha val="75000"/>
                  </a:srgbClr>
                </a:gs>
                <a:gs pos="0">
                  <a:srgbClr val="391317">
                    <a:alpha val="74902"/>
                  </a:srgbClr>
                </a:gs>
              </a:gsLst>
              <a:lin ang="13500000" scaled="1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>
                <a:solidFill>
                  <a:srgbClr val="091F2C"/>
                </a:solidFill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6230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5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 descr="Theme 5 dark 16x9 background live shapes">
            <a:extLst>
              <a:ext uri="{FF2B5EF4-FFF2-40B4-BE49-F238E27FC236}">
                <a16:creationId xmlns:a16="http://schemas.microsoft.com/office/drawing/2014/main" id="{63511831-2637-2FFE-2068-D93FDC6EC595}"/>
              </a:ext>
            </a:extLst>
          </p:cNvPr>
          <p:cNvGrpSpPr/>
          <p:nvPr userDrawn="1"/>
        </p:nvGrpSpPr>
        <p:grpSpPr>
          <a:xfrm>
            <a:off x="0" y="-1008856"/>
            <a:ext cx="1536237" cy="865414"/>
            <a:chOff x="11750040" y="4576565"/>
            <a:chExt cx="2743200" cy="1545336"/>
          </a:xfrm>
        </p:grpSpPr>
        <p:sp>
          <p:nvSpPr>
            <p:cNvPr id="19" name="Rectangle 18">
              <a:hlinkClick r:id="" action="ppaction://noaction"/>
              <a:extLst>
                <a:ext uri="{FF2B5EF4-FFF2-40B4-BE49-F238E27FC236}">
                  <a16:creationId xmlns:a16="http://schemas.microsoft.com/office/drawing/2014/main" id="{556471A8-1A82-0134-D11B-CFF29F6CE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750040" y="4576565"/>
              <a:ext cx="2743200" cy="1545336"/>
            </a:xfrm>
            <a:prstGeom prst="rect">
              <a:avLst/>
            </a:prstGeom>
            <a:gradFill>
              <a:gsLst>
                <a:gs pos="60000">
                  <a:srgbClr val="112D31"/>
                </a:gs>
                <a:gs pos="0">
                  <a:srgbClr val="3F2D0D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FFFFFF"/>
                </a:solidFill>
                <a:cs typeface="Segoe UI" pitchFamily="34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16BA33-B837-9E45-BEB2-1EAA90A0C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3" t="4260" r="20414" b="45739"/>
            <a:stretch/>
          </p:blipFill>
          <p:spPr>
            <a:xfrm>
              <a:off x="11750040" y="4576565"/>
              <a:ext cx="2743200" cy="1545336"/>
            </a:xfrm>
            <a:prstGeom prst="rect">
              <a:avLst/>
            </a:prstGeom>
          </p:spPr>
        </p:pic>
        <p:sp>
          <p:nvSpPr>
            <p:cNvPr id="21" name="Rectangle 20">
              <a:hlinkClick r:id="" action="ppaction://noaction"/>
              <a:extLst>
                <a:ext uri="{FF2B5EF4-FFF2-40B4-BE49-F238E27FC236}">
                  <a16:creationId xmlns:a16="http://schemas.microsoft.com/office/drawing/2014/main" id="{25C503EC-1321-007C-F7A6-504699B7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750040" y="4576565"/>
              <a:ext cx="2743200" cy="1545336"/>
            </a:xfrm>
            <a:prstGeom prst="rect">
              <a:avLst/>
            </a:prstGeom>
            <a:gradFill flip="none" rotWithShape="1">
              <a:gsLst>
                <a:gs pos="60000">
                  <a:srgbClr val="112D31">
                    <a:alpha val="75000"/>
                  </a:srgbClr>
                </a:gs>
                <a:gs pos="0">
                  <a:srgbClr val="3F2D0D">
                    <a:alpha val="7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>
                <a:solidFill>
                  <a:srgbClr val="091F2C"/>
                </a:solidFill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6224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6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 descr="Theme 6 dark 16x9 background live shapes">
            <a:extLst>
              <a:ext uri="{FF2B5EF4-FFF2-40B4-BE49-F238E27FC236}">
                <a16:creationId xmlns:a16="http://schemas.microsoft.com/office/drawing/2014/main" id="{5BC17DD9-E7D8-9FE0-2E0C-B69480790AF0}"/>
              </a:ext>
            </a:extLst>
          </p:cNvPr>
          <p:cNvGrpSpPr/>
          <p:nvPr userDrawn="1"/>
        </p:nvGrpSpPr>
        <p:grpSpPr>
          <a:xfrm>
            <a:off x="0" y="-1008856"/>
            <a:ext cx="1536237" cy="865414"/>
            <a:chOff x="14584680" y="4576565"/>
            <a:chExt cx="2743200" cy="1545336"/>
          </a:xfrm>
        </p:grpSpPr>
        <p:sp>
          <p:nvSpPr>
            <p:cNvPr id="23" name="Rectangle 22">
              <a:hlinkClick r:id="" action="ppaction://noaction"/>
              <a:extLst>
                <a:ext uri="{FF2B5EF4-FFF2-40B4-BE49-F238E27FC236}">
                  <a16:creationId xmlns:a16="http://schemas.microsoft.com/office/drawing/2014/main" id="{A73C26E8-907A-8482-98E4-6C2C3E813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4680" y="4576565"/>
              <a:ext cx="2743200" cy="1545336"/>
            </a:xfrm>
            <a:prstGeom prst="rect">
              <a:avLst/>
            </a:prstGeom>
            <a:gradFill>
              <a:gsLst>
                <a:gs pos="60000">
                  <a:srgbClr val="152237"/>
                </a:gs>
                <a:gs pos="0">
                  <a:srgbClr val="391317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FFFFFF"/>
                </a:solidFill>
                <a:cs typeface="Segoe UI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5D3C924-FABE-BFAC-ED39-F1D3ECC41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3" t="4260" r="20414" b="45739"/>
            <a:stretch/>
          </p:blipFill>
          <p:spPr>
            <a:xfrm>
              <a:off x="14584680" y="4576565"/>
              <a:ext cx="2743200" cy="1545336"/>
            </a:xfrm>
            <a:prstGeom prst="rect">
              <a:avLst/>
            </a:prstGeom>
          </p:spPr>
        </p:pic>
        <p:sp>
          <p:nvSpPr>
            <p:cNvPr id="25" name="Rectangle 24">
              <a:hlinkClick r:id="" action="ppaction://noaction"/>
              <a:extLst>
                <a:ext uri="{FF2B5EF4-FFF2-40B4-BE49-F238E27FC236}">
                  <a16:creationId xmlns:a16="http://schemas.microsoft.com/office/drawing/2014/main" id="{C66BEE61-A440-1E3E-D1CB-10F6682B2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4680" y="4576565"/>
              <a:ext cx="2743200" cy="1545336"/>
            </a:xfrm>
            <a:prstGeom prst="rect">
              <a:avLst/>
            </a:prstGeom>
            <a:gradFill flip="none" rotWithShape="1">
              <a:gsLst>
                <a:gs pos="60000">
                  <a:srgbClr val="152237">
                    <a:alpha val="75000"/>
                  </a:srgbClr>
                </a:gs>
                <a:gs pos="0">
                  <a:srgbClr val="391317">
                    <a:alpha val="7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>
                <a:solidFill>
                  <a:srgbClr val="091F2C"/>
                </a:solidFill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0327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me 7 - Dar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 descr="Theme 7 dark 16x9 background live shapes">
            <a:extLst>
              <a:ext uri="{FF2B5EF4-FFF2-40B4-BE49-F238E27FC236}">
                <a16:creationId xmlns:a16="http://schemas.microsoft.com/office/drawing/2014/main" id="{0FE7BC74-1531-B3F6-C81C-592426F03E10}"/>
              </a:ext>
            </a:extLst>
          </p:cNvPr>
          <p:cNvGrpSpPr/>
          <p:nvPr userDrawn="1"/>
        </p:nvGrpSpPr>
        <p:grpSpPr>
          <a:xfrm>
            <a:off x="0" y="-1008856"/>
            <a:ext cx="1536237" cy="865414"/>
            <a:chOff x="17419320" y="4576565"/>
            <a:chExt cx="2743200" cy="1545336"/>
          </a:xfrm>
        </p:grpSpPr>
        <p:sp>
          <p:nvSpPr>
            <p:cNvPr id="27" name="Rectangle 26">
              <a:hlinkClick r:id="" action="ppaction://noaction"/>
              <a:extLst>
                <a:ext uri="{FF2B5EF4-FFF2-40B4-BE49-F238E27FC236}">
                  <a16:creationId xmlns:a16="http://schemas.microsoft.com/office/drawing/2014/main" id="{754F9A5F-EE53-79DF-4625-43321E06B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19320" y="4576565"/>
              <a:ext cx="2743200" cy="1545336"/>
            </a:xfrm>
            <a:prstGeom prst="rect">
              <a:avLst/>
            </a:prstGeom>
            <a:gradFill>
              <a:gsLst>
                <a:gs pos="60000">
                  <a:srgbClr val="391317"/>
                </a:gs>
                <a:gs pos="0">
                  <a:srgbClr val="3F2D0D"/>
                </a:gs>
              </a:gsLst>
              <a:lin ang="135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FFFFFF"/>
                </a:solidFill>
                <a:cs typeface="Segoe UI" pitchFamily="34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7996735-F58D-E02B-8A95-6FD606B70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3" t="4260" r="20414" b="45739"/>
            <a:stretch/>
          </p:blipFill>
          <p:spPr>
            <a:xfrm>
              <a:off x="17419320" y="4576565"/>
              <a:ext cx="2743200" cy="1545336"/>
            </a:xfrm>
            <a:prstGeom prst="rect">
              <a:avLst/>
            </a:prstGeom>
          </p:spPr>
        </p:pic>
        <p:sp>
          <p:nvSpPr>
            <p:cNvPr id="29" name="Rectangle 28">
              <a:hlinkClick r:id="" action="ppaction://noaction"/>
              <a:extLst>
                <a:ext uri="{FF2B5EF4-FFF2-40B4-BE49-F238E27FC236}">
                  <a16:creationId xmlns:a16="http://schemas.microsoft.com/office/drawing/2014/main" id="{7BBFA962-E065-1748-364E-137D67491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19320" y="4576565"/>
              <a:ext cx="2743200" cy="1545336"/>
            </a:xfrm>
            <a:prstGeom prst="rect">
              <a:avLst/>
            </a:prstGeom>
            <a:gradFill flip="none" rotWithShape="1">
              <a:gsLst>
                <a:gs pos="60000">
                  <a:srgbClr val="391317">
                    <a:alpha val="75000"/>
                  </a:srgbClr>
                </a:gs>
                <a:gs pos="0">
                  <a:srgbClr val="3F2D0D">
                    <a:alpha val="75000"/>
                  </a:srgbClr>
                </a:gs>
              </a:gsLst>
              <a:lin ang="13500000" scaled="0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374667" fontAlgn="base">
                <a:spcBef>
                  <a:spcPct val="0"/>
                </a:spcBef>
                <a:spcAft>
                  <a:spcPct val="0"/>
                </a:spcAft>
              </a:pPr>
              <a:endParaRPr lang="en-US" sz="500">
                <a:solidFill>
                  <a:srgbClr val="091F2C"/>
                </a:solidFill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6851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93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833364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300208"/>
      </p:ext>
    </p:extLst>
  </p:cSld>
  <p:clrMapOvr>
    <a:masterClrMapping/>
  </p:clrMapOvr>
  <p:transition>
    <p:fade/>
  </p:transition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Dark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76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9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94.xml"/><Relationship Id="rId47" Type="http://schemas.openxmlformats.org/officeDocument/2006/relationships/slideLayout" Target="../slideLayouts/slideLayout99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2.xml"/><Relationship Id="rId45" Type="http://schemas.openxmlformats.org/officeDocument/2006/relationships/slideLayout" Target="../slideLayouts/slideLayout97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49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4" Type="http://schemas.openxmlformats.org/officeDocument/2006/relationships/slideLayout" Target="../slideLayouts/slideLayout96.xml"/><Relationship Id="rId52" Type="http://schemas.openxmlformats.org/officeDocument/2006/relationships/image" Target="../media/image2.svg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95.xml"/><Relationship Id="rId48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60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72.xml"/><Relationship Id="rId41" Type="http://schemas.openxmlformats.org/officeDocument/2006/relationships/slideLayout" Target="../slideLayouts/slideLayout93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4.xml"/><Relationship Id="rId18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127.xml"/><Relationship Id="rId39" Type="http://schemas.openxmlformats.org/officeDocument/2006/relationships/slideLayout" Target="../slideLayouts/slideLayout140.xml"/><Relationship Id="rId21" Type="http://schemas.openxmlformats.org/officeDocument/2006/relationships/slideLayout" Target="../slideLayouts/slideLayout122.xml"/><Relationship Id="rId34" Type="http://schemas.openxmlformats.org/officeDocument/2006/relationships/slideLayout" Target="../slideLayouts/slideLayout135.xml"/><Relationship Id="rId42" Type="http://schemas.openxmlformats.org/officeDocument/2006/relationships/slideLayout" Target="../slideLayouts/slideLayout143.xml"/><Relationship Id="rId47" Type="http://schemas.openxmlformats.org/officeDocument/2006/relationships/slideLayout" Target="../slideLayouts/slideLayout148.xml"/><Relationship Id="rId50" Type="http://schemas.openxmlformats.org/officeDocument/2006/relationships/slideLayout" Target="../slideLayouts/slideLayout151.xml"/><Relationship Id="rId55" Type="http://schemas.openxmlformats.org/officeDocument/2006/relationships/image" Target="../media/image1.png"/><Relationship Id="rId7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17.xml"/><Relationship Id="rId29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12.xml"/><Relationship Id="rId24" Type="http://schemas.openxmlformats.org/officeDocument/2006/relationships/slideLayout" Target="../slideLayouts/slideLayout125.xml"/><Relationship Id="rId32" Type="http://schemas.openxmlformats.org/officeDocument/2006/relationships/slideLayout" Target="../slideLayouts/slideLayout133.xml"/><Relationship Id="rId37" Type="http://schemas.openxmlformats.org/officeDocument/2006/relationships/slideLayout" Target="../slideLayouts/slideLayout138.xml"/><Relationship Id="rId40" Type="http://schemas.openxmlformats.org/officeDocument/2006/relationships/slideLayout" Target="../slideLayouts/slideLayout141.xml"/><Relationship Id="rId45" Type="http://schemas.openxmlformats.org/officeDocument/2006/relationships/slideLayout" Target="../slideLayouts/slideLayout146.xml"/><Relationship Id="rId53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19" Type="http://schemas.openxmlformats.org/officeDocument/2006/relationships/slideLayout" Target="../slideLayouts/slideLayout120.xml"/><Relationship Id="rId31" Type="http://schemas.openxmlformats.org/officeDocument/2006/relationships/slideLayout" Target="../slideLayouts/slideLayout132.xml"/><Relationship Id="rId44" Type="http://schemas.openxmlformats.org/officeDocument/2006/relationships/slideLayout" Target="../slideLayouts/slideLayout145.xml"/><Relationship Id="rId52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15.xml"/><Relationship Id="rId22" Type="http://schemas.openxmlformats.org/officeDocument/2006/relationships/slideLayout" Target="../slideLayouts/slideLayout123.xml"/><Relationship Id="rId27" Type="http://schemas.openxmlformats.org/officeDocument/2006/relationships/slideLayout" Target="../slideLayouts/slideLayout128.xml"/><Relationship Id="rId30" Type="http://schemas.openxmlformats.org/officeDocument/2006/relationships/slideLayout" Target="../slideLayouts/slideLayout131.xml"/><Relationship Id="rId35" Type="http://schemas.openxmlformats.org/officeDocument/2006/relationships/slideLayout" Target="../slideLayouts/slideLayout136.xml"/><Relationship Id="rId43" Type="http://schemas.openxmlformats.org/officeDocument/2006/relationships/slideLayout" Target="../slideLayouts/slideLayout144.xml"/><Relationship Id="rId48" Type="http://schemas.openxmlformats.org/officeDocument/2006/relationships/slideLayout" Target="../slideLayouts/slideLayout149.xml"/><Relationship Id="rId56" Type="http://schemas.openxmlformats.org/officeDocument/2006/relationships/image" Target="../media/image2.svg"/><Relationship Id="rId8" Type="http://schemas.openxmlformats.org/officeDocument/2006/relationships/slideLayout" Target="../slideLayouts/slideLayout109.xml"/><Relationship Id="rId51" Type="http://schemas.openxmlformats.org/officeDocument/2006/relationships/slideLayout" Target="../slideLayouts/slideLayout152.xml"/><Relationship Id="rId3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13.xml"/><Relationship Id="rId17" Type="http://schemas.openxmlformats.org/officeDocument/2006/relationships/slideLayout" Target="../slideLayouts/slideLayout118.xml"/><Relationship Id="rId25" Type="http://schemas.openxmlformats.org/officeDocument/2006/relationships/slideLayout" Target="../slideLayouts/slideLayout126.xml"/><Relationship Id="rId33" Type="http://schemas.openxmlformats.org/officeDocument/2006/relationships/slideLayout" Target="../slideLayouts/slideLayout134.xml"/><Relationship Id="rId38" Type="http://schemas.openxmlformats.org/officeDocument/2006/relationships/slideLayout" Target="../slideLayouts/slideLayout139.xml"/><Relationship Id="rId46" Type="http://schemas.openxmlformats.org/officeDocument/2006/relationships/slideLayout" Target="../slideLayouts/slideLayout147.xml"/><Relationship Id="rId20" Type="http://schemas.openxmlformats.org/officeDocument/2006/relationships/slideLayout" Target="../slideLayouts/slideLayout121.xml"/><Relationship Id="rId41" Type="http://schemas.openxmlformats.org/officeDocument/2006/relationships/slideLayout" Target="../slideLayouts/slideLayout142.xml"/><Relationship Id="rId54" Type="http://schemas.openxmlformats.org/officeDocument/2006/relationships/theme" Target="../theme/theme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16.xml"/><Relationship Id="rId23" Type="http://schemas.openxmlformats.org/officeDocument/2006/relationships/slideLayout" Target="../slideLayouts/slideLayout124.xml"/><Relationship Id="rId28" Type="http://schemas.openxmlformats.org/officeDocument/2006/relationships/slideLayout" Target="../slideLayouts/slideLayout129.xml"/><Relationship Id="rId36" Type="http://schemas.openxmlformats.org/officeDocument/2006/relationships/slideLayout" Target="../slideLayouts/slideLayout137.xml"/><Relationship Id="rId49" Type="http://schemas.openxmlformats.org/officeDocument/2006/relationships/slideLayout" Target="../slideLayouts/slideLayout15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slideLayout" Target="../slideLayouts/slideLayout167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157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161.xml"/><Relationship Id="rId12" Type="http://schemas.openxmlformats.org/officeDocument/2006/relationships/slideLayout" Target="../slideLayouts/slideLayout166.xml"/><Relationship Id="rId17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56.xml"/><Relationship Id="rId16" Type="http://schemas.openxmlformats.org/officeDocument/2006/relationships/slideLayout" Target="../slideLayouts/slideLayout170.xml"/><Relationship Id="rId20" Type="http://schemas.openxmlformats.org/officeDocument/2006/relationships/image" Target="../media/image46.svg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5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64.xml"/><Relationship Id="rId19" Type="http://schemas.openxmlformats.org/officeDocument/2006/relationships/image" Target="../media/image45.png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slideLayout" Target="../slideLayouts/slideLayout168.xml"/><Relationship Id="rId22" Type="http://schemas.openxmlformats.org/officeDocument/2006/relationships/image" Target="../media/image2.svg"/></Relationships>
</file>

<file path=ppt/slideMasters/_rels/slideMaster5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97.xml"/><Relationship Id="rId21" Type="http://schemas.openxmlformats.org/officeDocument/2006/relationships/slideLayout" Target="../slideLayouts/slideLayout192.xml"/><Relationship Id="rId34" Type="http://schemas.openxmlformats.org/officeDocument/2006/relationships/slideLayout" Target="../slideLayouts/slideLayout205.xml"/><Relationship Id="rId42" Type="http://schemas.openxmlformats.org/officeDocument/2006/relationships/slideLayout" Target="../slideLayouts/slideLayout213.xml"/><Relationship Id="rId47" Type="http://schemas.openxmlformats.org/officeDocument/2006/relationships/slideLayout" Target="../slideLayouts/slideLayout218.xml"/><Relationship Id="rId50" Type="http://schemas.openxmlformats.org/officeDocument/2006/relationships/slideLayout" Target="../slideLayouts/slideLayout221.xml"/><Relationship Id="rId55" Type="http://schemas.openxmlformats.org/officeDocument/2006/relationships/slideLayout" Target="../slideLayouts/slideLayout226.xml"/><Relationship Id="rId63" Type="http://schemas.openxmlformats.org/officeDocument/2006/relationships/slideLayout" Target="../slideLayouts/slideLayout234.xml"/><Relationship Id="rId7" Type="http://schemas.openxmlformats.org/officeDocument/2006/relationships/slideLayout" Target="../slideLayouts/slideLayout178.xml"/><Relationship Id="rId2" Type="http://schemas.openxmlformats.org/officeDocument/2006/relationships/slideLayout" Target="../slideLayouts/slideLayout173.xml"/><Relationship Id="rId16" Type="http://schemas.openxmlformats.org/officeDocument/2006/relationships/slideLayout" Target="../slideLayouts/slideLayout187.xml"/><Relationship Id="rId29" Type="http://schemas.openxmlformats.org/officeDocument/2006/relationships/slideLayout" Target="../slideLayouts/slideLayout200.xml"/><Relationship Id="rId11" Type="http://schemas.openxmlformats.org/officeDocument/2006/relationships/slideLayout" Target="../slideLayouts/slideLayout182.xml"/><Relationship Id="rId24" Type="http://schemas.openxmlformats.org/officeDocument/2006/relationships/slideLayout" Target="../slideLayouts/slideLayout195.xml"/><Relationship Id="rId32" Type="http://schemas.openxmlformats.org/officeDocument/2006/relationships/slideLayout" Target="../slideLayouts/slideLayout203.xml"/><Relationship Id="rId37" Type="http://schemas.openxmlformats.org/officeDocument/2006/relationships/slideLayout" Target="../slideLayouts/slideLayout208.xml"/><Relationship Id="rId40" Type="http://schemas.openxmlformats.org/officeDocument/2006/relationships/slideLayout" Target="../slideLayouts/slideLayout211.xml"/><Relationship Id="rId45" Type="http://schemas.openxmlformats.org/officeDocument/2006/relationships/slideLayout" Target="../slideLayouts/slideLayout216.xml"/><Relationship Id="rId53" Type="http://schemas.openxmlformats.org/officeDocument/2006/relationships/slideLayout" Target="../slideLayouts/slideLayout224.xml"/><Relationship Id="rId58" Type="http://schemas.openxmlformats.org/officeDocument/2006/relationships/slideLayout" Target="../slideLayouts/slideLayout229.xml"/><Relationship Id="rId66" Type="http://schemas.openxmlformats.org/officeDocument/2006/relationships/image" Target="../media/image1.png"/><Relationship Id="rId5" Type="http://schemas.openxmlformats.org/officeDocument/2006/relationships/slideLayout" Target="../slideLayouts/slideLayout176.xml"/><Relationship Id="rId61" Type="http://schemas.openxmlformats.org/officeDocument/2006/relationships/slideLayout" Target="../slideLayouts/slideLayout232.xml"/><Relationship Id="rId19" Type="http://schemas.openxmlformats.org/officeDocument/2006/relationships/slideLayout" Target="../slideLayouts/slideLayout190.xml"/><Relationship Id="rId14" Type="http://schemas.openxmlformats.org/officeDocument/2006/relationships/slideLayout" Target="../slideLayouts/slideLayout185.xml"/><Relationship Id="rId22" Type="http://schemas.openxmlformats.org/officeDocument/2006/relationships/slideLayout" Target="../slideLayouts/slideLayout193.xml"/><Relationship Id="rId27" Type="http://schemas.openxmlformats.org/officeDocument/2006/relationships/slideLayout" Target="../slideLayouts/slideLayout198.xml"/><Relationship Id="rId30" Type="http://schemas.openxmlformats.org/officeDocument/2006/relationships/slideLayout" Target="../slideLayouts/slideLayout201.xml"/><Relationship Id="rId35" Type="http://schemas.openxmlformats.org/officeDocument/2006/relationships/slideLayout" Target="../slideLayouts/slideLayout206.xml"/><Relationship Id="rId43" Type="http://schemas.openxmlformats.org/officeDocument/2006/relationships/slideLayout" Target="../slideLayouts/slideLayout214.xml"/><Relationship Id="rId48" Type="http://schemas.openxmlformats.org/officeDocument/2006/relationships/slideLayout" Target="../slideLayouts/slideLayout219.xml"/><Relationship Id="rId56" Type="http://schemas.openxmlformats.org/officeDocument/2006/relationships/slideLayout" Target="../slideLayouts/slideLayout227.xml"/><Relationship Id="rId64" Type="http://schemas.openxmlformats.org/officeDocument/2006/relationships/slideLayout" Target="../slideLayouts/slideLayout235.xml"/><Relationship Id="rId8" Type="http://schemas.openxmlformats.org/officeDocument/2006/relationships/slideLayout" Target="../slideLayouts/slideLayout179.xml"/><Relationship Id="rId51" Type="http://schemas.openxmlformats.org/officeDocument/2006/relationships/slideLayout" Target="../slideLayouts/slideLayout222.xml"/><Relationship Id="rId3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83.xml"/><Relationship Id="rId17" Type="http://schemas.openxmlformats.org/officeDocument/2006/relationships/slideLayout" Target="../slideLayouts/slideLayout188.xml"/><Relationship Id="rId25" Type="http://schemas.openxmlformats.org/officeDocument/2006/relationships/slideLayout" Target="../slideLayouts/slideLayout196.xml"/><Relationship Id="rId33" Type="http://schemas.openxmlformats.org/officeDocument/2006/relationships/slideLayout" Target="../slideLayouts/slideLayout204.xml"/><Relationship Id="rId38" Type="http://schemas.openxmlformats.org/officeDocument/2006/relationships/slideLayout" Target="../slideLayouts/slideLayout209.xml"/><Relationship Id="rId46" Type="http://schemas.openxmlformats.org/officeDocument/2006/relationships/slideLayout" Target="../slideLayouts/slideLayout217.xml"/><Relationship Id="rId59" Type="http://schemas.openxmlformats.org/officeDocument/2006/relationships/slideLayout" Target="../slideLayouts/slideLayout230.xml"/><Relationship Id="rId67" Type="http://schemas.openxmlformats.org/officeDocument/2006/relationships/image" Target="../media/image2.svg"/><Relationship Id="rId20" Type="http://schemas.openxmlformats.org/officeDocument/2006/relationships/slideLayout" Target="../slideLayouts/slideLayout191.xml"/><Relationship Id="rId41" Type="http://schemas.openxmlformats.org/officeDocument/2006/relationships/slideLayout" Target="../slideLayouts/slideLayout212.xml"/><Relationship Id="rId54" Type="http://schemas.openxmlformats.org/officeDocument/2006/relationships/slideLayout" Target="../slideLayouts/slideLayout225.xml"/><Relationship Id="rId62" Type="http://schemas.openxmlformats.org/officeDocument/2006/relationships/slideLayout" Target="../slideLayouts/slideLayout233.xml"/><Relationship Id="rId1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7.xml"/><Relationship Id="rId15" Type="http://schemas.openxmlformats.org/officeDocument/2006/relationships/slideLayout" Target="../slideLayouts/slideLayout186.xml"/><Relationship Id="rId23" Type="http://schemas.openxmlformats.org/officeDocument/2006/relationships/slideLayout" Target="../slideLayouts/slideLayout194.xml"/><Relationship Id="rId28" Type="http://schemas.openxmlformats.org/officeDocument/2006/relationships/slideLayout" Target="../slideLayouts/slideLayout199.xml"/><Relationship Id="rId36" Type="http://schemas.openxmlformats.org/officeDocument/2006/relationships/slideLayout" Target="../slideLayouts/slideLayout207.xml"/><Relationship Id="rId49" Type="http://schemas.openxmlformats.org/officeDocument/2006/relationships/slideLayout" Target="../slideLayouts/slideLayout220.xml"/><Relationship Id="rId57" Type="http://schemas.openxmlformats.org/officeDocument/2006/relationships/slideLayout" Target="../slideLayouts/slideLayout228.xml"/><Relationship Id="rId10" Type="http://schemas.openxmlformats.org/officeDocument/2006/relationships/slideLayout" Target="../slideLayouts/slideLayout181.xml"/><Relationship Id="rId31" Type="http://schemas.openxmlformats.org/officeDocument/2006/relationships/slideLayout" Target="../slideLayouts/slideLayout202.xml"/><Relationship Id="rId44" Type="http://schemas.openxmlformats.org/officeDocument/2006/relationships/slideLayout" Target="../slideLayouts/slideLayout215.xml"/><Relationship Id="rId52" Type="http://schemas.openxmlformats.org/officeDocument/2006/relationships/slideLayout" Target="../slideLayouts/slideLayout223.xml"/><Relationship Id="rId60" Type="http://schemas.openxmlformats.org/officeDocument/2006/relationships/slideLayout" Target="../slideLayouts/slideLayout231.xml"/><Relationship Id="rId65" Type="http://schemas.openxmlformats.org/officeDocument/2006/relationships/theme" Target="../theme/theme5.xml"/><Relationship Id="rId4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80.xml"/><Relationship Id="rId13" Type="http://schemas.openxmlformats.org/officeDocument/2006/relationships/slideLayout" Target="../slideLayouts/slideLayout184.xml"/><Relationship Id="rId18" Type="http://schemas.openxmlformats.org/officeDocument/2006/relationships/slideLayout" Target="../slideLayouts/slideLayout189.xml"/><Relationship Id="rId39" Type="http://schemas.openxmlformats.org/officeDocument/2006/relationships/slideLayout" Target="../slideLayouts/slideLayout2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67" r:id="rId19"/>
    <p:sldLayoutId id="2147485468" r:id="rId20"/>
    <p:sldLayoutId id="2147485469" r:id="rId21"/>
    <p:sldLayoutId id="2147485470" r:id="rId22"/>
    <p:sldLayoutId id="2147485471" r:id="rId23"/>
    <p:sldLayoutId id="2147485472" r:id="rId24"/>
    <p:sldLayoutId id="2147485473" r:id="rId25"/>
    <p:sldLayoutId id="2147485474" r:id="rId26"/>
    <p:sldLayoutId id="2147485475" r:id="rId27"/>
    <p:sldLayoutId id="2147485476" r:id="rId28"/>
    <p:sldLayoutId id="2147485477" r:id="rId29"/>
    <p:sldLayoutId id="2147485478" r:id="rId30"/>
    <p:sldLayoutId id="2147485479" r:id="rId31"/>
    <p:sldLayoutId id="2147485480" r:id="rId32"/>
    <p:sldLayoutId id="2147485481" r:id="rId33"/>
    <p:sldLayoutId id="2147485482" r:id="rId34"/>
    <p:sldLayoutId id="2147485483" r:id="rId35"/>
    <p:sldLayoutId id="2147485484" r:id="rId36"/>
    <p:sldLayoutId id="2147485485" r:id="rId37"/>
    <p:sldLayoutId id="2147485486" r:id="rId38"/>
    <p:sldLayoutId id="2147485487" r:id="rId39"/>
    <p:sldLayoutId id="2147485488" r:id="rId40"/>
    <p:sldLayoutId id="2147485489" r:id="rId41"/>
    <p:sldLayoutId id="2147485490" r:id="rId42"/>
    <p:sldLayoutId id="2147485491" r:id="rId43"/>
    <p:sldLayoutId id="2147485492" r:id="rId44"/>
    <p:sldLayoutId id="2147485493" r:id="rId45"/>
    <p:sldLayoutId id="2147485494" r:id="rId46"/>
    <p:sldLayoutId id="2147485495" r:id="rId47"/>
    <p:sldLayoutId id="2147485496" r:id="rId48"/>
    <p:sldLayoutId id="2147485603" r:id="rId49"/>
    <p:sldLayoutId id="2147485847" r:id="rId50"/>
    <p:sldLayoutId id="2147485848" r:id="rId51"/>
    <p:sldLayoutId id="2147485850" r:id="rId5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8" r:id="rId6"/>
    <p:sldLayoutId id="2147485559" r:id="rId7"/>
    <p:sldLayoutId id="2147485560" r:id="rId8"/>
    <p:sldLayoutId id="2147485561" r:id="rId9"/>
    <p:sldLayoutId id="2147485562" r:id="rId10"/>
    <p:sldLayoutId id="2147485563" r:id="rId11"/>
    <p:sldLayoutId id="2147485564" r:id="rId12"/>
    <p:sldLayoutId id="2147485565" r:id="rId13"/>
    <p:sldLayoutId id="2147485566" r:id="rId14"/>
    <p:sldLayoutId id="2147485567" r:id="rId15"/>
    <p:sldLayoutId id="2147485568" r:id="rId16"/>
    <p:sldLayoutId id="2147485569" r:id="rId17"/>
    <p:sldLayoutId id="2147485570" r:id="rId18"/>
    <p:sldLayoutId id="2147485571" r:id="rId19"/>
    <p:sldLayoutId id="2147485572" r:id="rId20"/>
    <p:sldLayoutId id="2147485573" r:id="rId21"/>
    <p:sldLayoutId id="2147485574" r:id="rId22"/>
    <p:sldLayoutId id="2147485575" r:id="rId23"/>
    <p:sldLayoutId id="2147485576" r:id="rId24"/>
    <p:sldLayoutId id="2147485577" r:id="rId25"/>
    <p:sldLayoutId id="2147485578" r:id="rId26"/>
    <p:sldLayoutId id="2147485579" r:id="rId27"/>
    <p:sldLayoutId id="2147485580" r:id="rId28"/>
    <p:sldLayoutId id="2147485581" r:id="rId29"/>
    <p:sldLayoutId id="2147485582" r:id="rId30"/>
    <p:sldLayoutId id="2147485583" r:id="rId31"/>
    <p:sldLayoutId id="2147485584" r:id="rId32"/>
    <p:sldLayoutId id="2147485585" r:id="rId33"/>
    <p:sldLayoutId id="2147485586" r:id="rId34"/>
    <p:sldLayoutId id="2147485587" r:id="rId35"/>
    <p:sldLayoutId id="2147485588" r:id="rId36"/>
    <p:sldLayoutId id="2147485589" r:id="rId37"/>
    <p:sldLayoutId id="2147485590" r:id="rId38"/>
    <p:sldLayoutId id="2147485591" r:id="rId39"/>
    <p:sldLayoutId id="2147485592" r:id="rId40"/>
    <p:sldLayoutId id="2147485593" r:id="rId41"/>
    <p:sldLayoutId id="2147485594" r:id="rId42"/>
    <p:sldLayoutId id="2147485595" r:id="rId43"/>
    <p:sldLayoutId id="2147485596" r:id="rId44"/>
    <p:sldLayoutId id="2147485597" r:id="rId45"/>
    <p:sldLayoutId id="2147485598" r:id="rId46"/>
    <p:sldLayoutId id="2147485599" r:id="rId47"/>
    <p:sldLayoutId id="2147485600" r:id="rId48"/>
    <p:sldLayoutId id="2147485602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53" r:id="rId1"/>
    <p:sldLayoutId id="2147485854" r:id="rId2"/>
    <p:sldLayoutId id="2147485855" r:id="rId3"/>
    <p:sldLayoutId id="2147485856" r:id="rId4"/>
    <p:sldLayoutId id="2147485857" r:id="rId5"/>
    <p:sldLayoutId id="2147485858" r:id="rId6"/>
    <p:sldLayoutId id="2147485859" r:id="rId7"/>
    <p:sldLayoutId id="2147485860" r:id="rId8"/>
    <p:sldLayoutId id="2147485861" r:id="rId9"/>
    <p:sldLayoutId id="2147485862" r:id="rId10"/>
    <p:sldLayoutId id="2147485863" r:id="rId11"/>
    <p:sldLayoutId id="2147485864" r:id="rId12"/>
    <p:sldLayoutId id="2147485865" r:id="rId13"/>
    <p:sldLayoutId id="2147485866" r:id="rId14"/>
    <p:sldLayoutId id="2147485867" r:id="rId15"/>
    <p:sldLayoutId id="2147485868" r:id="rId16"/>
    <p:sldLayoutId id="2147485869" r:id="rId17"/>
    <p:sldLayoutId id="2147485870" r:id="rId18"/>
    <p:sldLayoutId id="2147485871" r:id="rId19"/>
    <p:sldLayoutId id="2147485872" r:id="rId20"/>
    <p:sldLayoutId id="2147485873" r:id="rId21"/>
    <p:sldLayoutId id="2147485874" r:id="rId22"/>
    <p:sldLayoutId id="2147485875" r:id="rId23"/>
    <p:sldLayoutId id="2147485876" r:id="rId24"/>
    <p:sldLayoutId id="2147485877" r:id="rId25"/>
    <p:sldLayoutId id="2147485878" r:id="rId26"/>
    <p:sldLayoutId id="2147485879" r:id="rId27"/>
    <p:sldLayoutId id="2147485880" r:id="rId28"/>
    <p:sldLayoutId id="2147485881" r:id="rId29"/>
    <p:sldLayoutId id="2147485882" r:id="rId30"/>
    <p:sldLayoutId id="2147485883" r:id="rId31"/>
    <p:sldLayoutId id="2147485884" r:id="rId32"/>
    <p:sldLayoutId id="2147485885" r:id="rId33"/>
    <p:sldLayoutId id="2147485886" r:id="rId34"/>
    <p:sldLayoutId id="2147485887" r:id="rId35"/>
    <p:sldLayoutId id="2147485888" r:id="rId36"/>
    <p:sldLayoutId id="2147485889" r:id="rId37"/>
    <p:sldLayoutId id="2147485890" r:id="rId38"/>
    <p:sldLayoutId id="2147485891" r:id="rId39"/>
    <p:sldLayoutId id="2147485892" r:id="rId40"/>
    <p:sldLayoutId id="2147485893" r:id="rId41"/>
    <p:sldLayoutId id="2147485894" r:id="rId42"/>
    <p:sldLayoutId id="2147485895" r:id="rId43"/>
    <p:sldLayoutId id="2147485896" r:id="rId44"/>
    <p:sldLayoutId id="2147485897" r:id="rId45"/>
    <p:sldLayoutId id="2147485898" r:id="rId46"/>
    <p:sldLayoutId id="2147485899" r:id="rId47"/>
    <p:sldLayoutId id="2147485900" r:id="rId48"/>
    <p:sldLayoutId id="2147485901" r:id="rId49"/>
    <p:sldLayoutId id="2147485902" r:id="rId50"/>
    <p:sldLayoutId id="2147485903" r:id="rId51"/>
    <p:sldLayoutId id="2147485904" r:id="rId52"/>
    <p:sldLayoutId id="2147485905" r:id="rId53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blipFill dpi="0" rotWithShape="1">
          <a:blip r:embed="rId19"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  <p:grpSp>
        <p:nvGrpSpPr>
          <p:cNvPr id="253" name="Group 252">
            <a:extLst>
              <a:ext uri="{FF2B5EF4-FFF2-40B4-BE49-F238E27FC236}">
                <a16:creationId xmlns:a16="http://schemas.microsoft.com/office/drawing/2014/main" id="{1A9934A0-ED63-83B8-8A45-2955726BAE72}"/>
              </a:ext>
            </a:extLst>
          </p:cNvPr>
          <p:cNvGrpSpPr/>
          <p:nvPr userDrawn="1"/>
        </p:nvGrpSpPr>
        <p:grpSpPr>
          <a:xfrm>
            <a:off x="13785819" y="4641814"/>
            <a:ext cx="932688" cy="1999554"/>
            <a:chOff x="13785819" y="4641814"/>
            <a:chExt cx="932688" cy="1999554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9215BFE-65EE-0FED-3EA1-090FF776F7F9}"/>
                </a:ext>
              </a:extLst>
            </p:cNvPr>
            <p:cNvSpPr txBox="1"/>
            <p:nvPr/>
          </p:nvSpPr>
          <p:spPr>
            <a:xfrm>
              <a:off x="13785819" y="4641814"/>
              <a:ext cx="365760" cy="366254"/>
            </a:xfrm>
            <a:prstGeom prst="rect">
              <a:avLst/>
            </a:prstGeom>
            <a:noFill/>
          </p:spPr>
          <p:txBody>
            <a:bodyPr wrap="square" lIns="0" tIns="0" rIns="0" bIns="256032" rtlCol="0" anchor="b" anchorCtr="0">
              <a:spAutoFit/>
            </a:bodyPr>
            <a:lstStyle/>
            <a:p>
              <a:r>
                <a:rPr lang="en-US" sz="7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rPr>
                <a:t>Theme 6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011E263-3A6D-604A-AC4E-0BC2FE23D0D5}"/>
                </a:ext>
              </a:extLst>
            </p:cNvPr>
            <p:cNvSpPr txBox="1"/>
            <p:nvPr/>
          </p:nvSpPr>
          <p:spPr>
            <a:xfrm>
              <a:off x="13785819" y="5052105"/>
              <a:ext cx="731520" cy="366254"/>
            </a:xfrm>
            <a:prstGeom prst="rect">
              <a:avLst/>
            </a:prstGeom>
            <a:noFill/>
          </p:spPr>
          <p:txBody>
            <a:bodyPr wrap="square" lIns="0" tIns="0" rIns="0" bIns="256032" rtlCol="0" anchor="b" anchorCtr="0">
              <a:spAutoFit/>
            </a:bodyPr>
            <a:lstStyle>
              <a:defPPr>
                <a:defRPr lang="en-US"/>
              </a:defPPr>
              <a:lvl1pPr>
                <a:defRPr sz="7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1pPr>
            </a:lstStyle>
            <a:p>
              <a:r>
                <a:rPr lang="en-US"/>
                <a:t>Colored header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DAFC3F51-4BF7-B4DC-486C-029A50C3FE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3785819" y="5176703"/>
              <a:ext cx="457200" cy="241657"/>
            </a:xfrm>
            <a:prstGeom prst="rect">
              <a:avLst/>
            </a:prstGeom>
            <a:solidFill>
              <a:srgbClr val="152237"/>
            </a:solidFill>
            <a:ln>
              <a:noFill/>
            </a:ln>
          </p:spPr>
          <p:txBody>
            <a:bodyPr wrap="square" lIns="91440" tIns="0" rIns="0" bIns="9144" rtlCol="0" anchor="ctr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lvl="1" defTabSz="932780">
                <a:spcBef>
                  <a:spcPct val="20000"/>
                </a:spcBef>
                <a:buSzPct val="90000"/>
                <a:defRPr sz="9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693B2FFC-63A6-574E-CDCF-C1D8BD98E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3785819" y="5176703"/>
              <a:ext cx="457200" cy="241657"/>
            </a:xfrm>
            <a:prstGeom prst="rtTriangle">
              <a:avLst/>
            </a:prstGeom>
            <a:solidFill>
              <a:srgbClr val="A9D5ED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marR="0" lvl="1" indent="0" defTabSz="93278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AE56A1A4-6835-9145-03D7-B066FE1EF121}"/>
                </a:ext>
              </a:extLst>
            </p:cNvPr>
            <p:cNvSpPr txBox="1"/>
            <p:nvPr/>
          </p:nvSpPr>
          <p:spPr>
            <a:xfrm>
              <a:off x="13785819" y="5458465"/>
              <a:ext cx="546261" cy="366254"/>
            </a:xfrm>
            <a:prstGeom prst="rect">
              <a:avLst/>
            </a:prstGeom>
            <a:noFill/>
          </p:spPr>
          <p:txBody>
            <a:bodyPr wrap="square" lIns="0" tIns="0" rIns="0" bIns="256032" rtlCol="0" anchor="b" anchorCtr="0">
              <a:spAutoFit/>
            </a:bodyPr>
            <a:lstStyle>
              <a:defPPr>
                <a:defRPr lang="en-US"/>
              </a:defPPr>
              <a:lvl1pPr>
                <a:defRPr sz="7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1pPr>
            </a:lstStyle>
            <a:p>
              <a:r>
                <a:rPr lang="en-US"/>
                <a:t>Container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9B1AC30-474B-A703-7ACE-157AF3EA9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3785819" y="5583062"/>
              <a:ext cx="457200" cy="241657"/>
            </a:xfrm>
            <a:prstGeom prst="rect">
              <a:avLst/>
            </a:prstGeom>
            <a:solidFill>
              <a:srgbClr val="2A446F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lvl="1" defTabSz="932780">
                <a:spcBef>
                  <a:spcPct val="20000"/>
                </a:spcBef>
                <a:buSzPct val="90000"/>
                <a:defRPr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C5686F6-0E3C-296C-D0D7-33F55F829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4261307" y="5583062"/>
              <a:ext cx="457200" cy="241657"/>
            </a:xfrm>
            <a:prstGeom prst="rect">
              <a:avLst/>
            </a:prstGeom>
            <a:solidFill>
              <a:srgbClr val="73262F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lvl="1" defTabSz="932780">
                <a:spcBef>
                  <a:spcPct val="20000"/>
                </a:spcBef>
                <a:buSzPct val="90000"/>
                <a:defRPr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7FB6DDC-716F-6BEC-FA45-2AD48CA77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4261307" y="5583062"/>
              <a:ext cx="457200" cy="241657"/>
            </a:xfrm>
            <a:prstGeom prst="rtTriangle">
              <a:avLst/>
            </a:prstGeom>
            <a:solidFill>
              <a:srgbClr val="FFECEE"/>
            </a:solidFill>
            <a:ln>
              <a:noFill/>
            </a:ln>
          </p:spPr>
          <p:txBody>
            <a:bodyPr wrap="square" lIns="91440" tIns="0" rIns="0" bIns="9144" rtlCol="0" anchor="ctr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marR="0" lvl="1" indent="0" defTabSz="93278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 sz="9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C19A743-E461-8A54-B310-4C43E01B81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3785819" y="5583062"/>
              <a:ext cx="457200" cy="241657"/>
            </a:xfrm>
            <a:prstGeom prst="rtTriangle">
              <a:avLst/>
            </a:prstGeom>
            <a:solidFill>
              <a:srgbClr val="E2F1F9"/>
            </a:solidFill>
            <a:ln>
              <a:noFill/>
            </a:ln>
          </p:spPr>
          <p:txBody>
            <a:bodyPr wrap="square" lIns="91440" tIns="0" rIns="0" bIns="9144" rtlCol="0" anchor="ctr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marR="0" lvl="1" indent="0" defTabSz="93278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 sz="9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DCE2BB5-8E0F-E91E-ECC2-05E4AF9D9636}"/>
                </a:ext>
              </a:extLst>
            </p:cNvPr>
            <p:cNvSpPr txBox="1"/>
            <p:nvPr/>
          </p:nvSpPr>
          <p:spPr>
            <a:xfrm>
              <a:off x="13785819" y="5864824"/>
              <a:ext cx="592763" cy="366254"/>
            </a:xfrm>
            <a:prstGeom prst="rect">
              <a:avLst/>
            </a:prstGeom>
            <a:noFill/>
          </p:spPr>
          <p:txBody>
            <a:bodyPr wrap="square" lIns="0" tIns="0" rIns="0" bIns="256032" rtlCol="0" anchor="b" anchorCtr="0">
              <a:spAutoFit/>
            </a:bodyPr>
            <a:lstStyle>
              <a:defPPr>
                <a:defRPr lang="en-US"/>
              </a:defPPr>
              <a:lvl1pPr>
                <a:defRPr sz="7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1pPr>
            </a:lstStyle>
            <a:p>
              <a:r>
                <a:rPr lang="en-US"/>
                <a:t>Light overlay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FB9645C-B53E-6332-146A-A019D5D25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4261307" y="5989421"/>
              <a:ext cx="457200" cy="241657"/>
            </a:xfrm>
            <a:prstGeom prst="rect">
              <a:avLst/>
            </a:prstGeom>
            <a:solidFill>
              <a:srgbClr val="FFECEE"/>
            </a:solidFill>
            <a:ln>
              <a:noFill/>
            </a:ln>
          </p:spPr>
          <p:txBody>
            <a:bodyPr wrap="square" lIns="91440" tIns="0" rIns="0" bIns="9144" rtlCol="0" anchor="ctr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marR="0" lvl="1" indent="0" defTabSz="93278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 sz="9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ECE2B9A-77D2-1BA5-305E-FC2C98ABD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3785819" y="5989421"/>
              <a:ext cx="457200" cy="241657"/>
            </a:xfrm>
            <a:prstGeom prst="rect">
              <a:avLst/>
            </a:prstGeom>
            <a:solidFill>
              <a:srgbClr val="E2F1F9"/>
            </a:solidFill>
            <a:ln>
              <a:noFill/>
            </a:ln>
          </p:spPr>
          <p:txBody>
            <a:bodyPr wrap="square" lIns="91440" tIns="0" rIns="0" bIns="9144" rtlCol="0" anchor="ctr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marR="0" lvl="1" indent="0" defTabSz="93278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 sz="9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8E51973-834A-ACD7-3D0C-4EA92EFD4931}"/>
                </a:ext>
              </a:extLst>
            </p:cNvPr>
            <p:cNvSpPr txBox="1"/>
            <p:nvPr/>
          </p:nvSpPr>
          <p:spPr>
            <a:xfrm>
              <a:off x="13785819" y="6275114"/>
              <a:ext cx="546261" cy="366254"/>
            </a:xfrm>
            <a:prstGeom prst="rect">
              <a:avLst/>
            </a:prstGeom>
            <a:noFill/>
          </p:spPr>
          <p:txBody>
            <a:bodyPr wrap="square" lIns="0" tIns="0" rIns="0" bIns="256032" rtlCol="0" anchor="b" anchorCtr="0">
              <a:spAutoFit/>
            </a:bodyPr>
            <a:lstStyle>
              <a:defPPr>
                <a:defRPr lang="en-US"/>
              </a:defPPr>
              <a:lvl1pPr>
                <a:defRPr sz="7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1pPr>
            </a:lstStyle>
            <a:p>
              <a:r>
                <a:rPr lang="en-US"/>
                <a:t>Dark overlay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34FF3948-B9F0-37C6-DA24-2A48FECEFE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3785819" y="6399711"/>
              <a:ext cx="457200" cy="241657"/>
            </a:xfrm>
            <a:prstGeom prst="rect">
              <a:avLst/>
            </a:prstGeom>
            <a:solidFill>
              <a:srgbClr val="2A446F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lvl="1" defTabSz="932780">
                <a:spcBef>
                  <a:spcPct val="20000"/>
                </a:spcBef>
                <a:buSzPct val="90000"/>
                <a:defRPr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43B88DC-A86F-018F-FAC8-9743F5C92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4261307" y="6399711"/>
              <a:ext cx="457200" cy="241657"/>
            </a:xfrm>
            <a:prstGeom prst="rect">
              <a:avLst/>
            </a:prstGeom>
            <a:solidFill>
              <a:srgbClr val="73262F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 marL="0" lvl="1" defTabSz="932780">
                <a:spcBef>
                  <a:spcPct val="20000"/>
                </a:spcBef>
                <a:buSzPct val="90000"/>
                <a:defRPr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vl="1"/>
              <a:endParaRPr lang="en-CA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7AC378F-99EB-1822-4800-A2426838D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3785819" y="4766412"/>
              <a:ext cx="457200" cy="241657"/>
            </a:xfrm>
            <a:prstGeom prst="rect">
              <a:avLst/>
            </a:prstGeom>
            <a:solidFill>
              <a:srgbClr val="A9D5ED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1" indent="0" algn="l" defTabSz="93278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lang="en-CA" sz="600" b="1">
                <a:ln w="3175">
                  <a:noFill/>
                </a:ln>
                <a:gradFill>
                  <a:gsLst>
                    <a:gs pos="90826">
                      <a:srgbClr val="FFFFFF"/>
                    </a:gs>
                    <a:gs pos="65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  <a:cs typeface="Segoe UI" pitchFamily="34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E8866C4-A506-56F2-37FD-DC10EFA8D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4261307" y="4766412"/>
              <a:ext cx="457200" cy="241657"/>
            </a:xfrm>
            <a:prstGeom prst="rect">
              <a:avLst/>
            </a:prstGeom>
            <a:solidFill>
              <a:srgbClr val="FFC6CC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1" indent="0" algn="l" defTabSz="93278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lang="en-CA" sz="600" b="1">
                <a:ln w="3175">
                  <a:noFill/>
                </a:ln>
                <a:gradFill>
                  <a:gsLst>
                    <a:gs pos="90826">
                      <a:srgbClr val="FFFFFF"/>
                    </a:gs>
                    <a:gs pos="65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  <a:cs typeface="Segoe UI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C10A508-C6B5-8EE2-2417-99D45B7453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3785819" y="4766412"/>
              <a:ext cx="457200" cy="241657"/>
            </a:xfrm>
            <a:prstGeom prst="rtTriangle">
              <a:avLst/>
            </a:prstGeom>
            <a:solidFill>
              <a:srgbClr val="2A446F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lvl="1" defTabSz="932780">
                <a:spcBef>
                  <a:spcPct val="20000"/>
                </a:spcBef>
                <a:buSzPct val="90000"/>
                <a:defRPr/>
              </a:pPr>
              <a:endParaRPr lang="en-CA" sz="600" b="1">
                <a:ln w="3175">
                  <a:noFill/>
                </a:ln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  <a:cs typeface="Segoe UI" pitchFamily="34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6DBFBC4D-69B1-222B-376C-802D7AB46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14261307" y="4766412"/>
              <a:ext cx="457200" cy="241657"/>
            </a:xfrm>
            <a:prstGeom prst="rtTriangle">
              <a:avLst/>
            </a:prstGeom>
            <a:solidFill>
              <a:srgbClr val="73262F"/>
            </a:solidFill>
            <a:ln>
              <a:noFill/>
            </a:ln>
          </p:spPr>
          <p:txBody>
            <a:bodyPr wrap="square" lIns="45720" tIns="18288" rIns="0" bIns="0" rtlCol="0" anchor="t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lvl="1" defTabSz="932780">
                <a:spcBef>
                  <a:spcPct val="20000"/>
                </a:spcBef>
                <a:buSzPct val="90000"/>
                <a:defRPr/>
              </a:pPr>
              <a:endParaRPr lang="en-CA" sz="600" b="1">
                <a:ln w="3175">
                  <a:noFill/>
                </a:ln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073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07" r:id="rId1"/>
    <p:sldLayoutId id="2147485908" r:id="rId2"/>
    <p:sldLayoutId id="2147485909" r:id="rId3"/>
    <p:sldLayoutId id="2147485910" r:id="rId4"/>
    <p:sldLayoutId id="2147485911" r:id="rId5"/>
    <p:sldLayoutId id="2147485912" r:id="rId6"/>
    <p:sldLayoutId id="2147485913" r:id="rId7"/>
    <p:sldLayoutId id="2147485914" r:id="rId8"/>
    <p:sldLayoutId id="2147485915" r:id="rId9"/>
    <p:sldLayoutId id="2147485916" r:id="rId10"/>
    <p:sldLayoutId id="2147485917" r:id="rId11"/>
    <p:sldLayoutId id="2147485918" r:id="rId12"/>
    <p:sldLayoutId id="2147485919" r:id="rId13"/>
    <p:sldLayoutId id="2147485920" r:id="rId14"/>
    <p:sldLayoutId id="2147485921" r:id="rId15"/>
    <p:sldLayoutId id="2147485922" r:id="rId16"/>
    <p:sldLayoutId id="2147485923" r:id="rId17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5732E20-D956-500D-8A8F-B2C0E85A5D86}"/>
              </a:ext>
            </a:extLst>
          </p:cNvPr>
          <p:cNvGrpSpPr/>
          <p:nvPr userDrawn="1"/>
        </p:nvGrpSpPr>
        <p:grpSpPr>
          <a:xfrm>
            <a:off x="13785819" y="-19050"/>
            <a:ext cx="3785616" cy="6858000"/>
            <a:chOff x="22177344" y="0"/>
            <a:chExt cx="3785616" cy="6858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A8386A4-E82F-2BB0-BBD7-C8C373D557BA}"/>
                </a:ext>
              </a:extLst>
            </p:cNvPr>
            <p:cNvGrpSpPr/>
            <p:nvPr userDrawn="1"/>
          </p:nvGrpSpPr>
          <p:grpSpPr>
            <a:xfrm>
              <a:off x="22177344" y="0"/>
              <a:ext cx="3785616" cy="772614"/>
              <a:chOff x="15862269" y="26282"/>
              <a:chExt cx="3785616" cy="772614"/>
            </a:xfrm>
          </p:grpSpPr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25014E0E-3932-D7EC-5ED3-D155D7CC24D3}"/>
                  </a:ext>
                </a:extLst>
              </p:cNvPr>
              <p:cNvSpPr txBox="1"/>
              <p:nvPr/>
            </p:nvSpPr>
            <p:spPr>
              <a:xfrm>
                <a:off x="15862269" y="26282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1</a:t>
                </a:r>
              </a:p>
            </p:txBody>
          </p:sp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300F468A-C57F-AC86-3ED4-8097BA35E1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150880"/>
                <a:ext cx="457200" cy="241657"/>
              </a:xfrm>
              <a:prstGeom prst="rect">
                <a:avLst/>
              </a:prstGeom>
              <a:solidFill>
                <a:srgbClr val="318581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0A871ECA-7AD3-8F49-3E95-94F7A49151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150880"/>
                <a:ext cx="457200" cy="241657"/>
              </a:xfrm>
              <a:prstGeom prst="rect">
                <a:avLst/>
              </a:prstGeom>
              <a:solidFill>
                <a:srgbClr val="0A6BB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0" lang="en-CA" sz="500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07612886-5154-CCB7-455D-BEB88D7773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150880"/>
                <a:ext cx="457200" cy="241657"/>
              </a:xfrm>
              <a:prstGeom prst="rect">
                <a:avLst/>
              </a:prstGeom>
              <a:solidFill>
                <a:srgbClr val="AC35A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2F859231-C283-29B5-E248-FA1509A47D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150880"/>
                <a:ext cx="457200" cy="241657"/>
              </a:xfrm>
              <a:prstGeom prst="rect">
                <a:avLst/>
              </a:prstGeom>
              <a:solidFill>
                <a:srgbClr val="F65567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612DF851-FBCD-D55E-E6EF-7C14DC0763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150880"/>
                <a:ext cx="457200" cy="241657"/>
              </a:xfrm>
              <a:prstGeom prst="rtTriangle">
                <a:avLst/>
              </a:prstGeom>
              <a:solidFill>
                <a:srgbClr val="41AFA1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4F15DFB8-B351-4AC5-3EA3-A596EC1A5F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150880"/>
                <a:ext cx="457200" cy="241657"/>
              </a:xfrm>
              <a:prstGeom prst="rtTriangle">
                <a:avLst/>
              </a:prstGeom>
              <a:solidFill>
                <a:srgbClr val="46A0DE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49987C8E-AC3D-BAD0-ACFB-01A894F307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150880"/>
                <a:ext cx="457200" cy="241657"/>
              </a:xfrm>
              <a:prstGeom prst="rtTriangle">
                <a:avLst/>
              </a:prstGeom>
              <a:solidFill>
                <a:srgbClr val="CA6CC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F9F8E1AD-20F8-17CE-0B29-C5EDF32FEF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288733" y="150880"/>
                <a:ext cx="457200" cy="241657"/>
              </a:xfrm>
              <a:prstGeom prst="rtTriangle">
                <a:avLst/>
              </a:prstGeom>
              <a:solidFill>
                <a:srgbClr val="F97483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73159531-2CFC-A11C-E16B-F62949C1D100}"/>
                  </a:ext>
                </a:extLst>
              </p:cNvPr>
              <p:cNvSpPr txBox="1"/>
              <p:nvPr/>
            </p:nvSpPr>
            <p:spPr>
              <a:xfrm>
                <a:off x="17764221" y="26282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25F3D5BD-94D0-7DE7-5A3F-9721F6304A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150880"/>
                <a:ext cx="457200" cy="241657"/>
              </a:xfrm>
              <a:prstGeom prst="rect">
                <a:avLst/>
              </a:prstGeom>
              <a:solidFill>
                <a:srgbClr val="2E231C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1177CB0A-ABC6-7B5D-291F-E3534D183D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764221" y="150880"/>
                <a:ext cx="457200" cy="241657"/>
              </a:xfrm>
              <a:prstGeom prst="rtTriangle">
                <a:avLst/>
              </a:prstGeom>
              <a:solidFill>
                <a:srgbClr val="D7D2CB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4A30C2AD-A67A-676A-DD79-46DCD9B264C8}"/>
                  </a:ext>
                </a:extLst>
              </p:cNvPr>
              <p:cNvSpPr txBox="1"/>
              <p:nvPr/>
            </p:nvSpPr>
            <p:spPr>
              <a:xfrm>
                <a:off x="15862269" y="432642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91FFA29B-C73B-E723-18EE-89587EED73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557239"/>
                <a:ext cx="457200" cy="241657"/>
              </a:xfrm>
              <a:prstGeom prst="rect">
                <a:avLst/>
              </a:prstGeom>
              <a:solidFill>
                <a:srgbClr val="73391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64951D4B-C1B1-1ACD-836C-7452BF02C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557239"/>
                <a:ext cx="457200" cy="241657"/>
              </a:xfrm>
              <a:prstGeom prst="rect">
                <a:avLst/>
              </a:prstGeom>
              <a:solidFill>
                <a:srgbClr val="45414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950B429D-01B8-E105-E270-2787C59FF6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557239"/>
                <a:ext cx="457200" cy="241657"/>
              </a:xfrm>
              <a:prstGeom prst="rtTriangle">
                <a:avLst/>
              </a:prstGeom>
              <a:solidFill>
                <a:srgbClr val="FFE8E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10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600"/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9A48568B-F8FA-229D-5DC3-CC068341C8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557239"/>
                <a:ext cx="457200" cy="241657"/>
              </a:xfrm>
              <a:prstGeom prst="rtTriangle">
                <a:avLst/>
              </a:prstGeom>
              <a:solidFill>
                <a:srgbClr val="ECECE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10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600"/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16C30039-0610-E9F5-386F-1238852265CA}"/>
                  </a:ext>
                </a:extLst>
              </p:cNvPr>
              <p:cNvSpPr txBox="1"/>
              <p:nvPr/>
            </p:nvSpPr>
            <p:spPr>
              <a:xfrm>
                <a:off x="16813245" y="432642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0C8FE8E3-6618-09A8-93CB-9A7814D9E7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557239"/>
                <a:ext cx="457200" cy="241657"/>
              </a:xfrm>
              <a:prstGeom prst="rect">
                <a:avLst/>
              </a:prstGeom>
              <a:solidFill>
                <a:srgbClr val="FFE8E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10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600"/>
              </a:p>
            </p:txBody>
          </p: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25732DB2-483B-D709-936C-4FA13FA48D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557239"/>
                <a:ext cx="457200" cy="241657"/>
              </a:xfrm>
              <a:prstGeom prst="rect">
                <a:avLst/>
              </a:prstGeom>
              <a:solidFill>
                <a:srgbClr val="ECECE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10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 sz="600"/>
              </a:p>
            </p:txBody>
          </p:sp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61198765-55DB-A426-840D-D2137E88AF66}"/>
                  </a:ext>
                </a:extLst>
              </p:cNvPr>
              <p:cNvSpPr txBox="1"/>
              <p:nvPr/>
            </p:nvSpPr>
            <p:spPr>
              <a:xfrm>
                <a:off x="17764221" y="432642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A1E50AD3-B981-3EAC-B6BA-58EF0BD118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557239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353E8528-662F-9122-EE0D-0BB749DCD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557239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C6882721-0AB8-0C86-4997-1E69F6E0F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715197" y="557239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897EA6A9-A6B2-2037-9C88-8E9DBEDAC5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190685" y="557239"/>
                <a:ext cx="457200" cy="241657"/>
              </a:xfrm>
              <a:prstGeom prst="rect">
                <a:avLst/>
              </a:prstGeom>
              <a:solidFill>
                <a:srgbClr val="73391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7F3184-F65A-F23E-7540-92FA0EDE5A44}"/>
                </a:ext>
              </a:extLst>
            </p:cNvPr>
            <p:cNvGrpSpPr/>
            <p:nvPr userDrawn="1"/>
          </p:nvGrpSpPr>
          <p:grpSpPr>
            <a:xfrm>
              <a:off x="22177344" y="1014231"/>
              <a:ext cx="2834640" cy="772614"/>
              <a:chOff x="15862269" y="1033109"/>
              <a:chExt cx="2834640" cy="772614"/>
            </a:xfrm>
          </p:grpSpPr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323C6163-C628-65FA-2B89-ECB4F08499E5}"/>
                  </a:ext>
                </a:extLst>
              </p:cNvPr>
              <p:cNvSpPr txBox="1"/>
              <p:nvPr/>
            </p:nvSpPr>
            <p:spPr>
              <a:xfrm>
                <a:off x="15862269" y="1033109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2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760C1B5A-9FB3-39C7-EA5B-D31473EDA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1157707"/>
                <a:ext cx="457200" cy="241657"/>
              </a:xfrm>
              <a:prstGeom prst="rect">
                <a:avLst/>
              </a:prstGeom>
              <a:solidFill>
                <a:srgbClr val="318581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CC5A462E-37DA-C5FE-951E-EF267046A1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1157707"/>
                <a:ext cx="457200" cy="241657"/>
              </a:xfrm>
              <a:prstGeom prst="rect">
                <a:avLst/>
              </a:prstGeom>
              <a:solidFill>
                <a:srgbClr val="0A6BB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0" lang="en-CA" sz="500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C0A78035-52C1-76F1-79BA-5DE4EFCD7B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1157707"/>
                <a:ext cx="457200" cy="241657"/>
              </a:xfrm>
              <a:prstGeom prst="rtTriangle">
                <a:avLst/>
              </a:prstGeom>
              <a:solidFill>
                <a:srgbClr val="41AFA1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FC06D2C5-F141-2B2E-B485-DE6428AAFE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1157707"/>
                <a:ext cx="457200" cy="241657"/>
              </a:xfrm>
              <a:prstGeom prst="rtTriangle">
                <a:avLst/>
              </a:prstGeom>
              <a:solidFill>
                <a:srgbClr val="46A0DE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B102D2C2-4C5A-855D-3966-23E2B08A8B33}"/>
                  </a:ext>
                </a:extLst>
              </p:cNvPr>
              <p:cNvSpPr txBox="1"/>
              <p:nvPr/>
            </p:nvSpPr>
            <p:spPr>
              <a:xfrm>
                <a:off x="16813245" y="1033109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1A91558-7B23-716E-7E41-1E23D3275D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1157707"/>
                <a:ext cx="457200" cy="241657"/>
              </a:xfrm>
              <a:prstGeom prst="rect">
                <a:avLst/>
              </a:prstGeom>
              <a:solidFill>
                <a:srgbClr val="112D31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BE5BC7E8-0127-46CE-F8BC-D05E10711C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1157707"/>
                <a:ext cx="457200" cy="241657"/>
              </a:xfrm>
              <a:prstGeom prst="rtTriangle">
                <a:avLst/>
              </a:prstGeom>
              <a:solidFill>
                <a:srgbClr val="B9DCD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5C438D2-76E5-D688-A36F-B78E36A071F5}"/>
                  </a:ext>
                </a:extLst>
              </p:cNvPr>
              <p:cNvSpPr txBox="1"/>
              <p:nvPr/>
            </p:nvSpPr>
            <p:spPr>
              <a:xfrm>
                <a:off x="15862269" y="1439469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ADC47756-B209-90AE-06BB-E769ABBB3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1564066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AA46F0FC-38D9-4CE1-C288-2E1AB89898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1564066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B07D75B2-F832-71F5-F222-EAA68AC56F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1564066"/>
                <a:ext cx="457200" cy="241657"/>
              </a:xfrm>
              <a:prstGeom prst="rtTriangle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B043A783-FB06-5E23-203D-8CC3860D0E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1564066"/>
                <a:ext cx="457200" cy="241657"/>
              </a:xfrm>
              <a:prstGeom prst="rtTriangle">
                <a:avLst/>
              </a:prstGeom>
              <a:solidFill>
                <a:srgbClr val="DCEDE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7312A883-6761-B2DB-3157-A4E8B4DD409D}"/>
                  </a:ext>
                </a:extLst>
              </p:cNvPr>
              <p:cNvSpPr txBox="1"/>
              <p:nvPr/>
            </p:nvSpPr>
            <p:spPr>
              <a:xfrm>
                <a:off x="16813245" y="1439469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113332A1-6118-9EC9-464D-2394EE085A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1564066"/>
                <a:ext cx="457200" cy="241657"/>
              </a:xfrm>
              <a:prstGeom prst="rect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9614819F-09CA-7E05-FA1A-C170EC39F1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1564066"/>
                <a:ext cx="457200" cy="241657"/>
              </a:xfrm>
              <a:prstGeom prst="rect">
                <a:avLst/>
              </a:prstGeom>
              <a:solidFill>
                <a:srgbClr val="DCEDE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C0CB4E0-CBDC-086D-FB22-4063E0F69AA0}"/>
                  </a:ext>
                </a:extLst>
              </p:cNvPr>
              <p:cNvSpPr txBox="1"/>
              <p:nvPr/>
            </p:nvSpPr>
            <p:spPr>
              <a:xfrm>
                <a:off x="17764221" y="1439469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57C7E21D-F495-93A3-8022-0BC0EC4642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1564066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B505A24A-C423-CE1B-ACDA-302DC2BCBB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1564066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D0EEA49-A7FC-6E2C-4292-52BBC07AB7AA}"/>
                </a:ext>
              </a:extLst>
            </p:cNvPr>
            <p:cNvGrpSpPr/>
            <p:nvPr userDrawn="1"/>
          </p:nvGrpSpPr>
          <p:grpSpPr>
            <a:xfrm>
              <a:off x="22177344" y="2028462"/>
              <a:ext cx="2834640" cy="772614"/>
              <a:chOff x="15862269" y="2039936"/>
              <a:chExt cx="2834640" cy="772614"/>
            </a:xfrm>
          </p:grpSpPr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DD5DFF2-FEA9-BE1C-CCAC-F338859EC24A}"/>
                  </a:ext>
                </a:extLst>
              </p:cNvPr>
              <p:cNvSpPr txBox="1"/>
              <p:nvPr/>
            </p:nvSpPr>
            <p:spPr>
              <a:xfrm>
                <a:off x="15862269" y="2039936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3</a:t>
                </a: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0023D874-B2BD-9216-E837-13A0116DD8C4}"/>
                  </a:ext>
                </a:extLst>
              </p:cNvPr>
              <p:cNvSpPr txBox="1"/>
              <p:nvPr/>
            </p:nvSpPr>
            <p:spPr>
              <a:xfrm>
                <a:off x="16813245" y="2039936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D3E850F9-1BA1-B9A1-A07D-B43D29FB97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2164534"/>
                <a:ext cx="457200" cy="241657"/>
              </a:xfrm>
              <a:prstGeom prst="rect">
                <a:avLst/>
              </a:prstGeom>
              <a:solidFill>
                <a:srgbClr val="152237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7AF7CE4A-71F8-D567-8DAB-E78A86B1B0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2164534"/>
                <a:ext cx="457200" cy="241657"/>
              </a:xfrm>
              <a:prstGeom prst="rtTriangle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D0078209-4715-0625-564E-9BF0D0CF476F}"/>
                  </a:ext>
                </a:extLst>
              </p:cNvPr>
              <p:cNvSpPr txBox="1"/>
              <p:nvPr/>
            </p:nvSpPr>
            <p:spPr>
              <a:xfrm>
                <a:off x="15862269" y="2446296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D9863A0-5805-66E6-9895-C269471E95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2570893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D00323D0-D506-CC26-9EE6-A007C1E0B5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2570893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F700708-7E16-ADC1-B58A-987F5A8F27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2570893"/>
                <a:ext cx="457200" cy="241657"/>
              </a:xfrm>
              <a:prstGeom prst="rtTriangle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F7C11E7A-7C7D-8408-7072-BAC4AD62CB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2570893"/>
                <a:ext cx="457200" cy="241657"/>
              </a:xfrm>
              <a:prstGeom prst="rtTriangle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F1D7013-BC65-06CF-DB25-1E95BEEDC4D7}"/>
                  </a:ext>
                </a:extLst>
              </p:cNvPr>
              <p:cNvSpPr txBox="1"/>
              <p:nvPr/>
            </p:nvSpPr>
            <p:spPr>
              <a:xfrm>
                <a:off x="16813245" y="2446296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4C678748-37AE-EDFF-5A50-689A706AFF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2570893"/>
                <a:ext cx="457200" cy="241657"/>
              </a:xfrm>
              <a:prstGeom prst="rect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69A5B638-3967-CC6D-6C76-9DE81A9CC9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2570893"/>
                <a:ext cx="457200" cy="241657"/>
              </a:xfrm>
              <a:prstGeom prst="rect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EB015D36-2BDA-6A9E-2ABC-D0C853C17849}"/>
                  </a:ext>
                </a:extLst>
              </p:cNvPr>
              <p:cNvSpPr txBox="1"/>
              <p:nvPr/>
            </p:nvSpPr>
            <p:spPr>
              <a:xfrm>
                <a:off x="17764221" y="2446296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DA85F87A-63E8-BBDC-7983-6F93CB2629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2570893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133A26D9-CA2C-0DBC-F8C6-BD63CA230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2570893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77CAD862-CFE9-8FE3-6445-710328C57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2164534"/>
                <a:ext cx="457200" cy="241657"/>
              </a:xfrm>
              <a:prstGeom prst="rect">
                <a:avLst/>
              </a:prstGeom>
              <a:solidFill>
                <a:srgbClr val="AC35A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061406ED-18CB-A78F-3FF2-7B0C57493F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2164534"/>
                <a:ext cx="457200" cy="241657"/>
              </a:xfrm>
              <a:prstGeom prst="rect">
                <a:avLst/>
              </a:prstGeom>
              <a:solidFill>
                <a:srgbClr val="0A6BB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kumimoji="0" lang="en-CA" sz="500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8B9FD834-D00F-A849-7375-85B8E6558C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2164534"/>
                <a:ext cx="457200" cy="241657"/>
              </a:xfrm>
              <a:prstGeom prst="rtTriangle">
                <a:avLst/>
              </a:prstGeom>
              <a:solidFill>
                <a:srgbClr val="46A0DE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E469CD3-8967-9262-25D0-CE79718EF6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2164534"/>
                <a:ext cx="457200" cy="241657"/>
              </a:xfrm>
              <a:prstGeom prst="rtTriangle">
                <a:avLst/>
              </a:prstGeom>
              <a:solidFill>
                <a:srgbClr val="CA6CC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49A6268-3C2F-6074-C8AD-674B8386398B}"/>
                </a:ext>
              </a:extLst>
            </p:cNvPr>
            <p:cNvGrpSpPr/>
            <p:nvPr userDrawn="1"/>
          </p:nvGrpSpPr>
          <p:grpSpPr>
            <a:xfrm>
              <a:off x="22177344" y="3042693"/>
              <a:ext cx="2834640" cy="772614"/>
              <a:chOff x="15862269" y="3046763"/>
              <a:chExt cx="2834640" cy="772614"/>
            </a:xfrm>
          </p:grpSpPr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D662D1E4-3098-C7A8-66E3-9201552BA8D4}"/>
                  </a:ext>
                </a:extLst>
              </p:cNvPr>
              <p:cNvSpPr txBox="1"/>
              <p:nvPr/>
            </p:nvSpPr>
            <p:spPr>
              <a:xfrm>
                <a:off x="15862269" y="3046763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4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8524BC0C-D982-9054-84F2-90BA1C86D50C}"/>
                  </a:ext>
                </a:extLst>
              </p:cNvPr>
              <p:cNvSpPr txBox="1"/>
              <p:nvPr/>
            </p:nvSpPr>
            <p:spPr>
              <a:xfrm>
                <a:off x="16813245" y="3046763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3FA2A132-EC82-8752-BC7D-1F25DF5FD4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3171361"/>
                <a:ext cx="457200" cy="241657"/>
              </a:xfrm>
              <a:prstGeom prst="rect">
                <a:avLst/>
              </a:prstGeom>
              <a:solidFill>
                <a:srgbClr val="38123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B93A1AD-428A-5870-8E44-C052C6C7A7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3171361"/>
                <a:ext cx="457200" cy="241657"/>
              </a:xfrm>
              <a:prstGeom prst="rtTriangle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3A5F21DF-5C70-1655-DA74-9232A4D09AD7}"/>
                  </a:ext>
                </a:extLst>
              </p:cNvPr>
              <p:cNvSpPr txBox="1"/>
              <p:nvPr/>
            </p:nvSpPr>
            <p:spPr>
              <a:xfrm>
                <a:off x="15862269" y="3453123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5CA84E5-DEB2-E10C-FBAE-7780A9B652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3577720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B02AFDCE-B53D-B932-95EE-77552AEBB3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3577720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F28177BD-89DA-47A8-7914-D0954DD0AE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3577720"/>
                <a:ext cx="457200" cy="241657"/>
              </a:xfrm>
              <a:prstGeom prst="rtTriangle">
                <a:avLst/>
              </a:prstGeom>
              <a:solidFill>
                <a:srgbClr val="FFD9DD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58E7676F-29D7-921E-1B02-02CFB8A3CC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3577720"/>
                <a:ext cx="457200" cy="241657"/>
              </a:xfrm>
              <a:prstGeom prst="rtTriangle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7545FB8-9AE6-6DDB-EC1F-90CCCAFD3912}"/>
                  </a:ext>
                </a:extLst>
              </p:cNvPr>
              <p:cNvSpPr txBox="1"/>
              <p:nvPr/>
            </p:nvSpPr>
            <p:spPr>
              <a:xfrm>
                <a:off x="16813245" y="3453123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64BC0985-84B1-4D07-0EE4-78B3AA51DD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3577720"/>
                <a:ext cx="457200" cy="241657"/>
              </a:xfrm>
              <a:prstGeom prst="rect">
                <a:avLst/>
              </a:prstGeom>
              <a:solidFill>
                <a:srgbClr val="FFD9DD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D98BD525-F4BF-B630-411C-368D2B25BB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3577720"/>
                <a:ext cx="457200" cy="241657"/>
              </a:xfrm>
              <a:prstGeom prst="rect">
                <a:avLst/>
              </a:prstGeom>
              <a:solidFill>
                <a:srgbClr val="EACEEB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757FAF61-C015-67CD-07A9-ADC2932F1101}"/>
                  </a:ext>
                </a:extLst>
              </p:cNvPr>
              <p:cNvSpPr txBox="1"/>
              <p:nvPr/>
            </p:nvSpPr>
            <p:spPr>
              <a:xfrm>
                <a:off x="17764221" y="3453123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091FFC74-2F30-08C4-FD14-A5B7886A5F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3577720"/>
                <a:ext cx="457200" cy="241657"/>
              </a:xfrm>
              <a:prstGeom prst="rect">
                <a:avLst/>
              </a:prstGeom>
              <a:solidFill>
                <a:srgbClr val="46366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23BECB4D-14BD-E696-CA41-C4C34F6505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3577720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D7B0B47-463B-0A11-308E-DC1B2E26A2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3171361"/>
                <a:ext cx="457200" cy="241657"/>
              </a:xfrm>
              <a:prstGeom prst="rect">
                <a:avLst/>
              </a:prstGeom>
              <a:solidFill>
                <a:srgbClr val="AC35A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E8BBBBC1-194D-88A4-96DB-7EA7DB82D0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3171361"/>
                <a:ext cx="457200" cy="241657"/>
              </a:xfrm>
              <a:prstGeom prst="rect">
                <a:avLst/>
              </a:prstGeom>
              <a:solidFill>
                <a:srgbClr val="F65567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97B6304-4094-4369-DE4E-8C8FDFA839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3171361"/>
                <a:ext cx="457200" cy="241657"/>
              </a:xfrm>
              <a:prstGeom prst="rtTriangle">
                <a:avLst/>
              </a:prstGeom>
              <a:solidFill>
                <a:srgbClr val="CA6CC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71752B01-24DE-5AD7-BCF8-CA94DBAFB2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3171361"/>
                <a:ext cx="457200" cy="241657"/>
              </a:xfrm>
              <a:prstGeom prst="rtTriangle">
                <a:avLst/>
              </a:prstGeom>
              <a:solidFill>
                <a:srgbClr val="F97483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C16B741-CAEC-A65D-2623-3BF096C25A1C}"/>
                </a:ext>
              </a:extLst>
            </p:cNvPr>
            <p:cNvGrpSpPr/>
            <p:nvPr userDrawn="1"/>
          </p:nvGrpSpPr>
          <p:grpSpPr>
            <a:xfrm>
              <a:off x="22177344" y="4056924"/>
              <a:ext cx="2834640" cy="772614"/>
              <a:chOff x="15862269" y="4053590"/>
              <a:chExt cx="2834640" cy="772614"/>
            </a:xfrm>
          </p:grpSpPr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B8F0342-F4C4-F592-2FEA-6D090F8501D7}"/>
                  </a:ext>
                </a:extLst>
              </p:cNvPr>
              <p:cNvSpPr txBox="1"/>
              <p:nvPr/>
            </p:nvSpPr>
            <p:spPr>
              <a:xfrm>
                <a:off x="15862269" y="4053590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5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29D92FA-3CD3-ED56-A388-CD17902EE6B7}"/>
                  </a:ext>
                </a:extLst>
              </p:cNvPr>
              <p:cNvSpPr txBox="1"/>
              <p:nvPr/>
            </p:nvSpPr>
            <p:spPr>
              <a:xfrm>
                <a:off x="16813245" y="4053590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C383E89E-3F8E-BC6F-C6F4-4CDA7610C9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4178188"/>
                <a:ext cx="457200" cy="241657"/>
              </a:xfrm>
              <a:prstGeom prst="rect">
                <a:avLst/>
              </a:prstGeom>
              <a:solidFill>
                <a:srgbClr val="112D31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8DB4EE5-99A3-2A07-FA77-C01E0CE0F8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4178188"/>
                <a:ext cx="457200" cy="241657"/>
              </a:xfrm>
              <a:prstGeom prst="rtTriangle">
                <a:avLst/>
              </a:prstGeom>
              <a:solidFill>
                <a:srgbClr val="B9DCD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6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8E98ECF-6668-A35C-3E01-1EAB5FC23272}"/>
                  </a:ext>
                </a:extLst>
              </p:cNvPr>
              <p:cNvSpPr txBox="1"/>
              <p:nvPr/>
            </p:nvSpPr>
            <p:spPr>
              <a:xfrm>
                <a:off x="15862269" y="4459950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583DD6B9-BEB6-1A8D-21EC-A496E788E3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4584547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7EE18A98-523B-AE0C-B864-89DB5FDDC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4584547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B38917F8-10F8-A485-78E7-1F1B37B649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4584547"/>
                <a:ext cx="457200" cy="241657"/>
              </a:xfrm>
              <a:prstGeom prst="rtTriangle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5EFEF95A-96A7-167F-612D-A28EE8323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4584547"/>
                <a:ext cx="457200" cy="241657"/>
              </a:xfrm>
              <a:prstGeom prst="rtTriangle">
                <a:avLst/>
              </a:prstGeom>
              <a:solidFill>
                <a:srgbClr val="DCEDE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8D2B0F78-04D2-7265-4AFB-D397909E67CD}"/>
                  </a:ext>
                </a:extLst>
              </p:cNvPr>
              <p:cNvSpPr txBox="1"/>
              <p:nvPr/>
            </p:nvSpPr>
            <p:spPr>
              <a:xfrm>
                <a:off x="16813245" y="4459950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449B6931-0652-9571-CAC8-E56CBA8B73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4584547"/>
                <a:ext cx="457200" cy="241657"/>
              </a:xfrm>
              <a:prstGeom prst="rect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65BAD5AA-42F0-3984-8AEA-3A258C095B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4584547"/>
                <a:ext cx="457200" cy="241657"/>
              </a:xfrm>
              <a:prstGeom prst="rect">
                <a:avLst/>
              </a:prstGeom>
              <a:solidFill>
                <a:srgbClr val="DCEDE8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AFC9D74-3631-E84B-A208-BDF6F61CBDE7}"/>
                  </a:ext>
                </a:extLst>
              </p:cNvPr>
              <p:cNvSpPr txBox="1"/>
              <p:nvPr/>
            </p:nvSpPr>
            <p:spPr>
              <a:xfrm>
                <a:off x="17764221" y="4459950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1539921-882F-C11C-7630-83A13AFDF8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4584547"/>
                <a:ext cx="457200" cy="241657"/>
              </a:xfrm>
              <a:prstGeom prst="rect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0DDF6AEE-CDFD-DE68-6789-AE16FDC33E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4584547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A3785F47-559D-9DB0-E7E3-8DBBFA8C9B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4178188"/>
                <a:ext cx="457200" cy="241657"/>
              </a:xfrm>
              <a:prstGeom prst="rect">
                <a:avLst/>
              </a:prstGeom>
              <a:solidFill>
                <a:srgbClr val="B9DCD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BFDC86A-9328-3E0F-2163-DA0A0953A0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4178188"/>
                <a:ext cx="457200" cy="241657"/>
              </a:xfrm>
              <a:prstGeom prst="rect">
                <a:avLst/>
              </a:prstGeom>
              <a:solidFill>
                <a:srgbClr val="FFEAB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8EA506F9-7DCA-EE5A-1622-6152339677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4178188"/>
                <a:ext cx="457200" cy="241657"/>
              </a:xfrm>
              <a:prstGeom prst="rtTriangle">
                <a:avLst/>
              </a:prstGeom>
              <a:solidFill>
                <a:srgbClr val="225B6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82E91B42-D07C-86DF-6502-53644E0CF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4178188"/>
                <a:ext cx="457200" cy="241657"/>
              </a:xfrm>
              <a:prstGeom prst="rtTriangle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027A459-C28F-0CF5-D36F-6C56F2C6D7A1}"/>
                </a:ext>
              </a:extLst>
            </p:cNvPr>
            <p:cNvGrpSpPr/>
            <p:nvPr userDrawn="1"/>
          </p:nvGrpSpPr>
          <p:grpSpPr>
            <a:xfrm>
              <a:off x="22177344" y="5071155"/>
              <a:ext cx="2834640" cy="772614"/>
              <a:chOff x="15862269" y="5060417"/>
              <a:chExt cx="2834640" cy="772614"/>
            </a:xfrm>
          </p:grpSpPr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DA3F3BCD-68DD-27E9-8B31-2AD4F0053EC3}"/>
                  </a:ext>
                </a:extLst>
              </p:cNvPr>
              <p:cNvSpPr txBox="1"/>
              <p:nvPr/>
            </p:nvSpPr>
            <p:spPr>
              <a:xfrm>
                <a:off x="15862269" y="5060417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6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786B7DE9-37AA-62AA-CEEC-0A7FCFF9F0FD}"/>
                  </a:ext>
                </a:extLst>
              </p:cNvPr>
              <p:cNvSpPr txBox="1"/>
              <p:nvPr/>
            </p:nvSpPr>
            <p:spPr>
              <a:xfrm>
                <a:off x="16813245" y="5060417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01E5E97-7996-6489-8716-42AF8971AE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5185015"/>
                <a:ext cx="457200" cy="241657"/>
              </a:xfrm>
              <a:prstGeom prst="rect">
                <a:avLst/>
              </a:prstGeom>
              <a:solidFill>
                <a:srgbClr val="152237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F5033232-7E0B-D9A6-47DD-9001764903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13245" y="5185015"/>
                <a:ext cx="457200" cy="241657"/>
              </a:xfrm>
              <a:prstGeom prst="rtTriangle">
                <a:avLst/>
              </a:prstGeom>
              <a:solidFill>
                <a:srgbClr val="A9D5E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6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49B386A-4F20-3BF4-304B-3F7594151CF4}"/>
                  </a:ext>
                </a:extLst>
              </p:cNvPr>
              <p:cNvSpPr txBox="1"/>
              <p:nvPr/>
            </p:nvSpPr>
            <p:spPr>
              <a:xfrm>
                <a:off x="15862269" y="5466777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6315212-5C2B-1318-BB27-FA1843EE0A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5591374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DC92897E-278A-F635-068E-4FB4DC2F07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5591374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82E7A792-55A9-BDB2-B08E-9FD6BA87CD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5591374"/>
                <a:ext cx="457200" cy="241657"/>
              </a:xfrm>
              <a:prstGeom prst="rtTriangle">
                <a:avLst/>
              </a:prstGeom>
              <a:solidFill>
                <a:srgbClr val="FFECEE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526D52CB-423F-DD89-EC7D-ED9279BC8F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5591374"/>
                <a:ext cx="457200" cy="241657"/>
              </a:xfrm>
              <a:prstGeom prst="rtTriangle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ADF897A5-72F3-67B4-FB13-1DBB0664215B}"/>
                  </a:ext>
                </a:extLst>
              </p:cNvPr>
              <p:cNvSpPr txBox="1"/>
              <p:nvPr/>
            </p:nvSpPr>
            <p:spPr>
              <a:xfrm>
                <a:off x="16813245" y="5466777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FC8D2A1-FCAB-228F-74C2-A8CE5672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8733" y="5591374"/>
                <a:ext cx="457200" cy="241657"/>
              </a:xfrm>
              <a:prstGeom prst="rect">
                <a:avLst/>
              </a:prstGeom>
              <a:solidFill>
                <a:srgbClr val="FFECEE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4968D57E-0D11-E7A7-31E0-71D77CD31B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13245" y="5591374"/>
                <a:ext cx="457200" cy="241657"/>
              </a:xfrm>
              <a:prstGeom prst="rect">
                <a:avLst/>
              </a:prstGeom>
              <a:solidFill>
                <a:srgbClr val="E2F1F9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50286B46-275C-3740-D70D-767AC65157FE}"/>
                  </a:ext>
                </a:extLst>
              </p:cNvPr>
              <p:cNvSpPr txBox="1"/>
              <p:nvPr/>
            </p:nvSpPr>
            <p:spPr>
              <a:xfrm>
                <a:off x="17764221" y="5466777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8F875C55-3C95-CD70-3BAB-345A3902C8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4221" y="5591374"/>
                <a:ext cx="457200" cy="241657"/>
              </a:xfrm>
              <a:prstGeom prst="rect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A6C5B0E-6653-0859-F4A5-0E416E7E61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9709" y="5591374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3C57DC6-EE19-4BFA-1346-CB63C8167E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62269" y="5185015"/>
                <a:ext cx="457200" cy="241657"/>
              </a:xfrm>
              <a:prstGeom prst="rect">
                <a:avLst/>
              </a:prstGeom>
              <a:solidFill>
                <a:srgbClr val="A9D5ED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397B4C8C-9D3C-DFCB-FA86-2B06C78E9F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7757" y="5185015"/>
                <a:ext cx="457200" cy="241657"/>
              </a:xfrm>
              <a:prstGeom prst="rect">
                <a:avLst/>
              </a:prstGeom>
              <a:solidFill>
                <a:srgbClr val="FFC6CC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5DBA6141-C1CE-C8C0-F023-09AE4F13E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62269" y="5185015"/>
                <a:ext cx="457200" cy="241657"/>
              </a:xfrm>
              <a:prstGeom prst="rtTriangle">
                <a:avLst/>
              </a:prstGeom>
              <a:solidFill>
                <a:srgbClr val="2A446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56FD69B-66DF-3828-4372-A2E133D0FF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7757" y="5185015"/>
                <a:ext cx="457200" cy="241657"/>
              </a:xfrm>
              <a:prstGeom prst="rtTriangle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10DB4A3-D054-373E-A4A2-0ABDF87876B5}"/>
                </a:ext>
              </a:extLst>
            </p:cNvPr>
            <p:cNvGrpSpPr/>
            <p:nvPr userDrawn="1"/>
          </p:nvGrpSpPr>
          <p:grpSpPr>
            <a:xfrm>
              <a:off x="22177344" y="6085386"/>
              <a:ext cx="2834640" cy="772614"/>
              <a:chOff x="15858760" y="6116425"/>
              <a:chExt cx="2834640" cy="772614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462DA7E-9D21-9BDD-7956-A8E691DCEA0C}"/>
                  </a:ext>
                </a:extLst>
              </p:cNvPr>
              <p:cNvSpPr txBox="1"/>
              <p:nvPr/>
            </p:nvSpPr>
            <p:spPr>
              <a:xfrm>
                <a:off x="15858760" y="6116425"/>
                <a:ext cx="36576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/>
              <a:p>
                <a:r>
                  <a:rPr lang="en-US"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rPr>
                  <a:t>Theme 7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77E9895-5940-BEC4-1463-847EA7CF52DC}"/>
                  </a:ext>
                </a:extLst>
              </p:cNvPr>
              <p:cNvSpPr txBox="1"/>
              <p:nvPr/>
            </p:nvSpPr>
            <p:spPr>
              <a:xfrm>
                <a:off x="16809736" y="6116425"/>
                <a:ext cx="731520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Colored header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BF3C0AD-3E9A-6198-1FAE-8D7A245C7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09736" y="6241023"/>
                <a:ext cx="457200" cy="241657"/>
              </a:xfrm>
              <a:prstGeom prst="rect">
                <a:avLst/>
              </a:prstGeom>
              <a:solidFill>
                <a:srgbClr val="391317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9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70A8CD8-2E21-7C75-D740-93DDD8E82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809736" y="6241023"/>
                <a:ext cx="457200" cy="241657"/>
              </a:xfrm>
              <a:prstGeom prst="rtTriangle">
                <a:avLst/>
              </a:prstGeom>
              <a:solidFill>
                <a:srgbClr val="FFC6CC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600" b="1">
                    <a:ln w="3175">
                      <a:noFill/>
                    </a:ln>
                    <a:gradFill>
                      <a:gsLst>
                        <a:gs pos="90826">
                          <a:srgbClr val="FFFFFF"/>
                        </a:gs>
                        <a:gs pos="65000">
                          <a:srgbClr val="FFFFFF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7A78AE6-7180-C3E1-5C5B-EF6A27CB2693}"/>
                  </a:ext>
                </a:extLst>
              </p:cNvPr>
              <p:cNvSpPr txBox="1"/>
              <p:nvPr/>
            </p:nvSpPr>
            <p:spPr>
              <a:xfrm>
                <a:off x="15858760" y="6522785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Container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041214D-C1B8-D01B-C72E-5FB5F4C1F9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58760" y="6647382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ADE66E7-8790-8A3A-CECF-86DFB59609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4248" y="6647382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8D771A-BF6D-196E-7079-399531DC5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4248" y="6647382"/>
                <a:ext cx="457200" cy="241657"/>
              </a:xfrm>
              <a:prstGeom prst="rtTriangle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EC34EF3-0E1A-6670-49D2-309CB7B93E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58760" y="6647382"/>
                <a:ext cx="457200" cy="241657"/>
              </a:xfrm>
              <a:prstGeom prst="rtTriangle">
                <a:avLst/>
              </a:prstGeom>
              <a:solidFill>
                <a:srgbClr val="FFECEE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31E7E60-32D7-8917-F8F9-02A1B6844FE3}"/>
                  </a:ext>
                </a:extLst>
              </p:cNvPr>
              <p:cNvSpPr txBox="1"/>
              <p:nvPr/>
            </p:nvSpPr>
            <p:spPr>
              <a:xfrm>
                <a:off x="16809736" y="6522785"/>
                <a:ext cx="592763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Light overlay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02138E3-7427-97AE-E5D2-7F6E20BDEB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85224" y="6647382"/>
                <a:ext cx="457200" cy="241657"/>
              </a:xfrm>
              <a:prstGeom prst="rect">
                <a:avLst/>
              </a:prstGeom>
              <a:solidFill>
                <a:srgbClr val="FFF8E5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5CA7356-42D0-5B8E-38A8-235DFB7756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09736" y="6647382"/>
                <a:ext cx="457200" cy="241657"/>
              </a:xfrm>
              <a:prstGeom prst="rect">
                <a:avLst/>
              </a:prstGeom>
              <a:solidFill>
                <a:srgbClr val="FFECEE"/>
              </a:solidFill>
              <a:ln>
                <a:noFill/>
              </a:ln>
            </p:spPr>
            <p:txBody>
              <a:bodyPr wrap="square" lIns="91440" tIns="0" rIns="0" bIns="9144" rtlCol="0" anchor="ctr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marR="0" lvl="1" indent="0" defTabSz="932780" fontAlgn="auto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 sz="9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3D3C6D0-A8E3-FA3D-1123-9E3985EEA0AE}"/>
                  </a:ext>
                </a:extLst>
              </p:cNvPr>
              <p:cNvSpPr txBox="1"/>
              <p:nvPr/>
            </p:nvSpPr>
            <p:spPr>
              <a:xfrm>
                <a:off x="17760712" y="6522785"/>
                <a:ext cx="546261" cy="366254"/>
              </a:xfrm>
              <a:prstGeom prst="rect">
                <a:avLst/>
              </a:prstGeom>
              <a:noFill/>
            </p:spPr>
            <p:txBody>
              <a:bodyPr wrap="square" lIns="0" tIns="0" rIns="0" bIns="256032" rtlCol="0" anchor="b" anchorCtr="0">
                <a:spAutoFit/>
              </a:bodyPr>
              <a:lstStyle>
                <a:defPPr>
                  <a:defRPr lang="en-US"/>
                </a:defPPr>
                <a:lvl1pPr>
                  <a:defRPr sz="7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1pPr>
              </a:lstStyle>
              <a:p>
                <a:r>
                  <a:rPr lang="en-US"/>
                  <a:t>Dark overlay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6344107-FCE3-1760-F249-2BF8E02DD7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60712" y="6647382"/>
                <a:ext cx="457200" cy="241657"/>
              </a:xfrm>
              <a:prstGeom prst="rect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857B583-B3A3-311D-1CC4-CAB2926CC0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36200" y="6647382"/>
                <a:ext cx="457200" cy="241657"/>
              </a:xfrm>
              <a:prstGeom prst="rect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 marL="0" lvl="1" defTabSz="932780">
                  <a:spcBef>
                    <a:spcPct val="20000"/>
                  </a:spcBef>
                  <a:buSzPct val="90000"/>
                  <a:defRPr sz="600" b="1">
                    <a:ln w="3175">
                      <a:noFill/>
                    </a:ln>
                    <a:gradFill>
                      <a:gsLst>
                        <a:gs pos="9174">
                          <a:schemeClr val="tx1"/>
                        </a:gs>
                        <a:gs pos="42000">
                          <a:schemeClr val="tx1"/>
                        </a:gs>
                      </a:gsLst>
                      <a:path path="circle">
                        <a:fillToRect l="100000" t="100000"/>
                      </a:path>
                    </a:gradFill>
                    <a:latin typeface="Segoe UI Variable Display Semibold" pitchFamily="2" charset="0"/>
                    <a:cs typeface="Segoe UI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vl="1"/>
                <a:endParaRPr lang="en-CA"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3D4C301D-9987-154B-13C5-65DB37518B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58760" y="6241023"/>
                <a:ext cx="457200" cy="241657"/>
              </a:xfrm>
              <a:prstGeom prst="rect">
                <a:avLst/>
              </a:prstGeom>
              <a:solidFill>
                <a:srgbClr val="FFC6CC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65E8CAA-775E-EB3E-D831-1DC29AA4D9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34248" y="6241023"/>
                <a:ext cx="457200" cy="241657"/>
              </a:xfrm>
              <a:prstGeom prst="rect">
                <a:avLst/>
              </a:prstGeom>
              <a:solidFill>
                <a:srgbClr val="FFEAB2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marR="0" lvl="1" indent="0" algn="l" defTabSz="93278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0826">
                        <a:srgbClr val="FFFFFF"/>
                      </a:gs>
                      <a:gs pos="65000">
                        <a:srgbClr val="FFFFFF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B4FBDE4-3A24-87DF-DAF8-523C0040B8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858760" y="6241023"/>
                <a:ext cx="457200" cy="241657"/>
              </a:xfrm>
              <a:prstGeom prst="rtTriangle">
                <a:avLst/>
              </a:prstGeom>
              <a:solidFill>
                <a:srgbClr val="73262F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9450C06-7661-A938-81AE-5E7FCD41BE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6334248" y="6241023"/>
                <a:ext cx="457200" cy="241657"/>
              </a:xfrm>
              <a:prstGeom prst="rtTriangle">
                <a:avLst/>
              </a:prstGeom>
              <a:solidFill>
                <a:srgbClr val="7F5A1A"/>
              </a:solidFill>
              <a:ln>
                <a:noFill/>
              </a:ln>
            </p:spPr>
            <p:txBody>
              <a:bodyPr wrap="square" lIns="45720" tIns="18288" rIns="0" bIns="0" rtlCol="0" anchor="t" anchorCtr="0">
                <a:noAutofit/>
              </a:bodyPr>
              <a:lstStyle>
                <a:defPPr>
                  <a:defRPr lang="en-US"/>
                </a:defPPr>
                <a:lvl1pPr algn="ctr" defTabSz="2275850" fontAlgn="base">
                  <a:spcBef>
                    <a:spcPct val="0"/>
                  </a:spcBef>
                  <a:spcAft>
                    <a:spcPct val="0"/>
                  </a:spcAft>
                  <a:tabLst>
                    <a:tab pos="3701239" algn="l"/>
                  </a:tabLst>
                  <a:defRPr sz="6000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Variable Display Semib" pitchFamily="2" charset="0"/>
                    <a:cs typeface="Segoe UI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marL="0" lvl="1" defTabSz="932780">
                  <a:spcBef>
                    <a:spcPct val="20000"/>
                  </a:spcBef>
                  <a:buSzPct val="90000"/>
                  <a:defRPr/>
                </a:pPr>
                <a:endParaRPr lang="en-CA" sz="600" b="1">
                  <a:ln w="3175">
                    <a:noFill/>
                  </a:ln>
                  <a:gradFill>
                    <a:gsLst>
                      <a:gs pos="9174">
                        <a:schemeClr val="tx1"/>
                      </a:gs>
                      <a:gs pos="42000">
                        <a:schemeClr val="tx1"/>
                      </a:gs>
                    </a:gsLst>
                    <a:path path="circle">
                      <a:fillToRect l="100000" t="100000"/>
                    </a:path>
                  </a:gradFill>
                  <a:latin typeface="Segoe UI Variable Display Semibold" pitchFamily="2" charset="0"/>
                  <a:cs typeface="Segoe U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653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25" r:id="rId1"/>
    <p:sldLayoutId id="2147485926" r:id="rId2"/>
    <p:sldLayoutId id="2147485927" r:id="rId3"/>
    <p:sldLayoutId id="2147485928" r:id="rId4"/>
    <p:sldLayoutId id="2147485929" r:id="rId5"/>
    <p:sldLayoutId id="2147485930" r:id="rId6"/>
    <p:sldLayoutId id="2147485931" r:id="rId7"/>
    <p:sldLayoutId id="2147485932" r:id="rId8"/>
    <p:sldLayoutId id="2147485933" r:id="rId9"/>
    <p:sldLayoutId id="2147485934" r:id="rId10"/>
    <p:sldLayoutId id="2147485935" r:id="rId11"/>
    <p:sldLayoutId id="2147485936" r:id="rId12"/>
    <p:sldLayoutId id="2147485937" r:id="rId13"/>
    <p:sldLayoutId id="2147485938" r:id="rId14"/>
    <p:sldLayoutId id="2147485939" r:id="rId15"/>
    <p:sldLayoutId id="2147485940" r:id="rId16"/>
    <p:sldLayoutId id="2147485941" r:id="rId17"/>
    <p:sldLayoutId id="2147485942" r:id="rId18"/>
    <p:sldLayoutId id="2147485943" r:id="rId19"/>
    <p:sldLayoutId id="2147485944" r:id="rId20"/>
    <p:sldLayoutId id="2147485945" r:id="rId21"/>
    <p:sldLayoutId id="2147485946" r:id="rId22"/>
    <p:sldLayoutId id="2147485947" r:id="rId23"/>
    <p:sldLayoutId id="2147485948" r:id="rId24"/>
    <p:sldLayoutId id="2147485949" r:id="rId25"/>
    <p:sldLayoutId id="2147485950" r:id="rId26"/>
    <p:sldLayoutId id="2147485951" r:id="rId27"/>
    <p:sldLayoutId id="2147485952" r:id="rId28"/>
    <p:sldLayoutId id="2147485953" r:id="rId29"/>
    <p:sldLayoutId id="2147485954" r:id="rId30"/>
    <p:sldLayoutId id="2147485955" r:id="rId31"/>
    <p:sldLayoutId id="2147485956" r:id="rId32"/>
    <p:sldLayoutId id="2147485957" r:id="rId33"/>
    <p:sldLayoutId id="2147485958" r:id="rId34"/>
    <p:sldLayoutId id="2147485959" r:id="rId35"/>
    <p:sldLayoutId id="2147485960" r:id="rId36"/>
    <p:sldLayoutId id="2147485961" r:id="rId37"/>
    <p:sldLayoutId id="2147485962" r:id="rId38"/>
    <p:sldLayoutId id="2147485963" r:id="rId39"/>
    <p:sldLayoutId id="2147485964" r:id="rId40"/>
    <p:sldLayoutId id="2147485965" r:id="rId41"/>
    <p:sldLayoutId id="2147485966" r:id="rId42"/>
    <p:sldLayoutId id="2147485967" r:id="rId43"/>
    <p:sldLayoutId id="2147485968" r:id="rId44"/>
    <p:sldLayoutId id="2147485969" r:id="rId45"/>
    <p:sldLayoutId id="2147485970" r:id="rId46"/>
    <p:sldLayoutId id="2147485971" r:id="rId47"/>
    <p:sldLayoutId id="2147485972" r:id="rId48"/>
    <p:sldLayoutId id="2147485973" r:id="rId49"/>
    <p:sldLayoutId id="2147485974" r:id="rId50"/>
    <p:sldLayoutId id="2147485975" r:id="rId51"/>
    <p:sldLayoutId id="2147485976" r:id="rId52"/>
    <p:sldLayoutId id="2147485977" r:id="rId53"/>
    <p:sldLayoutId id="2147485978" r:id="rId54"/>
    <p:sldLayoutId id="2147485979" r:id="rId55"/>
    <p:sldLayoutId id="2147485980" r:id="rId56"/>
    <p:sldLayoutId id="2147485981" r:id="rId57"/>
    <p:sldLayoutId id="2147485982" r:id="rId58"/>
    <p:sldLayoutId id="2147485983" r:id="rId59"/>
    <p:sldLayoutId id="2147485984" r:id="rId60"/>
    <p:sldLayoutId id="2147485985" r:id="rId61"/>
    <p:sldLayoutId id="2147485986" r:id="rId62"/>
    <p:sldLayoutId id="2147485987" r:id="rId63"/>
    <p:sldLayoutId id="2147485988" r:id="rId64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svg"/><Relationship Id="rId18" Type="http://schemas.openxmlformats.org/officeDocument/2006/relationships/image" Target="../media/image87.jpeg"/><Relationship Id="rId3" Type="http://schemas.openxmlformats.org/officeDocument/2006/relationships/image" Target="../media/image72.png"/><Relationship Id="rId7" Type="http://schemas.openxmlformats.org/officeDocument/2006/relationships/image" Target="../media/image76.svg"/><Relationship Id="rId12" Type="http://schemas.openxmlformats.org/officeDocument/2006/relationships/image" Target="../media/image81.png"/><Relationship Id="rId17" Type="http://schemas.openxmlformats.org/officeDocument/2006/relationships/image" Target="../media/image86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5.png"/><Relationship Id="rId20" Type="http://schemas.openxmlformats.org/officeDocument/2006/relationships/image" Target="../media/image89.svg"/><Relationship Id="rId1" Type="http://schemas.openxmlformats.org/officeDocument/2006/relationships/slideLayout" Target="../slideLayouts/slideLayout154.xml"/><Relationship Id="rId6" Type="http://schemas.openxmlformats.org/officeDocument/2006/relationships/image" Target="../media/image75.png"/><Relationship Id="rId11" Type="http://schemas.openxmlformats.org/officeDocument/2006/relationships/image" Target="../media/image80.svg"/><Relationship Id="rId5" Type="http://schemas.openxmlformats.org/officeDocument/2006/relationships/image" Target="../media/image74.png"/><Relationship Id="rId15" Type="http://schemas.openxmlformats.org/officeDocument/2006/relationships/image" Target="../media/image84.sv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73.png"/><Relationship Id="rId9" Type="http://schemas.openxmlformats.org/officeDocument/2006/relationships/image" Target="../media/image78.svg"/><Relationship Id="rId14" Type="http://schemas.openxmlformats.org/officeDocument/2006/relationships/image" Target="../media/image8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4.xml"/><Relationship Id="rId4" Type="http://schemas.openxmlformats.org/officeDocument/2006/relationships/image" Target="../media/image91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svg"/><Relationship Id="rId3" Type="http://schemas.openxmlformats.org/officeDocument/2006/relationships/chart" Target="../charts/chart1.xml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5.xml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14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4.xml"/><Relationship Id="rId4" Type="http://schemas.openxmlformats.org/officeDocument/2006/relationships/image" Target="../media/image9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sv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14.xml"/><Relationship Id="rId5" Type="http://schemas.openxmlformats.org/officeDocument/2006/relationships/image" Target="../media/image106.svg"/><Relationship Id="rId4" Type="http://schemas.openxmlformats.org/officeDocument/2006/relationships/image" Target="../media/image10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sv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4.xml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108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hyperlink" Target="../aka.ms/aifoundrysdk" TargetMode="External"/><Relationship Id="rId1" Type="http://schemas.openxmlformats.org/officeDocument/2006/relationships/slideLayout" Target="../slideLayouts/slideLayout223.xml"/><Relationship Id="rId4" Type="http://schemas.openxmlformats.org/officeDocument/2006/relationships/image" Target="../media/image11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4.xml"/><Relationship Id="rId5" Type="http://schemas.openxmlformats.org/officeDocument/2006/relationships/image" Target="../media/image118.svg"/><Relationship Id="rId4" Type="http://schemas.openxmlformats.org/officeDocument/2006/relationships/image" Target="../media/image1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0.xml"/><Relationship Id="rId6" Type="http://schemas.microsoft.com/office/2007/relationships/hdphoto" Target="../media/hdphoto2.wdp"/><Relationship Id="rId5" Type="http://schemas.openxmlformats.org/officeDocument/2006/relationships/image" Target="../media/image42.png"/><Relationship Id="rId4" Type="http://schemas.openxmlformats.org/officeDocument/2006/relationships/image" Target="../media/image119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CE0119-F82F-75EF-0AAE-422A9B4634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74750" y="457200"/>
            <a:ext cx="11017250" cy="554038"/>
          </a:xfrm>
        </p:spPr>
        <p:txBody>
          <a:bodyPr/>
          <a:lstStyle/>
          <a:p>
            <a:r>
              <a:rPr lang="en-US">
                <a:noFill/>
              </a:rPr>
              <a:t>Microsoft Build</a:t>
            </a:r>
          </a:p>
        </p:txBody>
      </p:sp>
    </p:spTree>
    <p:extLst>
      <p:ext uri="{BB962C8B-B14F-4D97-AF65-F5344CB8AC3E}">
        <p14:creationId xmlns:p14="http://schemas.microsoft.com/office/powerpoint/2010/main" val="55127378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BE0869F-9994-6EA7-7D10-052D18FEA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1687117"/>
            <a:ext cx="6186055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dirty="0"/>
              <a:t>Knowledge Retrieval: </a:t>
            </a:r>
            <a:br>
              <a:rPr lang="en-US" dirty="0"/>
            </a:br>
            <a:r>
              <a:rPr lang="en-US" dirty="0"/>
              <a:t>RAG for enterprise agents with Azure AI Search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E87989B-6C66-47E4-B04C-A2F6EBE60C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3962400"/>
            <a:ext cx="5577840" cy="553998"/>
          </a:xfrm>
        </p:spPr>
        <p:txBody>
          <a:bodyPr/>
          <a:lstStyle/>
          <a:p>
            <a:r>
              <a:rPr lang="en-US" sz="2000" dirty="0">
                <a:latin typeface="+mj-lt"/>
              </a:rPr>
              <a:t>Pablo Castro</a:t>
            </a:r>
          </a:p>
          <a:p>
            <a:r>
              <a:rPr lang="en-US" sz="1600" dirty="0"/>
              <a:t>CVP &amp; Distinguished Engineer, Azure AI Search</a:t>
            </a:r>
          </a:p>
        </p:txBody>
      </p:sp>
    </p:spTree>
    <p:extLst>
      <p:ext uri="{BB962C8B-B14F-4D97-AF65-F5344CB8AC3E}">
        <p14:creationId xmlns:p14="http://schemas.microsoft.com/office/powerpoint/2010/main" val="21499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AD05-90B9-F372-9821-EB1658CF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S box - replacement">
            <a:extLst>
              <a:ext uri="{FF2B5EF4-FFF2-40B4-BE49-F238E27FC236}">
                <a16:creationId xmlns:a16="http://schemas.microsoft.com/office/drawing/2014/main" id="{1FAE4EAE-9A49-D4F1-422F-917B0BA6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898987" y="1621273"/>
            <a:ext cx="6394027" cy="2858754"/>
          </a:xfrm>
          <a:prstGeom prst="roundRect">
            <a:avLst>
              <a:gd name="adj" fmla="val 7594"/>
            </a:avLst>
          </a:prstGeom>
          <a:noFill/>
          <a:ln w="28575" cap="rnd">
            <a:gradFill flip="none" rotWithShape="1">
              <a:gsLst>
                <a:gs pos="80000">
                  <a:srgbClr val="0A6BBA"/>
                </a:gs>
                <a:gs pos="0">
                  <a:srgbClr val="AC35AF"/>
                </a:gs>
              </a:gsLst>
              <a:path path="circle">
                <a:fillToRect l="100000" t="100000"/>
              </a:path>
              <a:tileRect r="-100000" b="-100000"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4819" tIns="123855" rIns="154819" bIns="12385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894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93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Segoe UI Variable Display Semib" pitchFamily="2" charset="0"/>
              <a:ea typeface="+mn-ea"/>
              <a:cs typeface="Segoe UI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1A79C6E-BB73-27CB-7AA7-04A7749A3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112" y="759969"/>
            <a:ext cx="591951" cy="591951"/>
          </a:xfrm>
          <a:prstGeom prst="rect">
            <a:avLst/>
          </a:prstGeom>
        </p:spPr>
      </p:pic>
      <p:sp useBgFill="1">
        <p:nvSpPr>
          <p:cNvPr id="37" name="Title 1">
            <a:extLst>
              <a:ext uri="{FF2B5EF4-FFF2-40B4-BE49-F238E27FC236}">
                <a16:creationId xmlns:a16="http://schemas.microsoft.com/office/drawing/2014/main" id="{786A573F-5043-69E5-324B-C2C3D8200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942199" y="1557049"/>
            <a:ext cx="2232491" cy="196545"/>
          </a:xfrm>
          <a:prstGeom prst="rect">
            <a:avLst/>
          </a:prstGeom>
          <a:ln>
            <a:noFill/>
            <a:prstDash/>
          </a:ln>
          <a:effectLst/>
        </p:spPr>
        <p:txBody>
          <a:bodyPr rot="0" spcFirstLastPara="0" vertOverflow="overflow" horzOverflow="overflow" vert="horz" wrap="none" lIns="54187" tIns="0" rIns="54187" bIns="5418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241368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455604" algn="l"/>
              </a:tabLst>
              <a:defRPr lang="en-US" sz="11500" b="0" cap="none" spc="-50" baseline="0" dirty="0" smtClean="0">
                <a:ln w="3175">
                  <a:noFill/>
                </a:ln>
                <a:gradFill>
                  <a:gsLst>
                    <a:gs pos="94406">
                      <a:srgbClr val="FFFFFF">
                        <a:lumMod val="75000"/>
                        <a:lumOff val="25000"/>
                      </a:srgbClr>
                    </a:gs>
                    <a:gs pos="80000">
                      <a:srgbClr val="FFFFFF">
                        <a:lumMod val="75000"/>
                        <a:lumOff val="25000"/>
                      </a:srgbClr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Segoe UI Variable Display Semib" pitchFamily="2" charset="0"/>
              </a:defRPr>
            </a:lvl1pPr>
          </a:lstStyle>
          <a:p>
            <a:pPr marL="0" marR="0" lvl="0" indent="0" algn="ctr" defTabSz="5362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45566" algn="l"/>
              </a:tabLst>
              <a:defRPr/>
            </a:pPr>
            <a:endParaRPr kumimoji="0" lang="en-CA" sz="2133" b="0" i="0" u="none" strike="noStrike" kern="1200" cap="none" spc="0" normalizeH="0" baseline="0" noProof="0">
              <a:ln w="3175">
                <a:noFill/>
              </a:ln>
              <a:noFill/>
              <a:effectLst/>
              <a:uLnTx/>
              <a:uFillTx/>
              <a:latin typeface="Segoe UI Variable Display Semib" pitchFamily="2" charset="0"/>
              <a:ea typeface="+mn-ea"/>
              <a:cs typeface="Segoe Sans Display Semibold" pitchFamily="2" charset="0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376D6E34-3D8E-F091-438D-006A2ADB464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851520" y="1416144"/>
            <a:ext cx="2436289" cy="38294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54187" tIns="0" rIns="54187" bIns="54187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41368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455604" algn="l"/>
              </a:tabLst>
              <a:defRPr lang="en-US" sz="11500" b="0" cap="none" spc="-50" baseline="0" dirty="0" smtClean="0">
                <a:ln w="3175">
                  <a:noFill/>
                </a:ln>
                <a:gradFill>
                  <a:gsLst>
                    <a:gs pos="94406">
                      <a:srgbClr val="FFFFFF">
                        <a:lumMod val="75000"/>
                        <a:lumOff val="25000"/>
                      </a:srgbClr>
                    </a:gs>
                    <a:gs pos="80000">
                      <a:srgbClr val="FFFFFF">
                        <a:lumMod val="75000"/>
                        <a:lumOff val="25000"/>
                      </a:srgbClr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Segoe UI Variable Display Semib" pitchFamily="2" charset="0"/>
              </a:defRPr>
            </a:lvl1pPr>
          </a:lstStyle>
          <a:p>
            <a:pPr marL="0" marR="0" lvl="0" indent="0" algn="ctr" defTabSz="5362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45566" algn="l"/>
              </a:tabLst>
              <a:defRPr/>
            </a:pPr>
            <a:r>
              <a:rPr kumimoji="0" lang="en-US" sz="2133" b="0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10092">
                      <a:srgbClr val="000000"/>
                    </a:gs>
                    <a:gs pos="33028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 pitchFamily="2" charset="0"/>
              </a:rPr>
              <a:t>Azure AI Foundry </a:t>
            </a:r>
            <a:endParaRPr kumimoji="0" lang="en-CA" sz="2133" b="0" i="0" u="none" strike="noStrike" kern="1200" cap="none" spc="0" normalizeH="0" baseline="0" noProof="0" dirty="0">
              <a:ln w="3175">
                <a:noFill/>
              </a:ln>
              <a:gradFill>
                <a:gsLst>
                  <a:gs pos="10092">
                    <a:srgbClr val="000000"/>
                  </a:gs>
                  <a:gs pos="33028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" pitchFamily="2" charset="0"/>
              <a:ea typeface="+mn-ea"/>
              <a:cs typeface="Segoe Sans Display Semibold" pitchFamily="2" charset="0"/>
            </a:endParaRPr>
          </a:p>
        </p:txBody>
      </p:sp>
      <p:grpSp>
        <p:nvGrpSpPr>
          <p:cNvPr id="85" name="Group 84" descr="Copilot Studio&#10;Visual Studio&#10;GitHub&#10;Foundry SDK">
            <a:extLst>
              <a:ext uri="{FF2B5EF4-FFF2-40B4-BE49-F238E27FC236}">
                <a16:creationId xmlns:a16="http://schemas.microsoft.com/office/drawing/2014/main" id="{41FB576E-ACCA-E159-3444-8C9808D8F55D}"/>
              </a:ext>
            </a:extLst>
          </p:cNvPr>
          <p:cNvGrpSpPr/>
          <p:nvPr/>
        </p:nvGrpSpPr>
        <p:grpSpPr>
          <a:xfrm>
            <a:off x="613050" y="1621264"/>
            <a:ext cx="1828800" cy="2858754"/>
            <a:chOff x="2232308" y="1724297"/>
            <a:chExt cx="1993574" cy="3383280"/>
          </a:xfrm>
        </p:grpSpPr>
        <p:sp>
          <p:nvSpPr>
            <p:cNvPr id="76" name="Rounded Rectangle 6">
              <a:extLst>
                <a:ext uri="{FF2B5EF4-FFF2-40B4-BE49-F238E27FC236}">
                  <a16:creationId xmlns:a16="http://schemas.microsoft.com/office/drawing/2014/main" id="{ADE3A328-8039-192A-2499-2767E7110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2232308" y="1724297"/>
              <a:ext cx="1993574" cy="3383280"/>
            </a:xfrm>
            <a:prstGeom prst="roundRect">
              <a:avLst>
                <a:gd name="adj" fmla="val 9110"/>
              </a:avLst>
            </a:prstGeom>
            <a:ln w="15875" cap="rnd">
              <a:solidFill>
                <a:srgbClr val="0A6BBA"/>
              </a:solidFill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08345" tIns="86676" rIns="108345" bIns="8667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55246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67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99000">
                      <a:srgbClr val="000000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321A2C3-A512-98A5-391E-6BFD49730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01668" y="2171312"/>
              <a:ext cx="336279" cy="336278"/>
            </a:xfrm>
            <a:prstGeom prst="rect">
              <a:avLst/>
            </a:prstGeom>
            <a:effectLst/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7D7230E-A791-C77A-1052-7C246602A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76147" y="2053796"/>
              <a:ext cx="1097280" cy="57131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Copilot </a:t>
              </a:r>
              <a:b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</a:b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Studio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98C23CD1-3467-B4DC-8536-7D4E6B0CD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81" r="20481"/>
            <a:stretch/>
          </p:blipFill>
          <p:spPr>
            <a:xfrm>
              <a:off x="2498875" y="2872321"/>
              <a:ext cx="345117" cy="365348"/>
            </a:xfrm>
            <a:prstGeom prst="rect">
              <a:avLst/>
            </a:prstGeom>
            <a:ln w="6657" cap="flat">
              <a:noFill/>
              <a:prstDash val="solid"/>
              <a:miter/>
            </a:ln>
            <a:effectLst/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F37AE73-38A9-E474-D885-EF17C0D44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76147" y="2769340"/>
              <a:ext cx="1097280" cy="57131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Visual </a:t>
              </a:r>
              <a:b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</a:b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Studio</a:t>
              </a:r>
            </a:p>
          </p:txBody>
        </p:sp>
        <p:pic>
          <p:nvPicPr>
            <p:cNvPr id="81" name="Graphic 80">
              <a:extLst>
                <a:ext uri="{FF2B5EF4-FFF2-40B4-BE49-F238E27FC236}">
                  <a16:creationId xmlns:a16="http://schemas.microsoft.com/office/drawing/2014/main" id="{D43BEC3D-19DB-20EE-F46D-208C69BFE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-10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99640" y="3602703"/>
              <a:ext cx="340334" cy="335670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59C0DEC-9EB1-C905-E718-747A639BE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76147" y="3627713"/>
              <a:ext cx="1097280" cy="28565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GitHub</a:t>
              </a:r>
            </a:p>
          </p:txBody>
        </p:sp>
        <p:pic>
          <p:nvPicPr>
            <p:cNvPr id="83" name="Picture 82" descr="A blue and pink ribbon&#10;&#10;Description automatically generated">
              <a:extLst>
                <a:ext uri="{FF2B5EF4-FFF2-40B4-BE49-F238E27FC236}">
                  <a16:creationId xmlns:a16="http://schemas.microsoft.com/office/drawing/2014/main" id="{67BBF9AA-3DA2-FF9A-137B-E41AF8F6B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2842" y="4300070"/>
              <a:ext cx="363396" cy="363396"/>
            </a:xfrm>
            <a:prstGeom prst="rect">
              <a:avLst/>
            </a:prstGeom>
          </p:spPr>
        </p:pic>
        <p:sp>
          <p:nvSpPr>
            <p:cNvPr id="84" name="Rounded Rectangle 6">
              <a:extLst>
                <a:ext uri="{FF2B5EF4-FFF2-40B4-BE49-F238E27FC236}">
                  <a16:creationId xmlns:a16="http://schemas.microsoft.com/office/drawing/2014/main" id="{1FF4BFCD-6C41-8E4C-B742-50C86A9F5C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2976147" y="4200427"/>
              <a:ext cx="1097280" cy="57131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Foundry </a:t>
              </a:r>
              <a:b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</a:b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SDK</a:t>
              </a:r>
            </a:p>
          </p:txBody>
        </p:sp>
      </p:grpSp>
      <p:sp useBgFill="1">
        <p:nvSpPr>
          <p:cNvPr id="46" name="TextBox 45">
            <a:extLst>
              <a:ext uri="{FF2B5EF4-FFF2-40B4-BE49-F238E27FC236}">
                <a16:creationId xmlns:a16="http://schemas.microsoft.com/office/drawing/2014/main" id="{E19B01A1-BC88-3ACA-32A2-6C6E40770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12852" y="4354532"/>
            <a:ext cx="2760472" cy="250972"/>
          </a:xfrm>
          <a:prstGeom prst="roundRect">
            <a:avLst>
              <a:gd name="adj" fmla="val 34392"/>
            </a:avLst>
          </a:prstGeom>
        </p:spPr>
        <p:txBody>
          <a:bodyPr wrap="square" lIns="54187" tIns="10837" rIns="54187" bIns="21675" rtlCol="0" anchor="ctr" anchorCtr="0">
            <a:sp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99000">
                      <a:srgbClr val="000000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Sans Display Semibold"/>
              </a:rPr>
              <a:t>Security</a:t>
            </a:r>
            <a:r>
              <a:rPr kumimoji="0" lang="en-US" sz="1100" b="1" i="0" u="none" strike="noStrike" kern="1200" cap="none" spc="0" normalizeH="0" noProof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99000">
                      <a:srgbClr val="000000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Sans Display Semibold"/>
              </a:rPr>
              <a:t> &amp; Governance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000000"/>
                  </a:gs>
                  <a:gs pos="99000">
                    <a:srgbClr val="000000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Sans Display Semibold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6E357C0-8A07-D408-1A8A-10053E6079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076442" y="1904063"/>
            <a:ext cx="6065864" cy="594360"/>
          </a:xfrm>
          <a:prstGeom prst="roundRect">
            <a:avLst>
              <a:gd name="adj" fmla="val 35775"/>
            </a:avLst>
          </a:prstGeom>
          <a:gradFill flip="none" rotWithShape="1">
            <a:gsLst>
              <a:gs pos="14000">
                <a:srgbClr val="2263B8"/>
              </a:gs>
              <a:gs pos="91000">
                <a:srgbClr val="8642B1"/>
              </a:gs>
            </a:gsLst>
            <a:lin ang="2400000" scaled="0"/>
            <a:tileRect/>
          </a:gradFill>
        </p:spPr>
        <p:txBody>
          <a:bodyPr wrap="square" lIns="0" tIns="0" rIns="0" bIns="16256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Foundry Models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9D58E6B-48D8-CE9A-B9AF-5600BB589F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076442" y="2568793"/>
            <a:ext cx="6063090" cy="594360"/>
          </a:xfrm>
          <a:prstGeom prst="roundRect">
            <a:avLst>
              <a:gd name="adj" fmla="val 34867"/>
            </a:avLst>
          </a:prstGeom>
          <a:gradFill flip="none" rotWithShape="1">
            <a:gsLst>
              <a:gs pos="10000">
                <a:srgbClr val="2263B8"/>
              </a:gs>
              <a:gs pos="70000">
                <a:srgbClr val="8642B1"/>
              </a:gs>
            </a:gsLst>
            <a:lin ang="2400000" scaled="0"/>
            <a:tileRect/>
          </a:gradFill>
        </p:spPr>
        <p:txBody>
          <a:bodyPr wrap="square" lIns="0" tIns="0" rIns="0" bIns="16256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Foundry Agent Service</a:t>
            </a:r>
          </a:p>
        </p:txBody>
      </p:sp>
      <p:sp>
        <p:nvSpPr>
          <p:cNvPr id="54" name="Rounded Rectangle 6">
            <a:extLst>
              <a:ext uri="{FF2B5EF4-FFF2-40B4-BE49-F238E27FC236}">
                <a16:creationId xmlns:a16="http://schemas.microsoft.com/office/drawing/2014/main" id="{15EBA890-DB9D-E032-E525-C4ACEA53C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078057" y="3235710"/>
            <a:ext cx="1463040" cy="438912"/>
          </a:xfrm>
          <a:prstGeom prst="roundRect">
            <a:avLst>
              <a:gd name="adj" fmla="val 35749"/>
            </a:avLst>
          </a:prstGeom>
          <a:gradFill flip="none" rotWithShape="1">
            <a:gsLst>
              <a:gs pos="13000">
                <a:srgbClr val="2263B8"/>
              </a:gs>
              <a:gs pos="88073">
                <a:srgbClr val="2662B8"/>
              </a:gs>
            </a:gsLst>
            <a:lin ang="2400000" scaled="0"/>
            <a:tileRect/>
          </a:gradFill>
          <a:ln w="9525" cap="rnd">
            <a:noFill/>
          </a:ln>
        </p:spPr>
        <p:txBody>
          <a:bodyPr wrap="square" lIns="0" tIns="0" rIns="0" bIns="10837" rtlCol="0" anchor="ctr" anchorCtr="0">
            <a:no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Azure AI </a:t>
            </a:r>
          </a:p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Search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gradFill>
                <a:gsLst>
                  <a:gs pos="27523">
                    <a:srgbClr val="FFFFFF"/>
                  </a:gs>
                  <a:gs pos="73000">
                    <a:srgbClr val="FFFFFF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Segoe UI Variable Display Semib" pitchFamily="2" charset="0"/>
              <a:ea typeface="+mn-ea"/>
              <a:cs typeface="Segoe Sans Display Semibold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B885A02-C076-606C-F78A-D5986D5E68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083891" y="3741116"/>
            <a:ext cx="6048192" cy="438912"/>
          </a:xfrm>
          <a:prstGeom prst="roundRect">
            <a:avLst>
              <a:gd name="adj" fmla="val 35536"/>
            </a:avLst>
          </a:prstGeom>
          <a:gradFill flip="none" rotWithShape="1">
            <a:gsLst>
              <a:gs pos="7000">
                <a:srgbClr val="2263B8"/>
              </a:gs>
              <a:gs pos="85000">
                <a:srgbClr val="A438B0"/>
              </a:gs>
            </a:gsLst>
            <a:lin ang="3600000" scaled="0"/>
            <a:tileRect/>
          </a:gradFill>
        </p:spPr>
        <p:txBody>
          <a:bodyPr wrap="square" lIns="0" tIns="0" rIns="0" bIns="10837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Foundry Observability</a:t>
            </a:r>
          </a:p>
        </p:txBody>
      </p:sp>
      <p:sp>
        <p:nvSpPr>
          <p:cNvPr id="69" name="Rounded Rectangle 6">
            <a:extLst>
              <a:ext uri="{FF2B5EF4-FFF2-40B4-BE49-F238E27FC236}">
                <a16:creationId xmlns:a16="http://schemas.microsoft.com/office/drawing/2014/main" id="{BAAA2FAB-1843-D4B0-31BD-1455B89AF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606625" y="3237980"/>
            <a:ext cx="1463040" cy="438912"/>
          </a:xfrm>
          <a:prstGeom prst="roundRect">
            <a:avLst>
              <a:gd name="adj" fmla="val 35749"/>
            </a:avLst>
          </a:prstGeom>
          <a:gradFill flip="none" rotWithShape="1">
            <a:gsLst>
              <a:gs pos="0">
                <a:srgbClr val="325EB7"/>
              </a:gs>
              <a:gs pos="39000">
                <a:srgbClr val="5353B5"/>
              </a:gs>
            </a:gsLst>
            <a:lin ang="2400000" scaled="0"/>
            <a:tileRect/>
          </a:gradFill>
          <a:ln w="9525" cap="rnd">
            <a:noFill/>
          </a:ln>
        </p:spPr>
        <p:txBody>
          <a:bodyPr wrap="square" lIns="0" tIns="0" rIns="0" bIns="10837" rtlCol="0" anchor="ctr" anchorCtr="0">
            <a:no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Azure AI </a:t>
            </a:r>
          </a:p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Services</a:t>
            </a:r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8972046B-F91B-DC5F-76A9-138E88C36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135193" y="3235710"/>
            <a:ext cx="1463040" cy="438912"/>
          </a:xfrm>
          <a:prstGeom prst="roundRect">
            <a:avLst>
              <a:gd name="adj" fmla="val 35749"/>
            </a:avLst>
          </a:prstGeom>
          <a:gradFill flip="none" rotWithShape="1">
            <a:gsLst>
              <a:gs pos="57000">
                <a:srgbClr val="8642B1"/>
              </a:gs>
              <a:gs pos="0">
                <a:srgbClr val="5951B4"/>
              </a:gs>
            </a:gsLst>
            <a:lin ang="2400000" scaled="0"/>
            <a:tileRect/>
          </a:gradFill>
          <a:ln w="9525" cap="rnd">
            <a:noFill/>
          </a:ln>
        </p:spPr>
        <p:txBody>
          <a:bodyPr wrap="square" lIns="0" tIns="0" rIns="0" bIns="10837" rtlCol="0" anchor="ctr" anchorCtr="0">
            <a:no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Azure </a:t>
            </a:r>
          </a:p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Machine Learning</a:t>
            </a:r>
          </a:p>
        </p:txBody>
      </p:sp>
      <p:sp>
        <p:nvSpPr>
          <p:cNvPr id="74" name="Rounded Rectangle 6">
            <a:extLst>
              <a:ext uri="{FF2B5EF4-FFF2-40B4-BE49-F238E27FC236}">
                <a16:creationId xmlns:a16="http://schemas.microsoft.com/office/drawing/2014/main" id="{A35A8832-48AB-A393-C3C7-0FFE1FFCF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663761" y="3237980"/>
            <a:ext cx="1463040" cy="438912"/>
          </a:xfrm>
          <a:prstGeom prst="roundRect">
            <a:avLst>
              <a:gd name="adj" fmla="val 35749"/>
            </a:avLst>
          </a:prstGeom>
          <a:gradFill flip="none" rotWithShape="1">
            <a:gsLst>
              <a:gs pos="80000">
                <a:srgbClr val="AC35AF"/>
              </a:gs>
              <a:gs pos="1000">
                <a:srgbClr val="8642B1"/>
              </a:gs>
            </a:gsLst>
            <a:lin ang="2400000" scaled="0"/>
            <a:tileRect/>
          </a:gradFill>
          <a:ln w="9525" cap="rnd">
            <a:noFill/>
          </a:ln>
        </p:spPr>
        <p:txBody>
          <a:bodyPr wrap="square" lIns="0" tIns="0" rIns="0" bIns="10837" rtlCol="0" anchor="ctr" anchorCtr="0">
            <a:no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Azure AI</a:t>
            </a:r>
          </a:p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Content Safety</a:t>
            </a:r>
          </a:p>
        </p:txBody>
      </p:sp>
      <p:grpSp>
        <p:nvGrpSpPr>
          <p:cNvPr id="104" name="Group 103" descr="Control, Azure Kubernetes Service, Azure App Service, Azure container Apps, Azure Functions, Serverless">
            <a:extLst>
              <a:ext uri="{FF2B5EF4-FFF2-40B4-BE49-F238E27FC236}">
                <a16:creationId xmlns:a16="http://schemas.microsoft.com/office/drawing/2014/main" id="{BD97EA36-A846-02B4-3163-B061AE7A9E07}"/>
              </a:ext>
            </a:extLst>
          </p:cNvPr>
          <p:cNvGrpSpPr/>
          <p:nvPr/>
        </p:nvGrpSpPr>
        <p:grpSpPr>
          <a:xfrm>
            <a:off x="2896075" y="4883686"/>
            <a:ext cx="6394027" cy="345175"/>
            <a:chOff x="4708657" y="5147999"/>
            <a:chExt cx="11146536" cy="298985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1689C9B2-1F9D-27CB-FDEF-17DDB9FA8F54}"/>
                </a:ext>
              </a:extLst>
            </p:cNvPr>
            <p:cNvSpPr/>
            <p:nvPr/>
          </p:nvSpPr>
          <p:spPr bwMode="auto">
            <a:xfrm>
              <a:off x="4708657" y="5147999"/>
              <a:ext cx="11146536" cy="298985"/>
            </a:xfrm>
            <a:prstGeom prst="roundRect">
              <a:avLst>
                <a:gd name="adj" fmla="val 31390"/>
              </a:avLst>
            </a:prstGeom>
            <a:gradFill flip="none" rotWithShape="1">
              <a:gsLst>
                <a:gs pos="0">
                  <a:srgbClr val="702573">
                    <a:alpha val="10000"/>
                  </a:srgbClr>
                </a:gs>
                <a:gs pos="80000">
                  <a:srgbClr val="2A446F">
                    <a:alpha val="1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86699" rIns="108373" bIns="86699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55258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7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88" name="!!Straight Arrow Connector 50">
              <a:extLst>
                <a:ext uri="{FF2B5EF4-FFF2-40B4-BE49-F238E27FC236}">
                  <a16:creationId xmlns:a16="http://schemas.microsoft.com/office/drawing/2014/main" id="{2475A81F-6963-79CC-9BB1-BB85ED086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9206" y="5300357"/>
              <a:ext cx="228601" cy="0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arrow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ounded Rectangle 6">
              <a:extLst>
                <a:ext uri="{FF2B5EF4-FFF2-40B4-BE49-F238E27FC236}">
                  <a16:creationId xmlns:a16="http://schemas.microsoft.com/office/drawing/2014/main" id="{433413E8-5C6E-D733-C344-92AB43ABF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4705471" y="5214533"/>
              <a:ext cx="1052076" cy="171650"/>
            </a:xfrm>
            <a:prstGeom prst="roundRect">
              <a:avLst>
                <a:gd name="adj" fmla="val 37156"/>
              </a:avLst>
            </a:prstGeom>
            <a:gradFill flip="none" rotWithShape="1">
              <a:gsLst>
                <a:gs pos="0">
                  <a:srgbClr val="702573"/>
                </a:gs>
                <a:gs pos="80000">
                  <a:srgbClr val="2A446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rnd">
              <a:noFill/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none" lIns="54187" tIns="10837" rIns="54187" bIns="21675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2018">
                        <a:srgbClr val="FFFFFF"/>
                      </a:gs>
                      <a:gs pos="44000">
                        <a:srgbClr val="FFFFFF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" pitchFamily="2" charset="0"/>
                  <a:ea typeface="+mn-ea"/>
                  <a:cs typeface="Segoe Sans Display Semibold"/>
                </a:rPr>
                <a:t>Serverless</a:t>
              </a:r>
            </a:p>
          </p:txBody>
        </p:sp>
        <p:sp>
          <p:nvSpPr>
            <p:cNvPr id="90" name="Rounded Rectangle 6">
              <a:extLst>
                <a:ext uri="{FF2B5EF4-FFF2-40B4-BE49-F238E27FC236}">
                  <a16:creationId xmlns:a16="http://schemas.microsoft.com/office/drawing/2014/main" id="{083B576B-3BFD-25E7-2577-E4F382FCC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4798938" y="5214533"/>
              <a:ext cx="856475" cy="171650"/>
            </a:xfrm>
            <a:prstGeom prst="roundRect">
              <a:avLst>
                <a:gd name="adj" fmla="val 37156"/>
              </a:avLst>
            </a:prstGeom>
            <a:gradFill flip="none" rotWithShape="1">
              <a:gsLst>
                <a:gs pos="0">
                  <a:srgbClr val="702573"/>
                </a:gs>
                <a:gs pos="80000">
                  <a:srgbClr val="2A446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rnd">
              <a:noFill/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none" lIns="54187" tIns="10837" rIns="54187" bIns="21675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r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2018">
                        <a:srgbClr val="FFFFFF"/>
                      </a:gs>
                      <a:gs pos="44000">
                        <a:srgbClr val="FFFFFF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" pitchFamily="2" charset="0"/>
                  <a:ea typeface="+mn-ea"/>
                  <a:cs typeface="Segoe Sans Display Semibold"/>
                </a:rPr>
                <a:t>Control</a:t>
              </a:r>
            </a:p>
          </p:txBody>
        </p:sp>
        <p:cxnSp>
          <p:nvCxnSpPr>
            <p:cNvPr id="91" name="!!Straight Arrow Connector 55">
              <a:extLst>
                <a:ext uri="{FF2B5EF4-FFF2-40B4-BE49-F238E27FC236}">
                  <a16:creationId xmlns:a16="http://schemas.microsoft.com/office/drawing/2014/main" id="{69C1A453-3D3C-7C82-1D6E-C389C30BD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83081" y="5300357"/>
              <a:ext cx="228601" cy="0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arrow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592594A-9B54-BA45-071A-ACCE057C0E4E}"/>
                </a:ext>
              </a:extLst>
            </p:cNvPr>
            <p:cNvGrpSpPr/>
            <p:nvPr/>
          </p:nvGrpSpPr>
          <p:grpSpPr>
            <a:xfrm>
              <a:off x="6071599" y="5204313"/>
              <a:ext cx="2312716" cy="192084"/>
              <a:chOff x="5813453" y="5319110"/>
              <a:chExt cx="2312716" cy="192084"/>
            </a:xfrm>
          </p:grpSpPr>
          <p:sp useBgFill="1">
            <p:nvSpPr>
              <p:cNvPr id="102" name="Rounded Rectangle 6">
                <a:extLst>
                  <a:ext uri="{FF2B5EF4-FFF2-40B4-BE49-F238E27FC236}">
                    <a16:creationId xmlns:a16="http://schemas.microsoft.com/office/drawing/2014/main" id="{59FE60D4-E804-AF8E-BF76-DD8DC2B932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5813453" y="5319110"/>
                <a:ext cx="2312716" cy="192084"/>
              </a:xfrm>
              <a:prstGeom prst="roundRect">
                <a:avLst>
                  <a:gd name="adj" fmla="val 29733"/>
                </a:avLst>
              </a:prstGeom>
              <a:ln w="19050" cap="rnd">
                <a:noFill/>
                <a:headEnd type="none" w="lg" len="sm"/>
                <a:tailEnd type="none" w="lg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none" lIns="243840" tIns="32512" rIns="54187" bIns="43349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000000"/>
                        </a:gs>
                        <a:gs pos="99000">
                          <a:srgbClr val="000000"/>
                        </a:gs>
                      </a:gsLst>
                      <a:path path="circle">
                        <a:fillToRect r="100000" b="100000"/>
                      </a:path>
                    </a:gradFill>
                    <a:effectLst/>
                    <a:uLnTx/>
                    <a:uFillTx/>
                    <a:latin typeface="Segoe UI Variable Display Semib" pitchFamily="2" charset="0"/>
                    <a:ea typeface="+mn-ea"/>
                    <a:cs typeface="Segoe Sans Display Semibold"/>
                  </a:rPr>
                  <a:t>Azure Kubernetes Service</a:t>
                </a:r>
              </a:p>
            </p:txBody>
          </p:sp>
          <p:pic>
            <p:nvPicPr>
              <p:cNvPr id="103" name="Graphic 102">
                <a:extLst>
                  <a:ext uri="{FF2B5EF4-FFF2-40B4-BE49-F238E27FC236}">
                    <a16:creationId xmlns:a16="http://schemas.microsoft.com/office/drawing/2014/main" id="{26016EE8-E652-D474-2FB9-CB2382B77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5902215" y="5336669"/>
                <a:ext cx="342778" cy="151241"/>
              </a:xfrm>
              <a:prstGeom prst="rect">
                <a:avLst/>
              </a:prstGeom>
              <a:effectLst/>
            </p:spPr>
          </p:pic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573F332-91F9-863C-F465-CC760F2EE8CA}"/>
                </a:ext>
              </a:extLst>
            </p:cNvPr>
            <p:cNvGrpSpPr/>
            <p:nvPr/>
          </p:nvGrpSpPr>
          <p:grpSpPr>
            <a:xfrm>
              <a:off x="10419568" y="5204314"/>
              <a:ext cx="2070221" cy="192084"/>
              <a:chOff x="10439045" y="5319112"/>
              <a:chExt cx="2070221" cy="192084"/>
            </a:xfrm>
          </p:grpSpPr>
          <p:sp useBgFill="1">
            <p:nvSpPr>
              <p:cNvPr id="100" name="Rounded Rectangle 6">
                <a:extLst>
                  <a:ext uri="{FF2B5EF4-FFF2-40B4-BE49-F238E27FC236}">
                    <a16:creationId xmlns:a16="http://schemas.microsoft.com/office/drawing/2014/main" id="{FA611AF0-45BC-C88B-D0FB-00A20705C5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10439045" y="5319112"/>
                <a:ext cx="2070221" cy="192084"/>
              </a:xfrm>
              <a:prstGeom prst="roundRect">
                <a:avLst>
                  <a:gd name="adj" fmla="val 29733"/>
                </a:avLst>
              </a:prstGeom>
              <a:ln w="19050" cap="rnd">
                <a:noFill/>
                <a:headEnd type="none" w="lg" len="sm"/>
                <a:tailEnd type="none" w="lg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none" lIns="243840" tIns="32512" rIns="54187" bIns="43349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000000"/>
                        </a:gs>
                        <a:gs pos="99000">
                          <a:srgbClr val="000000"/>
                        </a:gs>
                      </a:gsLst>
                      <a:path path="circle">
                        <a:fillToRect r="100000" b="100000"/>
                      </a:path>
                    </a:gradFill>
                    <a:effectLst/>
                    <a:uLnTx/>
                    <a:uFillTx/>
                    <a:latin typeface="Segoe UI Variable Display Semib" pitchFamily="2" charset="0"/>
                    <a:ea typeface="+mn-ea"/>
                    <a:cs typeface="Segoe Sans Display Semibold"/>
                  </a:rPr>
                  <a:t>Azure Container Apps</a:t>
                </a:r>
              </a:p>
            </p:txBody>
          </p:sp>
          <p:pic>
            <p:nvPicPr>
              <p:cNvPr id="101" name="Graphic 100">
                <a:extLst>
                  <a:ext uri="{FF2B5EF4-FFF2-40B4-BE49-F238E27FC236}">
                    <a16:creationId xmlns:a16="http://schemas.microsoft.com/office/drawing/2014/main" id="{B3B06695-E65D-7536-FC03-32E99E713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lum bright="-8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10538261" y="5323391"/>
                <a:ext cx="328502" cy="187803"/>
              </a:xfrm>
              <a:prstGeom prst="rect">
                <a:avLst/>
              </a:prstGeom>
              <a:effectLst/>
            </p:spPr>
          </p:pic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7A437BFB-7BA4-6BA6-DFF6-B9C0EA883AE5}"/>
                </a:ext>
              </a:extLst>
            </p:cNvPr>
            <p:cNvGrpSpPr/>
            <p:nvPr/>
          </p:nvGrpSpPr>
          <p:grpSpPr>
            <a:xfrm>
              <a:off x="8496796" y="5204314"/>
              <a:ext cx="1814134" cy="192084"/>
              <a:chOff x="8323727" y="5319111"/>
              <a:chExt cx="1814134" cy="192084"/>
            </a:xfrm>
          </p:grpSpPr>
          <p:sp useBgFill="1">
            <p:nvSpPr>
              <p:cNvPr id="98" name="Rounded Rectangle 6">
                <a:extLst>
                  <a:ext uri="{FF2B5EF4-FFF2-40B4-BE49-F238E27FC236}">
                    <a16:creationId xmlns:a16="http://schemas.microsoft.com/office/drawing/2014/main" id="{AD174FAD-E8A0-3DD9-C846-B07932A3C1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8323727" y="5319111"/>
                <a:ext cx="1814134" cy="192084"/>
              </a:xfrm>
              <a:prstGeom prst="roundRect">
                <a:avLst>
                  <a:gd name="adj" fmla="val 29733"/>
                </a:avLst>
              </a:prstGeom>
              <a:ln w="19050" cap="rnd">
                <a:noFill/>
                <a:headEnd type="none" w="lg" len="sm"/>
                <a:tailEnd type="none" w="lg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none" lIns="243840" tIns="32512" rIns="54187" bIns="43349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000000"/>
                        </a:gs>
                        <a:gs pos="99000">
                          <a:srgbClr val="000000"/>
                        </a:gs>
                      </a:gsLst>
                      <a:path path="circle">
                        <a:fillToRect r="100000" b="100000"/>
                      </a:path>
                    </a:gradFill>
                    <a:effectLst/>
                    <a:uLnTx/>
                    <a:uFillTx/>
                    <a:latin typeface="Segoe UI Variable Display Semib" pitchFamily="2" charset="0"/>
                    <a:ea typeface="+mn-ea"/>
                    <a:cs typeface="Segoe Sans Display Semibold"/>
                  </a:rPr>
                  <a:t>Azure App Service</a:t>
                </a:r>
              </a:p>
            </p:txBody>
          </p:sp>
          <p:pic>
            <p:nvPicPr>
              <p:cNvPr id="99" name="Graphic 98">
                <a:extLst>
                  <a:ext uri="{FF2B5EF4-FFF2-40B4-BE49-F238E27FC236}">
                    <a16:creationId xmlns:a16="http://schemas.microsoft.com/office/drawing/2014/main" id="{732EBF77-CFB8-8CE2-893B-8E09ADF5FE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8439060" y="5336671"/>
                <a:ext cx="322394" cy="151238"/>
              </a:xfrm>
              <a:prstGeom prst="rect">
                <a:avLst/>
              </a:prstGeom>
            </p:spPr>
          </p:pic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1CB5DF5-6A5E-D35E-2AB8-1CEBEEF36370}"/>
                </a:ext>
              </a:extLst>
            </p:cNvPr>
            <p:cNvGrpSpPr/>
            <p:nvPr/>
          </p:nvGrpSpPr>
          <p:grpSpPr>
            <a:xfrm>
              <a:off x="12602962" y="5204313"/>
              <a:ext cx="1671031" cy="192084"/>
              <a:chOff x="12850678" y="5319111"/>
              <a:chExt cx="1671031" cy="192084"/>
            </a:xfrm>
          </p:grpSpPr>
          <p:sp useBgFill="1">
            <p:nvSpPr>
              <p:cNvPr id="96" name="Rounded Rectangle 6">
                <a:extLst>
                  <a:ext uri="{FF2B5EF4-FFF2-40B4-BE49-F238E27FC236}">
                    <a16:creationId xmlns:a16="http://schemas.microsoft.com/office/drawing/2014/main" id="{29C0B081-4E02-056F-9BC1-E1CC595E9E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12850678" y="5319111"/>
                <a:ext cx="1671031" cy="192084"/>
              </a:xfrm>
              <a:prstGeom prst="roundRect">
                <a:avLst>
                  <a:gd name="adj" fmla="val 29733"/>
                </a:avLst>
              </a:prstGeom>
              <a:ln w="19050" cap="rnd">
                <a:noFill/>
                <a:headEnd type="none" w="lg" len="sm"/>
                <a:tailEnd type="none" w="lg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none" lIns="243840" tIns="32512" rIns="54187" bIns="43349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000000"/>
                        </a:gs>
                        <a:gs pos="99000">
                          <a:srgbClr val="000000"/>
                        </a:gs>
                      </a:gsLst>
                      <a:path path="circle">
                        <a:fillToRect r="100000" b="100000"/>
                      </a:path>
                    </a:gradFill>
                    <a:effectLst/>
                    <a:uLnTx/>
                    <a:uFillTx/>
                    <a:latin typeface="Segoe UI Variable Display Semib" pitchFamily="2" charset="0"/>
                    <a:ea typeface="+mn-ea"/>
                    <a:cs typeface="Segoe Sans Display Semibold"/>
                  </a:rPr>
                  <a:t>Azure Functions</a:t>
                </a:r>
              </a:p>
            </p:txBody>
          </p:sp>
          <p:pic>
            <p:nvPicPr>
              <p:cNvPr id="97" name="Picture Placeholder 6">
                <a:extLst>
                  <a:ext uri="{FF2B5EF4-FFF2-40B4-BE49-F238E27FC236}">
                    <a16:creationId xmlns:a16="http://schemas.microsoft.com/office/drawing/2014/main" id="{907D3A31-E56C-3096-E81D-F1C6EF2DE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 l="6" r="6"/>
              <a:stretch/>
            </p:blipFill>
            <p:spPr>
              <a:xfrm>
                <a:off x="12945360" y="5337071"/>
                <a:ext cx="322392" cy="150840"/>
              </a:xfrm>
              <a:prstGeom prst="rect">
                <a:avLst/>
              </a:prstGeom>
              <a:effectLst/>
            </p:spPr>
          </p:pic>
        </p:grpSp>
      </p:grpSp>
      <p:cxnSp>
        <p:nvCxnSpPr>
          <p:cNvPr id="106" name="!!Straight Arrow Connector 119">
            <a:extLst>
              <a:ext uri="{FF2B5EF4-FFF2-40B4-BE49-F238E27FC236}">
                <a16:creationId xmlns:a16="http://schemas.microsoft.com/office/drawing/2014/main" id="{85B6C4FC-F7F2-D53A-A27F-95502DE07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453107" y="3070640"/>
            <a:ext cx="162420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!!Straight Arrow Connector 120">
            <a:extLst>
              <a:ext uri="{FF2B5EF4-FFF2-40B4-BE49-F238E27FC236}">
                <a16:creationId xmlns:a16="http://schemas.microsoft.com/office/drawing/2014/main" id="{22AE8C3E-B7C4-8C7E-B9BB-94FD92F8D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396660" y="2967732"/>
            <a:ext cx="162420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!!Straight Arrow Connector 53">
            <a:extLst>
              <a:ext uri="{FF2B5EF4-FFF2-40B4-BE49-F238E27FC236}">
                <a16:creationId xmlns:a16="http://schemas.microsoft.com/office/drawing/2014/main" id="{542C9628-F7D6-5FB0-CB8D-5E8A0A48B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600503" y="3096575"/>
            <a:ext cx="162420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!!Straight Arrow Connector 54">
            <a:extLst>
              <a:ext uri="{FF2B5EF4-FFF2-40B4-BE49-F238E27FC236}">
                <a16:creationId xmlns:a16="http://schemas.microsoft.com/office/drawing/2014/main" id="{D82EBE80-E6CC-9D1A-79D8-3D09A71B6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44059" y="2993667"/>
            <a:ext cx="162420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 descr="Cloud, Azure, Azure Arc, Foundry Local, Edge">
            <a:extLst>
              <a:ext uri="{FF2B5EF4-FFF2-40B4-BE49-F238E27FC236}">
                <a16:creationId xmlns:a16="http://schemas.microsoft.com/office/drawing/2014/main" id="{64DC5487-F157-37A7-6C94-3D0BF89B8427}"/>
              </a:ext>
            </a:extLst>
          </p:cNvPr>
          <p:cNvGrpSpPr/>
          <p:nvPr/>
        </p:nvGrpSpPr>
        <p:grpSpPr>
          <a:xfrm>
            <a:off x="9750150" y="1621271"/>
            <a:ext cx="1828800" cy="2858747"/>
            <a:chOff x="16436156" y="1724296"/>
            <a:chExt cx="2249750" cy="3383280"/>
          </a:xfrm>
        </p:grpSpPr>
        <p:sp>
          <p:nvSpPr>
            <p:cNvPr id="114" name="Rounded Rectangle 6">
              <a:extLst>
                <a:ext uri="{FF2B5EF4-FFF2-40B4-BE49-F238E27FC236}">
                  <a16:creationId xmlns:a16="http://schemas.microsoft.com/office/drawing/2014/main" id="{01A28219-EE4E-A56D-52A3-289DAF9EA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436156" y="1724296"/>
              <a:ext cx="2249750" cy="3383280"/>
            </a:xfrm>
            <a:prstGeom prst="roundRect">
              <a:avLst>
                <a:gd name="adj" fmla="val 9110"/>
              </a:avLst>
            </a:prstGeom>
            <a:noFill/>
            <a:ln w="15875" cap="rnd">
              <a:solidFill>
                <a:srgbClr val="AC35AF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54819" tIns="123855" rIns="154819" bIns="12385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78942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93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endParaRPr>
            </a:p>
          </p:txBody>
        </p:sp>
        <p:sp>
          <p:nvSpPr>
            <p:cNvPr id="115" name="Rounded Rectangle 6">
              <a:extLst>
                <a:ext uri="{FF2B5EF4-FFF2-40B4-BE49-F238E27FC236}">
                  <a16:creationId xmlns:a16="http://schemas.microsoft.com/office/drawing/2014/main" id="{244B68C8-0526-F16E-BF6B-6316BE07C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577852" y="1911855"/>
              <a:ext cx="648567" cy="292389"/>
            </a:xfrm>
            <a:prstGeom prst="roundRect">
              <a:avLst>
                <a:gd name="adj" fmla="val 37156"/>
              </a:avLst>
            </a:prstGeom>
            <a:gradFill flip="none" rotWithShape="1">
              <a:gsLst>
                <a:gs pos="0">
                  <a:srgbClr val="702573"/>
                </a:gs>
                <a:gs pos="80000">
                  <a:srgbClr val="2A446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rnd">
              <a:noFill/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none" lIns="54187" tIns="10837" rIns="54187" bIns="21675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2018">
                        <a:srgbClr val="FFFFFF"/>
                      </a:gs>
                      <a:gs pos="44000">
                        <a:srgbClr val="FFFFFF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" pitchFamily="2" charset="0"/>
                  <a:ea typeface="+mn-ea"/>
                  <a:cs typeface="Segoe Sans Display Semibold"/>
                </a:rPr>
                <a:t>Cloud</a:t>
              </a:r>
            </a:p>
          </p:txBody>
        </p:sp>
        <p:cxnSp>
          <p:nvCxnSpPr>
            <p:cNvPr id="116" name="!!Straight Arrow Connector 18">
              <a:extLst>
                <a:ext uri="{FF2B5EF4-FFF2-40B4-BE49-F238E27FC236}">
                  <a16:creationId xmlns:a16="http://schemas.microsoft.com/office/drawing/2014/main" id="{677E3353-BB6B-6837-97A2-A7768D40A2B4}"/>
                </a:ext>
              </a:extLst>
            </p:cNvPr>
            <p:cNvCxnSpPr>
              <a:cxnSpLocks/>
            </p:cNvCxnSpPr>
            <p:nvPr/>
          </p:nvCxnSpPr>
          <p:spPr>
            <a:xfrm>
              <a:off x="16902133" y="2290320"/>
              <a:ext cx="0" cy="228600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arrow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 useBgFill="1">
          <p:nvSpPr>
            <p:cNvPr id="117" name="TextBox 116">
              <a:extLst>
                <a:ext uri="{FF2B5EF4-FFF2-40B4-BE49-F238E27FC236}">
                  <a16:creationId xmlns:a16="http://schemas.microsoft.com/office/drawing/2014/main" id="{65A5AF71-3B2B-8293-3507-F6F1C46AD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17313105" y="2617479"/>
              <a:ext cx="1238313" cy="27267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Azure</a:t>
              </a:r>
            </a:p>
          </p:txBody>
        </p:sp>
        <p:cxnSp>
          <p:nvCxnSpPr>
            <p:cNvPr id="118" name="!!Straight Arrow Connector 46">
              <a:extLst>
                <a:ext uri="{FF2B5EF4-FFF2-40B4-BE49-F238E27FC236}">
                  <a16:creationId xmlns:a16="http://schemas.microsoft.com/office/drawing/2014/main" id="{925FF5EF-0A7C-10C1-2696-D0B6D204E6FA}"/>
                </a:ext>
              </a:extLst>
            </p:cNvPr>
            <p:cNvCxnSpPr>
              <a:cxnSpLocks/>
            </p:cNvCxnSpPr>
            <p:nvPr/>
          </p:nvCxnSpPr>
          <p:spPr>
            <a:xfrm>
              <a:off x="16902134" y="2999820"/>
              <a:ext cx="0" cy="204311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none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9" name="Graphic 118">
              <a:extLst>
                <a:ext uri="{FF2B5EF4-FFF2-40B4-BE49-F238E27FC236}">
                  <a16:creationId xmlns:a16="http://schemas.microsoft.com/office/drawing/2014/main" id="{3A2C4FF3-0DF3-A9BC-2A7D-360A3418C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6721237" y="3280721"/>
              <a:ext cx="361793" cy="261293"/>
            </a:xfrm>
            <a:prstGeom prst="rect">
              <a:avLst/>
            </a:prstGeom>
          </p:spPr>
        </p:pic>
        <p:sp useBgFill="1">
          <p:nvSpPr>
            <p:cNvPr id="120" name="TextBox 119">
              <a:extLst>
                <a:ext uri="{FF2B5EF4-FFF2-40B4-BE49-F238E27FC236}">
                  <a16:creationId xmlns:a16="http://schemas.microsoft.com/office/drawing/2014/main" id="{B7B4DF40-2112-CF4A-9C05-C635723C8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17313105" y="3131824"/>
              <a:ext cx="822960" cy="54534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Azure Arc</a:t>
              </a:r>
            </a:p>
          </p:txBody>
        </p:sp>
        <p:cxnSp>
          <p:nvCxnSpPr>
            <p:cNvPr id="121" name="!!Straight Arrow Connector 50">
              <a:extLst>
                <a:ext uri="{FF2B5EF4-FFF2-40B4-BE49-F238E27FC236}">
                  <a16:creationId xmlns:a16="http://schemas.microsoft.com/office/drawing/2014/main" id="{D7BE044A-5D3D-512B-5EF1-9BB14D2D9EAE}"/>
                </a:ext>
              </a:extLst>
            </p:cNvPr>
            <p:cNvCxnSpPr>
              <a:cxnSpLocks/>
            </p:cNvCxnSpPr>
            <p:nvPr/>
          </p:nvCxnSpPr>
          <p:spPr>
            <a:xfrm>
              <a:off x="16902134" y="3629443"/>
              <a:ext cx="0" cy="215065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none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EB823AF3-A127-A5BE-D2AD-FBBC74554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6739119" y="2609601"/>
              <a:ext cx="326029" cy="327916"/>
            </a:xfrm>
            <a:prstGeom prst="rect">
              <a:avLst/>
            </a:prstGeom>
          </p:spPr>
        </p:pic>
        <p:sp useBgFill="1">
          <p:nvSpPr>
            <p:cNvPr id="123" name="TextBox 122">
              <a:extLst>
                <a:ext uri="{FF2B5EF4-FFF2-40B4-BE49-F238E27FC236}">
                  <a16:creationId xmlns:a16="http://schemas.microsoft.com/office/drawing/2014/main" id="{727550A0-0AE6-F19A-8EFE-EB68C7E96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17313105" y="3782512"/>
              <a:ext cx="1075059" cy="54534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000000"/>
                      </a:gs>
                      <a:gs pos="99000">
                        <a:srgbClr val="000000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Foundry Local</a:t>
              </a:r>
            </a:p>
          </p:txBody>
        </p:sp>
        <p:cxnSp>
          <p:nvCxnSpPr>
            <p:cNvPr id="124" name="!!Straight Arrow Connector 45">
              <a:extLst>
                <a:ext uri="{FF2B5EF4-FFF2-40B4-BE49-F238E27FC236}">
                  <a16:creationId xmlns:a16="http://schemas.microsoft.com/office/drawing/2014/main" id="{59CB6473-4E5A-6355-D9E0-99CEDBED4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02133" y="4316667"/>
              <a:ext cx="0" cy="228600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arrow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Rounded Rectangle 6">
              <a:extLst>
                <a:ext uri="{FF2B5EF4-FFF2-40B4-BE49-F238E27FC236}">
                  <a16:creationId xmlns:a16="http://schemas.microsoft.com/office/drawing/2014/main" id="{CAC4DF5D-4283-21E4-16EC-E6B2509F3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627676" y="4637121"/>
              <a:ext cx="598736" cy="292388"/>
            </a:xfrm>
            <a:prstGeom prst="roundRect">
              <a:avLst>
                <a:gd name="adj" fmla="val 37156"/>
              </a:avLst>
            </a:prstGeom>
            <a:gradFill flip="none" rotWithShape="1">
              <a:gsLst>
                <a:gs pos="0">
                  <a:srgbClr val="702573"/>
                </a:gs>
                <a:gs pos="80000">
                  <a:srgbClr val="2A446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rnd">
              <a:noFill/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54187" tIns="10837" rIns="54187" bIns="21675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2018">
                        <a:srgbClr val="FFFFFF"/>
                      </a:gs>
                      <a:gs pos="44000">
                        <a:srgbClr val="FFFFFF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" pitchFamily="2" charset="0"/>
                  <a:ea typeface="+mn-ea"/>
                  <a:cs typeface="Segoe Sans Display Semibold"/>
                </a:rPr>
                <a:t>Edge</a:t>
              </a:r>
            </a:p>
          </p:txBody>
        </p:sp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BBADE819-DE8D-2FDB-FCBB-40582F3C3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706009" y="3869178"/>
              <a:ext cx="398598" cy="398598"/>
            </a:xfrm>
            <a:prstGeom prst="rect">
              <a:avLst/>
            </a:prstGeom>
          </p:spPr>
        </p:pic>
      </p:grpSp>
      <p:cxnSp>
        <p:nvCxnSpPr>
          <p:cNvPr id="2" name="!!Straight Arrow Connector 53">
            <a:extLst>
              <a:ext uri="{FF2B5EF4-FFF2-40B4-BE49-F238E27FC236}">
                <a16:creationId xmlns:a16="http://schemas.microsoft.com/office/drawing/2014/main" id="{D0C4858D-BE2D-5650-2FAA-2C84DE673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52692" y="4617040"/>
            <a:ext cx="4021" cy="167487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!!Straight Arrow Connector 54">
            <a:extLst>
              <a:ext uri="{FF2B5EF4-FFF2-40B4-BE49-F238E27FC236}">
                <a16:creationId xmlns:a16="http://schemas.microsoft.com/office/drawing/2014/main" id="{BF5FD155-8BEE-C17B-A32B-F11FC2C3E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207847" y="4621560"/>
            <a:ext cx="0" cy="174922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1041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03541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0 0.03541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27" dur="7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32" dur="700" spd="-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42" dur="700" spd="-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52" dur="700" spd="-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4.44444E-6 4.07407E-6 L -0.01797 4.07407E-6 " pathEditMode="relative" rAng="0" ptsTypes="AA">
                                      <p:cBhvr>
                                        <p:cTn id="62" dur="70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3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67" dur="700" spd="-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1.60494E-6 1.85185E-6 L -0.00702 1.85185E-6 " pathEditMode="relative" rAng="0" ptsTypes="AA">
                                      <p:cBhvr>
                                        <p:cTn id="72" dur="700" spd="-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1.97531E-6 3.33333E-6 L 0.00756 3.33333E-6 " pathEditMode="relative" rAng="0" ptsTypes="AA">
                                      <p:cBhvr>
                                        <p:cTn id="77" dur="700" spd="-100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" y="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97531E-6 1.85185E-6 L -0.00702 1.85185E-6 " pathEditMode="relative" rAng="0" ptsTypes="AA">
                                      <p:cBhvr>
                                        <p:cTn id="82" dur="700" spd="-100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60494E-6 3.33333E-6 L 0.00733 3.33333E-6 " pathEditMode="relative" rAng="0" ptsTypes="AA">
                                      <p:cBhvr>
                                        <p:cTn id="87" dur="700" spd="-100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3" y="0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4.44444E-6 4.07407E-6 L 0.02199 4.07407E-6 " pathEditMode="relative" rAng="0" ptsTypes="AA">
                                      <p:cBhvr>
                                        <p:cTn id="92" dur="700" spd="-100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6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97531E-6 1.85185E-6 L -0.00702 1.85185E-6 " pathEditMode="relative" rAng="0" ptsTypes="AA">
                                      <p:cBhvr>
                                        <p:cTn id="97" dur="7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" y="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60494E-6 3.33333E-6 L 0.00733 3.33333E-6 " pathEditMode="relative" rAng="0" ptsTypes="AA">
                                      <p:cBhvr>
                                        <p:cTn id="102" dur="7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43" grpId="0" animBg="1"/>
      <p:bldP spid="43" grpId="1" animBg="1"/>
      <p:bldP spid="46" grpId="0" animBg="1"/>
      <p:bldP spid="48" grpId="0" animBg="1"/>
      <p:bldP spid="48" grpId="1" animBg="1"/>
      <p:bldP spid="50" grpId="0" animBg="1"/>
      <p:bldP spid="50" grpId="1" animBg="1"/>
      <p:bldP spid="54" grpId="0" animBg="1"/>
      <p:bldP spid="54" grpId="1" animBg="1"/>
      <p:bldP spid="58" grpId="0" animBg="1"/>
      <p:bldP spid="58" grpId="1" animBg="1"/>
      <p:bldP spid="69" grpId="0" animBg="1"/>
      <p:bldP spid="69" grpId="1" animBg="1"/>
      <p:bldP spid="71" grpId="0" animBg="1"/>
      <p:bldP spid="71" grpId="1" animBg="1"/>
      <p:bldP spid="74" grpId="0" animBg="1"/>
      <p:bldP spid="7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CFE77-9651-B447-919D-5B289D76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615553"/>
          </a:xfrm>
        </p:spPr>
        <p:txBody>
          <a:bodyPr/>
          <a:lstStyle/>
          <a:p>
            <a:pPr algn="ctr"/>
            <a:r>
              <a:rPr lang="en-US" sz="4000">
                <a:latin typeface="Segoe UI Variable Display Semib" pitchFamily="2" charset="0"/>
              </a:rPr>
              <a:t>Azure AI Foundry: the agent factory</a:t>
            </a:r>
            <a:endParaRPr lang="en-CA" sz="4000">
              <a:latin typeface="Segoe UI Variable Display Semib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E3C5A0-DC78-461C-CAB0-CBEE4A6C1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2048176"/>
            <a:ext cx="6096000" cy="0"/>
          </a:xfrm>
          <a:prstGeom prst="line">
            <a:avLst/>
          </a:prstGeom>
          <a:ln w="19050">
            <a:solidFill>
              <a:srgbClr val="000000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rc 3">
            <a:extLst>
              <a:ext uri="{FF2B5EF4-FFF2-40B4-BE49-F238E27FC236}">
                <a16:creationId xmlns:a16="http://schemas.microsoft.com/office/drawing/2014/main" id="{1DBC3972-CBBB-8A6A-89BF-DA7C84981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flipH="1">
            <a:off x="4416468" y="2048176"/>
            <a:ext cx="3374967" cy="3374968"/>
          </a:xfrm>
          <a:prstGeom prst="arc">
            <a:avLst>
              <a:gd name="adj1" fmla="val 16200000"/>
              <a:gd name="adj2" fmla="val 5409136"/>
            </a:avLst>
          </a:prstGeom>
          <a:ln w="1905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1618952B-3024-44F4-0AC9-EAFC0E861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416468" y="2048176"/>
            <a:ext cx="3374967" cy="3374968"/>
          </a:xfrm>
          <a:prstGeom prst="arc">
            <a:avLst>
              <a:gd name="adj1" fmla="val 16200000"/>
              <a:gd name="adj2" fmla="val 5409136"/>
            </a:avLst>
          </a:prstGeom>
          <a:ln w="1905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96D4F5-6C45-521A-F403-D8E66D15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657574" y="2287564"/>
            <a:ext cx="2892754" cy="2892754"/>
          </a:xfrm>
          <a:prstGeom prst="ellipse">
            <a:avLst/>
          </a:prstGeom>
          <a:gradFill flip="none" rotWithShape="1">
            <a:gsLst>
              <a:gs pos="90000">
                <a:srgbClr val="A9D5ED"/>
              </a:gs>
              <a:gs pos="1000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2700" cap="rnd">
            <a:noFill/>
          </a:ln>
        </p:spPr>
        <p:txBody>
          <a:bodyPr wrap="none" lIns="0" tIns="182880" rIns="0" bIns="0" rtlCol="0" anchor="t" anchorCtr="0">
            <a:no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endParaRPr kumimoji="0" lang="en-US" sz="1600" b="0" i="0" u="none" strike="noStrike" kern="1200" cap="none" spc="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40998D-0046-4565-AD46-039CA3D1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44585" y="2474575"/>
            <a:ext cx="2518732" cy="2518733"/>
            <a:chOff x="4932998" y="2904681"/>
            <a:chExt cx="2326005" cy="2326006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BE0F271D-6D90-C3B7-F1E0-EF5ECBC6E511}"/>
                </a:ext>
              </a:extLst>
            </p:cNvPr>
            <p:cNvSpPr/>
            <p:nvPr/>
          </p:nvSpPr>
          <p:spPr bwMode="auto">
            <a:xfrm>
              <a:off x="4932998" y="2904681"/>
              <a:ext cx="2326005" cy="2326006"/>
            </a:xfrm>
            <a:prstGeom prst="arc">
              <a:avLst>
                <a:gd name="adj1" fmla="val 16198626"/>
                <a:gd name="adj2" fmla="val 5176364"/>
              </a:avLst>
            </a:prstGeom>
            <a:noFill/>
            <a:ln w="12700" cap="rnd">
              <a:solidFill>
                <a:schemeClr val="tx1"/>
              </a:solidFill>
              <a:headEnd type="none" w="med" len="med"/>
              <a:tailEnd type="arrow" w="lg" len="sm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F275B731-9019-4AE4-3F7E-6FDF69849067}"/>
                </a:ext>
              </a:extLst>
            </p:cNvPr>
            <p:cNvSpPr/>
            <p:nvPr/>
          </p:nvSpPr>
          <p:spPr bwMode="auto">
            <a:xfrm rot="10800000">
              <a:off x="4932998" y="2904681"/>
              <a:ext cx="2326005" cy="2326006"/>
            </a:xfrm>
            <a:prstGeom prst="arc">
              <a:avLst>
                <a:gd name="adj1" fmla="val 16187971"/>
                <a:gd name="adj2" fmla="val 5218329"/>
              </a:avLst>
            </a:prstGeom>
            <a:noFill/>
            <a:ln w="12700" cap="rnd">
              <a:gradFill flip="none" rotWithShape="1">
                <a:gsLst>
                  <a:gs pos="59000">
                    <a:srgbClr val="000000"/>
                  </a:gs>
                  <a:gs pos="100000">
                    <a:srgbClr val="000000">
                      <a:alpha val="0"/>
                    </a:srgbClr>
                  </a:gs>
                </a:gsLst>
                <a:lin ang="16200000" scaled="1"/>
                <a:tileRect/>
              </a:gradFill>
              <a:headEnd type="none" w="med" len="med"/>
              <a:tailEnd type="arrow" w="lg" len="sm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AFC84060-D4BE-C69A-75DA-A437DFAE2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028665" y="1970324"/>
            <a:ext cx="155448" cy="155448"/>
          </a:xfrm>
          <a:prstGeom prst="ellipse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Segoe UI Variable Display Semib" pitchFamily="2" charset="0"/>
                <a:ea typeface="Segoe UI" pitchFamily="34" charset="0"/>
                <a:cs typeface="Segoe UI" pitchFamily="34" charset="0"/>
              </a:rPr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470EBC3-599D-EE19-B1EC-2D7079D16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598222" y="4309862"/>
            <a:ext cx="155448" cy="155448"/>
          </a:xfrm>
          <a:prstGeom prst="ellipse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Segoe UI Variable Display Semib" pitchFamily="2" charset="0"/>
                <a:ea typeface="Segoe UI" pitchFamily="34" charset="0"/>
                <a:cs typeface="Segoe UI" pitchFamily="34" charset="0"/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D707ACE-AF83-6E02-B512-E2C07BE96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451010" y="4311859"/>
            <a:ext cx="155448" cy="155448"/>
          </a:xfrm>
          <a:prstGeom prst="ellipse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Segoe UI Variable Display Semib" pitchFamily="2" charset="0"/>
                <a:ea typeface="Segoe UI" pitchFamily="34" charset="0"/>
                <a:cs typeface="Segoe UI" pitchFamily="34" charset="0"/>
              </a:rPr>
              <a:t>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B6F433-C12D-B608-324E-2DF0A9C4B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479151" y="3003472"/>
            <a:ext cx="155448" cy="155448"/>
          </a:xfrm>
          <a:prstGeom prst="ellipse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Segoe UI Variable Display Semib" pitchFamily="2" charset="0"/>
                <a:ea typeface="Segoe UI" pitchFamily="34" charset="0"/>
                <a:cs typeface="Segoe UI" pitchFamily="34" charset="0"/>
              </a:rPr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E8AF4B5-41D8-4EDF-17B8-C0A7C2E26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410360" y="2698672"/>
            <a:ext cx="155448" cy="155448"/>
          </a:xfrm>
          <a:prstGeom prst="ellipse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Segoe UI Variable Display Semib" pitchFamily="2" charset="0"/>
                <a:ea typeface="Segoe UI" pitchFamily="34" charset="0"/>
                <a:cs typeface="Segoe UI" pitchFamily="34" charset="0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C4D258-879B-FB99-F6C5-C7EE0AAE3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026227" y="5345548"/>
            <a:ext cx="155448" cy="155448"/>
          </a:xfrm>
          <a:prstGeom prst="ellipse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Segoe UI Variable Display Semib" pitchFamily="2" charset="0"/>
                <a:ea typeface="Segoe UI" pitchFamily="34" charset="0"/>
                <a:cs typeface="Segoe UI" pitchFamily="34" charset="0"/>
              </a:rPr>
              <a:t>4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5EFB9649-E287-BF1C-160A-433E0DBFD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4230" y="3243297"/>
            <a:ext cx="406434" cy="450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D87D07-FEF5-D412-FE28-8C1F0BFC1D1F}"/>
              </a:ext>
            </a:extLst>
          </p:cNvPr>
          <p:cNvSpPr/>
          <p:nvPr/>
        </p:nvSpPr>
        <p:spPr bwMode="auto">
          <a:xfrm>
            <a:off x="3884626" y="1566898"/>
            <a:ext cx="4438650" cy="553998"/>
          </a:xfrm>
          <a:prstGeom prst="rect">
            <a:avLst/>
          </a:prstGeom>
          <a:noFill/>
        </p:spPr>
        <p:txBody>
          <a:bodyPr wrap="square" lIns="0" tIns="0" rIns="0" bIns="274320" rtlCol="0" anchor="b" anchorCtr="0"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Pro Display Semibold" panose="020B0502040504020203" pitchFamily="34" charset="0"/>
                <a:ea typeface="+mn-ea"/>
                <a:cs typeface="Segoe UI Semibold"/>
              </a:rPr>
              <a:t>Models</a:t>
            </a:r>
            <a:endParaRPr kumimoji="0" lang="en-US" sz="176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Pro Display Semibold" panose="020B0502040504020203" pitchFamily="34" charset="0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BCC6EB-F491-F2CB-131E-1C73BA5F4B72}"/>
              </a:ext>
            </a:extLst>
          </p:cNvPr>
          <p:cNvSpPr/>
          <p:nvPr/>
        </p:nvSpPr>
        <p:spPr bwMode="auto">
          <a:xfrm>
            <a:off x="2253762" y="2905326"/>
            <a:ext cx="2385485" cy="323165"/>
          </a:xfrm>
          <a:prstGeom prst="rect">
            <a:avLst/>
          </a:prstGeom>
          <a:noFill/>
        </p:spPr>
        <p:txBody>
          <a:bodyPr wrap="square" lIns="0" tIns="0" rIns="365760" bIns="45720" rtlCol="0" anchor="ctr" anchorCtr="0">
            <a:spAutoFit/>
          </a:bodyPr>
          <a:lstStyle/>
          <a:p>
            <a:pPr marL="0" marR="0" lvl="0" indent="0" algn="r" defTabSz="91443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Pro Display Semibold"/>
                <a:ea typeface="+mn-ea"/>
                <a:cs typeface="Segoe UI Semibold"/>
              </a:rPr>
              <a:t>Trust</a:t>
            </a:r>
            <a:endParaRPr kumimoji="0" lang="en-US" sz="17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Pro Display Semibold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1A2A4A-75C3-2F48-61B3-D938E967465B}"/>
              </a:ext>
            </a:extLst>
          </p:cNvPr>
          <p:cNvSpPr/>
          <p:nvPr/>
        </p:nvSpPr>
        <p:spPr bwMode="auto">
          <a:xfrm>
            <a:off x="7410361" y="2614813"/>
            <a:ext cx="3017520" cy="323165"/>
          </a:xfrm>
          <a:prstGeom prst="rect">
            <a:avLst/>
          </a:prstGeom>
          <a:noFill/>
        </p:spPr>
        <p:txBody>
          <a:bodyPr wrap="square" lIns="365760" tIns="0" rIns="0" bIns="45720" rtlCol="0" anchor="ctr" anchorCtr="0">
            <a:spAutoFit/>
          </a:bodyPr>
          <a:lstStyle/>
          <a:p>
            <a:pPr marL="0" marR="0" lvl="0" indent="0" algn="l" defTabSz="91443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Pro Display Semibold" panose="020B0502040504020203" pitchFamily="34" charset="0"/>
                <a:ea typeface="+mn-ea"/>
                <a:cs typeface="Segoe UI Semibold"/>
              </a:rPr>
              <a:t>Science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6A9161-7D04-7EAB-4F1E-1FD7641276F6}"/>
              </a:ext>
            </a:extLst>
          </p:cNvPr>
          <p:cNvSpPr/>
          <p:nvPr/>
        </p:nvSpPr>
        <p:spPr bwMode="auto">
          <a:xfrm>
            <a:off x="5373292" y="3769393"/>
            <a:ext cx="1461318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 w="3175">
                  <a:noFill/>
                </a:ln>
                <a:effectLst/>
                <a:uLnTx/>
                <a:uFillTx/>
                <a:latin typeface="Segoe Pro Display Semibold" panose="020B0502040504020203" pitchFamily="34" charset="0"/>
                <a:ea typeface="+mn-ea"/>
                <a:cs typeface="Segoe UI Semibold"/>
              </a:rPr>
              <a:t>Azure AI Foundry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6F54A-3A88-CF85-7A3C-DB0794A23183}"/>
              </a:ext>
            </a:extLst>
          </p:cNvPr>
          <p:cNvSpPr/>
          <p:nvPr/>
        </p:nvSpPr>
        <p:spPr bwMode="auto">
          <a:xfrm>
            <a:off x="2551126" y="4250900"/>
            <a:ext cx="2012356" cy="276999"/>
          </a:xfrm>
          <a:prstGeom prst="rect">
            <a:avLst/>
          </a:prstGeom>
          <a:noFill/>
        </p:spPr>
        <p:txBody>
          <a:bodyPr wrap="square" lIns="0" tIns="0" rIns="320040" bIns="0" rtlCol="0" anchor="t" anchorCtr="0">
            <a:spAutoFit/>
          </a:bodyPr>
          <a:lstStyle/>
          <a:p>
            <a:pPr marL="0" marR="0" lvl="0" indent="0" algn="r" defTabSz="91443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Pro Display Semibold" panose="020B0502040504020203" pitchFamily="34" charset="0"/>
                <a:ea typeface="+mn-ea"/>
                <a:cs typeface="Segoe UI Semibold"/>
              </a:rPr>
              <a:t>Observability</a:t>
            </a:r>
            <a:endParaRPr kumimoji="0" lang="en-US" sz="176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Pro Display Semibold" panose="020B0502040504020203" pitchFamily="34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910E3E-1FCC-EAF0-2DC4-36890F7DB24F}"/>
              </a:ext>
            </a:extLst>
          </p:cNvPr>
          <p:cNvSpPr/>
          <p:nvPr/>
        </p:nvSpPr>
        <p:spPr bwMode="auto">
          <a:xfrm>
            <a:off x="7598223" y="4248903"/>
            <a:ext cx="1903106" cy="553998"/>
          </a:xfrm>
          <a:prstGeom prst="rect">
            <a:avLst/>
          </a:prstGeom>
          <a:noFill/>
        </p:spPr>
        <p:txBody>
          <a:bodyPr wrap="square" lIns="320040" tIns="0" rIns="0" bIns="0" rtlCol="0" anchor="t" anchorCtr="0">
            <a:spAutoFit/>
          </a:bodyPr>
          <a:lstStyle/>
          <a:p>
            <a:pPr marL="0" marR="0" lvl="0" indent="0" algn="l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Pro Display Semibold" panose="020B0502040504020203" pitchFamily="34" charset="0"/>
                <a:ea typeface="+mn-ea"/>
                <a:cs typeface="Segoe UI Semibold" panose="020B0702040204020203" pitchFamily="34" charset="0"/>
              </a:rPr>
              <a:t>Knowledge and tools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FF6FB6-F1BC-8430-FC3C-852490CDAA86}"/>
              </a:ext>
            </a:extLst>
          </p:cNvPr>
          <p:cNvSpPr/>
          <p:nvPr/>
        </p:nvSpPr>
        <p:spPr bwMode="auto">
          <a:xfrm>
            <a:off x="5048378" y="5649424"/>
            <a:ext cx="2111144" cy="2769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Pro Display Semibold" panose="020B0502040504020203" pitchFamily="34" charset="0"/>
                <a:ea typeface="+mn-ea"/>
                <a:cs typeface="Segoe UI Semibold"/>
              </a:rPr>
              <a:t>Orchestration</a:t>
            </a:r>
            <a:endParaRPr kumimoji="0" lang="en-US" sz="176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Pro Display Semibold" panose="020B05020405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28017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375E-6 -5.55112E-17 L -0.02539 0.00463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6" y="23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79167E-6 1.11111E-6 L -0.0254 0.00463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6" y="23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mph" presetSubtype="0" accel="100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mph" presetSubtype="0" accel="100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mph" presetSubtype="0" accel="100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accel="100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8" presetClass="emph" presetSubtype="0" repeatCount="indefinite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21600000">
                                      <p:cBhvr>
                                        <p:cTn id="46" dur="1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3.125E-6 0 L -0.01068 -0.04907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" y="-245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4.58333E-6 0 L -0.01067 -0.04907 " pathEditMode="relative" rAng="0" ptsTypes="AA">
                                      <p:cBhvr>
                                        <p:cTn id="56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" y="-2454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1.45833E-6 -3.7037E-6 L 0.00638 -0.04791 " pathEditMode="relative" rAng="0" ptsTypes="AA">
                                      <p:cBhvr>
                                        <p:cTn id="61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3" y="-2407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1.45833E-6 4.81481E-6 L 0.01276 0.04027 " pathEditMode="relative" rAng="0" ptsTypes="AA">
                                      <p:cBhvr>
                                        <p:cTn id="66" dur="7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8" y="2014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2.29167E-6 -4.44444E-6 L -0.0082 0.04931 " pathEditMode="relative" rAng="0" ptsTypes="AA">
                                      <p:cBhvr>
                                        <p:cTn id="71" dur="7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7" y="2454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4.79167E-6 3.7037E-7 L 0.02747 -0.0081 " pathEditMode="relative" rAng="0" ptsTypes="AA">
                                      <p:cBhvr>
                                        <p:cTn id="76" dur="7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7" y="-417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4.79167E-6 -3.7037E-7 L 0.02291 -0.00833 " pathEditMode="relative" rAng="0" ptsTypes="AA">
                                      <p:cBhvr>
                                        <p:cTn id="81" dur="7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6" y="-417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1.04167E-6 4.81481E-6 L 0.01276 0.04027 " pathEditMode="relative" rAng="0" ptsTypes="AA">
                                      <p:cBhvr>
                                        <p:cTn id="86" dur="7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8" y="2014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3.54167E-6 -1.11111E-6 L -0.00821 0.04931 " pathEditMode="relative" rAng="0" ptsTypes="AA">
                                      <p:cBhvr>
                                        <p:cTn id="91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7" y="2454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1.04167E-6 -3.7037E-6 L 0.00638 -0.04791 " pathEditMode="relative" rAng="0" ptsTypes="AA">
                                      <p:cBhvr>
                                        <p:cTn id="96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3" y="-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7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6" grpId="0"/>
      <p:bldP spid="6" grpId="1"/>
      <p:bldP spid="11" grpId="0"/>
      <p:bldP spid="11" grpId="1"/>
      <p:bldP spid="10" grpId="0"/>
      <p:bldP spid="10" grpId="1"/>
      <p:bldP spid="15" grpId="0"/>
      <p:bldP spid="15" grpId="1"/>
      <p:bldP spid="8" grpId="0"/>
      <p:bldP spid="8" grpId="1"/>
      <p:bldP spid="9" grpId="0"/>
      <p:bldP spid="9" grpId="1"/>
      <p:bldP spid="22" grpId="0"/>
      <p:bldP spid="2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ADA0-3DAF-C700-9D5E-4CDF54C1438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42950" y="2568575"/>
            <a:ext cx="10706100" cy="141577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6000">
                <a:gradFill flip="none" rotWithShape="1">
                  <a:gsLst>
                    <a:gs pos="92000">
                      <a:srgbClr val="2A446F"/>
                    </a:gs>
                    <a:gs pos="9000">
                      <a:srgbClr val="73262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" pitchFamily="2" charset="0"/>
              </a:rPr>
              <a:t>Evolving RAG</a:t>
            </a:r>
            <a:br>
              <a:rPr kumimoji="0" lang="en-CA" sz="4400" b="1" u="none" strike="noStrike" kern="1200" cap="none" spc="-50" normalizeH="0" baseline="0" noProof="0">
                <a:ln w="3175">
                  <a:noFill/>
                </a:ln>
                <a:gradFill>
                  <a:gsLst>
                    <a:gs pos="7339">
                      <a:schemeClr val="tx1"/>
                    </a:gs>
                    <a:gs pos="17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" pitchFamily="34" charset="0"/>
              </a:rPr>
            </a:br>
            <a:r>
              <a:rPr lang="en-CA" sz="3200" b="1">
                <a:gradFill flip="none" rotWithShape="1">
                  <a:gsLst>
                    <a:gs pos="100000">
                      <a:srgbClr val="000000"/>
                    </a:gs>
                    <a:gs pos="68000">
                      <a:srgbClr val="000000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" pitchFamily="2" charset="0"/>
              </a:rPr>
              <a:t>What got us here won’t get us there</a:t>
            </a:r>
          </a:p>
        </p:txBody>
      </p:sp>
    </p:spTree>
    <p:extLst>
      <p:ext uri="{BB962C8B-B14F-4D97-AF65-F5344CB8AC3E}">
        <p14:creationId xmlns:p14="http://schemas.microsoft.com/office/powerpoint/2010/main" val="53628255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ADD7F2-E5AF-381A-3138-A88FC1247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2874963"/>
            <a:ext cx="2840037" cy="1128514"/>
          </a:xfr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en-US" sz="4000">
                <a:latin typeface="Segoe UI Variable Display Semib" pitchFamily="2" charset="0"/>
              </a:rPr>
              <a:t>Knowledge for agents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DED061-FC41-BB92-E2DD-F0DA7CDC9C8A}"/>
              </a:ext>
            </a:extLst>
          </p:cNvPr>
          <p:cNvSpPr txBox="1"/>
          <p:nvPr/>
        </p:nvSpPr>
        <p:spPr>
          <a:xfrm>
            <a:off x="2737726" y="2036720"/>
            <a:ext cx="2405701" cy="884070"/>
          </a:xfrm>
          <a:prstGeom prst="rect">
            <a:avLst/>
          </a:prstGeom>
          <a:noFill/>
        </p:spPr>
        <p:txBody>
          <a:bodyPr wrap="square" tIns="72000" bIns="108000" anchor="ctr" anchorCtr="0">
            <a:noAutofit/>
          </a:bodyPr>
          <a:lstStyle/>
          <a:p>
            <a:pPr marL="0" marR="0" lvl="0" indent="0" algn="r" defTabSz="5640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itchFamily="34" charset="0"/>
              </a:rPr>
              <a:t>Enterprise foundation</a:t>
            </a:r>
          </a:p>
          <a:p>
            <a:pPr algn="r" defTabSz="5640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latin typeface="Segoe UI Variable Display" pitchFamily="2" charset="0"/>
                <a:cs typeface="Segoe UI" pitchFamily="34" charset="0"/>
              </a:rPr>
              <a:t>access control</a:t>
            </a:r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22CCA823-E8AE-71A9-CC6A-A3EE68DE0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8231973"/>
              </p:ext>
            </p:extLst>
          </p:nvPr>
        </p:nvGraphicFramePr>
        <p:xfrm>
          <a:off x="5566081" y="923806"/>
          <a:ext cx="4097586" cy="40975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F3702F67-9296-3453-2A54-A255C0270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269993"/>
              </p:ext>
            </p:extLst>
          </p:nvPr>
        </p:nvGraphicFramePr>
        <p:xfrm>
          <a:off x="6042239" y="1403835"/>
          <a:ext cx="3146854" cy="3146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3" name="Graphic 32">
            <a:extLst>
              <a:ext uri="{FF2B5EF4-FFF2-40B4-BE49-F238E27FC236}">
                <a16:creationId xmlns:a16="http://schemas.microsoft.com/office/drawing/2014/main" id="{090D6144-8517-7522-A3AD-77272E645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5424" y="2301396"/>
            <a:ext cx="474300" cy="4743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9F6684F9-849C-C9F4-AA69-888D84C13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78517" y="3535124"/>
            <a:ext cx="474299" cy="474299"/>
          </a:xfrm>
          <a:prstGeom prst="rect">
            <a:avLst/>
          </a:prstGeom>
        </p:spPr>
      </p:pic>
      <p:sp>
        <p:nvSpPr>
          <p:cNvPr id="41" name="Rectangle: Rounded Corners 87">
            <a:extLst>
              <a:ext uri="{FF2B5EF4-FFF2-40B4-BE49-F238E27FC236}">
                <a16:creationId xmlns:a16="http://schemas.microsoft.com/office/drawing/2014/main" id="{833F1246-04F9-14D3-BB32-953406B68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344066" y="704870"/>
            <a:ext cx="4543200" cy="4544785"/>
          </a:xfrm>
          <a:prstGeom prst="ellipse">
            <a:avLst/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Variable Display Semib" pitchFamily="2" charset="0"/>
              <a:cs typeface="Segoe UI" panose="020B0502040204020203" pitchFamily="34" charset="0"/>
            </a:endParaRPr>
          </a:p>
        </p:txBody>
      </p:sp>
      <p:sp>
        <p:nvSpPr>
          <p:cNvPr id="42" name="!!ArcQueryPipeline">
            <a:extLst>
              <a:ext uri="{FF2B5EF4-FFF2-40B4-BE49-F238E27FC236}">
                <a16:creationId xmlns:a16="http://schemas.microsoft.com/office/drawing/2014/main" id="{F2CF485A-6D03-D9F1-260C-6BE967762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3274" y="704169"/>
            <a:ext cx="4543200" cy="4543200"/>
          </a:xfrm>
          <a:prstGeom prst="arc">
            <a:avLst>
              <a:gd name="adj1" fmla="val 20301075"/>
              <a:gd name="adj2" fmla="val 0"/>
            </a:avLst>
          </a:prstGeom>
          <a:ln w="38100" cap="rnd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Variable Display Semib" pitchFamily="2" charset="0"/>
            </a:endParaRPr>
          </a:p>
        </p:txBody>
      </p:sp>
      <p:sp>
        <p:nvSpPr>
          <p:cNvPr id="43" name="!!ArcDataPreprocessing">
            <a:extLst>
              <a:ext uri="{FF2B5EF4-FFF2-40B4-BE49-F238E27FC236}">
                <a16:creationId xmlns:a16="http://schemas.microsoft.com/office/drawing/2014/main" id="{E90363BC-F830-967F-A057-522EE0148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3274" y="706455"/>
            <a:ext cx="4543200" cy="4543200"/>
          </a:xfrm>
          <a:prstGeom prst="arc">
            <a:avLst>
              <a:gd name="adj1" fmla="val 4728941"/>
              <a:gd name="adj2" fmla="val 6042658"/>
            </a:avLst>
          </a:prstGeom>
          <a:noFill/>
          <a:ln w="38100" cap="rnd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Variable Display Semib" pitchFamily="2" charset="0"/>
            </a:endParaRPr>
          </a:p>
        </p:txBody>
      </p:sp>
      <p:sp>
        <p:nvSpPr>
          <p:cNvPr id="44" name="!!ArcAgent">
            <a:extLst>
              <a:ext uri="{FF2B5EF4-FFF2-40B4-BE49-F238E27FC236}">
                <a16:creationId xmlns:a16="http://schemas.microsoft.com/office/drawing/2014/main" id="{86F68134-435D-4780-AA05-2B46E0FA4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3274" y="700999"/>
            <a:ext cx="4543200" cy="4543200"/>
          </a:xfrm>
          <a:prstGeom prst="arc">
            <a:avLst>
              <a:gd name="adj1" fmla="val 10895557"/>
              <a:gd name="adj2" fmla="val 12161727"/>
            </a:avLst>
          </a:prstGeom>
          <a:ln w="38100" cap="rnd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Variable Display Semib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544704-82FF-70F9-1D66-B7DF98362B89}"/>
              </a:ext>
            </a:extLst>
          </p:cNvPr>
          <p:cNvSpPr txBox="1"/>
          <p:nvPr/>
        </p:nvSpPr>
        <p:spPr>
          <a:xfrm>
            <a:off x="10097636" y="2036720"/>
            <a:ext cx="2043079" cy="884070"/>
          </a:xfrm>
          <a:prstGeom prst="rect">
            <a:avLst/>
          </a:prstGeom>
          <a:noFill/>
        </p:spPr>
        <p:txBody>
          <a:bodyPr wrap="square" tIns="72000" bIns="108000" anchor="ctr" anchorCtr="0">
            <a:noAutofit/>
          </a:bodyPr>
          <a:lstStyle/>
          <a:p>
            <a:pPr marL="0" marR="0" lvl="0" indent="0" algn="l" defTabSz="5640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itchFamily="34" charset="0"/>
              </a:rPr>
              <a:t>Query</a:t>
            </a:r>
            <a:br>
              <a:rPr kumimoji="0" lang="en-US" sz="20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itchFamily="34" charset="0"/>
              </a:rPr>
            </a:br>
            <a:r>
              <a:rPr kumimoji="0" lang="en-US" sz="20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itchFamily="34" charset="0"/>
              </a:rPr>
              <a:t>pipeline</a:t>
            </a:r>
          </a:p>
          <a:p>
            <a:pPr marL="0" marR="0" lvl="0" indent="0" algn="l" defTabSz="5640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latin typeface="Segoe UI Variable Display" pitchFamily="2" charset="0"/>
                <a:cs typeface="Segoe UI" pitchFamily="34" charset="0"/>
              </a:rPr>
              <a:t>agentic retrieval</a:t>
            </a:r>
            <a:endParaRPr kumimoji="0" lang="en-US" sz="160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Variable Display" pitchFamily="2" charset="0"/>
              <a:cs typeface="Segoe UI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1B643C-3239-D0DB-19D5-FE5F6C8DC702}"/>
              </a:ext>
            </a:extLst>
          </p:cNvPr>
          <p:cNvSpPr txBox="1"/>
          <p:nvPr/>
        </p:nvSpPr>
        <p:spPr>
          <a:xfrm>
            <a:off x="6149976" y="5488005"/>
            <a:ext cx="2931380" cy="514738"/>
          </a:xfrm>
          <a:prstGeom prst="rect">
            <a:avLst/>
          </a:prstGeom>
          <a:noFill/>
        </p:spPr>
        <p:txBody>
          <a:bodyPr wrap="square" tIns="72000" bIns="72000" anchor="ctr" anchorCtr="0">
            <a:noAutofit/>
          </a:bodyPr>
          <a:lstStyle/>
          <a:p>
            <a:pPr marL="0" marR="0" lvl="0" indent="0" algn="ctr" defTabSz="5640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Variable Display Semib" pitchFamily="2" charset="0"/>
                <a:cs typeface="Segoe UI" pitchFamily="34" charset="0"/>
              </a:rPr>
              <a:t>Data pipeline</a:t>
            </a:r>
          </a:p>
          <a:p>
            <a:pPr marL="0" marR="0" lvl="0" indent="0" algn="ctr" defTabSz="5640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latin typeface="Segoe UI Variable Display" pitchFamily="2" charset="0"/>
                <a:cs typeface="Segoe UI" pitchFamily="34" charset="0"/>
              </a:rPr>
              <a:t>multimodal, multi-source</a:t>
            </a:r>
          </a:p>
        </p:txBody>
      </p:sp>
      <p:sp>
        <p:nvSpPr>
          <p:cNvPr id="45" name="!!agent">
            <a:extLst>
              <a:ext uri="{FF2B5EF4-FFF2-40B4-BE49-F238E27FC236}">
                <a16:creationId xmlns:a16="http://schemas.microsoft.com/office/drawing/2014/main" id="{AB352169-3377-7C32-34DF-8BF073185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6767828" y="2352115"/>
            <a:ext cx="344931" cy="372863"/>
          </a:xfrm>
          <a:custGeom>
            <a:avLst/>
            <a:gdLst>
              <a:gd name="connsiteX0" fmla="*/ 318461 w 1071287"/>
              <a:gd name="connsiteY0" fmla="*/ 217133 h 1158042"/>
              <a:gd name="connsiteX1" fmla="*/ 536173 w 1071287"/>
              <a:gd name="connsiteY1" fmla="*/ 0 h 1158042"/>
              <a:gd name="connsiteX2" fmla="*/ 753305 w 1071287"/>
              <a:gd name="connsiteY2" fmla="*/ 217133 h 1158042"/>
              <a:gd name="connsiteX3" fmla="*/ 579599 w 1071287"/>
              <a:gd name="connsiteY3" fmla="*/ 430212 h 1158042"/>
              <a:gd name="connsiteX4" fmla="*/ 579599 w 1071287"/>
              <a:gd name="connsiteY4" fmla="*/ 550069 h 1158042"/>
              <a:gd name="connsiteX5" fmla="*/ 767781 w 1071287"/>
              <a:gd name="connsiteY5" fmla="*/ 550069 h 1158042"/>
              <a:gd name="connsiteX6" fmla="*/ 898060 w 1071287"/>
              <a:gd name="connsiteY6" fmla="*/ 680349 h 1158042"/>
              <a:gd name="connsiteX7" fmla="*/ 898060 w 1071287"/>
              <a:gd name="connsiteY7" fmla="*/ 680349 h 1158042"/>
              <a:gd name="connsiteX8" fmla="*/ 898060 w 1071287"/>
              <a:gd name="connsiteY8" fmla="*/ 727828 h 1158042"/>
              <a:gd name="connsiteX9" fmla="*/ 1066555 w 1071287"/>
              <a:gd name="connsiteY9" fmla="*/ 984913 h 1158042"/>
              <a:gd name="connsiteX10" fmla="*/ 854634 w 1071287"/>
              <a:gd name="connsiteY10" fmla="*/ 1158040 h 1158042"/>
              <a:gd name="connsiteX11" fmla="*/ 636922 w 1071287"/>
              <a:gd name="connsiteY11" fmla="*/ 940908 h 1158042"/>
              <a:gd name="connsiteX12" fmla="*/ 811207 w 1071287"/>
              <a:gd name="connsiteY12" fmla="*/ 727828 h 1158042"/>
              <a:gd name="connsiteX13" fmla="*/ 811207 w 1071287"/>
              <a:gd name="connsiteY13" fmla="*/ 680349 h 1158042"/>
              <a:gd name="connsiteX14" fmla="*/ 767781 w 1071287"/>
              <a:gd name="connsiteY14" fmla="*/ 636922 h 1158042"/>
              <a:gd name="connsiteX15" fmla="*/ 304565 w 1071287"/>
              <a:gd name="connsiteY15" fmla="*/ 636922 h 1158042"/>
              <a:gd name="connsiteX16" fmla="*/ 261138 w 1071287"/>
              <a:gd name="connsiteY16" fmla="*/ 680349 h 1158042"/>
              <a:gd name="connsiteX17" fmla="*/ 261138 w 1071287"/>
              <a:gd name="connsiteY17" fmla="*/ 727828 h 1158042"/>
              <a:gd name="connsiteX18" fmla="*/ 429633 w 1071287"/>
              <a:gd name="connsiteY18" fmla="*/ 984913 h 1158042"/>
              <a:gd name="connsiteX19" fmla="*/ 217712 w 1071287"/>
              <a:gd name="connsiteY19" fmla="*/ 1158040 h 1158042"/>
              <a:gd name="connsiteX20" fmla="*/ 0 w 1071287"/>
              <a:gd name="connsiteY20" fmla="*/ 941487 h 1158042"/>
              <a:gd name="connsiteX21" fmla="*/ 174285 w 1071287"/>
              <a:gd name="connsiteY21" fmla="*/ 728407 h 1158042"/>
              <a:gd name="connsiteX22" fmla="*/ 174285 w 1071287"/>
              <a:gd name="connsiteY22" fmla="*/ 680928 h 1158042"/>
              <a:gd name="connsiteX23" fmla="*/ 304565 w 1071287"/>
              <a:gd name="connsiteY23" fmla="*/ 550648 h 1158042"/>
              <a:gd name="connsiteX24" fmla="*/ 492746 w 1071287"/>
              <a:gd name="connsiteY24" fmla="*/ 550648 h 1158042"/>
              <a:gd name="connsiteX25" fmla="*/ 492746 w 1071287"/>
              <a:gd name="connsiteY25" fmla="*/ 430791 h 1158042"/>
              <a:gd name="connsiteX26" fmla="*/ 319040 w 1071287"/>
              <a:gd name="connsiteY26" fmla="*/ 217712 h 1158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71287" h="1158042">
                <a:moveTo>
                  <a:pt x="318461" y="217133"/>
                </a:moveTo>
                <a:cubicBezTo>
                  <a:pt x="318461" y="97275"/>
                  <a:pt x="415736" y="0"/>
                  <a:pt x="536173" y="0"/>
                </a:cubicBezTo>
                <a:cubicBezTo>
                  <a:pt x="656030" y="0"/>
                  <a:pt x="753305" y="97275"/>
                  <a:pt x="753305" y="217133"/>
                </a:cubicBezTo>
                <a:cubicBezTo>
                  <a:pt x="753305" y="320198"/>
                  <a:pt x="680349" y="409367"/>
                  <a:pt x="579599" y="430212"/>
                </a:cubicBezTo>
                <a:lnTo>
                  <a:pt x="579599" y="550069"/>
                </a:lnTo>
                <a:lnTo>
                  <a:pt x="767781" y="550069"/>
                </a:lnTo>
                <a:cubicBezTo>
                  <a:pt x="839579" y="550069"/>
                  <a:pt x="898060" y="608550"/>
                  <a:pt x="898060" y="680349"/>
                </a:cubicBezTo>
                <a:lnTo>
                  <a:pt x="898060" y="680349"/>
                </a:lnTo>
                <a:lnTo>
                  <a:pt x="898060" y="727828"/>
                </a:lnTo>
                <a:cubicBezTo>
                  <a:pt x="1015601" y="752147"/>
                  <a:pt x="1091453" y="867372"/>
                  <a:pt x="1066555" y="984913"/>
                </a:cubicBezTo>
                <a:cubicBezTo>
                  <a:pt x="1045710" y="1085663"/>
                  <a:pt x="957120" y="1158040"/>
                  <a:pt x="854634" y="1158040"/>
                </a:cubicBezTo>
                <a:cubicBezTo>
                  <a:pt x="734776" y="1158040"/>
                  <a:pt x="637501" y="1061344"/>
                  <a:pt x="636922" y="940908"/>
                </a:cubicBezTo>
                <a:cubicBezTo>
                  <a:pt x="636922" y="837263"/>
                  <a:pt x="709300" y="748094"/>
                  <a:pt x="811207" y="727828"/>
                </a:cubicBezTo>
                <a:lnTo>
                  <a:pt x="811207" y="680349"/>
                </a:lnTo>
                <a:cubicBezTo>
                  <a:pt x="811207" y="656609"/>
                  <a:pt x="791520" y="636922"/>
                  <a:pt x="767781" y="636922"/>
                </a:cubicBezTo>
                <a:lnTo>
                  <a:pt x="304565" y="636922"/>
                </a:lnTo>
                <a:cubicBezTo>
                  <a:pt x="280825" y="636922"/>
                  <a:pt x="261138" y="656609"/>
                  <a:pt x="261138" y="680349"/>
                </a:cubicBezTo>
                <a:lnTo>
                  <a:pt x="261138" y="727828"/>
                </a:lnTo>
                <a:cubicBezTo>
                  <a:pt x="378679" y="752147"/>
                  <a:pt x="454531" y="867372"/>
                  <a:pt x="429633" y="984913"/>
                </a:cubicBezTo>
                <a:cubicBezTo>
                  <a:pt x="408788" y="1085663"/>
                  <a:pt x="320198" y="1158040"/>
                  <a:pt x="217712" y="1158040"/>
                </a:cubicBezTo>
                <a:cubicBezTo>
                  <a:pt x="97854" y="1158619"/>
                  <a:pt x="0" y="1061344"/>
                  <a:pt x="0" y="941487"/>
                </a:cubicBezTo>
                <a:cubicBezTo>
                  <a:pt x="0" y="837842"/>
                  <a:pt x="72378" y="748673"/>
                  <a:pt x="174285" y="728407"/>
                </a:cubicBezTo>
                <a:lnTo>
                  <a:pt x="174285" y="680928"/>
                </a:lnTo>
                <a:cubicBezTo>
                  <a:pt x="174285" y="609129"/>
                  <a:pt x="232766" y="550648"/>
                  <a:pt x="304565" y="550648"/>
                </a:cubicBezTo>
                <a:lnTo>
                  <a:pt x="492746" y="550648"/>
                </a:lnTo>
                <a:lnTo>
                  <a:pt x="492746" y="430791"/>
                </a:lnTo>
                <a:cubicBezTo>
                  <a:pt x="391418" y="409946"/>
                  <a:pt x="319040" y="321356"/>
                  <a:pt x="319040" y="217712"/>
                </a:cubicBezTo>
                <a:close/>
              </a:path>
            </a:pathLst>
          </a:custGeom>
          <a:solidFill>
            <a:schemeClr val="tx1"/>
          </a:solidFill>
          <a:ln w="11579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130595" tIns="65302" rIns="130595" bIns="653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0245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Variable Display Semib" pitchFamily="2" charset="0"/>
              <a:cs typeface="Segoe UI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18720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1EA11-5724-377C-8E1C-5A5894FCB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47BAD-0978-C6F5-F9B9-527FD988D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2134912"/>
            <a:ext cx="5510212" cy="2243691"/>
          </a:xfrm>
        </p:spPr>
        <p:txBody>
          <a:bodyPr anchor="ctr"/>
          <a:lstStyle/>
          <a:p>
            <a:r>
              <a:rPr lang="en-US" sz="5400">
                <a:latin typeface="Segoe UI Variable Display Semib" pitchFamily="2" charset="0"/>
              </a:rPr>
              <a:t>Purpose-built retrieval for RAG &amp; agents</a:t>
            </a:r>
          </a:p>
        </p:txBody>
      </p:sp>
    </p:spTree>
    <p:extLst>
      <p:ext uri="{BB962C8B-B14F-4D97-AF65-F5344CB8AC3E}">
        <p14:creationId xmlns:p14="http://schemas.microsoft.com/office/powerpoint/2010/main" val="399993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B4399-82D2-E17C-D8B8-D8935A266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9E1FE55-0386-F6C2-442D-D3A58B3DBE6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8963" y="2822679"/>
            <a:ext cx="11017250" cy="12126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</a:rPr>
              <a:t>Query pipeline</a:t>
            </a:r>
          </a:p>
          <a:p>
            <a:pPr marL="0" marR="0" lvl="0" indent="0" algn="l" defTabSz="932742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</a:rPr>
              <a:t>Search </a:t>
            </a:r>
            <a:r>
              <a:rPr kumimoji="0" lang="en-US" sz="5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  <a:sym typeface="Wingdings" panose="05000000000000000000" pitchFamily="2" charset="2"/>
              </a:rPr>
              <a:t> Agentic retrieval</a:t>
            </a:r>
            <a:endParaRPr kumimoji="0" lang="en-US" sz="5400" b="0" i="0" u="none" strike="noStrike" kern="1200" cap="none" spc="-50" normalizeH="0" baseline="0" noProof="0">
              <a:ln w="3175">
                <a:noFill/>
              </a:ln>
              <a:solidFill>
                <a:srgbClr val="FAE4A2"/>
              </a:solidFill>
              <a:effectLst/>
              <a:uLnTx/>
              <a:uFillTx/>
              <a:latin typeface="Segoe UI Variable Display Semi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79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8E113-60A9-3B99-E7C4-217486890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2D13-B694-4372-F5C6-0760449B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1128514"/>
          </a:xfrm>
        </p:spPr>
        <p:txBody>
          <a:bodyPr/>
          <a:lstStyle/>
          <a:p>
            <a:pPr algn="ctr">
              <a:lnSpc>
                <a:spcPts val="4400"/>
              </a:lnSpc>
            </a:pPr>
            <a:r>
              <a:rPr lang="en-US" sz="4000">
                <a:latin typeface="Segoe UI Variable Display Semib" pitchFamily="2" charset="0"/>
              </a:rPr>
              <a:t>Tackle harder questions</a:t>
            </a:r>
            <a:br>
              <a:rPr lang="en-US" sz="4000">
                <a:latin typeface="Segoe UI Variable Display Semib" pitchFamily="2" charset="0"/>
              </a:rPr>
            </a:br>
            <a:r>
              <a:rPr lang="en-US" sz="4000">
                <a:latin typeface="Segoe UI Variable Display Semib" pitchFamily="2" charset="0"/>
              </a:rPr>
              <a:t>from humans and agents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54D588A-5789-CDCA-80C2-EB75D93E06C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5788" y="1905590"/>
            <a:ext cx="11020425" cy="307777"/>
          </a:xfrm>
        </p:spPr>
        <p:txBody>
          <a:bodyPr>
            <a:spAutoFit/>
          </a:bodyPr>
          <a:lstStyle/>
          <a:p>
            <a:pPr marL="0" indent="0" algn="ctr">
              <a:buNone/>
            </a:pPr>
            <a:r>
              <a:rPr lang="en-US" sz="2000">
                <a:latin typeface="Segoe UI Variable Display Semib" pitchFamily="2" charset="0"/>
              </a:rPr>
              <a:t>RAG first built on existing search systems: “top-K similar results”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5C511E-4A70-92F1-F78E-9242F4218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836903" y="3218191"/>
            <a:ext cx="5120640" cy="2484000"/>
          </a:xfrm>
          <a:prstGeom prst="roundRect">
            <a:avLst>
              <a:gd name="adj" fmla="val 6715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1800"/>
            </a:lvl1pPr>
            <a:lvl2pPr marL="457200" lvl="1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1"/>
            <a:endParaRPr lang="en-US">
              <a:latin typeface="Segoe UI Variable Display Semib" pitchFamily="2" charset="0"/>
            </a:endParaRPr>
          </a:p>
        </p:txBody>
      </p:sp>
      <p:sp useBgFill="1"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CA9768-1D80-5D47-3B09-1D1D258A31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976046" y="3032456"/>
            <a:ext cx="842354" cy="373463"/>
          </a:xfrm>
          <a:prstGeom prst="roundRect">
            <a:avLst>
              <a:gd name="adj" fmla="val 34256"/>
            </a:avLst>
          </a:prstGeom>
        </p:spPr>
        <p:txBody>
          <a:bodyPr wrap="square" lIns="90000" tIns="18000" rIns="90000" bIns="36000" rtlCol="0" anchor="ctr" anchorCtr="0">
            <a:sp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r>
              <a:rPr lang="en-US" sz="1600" b="1">
                <a:ln w="3175">
                  <a:noFill/>
                </a:ln>
                <a:gradFill>
                  <a:gsLst>
                    <a:gs pos="46602">
                      <a:srgbClr val="000000"/>
                    </a:gs>
                    <a:gs pos="80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/>
              </a:rPr>
              <a:t>Works</a:t>
            </a:r>
            <a:endParaRPr lang="en-US" sz="1600" b="1">
              <a:ln w="3175">
                <a:noFill/>
              </a:ln>
              <a:gradFill>
                <a:gsLst>
                  <a:gs pos="46602">
                    <a:srgbClr val="000000"/>
                  </a:gs>
                  <a:gs pos="80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" pitchFamily="2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E5CDD4-7636-85BA-D366-5B214B19390C}"/>
              </a:ext>
            </a:extLst>
          </p:cNvPr>
          <p:cNvSpPr txBox="1">
            <a:spLocks/>
          </p:cNvSpPr>
          <p:nvPr/>
        </p:nvSpPr>
        <p:spPr>
          <a:xfrm>
            <a:off x="1190039" y="3719764"/>
            <a:ext cx="4414368" cy="1670722"/>
          </a:xfrm>
          <a:prstGeom prst="roundRect">
            <a:avLst>
              <a:gd name="adj" fmla="val 13523"/>
            </a:avLst>
          </a:prstGeom>
          <a:gradFill flip="none" rotWithShape="1"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spcBef>
                <a:spcPts val="200"/>
              </a:spcBef>
            </a:pP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</a:rPr>
              <a:t>security updates KB4048959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269033-5914-243E-D79F-1D1900BF1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242050" y="3218191"/>
            <a:ext cx="5120640" cy="2484000"/>
          </a:xfrm>
          <a:prstGeom prst="roundRect">
            <a:avLst>
              <a:gd name="adj" fmla="val 6094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1800"/>
            </a:lvl1pPr>
            <a:lvl2pPr marL="457200" lvl="1" defTabSz="914400">
              <a:defRPr sz="1800">
                <a:latin typeface="Segoe UI Variable Display Semib" pitchFamily="2" charset="0"/>
              </a:defRPr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1"/>
            <a:endParaRPr lang="en-US"/>
          </a:p>
        </p:txBody>
      </p:sp>
      <p:sp useBgFill="1"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4EABC5B-B6D0-201A-8C6A-442C182994F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063055" y="3032456"/>
            <a:ext cx="1478630" cy="373463"/>
          </a:xfrm>
          <a:prstGeom prst="roundRect">
            <a:avLst>
              <a:gd name="adj" fmla="val 34256"/>
            </a:avLst>
          </a:prstGeom>
        </p:spPr>
        <p:txBody>
          <a:bodyPr wrap="square" lIns="90000" tIns="18000" rIns="90000" bIns="36000" rtlCol="0" anchor="ctr" anchorCtr="0">
            <a:sp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r>
              <a:rPr lang="en-US" sz="1600" b="1">
                <a:ln w="3175">
                  <a:noFill/>
                </a:ln>
                <a:gradFill>
                  <a:gsLst>
                    <a:gs pos="46602">
                      <a:srgbClr val="000000"/>
                    </a:gs>
                    <a:gs pos="80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/>
              </a:rPr>
              <a:t>Doesn’t 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5A4881-E939-FC92-A7E2-22F2F069F5D7}"/>
              </a:ext>
            </a:extLst>
          </p:cNvPr>
          <p:cNvSpPr txBox="1">
            <a:spLocks/>
          </p:cNvSpPr>
          <p:nvPr/>
        </p:nvSpPr>
        <p:spPr>
          <a:xfrm>
            <a:off x="6624348" y="3719764"/>
            <a:ext cx="4356044" cy="1588978"/>
          </a:xfrm>
          <a:prstGeom prst="roundRect">
            <a:avLst>
              <a:gd name="adj" fmla="val 14023"/>
            </a:avLst>
          </a:prstGeom>
          <a:gradFill flip="none" rotWithShape="1"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182880" tIns="182880" rIns="182880" bIns="182880" rtlCol="0" anchor="ctr" anchorCtr="0">
            <a:sp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defTabSz="932742" rtl="0" eaLnBrk="1" fontAlgn="auto" latinLnBrk="0" hangingPunct="1">
              <a:lnSpc>
                <a:spcPts val="2880"/>
              </a:lnSpc>
              <a:spcBef>
                <a:spcPts val="1224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highlight>
                  <a:srgbClr val="A9D5ED"/>
                </a:highlight>
              </a:rPr>
              <a:t>what does ​KB4048959 fix</a:t>
            </a: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highlight>
                  <a:srgbClr val="FFC6CC"/>
                </a:highlight>
              </a:rPr>
              <a:t>and</a:t>
            </a: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</a:rPr>
              <a:t> what systems </a:t>
            </a:r>
            <a:r>
              <a:rPr lang="en-US" sz="2400">
                <a:solidFill>
                  <a:schemeClr val="tx1"/>
                </a:solidFill>
                <a:highlight>
                  <a:srgbClr val="FFC6CC"/>
                </a:highlight>
              </a:rPr>
              <a:t>is the patch</a:t>
            </a: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400" err="1">
                <a:solidFill>
                  <a:schemeClr val="tx1"/>
                </a:solidFill>
                <a:highlight>
                  <a:srgbClr val="FFEAB2"/>
                </a:highlight>
              </a:rPr>
              <a:t>compatibel</a:t>
            </a: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</a:rPr>
              <a:t> with?</a:t>
            </a:r>
          </a:p>
        </p:txBody>
      </p:sp>
    </p:spTree>
    <p:extLst>
      <p:ext uri="{BB962C8B-B14F-4D97-AF65-F5344CB8AC3E}">
        <p14:creationId xmlns:p14="http://schemas.microsoft.com/office/powerpoint/2010/main" val="292179084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BF641-4EF1-7DE1-13E3-A447C8784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77104BE0-0BEE-15CF-66E6-13E4932E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588263" y="1423019"/>
            <a:ext cx="11022583" cy="4839061"/>
          </a:xfrm>
          <a:prstGeom prst="roundRect">
            <a:avLst>
              <a:gd name="adj" fmla="val 3167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1800"/>
            </a:lvl1pPr>
            <a:lvl2pPr marL="457200" lvl="1" defTabSz="914400">
              <a:defRPr sz="1800">
                <a:latin typeface="Segoe UI Variable Display Semib" pitchFamily="2" charset="0"/>
              </a:defRPr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4F241-C939-8C89-71A6-CC25DA04B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615553"/>
          </a:xfrm>
        </p:spPr>
        <p:txBody>
          <a:bodyPr/>
          <a:lstStyle/>
          <a:p>
            <a:pPr algn="ctr"/>
            <a:r>
              <a:rPr lang="en-US" sz="4000">
                <a:latin typeface="Segoe UI Variable Display Semib" pitchFamily="2" charset="0"/>
              </a:rPr>
              <a:t>Classic search workflow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F850525C-8058-821A-BF0B-985FC6047584}"/>
              </a:ext>
            </a:extLst>
          </p:cNvPr>
          <p:cNvSpPr/>
          <p:nvPr/>
        </p:nvSpPr>
        <p:spPr bwMode="auto">
          <a:xfrm>
            <a:off x="795345" y="1852319"/>
            <a:ext cx="2103120" cy="588265"/>
          </a:xfrm>
          <a:prstGeom prst="roundRect">
            <a:avLst/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r>
              <a:rPr lang="en-US" sz="2400" b="1">
                <a:ln w="3175">
                  <a:noFill/>
                </a:ln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User query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51A23AEA-D922-61A7-5ACD-19C8BBECAFBD}"/>
              </a:ext>
            </a:extLst>
          </p:cNvPr>
          <p:cNvSpPr/>
          <p:nvPr/>
        </p:nvSpPr>
        <p:spPr bwMode="auto">
          <a:xfrm>
            <a:off x="3598104" y="1844698"/>
            <a:ext cx="2103120" cy="595886"/>
          </a:xfrm>
          <a:prstGeom prst="roundRect">
            <a:avLst/>
          </a:prstGeom>
          <a:noFill/>
          <a:ln w="19050">
            <a:gradFill>
              <a:gsLst>
                <a:gs pos="10000">
                  <a:srgbClr val="2A446F"/>
                </a:gs>
                <a:gs pos="100000">
                  <a:srgbClr val="73262F"/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  <a:latin typeface="Segoe UI Variable Display Semib" pitchFamily="2" charset="0"/>
              </a:rPr>
              <a:t>L1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BD1D898-B8C2-B31A-17AF-CD4ABE11C8DB}"/>
              </a:ext>
            </a:extLst>
          </p:cNvPr>
          <p:cNvSpPr/>
          <p:nvPr/>
        </p:nvSpPr>
        <p:spPr bwMode="auto">
          <a:xfrm>
            <a:off x="6273727" y="1846925"/>
            <a:ext cx="2103120" cy="594614"/>
          </a:xfrm>
          <a:prstGeom prst="roundRect">
            <a:avLst/>
          </a:prstGeom>
          <a:noFill/>
          <a:ln w="19050">
            <a:gradFill>
              <a:gsLst>
                <a:gs pos="10000">
                  <a:srgbClr val="2A446F"/>
                </a:gs>
                <a:gs pos="100000">
                  <a:srgbClr val="73262F"/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  <a:latin typeface="Segoe UI Variable Display Semib" pitchFamily="2" charset="0"/>
              </a:rPr>
              <a:t>L2</a:t>
            </a:r>
          </a:p>
        </p:txBody>
      </p:sp>
      <p:cxnSp>
        <p:nvCxnSpPr>
          <p:cNvPr id="98" name="Connector: Curved 97">
            <a:extLst>
              <a:ext uri="{FF2B5EF4-FFF2-40B4-BE49-F238E27FC236}">
                <a16:creationId xmlns:a16="http://schemas.microsoft.com/office/drawing/2014/main" id="{446B40BE-ADB6-2485-699D-80DBD579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3" idx="3"/>
            <a:endCxn id="96" idx="1"/>
          </p:cNvCxnSpPr>
          <p:nvPr/>
        </p:nvCxnSpPr>
        <p:spPr>
          <a:xfrm flipV="1">
            <a:off x="2898465" y="2142641"/>
            <a:ext cx="699639" cy="3811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Curved 98">
            <a:extLst>
              <a:ext uri="{FF2B5EF4-FFF2-40B4-BE49-F238E27FC236}">
                <a16:creationId xmlns:a16="http://schemas.microsoft.com/office/drawing/2014/main" id="{5D2C3600-991B-77B3-714A-13EA7CB66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6" idx="3"/>
            <a:endCxn id="97" idx="1"/>
          </p:cNvCxnSpPr>
          <p:nvPr/>
        </p:nvCxnSpPr>
        <p:spPr>
          <a:xfrm>
            <a:off x="5701224" y="2142641"/>
            <a:ext cx="572503" cy="1591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3A6B71C4-B6A6-CCB2-D45D-57A64D4AE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7" idx="3"/>
            <a:endCxn id="107" idx="1"/>
          </p:cNvCxnSpPr>
          <p:nvPr/>
        </p:nvCxnSpPr>
        <p:spPr>
          <a:xfrm flipV="1">
            <a:off x="8376847" y="2142639"/>
            <a:ext cx="732013" cy="1593"/>
          </a:xfrm>
          <a:prstGeom prst="curvedConnector3">
            <a:avLst>
              <a:gd name="adj1" fmla="val 50000"/>
            </a:avLst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36161C68-66E0-4C83-FF87-1D69F6592ED4}"/>
              </a:ext>
            </a:extLst>
          </p:cNvPr>
          <p:cNvSpPr/>
          <p:nvPr/>
        </p:nvSpPr>
        <p:spPr bwMode="auto">
          <a:xfrm>
            <a:off x="9108860" y="1844695"/>
            <a:ext cx="2103120" cy="595887"/>
          </a:xfrm>
          <a:prstGeom prst="roundRect">
            <a:avLst/>
          </a:prstGeom>
          <a:noFill/>
          <a:ln w="19050">
            <a:gradFill>
              <a:gsLst>
                <a:gs pos="10000">
                  <a:srgbClr val="2A446F"/>
                </a:gs>
                <a:gs pos="100000">
                  <a:srgbClr val="73262F"/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  <a:latin typeface="Segoe UI Variable Display Semib" pitchFamily="2" charset="0"/>
                <a:sym typeface="Wingdings" panose="05000000000000000000" pitchFamily="2" charset="2"/>
              </a:rPr>
              <a:t>   </a:t>
            </a:r>
            <a:r>
              <a:rPr lang="uk-UA" sz="2400">
                <a:solidFill>
                  <a:srgbClr val="000000"/>
                </a:solidFill>
                <a:latin typeface="Segoe UI Variable Display Semib" pitchFamily="2" charset="0"/>
                <a:sym typeface="Wingdings" panose="05000000000000000000" pitchFamily="2" charset="2"/>
              </a:rPr>
              <a:t>     </a:t>
            </a:r>
            <a:r>
              <a:rPr lang="en-US" sz="2400">
                <a:solidFill>
                  <a:srgbClr val="000000"/>
                </a:solidFill>
                <a:latin typeface="Segoe UI Variable Display Semib" pitchFamily="2" charset="0"/>
                <a:sym typeface="Wingdings" panose="05000000000000000000" pitchFamily="2" charset="2"/>
              </a:rPr>
              <a:t> </a:t>
            </a:r>
            <a:r>
              <a:rPr lang="en-US" sz="2400">
                <a:solidFill>
                  <a:srgbClr val="000000"/>
                </a:solidFill>
                <a:latin typeface="Segoe UI Variable Display Semib" pitchFamily="2" charset="0"/>
              </a:rPr>
              <a:t>LLM</a:t>
            </a:r>
          </a:p>
        </p:txBody>
      </p:sp>
      <p:pic>
        <p:nvPicPr>
          <p:cNvPr id="127" name="Рисунок 37" descr="Document icon">
            <a:extLst>
              <a:ext uri="{FF2B5EF4-FFF2-40B4-BE49-F238E27FC236}">
                <a16:creationId xmlns:a16="http://schemas.microsoft.com/office/drawing/2014/main" id="{6315D804-C89B-1B5E-8F43-A183AFBA0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1289" y="1922846"/>
            <a:ext cx="439584" cy="439584"/>
          </a:xfrm>
          <a:prstGeom prst="rect">
            <a:avLst/>
          </a:prstGeom>
        </p:spPr>
      </p:pic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42811784-E0C3-B3C4-8FC8-3AF924BC7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275994" y="2821065"/>
            <a:ext cx="2103120" cy="841962"/>
          </a:xfrm>
          <a:prstGeom prst="roundRect">
            <a:avLst>
              <a:gd name="adj" fmla="val 15739"/>
            </a:avLst>
          </a:prstGeom>
          <a:noFill/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2400"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811670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Results as-is </a:t>
            </a:r>
            <a:b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</a:b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from L1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BDDE613-6E1A-DDC3-6BF1-31767200A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108860" y="2821065"/>
            <a:ext cx="2103120" cy="841962"/>
          </a:xfrm>
          <a:prstGeom prst="roundRect">
            <a:avLst>
              <a:gd name="adj" fmla="val 15739"/>
            </a:avLst>
          </a:prstGeom>
          <a:noFill/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2400"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811670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Single-shot retrieval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1A15EB1-880E-43BA-505E-6F7657DB2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273727" y="4027455"/>
            <a:ext cx="2103120" cy="841962"/>
          </a:xfrm>
          <a:prstGeom prst="roundRect">
            <a:avLst>
              <a:gd name="adj" fmla="val 14794"/>
            </a:avLst>
          </a:prstGeom>
          <a:noFill/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2400"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811670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Reranking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 Semibold" panose="020B0702040204020203" pitchFamily="34" charset="0"/>
              </a:rPr>
            </a:br>
            <a:r>
              <a:rPr lang="en-US" sz="1400">
                <a:solidFill>
                  <a:schemeClr val="tx1"/>
                </a:solidFill>
                <a:latin typeface="Segoe UI Variable Display" pitchFamily="2" charset="0"/>
                <a:cs typeface="Segoe UI Semibold" panose="020B0702040204020203" pitchFamily="34" charset="0"/>
              </a:rPr>
              <a:t>e.g. cross-encoder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3FE7D07-7142-DDC1-BE90-043CCD79D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108860" y="4027455"/>
            <a:ext cx="2103120" cy="841962"/>
          </a:xfrm>
          <a:prstGeom prst="roundRect">
            <a:avLst>
              <a:gd name="adj" fmla="val 13850"/>
            </a:avLst>
          </a:prstGeom>
          <a:noFill/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2400"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Linear </a:t>
            </a: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ranked list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E3AAB3D-8B81-9CED-A885-4321CC95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3598104" y="5223081"/>
            <a:ext cx="2103120" cy="841962"/>
          </a:xfrm>
          <a:prstGeom prst="roundRect">
            <a:avLst>
              <a:gd name="adj" fmla="val 14794"/>
            </a:avLst>
          </a:prstGeom>
          <a:noFill/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2400"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811670" rtl="0" eaLnBrk="1" fontAlgn="auto" latinLnBrk="0" hangingPunct="1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 Semibold" panose="020B0702040204020203" pitchFamily="34" charset="0"/>
              </a:rPr>
              <a:t>H</a:t>
            </a: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ybrid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 Semibold" panose="020B0702040204020203" pitchFamily="34" charset="0"/>
              </a:rPr>
              <a:t>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 Semibold" panose="020B0702040204020203" pitchFamily="34" charset="0"/>
              </a:rPr>
            </a:br>
            <a:r>
              <a:rPr lang="en-US" sz="1400">
                <a:solidFill>
                  <a:schemeClr val="tx1"/>
                </a:solidFill>
                <a:latin typeface="Segoe UI Variable Display" pitchFamily="2" charset="0"/>
                <a:cs typeface="Segoe UI Semibold" panose="020B0702040204020203" pitchFamily="34" charset="0"/>
              </a:rPr>
              <a:t>RRF(keyword, vector)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7957F30-CDC6-49E3-078D-14C317571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9108860" y="5223081"/>
            <a:ext cx="2103120" cy="841962"/>
          </a:xfrm>
          <a:prstGeom prst="roundRect">
            <a:avLst>
              <a:gd name="adj" fmla="val 14794"/>
            </a:avLst>
          </a:prstGeom>
          <a:noFill/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2400"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R="0" lvl="0" indent="0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No </a:t>
            </a:r>
          </a:p>
          <a:p>
            <a:pPr marR="0" lvl="0" indent="0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interpretation</a:t>
            </a:r>
          </a:p>
        </p:txBody>
      </p:sp>
      <p:sp useBgFill="1">
        <p:nvSpPr>
          <p:cNvPr id="12" name="Text Placeholder 2">
            <a:extLst>
              <a:ext uri="{FF2B5EF4-FFF2-40B4-BE49-F238E27FC236}">
                <a16:creationId xmlns:a16="http://schemas.microsoft.com/office/drawing/2014/main" id="{D3B379B6-1D73-F1C8-C73C-2FAA213C4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3598104" y="4022073"/>
            <a:ext cx="2103120" cy="841962"/>
          </a:xfrm>
          <a:prstGeom prst="roundRect">
            <a:avLst>
              <a:gd name="adj" fmla="val 14794"/>
            </a:avLst>
          </a:prstGeom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2400"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914400">
              <a:defRPr/>
            </a:pPr>
            <a:r>
              <a:rPr lang="en-US" sz="20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  <a:t>Vector search </a:t>
            </a:r>
            <a:br>
              <a:rPr lang="uk-UA" sz="14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rPr>
            </a:br>
            <a:r>
              <a:rPr lang="en-US" sz="1400">
                <a:solidFill>
                  <a:schemeClr val="tx1"/>
                </a:solidFill>
                <a:latin typeface="Segoe UI Variable Display" pitchFamily="2" charset="0"/>
                <a:cs typeface="Segoe UI Semibold" panose="020B0702040204020203" pitchFamily="34" charset="0"/>
              </a:rPr>
              <a:t>embeddings + </a:t>
            </a:r>
            <a:br>
              <a:rPr lang="uk-UA" sz="1400">
                <a:solidFill>
                  <a:schemeClr val="tx1"/>
                </a:solidFill>
                <a:latin typeface="Segoe UI Variable Display" pitchFamily="2" charset="0"/>
                <a:cs typeface="Segoe UI Semibold" panose="020B0702040204020203" pitchFamily="34" charset="0"/>
              </a:rPr>
            </a:br>
            <a:r>
              <a:rPr lang="en-US" sz="1400">
                <a:solidFill>
                  <a:schemeClr val="tx1"/>
                </a:solidFill>
                <a:latin typeface="Segoe UI Variable Display" pitchFamily="2" charset="0"/>
                <a:cs typeface="Segoe UI Semibold" panose="020B0702040204020203" pitchFamily="34" charset="0"/>
              </a:rPr>
              <a:t>vector index</a:t>
            </a:r>
          </a:p>
        </p:txBody>
      </p:sp>
      <p:sp useBgFill="1">
        <p:nvSpPr>
          <p:cNvPr id="42" name="Text Placeholder 2">
            <a:extLst>
              <a:ext uri="{FF2B5EF4-FFF2-40B4-BE49-F238E27FC236}">
                <a16:creationId xmlns:a16="http://schemas.microsoft.com/office/drawing/2014/main" id="{79A33A0B-F38D-002F-A4EB-00C47431D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3598104" y="2821065"/>
            <a:ext cx="2103120" cy="841962"/>
          </a:xfrm>
          <a:prstGeom prst="roundRect">
            <a:avLst>
              <a:gd name="adj" fmla="val 15739"/>
            </a:avLst>
          </a:prstGeom>
          <a:blipFill dpi="0" rotWithShape="0">
            <a:blip r:embed="rId4">
              <a:lum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-176148" t="-476859" r="-303562" b="-237667"/>
            </a:stretch>
          </a:blipFill>
          <a:ln w="19050" cap="rnd">
            <a:solidFill>
              <a:schemeClr val="tx1">
                <a:alpha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14400">
              <a:spcBef>
                <a:spcPts val="174"/>
              </a:spcBef>
              <a:defRPr sz="1800">
                <a:solidFill>
                  <a:schemeClr val="tx1"/>
                </a:solidFill>
                <a:latin typeface="Segoe UI Variable Display Semib" pitchFamily="2" charset="0"/>
                <a:cs typeface="Segoe UI Semibold" panose="020B0702040204020203" pitchFamily="34" charset="0"/>
              </a:defRPr>
            </a:lvl1pPr>
            <a:lvl2pPr marL="358814" defTabSz="717626">
              <a:defRPr sz="1413">
                <a:solidFill>
                  <a:schemeClr val="lt1"/>
                </a:solidFill>
              </a:defRPr>
            </a:lvl2pPr>
            <a:lvl3pPr marL="717626" defTabSz="717626">
              <a:defRPr sz="1413">
                <a:solidFill>
                  <a:schemeClr val="lt1"/>
                </a:solidFill>
              </a:defRPr>
            </a:lvl3pPr>
            <a:lvl4pPr marL="1076440" defTabSz="717626">
              <a:defRPr sz="1413">
                <a:solidFill>
                  <a:schemeClr val="lt1"/>
                </a:solidFill>
              </a:defRPr>
            </a:lvl4pPr>
            <a:lvl5pPr marL="1435252" defTabSz="717626">
              <a:defRPr sz="1413">
                <a:solidFill>
                  <a:schemeClr val="lt1"/>
                </a:solidFill>
              </a:defRPr>
            </a:lvl5pPr>
            <a:lvl6pPr marL="1794066" defTabSz="717626">
              <a:defRPr sz="1413">
                <a:solidFill>
                  <a:schemeClr val="lt1"/>
                </a:solidFill>
              </a:defRPr>
            </a:lvl6pPr>
            <a:lvl7pPr marL="2152877" defTabSz="717626">
              <a:defRPr sz="1413">
                <a:solidFill>
                  <a:schemeClr val="lt1"/>
                </a:solidFill>
              </a:defRPr>
            </a:lvl7pPr>
            <a:lvl8pPr marL="2511691" defTabSz="717626">
              <a:defRPr sz="1413">
                <a:solidFill>
                  <a:schemeClr val="lt1"/>
                </a:solidFill>
              </a:defRPr>
            </a:lvl8pPr>
            <a:lvl9pPr marL="2870503" defTabSz="717626">
              <a:defRPr sz="1413">
                <a:solidFill>
                  <a:schemeClr val="lt1"/>
                </a:solidFill>
              </a:defRPr>
            </a:lvl9pPr>
          </a:lstStyle>
          <a:p>
            <a:r>
              <a:rPr lang="en-US" sz="2000"/>
              <a:t>Keyword search </a:t>
            </a:r>
            <a:r>
              <a:rPr lang="en-US" sz="1400">
                <a:latin typeface="Segoe UI Variable Display" pitchFamily="2" charset="0"/>
              </a:rPr>
              <a:t>segmentation + </a:t>
            </a:r>
            <a:br>
              <a:rPr lang="uk-UA" sz="1400">
                <a:latin typeface="Segoe UI Variable Display" pitchFamily="2" charset="0"/>
              </a:rPr>
            </a:br>
            <a:r>
              <a:rPr lang="en-US" sz="1400">
                <a:latin typeface="Segoe UI Variable Display" pitchFamily="2" charset="0"/>
              </a:rPr>
              <a:t>inverted index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CCC7112-21E1-C810-485D-1C746AEB6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4649664" y="4864035"/>
            <a:ext cx="0" cy="359046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25C0AB4B-D7AE-955E-C796-6A864A5E5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6" idx="2"/>
            <a:endCxn id="42" idx="0"/>
          </p:cNvCxnSpPr>
          <p:nvPr/>
        </p:nvCxnSpPr>
        <p:spPr>
          <a:xfrm>
            <a:off x="4649664" y="2440584"/>
            <a:ext cx="0" cy="380481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2FA2BCAE-71E0-F506-D9BA-C5D3FC9F7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2" idx="2"/>
            <a:endCxn id="12" idx="0"/>
          </p:cNvCxnSpPr>
          <p:nvPr/>
        </p:nvCxnSpPr>
        <p:spPr>
          <a:xfrm>
            <a:off x="4649664" y="3663027"/>
            <a:ext cx="0" cy="359046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813EAF86-3AF2-6D6C-6C52-7BF098A78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97" idx="2"/>
            <a:endCxn id="38" idx="0"/>
          </p:cNvCxnSpPr>
          <p:nvPr/>
        </p:nvCxnSpPr>
        <p:spPr>
          <a:xfrm>
            <a:off x="7325287" y="2441539"/>
            <a:ext cx="2267" cy="379526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8466853C-CD8A-988E-E10B-F15F5DA87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8" idx="2"/>
            <a:endCxn id="11" idx="0"/>
          </p:cNvCxnSpPr>
          <p:nvPr/>
        </p:nvCxnSpPr>
        <p:spPr>
          <a:xfrm flipH="1">
            <a:off x="7325287" y="3663027"/>
            <a:ext cx="2267" cy="364428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6D511DB6-86A2-02FF-4FC0-793C60979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07" idx="2"/>
            <a:endCxn id="43" idx="0"/>
          </p:cNvCxnSpPr>
          <p:nvPr/>
        </p:nvCxnSpPr>
        <p:spPr>
          <a:xfrm>
            <a:off x="10160420" y="2440582"/>
            <a:ext cx="0" cy="380483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903A8A17-2D78-35FC-0DF1-4B702EE1D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3" idx="2"/>
            <a:endCxn id="13" idx="0"/>
          </p:cNvCxnSpPr>
          <p:nvPr/>
        </p:nvCxnSpPr>
        <p:spPr>
          <a:xfrm>
            <a:off x="10160420" y="3663027"/>
            <a:ext cx="0" cy="364428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579130BF-9705-D5A6-6E3A-2AB09F16F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10160420" y="4869417"/>
            <a:ext cx="0" cy="353664"/>
          </a:xfrm>
          <a:prstGeom prst="straightConnector1">
            <a:avLst/>
          </a:prstGeom>
          <a:ln w="1905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9541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6" grpId="0" animBg="1"/>
      <p:bldP spid="97" grpId="0" animBg="1"/>
      <p:bldP spid="107" grpId="0" animBg="1"/>
      <p:bldP spid="38" grpId="0" animBg="1"/>
      <p:bldP spid="43" grpId="0" animBg="1"/>
      <p:bldP spid="11" grpId="0" animBg="1"/>
      <p:bldP spid="13" grpId="0" animBg="1"/>
      <p:bldP spid="15" grpId="0" animBg="1"/>
      <p:bldP spid="16" grpId="0" animBg="1"/>
      <p:bldP spid="12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A548-D944-E165-0869-753146F42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2A9739E6-3F31-AE24-6FFE-77C866F21E0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8263" y="-855295"/>
            <a:ext cx="11018520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-50" normalizeH="0" baseline="0" noProof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  <a:t>Announcing Agentic Retrieval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B64D01C-9FF1-6214-12F1-7280CDC62D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92928" y="475192"/>
            <a:ext cx="1798070" cy="366903"/>
          </a:xfrm>
          <a:prstGeom prst="roundRect">
            <a:avLst>
              <a:gd name="adj" fmla="val 34256"/>
            </a:avLst>
          </a:prstGeom>
          <a:noFill/>
          <a:ln w="12700">
            <a:gradFill>
              <a:gsLst>
                <a:gs pos="10000">
                  <a:srgbClr val="8DC8E8"/>
                </a:gs>
                <a:gs pos="100000">
                  <a:srgbClr val="FFB3BB"/>
                </a:gs>
              </a:gsLst>
              <a:lin ang="2700000" scaled="0"/>
            </a:gradFill>
            <a:headEnd type="none" w="med" len="med"/>
            <a:tailEnd type="none" w="med" len="med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Segoe UI Variable Display Semib" pitchFamily="2" charset="0"/>
              </a:rPr>
              <a:t>Announcing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1E732B-D079-B92A-680B-BAF1B87E8362}"/>
              </a:ext>
            </a:extLst>
          </p:cNvPr>
          <p:cNvSpPr>
            <a:spLocks/>
          </p:cNvSpPr>
          <p:nvPr/>
        </p:nvSpPr>
        <p:spPr>
          <a:xfrm>
            <a:off x="682703" y="836330"/>
            <a:ext cx="11018520" cy="61555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50" normalizeH="0" baseline="0" noProof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" pitchFamily="34" charset="0"/>
              </a:rPr>
              <a:t>Agentic retrieval</a:t>
            </a:r>
          </a:p>
        </p:txBody>
      </p:sp>
      <p:sp>
        <p:nvSpPr>
          <p:cNvPr id="22" name="Rounded Rectangle 64">
            <a:extLst>
              <a:ext uri="{FF2B5EF4-FFF2-40B4-BE49-F238E27FC236}">
                <a16:creationId xmlns:a16="http://schemas.microsoft.com/office/drawing/2014/main" id="{6353F307-8458-C091-CFEE-DEC923AE7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71501" y="2130655"/>
            <a:ext cx="11048998" cy="915107"/>
          </a:xfrm>
          <a:prstGeom prst="roundRect">
            <a:avLst>
              <a:gd name="adj" fmla="val 14628"/>
            </a:avLst>
          </a:prstGeom>
          <a:ln w="9525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457200" rIns="0" bIns="0" rtlCol="0" anchor="t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9174">
                    <a:schemeClr val="tx1"/>
                  </a:gs>
                  <a:gs pos="42000">
                    <a:schemeClr val="tx1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sp useBgFill="1">
        <p:nvSpPr>
          <p:cNvPr id="24" name="Title 1">
            <a:extLst>
              <a:ext uri="{FF2B5EF4-FFF2-40B4-BE49-F238E27FC236}">
                <a16:creationId xmlns:a16="http://schemas.microsoft.com/office/drawing/2014/main" id="{2D503456-CD86-3ED8-707A-5B774A6C84A4}"/>
              </a:ext>
            </a:extLst>
          </p:cNvPr>
          <p:cNvSpPr txBox="1">
            <a:spLocks/>
          </p:cNvSpPr>
          <p:nvPr/>
        </p:nvSpPr>
        <p:spPr>
          <a:xfrm>
            <a:off x="3941133" y="1959071"/>
            <a:ext cx="4501660" cy="307777"/>
          </a:xfrm>
          <a:prstGeom prst="rect">
            <a:avLst/>
          </a:prstGeom>
          <a:ln w="15875" cap="rnd">
            <a:noFill/>
            <a:headEnd type="none" w="lg" len="med"/>
            <a:tailEnd type="none" w="lg" len="sm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367" fontAlgn="base">
              <a:spcBef>
                <a:spcPct val="0"/>
              </a:spcBef>
              <a:spcAft>
                <a:spcPct val="0"/>
              </a:spcAft>
              <a:defRPr sz="2400" b="1">
                <a:ln w="3175">
                  <a:noFill/>
                </a:ln>
                <a:gradFill flip="none" rotWithShape="1">
                  <a:gsLst>
                    <a:gs pos="93706">
                      <a:srgbClr val="FFFFFF"/>
                    </a:gs>
                    <a:gs pos="80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" pitchFamily="2" charset="0"/>
              </a:defRPr>
            </a:lvl1pPr>
          </a:lstStyle>
          <a:p>
            <a:pPr defTabSz="342888">
              <a:defRPr/>
            </a:pPr>
            <a:r>
              <a:rPr lang="en-US" sz="2000" b="0">
                <a:solidFill>
                  <a:srgbClr val="152237"/>
                </a:solidFill>
                <a:cs typeface="Segoe Sans Display Semibold" pitchFamily="2" charset="0"/>
              </a:rPr>
              <a:t>Agentic methods applied to retrieval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9062A7-8FCC-7460-87B0-DF180676CD11}"/>
              </a:ext>
            </a:extLst>
          </p:cNvPr>
          <p:cNvSpPr txBox="1"/>
          <p:nvPr/>
        </p:nvSpPr>
        <p:spPr>
          <a:xfrm>
            <a:off x="1186440" y="2501086"/>
            <a:ext cx="2520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6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rPr>
              <a:t>Query planning</a:t>
            </a:r>
          </a:p>
        </p:txBody>
      </p:sp>
      <p:cxnSp>
        <p:nvCxnSpPr>
          <p:cNvPr id="27" name="!!Straight Connector 49">
            <a:extLst>
              <a:ext uri="{FF2B5EF4-FFF2-40B4-BE49-F238E27FC236}">
                <a16:creationId xmlns:a16="http://schemas.microsoft.com/office/drawing/2014/main" id="{518030AC-2181-CEDA-0906-10CB6C1C0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71220" y="2462197"/>
            <a:ext cx="0" cy="324000"/>
          </a:xfrm>
          <a:prstGeom prst="line">
            <a:avLst/>
          </a:prstGeom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2A6E1D4-3F3C-C6C0-DA8A-1AA502DD50EB}"/>
              </a:ext>
            </a:extLst>
          </p:cNvPr>
          <p:cNvSpPr txBox="1"/>
          <p:nvPr/>
        </p:nvSpPr>
        <p:spPr>
          <a:xfrm>
            <a:off x="4836000" y="2501086"/>
            <a:ext cx="2520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6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rPr>
              <a:t>Fan-out query execution</a:t>
            </a:r>
          </a:p>
        </p:txBody>
      </p:sp>
      <p:cxnSp>
        <p:nvCxnSpPr>
          <p:cNvPr id="30" name="!!Straight Connector 49">
            <a:extLst>
              <a:ext uri="{FF2B5EF4-FFF2-40B4-BE49-F238E27FC236}">
                <a16:creationId xmlns:a16="http://schemas.microsoft.com/office/drawing/2014/main" id="{4218F9B6-9E60-0267-ABEB-456D0FD7A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20780" y="2462197"/>
            <a:ext cx="0" cy="324000"/>
          </a:xfrm>
          <a:prstGeom prst="line">
            <a:avLst/>
          </a:prstGeom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F119DCA-8A78-1460-9C63-D45CEA7BAA53}"/>
              </a:ext>
            </a:extLst>
          </p:cNvPr>
          <p:cNvSpPr txBox="1"/>
          <p:nvPr/>
        </p:nvSpPr>
        <p:spPr>
          <a:xfrm>
            <a:off x="8485560" y="2501086"/>
            <a:ext cx="2520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6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rPr>
              <a:t>Results merging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C7CF8C-1245-3D44-4051-5F851C28D050}"/>
              </a:ext>
            </a:extLst>
          </p:cNvPr>
          <p:cNvSpPr/>
          <p:nvPr/>
        </p:nvSpPr>
        <p:spPr bwMode="auto">
          <a:xfrm>
            <a:off x="571501" y="3489671"/>
            <a:ext cx="2042418" cy="593792"/>
          </a:xfrm>
          <a:prstGeom prst="roundRect">
            <a:avLst>
              <a:gd name="adj" fmla="val 27866"/>
            </a:avLst>
          </a:prstGeom>
          <a:gradFill flip="none" rotWithShape="1"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/>
                </a:solidFill>
                <a:latin typeface="Segoe UI Semibold" panose="020B0702040204020203" pitchFamily="34" charset="0"/>
                <a:ea typeface="Segoe UI" pitchFamily="34" charset="0"/>
                <a:cs typeface="Segoe UI Semibold" panose="020B0702040204020203" pitchFamily="34" charset="0"/>
              </a:rPr>
              <a:t>User query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6EF97C-907B-9F25-8D28-634B385964F3}"/>
              </a:ext>
            </a:extLst>
          </p:cNvPr>
          <p:cNvSpPr/>
          <p:nvPr/>
        </p:nvSpPr>
        <p:spPr bwMode="auto">
          <a:xfrm>
            <a:off x="571501" y="4592967"/>
            <a:ext cx="2042418" cy="593792"/>
          </a:xfrm>
          <a:prstGeom prst="roundRect">
            <a:avLst>
              <a:gd name="adj" fmla="val 26467"/>
            </a:avLst>
          </a:prstGeom>
          <a:gradFill flip="none" rotWithShape="1"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/>
                </a:solidFill>
                <a:latin typeface="Segoe UI Semibold" panose="020B0702040204020203" pitchFamily="34" charset="0"/>
                <a:ea typeface="Segoe UI" pitchFamily="34" charset="0"/>
                <a:cs typeface="Segoe UI Semibold" panose="020B0702040204020203" pitchFamily="34" charset="0"/>
              </a:rPr>
              <a:t>Conversation turns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765256-9FB4-E405-F4DB-9F094FB3FBE3}"/>
              </a:ext>
            </a:extLst>
          </p:cNvPr>
          <p:cNvSpPr/>
          <p:nvPr/>
        </p:nvSpPr>
        <p:spPr bwMode="auto">
          <a:xfrm>
            <a:off x="3278618" y="3489671"/>
            <a:ext cx="1928093" cy="1676400"/>
          </a:xfrm>
          <a:prstGeom prst="roundRect">
            <a:avLst>
              <a:gd name="adj" fmla="val 9898"/>
            </a:avLst>
          </a:prstGeom>
          <a:solidFill>
            <a:srgbClr val="2A446F"/>
          </a:solidFill>
          <a:ln w="19050">
            <a:solidFill>
              <a:srgbClr val="2A446F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ln w="3175">
                  <a:noFill/>
                </a:ln>
                <a:solidFill>
                  <a:srgbClr val="FFFFFF"/>
                </a:solidFill>
                <a:latin typeface="Segoe UI Variable Display Semib" pitchFamily="2" charset="0"/>
                <a:cs typeface="Segoe UI" pitchFamily="34" charset="0"/>
              </a:rPr>
              <a:t>Query</a:t>
            </a:r>
            <a:r>
              <a:rPr lang="en-US" sz="2000">
                <a:solidFill>
                  <a:srgbClr val="FFFFFF"/>
                </a:solidFill>
                <a:latin typeface="Segoe UI Variable Display Semib" pitchFamily="2" charset="0"/>
              </a:rPr>
              <a:t> </a:t>
            </a:r>
            <a:br>
              <a:rPr lang="uk-UA" sz="2000">
                <a:solidFill>
                  <a:srgbClr val="FFFFFF"/>
                </a:solidFill>
                <a:latin typeface="Segoe UI Variable Display Semib" pitchFamily="2" charset="0"/>
              </a:rPr>
            </a:br>
            <a:r>
              <a:rPr lang="en-US" sz="2000" b="1">
                <a:ln w="3175">
                  <a:noFill/>
                </a:ln>
                <a:solidFill>
                  <a:srgbClr val="FFFFFF"/>
                </a:solidFill>
                <a:latin typeface="Segoe UI Variable Display Semib" pitchFamily="2" charset="0"/>
                <a:cs typeface="Segoe UI" pitchFamily="34" charset="0"/>
              </a:rPr>
              <a:t>planning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37D0157-210A-C9D9-F41E-D4EF105D2B79}"/>
              </a:ext>
            </a:extLst>
          </p:cNvPr>
          <p:cNvSpPr/>
          <p:nvPr/>
        </p:nvSpPr>
        <p:spPr bwMode="auto">
          <a:xfrm>
            <a:off x="5779994" y="3490525"/>
            <a:ext cx="2107747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Search query 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AB5DBC6-C08A-333D-24C2-F6D78E1C15A7}"/>
              </a:ext>
            </a:extLst>
          </p:cNvPr>
          <p:cNvSpPr/>
          <p:nvPr/>
        </p:nvSpPr>
        <p:spPr bwMode="auto">
          <a:xfrm>
            <a:off x="8032363" y="3490525"/>
            <a:ext cx="695019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L1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82C5BD-2429-40E1-506C-827CA0C022E0}"/>
              </a:ext>
            </a:extLst>
          </p:cNvPr>
          <p:cNvSpPr/>
          <p:nvPr/>
        </p:nvSpPr>
        <p:spPr bwMode="auto">
          <a:xfrm>
            <a:off x="8872004" y="3490525"/>
            <a:ext cx="695019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L2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C26CCD-F180-51F9-120A-13CBB86AE12B}"/>
              </a:ext>
            </a:extLst>
          </p:cNvPr>
          <p:cNvSpPr/>
          <p:nvPr/>
        </p:nvSpPr>
        <p:spPr bwMode="auto">
          <a:xfrm>
            <a:off x="5779994" y="4099908"/>
            <a:ext cx="2107747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…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8AEB59F-D691-4179-EEBF-E45C4F50C073}"/>
              </a:ext>
            </a:extLst>
          </p:cNvPr>
          <p:cNvSpPr/>
          <p:nvPr/>
        </p:nvSpPr>
        <p:spPr bwMode="auto">
          <a:xfrm>
            <a:off x="8032363" y="4099908"/>
            <a:ext cx="695019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L1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ECDF17-4686-05B8-EE4C-2E429217D4E0}"/>
              </a:ext>
            </a:extLst>
          </p:cNvPr>
          <p:cNvSpPr/>
          <p:nvPr/>
        </p:nvSpPr>
        <p:spPr bwMode="auto">
          <a:xfrm>
            <a:off x="8872004" y="4099908"/>
            <a:ext cx="695019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L2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D4CB9C-5F77-03F8-6E85-A8B2CE5A9668}"/>
              </a:ext>
            </a:extLst>
          </p:cNvPr>
          <p:cNvSpPr/>
          <p:nvPr/>
        </p:nvSpPr>
        <p:spPr bwMode="auto">
          <a:xfrm>
            <a:off x="5779994" y="4709290"/>
            <a:ext cx="2107747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Search query 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C20965-6752-DA8F-77EF-FB3F455EE880}"/>
              </a:ext>
            </a:extLst>
          </p:cNvPr>
          <p:cNvSpPr/>
          <p:nvPr/>
        </p:nvSpPr>
        <p:spPr bwMode="auto">
          <a:xfrm>
            <a:off x="8032363" y="4709290"/>
            <a:ext cx="695019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L1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D3797C-1CF0-2A36-DB70-A4A0D68DE240}"/>
              </a:ext>
            </a:extLst>
          </p:cNvPr>
          <p:cNvSpPr/>
          <p:nvPr/>
        </p:nvSpPr>
        <p:spPr bwMode="auto">
          <a:xfrm>
            <a:off x="8872004" y="4709290"/>
            <a:ext cx="695019" cy="493059"/>
          </a:xfrm>
          <a:prstGeom prst="roundRect">
            <a:avLst/>
          </a:prstGeom>
          <a:gradFill flip="none" rotWithShape="1">
            <a:gsLst>
              <a:gs pos="0">
                <a:srgbClr val="73262F">
                  <a:alpha val="89804"/>
                </a:srgbClr>
              </a:gs>
              <a:gs pos="80000">
                <a:srgbClr val="2A446F">
                  <a:alpha val="89804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tabLst>
                <a:tab pos="3701239" algn="l"/>
              </a:tabLst>
            </a:pPr>
            <a:r>
              <a:rPr lang="en-US" sz="2000" b="1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old" pitchFamily="2" charset="0"/>
                <a:cs typeface="Segoe UI" pitchFamily="34" charset="0"/>
              </a:rPr>
              <a:t>L2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6CB59B-B956-785F-7905-0EB30BB963D3}"/>
              </a:ext>
            </a:extLst>
          </p:cNvPr>
          <p:cNvSpPr/>
          <p:nvPr/>
        </p:nvSpPr>
        <p:spPr bwMode="auto">
          <a:xfrm>
            <a:off x="10086211" y="3498274"/>
            <a:ext cx="1534281" cy="1711824"/>
          </a:xfrm>
          <a:prstGeom prst="roundRect">
            <a:avLst>
              <a:gd name="adj" fmla="val 13416"/>
            </a:avLst>
          </a:prstGeom>
          <a:solidFill>
            <a:srgbClr val="73262F"/>
          </a:solidFill>
          <a:ln w="19050"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ln w="3175">
                  <a:noFill/>
                </a:ln>
                <a:solidFill>
                  <a:schemeClr val="bg1"/>
                </a:solidFill>
                <a:latin typeface="Segoe UI Variable Display Semibold" pitchFamily="2" charset="0"/>
                <a:cs typeface="Segoe UI" pitchFamily="34" charset="0"/>
              </a:rPr>
              <a:t>Merged results</a:t>
            </a:r>
          </a:p>
        </p:txBody>
      </p:sp>
      <p:sp>
        <p:nvSpPr>
          <p:cNvPr id="108" name="Title 1">
            <a:extLst>
              <a:ext uri="{FF2B5EF4-FFF2-40B4-BE49-F238E27FC236}">
                <a16:creationId xmlns:a16="http://schemas.microsoft.com/office/drawing/2014/main" id="{42C3D763-EFAE-1538-BF44-9FFC90647DD3}"/>
              </a:ext>
            </a:extLst>
          </p:cNvPr>
          <p:cNvSpPr txBox="1">
            <a:spLocks/>
          </p:cNvSpPr>
          <p:nvPr/>
        </p:nvSpPr>
        <p:spPr>
          <a:xfrm>
            <a:off x="682703" y="5775455"/>
            <a:ext cx="1656000" cy="397576"/>
          </a:xfrm>
          <a:prstGeom prst="roundRect">
            <a:avLst>
              <a:gd name="adj" fmla="val 34666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algn="ctr" defTabSz="914367" fontAlgn="base">
              <a:spcBef>
                <a:spcPct val="0"/>
              </a:spcBef>
              <a:spcAft>
                <a:spcPct val="0"/>
              </a:spcAft>
              <a:defRPr sz="2400" b="1">
                <a:ln w="3175">
                  <a:noFill/>
                </a:ln>
                <a:gradFill flip="none" rotWithShape="1">
                  <a:gsLst>
                    <a:gs pos="93706">
                      <a:srgbClr val="FFFFFF"/>
                    </a:gs>
                    <a:gs pos="80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" pitchFamily="2" charset="0"/>
              </a:defRPr>
            </a:lvl1pPr>
          </a:lstStyle>
          <a:p>
            <a:pPr defTabSz="342888">
              <a:defRPr/>
            </a:pPr>
            <a:r>
              <a:rPr lang="en-US" sz="1600" b="0">
                <a:solidFill>
                  <a:schemeClr val="tx1"/>
                </a:solidFill>
                <a:cs typeface="Segoe Sans Display Semibold" pitchFamily="2" charset="0"/>
              </a:rPr>
              <a:t>Single LLM call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99591B0-7932-6F97-2FE7-DA966065E4C4}"/>
              </a:ext>
            </a:extLst>
          </p:cNvPr>
          <p:cNvSpPr txBox="1"/>
          <p:nvPr/>
        </p:nvSpPr>
        <p:spPr>
          <a:xfrm>
            <a:off x="2525950" y="5878062"/>
            <a:ext cx="8955120" cy="1923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defTabSz="914400">
              <a:defRPr/>
            </a:pPr>
            <a:r>
              <a:rPr lang="en-US" sz="125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rPr>
              <a:t>Use conversation history for context  •  Correct spellings in context  •  Decompose queries as needed  •  Paraphrase queries</a:t>
            </a:r>
          </a:p>
        </p:txBody>
      </p:sp>
      <p:cxnSp>
        <p:nvCxnSpPr>
          <p:cNvPr id="55" name="Connector: Curved 36">
            <a:extLst>
              <a:ext uri="{FF2B5EF4-FFF2-40B4-BE49-F238E27FC236}">
                <a16:creationId xmlns:a16="http://schemas.microsoft.com/office/drawing/2014/main" id="{316FD22B-4317-0123-AA97-BAE0E8F9E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9567024" y="3737054"/>
            <a:ext cx="519186" cy="2"/>
          </a:xfrm>
          <a:prstGeom prst="curvedConnector3">
            <a:avLst>
              <a:gd name="adj1" fmla="val 50000"/>
            </a:avLst>
          </a:prstGeom>
          <a:ln w="1905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64">
            <a:extLst>
              <a:ext uri="{FF2B5EF4-FFF2-40B4-BE49-F238E27FC236}">
                <a16:creationId xmlns:a16="http://schemas.microsoft.com/office/drawing/2014/main" id="{AE1AED84-7B3F-5B01-BA6E-51D501CAA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71501" y="5675575"/>
            <a:ext cx="11048998" cy="597335"/>
          </a:xfrm>
          <a:prstGeom prst="roundRect">
            <a:avLst>
              <a:gd name="adj" fmla="val 25239"/>
            </a:avLst>
          </a:prstGeom>
          <a:noFill/>
          <a:ln w="12700">
            <a:gradFill>
              <a:gsLst>
                <a:gs pos="10000">
                  <a:srgbClr val="2A446F"/>
                </a:gs>
                <a:gs pos="100000">
                  <a:srgbClr val="73262F"/>
                </a:gs>
              </a:gsLst>
              <a:lin ang="2700000" scaled="0"/>
            </a:gradFill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  <a:latin typeface="Segoe UI Variable Display Semib" pitchFamily="2" charset="0"/>
            </a:endParaRP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3BB14739-212A-783A-ACE1-3405A8EE7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9567024" y="4354186"/>
            <a:ext cx="519187" cy="2"/>
          </a:xfrm>
          <a:prstGeom prst="curvedConnector3">
            <a:avLst>
              <a:gd name="adj1" fmla="val 50000"/>
            </a:avLst>
          </a:prstGeom>
          <a:ln w="1905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3F6A5763-0D8F-A5F7-0D53-75937DA64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87740" y="3730704"/>
            <a:ext cx="108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1D46A7BD-4613-9A81-596F-EDC781957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87740" y="4340087"/>
            <a:ext cx="108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D5C0B058-D22A-4222-C27F-48B20F208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87740" y="4949469"/>
            <a:ext cx="108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BF37384F-997A-1BEC-A99B-4C1C5373B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31357" y="3730704"/>
            <a:ext cx="108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23F933C7-82AA-E5AE-E673-9F17F4F66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31357" y="4340087"/>
            <a:ext cx="108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ABCE63FC-8664-5BC1-47C3-30EFD482B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31357" y="4949469"/>
            <a:ext cx="108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Curved 36">
            <a:extLst>
              <a:ext uri="{FF2B5EF4-FFF2-40B4-BE49-F238E27FC236}">
                <a16:creationId xmlns:a16="http://schemas.microsoft.com/office/drawing/2014/main" id="{F0805318-6107-0E0D-A168-4846C0055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9567024" y="4955819"/>
            <a:ext cx="519186" cy="2"/>
          </a:xfrm>
          <a:prstGeom prst="curvedConnector3">
            <a:avLst>
              <a:gd name="adj1" fmla="val 50000"/>
            </a:avLst>
          </a:prstGeom>
          <a:ln w="1905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Curved 24">
            <a:extLst>
              <a:ext uri="{FF2B5EF4-FFF2-40B4-BE49-F238E27FC236}">
                <a16:creationId xmlns:a16="http://schemas.microsoft.com/office/drawing/2014/main" id="{38A6E05D-8CB5-0B2A-5162-37AC1C730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06711" y="3737054"/>
            <a:ext cx="504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Curved 24">
            <a:extLst>
              <a:ext uri="{FF2B5EF4-FFF2-40B4-BE49-F238E27FC236}">
                <a16:creationId xmlns:a16="http://schemas.microsoft.com/office/drawing/2014/main" id="{E04AAEBE-732A-A5B0-2ABE-1E2804438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06711" y="4955819"/>
            <a:ext cx="504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Curved 24">
            <a:extLst>
              <a:ext uri="{FF2B5EF4-FFF2-40B4-BE49-F238E27FC236}">
                <a16:creationId xmlns:a16="http://schemas.microsoft.com/office/drawing/2014/main" id="{F24A8465-7135-073D-3247-7CF3107BA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06711" y="4346437"/>
            <a:ext cx="504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Curved 24">
            <a:extLst>
              <a:ext uri="{FF2B5EF4-FFF2-40B4-BE49-F238E27FC236}">
                <a16:creationId xmlns:a16="http://schemas.microsoft.com/office/drawing/2014/main" id="{418EC317-95BD-DAEB-80D6-F858585D0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16200000" flipH="1">
            <a:off x="4025353" y="5402781"/>
            <a:ext cx="432000" cy="0"/>
          </a:xfrm>
          <a:prstGeom prst="curvedConnector3">
            <a:avLst>
              <a:gd name="adj1" fmla="val 50000"/>
            </a:avLst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D2D888B7-88BE-FCB0-61B7-D8E13890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rot="10800000">
            <a:off x="2613920" y="3786567"/>
            <a:ext cx="664699" cy="541304"/>
          </a:xfrm>
          <a:prstGeom prst="bentConnector3">
            <a:avLst>
              <a:gd name="adj1" fmla="val 50000"/>
            </a:avLst>
          </a:prstGeom>
          <a:ln w="1270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arrow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F2B114C-E783-FD15-CEDA-1E27541E2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rot="10800000" flipV="1">
            <a:off x="2613920" y="4327871"/>
            <a:ext cx="664699" cy="561992"/>
          </a:xfrm>
          <a:prstGeom prst="bentConnector3">
            <a:avLst>
              <a:gd name="adj1" fmla="val 50000"/>
            </a:avLst>
          </a:prstGeom>
          <a:ln w="1270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arrow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5564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6" grpId="0" animBg="1"/>
      <p:bldP spid="17" grpId="0" animBg="1"/>
      <p:bldP spid="10" grpId="0" animBg="1"/>
      <p:bldP spid="14" grpId="0" animBg="1"/>
      <p:bldP spid="15" grpId="0" animBg="1"/>
      <p:bldP spid="11" grpId="0" animBg="1"/>
      <p:bldP spid="12" grpId="0" animBg="1"/>
      <p:bldP spid="13" grpId="0" animBg="1"/>
      <p:bldP spid="18" grpId="0" animBg="1"/>
      <p:bldP spid="108" grpId="0" animBg="1"/>
      <p:bldP spid="99" grpId="0"/>
      <p:bldP spid="10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F166F-9627-152F-27EA-B22DF242B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793C6D-5840-E4CF-FBCA-EC2BF691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584708" y="1275907"/>
            <a:ext cx="11022583" cy="4999842"/>
          </a:xfrm>
          <a:prstGeom prst="roundRect">
            <a:avLst>
              <a:gd name="adj" fmla="val 3167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811670">
              <a:spcBef>
                <a:spcPts val="174"/>
              </a:spcBef>
              <a:defRPr sz="1800"/>
            </a:lvl1pPr>
            <a:lvl2pPr marL="457200" lvl="1" defTabSz="914400">
              <a:defRPr sz="1800">
                <a:latin typeface="Segoe UI Variable Display Semib" pitchFamily="2" charset="0"/>
              </a:defRPr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61F97F-EEE2-1C0D-AB92-0154F6F6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615553"/>
          </a:xfrm>
        </p:spPr>
        <p:txBody>
          <a:bodyPr/>
          <a:lstStyle/>
          <a:p>
            <a:pPr algn="ctr"/>
            <a:r>
              <a:rPr lang="en-US" sz="4000">
                <a:latin typeface="Segoe UI Variable Display Semib" pitchFamily="2" charset="0"/>
              </a:rPr>
              <a:t>Query planning &amp; decomposition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05924-7F30-150C-B19E-50A1D158A316}"/>
              </a:ext>
            </a:extLst>
          </p:cNvPr>
          <p:cNvSpPr txBox="1">
            <a:spLocks/>
          </p:cNvSpPr>
          <p:nvPr/>
        </p:nvSpPr>
        <p:spPr>
          <a:xfrm>
            <a:off x="3580654" y="2887947"/>
            <a:ext cx="5030691" cy="1775762"/>
          </a:xfrm>
          <a:prstGeom prst="roundRect">
            <a:avLst>
              <a:gd name="adj" fmla="val 14023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182880" tIns="182880" rIns="182880" bIns="182880" rtlCol="0" anchor="ctr" anchorCtr="0">
            <a:noAutofit/>
          </a:bodyPr>
          <a:lstStyle>
            <a:defPPr>
              <a:defRPr lang="en-US"/>
            </a:defPPr>
            <a:lvl1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  <a:defRPr sz="6000" b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Variable Display Semib" pitchFamily="2" charset="0"/>
                <a:cs typeface="Segoe UI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defTabSz="932742" rtl="0" eaLnBrk="1" fontAlgn="auto" latinLnBrk="0" hangingPunct="1">
              <a:lnSpc>
                <a:spcPts val="2880"/>
              </a:lnSpc>
              <a:spcBef>
                <a:spcPts val="1224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highlight>
                  <a:srgbClr val="8DC8E8"/>
                </a:highlight>
              </a:rPr>
              <a:t>what does ​KB4048959 fix</a:t>
            </a: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highlight>
                  <a:srgbClr val="FFB3BB"/>
                </a:highlight>
              </a:rPr>
              <a:t>and</a:t>
            </a: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</a:rPr>
              <a:t> what systems </a:t>
            </a:r>
            <a:r>
              <a:rPr lang="en-US" sz="2400">
                <a:solidFill>
                  <a:schemeClr val="tx1"/>
                </a:solidFill>
              </a:rPr>
              <a:t>is </a:t>
            </a:r>
            <a:r>
              <a:rPr lang="en-US" sz="2400">
                <a:solidFill>
                  <a:schemeClr val="tx1"/>
                </a:solidFill>
                <a:highlight>
                  <a:srgbClr val="FFB3BB"/>
                </a:highlight>
              </a:rPr>
              <a:t>the patch </a:t>
            </a: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2400">
                <a:solidFill>
                  <a:schemeClr val="tx1"/>
                </a:solidFill>
                <a:highlight>
                  <a:srgbClr val="FAE4A2"/>
                </a:highlight>
              </a:rPr>
              <a:t>compatible</a:t>
            </a:r>
            <a:r>
              <a:rPr lang="en-US" sz="2400">
                <a:gradFill>
                  <a:gsLst>
                    <a:gs pos="9174">
                      <a:schemeClr val="tx1"/>
                    </a:gs>
                    <a:gs pos="42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</a:rPr>
              <a:t> with?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78DCD-FE6C-B47E-AD0F-53E7428EB458}"/>
              </a:ext>
            </a:extLst>
          </p:cNvPr>
          <p:cNvSpPr txBox="1"/>
          <p:nvPr/>
        </p:nvSpPr>
        <p:spPr>
          <a:xfrm>
            <a:off x="1940117" y="4928418"/>
            <a:ext cx="2917713" cy="1112131"/>
          </a:xfrm>
          <a:prstGeom prst="roundRect">
            <a:avLst>
              <a:gd name="adj" fmla="val 10236"/>
            </a:avLst>
          </a:prstGeom>
          <a:noFill/>
          <a:ln w="12700" cap="rnd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defTabSz="811670" fontAlgn="auto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600">
                <a:solidFill>
                  <a:schemeClr val="tx1"/>
                </a:solidFill>
                <a:latin typeface="Segoe UI Variable Display Semib" pitchFamily="2" charset="0"/>
                <a:ea typeface="Segoe UI" panose="020B0502040204020203" pitchFamily="34" charset="0"/>
                <a:cs typeface="Segoe UI Semibold" panose="020B0702040204020203" pitchFamily="34" charset="0"/>
              </a:rPr>
              <a:t>Correcting spelling is much more effective if done in sentence context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8F1D07-B9EA-FDE4-812A-3367BE20A62A}"/>
              </a:ext>
            </a:extLst>
          </p:cNvPr>
          <p:cNvSpPr txBox="1"/>
          <p:nvPr/>
        </p:nvSpPr>
        <p:spPr>
          <a:xfrm>
            <a:off x="1940117" y="1511107"/>
            <a:ext cx="2917713" cy="1112131"/>
          </a:xfrm>
          <a:prstGeom prst="roundRect">
            <a:avLst>
              <a:gd name="adj" fmla="val 10236"/>
            </a:avLst>
          </a:prstGeom>
          <a:noFill/>
          <a:ln w="12700" cap="rnd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defTabSz="811670" fontAlgn="auto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600">
                <a:solidFill>
                  <a:schemeClr val="tx1"/>
                </a:solidFill>
                <a:latin typeface="Segoe UI Variable Display Semib" pitchFamily="2" charset="0"/>
                <a:ea typeface="Segoe UI" panose="020B0502040204020203" pitchFamily="34" charset="0"/>
                <a:cs typeface="Segoe UI Semibold" panose="020B0702040204020203" pitchFamily="34" charset="0"/>
              </a:rPr>
              <a:t>Use chat history for context </a:t>
            </a:r>
            <a:br>
              <a:rPr lang="en-US" sz="1600">
                <a:solidFill>
                  <a:schemeClr val="tx1"/>
                </a:solidFill>
                <a:latin typeface="Segoe UI Variable Display Semib" pitchFamily="2" charset="0"/>
                <a:ea typeface="Segoe UI" panose="020B0502040204020203" pitchFamily="34" charset="0"/>
                <a:cs typeface="Segoe UI Semibold" panose="020B0702040204020203" pitchFamily="34" charset="0"/>
              </a:rPr>
            </a:br>
            <a:r>
              <a:rPr lang="en-US" sz="1600">
                <a:solidFill>
                  <a:schemeClr val="tx1"/>
                </a:solidFill>
                <a:latin typeface="Segoe UI Variable Display Semib" pitchFamily="2" charset="0"/>
                <a:ea typeface="Segoe UI" panose="020B0502040204020203" pitchFamily="34" charset="0"/>
                <a:cs typeface="Segoe UI Semibold" panose="020B0702040204020203" pitchFamily="34" charset="0"/>
              </a:rPr>
              <a:t>(the user said earlier it was a security fix)</a:t>
            </a:r>
          </a:p>
        </p:txBody>
      </p:sp>
      <p:cxnSp>
        <p:nvCxnSpPr>
          <p:cNvPr id="30" name="Connector: Elbow 29" descr="Arrow leading from Query plan to Query Planning">
            <a:extLst>
              <a:ext uri="{FF2B5EF4-FFF2-40B4-BE49-F238E27FC236}">
                <a16:creationId xmlns:a16="http://schemas.microsoft.com/office/drawing/2014/main" id="{416B060D-F1A9-DC0F-C481-C22E8973A680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4857830" y="2021355"/>
            <a:ext cx="1238170" cy="1080000"/>
          </a:xfrm>
          <a:prstGeom prst="bentConnector2">
            <a:avLst/>
          </a:prstGeom>
          <a:ln w="1270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0371FEF-41BA-3CAC-9A28-AC3A0F09AEA2}"/>
              </a:ext>
            </a:extLst>
          </p:cNvPr>
          <p:cNvSpPr txBox="1"/>
          <p:nvPr/>
        </p:nvSpPr>
        <p:spPr>
          <a:xfrm>
            <a:off x="7885990" y="1511107"/>
            <a:ext cx="2845510" cy="1112131"/>
          </a:xfrm>
          <a:prstGeom prst="roundRect">
            <a:avLst>
              <a:gd name="adj" fmla="val 10236"/>
            </a:avLst>
          </a:prstGeom>
          <a:noFill/>
          <a:ln w="12700" cap="rnd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defTabSz="811670" fontAlgn="auto">
              <a:lnSpc>
                <a:spcPct val="100000"/>
              </a:lnSpc>
              <a:spcBef>
                <a:spcPts val="174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gradFill>
                  <a:gsLst>
                    <a:gs pos="41958">
                      <a:srgbClr val="FFFFFF"/>
                    </a:gs>
                    <a:gs pos="63000">
                      <a:srgbClr val="FFFFFF"/>
                    </a:gs>
                  </a:gsLst>
                  <a:lin ang="0" scaled="0"/>
                </a:gra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600">
                <a:solidFill>
                  <a:schemeClr val="tx1"/>
                </a:solidFill>
                <a:latin typeface="Segoe UI Variable Display Semib" pitchFamily="2" charset="0"/>
                <a:ea typeface="Segoe UI" panose="020B0502040204020203" pitchFamily="34" charset="0"/>
                <a:cs typeface="Segoe UI Semibold" panose="020B0702040204020203" pitchFamily="34" charset="0"/>
              </a:rPr>
              <a:t>Split queries for different information requirements, resolving co-references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B77319-C93D-AA80-841C-53838EC89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070574" y="2623237"/>
            <a:ext cx="1238171" cy="1177485"/>
          </a:xfrm>
          <a:custGeom>
            <a:avLst/>
            <a:gdLst>
              <a:gd name="connsiteX0" fmla="*/ 1311965 w 1311965"/>
              <a:gd name="connsiteY0" fmla="*/ 0 h 1137037"/>
              <a:gd name="connsiteX1" fmla="*/ 1311965 w 1311965"/>
              <a:gd name="connsiteY1" fmla="*/ 1137037 h 1137037"/>
              <a:gd name="connsiteX2" fmla="*/ 0 w 1311965"/>
              <a:gd name="connsiteY2" fmla="*/ 1137037 h 1137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1965" h="1137037">
                <a:moveTo>
                  <a:pt x="1311965" y="0"/>
                </a:moveTo>
                <a:lnTo>
                  <a:pt x="1311965" y="1137037"/>
                </a:lnTo>
                <a:lnTo>
                  <a:pt x="0" y="1137037"/>
                </a:lnTo>
              </a:path>
            </a:pathLst>
          </a:custGeom>
          <a:ln w="1270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atin typeface="Segoe UI Variable Display Semib" pitchFamily="2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17DE10B-F393-539A-AB42-599882FBF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857830" y="4412974"/>
            <a:ext cx="875060" cy="1080001"/>
          </a:xfrm>
          <a:custGeom>
            <a:avLst/>
            <a:gdLst>
              <a:gd name="connsiteX0" fmla="*/ 0 w 882594"/>
              <a:gd name="connsiteY0" fmla="*/ 1105231 h 1105231"/>
              <a:gd name="connsiteX1" fmla="*/ 882594 w 882594"/>
              <a:gd name="connsiteY1" fmla="*/ 1105231 h 1105231"/>
              <a:gd name="connsiteX2" fmla="*/ 882594 w 882594"/>
              <a:gd name="connsiteY2" fmla="*/ 0 h 110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2594" h="1105231">
                <a:moveTo>
                  <a:pt x="0" y="1105231"/>
                </a:moveTo>
                <a:lnTo>
                  <a:pt x="882594" y="1105231"/>
                </a:lnTo>
                <a:lnTo>
                  <a:pt x="882594" y="0"/>
                </a:lnTo>
              </a:path>
            </a:pathLst>
          </a:custGeom>
          <a:ln w="12700" cap="rnd">
            <a:solidFill>
              <a:schemeClr val="tx1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atin typeface="Segoe UI Variable Display Semi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5050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 animBg="1"/>
      <p:bldP spid="38" grpId="0" animBg="1"/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33564-088D-5158-B08F-A1E2C52AA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114F44A1-B571-F5FF-B915-F125387A05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8963" y="-807058"/>
            <a:ext cx="5446077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200" b="0" i="0" u="none" strike="noStrike" kern="1200" cap="none" spc="-50" normalizeH="0" baseline="0" noProof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  <a:t>Agentic Retrieval API 1/2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1457E-7289-310A-5377-A5C2E0AFC33F}"/>
              </a:ext>
            </a:extLst>
          </p:cNvPr>
          <p:cNvSpPr>
            <a:spLocks/>
          </p:cNvSpPr>
          <p:nvPr/>
        </p:nvSpPr>
        <p:spPr>
          <a:xfrm>
            <a:off x="575581" y="334633"/>
            <a:ext cx="4330247" cy="61555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" pitchFamily="34" charset="0"/>
              </a:rPr>
              <a:t>Agentic </a:t>
            </a:r>
            <a:r>
              <a:rPr kumimoji="0" lang="en-US" sz="4000" b="0" i="0" u="none" strike="noStrike" kern="1200" cap="none" spc="-50" normalizeH="0" baseline="0" noProof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" pitchFamily="34" charset="0"/>
              </a:rPr>
              <a:t>retrieval</a:t>
            </a:r>
            <a:r>
              <a:rPr kumimoji="0" lang="en-US" sz="3600" b="0" i="0" u="none" strike="noStrike" kern="1200" cap="none" spc="-50" normalizeH="0" baseline="0" noProof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" pitchFamily="34" charset="0"/>
              </a:rPr>
              <a:t> API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41AB668-4E3A-9603-3F73-DB3C43CD5BCA}"/>
              </a:ext>
            </a:extLst>
          </p:cNvPr>
          <p:cNvSpPr txBox="1">
            <a:spLocks/>
          </p:cNvSpPr>
          <p:nvPr/>
        </p:nvSpPr>
        <p:spPr>
          <a:xfrm>
            <a:off x="588962" y="1041626"/>
            <a:ext cx="4040185" cy="4475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b="0" i="0" kern="1200" spc="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b="0" i="0" kern="1200" spc="0" baseline="0">
                <a:solidFill>
                  <a:srgbClr val="2F2F2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457063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94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126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67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-50" normalizeH="0" baseline="0" noProof="0">
                <a:ln>
                  <a:noFill/>
                </a:ln>
                <a:gradFill>
                  <a:gsLst>
                    <a:gs pos="95413">
                      <a:srgbClr val="152237"/>
                    </a:gs>
                    <a:gs pos="77000">
                      <a:srgbClr val="152237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+mn-cs"/>
              </a:rPr>
              <a:t>Knowledge agents as first-class constructs</a:t>
            </a:r>
            <a:endParaRPr lang="en-US" sz="2000" spc="-50">
              <a:gradFill>
                <a:gsLst>
                  <a:gs pos="95413">
                    <a:srgbClr val="152237"/>
                  </a:gs>
                  <a:gs pos="77000">
                    <a:srgbClr val="152237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  <a:cs typeface="+mn-cs"/>
            </a:endParaRPr>
          </a:p>
          <a:p>
            <a:pPr defTabSz="914367">
              <a:lnSpc>
                <a:spcPts val="2200"/>
              </a:lnSpc>
              <a:spcBef>
                <a:spcPts val="3600"/>
              </a:spcBef>
              <a:spcAft>
                <a:spcPts val="600"/>
              </a:spcAft>
              <a:buSzTx/>
              <a:defRPr/>
            </a:pPr>
            <a:r>
              <a:rPr lang="en-US" sz="2000" spc="-50">
                <a:gradFill>
                  <a:gsLst>
                    <a:gs pos="95413">
                      <a:srgbClr val="152237"/>
                    </a:gs>
                    <a:gs pos="77000">
                      <a:srgbClr val="152237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  <a:cs typeface="+mn-cs"/>
              </a:rPr>
              <a:t>Agents bring together</a:t>
            </a:r>
          </a:p>
          <a:p>
            <a:pPr marL="180000" lvl="2" indent="-18000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Segoe UI Variable Display Semib" pitchFamily="2" charset="0"/>
              </a:rPr>
              <a:t>Target index</a:t>
            </a:r>
          </a:p>
          <a:p>
            <a:pPr marL="180000" lvl="2" indent="-18000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Segoe UI Variable Display Semib" pitchFamily="2" charset="0"/>
              </a:rPr>
              <a:t>Policies: ranker threshold, search depth, etc.</a:t>
            </a:r>
          </a:p>
          <a:p>
            <a:pPr marL="180000" lvl="2" indent="-18000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Segoe UI Variable Display Semib" pitchFamily="2" charset="0"/>
              </a:rPr>
              <a:t>LLM to use during retrieval</a:t>
            </a:r>
          </a:p>
          <a:p>
            <a:pPr defTabSz="914367">
              <a:lnSpc>
                <a:spcPts val="2100"/>
              </a:lnSpc>
              <a:spcBef>
                <a:spcPts val="3600"/>
              </a:spcBef>
              <a:spcAft>
                <a:spcPts val="600"/>
              </a:spcAft>
              <a:buSzTx/>
              <a:defRPr/>
            </a:pPr>
            <a:r>
              <a:rPr lang="en-US" sz="2000" spc="-50">
                <a:gradFill>
                  <a:gsLst>
                    <a:gs pos="95413">
                      <a:srgbClr val="152237"/>
                    </a:gs>
                    <a:gs pos="77000">
                      <a:srgbClr val="152237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old" pitchFamily="2" charset="0"/>
                <a:cs typeface="+mn-cs"/>
              </a:rPr>
              <a:t>Upleveled retrieval API</a:t>
            </a:r>
          </a:p>
          <a:p>
            <a:pPr marL="180000" lvl="2" indent="-18000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Segoe UI Variable Display Semib" pitchFamily="2" charset="0"/>
              </a:rPr>
              <a:t>No dealing with vector encodings</a:t>
            </a:r>
          </a:p>
          <a:p>
            <a:pPr marL="180000" lvl="2" indent="-18000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Segoe UI Variable Display Semib" pitchFamily="2" charset="0"/>
              </a:rPr>
              <a:t>No separate inputs for keywords, vectors, </a:t>
            </a:r>
            <a:r>
              <a:rPr lang="en-US" err="1">
                <a:latin typeface="Segoe UI Variable Display Semib" pitchFamily="2" charset="0"/>
              </a:rPr>
              <a:t>reranker</a:t>
            </a:r>
            <a:endParaRPr lang="en-US">
              <a:latin typeface="Segoe UI Variable Display Semib" pitchFamily="2" charset="0"/>
            </a:endParaRPr>
          </a:p>
          <a:p>
            <a:pPr marL="180000" lvl="2" indent="-180000">
              <a:lnSpc>
                <a:spcPts val="18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Segoe UI Variable Display Semib" pitchFamily="2" charset="0"/>
              </a:rPr>
              <a:t>No need to understand the structure of the target index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98C8CC-79AC-CC9F-75B9-4EDE26FE88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1763" y="0"/>
            <a:ext cx="3788358" cy="492314"/>
          </a:xfrm>
        </p:spPr>
        <p:txBody>
          <a:bodyPr/>
          <a:lstStyle/>
          <a:p>
            <a:r>
              <a:rPr lang="en-US">
                <a:latin typeface="Segoe UI Variable Display Semib" pitchFamily="2" charset="0"/>
              </a:rPr>
              <a:t>POST /agents/</a:t>
            </a:r>
            <a:r>
              <a:rPr lang="en-US" err="1">
                <a:latin typeface="Segoe UI Variable Display Semib" pitchFamily="2" charset="0"/>
              </a:rPr>
              <a:t>myka</a:t>
            </a:r>
            <a:endParaRPr lang="en-US">
              <a:latin typeface="Segoe UI Variable Display Semib" pitchFamily="2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6CD15B-60CD-2485-82CF-AC1867EC40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00725" y="709613"/>
            <a:ext cx="5802313" cy="3028521"/>
          </a:xfrm>
        </p:spPr>
        <p:txBody>
          <a:bodyPr/>
          <a:lstStyle/>
          <a:p>
            <a:r>
              <a:rPr lang="en-US">
                <a:latin typeface="Consolas" panose="020B0609020204030204" pitchFamily="49" charset="0"/>
              </a:rPr>
              <a:t>name: "…",</a:t>
            </a:r>
          </a:p>
          <a:p>
            <a:r>
              <a:rPr lang="en-US" err="1">
                <a:latin typeface="Consolas" panose="020B0609020204030204" pitchFamily="49" charset="0"/>
              </a:rPr>
              <a:t>targetIndexes</a:t>
            </a:r>
            <a:r>
              <a:rPr lang="en-US">
                <a:latin typeface="Consolas" panose="020B0609020204030204" pitchFamily="49" charset="0"/>
              </a:rPr>
              <a:t>: […]</a:t>
            </a:r>
          </a:p>
          <a:p>
            <a:r>
              <a:rPr lang="en-US">
                <a:latin typeface="Consolas" panose="020B0609020204030204" pitchFamily="49" charset="0"/>
              </a:rPr>
              <a:t>models: [{</a:t>
            </a:r>
          </a:p>
          <a:p>
            <a:r>
              <a:rPr lang="en-US">
                <a:latin typeface="Consolas" panose="020B0609020204030204" pitchFamily="49" charset="0"/>
              </a:rPr>
              <a:t>  kind: "</a:t>
            </a:r>
            <a:r>
              <a:rPr lang="en-US" err="1">
                <a:latin typeface="Consolas" panose="020B0609020204030204" pitchFamily="49" charset="0"/>
              </a:rPr>
              <a:t>azureOpenAI</a:t>
            </a:r>
            <a:r>
              <a:rPr lang="en-US">
                <a:latin typeface="Consolas" panose="020B0609020204030204" pitchFamily="49" charset="0"/>
              </a:rPr>
              <a:t>",</a:t>
            </a:r>
          </a:p>
          <a:p>
            <a:r>
              <a:rPr lang="en-US">
                <a:latin typeface="Consolas" panose="020B0609020204030204" pitchFamily="49" charset="0"/>
              </a:rPr>
              <a:t>  </a:t>
            </a:r>
            <a:r>
              <a:rPr lang="en-US" err="1">
                <a:latin typeface="Consolas" panose="020B0609020204030204" pitchFamily="49" charset="0"/>
              </a:rPr>
              <a:t>modelName</a:t>
            </a:r>
            <a:r>
              <a:rPr lang="en-US">
                <a:latin typeface="Consolas" panose="020B0609020204030204" pitchFamily="49" charset="0"/>
              </a:rPr>
              <a:t>: "…",</a:t>
            </a:r>
          </a:p>
          <a:p>
            <a:r>
              <a:rPr lang="en-US">
                <a:latin typeface="Consolas" panose="020B0609020204030204" pitchFamily="49" charset="0"/>
              </a:rPr>
              <a:t>  …</a:t>
            </a:r>
          </a:p>
          <a:p>
            <a:r>
              <a:rPr lang="en-US">
                <a:latin typeface="Consolas" panose="020B0609020204030204" pitchFamily="49" charset="0"/>
              </a:rPr>
              <a:t>}]</a:t>
            </a:r>
          </a:p>
        </p:txBody>
      </p:sp>
    </p:spTree>
    <p:extLst>
      <p:ext uri="{BB962C8B-B14F-4D97-AF65-F5344CB8AC3E}">
        <p14:creationId xmlns:p14="http://schemas.microsoft.com/office/powerpoint/2010/main" val="39552018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663CB-E3DC-762D-F7C6-1AA3AE7A2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44ABE8-AEE1-50D6-4D79-78930684D0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8963" y="-807058"/>
            <a:ext cx="5446077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200" b="0" i="0" u="none" strike="noStrike" kern="1200" cap="none" spc="-50" normalizeH="0" baseline="0" noProof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  <a:t>Agentic Retrieval API 2/2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A552CC-3389-5537-ACCE-39D930AFA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741459" y="2099309"/>
            <a:ext cx="2214282" cy="311382"/>
          </a:xfrm>
          <a:prstGeom prst="rect">
            <a:avLst/>
          </a:prstGeom>
          <a:solidFill>
            <a:srgbClr val="8DC8E8">
              <a:alpha val="80000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 err="1">
              <a:solidFill>
                <a:srgbClr val="000000"/>
              </a:solidFill>
              <a:latin typeface="Segoe UI Variable Display Semib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28AE1D-7038-E2A0-A32A-7153F6948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073153" y="2743200"/>
            <a:ext cx="4536235" cy="2624697"/>
          </a:xfrm>
          <a:prstGeom prst="rect">
            <a:avLst/>
          </a:prstGeom>
          <a:solidFill>
            <a:srgbClr val="8DC8E8">
              <a:alpha val="80000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 err="1">
              <a:solidFill>
                <a:srgbClr val="000000"/>
              </a:solidFill>
              <a:latin typeface="Segoe UI Variable Display Semib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F2603-99B1-9471-2933-BEEB59BABBCC}"/>
              </a:ext>
            </a:extLst>
          </p:cNvPr>
          <p:cNvSpPr>
            <a:spLocks/>
          </p:cNvSpPr>
          <p:nvPr/>
        </p:nvSpPr>
        <p:spPr>
          <a:xfrm>
            <a:off x="525780" y="424614"/>
            <a:ext cx="11018520" cy="61555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50" normalizeH="0" baseline="0" noProof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Display Semib" pitchFamily="2" charset="0"/>
                <a:cs typeface="Segoe UI" pitchFamily="34" charset="0"/>
              </a:rPr>
              <a:t>Agentic retrieval API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5E296D-1F36-0971-64E5-E26C534A39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1355830"/>
            <a:ext cx="4321387" cy="446148"/>
          </a:xfrm>
        </p:spPr>
        <p:txBody>
          <a:bodyPr/>
          <a:lstStyle/>
          <a:p>
            <a:r>
              <a:rPr lang="en-US"/>
              <a:t>POST /agents/</a:t>
            </a:r>
            <a:r>
              <a:rPr lang="en-US" err="1"/>
              <a:t>myka</a:t>
            </a:r>
            <a:r>
              <a:rPr lang="en-US"/>
              <a:t>/retrieve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89D48E8-23C4-9392-D9FC-80A04B39DB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4862279" cy="3268587"/>
          </a:xfrm>
        </p:spPr>
        <p:txBody>
          <a:bodyPr/>
          <a:lstStyle/>
          <a:p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messages: [</a:t>
            </a:r>
          </a:p>
          <a:p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{ role: "user", text: "…" },</a:t>
            </a:r>
          </a:p>
          <a:p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{ role: "assistant", text: "…" },</a:t>
            </a:r>
          </a:p>
          <a:p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{ role: "user", text: "…" },</a:t>
            </a:r>
          </a:p>
          <a:p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r>
              <a:rPr lang="en-US" sz="1800" err="1">
                <a:latin typeface="Consolas" panose="020B0609020204030204" pitchFamily="49" charset="0"/>
                <a:cs typeface="Consolas" panose="020B0609020204030204" pitchFamily="49" charset="0"/>
              </a:rPr>
              <a:t>targetIndexParams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</a:p>
          <a:p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err="1">
                <a:latin typeface="Consolas" panose="020B0609020204030204" pitchFamily="49" charset="0"/>
                <a:cs typeface="Consolas" panose="020B0609020204030204" pitchFamily="49" charset="0"/>
              </a:rPr>
              <a:t>indexName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: "…",</a:t>
            </a:r>
          </a:p>
          <a:p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err="1">
                <a:latin typeface="Consolas" panose="020B0609020204030204" pitchFamily="49" charset="0"/>
                <a:cs typeface="Consolas" panose="020B0609020204030204" pitchFamily="49" charset="0"/>
              </a:rPr>
              <a:t>filterAddOn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: "…",</a:t>
            </a:r>
          </a:p>
          <a:p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err="1">
                <a:latin typeface="Consolas" panose="020B0609020204030204" pitchFamily="49" charset="0"/>
                <a:cs typeface="Consolas" panose="020B0609020204030204" pitchFamily="49" charset="0"/>
              </a:rPr>
              <a:t>includeReferenceData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: …</a:t>
            </a:r>
          </a:p>
          <a:p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2C22EE-213E-E577-456B-404260401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741459" y="5721311"/>
            <a:ext cx="2214282" cy="311382"/>
          </a:xfrm>
          <a:prstGeom prst="rect">
            <a:avLst/>
          </a:prstGeom>
          <a:solidFill>
            <a:srgbClr val="8DC8E8">
              <a:alpha val="80000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 err="1">
              <a:solidFill>
                <a:srgbClr val="000000"/>
              </a:solidFill>
              <a:latin typeface="Segoe UI Variable Display Semib" pitchFamily="2" charset="0"/>
            </a:endParaRP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0885B2F-9EF1-5CA9-5A69-95CDFE37816B}"/>
              </a:ext>
            </a:extLst>
          </p:cNvPr>
          <p:cNvSpPr txBox="1">
            <a:spLocks/>
          </p:cNvSpPr>
          <p:nvPr/>
        </p:nvSpPr>
        <p:spPr>
          <a:xfrm>
            <a:off x="6831333" y="2088856"/>
            <a:ext cx="5360667" cy="39333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rgbClr val="000000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1pPr>
            <a:lvl2pPr marL="346553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>
                <a:tab pos="344488" algn="l"/>
              </a:tabLst>
              <a:defRPr sz="2400" kern="1200" spc="0" baseline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2pPr>
            <a:lvl3pPr marL="584607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>
                <a:tab pos="569913" algn="l"/>
              </a:tabLst>
              <a:defRPr sz="2400" kern="1200" spc="0" baseline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3pPr>
            <a:lvl4pPr marL="814563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>
                <a:tab pos="800100" algn="l"/>
              </a:tabLst>
              <a:defRPr sz="2400" kern="1200" spc="0" baseline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4pPr>
            <a:lvl5pPr marL="1050997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>
                <a:tab pos="1028700" algn="l"/>
              </a:tabLst>
              <a:defRPr sz="2400" kern="1200" spc="0" baseline="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1800"/>
              <a:t>response: "…",</a:t>
            </a:r>
          </a:p>
          <a:p>
            <a:pPr lvl="0">
              <a:defRPr/>
            </a:pPr>
            <a:r>
              <a:rPr lang="en-US" sz="1800"/>
              <a:t>activity: [</a:t>
            </a:r>
          </a:p>
          <a:p>
            <a:pPr lvl="0">
              <a:defRPr/>
            </a:pPr>
            <a:r>
              <a:rPr lang="en-US" sz="1800"/>
              <a:t>  { type: "</a:t>
            </a:r>
            <a:r>
              <a:rPr lang="en-US" sz="1800" err="1"/>
              <a:t>ModelQueryPlanning</a:t>
            </a:r>
            <a:r>
              <a:rPr lang="en-US" sz="1800"/>
              <a:t>", …</a:t>
            </a:r>
          </a:p>
          <a:p>
            <a:pPr lvl="0">
              <a:defRPr/>
            </a:pPr>
            <a:r>
              <a:rPr lang="en-US" sz="1800"/>
              <a:t>  },</a:t>
            </a:r>
          </a:p>
          <a:p>
            <a:pPr lvl="0">
              <a:defRPr/>
            </a:pPr>
            <a:r>
              <a:rPr lang="en-US" sz="1800"/>
              <a:t>  { type: "</a:t>
            </a:r>
            <a:r>
              <a:rPr lang="en-US" sz="1800" err="1"/>
              <a:t>AzureSearchQuery</a:t>
            </a:r>
            <a:r>
              <a:rPr lang="en-US" sz="1800"/>
              <a:t>",</a:t>
            </a:r>
          </a:p>
          <a:p>
            <a:pPr lvl="0">
              <a:defRPr/>
            </a:pPr>
            <a:r>
              <a:rPr lang="en-US" sz="1800"/>
              <a:t>    query: { search: "", filter: "" }</a:t>
            </a:r>
          </a:p>
          <a:p>
            <a:pPr lvl="0">
              <a:defRPr/>
            </a:pPr>
            <a:r>
              <a:rPr lang="en-US" sz="1800"/>
              <a:t>  },</a:t>
            </a:r>
          </a:p>
          <a:p>
            <a:pPr lvl="0">
              <a:defRPr/>
            </a:pPr>
            <a:r>
              <a:rPr lang="en-US" sz="1800"/>
              <a:t>  { type: "</a:t>
            </a:r>
            <a:r>
              <a:rPr lang="en-US" sz="1800" err="1"/>
              <a:t>AzureSearchQuery</a:t>
            </a:r>
            <a:r>
              <a:rPr lang="en-US" sz="1800"/>
              <a:t>",</a:t>
            </a:r>
          </a:p>
          <a:p>
            <a:pPr lvl="0">
              <a:defRPr/>
            </a:pPr>
            <a:r>
              <a:rPr lang="en-US" sz="1800"/>
              <a:t>    query: { search: "", filter: "" }</a:t>
            </a:r>
          </a:p>
          <a:p>
            <a:pPr lvl="0">
              <a:defRPr/>
            </a:pPr>
            <a:r>
              <a:rPr lang="en-US" sz="1800"/>
              <a:t>  }</a:t>
            </a:r>
          </a:p>
          <a:p>
            <a:pPr lvl="0">
              <a:defRPr/>
            </a:pPr>
            <a:r>
              <a:rPr lang="en-US" sz="1800"/>
              <a:t>],</a:t>
            </a:r>
          </a:p>
          <a:p>
            <a:pPr lvl="0">
              <a:defRPr/>
            </a:pPr>
            <a:r>
              <a:rPr lang="en-US" sz="1800"/>
              <a:t>references: […]</a:t>
            </a: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8A18CA4F-E2B2-8E18-8C2B-226CEF4F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797750" y="3747024"/>
            <a:ext cx="1549130" cy="659218"/>
          </a:xfrm>
          <a:prstGeom prst="stripedRightArrow">
            <a:avLst/>
          </a:prstGeom>
          <a:gradFill flip="none" rotWithShape="1">
            <a:gsLst>
              <a:gs pos="80000">
                <a:srgbClr val="2A446F"/>
              </a:gs>
              <a:gs pos="0">
                <a:srgbClr val="73262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 err="1">
              <a:solidFill>
                <a:srgbClr val="FFFFFF"/>
              </a:solidFill>
              <a:latin typeface="Segoe UI Variable Display Semib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2A383A-2407-6DF6-E783-F8B1851F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371604"/>
            <a:ext cx="3789682" cy="0"/>
          </a:xfrm>
          <a:prstGeom prst="line">
            <a:avLst/>
          </a:prstGeom>
          <a:ln w="38100">
            <a:solidFill>
              <a:srgbClr val="8DC8E8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0155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9" grpId="0" animBg="1"/>
      <p:bldP spid="20" grpId="0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2599B-850E-12F2-22C3-415F4B29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DD0CFB82-D057-1140-B7BF-73F87F5E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615553"/>
          </a:xfrm>
        </p:spPr>
        <p:txBody>
          <a:bodyPr/>
          <a:lstStyle/>
          <a:p>
            <a:pPr algn="ctr"/>
            <a:r>
              <a:rPr lang="en-US" sz="4000">
                <a:latin typeface="Segoe UI Variable Display Semib" pitchFamily="2" charset="0"/>
              </a:rPr>
              <a:t>How do we know if it’s actually better?</a:t>
            </a:r>
          </a:p>
        </p:txBody>
      </p:sp>
      <p:sp>
        <p:nvSpPr>
          <p:cNvPr id="49" name="Rectangle: Rounded Corners 9">
            <a:extLst>
              <a:ext uri="{FF2B5EF4-FFF2-40B4-BE49-F238E27FC236}">
                <a16:creationId xmlns:a16="http://schemas.microsoft.com/office/drawing/2014/main" id="{92EF6729-61AA-CAA2-5AD1-A327BD207057}"/>
              </a:ext>
            </a:extLst>
          </p:cNvPr>
          <p:cNvSpPr/>
          <p:nvPr/>
        </p:nvSpPr>
        <p:spPr>
          <a:xfrm>
            <a:off x="5509403" y="1308518"/>
            <a:ext cx="1173194" cy="430887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37" fontAlgn="base">
              <a:spcBef>
                <a:spcPct val="0"/>
              </a:spcBef>
              <a:spcAft>
                <a:spcPts val="1200"/>
              </a:spcAft>
              <a:tabLst>
                <a:tab pos="1371655" algn="l"/>
              </a:tabLst>
            </a:pPr>
            <a:r>
              <a:rPr lang="en-US" sz="2800">
                <a:ln w="3175">
                  <a:noFill/>
                </a:ln>
                <a:latin typeface="Segoe UI Variable Display Semib" pitchFamily="2" charset="0"/>
                <a:cs typeface="Segoe UI" pitchFamily="34" charset="0"/>
              </a:rPr>
              <a:t>Query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0258F1-E438-3D8D-F05D-8E3429F9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781383" y="2011251"/>
            <a:ext cx="2629234" cy="2629234"/>
          </a:xfrm>
          <a:prstGeom prst="ellipse">
            <a:avLst/>
          </a:prstGeom>
          <a:gradFill flip="none" rotWithShape="1">
            <a:gsLst>
              <a:gs pos="0">
                <a:srgbClr val="FFC6CC"/>
              </a:gs>
              <a:gs pos="80000">
                <a:srgbClr val="A9D5E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Segoe UI Variable Display Semib" pitchFamily="2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ADB66C-7885-B351-A6A7-DBE7668F8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225979" y="2455847"/>
            <a:ext cx="1740042" cy="1740042"/>
            <a:chOff x="4932998" y="2904681"/>
            <a:chExt cx="2326005" cy="2326006"/>
          </a:xfrm>
        </p:grpSpPr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47A36D0A-0A08-AA64-78E1-6EA37264F167}"/>
                </a:ext>
              </a:extLst>
            </p:cNvPr>
            <p:cNvSpPr/>
            <p:nvPr/>
          </p:nvSpPr>
          <p:spPr bwMode="auto">
            <a:xfrm>
              <a:off x="4932998" y="2904681"/>
              <a:ext cx="2326005" cy="2326006"/>
            </a:xfrm>
            <a:prstGeom prst="arc">
              <a:avLst>
                <a:gd name="adj1" fmla="val 16198626"/>
                <a:gd name="adj2" fmla="val 5176364"/>
              </a:avLst>
            </a:prstGeom>
            <a:noFill/>
            <a:ln w="15875" cap="rnd">
              <a:solidFill>
                <a:srgbClr val="000000"/>
              </a:solidFill>
              <a:headEnd type="none" w="med" len="med"/>
              <a:tailEnd type="arrow" w="lg" len="sm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Variable Display Semib" pitchFamily="2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370C41DE-4F96-F9B0-A781-BFAD0D9DE43B}"/>
                </a:ext>
              </a:extLst>
            </p:cNvPr>
            <p:cNvSpPr/>
            <p:nvPr/>
          </p:nvSpPr>
          <p:spPr bwMode="auto">
            <a:xfrm rot="10800000">
              <a:off x="4932998" y="2904681"/>
              <a:ext cx="2326005" cy="2326006"/>
            </a:xfrm>
            <a:prstGeom prst="arc">
              <a:avLst>
                <a:gd name="adj1" fmla="val 16187971"/>
                <a:gd name="adj2" fmla="val 5218329"/>
              </a:avLst>
            </a:prstGeom>
            <a:noFill/>
            <a:ln w="15875" cap="rnd">
              <a:solidFill>
                <a:srgbClr val="000000"/>
              </a:solidFill>
              <a:headEnd type="none" w="med" len="med"/>
              <a:tailEnd type="arrow" w="lg" len="sm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Variable Display Semib" pitchFamily="2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25BC1C6E-0240-E983-38F1-0657586B4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025342" y="1940593"/>
            <a:ext cx="141316" cy="141316"/>
          </a:xfrm>
          <a:prstGeom prst="ellipse">
            <a:avLst/>
          </a:prstGeom>
          <a:solidFill>
            <a:srgbClr val="000000"/>
          </a:solidFill>
          <a:ln w="127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tx1"/>
              </a:solidFill>
              <a:latin typeface="Segoe UI Variable Display Semib" pitchFamily="2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16A566B-3BE9-1AA8-270E-61E9EF9D0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7064270" y="4054573"/>
            <a:ext cx="141316" cy="141316"/>
          </a:xfrm>
          <a:prstGeom prst="ellipse">
            <a:avLst/>
          </a:prstGeom>
          <a:solidFill>
            <a:srgbClr val="000000"/>
          </a:solidFill>
          <a:ln w="127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tx1"/>
              </a:solidFill>
              <a:latin typeface="Segoe UI Variable Display Semib" pitchFamily="2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B46B92E-84B6-A998-8BFC-85F3BD775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974978" y="4054573"/>
            <a:ext cx="141316" cy="141316"/>
          </a:xfrm>
          <a:prstGeom prst="ellipse">
            <a:avLst/>
          </a:prstGeom>
          <a:solidFill>
            <a:srgbClr val="000000"/>
          </a:solidFill>
          <a:ln w="127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tx1"/>
              </a:solidFill>
              <a:latin typeface="Segoe UI Variable Display Semib" pitchFamily="2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9C226-B301-17B8-E0D9-58474E56C7FE}"/>
              </a:ext>
            </a:extLst>
          </p:cNvPr>
          <p:cNvSpPr txBox="1"/>
          <p:nvPr/>
        </p:nvSpPr>
        <p:spPr>
          <a:xfrm>
            <a:off x="1890877" y="2071122"/>
            <a:ext cx="223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lang="en-US" sz="2000" b="0" spc="-50">
                <a:ln>
                  <a:noFill/>
                </a:ln>
                <a:solidFill>
                  <a:schemeClr val="tx1"/>
                </a:solidFill>
                <a:latin typeface="Segoe UI Variable Display Semib" pitchFamily="2" charset="0"/>
              </a:rPr>
              <a:t>Answer relevance</a:t>
            </a:r>
          </a:p>
          <a:p>
            <a:pPr algn="r">
              <a:spcBef>
                <a:spcPts val="0"/>
              </a:spcBef>
            </a:pPr>
            <a:r>
              <a:rPr lang="en-US" sz="1400" b="0">
                <a:solidFill>
                  <a:schemeClr val="tx1"/>
                </a:solidFill>
                <a:latin typeface="Segoe UI Variable Display Semib" pitchFamily="2" charset="0"/>
              </a:rPr>
              <a:t>Is the answer relevant </a:t>
            </a:r>
            <a:br>
              <a:rPr lang="en-US" sz="1400" b="0">
                <a:solidFill>
                  <a:schemeClr val="tx1"/>
                </a:solidFill>
                <a:latin typeface="Segoe UI Variable Display Semib" pitchFamily="2" charset="0"/>
              </a:rPr>
            </a:br>
            <a:r>
              <a:rPr lang="en-US" sz="1400" b="0">
                <a:solidFill>
                  <a:schemeClr val="tx1"/>
                </a:solidFill>
                <a:latin typeface="Segoe UI Variable Display Semib" pitchFamily="2" charset="0"/>
              </a:rPr>
              <a:t>to the query?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C9CAC-D011-8BF3-6919-05D2D9FE09C4}"/>
              </a:ext>
            </a:extLst>
          </p:cNvPr>
          <p:cNvSpPr txBox="1"/>
          <p:nvPr/>
        </p:nvSpPr>
        <p:spPr>
          <a:xfrm>
            <a:off x="8069123" y="2071122"/>
            <a:ext cx="223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000" b="0" spc="-50">
                <a:ln>
                  <a:noFill/>
                </a:ln>
                <a:solidFill>
                  <a:schemeClr val="tx1"/>
                </a:solidFill>
                <a:latin typeface="Segoe UI Variable Display Semib" pitchFamily="2" charset="0"/>
              </a:rPr>
              <a:t>Context relevance</a:t>
            </a:r>
          </a:p>
          <a:p>
            <a:pPr>
              <a:spcBef>
                <a:spcPts val="0"/>
              </a:spcBef>
            </a:pPr>
            <a:r>
              <a:rPr lang="en-US" sz="1400" b="0">
                <a:solidFill>
                  <a:schemeClr val="tx1"/>
                </a:solidFill>
                <a:latin typeface="Segoe UI Variable Display Semib" pitchFamily="2" charset="0"/>
              </a:rPr>
              <a:t>Is the retrieved context relevant to the query?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365D2393-1761-BA7B-C8FB-B6BC125F2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2789" y="1522657"/>
            <a:ext cx="3606422" cy="3606422"/>
          </a:xfrm>
          <a:prstGeom prst="arc">
            <a:avLst>
              <a:gd name="adj1" fmla="val 17571614"/>
              <a:gd name="adj2" fmla="val 892120"/>
            </a:avLst>
          </a:prstGeom>
          <a:ln w="2540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atin typeface="Segoe UI Variable Display Semib" pitchFamily="2" charset="0"/>
            </a:endParaRPr>
          </a:p>
        </p:txBody>
      </p:sp>
      <p:sp>
        <p:nvSpPr>
          <p:cNvPr id="50" name="Rectangle: Rounded Corners 12">
            <a:extLst>
              <a:ext uri="{FF2B5EF4-FFF2-40B4-BE49-F238E27FC236}">
                <a16:creationId xmlns:a16="http://schemas.microsoft.com/office/drawing/2014/main" id="{ADD14836-2B57-600A-75CE-421BE89FE1A5}"/>
              </a:ext>
            </a:extLst>
          </p:cNvPr>
          <p:cNvSpPr/>
          <p:nvPr/>
        </p:nvSpPr>
        <p:spPr>
          <a:xfrm>
            <a:off x="3142622" y="3920919"/>
            <a:ext cx="1638760" cy="430887"/>
          </a:xfrm>
          <a:prstGeom prst="rect">
            <a:avLst/>
          </a:prstGeom>
          <a:noFill/>
          <a:effectLst/>
        </p:spPr>
        <p:txBody>
          <a:bodyPr wrap="square" lIns="0" tIns="0" rIns="72000" bIns="0" rtlCol="0" anchor="ctr" anchorCtr="0">
            <a:spAutoFit/>
          </a:bodyPr>
          <a:lstStyle/>
          <a:p>
            <a:pPr algn="r" defTabSz="914437" fontAlgn="base">
              <a:spcBef>
                <a:spcPct val="0"/>
              </a:spcBef>
              <a:spcAft>
                <a:spcPts val="1200"/>
              </a:spcAft>
              <a:tabLst>
                <a:tab pos="1371655" algn="l"/>
              </a:tabLst>
            </a:pPr>
            <a:r>
              <a:rPr lang="en-US" sz="2800">
                <a:ln w="3175">
                  <a:noFill/>
                </a:ln>
                <a:latin typeface="Segoe UI Variable Display Semib" pitchFamily="2" charset="0"/>
                <a:cs typeface="Segoe UI" pitchFamily="34" charset="0"/>
              </a:rPr>
              <a:t>Response</a:t>
            </a:r>
          </a:p>
        </p:txBody>
      </p:sp>
      <p:sp>
        <p:nvSpPr>
          <p:cNvPr id="51" name="Rectangle: Rounded Corners 15">
            <a:extLst>
              <a:ext uri="{FF2B5EF4-FFF2-40B4-BE49-F238E27FC236}">
                <a16:creationId xmlns:a16="http://schemas.microsoft.com/office/drawing/2014/main" id="{D7A26F58-D3AC-8051-E48E-F78635EE5102}"/>
              </a:ext>
            </a:extLst>
          </p:cNvPr>
          <p:cNvSpPr/>
          <p:nvPr/>
        </p:nvSpPr>
        <p:spPr>
          <a:xfrm>
            <a:off x="7410617" y="3920919"/>
            <a:ext cx="1501188" cy="430887"/>
          </a:xfrm>
          <a:prstGeom prst="rect">
            <a:avLst/>
          </a:prstGeom>
          <a:noFill/>
          <a:effectLst/>
        </p:spPr>
        <p:txBody>
          <a:bodyPr wrap="square" lIns="72000" tIns="0" rIns="0" bIns="0" rtlCol="0" anchor="ctr" anchorCtr="0">
            <a:spAutoFit/>
          </a:bodyPr>
          <a:lstStyle/>
          <a:p>
            <a:pPr defTabSz="914437" fontAlgn="base">
              <a:spcBef>
                <a:spcPct val="0"/>
              </a:spcBef>
              <a:spcAft>
                <a:spcPts val="1200"/>
              </a:spcAft>
              <a:tabLst>
                <a:tab pos="1371655" algn="l"/>
              </a:tabLst>
            </a:pPr>
            <a:r>
              <a:rPr lang="en-US" sz="2800">
                <a:ln w="3175">
                  <a:noFill/>
                </a:ln>
                <a:latin typeface="Segoe UI Variable Display Semib" pitchFamily="2" charset="0"/>
                <a:cs typeface="Segoe UI" pitchFamily="34" charset="0"/>
              </a:rPr>
              <a:t>Context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A7A456-78D9-7A6D-9814-671307592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2789" y="1522657"/>
            <a:ext cx="3606422" cy="3606422"/>
          </a:xfrm>
          <a:prstGeom prst="arc">
            <a:avLst>
              <a:gd name="adj1" fmla="val 2501382"/>
              <a:gd name="adj2" fmla="val 8322901"/>
            </a:avLst>
          </a:prstGeom>
          <a:ln w="2540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atin typeface="Segoe UI Variable Display Semib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87C374-6753-261D-9877-017248CF58B9}"/>
              </a:ext>
            </a:extLst>
          </p:cNvPr>
          <p:cNvSpPr txBox="1"/>
          <p:nvPr/>
        </p:nvSpPr>
        <p:spPr>
          <a:xfrm>
            <a:off x="3753665" y="5330267"/>
            <a:ext cx="47533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000" b="0" spc="-50" err="1">
                <a:ln>
                  <a:noFill/>
                </a:ln>
                <a:solidFill>
                  <a:schemeClr val="tx1"/>
                </a:solidFill>
                <a:latin typeface="Segoe UI Variable Display Semib" pitchFamily="2" charset="0"/>
              </a:rPr>
              <a:t>Groundedness</a:t>
            </a:r>
            <a:endParaRPr lang="en-US" sz="2000" b="0" spc="-50">
              <a:ln>
                <a:noFill/>
              </a:ln>
              <a:solidFill>
                <a:schemeClr val="tx1"/>
              </a:solidFill>
              <a:latin typeface="Segoe UI Variable Display Semib" pitchFamily="2" charset="0"/>
            </a:endParaRPr>
          </a:p>
          <a:p>
            <a:pPr algn="ctr">
              <a:spcBef>
                <a:spcPts val="0"/>
              </a:spcBef>
            </a:pPr>
            <a:r>
              <a:rPr lang="en-US" sz="1400" b="0">
                <a:solidFill>
                  <a:schemeClr val="tx1"/>
                </a:solidFill>
                <a:latin typeface="Segoe UI Variable Display Semib" pitchFamily="2" charset="0"/>
              </a:rPr>
              <a:t>Is the response supported by the context?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B706C02C-929C-27A6-8F56-E68C7044B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2789" y="1522657"/>
            <a:ext cx="3606422" cy="3606422"/>
          </a:xfrm>
          <a:prstGeom prst="arc">
            <a:avLst>
              <a:gd name="adj1" fmla="val 9907879"/>
              <a:gd name="adj2" fmla="val 14821701"/>
            </a:avLst>
          </a:prstGeom>
          <a:ln w="25400" cap="rnd">
            <a:gradFill flip="none" rotWithShape="1">
              <a:gsLst>
                <a:gs pos="80000">
                  <a:srgbClr val="2A446F"/>
                </a:gs>
                <a:gs pos="0">
                  <a:srgbClr val="73262F"/>
                </a:gs>
              </a:gsLst>
              <a:lin ang="10800000" scaled="1"/>
              <a:tileRect/>
            </a:gra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atin typeface="Segoe UI Variable Display Semib" pitchFamily="2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17EA408-36B5-5375-E0D3-07CCE43DE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4613" y="3014482"/>
            <a:ext cx="622772" cy="622772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EE48B65-5307-1B32-B9FE-B0BCA0FCE9A6}"/>
              </a:ext>
            </a:extLst>
          </p:cNvPr>
          <p:cNvSpPr txBox="1"/>
          <p:nvPr/>
        </p:nvSpPr>
        <p:spPr>
          <a:xfrm>
            <a:off x="3094723" y="6121323"/>
            <a:ext cx="61438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>
                <a:latin typeface="Segoe UI Variable Display Semib" pitchFamily="2" charset="0"/>
              </a:rPr>
              <a:t>Source: The RAG Triad | www.trulens.org/getting_started/core_concepts/rag_triad/</a:t>
            </a:r>
          </a:p>
        </p:txBody>
      </p:sp>
    </p:spTree>
    <p:extLst>
      <p:ext uri="{BB962C8B-B14F-4D97-AF65-F5344CB8AC3E}">
        <p14:creationId xmlns:p14="http://schemas.microsoft.com/office/powerpoint/2010/main" val="61736031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11B8A-C924-FB60-6C16-E7A57BE16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A83123-A435-CF53-1A48-B9DB5FDA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615553"/>
          </a:xfrm>
        </p:spPr>
        <p:txBody>
          <a:bodyPr/>
          <a:lstStyle/>
          <a:p>
            <a:pPr algn="ctr"/>
            <a:r>
              <a:rPr lang="en-CA" sz="4000">
                <a:latin typeface="Segoe UI Variable Display Semib" pitchFamily="2" charset="0"/>
              </a:rPr>
              <a:t>Agentic retrieval evals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553AA-A0B9-AAB4-CE24-EF98F5F3A9C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180543" y="1819907"/>
            <a:ext cx="2768718" cy="1231106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8000" b="1" i="0" u="none" strike="noStrike" kern="1200" cap="none" spc="-200" normalizeH="0" noProof="0">
                <a:ln w="3175">
                  <a:noFill/>
                </a:ln>
                <a:gradFill>
                  <a:gsLst>
                    <a:gs pos="9000">
                      <a:srgbClr val="73262F"/>
                    </a:gs>
                    <a:gs pos="88000">
                      <a:srgbClr val="2A446F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" pitchFamily="2" charset="0"/>
                <a:cs typeface="Segoe UI" pitchFamily="34" charset="0"/>
              </a:rPr>
              <a:t>+40%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BE7E288-0EBD-5E3D-C3FC-4191485262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049335" y="2239192"/>
            <a:ext cx="2139122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2000">
                <a:latin typeface="Segoe UI Variable Display Semib" pitchFamily="2" charset="0"/>
              </a:rPr>
              <a:t>RAG answer relevance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B60027-0767-E637-7AC4-6409329E85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693137" y="1819907"/>
            <a:ext cx="2979008" cy="1231106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1371655" algn="l"/>
              </a:tabLst>
              <a:defRPr/>
            </a:pPr>
            <a:r>
              <a:rPr kumimoji="0" lang="en-US" sz="8000" b="1" i="0" u="none" strike="noStrike" kern="1200" cap="none" spc="-200" normalizeH="0" noProof="0">
                <a:ln w="3175">
                  <a:noFill/>
                </a:ln>
                <a:gradFill>
                  <a:gsLst>
                    <a:gs pos="9000">
                      <a:srgbClr val="73262F"/>
                    </a:gs>
                    <a:gs pos="88000">
                      <a:srgbClr val="2A446F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" pitchFamily="2" charset="0"/>
                <a:cs typeface="Segoe UI" pitchFamily="34" charset="0"/>
              </a:rPr>
              <a:t>+30%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CC7730AC-9415-E939-2A3C-EEBAD36565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537147" y="2239191"/>
            <a:ext cx="2139122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2000">
                <a:latin typeface="Segoe UI Variable Display Semib" pitchFamily="2" charset="0"/>
              </a:rPr>
              <a:t>RAG answer </a:t>
            </a:r>
            <a:br>
              <a:rPr lang="en-US" sz="2000">
                <a:latin typeface="Segoe UI Variable Display Semib" pitchFamily="2" charset="0"/>
              </a:rPr>
            </a:br>
            <a:r>
              <a:rPr lang="en-US" sz="2000">
                <a:latin typeface="Segoe UI Variable Display Semib" pitchFamily="2" charset="0"/>
              </a:rPr>
              <a:t>result rate</a:t>
            </a:r>
          </a:p>
        </p:txBody>
      </p:sp>
      <p:sp useBgFill="1">
        <p:nvSpPr>
          <p:cNvPr id="36" name="TextBox 35">
            <a:extLst>
              <a:ext uri="{FF2B5EF4-FFF2-40B4-BE49-F238E27FC236}">
                <a16:creationId xmlns:a16="http://schemas.microsoft.com/office/drawing/2014/main" id="{6986037E-2E8B-2717-6B74-81DF179C6E54}"/>
              </a:ext>
            </a:extLst>
          </p:cNvPr>
          <p:cNvSpPr txBox="1"/>
          <p:nvPr/>
        </p:nvSpPr>
        <p:spPr>
          <a:xfrm>
            <a:off x="1929027" y="3236654"/>
            <a:ext cx="8333946" cy="21544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>
                <a:latin typeface="Segoe UI Variable Display Semib" pitchFamily="2" charset="0"/>
              </a:rPr>
              <a:t>For complex queries requiring information from multiple documents</a:t>
            </a:r>
          </a:p>
        </p:txBody>
      </p:sp>
      <p:graphicFrame>
        <p:nvGraphicFramePr>
          <p:cNvPr id="38" name="Chart 37" descr="Traditional Search vs Agentic Retrieval bar chart">
            <a:extLst>
              <a:ext uri="{FF2B5EF4-FFF2-40B4-BE49-F238E27FC236}">
                <a16:creationId xmlns:a16="http://schemas.microsoft.com/office/drawing/2014/main" id="{87DD4EC4-23B2-DB3E-4538-B5759CBE44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4923164"/>
              </p:ext>
            </p:extLst>
          </p:nvPr>
        </p:nvGraphicFramePr>
        <p:xfrm>
          <a:off x="584200" y="3732184"/>
          <a:ext cx="11025187" cy="23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F3EF5FED-94C9-5C20-24FF-C4310637C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4200" y="1685177"/>
            <a:ext cx="11025187" cy="1901478"/>
          </a:xfrm>
          <a:prstGeom prst="roundRect">
            <a:avLst>
              <a:gd name="adj" fmla="val 9481"/>
            </a:avLst>
          </a:prstGeom>
          <a:noFill/>
          <a:ln w="12700" cap="rnd">
            <a:solidFill>
              <a:schemeClr val="tx1">
                <a:alpha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1"/>
            <a:endParaRPr lang="en-US" sz="2400">
              <a:cs typeface="Segoe UI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98AB4E6-327E-6720-8D0B-25EA0884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793" y="2099271"/>
            <a:ext cx="0" cy="894825"/>
          </a:xfrm>
          <a:prstGeom prst="line">
            <a:avLst/>
          </a:prstGeom>
          <a:ln w="12700" cap="rnd">
            <a:solidFill>
              <a:srgbClr val="000000"/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6B8861B8-B8C7-6894-B336-B23FE8B70DD9}"/>
              </a:ext>
            </a:extLst>
          </p:cNvPr>
          <p:cNvSpPr txBox="1">
            <a:spLocks/>
          </p:cNvSpPr>
          <p:nvPr/>
        </p:nvSpPr>
        <p:spPr>
          <a:xfrm>
            <a:off x="3055883" y="6115232"/>
            <a:ext cx="608023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1200">
                <a:latin typeface="Segoe UI Variable Display Semib" pitchFamily="2" charset="0"/>
                <a:cs typeface="Segoe UI"/>
              </a:rPr>
              <a:t>Full evals results and methodology description: </a:t>
            </a:r>
            <a:r>
              <a:rPr lang="en-US" sz="1200">
                <a:ln w="3175">
                  <a:noFill/>
                </a:ln>
                <a:latin typeface="Segoe UI Variable Display Semib" pitchFamily="2" charset="0"/>
              </a:rPr>
              <a:t>aka.ms/</a:t>
            </a:r>
            <a:r>
              <a:rPr lang="en-US" sz="1200" err="1">
                <a:ln w="3175">
                  <a:noFill/>
                </a:ln>
                <a:latin typeface="Segoe UI Variable Display Semib" pitchFamily="2" charset="0"/>
              </a:rPr>
              <a:t>aisearch-arevals</a:t>
            </a:r>
            <a:endParaRPr lang="en-US" sz="1200">
              <a:ln w="3175">
                <a:noFill/>
              </a:ln>
              <a:latin typeface="Segoe UI Variable Display Semi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71370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BEC35-E3BD-4721-522D-8065DDBF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191A-0177-2389-5904-33F6E8236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4" y="2659558"/>
            <a:ext cx="3123313" cy="1538883"/>
          </a:xfrm>
        </p:spPr>
        <p:txBody>
          <a:bodyPr/>
          <a:lstStyle/>
          <a:p>
            <a:r>
              <a:rPr lang="en-US" sz="2000">
                <a:latin typeface="Segoe UI Variable Display Semib" pitchFamily="2" charset="0"/>
              </a:rPr>
              <a:t>Agentic retrieval evals</a:t>
            </a:r>
            <a:br>
              <a:rPr lang="en-US" sz="2800">
                <a:latin typeface="Segoe UI Variable Display Semib" pitchFamily="2" charset="0"/>
              </a:rPr>
            </a:br>
            <a:r>
              <a:rPr lang="en-US" sz="4000">
                <a:latin typeface="Segoe UI Variable Display Semib" pitchFamily="2" charset="0"/>
              </a:rPr>
              <a:t>Datasets x Query Modes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692384B-1A1E-FFCE-414E-8C47B000FA93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202703957"/>
              </p:ext>
            </p:extLst>
          </p:nvPr>
        </p:nvGraphicFramePr>
        <p:xfrm>
          <a:off x="3711577" y="729931"/>
          <a:ext cx="7892160" cy="5539094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1630444">
                  <a:extLst>
                    <a:ext uri="{9D8B030D-6E8A-4147-A177-3AD203B41FA5}">
                      <a16:colId xmlns:a16="http://schemas.microsoft.com/office/drawing/2014/main" val="831091254"/>
                    </a:ext>
                  </a:extLst>
                </a:gridCol>
                <a:gridCol w="1058780">
                  <a:extLst>
                    <a:ext uri="{9D8B030D-6E8A-4147-A177-3AD203B41FA5}">
                      <a16:colId xmlns:a16="http://schemas.microsoft.com/office/drawing/2014/main" val="975556932"/>
                    </a:ext>
                  </a:extLst>
                </a:gridCol>
                <a:gridCol w="867156">
                  <a:extLst>
                    <a:ext uri="{9D8B030D-6E8A-4147-A177-3AD203B41FA5}">
                      <a16:colId xmlns:a16="http://schemas.microsoft.com/office/drawing/2014/main" val="1766775715"/>
                    </a:ext>
                  </a:extLst>
                </a:gridCol>
                <a:gridCol w="867156">
                  <a:extLst>
                    <a:ext uri="{9D8B030D-6E8A-4147-A177-3AD203B41FA5}">
                      <a16:colId xmlns:a16="http://schemas.microsoft.com/office/drawing/2014/main" val="2733519452"/>
                    </a:ext>
                  </a:extLst>
                </a:gridCol>
                <a:gridCol w="867156">
                  <a:extLst>
                    <a:ext uri="{9D8B030D-6E8A-4147-A177-3AD203B41FA5}">
                      <a16:colId xmlns:a16="http://schemas.microsoft.com/office/drawing/2014/main" val="1924912933"/>
                    </a:ext>
                  </a:extLst>
                </a:gridCol>
                <a:gridCol w="867156">
                  <a:extLst>
                    <a:ext uri="{9D8B030D-6E8A-4147-A177-3AD203B41FA5}">
                      <a16:colId xmlns:a16="http://schemas.microsoft.com/office/drawing/2014/main" val="2722587662"/>
                    </a:ext>
                  </a:extLst>
                </a:gridCol>
                <a:gridCol w="867156">
                  <a:extLst>
                    <a:ext uri="{9D8B030D-6E8A-4147-A177-3AD203B41FA5}">
                      <a16:colId xmlns:a16="http://schemas.microsoft.com/office/drawing/2014/main" val="3538808164"/>
                    </a:ext>
                  </a:extLst>
                </a:gridCol>
                <a:gridCol w="867156">
                  <a:extLst>
                    <a:ext uri="{9D8B030D-6E8A-4147-A177-3AD203B41FA5}">
                      <a16:colId xmlns:a16="http://schemas.microsoft.com/office/drawing/2014/main" val="3993368271"/>
                    </a:ext>
                  </a:extLst>
                </a:gridCol>
              </a:tblGrid>
              <a:tr h="7199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>
                        <a:effectLst/>
                        <a:latin typeface="Segoe UI Variable Display Semib" pitchFamily="2" charset="0"/>
                      </a:endParaRPr>
                    </a:p>
                  </a:txBody>
                  <a:tcPr marL="66192" marR="66192" marT="33096" marB="3309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400" b="0" i="0" kern="1200" cap="none" spc="-50" baseline="0">
                          <a:ln>
                            <a:noFill/>
                          </a:ln>
                          <a:solidFill>
                            <a:srgbClr val="152237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Dataset</a:t>
                      </a:r>
                    </a:p>
                  </a:txBody>
                  <a:tcPr marL="66192" marR="66192" marT="33096" marB="3309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400" b="0" i="0" kern="1200" cap="none" spc="-50" baseline="0">
                          <a:ln>
                            <a:noFill/>
                          </a:ln>
                          <a:solidFill>
                            <a:srgbClr val="152237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Search API </a:t>
                      </a:r>
                    </a:p>
                  </a:txBody>
                  <a:tcPr marL="66192" marR="66192" marT="33096" marB="3309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400" b="0" i="0" kern="1200" cap="none" spc="-50" baseline="0">
                          <a:ln>
                            <a:noFill/>
                          </a:ln>
                          <a:solidFill>
                            <a:srgbClr val="152237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Agentic retrieval API </a:t>
                      </a:r>
                    </a:p>
                  </a:txBody>
                  <a:tcPr marL="66192" marR="66192" marT="33096" marB="3309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400" b="0" i="0" kern="1200" cap="none" spc="-50" baseline="0">
                          <a:ln>
                            <a:noFill/>
                          </a:ln>
                          <a:solidFill>
                            <a:srgbClr val="152237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Delta </a:t>
                      </a:r>
                    </a:p>
                  </a:txBody>
                  <a:tcPr marL="66192" marR="66192" marT="33096" marB="3309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400" b="0" i="0" kern="1200" cap="none" spc="-50" baseline="0">
                          <a:ln>
                            <a:noFill/>
                          </a:ln>
                          <a:solidFill>
                            <a:srgbClr val="152237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Search API </a:t>
                      </a:r>
                    </a:p>
                  </a:txBody>
                  <a:tcPr marL="66192" marR="66192" marT="33096" marB="3309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400" b="0" i="0" kern="1200" cap="none" spc="-50" baseline="0">
                          <a:ln>
                            <a:noFill/>
                          </a:ln>
                          <a:solidFill>
                            <a:srgbClr val="152237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Agentic retrieval API </a:t>
                      </a:r>
                    </a:p>
                  </a:txBody>
                  <a:tcPr marL="66192" marR="66192" marT="33096" marB="3309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400" b="0" i="0" kern="1200" cap="none" spc="-50" baseline="0">
                          <a:ln>
                            <a:noFill/>
                          </a:ln>
                          <a:solidFill>
                            <a:srgbClr val="152237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Delta </a:t>
                      </a:r>
                    </a:p>
                  </a:txBody>
                  <a:tcPr marL="66192" marR="66192" marT="33096" marB="33096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904309"/>
                  </a:ext>
                </a:extLst>
              </a:tr>
              <a:tr h="301197">
                <a:tc rowSpan="7">
                  <a:txBody>
                    <a:bodyPr/>
                    <a:lstStyle/>
                    <a:p>
                      <a:pPr algn="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Classical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0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MIML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87.12 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  <a:cs typeface="Segoe UI Semibold" panose="020B0702040204020203" pitchFamily="34" charset="0"/>
                        </a:rPr>
                        <a:t>87.89 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0.76 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77.22 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77.95 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0.74 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79467832"/>
                  </a:ext>
                </a:extLst>
              </a:tr>
              <a:tr h="301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Support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66.85 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  <a:cs typeface="Segoe UI Semibold" panose="020B0702040204020203" pitchFamily="34" charset="0"/>
                        </a:rPr>
                        <a:t>67.44 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0.58 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53.17 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53.72 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0.55 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67417059"/>
                  </a:ext>
                </a:extLst>
              </a:tr>
              <a:tr h="301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Content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77.58 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  <a:cs typeface="Segoe UI Semibold" panose="020B0702040204020203" pitchFamily="34" charset="0"/>
                        </a:rPr>
                        <a:t>77.77 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0.19 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68.95 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68.89 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-0.06 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3008616"/>
                  </a:ext>
                </a:extLst>
              </a:tr>
              <a:tr h="301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DAYI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  <a:ea typeface="+mn-ea"/>
                          <a:cs typeface="Segoe UI Semibold" panose="020B0702040204020203" pitchFamily="34" charset="0"/>
                        </a:rPr>
                        <a:t>74.68 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73.26 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-1.42 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68.22 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66.67 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-1.55 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4745137"/>
                  </a:ext>
                </a:extLst>
              </a:tr>
              <a:tr h="301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FDA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  <a:ea typeface="+mn-ea"/>
                          <a:cs typeface="Segoe UI Semibold" panose="020B0702040204020203" pitchFamily="34" charset="0"/>
                        </a:rPr>
                        <a:t>63.03 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62.41 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-0.62 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55.73 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55.28 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-0.45 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10197425"/>
                  </a:ext>
                </a:extLst>
              </a:tr>
              <a:tr h="301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Arxiv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68.97 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  <a:ea typeface="+mn-ea"/>
                          <a:cs typeface="Segoe UI Semibold" panose="020B0702040204020203" pitchFamily="34" charset="0"/>
                        </a:rPr>
                        <a:t>69.66 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0.68 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58.97 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57.40 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-1.58 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81757960"/>
                  </a:ext>
                </a:extLst>
              </a:tr>
              <a:tr h="301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AVG Classical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73.04 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  <a:ea typeface="+mn-ea"/>
                          <a:cs typeface="Segoe UI Semibold" panose="020B0702040204020203" pitchFamily="34" charset="0"/>
                        </a:rPr>
                        <a:t>73.07 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0.03 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63.71 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63.32 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-0.39 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8230578"/>
                  </a:ext>
                </a:extLst>
              </a:tr>
              <a:tr h="301197">
                <a:tc rowSpan="7">
                  <a:txBody>
                    <a:bodyPr/>
                    <a:lstStyle/>
                    <a:p>
                      <a:pPr algn="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Complex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0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MIML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44.59 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  <a:ea typeface="+mn-ea"/>
                          <a:cs typeface="Segoe UI Semibold" panose="020B0702040204020203" pitchFamily="34" charset="0"/>
                        </a:rPr>
                        <a:t>55.84 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11.25 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32.16 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39.46 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7.30 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77899"/>
                  </a:ext>
                </a:extLst>
              </a:tr>
              <a:tr h="301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Support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43.92 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  <a:ea typeface="+mn-ea"/>
                          <a:cs typeface="Segoe UI Semibold" panose="020B0702040204020203" pitchFamily="34" charset="0"/>
                        </a:rPr>
                        <a:t>61.06 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17.15 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32.48 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44.88 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12.40 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706510"/>
                  </a:ext>
                </a:extLst>
              </a:tr>
              <a:tr h="301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Content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46.18 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  <a:ea typeface="+mn-ea"/>
                          <a:cs typeface="Segoe UI Semibold" panose="020B0702040204020203" pitchFamily="34" charset="0"/>
                        </a:rPr>
                        <a:t>58.99 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12.81 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33.93 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42.82 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8.89 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554318"/>
                  </a:ext>
                </a:extLst>
              </a:tr>
              <a:tr h="301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DAYI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40.58 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  <a:ea typeface="+mn-ea"/>
                          <a:cs typeface="Segoe UI Semibold" panose="020B0702040204020203" pitchFamily="34" charset="0"/>
                        </a:rPr>
                        <a:t>48.52 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7.94 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31.21 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36.75 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5.54 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994136"/>
                  </a:ext>
                </a:extLst>
              </a:tr>
              <a:tr h="301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FDA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38.25 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32742" rtl="0" eaLnBrk="1" fontAlgn="base" latinLnBrk="0" hangingPunct="1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  <a:ea typeface="+mn-ea"/>
                          <a:cs typeface="Segoe UI Semibold" panose="020B0702040204020203" pitchFamily="34" charset="0"/>
                        </a:rPr>
                        <a:t>71.25 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33.00 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30.84 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58.33 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27.50 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081826"/>
                  </a:ext>
                </a:extLst>
              </a:tr>
              <a:tr h="301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Arxiv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33.43 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48.83 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15.39 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25.55 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35.74 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10.19 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565983"/>
                  </a:ext>
                </a:extLst>
              </a:tr>
              <a:tr h="301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AVG Complex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41.16 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57.41 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16.26 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31.03 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43.00 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11.97 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4138"/>
                  </a:ext>
                </a:extLst>
              </a:tr>
              <a:tr h="301197"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Conversational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0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MT-RAG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77.31 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78.74 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1.43 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69.35 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71.49 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2.14 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165410"/>
                  </a:ext>
                </a:extLst>
              </a:tr>
              <a:tr h="301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Total</a:t>
                      </a:r>
                    </a:p>
                  </a:txBody>
                  <a:tcPr marL="0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 kern="1200" cap="none" spc="-5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egoe UI Variable Display Semib" pitchFamily="2" charset="0"/>
                          <a:ea typeface="+mn-ea"/>
                          <a:cs typeface="+mn-cs"/>
                        </a:rPr>
                        <a:t>Average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58.65 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66.28 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7.63 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49.06 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54.57 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Segoe UI Variable Display" pitchFamily="2" charset="0"/>
                        </a:rPr>
                        <a:t>5.51 </a:t>
                      </a:r>
                    </a:p>
                  </a:txBody>
                  <a:tcPr marL="66192" marR="66192" marT="33096" marB="330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1533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83EB20C-D783-6FC5-64AF-A95EB4B79351}"/>
              </a:ext>
            </a:extLst>
          </p:cNvPr>
          <p:cNvSpPr txBox="1"/>
          <p:nvPr/>
        </p:nvSpPr>
        <p:spPr>
          <a:xfrm>
            <a:off x="6436104" y="373365"/>
            <a:ext cx="2534901" cy="318801"/>
          </a:xfrm>
          <a:prstGeom prst="roundRect">
            <a:avLst/>
          </a:prstGeom>
          <a:noFill/>
        </p:spPr>
        <p:txBody>
          <a:bodyPr wrap="square" lIns="0" tIns="36000" rIns="0" bIns="36000" rtlCol="0" anchor="ctr" anchorCtr="0">
            <a:spAutoFit/>
          </a:bodyPr>
          <a:lstStyle/>
          <a:p>
            <a:pPr algn="ctr"/>
            <a:r>
              <a:rPr lang="en-CA" sz="1400">
                <a:latin typeface="Segoe UI Variable Display Semib" pitchFamily="2" charset="0"/>
                <a:cs typeface="Segoe UI Semibold" panose="020B0702040204020203" pitchFamily="34" charset="0"/>
              </a:rPr>
              <a:t>Answer Score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45FAB1-2533-2004-AC5B-7F113106D940}"/>
              </a:ext>
            </a:extLst>
          </p:cNvPr>
          <p:cNvSpPr txBox="1"/>
          <p:nvPr/>
        </p:nvSpPr>
        <p:spPr>
          <a:xfrm>
            <a:off x="9038002" y="373365"/>
            <a:ext cx="2534901" cy="318801"/>
          </a:xfrm>
          <a:prstGeom prst="roundRect">
            <a:avLst/>
          </a:prstGeom>
          <a:noFill/>
        </p:spPr>
        <p:txBody>
          <a:bodyPr wrap="square" lIns="0" tIns="36000" rIns="0" bIns="36000" rtlCol="0" anchor="ctr" anchorCtr="0">
            <a:spAutoFit/>
          </a:bodyPr>
          <a:lstStyle/>
          <a:p>
            <a:pPr algn="ctr"/>
            <a:r>
              <a:rPr lang="en-CA" sz="1400">
                <a:latin typeface="Segoe UI Variable Display Semib" pitchFamily="2" charset="0"/>
                <a:cs typeface="Segoe UI Semibold" panose="020B0702040204020203" pitchFamily="34" charset="0"/>
              </a:rPr>
              <a:t>Content Score</a:t>
            </a:r>
          </a:p>
        </p:txBody>
      </p:sp>
    </p:spTree>
    <p:extLst>
      <p:ext uri="{BB962C8B-B14F-4D97-AF65-F5344CB8AC3E}">
        <p14:creationId xmlns:p14="http://schemas.microsoft.com/office/powerpoint/2010/main" val="169446097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49D55-D8A3-9D67-AEF4-D0FE2D45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8A679BC-12E3-1BA0-9108-8AA829BA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2426958"/>
            <a:ext cx="2824162" cy="923330"/>
          </a:xfrm>
        </p:spPr>
        <p:txBody>
          <a:bodyPr/>
          <a:lstStyle/>
          <a:p>
            <a:r>
              <a:rPr lang="en-US" sz="2000">
                <a:latin typeface="Segoe UI Variable Display Semib" pitchFamily="2" charset="0"/>
              </a:rPr>
              <a:t>Agentic retrieval evals</a:t>
            </a:r>
            <a:br>
              <a:rPr lang="en-US">
                <a:latin typeface="Segoe UI Variable Display Semib" pitchFamily="2" charset="0"/>
              </a:rPr>
            </a:br>
            <a:r>
              <a:rPr lang="en-US" sz="4000">
                <a:latin typeface="Segoe UI Variable Display Semib" pitchFamily="2" charset="0"/>
              </a:rPr>
              <a:t>Query Types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DD440F48-D099-7100-783F-D9F2B28488BB}"/>
              </a:ext>
            </a:extLst>
          </p:cNvPr>
          <p:cNvSpPr txBox="1">
            <a:spLocks/>
          </p:cNvSpPr>
          <p:nvPr/>
        </p:nvSpPr>
        <p:spPr>
          <a:xfrm>
            <a:off x="588963" y="3781666"/>
            <a:ext cx="3513805" cy="1261884"/>
          </a:xfrm>
          <a:prstGeom prst="rect">
            <a:avLst/>
          </a:prstGeom>
        </p:spPr>
        <p:txBody>
          <a:bodyPr lIns="0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37" fontAlgn="base">
              <a:spcBef>
                <a:spcPts val="600"/>
              </a:spcBef>
              <a:buNone/>
              <a:tabLst>
                <a:tab pos="1371655" algn="l"/>
              </a:tabLst>
              <a:defRPr/>
            </a:pPr>
            <a:r>
              <a:rPr lang="en-US" sz="2000">
                <a:ln w="3175">
                  <a:noFill/>
                </a:ln>
                <a:solidFill>
                  <a:srgbClr val="152237"/>
                </a:solidFill>
                <a:latin typeface="Segoe UI Variable Display Semib" pitchFamily="2" charset="0"/>
              </a:rPr>
              <a:t>As expected: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>
                <a:latin typeface="Segoe UI Variable Display Semib" pitchFamily="2" charset="0"/>
              </a:rPr>
              <a:t>Complex queries get better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>
                <a:latin typeface="Segoe UI Variable Display Semib" pitchFamily="2" charset="0"/>
              </a:rPr>
              <a:t>Simple queries don’t regress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A06B568-7D81-19DB-F997-29FB7887FD39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215132581"/>
              </p:ext>
            </p:extLst>
          </p:nvPr>
        </p:nvGraphicFramePr>
        <p:xfrm>
          <a:off x="4740442" y="585788"/>
          <a:ext cx="6868947" cy="5863180"/>
        </p:xfrm>
        <a:graphic>
          <a:graphicData uri="http://schemas.openxmlformats.org/drawingml/2006/table">
            <a:tbl>
              <a:tblPr firstRow="1">
                <a:tableStyleId>{5DA37D80-6434-44D0-A028-1B22A696006F}</a:tableStyleId>
              </a:tblPr>
              <a:tblGrid>
                <a:gridCol w="2827421">
                  <a:extLst>
                    <a:ext uri="{9D8B030D-6E8A-4147-A177-3AD203B41FA5}">
                      <a16:colId xmlns:a16="http://schemas.microsoft.com/office/drawing/2014/main" val="1112833351"/>
                    </a:ext>
                  </a:extLst>
                </a:gridCol>
                <a:gridCol w="1588537">
                  <a:extLst>
                    <a:ext uri="{9D8B030D-6E8A-4147-A177-3AD203B41FA5}">
                      <a16:colId xmlns:a16="http://schemas.microsoft.com/office/drawing/2014/main" val="2081346831"/>
                    </a:ext>
                  </a:extLst>
                </a:gridCol>
                <a:gridCol w="1482336">
                  <a:extLst>
                    <a:ext uri="{9D8B030D-6E8A-4147-A177-3AD203B41FA5}">
                      <a16:colId xmlns:a16="http://schemas.microsoft.com/office/drawing/2014/main" val="451996296"/>
                    </a:ext>
                  </a:extLst>
                </a:gridCol>
                <a:gridCol w="970653">
                  <a:extLst>
                    <a:ext uri="{9D8B030D-6E8A-4147-A177-3AD203B41FA5}">
                      <a16:colId xmlns:a16="http://schemas.microsoft.com/office/drawing/2014/main" val="2116949183"/>
                    </a:ext>
                  </a:extLst>
                </a:gridCol>
              </a:tblGrid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Segoe UI Variable Display Semib" pitchFamily="2" charset="0"/>
                        </a:rPr>
                        <a:t>Category</a:t>
                      </a:r>
                      <a:r>
                        <a:rPr lang="en-US" sz="1400" b="0">
                          <a:effectLst/>
                          <a:latin typeface="Segoe UI Variable Display Semib" pitchFamily="2" charset="0"/>
                        </a:rPr>
                        <a:t> </a:t>
                      </a:r>
                      <a:endParaRPr lang="en-US" sz="1400" b="0" i="0">
                        <a:effectLst/>
                        <a:latin typeface="Segoe UI Variable Display Semib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Segoe UI Variable Display Semib" pitchFamily="2" charset="0"/>
                        </a:rPr>
                        <a:t>Search API</a:t>
                      </a:r>
                      <a:r>
                        <a:rPr lang="en-US" sz="1400" b="0">
                          <a:effectLst/>
                          <a:latin typeface="Segoe UI Variable Display Semib" pitchFamily="2" charset="0"/>
                        </a:rPr>
                        <a:t> </a:t>
                      </a:r>
                      <a:endParaRPr lang="en-US" sz="1400" b="0" i="0">
                        <a:effectLst/>
                        <a:latin typeface="Segoe UI Variable Display Semib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Segoe UI Variable Display Semib" pitchFamily="2" charset="0"/>
                        </a:rPr>
                        <a:t>Agentic retrieval API</a:t>
                      </a:r>
                      <a:r>
                        <a:rPr lang="en-US" sz="1400" b="0">
                          <a:effectLst/>
                          <a:latin typeface="Segoe UI Variable Display Semib" pitchFamily="2" charset="0"/>
                        </a:rPr>
                        <a:t> </a:t>
                      </a:r>
                      <a:endParaRPr lang="en-US" sz="1400" b="0" i="0">
                        <a:effectLst/>
                        <a:latin typeface="Segoe UI Variable Display Semib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Segoe UI Variable Display Semib" pitchFamily="2" charset="0"/>
                        </a:rPr>
                        <a:t>Delta</a:t>
                      </a:r>
                      <a:r>
                        <a:rPr lang="en-US" sz="1400" b="0">
                          <a:effectLst/>
                          <a:latin typeface="Segoe UI Variable Display Semib" pitchFamily="2" charset="0"/>
                        </a:rPr>
                        <a:t> </a:t>
                      </a:r>
                      <a:endParaRPr lang="en-US" sz="1400" b="0" i="0">
                        <a:effectLst/>
                        <a:latin typeface="Segoe UI Variable Display Semib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9207864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hotpot-qa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39.10 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63.74 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24.64 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138186"/>
                  </a:ext>
                </a:extLst>
              </a:tr>
              <a:tr h="44616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keywords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44.40 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45.10 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0.70 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1763127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keywords-misspelling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33.92 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39.32 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5.40 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562174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misspelling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36.43 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53.05 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16.62 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015189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morehop-qa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39.47 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46.33 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6.86 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59718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multihop-rag-comparison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45.52 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65.41 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19.89 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848407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multihop-rag-inferential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54.16 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73.08 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18.92 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37080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multihop-rag-temporal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35.12 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59.96 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24.84 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54797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multihop_triplet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38.73 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43.51 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4.78 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>
                        <a:alpha val="4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145416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table_querygen-4.4-o3-mini.yaml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58.69 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64.92 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6.23 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>
                        <a:alpha val="4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742353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table_querygen-4.5-o1.yaml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68.54 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68.07 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-0.48 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1085065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table_querygen-4.6-o1.yaml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55.19 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50.57 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-4.62 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149440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twiki-multihop-qa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44.31 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60.72 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16.41 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36230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twiki-multihop-qa-dg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39.25 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66.76 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27.51 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740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vqa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73.40 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72.89 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-0.51 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893301"/>
                  </a:ext>
                </a:extLst>
              </a:tr>
              <a:tr h="3343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vqa_page_figure 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cs typeface="Segoe UI Semibold" panose="020B0702040204020203" pitchFamily="34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35.12 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40.32 </a:t>
                      </a:r>
                      <a:endParaRPr lang="en-US" sz="1200" b="0" i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Segoe UI Variable Display" pitchFamily="2" charset="0"/>
                        </a:rPr>
                        <a:t>5.20 </a:t>
                      </a:r>
                      <a:endParaRPr lang="en-US" sz="1200" b="0" i="0" dirty="0">
                        <a:effectLst/>
                        <a:latin typeface="Segoe UI Variable Display" pitchFamily="2" charset="0"/>
                      </a:endParaRPr>
                    </a:p>
                  </a:txBody>
                  <a:tcPr marL="46783" marR="46783" marT="23391" marB="2339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5ED">
                        <a:alpha val="4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429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83973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6140-97EB-09D4-4906-4525EE8E9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2426958"/>
            <a:ext cx="3357395" cy="923330"/>
          </a:xfrm>
        </p:spPr>
        <p:txBody>
          <a:bodyPr/>
          <a:lstStyle/>
          <a:p>
            <a:r>
              <a:rPr lang="en-US" sz="2000">
                <a:latin typeface="Segoe UI Variable Display Semib" pitchFamily="2" charset="0"/>
              </a:rPr>
              <a:t>Agentic retrieval evals</a:t>
            </a:r>
            <a:br>
              <a:rPr lang="en-US" sz="3200">
                <a:latin typeface="Segoe UI Variable Display Semib" pitchFamily="2" charset="0"/>
              </a:rPr>
            </a:br>
            <a:r>
              <a:rPr lang="en-US" sz="4000" err="1">
                <a:latin typeface="Segoe UI Variable Display Semib" pitchFamily="2" charset="0"/>
              </a:rPr>
              <a:t>Groundedness</a:t>
            </a:r>
            <a:endParaRPr lang="en-US" sz="4000">
              <a:latin typeface="Segoe UI Variable Display Semib" pitchFamily="2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44459A3-C85C-33B8-F4A6-8BFDC9705EA9}"/>
              </a:ext>
            </a:extLst>
          </p:cNvPr>
          <p:cNvSpPr txBox="1">
            <a:spLocks/>
          </p:cNvSpPr>
          <p:nvPr/>
        </p:nvSpPr>
        <p:spPr>
          <a:xfrm>
            <a:off x="588963" y="3745570"/>
            <a:ext cx="3032542" cy="1261884"/>
          </a:xfrm>
          <a:prstGeom prst="rect">
            <a:avLst/>
          </a:prstGeom>
        </p:spPr>
        <p:txBody>
          <a:bodyPr lIns="0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37" fontAlgn="base">
              <a:spcBef>
                <a:spcPts val="600"/>
              </a:spcBef>
              <a:buNone/>
              <a:tabLst>
                <a:tab pos="1371655" algn="l"/>
              </a:tabLst>
              <a:defRPr/>
            </a:pPr>
            <a:r>
              <a:rPr lang="en-US" sz="2000">
                <a:ln w="3175">
                  <a:noFill/>
                </a:ln>
                <a:solidFill>
                  <a:srgbClr val="152237"/>
                </a:solidFill>
                <a:latin typeface="Segoe UI Variable Display Semib" pitchFamily="2" charset="0"/>
              </a:rPr>
              <a:t>As expected: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>
                <a:latin typeface="Segoe UI Variable Display Semib" pitchFamily="2" charset="0"/>
              </a:rPr>
              <a:t>Agentic retrieval does not negatively impact </a:t>
            </a:r>
            <a:r>
              <a:rPr lang="en-US" sz="2000" err="1">
                <a:latin typeface="Segoe UI Variable Display Semib" pitchFamily="2" charset="0"/>
              </a:rPr>
              <a:t>groundedness</a:t>
            </a:r>
            <a:r>
              <a:rPr lang="en-US" sz="2000">
                <a:latin typeface="Segoe UI Variable Display Semib" pitchFamily="2" charset="0"/>
              </a:rPr>
              <a:t> in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A2327E-A3CC-1112-E86E-BC6207C1C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628294"/>
              </p:ext>
            </p:extLst>
          </p:nvPr>
        </p:nvGraphicFramePr>
        <p:xfrm>
          <a:off x="5005137" y="585788"/>
          <a:ext cx="6597899" cy="5679835"/>
        </p:xfrm>
        <a:graphic>
          <a:graphicData uri="http://schemas.openxmlformats.org/drawingml/2006/table">
            <a:tbl>
              <a:tblPr firstRow="1">
                <a:tableStyleId>{5DA37D80-6434-44D0-A028-1B22A696006F}</a:tableStyleId>
              </a:tblPr>
              <a:tblGrid>
                <a:gridCol w="1780674">
                  <a:extLst>
                    <a:ext uri="{9D8B030D-6E8A-4147-A177-3AD203B41FA5}">
                      <a16:colId xmlns:a16="http://schemas.microsoft.com/office/drawing/2014/main" val="509071304"/>
                    </a:ext>
                  </a:extLst>
                </a:gridCol>
                <a:gridCol w="1152686">
                  <a:extLst>
                    <a:ext uri="{9D8B030D-6E8A-4147-A177-3AD203B41FA5}">
                      <a16:colId xmlns:a16="http://schemas.microsoft.com/office/drawing/2014/main" val="540519725"/>
                    </a:ext>
                  </a:extLst>
                </a:gridCol>
                <a:gridCol w="1221513">
                  <a:extLst>
                    <a:ext uri="{9D8B030D-6E8A-4147-A177-3AD203B41FA5}">
                      <a16:colId xmlns:a16="http://schemas.microsoft.com/office/drawing/2014/main" val="1801350078"/>
                    </a:ext>
                  </a:extLst>
                </a:gridCol>
                <a:gridCol w="1221513">
                  <a:extLst>
                    <a:ext uri="{9D8B030D-6E8A-4147-A177-3AD203B41FA5}">
                      <a16:colId xmlns:a16="http://schemas.microsoft.com/office/drawing/2014/main" val="1639037347"/>
                    </a:ext>
                  </a:extLst>
                </a:gridCol>
                <a:gridCol w="1221513">
                  <a:extLst>
                    <a:ext uri="{9D8B030D-6E8A-4147-A177-3AD203B41FA5}">
                      <a16:colId xmlns:a16="http://schemas.microsoft.com/office/drawing/2014/main" val="1958443399"/>
                    </a:ext>
                  </a:extLst>
                </a:gridCol>
              </a:tblGrid>
              <a:tr h="61485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Segoe UI Variable Display Semib" pitchFamily="2" charset="0"/>
                        </a:rPr>
                        <a:t>Query Type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Segoe UI Variable Display Semib" pitchFamily="2" charset="0"/>
                        </a:rPr>
                        <a:t>Dataset 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Segoe UI Variable Display Semib" pitchFamily="2" charset="0"/>
                        </a:rPr>
                        <a:t>Search API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Segoe UI Variable Display Semib" pitchFamily="2" charset="0"/>
                        </a:rPr>
                        <a:t>Agentic </a:t>
                      </a:r>
                      <a:br>
                        <a:rPr lang="en-US" sz="1400" b="1">
                          <a:effectLst/>
                          <a:latin typeface="Segoe UI Variable Display Semib" pitchFamily="2" charset="0"/>
                        </a:rPr>
                      </a:br>
                      <a:r>
                        <a:rPr lang="en-US" sz="1400" b="1">
                          <a:effectLst/>
                          <a:latin typeface="Segoe UI Variable Display Semib" pitchFamily="2" charset="0"/>
                        </a:rPr>
                        <a:t>Retrieval API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Segoe UI Variable Display Semib" pitchFamily="2" charset="0"/>
                        </a:rPr>
                        <a:t>Delta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934463"/>
                  </a:ext>
                </a:extLst>
              </a:tr>
              <a:tr h="316561">
                <a:tc rowSpan="7"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Classical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ea typeface="MS Mincho" panose="02020609040205080304" pitchFamily="49" charset="-128"/>
                        <a:cs typeface="Segoe UI Semibold" panose="020B07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MIML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83.58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83.52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-0.06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95012187"/>
                  </a:ext>
                </a:extLst>
              </a:tr>
              <a:tr h="31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Support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76.72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76.68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-0.03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63387691"/>
                  </a:ext>
                </a:extLst>
              </a:tr>
              <a:tr h="31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Content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83.01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81.85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-1.17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91057587"/>
                  </a:ext>
                </a:extLst>
              </a:tr>
              <a:tr h="31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DAYI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84.12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83.00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-1.12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37172216"/>
                  </a:ext>
                </a:extLst>
              </a:tr>
              <a:tr h="31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FDA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85.26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85.69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0.43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04990037"/>
                  </a:ext>
                </a:extLst>
              </a:tr>
              <a:tr h="31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Arxiv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72.05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73.05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1.00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33277085"/>
                  </a:ext>
                </a:extLst>
              </a:tr>
              <a:tr h="31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0">
                          <a:effectLst/>
                          <a:latin typeface="Segoe UI Variable Display" pitchFamily="2" charset="0"/>
                        </a:rPr>
                        <a:t>AVG Classical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0">
                          <a:effectLst/>
                          <a:latin typeface="Segoe UI Variable Display" pitchFamily="2" charset="0"/>
                        </a:rPr>
                        <a:t>80.79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0">
                          <a:effectLst/>
                          <a:latin typeface="Segoe UI Variable Display" pitchFamily="2" charset="0"/>
                        </a:rPr>
                        <a:t>80.63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0">
                          <a:effectLst/>
                          <a:latin typeface="Segoe UI Variable Display" pitchFamily="2" charset="0"/>
                        </a:rPr>
                        <a:t>-0.16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0555550"/>
                  </a:ext>
                </a:extLst>
              </a:tr>
              <a:tr h="316561">
                <a:tc rowSpan="7"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Complex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ea typeface="MS Mincho" panose="02020609040205080304" pitchFamily="49" charset="-128"/>
                        <a:cs typeface="Segoe UI Semibold" panose="020B07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MIML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72.82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73.49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0.67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19890337"/>
                  </a:ext>
                </a:extLst>
              </a:tr>
              <a:tr h="31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Support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76.38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76.21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-0.18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8763737"/>
                  </a:ext>
                </a:extLst>
              </a:tr>
              <a:tr h="31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Content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72.75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74.10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1.35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51654455"/>
                  </a:ext>
                </a:extLst>
              </a:tr>
              <a:tr h="31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DAYI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74.21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73.85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-0.35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42117798"/>
                  </a:ext>
                </a:extLst>
              </a:tr>
              <a:tr h="31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FDA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78.22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78.34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0.12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866920627"/>
                  </a:ext>
                </a:extLst>
              </a:tr>
              <a:tr h="31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Arxiv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70.92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71.00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0.07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29089806"/>
                  </a:ext>
                </a:extLst>
              </a:tr>
              <a:tr h="316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0">
                          <a:effectLst/>
                          <a:latin typeface="Segoe UI Variable Display" pitchFamily="2" charset="0"/>
                        </a:rPr>
                        <a:t>AVG Complex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0">
                          <a:effectLst/>
                          <a:latin typeface="Segoe UI Variable Display" pitchFamily="2" charset="0"/>
                        </a:rPr>
                        <a:t>74.22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0">
                          <a:effectLst/>
                          <a:latin typeface="Segoe UI Variable Display" pitchFamily="2" charset="0"/>
                        </a:rPr>
                        <a:t>74.50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0">
                          <a:effectLst/>
                          <a:latin typeface="Segoe UI Variable Display" pitchFamily="2" charset="0"/>
                        </a:rPr>
                        <a:t>0.28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99743996"/>
                  </a:ext>
                </a:extLst>
              </a:tr>
              <a:tr h="3165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Conversational</a:t>
                      </a:r>
                      <a:endParaRPr lang="en-US" sz="1400" b="0" i="0">
                        <a:effectLst/>
                        <a:latin typeface="Segoe UI Variable Display Semib" pitchFamily="2" charset="0"/>
                        <a:ea typeface="MS Mincho" panose="02020609040205080304" pitchFamily="49" charset="-128"/>
                        <a:cs typeface="Segoe UI Semibold" panose="020B07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MT-RAG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81.63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82.56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  <a:latin typeface="Segoe UI Variable Display" pitchFamily="2" charset="0"/>
                        </a:rPr>
                        <a:t>0.93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43252506"/>
                  </a:ext>
                </a:extLst>
              </a:tr>
              <a:tr h="316561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lang="en-US" sz="1400" b="0" i="0">
                          <a:effectLst/>
                          <a:latin typeface="Segoe UI Variable Display Semib" pitchFamily="2" charset="0"/>
                          <a:cs typeface="Segoe UI Semibold" panose="020B0702040204020203" pitchFamily="34" charset="0"/>
                        </a:rPr>
                        <a:t>Total</a:t>
                      </a: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>
                          <a:effectLst/>
                          <a:latin typeface="Segoe UI Variable Display" pitchFamily="2" charset="0"/>
                        </a:rPr>
                        <a:t>AVG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R="28653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>
                          <a:effectLst/>
                          <a:latin typeface="Segoe UI Variable Display" pitchFamily="2" charset="0"/>
                        </a:rPr>
                        <a:t>77.82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>
                          <a:effectLst/>
                          <a:latin typeface="Segoe UI Variable Display" pitchFamily="2" charset="0"/>
                        </a:rPr>
                        <a:t>77.95</a:t>
                      </a:r>
                      <a:endParaRPr lang="en-US" sz="1200" b="0" i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i="1" dirty="0">
                          <a:effectLst/>
                          <a:latin typeface="Segoe UI Variable Display" pitchFamily="2" charset="0"/>
                        </a:rPr>
                        <a:t>0.13</a:t>
                      </a:r>
                      <a:endParaRPr lang="en-US" sz="1200" b="0" i="0" dirty="0">
                        <a:effectLst/>
                        <a:latin typeface="Segoe UI Variable Display" pitchFamily="2" charset="0"/>
                        <a:ea typeface="MS Mincho" panose="02020609040205080304" pitchFamily="49" charset="-128"/>
                        <a:cs typeface="Segoe UI" panose="020B0502040204020203" pitchFamily="34" charset="0"/>
                      </a:endParaRPr>
                    </a:p>
                  </a:txBody>
                  <a:tcPr marL="0" marR="0" marT="3980" marB="39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80000">
                          <a:srgbClr val="2A446F">
                            <a:alpha val="10000"/>
                          </a:srgbClr>
                        </a:gs>
                        <a:gs pos="0">
                          <a:srgbClr val="73262F">
                            <a:alpha val="10000"/>
                          </a:srgb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10855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64079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81519-B31C-1202-E501-4ED118EA5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CDFF105-9738-445C-0383-E565DD5B8FE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5787" y="2382560"/>
            <a:ext cx="10585795" cy="209288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</a:rPr>
              <a:t>Data pipeline</a:t>
            </a:r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</a:rPr>
              <a:t>Ad-hoc chunking &amp; embedding </a:t>
            </a:r>
            <a:r>
              <a:rPr kumimoji="0" lang="en-US" sz="5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  <a:sym typeface="Wingdings" panose="05000000000000000000" pitchFamily="2" charset="2"/>
              </a:rPr>
              <a:t> </a:t>
            </a:r>
            <a:br>
              <a:rPr kumimoji="0" lang="en-US" sz="5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  <a:sym typeface="Wingdings" panose="05000000000000000000" pitchFamily="2" charset="2"/>
              </a:rPr>
            </a:br>
            <a:r>
              <a:rPr kumimoji="0" lang="en-US" sz="5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  <a:sym typeface="Wingdings" panose="05000000000000000000" pitchFamily="2" charset="2"/>
              </a:rPr>
              <a:t>RAG-specific data acquisition</a:t>
            </a:r>
            <a:endParaRPr kumimoji="0" lang="en-US" sz="5400" b="0" i="0" u="none" strike="noStrike" kern="1200" cap="none" spc="-50" normalizeH="0" baseline="0" noProof="0">
              <a:ln w="3175">
                <a:noFill/>
              </a:ln>
              <a:solidFill>
                <a:srgbClr val="FAE4A2"/>
              </a:solidFill>
              <a:effectLst/>
              <a:uLnTx/>
              <a:uFillTx/>
              <a:latin typeface="Segoe UI Variable Display Semi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13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54A5-C274-9F72-16D2-F116F250C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615553"/>
          </a:xfrm>
        </p:spPr>
        <p:txBody>
          <a:bodyPr/>
          <a:lstStyle/>
          <a:p>
            <a:pPr algn="ctr"/>
            <a:r>
              <a:rPr lang="en-US" sz="4000">
                <a:latin typeface="Segoe UI Variable Display Semib" pitchFamily="2" charset="0"/>
              </a:rPr>
              <a:t>Real Business Content is Complicated</a:t>
            </a:r>
          </a:p>
        </p:txBody>
      </p:sp>
      <p:sp>
        <p:nvSpPr>
          <p:cNvPr id="10" name="Rounded Rectangle 64">
            <a:extLst>
              <a:ext uri="{FF2B5EF4-FFF2-40B4-BE49-F238E27FC236}">
                <a16:creationId xmlns:a16="http://schemas.microsoft.com/office/drawing/2014/main" id="{9CE58A1D-96BE-697F-F7B1-A847F53A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05732" y="1441194"/>
            <a:ext cx="10580536" cy="1108934"/>
          </a:xfrm>
          <a:prstGeom prst="roundRect">
            <a:avLst>
              <a:gd name="adj" fmla="val 14628"/>
            </a:avLst>
          </a:prstGeom>
          <a:noFill/>
          <a:ln w="12700" cap="rnd">
            <a:solidFill>
              <a:schemeClr val="tx1">
                <a:alpha val="60000"/>
              </a:schemeClr>
            </a:solidFill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11684">
              <a:spcBef>
                <a:spcPts val="174"/>
              </a:spcBef>
            </a:pPr>
            <a:endParaRPr lang="en-US" sz="2170" b="1"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latin typeface="Segoe UI Variable Display Semib" pitchFamily="2" charset="0"/>
              <a:cs typeface="Segoe Sans Display Semibold" pitchFamily="2" charset="0"/>
            </a:endParaRPr>
          </a:p>
        </p:txBody>
      </p:sp>
      <p:sp useBgFill="1">
        <p:nvSpPr>
          <p:cNvPr id="11" name="Title 1">
            <a:extLst>
              <a:ext uri="{FF2B5EF4-FFF2-40B4-BE49-F238E27FC236}">
                <a16:creationId xmlns:a16="http://schemas.microsoft.com/office/drawing/2014/main" id="{9E80169A-795A-B5ED-4328-6810A7FF112E}"/>
              </a:ext>
            </a:extLst>
          </p:cNvPr>
          <p:cNvSpPr txBox="1">
            <a:spLocks/>
          </p:cNvSpPr>
          <p:nvPr/>
        </p:nvSpPr>
        <p:spPr>
          <a:xfrm>
            <a:off x="3548741" y="1261659"/>
            <a:ext cx="5094516" cy="307777"/>
          </a:xfrm>
          <a:prstGeom prst="rect">
            <a:avLst/>
          </a:prstGeom>
          <a:ln w="15875" cap="rnd">
            <a:noFill/>
            <a:headEnd type="none" w="lg" len="med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367" fontAlgn="base">
              <a:spcBef>
                <a:spcPct val="0"/>
              </a:spcBef>
              <a:spcAft>
                <a:spcPct val="0"/>
              </a:spcAft>
              <a:defRPr sz="2400" b="1">
                <a:ln w="3175">
                  <a:noFill/>
                </a:ln>
                <a:gradFill flip="none" rotWithShape="1">
                  <a:gsLst>
                    <a:gs pos="93706">
                      <a:srgbClr val="FFFFFF"/>
                    </a:gs>
                    <a:gs pos="80000">
                      <a:srgbClr val="FFFFF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" pitchFamily="2" charset="0"/>
              </a:defRPr>
            </a:lvl1pPr>
          </a:lstStyle>
          <a:p>
            <a:pPr defTabSz="342888">
              <a:defRPr/>
            </a:pPr>
            <a:r>
              <a:rPr lang="en-US" sz="2000" b="0">
                <a:gradFill>
                  <a:gsLst>
                    <a:gs pos="25688">
                      <a:schemeClr val="tx1"/>
                    </a:gs>
                    <a:gs pos="63000">
                      <a:schemeClr val="tx1"/>
                    </a:gs>
                  </a:gsLst>
                  <a:path path="circle">
                    <a:fillToRect l="100000" t="100000"/>
                  </a:path>
                </a:gradFill>
                <a:cs typeface="Segoe Sans Display Semibold" pitchFamily="2" charset="0"/>
              </a:rPr>
              <a:t>Far from just “chunk, vectorize, and index”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04161D-BA94-4A37-4BEA-A60A95AF5701}"/>
              </a:ext>
            </a:extLst>
          </p:cNvPr>
          <p:cNvSpPr txBox="1"/>
          <p:nvPr/>
        </p:nvSpPr>
        <p:spPr>
          <a:xfrm>
            <a:off x="1041715" y="1761018"/>
            <a:ext cx="3010250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6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rPr>
              <a:t>How do you handle content across media types?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BEB885-FE1F-29D7-0A08-86ABC2DCCF42}"/>
              </a:ext>
            </a:extLst>
          </p:cNvPr>
          <p:cNvSpPr txBox="1"/>
          <p:nvPr/>
        </p:nvSpPr>
        <p:spPr>
          <a:xfrm>
            <a:off x="4590875" y="1761018"/>
            <a:ext cx="3010250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6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rPr>
              <a:t>What’s the most effective representation for retrieval?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59C264-E194-C625-6F9E-4117FD26C53A}"/>
              </a:ext>
            </a:extLst>
          </p:cNvPr>
          <p:cNvSpPr txBox="1"/>
          <p:nvPr/>
        </p:nvSpPr>
        <p:spPr>
          <a:xfrm>
            <a:off x="8140035" y="1761018"/>
            <a:ext cx="3010250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600">
                <a:gradFill>
                  <a:gsLst>
                    <a:gs pos="10000">
                      <a:srgbClr val="000000"/>
                    </a:gs>
                    <a:gs pos="34000">
                      <a:srgbClr val="000000"/>
                    </a:gs>
                  </a:gsLst>
                  <a:lin ang="10800000" scaled="1"/>
                </a:gradFill>
                <a:latin typeface="Segoe UI Variable Display Semib" pitchFamily="2" charset="0"/>
              </a:rPr>
              <a:t>How do you render grounding information in your app?</a:t>
            </a:r>
          </a:p>
        </p:txBody>
      </p:sp>
      <p:pic>
        <p:nvPicPr>
          <p:cNvPr id="7" name="Picture 6" descr="A group of papers with text">
            <a:extLst>
              <a:ext uri="{FF2B5EF4-FFF2-40B4-BE49-F238E27FC236}">
                <a16:creationId xmlns:a16="http://schemas.microsoft.com/office/drawing/2014/main" id="{586F33D5-A70E-7ED2-B5C0-AAD0151EDE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1" t="10994" r="122" b="17685"/>
          <a:stretch>
            <a:fillRect/>
          </a:stretch>
        </p:blipFill>
        <p:spPr>
          <a:xfrm>
            <a:off x="1765190" y="2741709"/>
            <a:ext cx="8651019" cy="3232830"/>
          </a:xfrm>
          <a:prstGeom prst="roundRect">
            <a:avLst>
              <a:gd name="adj" fmla="val 6583"/>
            </a:avLst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34F6FF-9146-6C32-47F2-16ECAC71383B}"/>
              </a:ext>
            </a:extLst>
          </p:cNvPr>
          <p:cNvSpPr txBox="1"/>
          <p:nvPr/>
        </p:nvSpPr>
        <p:spPr>
          <a:xfrm>
            <a:off x="3078346" y="6133523"/>
            <a:ext cx="603530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latin typeface="Segoe UI Variable Display" pitchFamily="2" charset="0"/>
              </a:rPr>
              <a:t>Source: </a:t>
            </a:r>
            <a:r>
              <a:rPr lang="fr-FR" sz="1000">
                <a:latin typeface="Segoe UI Variable Display" pitchFamily="2" charset="0"/>
              </a:rPr>
              <a:t>Vision Document </a:t>
            </a:r>
            <a:r>
              <a:rPr lang="fr-FR" sz="1000" err="1">
                <a:latin typeface="Segoe UI Variable Display" pitchFamily="2" charset="0"/>
              </a:rPr>
              <a:t>Retrieval</a:t>
            </a:r>
            <a:r>
              <a:rPr lang="fr-FR" sz="1000">
                <a:latin typeface="Segoe UI Variable Display" pitchFamily="2" charset="0"/>
              </a:rPr>
              <a:t> (</a:t>
            </a:r>
            <a:r>
              <a:rPr lang="fr-FR" sz="1000" err="1">
                <a:latin typeface="Segoe UI Variable Display" pitchFamily="2" charset="0"/>
              </a:rPr>
              <a:t>ViDoRe</a:t>
            </a:r>
            <a:r>
              <a:rPr lang="fr-FR" sz="1000">
                <a:latin typeface="Segoe UI Variable Display" pitchFamily="2" charset="0"/>
              </a:rPr>
              <a:t>): Benchmarks, https://github.com/illuin-tech/vidore-benchmark</a:t>
            </a:r>
            <a:endParaRPr lang="en-US" sz="1000">
              <a:latin typeface="Segoe UI Variable Display" pitchFamily="2" charset="0"/>
            </a:endParaRPr>
          </a:p>
        </p:txBody>
      </p:sp>
      <p:cxnSp>
        <p:nvCxnSpPr>
          <p:cNvPr id="13" name="!!Straight Connector 49">
            <a:extLst>
              <a:ext uri="{FF2B5EF4-FFF2-40B4-BE49-F238E27FC236}">
                <a16:creationId xmlns:a16="http://schemas.microsoft.com/office/drawing/2014/main" id="{C493DF97-5EB7-E982-EC8D-F7F25AE13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21420" y="1737240"/>
            <a:ext cx="0" cy="540000"/>
          </a:xfrm>
          <a:prstGeom prst="line">
            <a:avLst/>
          </a:prstGeom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!!Straight Connector 49">
            <a:extLst>
              <a:ext uri="{FF2B5EF4-FFF2-40B4-BE49-F238E27FC236}">
                <a16:creationId xmlns:a16="http://schemas.microsoft.com/office/drawing/2014/main" id="{7595A36B-2B98-1AA4-C06B-E7468F40A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70580" y="1737240"/>
            <a:ext cx="0" cy="540000"/>
          </a:xfrm>
          <a:prstGeom prst="line">
            <a:avLst/>
          </a:prstGeom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73513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BB957-20A8-AE48-B844-74DD73D6A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FA4D-9708-0954-8890-371B4EF5D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457200"/>
            <a:ext cx="5455720" cy="1102866"/>
          </a:xfrm>
        </p:spPr>
        <p:txBody>
          <a:bodyPr/>
          <a:lstStyle/>
          <a:p>
            <a:pPr>
              <a:lnSpc>
                <a:spcPts val="4300"/>
              </a:lnSpc>
            </a:pPr>
            <a:r>
              <a:rPr lang="en-US">
                <a:latin typeface="Segoe UI Variable Display Semib" pitchFamily="2" charset="0"/>
              </a:rPr>
              <a:t>Powering Multimodal </a:t>
            </a:r>
            <a:r>
              <a:rPr lang="en-US" sz="4000">
                <a:latin typeface="Segoe UI Variable Display Semib" pitchFamily="2" charset="0"/>
              </a:rPr>
              <a:t>Scenarios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3C29AA2-0BA0-8D1F-CA4C-D0402BBD0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18541" y="1916464"/>
            <a:ext cx="459882" cy="459882"/>
          </a:xfrm>
          <a:prstGeom prst="ellipse">
            <a:avLst/>
          </a:prstGeom>
          <a:solidFill>
            <a:srgbClr val="8DC8E8"/>
          </a:soli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latin typeface="+mj-lt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1B1F0D-45BF-2747-7B6A-75C612F3C584}"/>
              </a:ext>
            </a:extLst>
          </p:cNvPr>
          <p:cNvSpPr txBox="1"/>
          <p:nvPr/>
        </p:nvSpPr>
        <p:spPr>
          <a:xfrm>
            <a:off x="1254660" y="1991210"/>
            <a:ext cx="4923264" cy="630942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>
                <a:latin typeface="Segoe UI Variable Display Semib" pitchFamily="2" charset="0"/>
              </a:rPr>
              <a:t>Verbalize images using a generative model</a:t>
            </a:r>
          </a:p>
          <a:p>
            <a:pPr indent="0" defTabSz="914437" fontAlgn="base">
              <a:spcBef>
                <a:spcPts val="600"/>
              </a:spcBef>
              <a:buNone/>
              <a:tabLst>
                <a:tab pos="1371655" algn="l"/>
              </a:tabLst>
              <a:defRPr/>
            </a:pPr>
            <a:r>
              <a:rPr lang="en-US" sz="1600">
                <a:ln w="3175">
                  <a:noFill/>
                </a:ln>
                <a:latin typeface="Segoe UI Variable Display Semib" pitchFamily="2" charset="0"/>
                <a:cs typeface="Segoe UI" pitchFamily="34" charset="0"/>
                <a:sym typeface="Wingdings" panose="05000000000000000000" pitchFamily="2" charset="2"/>
              </a:rPr>
              <a:t> </a:t>
            </a:r>
            <a:r>
              <a:rPr lang="en-US" sz="1600">
                <a:ln w="3175">
                  <a:noFill/>
                </a:ln>
                <a:latin typeface="Segoe UI Variable Display Semib" pitchFamily="2" charset="0"/>
                <a:cs typeface="Segoe UI" pitchFamily="34" charset="0"/>
              </a:rPr>
              <a:t>New GenAI Prompt Skill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02B77F7-8123-D6EB-886D-D7C30AB47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18541" y="2975482"/>
            <a:ext cx="459882" cy="459882"/>
          </a:xfrm>
          <a:prstGeom prst="ellipse">
            <a:avLst/>
          </a:prstGeom>
          <a:solidFill>
            <a:srgbClr val="FFB3BB"/>
          </a:soli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latin typeface="+mj-lt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8CB123-A2A0-3B1C-A386-3D05273C795C}"/>
              </a:ext>
            </a:extLst>
          </p:cNvPr>
          <p:cNvSpPr txBox="1"/>
          <p:nvPr/>
        </p:nvSpPr>
        <p:spPr>
          <a:xfrm>
            <a:off x="1254659" y="3046156"/>
            <a:ext cx="5297215" cy="630942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>
                <a:latin typeface="Segoe UI Variable Display Semib" pitchFamily="2" charset="0"/>
              </a:rPr>
              <a:t>Extract images so they can be used in app UI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>
                <a:latin typeface="Segoe UI Variable Display Semib" pitchFamily="2" charset="0"/>
                <a:sym typeface="Wingdings" panose="05000000000000000000" pitchFamily="2" charset="2"/>
              </a:rPr>
              <a:t> </a:t>
            </a:r>
            <a:r>
              <a:rPr lang="en-US" sz="1600">
                <a:latin typeface="Segoe UI Variable Display Semib" pitchFamily="2" charset="0"/>
              </a:rPr>
              <a:t>Knowledge store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B3F3C8-E9B9-6E7C-AF35-BF87D536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18541" y="4018598"/>
            <a:ext cx="459882" cy="459882"/>
          </a:xfrm>
          <a:prstGeom prst="ellipse">
            <a:avLst/>
          </a:prstGeom>
          <a:solidFill>
            <a:srgbClr val="2A446F"/>
          </a:soli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A25D69-EB6C-724A-EEF2-F1E5D1DF7D5B}"/>
              </a:ext>
            </a:extLst>
          </p:cNvPr>
          <p:cNvSpPr txBox="1"/>
          <p:nvPr/>
        </p:nvSpPr>
        <p:spPr>
          <a:xfrm>
            <a:off x="1254660" y="4085713"/>
            <a:ext cx="4923264" cy="630942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>
                <a:latin typeface="Segoe UI Variable Display Semib" pitchFamily="2" charset="0"/>
              </a:rPr>
              <a:t>Extract and propagate layout information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>
                <a:latin typeface="Segoe UI Variable Display Semib" pitchFamily="2" charset="0"/>
                <a:sym typeface="Wingdings" panose="05000000000000000000" pitchFamily="2" charset="2"/>
              </a:rPr>
              <a:t> </a:t>
            </a:r>
            <a:r>
              <a:rPr lang="en-US" sz="1600">
                <a:latin typeface="Segoe UI Variable Display Semib" pitchFamily="2" charset="0"/>
              </a:rPr>
              <a:t>Azure Document Intelligence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5F79B6-358E-15DA-1F04-DB91AB9AD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18541" y="5068625"/>
            <a:ext cx="459882" cy="459882"/>
          </a:xfrm>
          <a:prstGeom prst="ellipse">
            <a:avLst/>
          </a:prstGeom>
          <a:solidFill>
            <a:srgbClr val="73262F"/>
          </a:soli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8168747-581B-2DEE-7F6B-70EC4FC4EBA1}"/>
              </a:ext>
            </a:extLst>
          </p:cNvPr>
          <p:cNvSpPr txBox="1">
            <a:spLocks/>
          </p:cNvSpPr>
          <p:nvPr/>
        </p:nvSpPr>
        <p:spPr>
          <a:xfrm>
            <a:off x="1254660" y="5125269"/>
            <a:ext cx="5297215" cy="63094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67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sz="2000">
                <a:latin typeface="Segoe UI Variable Display Semib" pitchFamily="2" charset="0"/>
                <a:cs typeface="+mn-cs"/>
              </a:rPr>
              <a:t>More options for chunking long text</a:t>
            </a:r>
          </a:p>
          <a:p>
            <a:pPr marL="0" indent="0" defTabSz="914367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sz="1600">
                <a:latin typeface="Segoe UI Variable Display Semib" pitchFamily="2" charset="0"/>
                <a:cs typeface="+mn-cs"/>
                <a:sym typeface="Wingdings" panose="05000000000000000000" pitchFamily="2" charset="2"/>
              </a:rPr>
              <a:t> </a:t>
            </a:r>
            <a:r>
              <a:rPr lang="en-US" sz="1600">
                <a:latin typeface="Segoe UI Variable Display Semib" pitchFamily="2" charset="0"/>
                <a:cs typeface="+mn-cs"/>
              </a:rPr>
              <a:t>Split skill improvements</a:t>
            </a:r>
          </a:p>
        </p:txBody>
      </p:sp>
      <p:pic>
        <p:nvPicPr>
          <p:cNvPr id="49" name="Picture 48" descr="A close-up of a document">
            <a:extLst>
              <a:ext uri="{FF2B5EF4-FFF2-40B4-BE49-F238E27FC236}">
                <a16:creationId xmlns:a16="http://schemas.microsoft.com/office/drawing/2014/main" id="{88107A7B-A653-3866-8DB8-D114C3A64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062" y="585788"/>
            <a:ext cx="3999325" cy="5683250"/>
          </a:xfrm>
          <a:prstGeom prst="roundRect">
            <a:avLst>
              <a:gd name="adj" fmla="val 4539"/>
            </a:avLst>
          </a:prstGeom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5B670625-0951-7AE5-E4DD-691B21CF5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7379662" y="3926882"/>
            <a:ext cx="460800" cy="460800"/>
          </a:xfrm>
          <a:prstGeom prst="ellipse">
            <a:avLst/>
          </a:prstGeom>
          <a:solidFill>
            <a:srgbClr val="A9D5ED"/>
          </a:solidFill>
          <a:ln w="63897" cap="flat">
            <a:noFill/>
            <a:prstDash val="solid"/>
            <a:miter/>
          </a:ln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latin typeface="+mj-lt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794EB4A-12C7-39C4-B4E0-79249B6B3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9455204" y="4486255"/>
            <a:ext cx="460800" cy="460800"/>
          </a:xfrm>
          <a:prstGeom prst="ellipse">
            <a:avLst/>
          </a:prstGeom>
          <a:solidFill>
            <a:srgbClr val="FFB3BB"/>
          </a:solidFill>
          <a:ln w="63897" cap="flat">
            <a:noFill/>
            <a:prstDash val="solid"/>
            <a:miter/>
          </a:ln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latin typeface="+mj-lt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3E8BDA-0647-93CC-827D-E83D754FB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7379662" y="1208799"/>
            <a:ext cx="460800" cy="460800"/>
          </a:xfrm>
          <a:prstGeom prst="ellipse">
            <a:avLst/>
          </a:prstGeom>
          <a:solidFill>
            <a:srgbClr val="2A446F"/>
          </a:solidFill>
          <a:ln w="63897" cap="flat">
            <a:noFill/>
            <a:prstDash val="solid"/>
            <a:miter/>
          </a:ln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3F11C38-7E39-9B11-026B-2DE9B664F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1378987" y="5078624"/>
            <a:ext cx="460800" cy="460800"/>
          </a:xfrm>
          <a:prstGeom prst="ellipse">
            <a:avLst/>
          </a:prstGeom>
          <a:solidFill>
            <a:srgbClr val="73262F"/>
          </a:solidFill>
          <a:ln w="63897" cap="flat">
            <a:noFill/>
            <a:prstDash val="solid"/>
            <a:miter/>
          </a:ln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+mj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4031493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D0762-A257-0715-1D3D-F99680822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C05A-C077-CFBB-868E-D5BEBE714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1102866"/>
          </a:xfrm>
        </p:spPr>
        <p:txBody>
          <a:bodyPr/>
          <a:lstStyle/>
          <a:p>
            <a:pPr>
              <a:lnSpc>
                <a:spcPts val="4300"/>
              </a:lnSpc>
            </a:pPr>
            <a:r>
              <a:rPr lang="en-US">
                <a:latin typeface="Segoe UI Variable Display Semib" pitchFamily="2" charset="0"/>
              </a:rPr>
              <a:t>Flexible Data Ingestion:</a:t>
            </a:r>
            <a:br>
              <a:rPr lang="en-US">
                <a:latin typeface="Segoe UI Variable Display Semib" pitchFamily="2" charset="0"/>
              </a:rPr>
            </a:br>
            <a:r>
              <a:rPr lang="en-US">
                <a:latin typeface="Segoe UI Variable Display Semib" pitchFamily="2" charset="0"/>
              </a:rPr>
              <a:t>Logic Apps + Azure AI </a:t>
            </a:r>
            <a:r>
              <a:rPr lang="en-US" sz="4000">
                <a:latin typeface="Segoe UI Variable Display Semib" pitchFamily="2" charset="0"/>
              </a:rPr>
              <a:t>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5D3C9-2FD8-A250-6036-6F574E5B9998}"/>
              </a:ext>
            </a:extLst>
          </p:cNvPr>
          <p:cNvSpPr txBox="1"/>
          <p:nvPr/>
        </p:nvSpPr>
        <p:spPr>
          <a:xfrm>
            <a:off x="1051535" y="2336540"/>
            <a:ext cx="7553444" cy="969496"/>
          </a:xfrm>
          <a:prstGeom prst="rect">
            <a:avLst/>
          </a:prstGeom>
          <a:noFill/>
        </p:spPr>
        <p:txBody>
          <a:bodyPr wrap="square" lIns="0" rIns="0" anchor="ctr" anchorCtr="0">
            <a:spAutoFit/>
          </a:bodyPr>
          <a:lstStyle/>
          <a:p>
            <a:pPr lvl="0">
              <a:defRPr/>
            </a:pPr>
            <a:r>
              <a:rPr lang="en-US" sz="2000" b="1" spc="-50">
                <a:ln w="3175">
                  <a:noFill/>
                </a:ln>
                <a:solidFill>
                  <a:srgbClr val="2A446F"/>
                </a:solidFill>
                <a:latin typeface="Segoe UI Variable Display Semib" pitchFamily="2" charset="0"/>
                <a:cs typeface="Segoe UI" pitchFamily="34" charset="0"/>
              </a:rPr>
              <a:t>Broad variety of data sources</a:t>
            </a:r>
          </a:p>
          <a:p>
            <a:pPr marL="180000" lvl="0" indent="-180000" defTabSz="932742">
              <a:spcBef>
                <a:spcPts val="600"/>
              </a:spcBef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>
                <a:latin typeface="Segoe UI Variable Display Semib" pitchFamily="2" charset="0"/>
                <a:cs typeface="Segoe UI" panose="020B0502040204020203" pitchFamily="34" charset="0"/>
              </a:rPr>
              <a:t>Starting with a few, will expand quickly!</a:t>
            </a:r>
          </a:p>
          <a:p>
            <a:pPr marL="180000" lvl="0" indent="-180000" defTabSz="932742">
              <a:buSzPct val="90000"/>
              <a:buFont typeface="Arial" panose="020B0604020202020204" pitchFamily="34" charset="0"/>
              <a:buChar char="•"/>
              <a:defRPr/>
            </a:pPr>
            <a:r>
              <a:rPr lang="en-US" sz="1600">
                <a:latin typeface="Segoe UI Variable Display Semib" pitchFamily="2" charset="0"/>
                <a:cs typeface="Segoe UI" panose="020B0502040204020203" pitchFamily="34" charset="0"/>
              </a:rPr>
              <a:t>OneDrive, OneDrive for Business, SharePoint, Dropbox, and more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842F38-DFD9-CF9C-1F35-CC491FB36100}"/>
              </a:ext>
            </a:extLst>
          </p:cNvPr>
          <p:cNvSpPr txBox="1"/>
          <p:nvPr/>
        </p:nvSpPr>
        <p:spPr>
          <a:xfrm>
            <a:off x="1051535" y="3798440"/>
            <a:ext cx="7553444" cy="1215717"/>
          </a:xfrm>
          <a:prstGeom prst="rect">
            <a:avLst/>
          </a:prstGeom>
          <a:noFill/>
        </p:spPr>
        <p:txBody>
          <a:bodyPr wrap="square" lIns="0" rIns="0" anchor="ctr" anchorCtr="0">
            <a:spAutoFit/>
          </a:bodyPr>
          <a:lstStyle/>
          <a:p>
            <a:pPr>
              <a:defRPr/>
            </a:pPr>
            <a:r>
              <a:rPr lang="en-US" sz="2000" b="1" spc="-50">
                <a:ln w="3175">
                  <a:noFill/>
                </a:ln>
                <a:solidFill>
                  <a:srgbClr val="2A446F"/>
                </a:solidFill>
                <a:latin typeface="Segoe UI Variable Display Semib" pitchFamily="2" charset="0"/>
                <a:cs typeface="Segoe UI" pitchFamily="34" charset="0"/>
              </a:rPr>
              <a:t>Logic Apps rich set of capabilities</a:t>
            </a:r>
          </a:p>
          <a:p>
            <a:pPr marL="180000" indent="-180000" defTabSz="932742">
              <a:spcBef>
                <a:spcPts val="600"/>
              </a:spcBef>
              <a:buSzPct val="90000"/>
              <a:buFont typeface="Arial" panose="020B0604020202020204" pitchFamily="34" charset="0"/>
              <a:buChar char="•"/>
            </a:pPr>
            <a:r>
              <a:rPr lang="en-US" sz="1600">
                <a:latin typeface="Segoe UI Variable Display Semib" pitchFamily="2" charset="0"/>
                <a:cs typeface="Segoe UI" panose="020B0502040204020203" pitchFamily="34" charset="0"/>
              </a:rPr>
              <a:t>Workflows</a:t>
            </a:r>
          </a:p>
          <a:p>
            <a:pPr marL="180000" indent="-180000" defTabSz="932742">
              <a:buSzPct val="90000"/>
              <a:buFont typeface="Arial" panose="020B0604020202020204" pitchFamily="34" charset="0"/>
              <a:buChar char="•"/>
            </a:pPr>
            <a:r>
              <a:rPr lang="en-US" sz="1600">
                <a:latin typeface="Segoe UI Variable Display Semib" pitchFamily="2" charset="0"/>
                <a:cs typeface="Segoe UI" panose="020B0502040204020203" pitchFamily="34" charset="0"/>
              </a:rPr>
              <a:t>Connectors, including authentication handling</a:t>
            </a:r>
          </a:p>
          <a:p>
            <a:pPr marL="180000" indent="-180000" defTabSz="932742">
              <a:buSzPct val="90000"/>
              <a:buFont typeface="Arial" panose="020B0604020202020204" pitchFamily="34" charset="0"/>
              <a:buChar char="•"/>
            </a:pPr>
            <a:r>
              <a:rPr lang="en-US" sz="1600">
                <a:latin typeface="Segoe UI Variable Display Semib" pitchFamily="2" charset="0"/>
                <a:cs typeface="Segoe UI" panose="020B0502040204020203" pitchFamily="34" charset="0"/>
              </a:rPr>
              <a:t>Manageability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124DAB-7FDC-5CE5-9413-83A09CC3C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51535" y="3552238"/>
            <a:ext cx="7553444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46E4D4-0073-B784-ED63-E9854289E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51535" y="5260359"/>
            <a:ext cx="7553444" cy="0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C08B9F6-8FFD-6DC2-0348-F4774845F0E9}"/>
              </a:ext>
            </a:extLst>
          </p:cNvPr>
          <p:cNvSpPr txBox="1"/>
          <p:nvPr/>
        </p:nvSpPr>
        <p:spPr>
          <a:xfrm>
            <a:off x="1051535" y="5506559"/>
            <a:ext cx="4888089" cy="400110"/>
          </a:xfrm>
          <a:prstGeom prst="rect">
            <a:avLst/>
          </a:prstGeom>
          <a:noFill/>
        </p:spPr>
        <p:txBody>
          <a:bodyPr wrap="square" lIns="0" rIns="0" anchor="ctr" anchorCtr="0">
            <a:spAutoFit/>
          </a:bodyPr>
          <a:lstStyle/>
          <a:p>
            <a:pPr>
              <a:defRPr/>
            </a:pPr>
            <a:r>
              <a:rPr lang="en-US" sz="2000" b="1" spc="-50">
                <a:ln w="3175">
                  <a:noFill/>
                </a:ln>
                <a:solidFill>
                  <a:srgbClr val="2A446F"/>
                </a:solidFill>
                <a:latin typeface="Segoe UI Variable Display Semib" pitchFamily="2" charset="0"/>
                <a:cs typeface="Segoe UI" pitchFamily="34" charset="0"/>
              </a:rPr>
              <a:t>Set up directly from the Azure Portal</a:t>
            </a:r>
          </a:p>
        </p:txBody>
      </p:sp>
      <p:sp>
        <p:nvSpPr>
          <p:cNvPr id="18" name="Rectangle: Rounded Corners 3">
            <a:extLst>
              <a:ext uri="{FF2B5EF4-FFF2-40B4-BE49-F238E27FC236}">
                <a16:creationId xmlns:a16="http://schemas.microsoft.com/office/drawing/2014/main" id="{7A14D52A-A120-558D-4122-2E4995F4D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1613" y="585788"/>
            <a:ext cx="2362124" cy="5683250"/>
          </a:xfrm>
          <a:prstGeom prst="roundRect">
            <a:avLst>
              <a:gd name="adj" fmla="val 5183"/>
            </a:avLst>
          </a:prstGeom>
          <a:solidFill>
            <a:srgbClr val="FFFFFF"/>
          </a:solidFill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en-GB" sz="1200" b="1">
              <a:solidFill>
                <a:prstClr val="black"/>
              </a:solidFill>
            </a:endParaRPr>
          </a:p>
        </p:txBody>
      </p:sp>
      <p:pic>
        <p:nvPicPr>
          <p:cNvPr id="19" name="Picture 18" descr="A screenshot of a computer">
            <a:extLst>
              <a:ext uri="{FF2B5EF4-FFF2-40B4-BE49-F238E27FC236}">
                <a16:creationId xmlns:a16="http://schemas.microsoft.com/office/drawing/2014/main" id="{E66727AC-1DA7-D384-47D8-26D1CE84C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963" y="748225"/>
            <a:ext cx="1539424" cy="5358378"/>
          </a:xfrm>
          <a:prstGeom prst="rect">
            <a:avLst/>
          </a:prstGeom>
        </p:spPr>
      </p:pic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EC73EEC2-1D14-5432-692F-1F2F7FEAB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540" y="2017712"/>
            <a:ext cx="8485435" cy="4251325"/>
          </a:xfrm>
          <a:prstGeom prst="roundRect">
            <a:avLst>
              <a:gd name="adj" fmla="val 3160"/>
            </a:avLst>
          </a:prstGeom>
          <a:noFill/>
          <a:ln w="12700" cap="rnd">
            <a:solidFill>
              <a:srgbClr val="444142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en-GB" sz="1200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54895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E87E-3527-5E30-261A-1CA05047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70ACB3-0974-C9DA-B880-173FC78F98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8963" y="2008610"/>
            <a:ext cx="11017250" cy="28407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</a:rPr>
              <a:t>Security</a:t>
            </a:r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</a:rPr>
              <a:t>Flat access </a:t>
            </a:r>
            <a:r>
              <a:rPr kumimoji="0" lang="en-US" sz="5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  <a:sym typeface="Wingdings" panose="05000000000000000000" pitchFamily="2" charset="2"/>
              </a:rPr>
              <a:t> </a:t>
            </a:r>
            <a:br>
              <a:rPr kumimoji="0" lang="en-US" sz="5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  <a:sym typeface="Wingdings" panose="05000000000000000000" pitchFamily="2" charset="2"/>
              </a:rPr>
            </a:br>
            <a:r>
              <a:rPr kumimoji="0" lang="en-US" sz="5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  <a:sym typeface="Wingdings" panose="05000000000000000000" pitchFamily="2" charset="2"/>
              </a:rPr>
              <a:t>Enterprise-grade </a:t>
            </a:r>
            <a:br>
              <a:rPr kumimoji="0" lang="en-US" sz="5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  <a:sym typeface="Wingdings" panose="05000000000000000000" pitchFamily="2" charset="2"/>
              </a:rPr>
            </a:br>
            <a:r>
              <a:rPr kumimoji="0" lang="en-US" sz="5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Segoe UI Variable Display Semib" pitchFamily="2" charset="0"/>
                <a:sym typeface="Wingdings" panose="05000000000000000000" pitchFamily="2" charset="2"/>
              </a:rPr>
              <a:t>granular access control</a:t>
            </a:r>
            <a:endParaRPr kumimoji="0" lang="en-US" sz="5400" b="0" i="0" u="none" strike="noStrike" kern="1200" cap="none" spc="-50" normalizeH="0" baseline="0" noProof="0">
              <a:ln w="3175">
                <a:noFill/>
              </a:ln>
              <a:solidFill>
                <a:srgbClr val="FAE4A2"/>
              </a:solidFill>
              <a:effectLst/>
              <a:uLnTx/>
              <a:uFillTx/>
              <a:latin typeface="Segoe UI Variable Display Semi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18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6590-FB9D-913F-5250-EAF9B9C5C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615553"/>
          </a:xfrm>
        </p:spPr>
        <p:txBody>
          <a:bodyPr/>
          <a:lstStyle/>
          <a:p>
            <a:pPr algn="ctr"/>
            <a:r>
              <a:rPr lang="en-US" sz="4000">
                <a:latin typeface="Segoe UI Variable Display Semib" pitchFamily="2" charset="0"/>
              </a:rPr>
              <a:t>Why Granular Access Control?</a:t>
            </a:r>
          </a:p>
        </p:txBody>
      </p:sp>
      <p:sp useBgFill="1">
        <p:nvSpPr>
          <p:cNvPr id="5" name="Rounded Rectangle 14">
            <a:extLst>
              <a:ext uri="{FF2B5EF4-FFF2-40B4-BE49-F238E27FC236}">
                <a16:creationId xmlns:a16="http://schemas.microsoft.com/office/drawing/2014/main" id="{A57A20ED-15E6-9807-FB90-16F9BF83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342884" y="1435100"/>
            <a:ext cx="4591120" cy="4827100"/>
          </a:xfrm>
          <a:prstGeom prst="roundRect">
            <a:avLst>
              <a:gd name="adj" fmla="val 4547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11670">
              <a:spcBef>
                <a:spcPts val="174"/>
              </a:spcBef>
            </a:pPr>
            <a:endParaRPr lang="en-US" sz="2400" err="1"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 useBgFill="1">
        <p:nvSpPr>
          <p:cNvPr id="6" name="Rounded Rectangle 14">
            <a:extLst>
              <a:ext uri="{FF2B5EF4-FFF2-40B4-BE49-F238E27FC236}">
                <a16:creationId xmlns:a16="http://schemas.microsoft.com/office/drawing/2014/main" id="{8323B99D-9C3E-D3B8-8370-3C30FE651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266225" y="1435100"/>
            <a:ext cx="4591120" cy="4827100"/>
          </a:xfrm>
          <a:prstGeom prst="roundRect">
            <a:avLst>
              <a:gd name="adj" fmla="val 4547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11670">
              <a:spcBef>
                <a:spcPts val="174"/>
              </a:spcBef>
            </a:pPr>
            <a:endParaRPr lang="en-US" sz="2400" err="1"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4D54E-0E6B-2B72-F653-CB0F174B93AD}"/>
              </a:ext>
            </a:extLst>
          </p:cNvPr>
          <p:cNvSpPr txBox="1"/>
          <p:nvPr/>
        </p:nvSpPr>
        <p:spPr>
          <a:xfrm>
            <a:off x="1454740" y="3084420"/>
            <a:ext cx="4367407" cy="492443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 sz="3200" b="1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Expectation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2ECF5-8188-1BA7-0178-250145B3342D}"/>
              </a:ext>
            </a:extLst>
          </p:cNvPr>
          <p:cNvSpPr txBox="1"/>
          <p:nvPr/>
        </p:nvSpPr>
        <p:spPr>
          <a:xfrm>
            <a:off x="2120698" y="3741170"/>
            <a:ext cx="3035492" cy="86177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1800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If someone can’t see a </a:t>
            </a:r>
            <a:r>
              <a:rPr lang="en-US" sz="2000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given</a:t>
            </a:r>
            <a:r>
              <a:rPr lang="en-US" sz="1800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 piece of data, they can’t see answers grounded in 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469291-61C3-5FFF-088A-7E515DD22FB9}"/>
              </a:ext>
            </a:extLst>
          </p:cNvPr>
          <p:cNvSpPr txBox="1"/>
          <p:nvPr/>
        </p:nvSpPr>
        <p:spPr>
          <a:xfrm>
            <a:off x="6378082" y="3084420"/>
            <a:ext cx="4367407" cy="492443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 sz="3200" b="1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Challenges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C9DD9C-22FA-1FD6-3C07-4325B528286F}"/>
              </a:ext>
            </a:extLst>
          </p:cNvPr>
          <p:cNvSpPr txBox="1"/>
          <p:nvPr/>
        </p:nvSpPr>
        <p:spPr>
          <a:xfrm>
            <a:off x="6862033" y="3741170"/>
            <a:ext cx="3399504" cy="2154436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RAG over documents </a:t>
            </a:r>
            <a:br>
              <a:rPr lang="uk-UA" sz="2000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</a:br>
            <a:r>
              <a:rPr lang="en-US" sz="2000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requires indexes</a:t>
            </a:r>
          </a:p>
          <a:p>
            <a:pPr lvl="0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Access control information </a:t>
            </a:r>
            <a:br>
              <a:rPr lang="uk-UA" sz="2000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</a:br>
            <a:r>
              <a:rPr lang="en-US" sz="2000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often not propagated</a:t>
            </a:r>
          </a:p>
          <a:p>
            <a:pPr lvl="0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All queries need to enforce </a:t>
            </a:r>
            <a:br>
              <a:rPr lang="uk-UA" sz="2000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</a:br>
            <a:r>
              <a:rPr lang="en-US" sz="2000">
                <a:ln w="3175">
                  <a:noFill/>
                </a:ln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access policies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F6A3CB-952A-11DE-ED18-7C455C6A3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150593" y="1856360"/>
            <a:ext cx="978408" cy="978408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0" tIns="0" rIns="0" bIns="0" rtlCol="0" anchor="ctr">
            <a:noAutofit/>
          </a:bodyPr>
          <a:lstStyle/>
          <a:p>
            <a: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</a:pPr>
            <a:endParaRPr lang="en-US" sz="1400" b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EC6930-2D28-C962-50ED-789C7F8F3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073934" y="1856360"/>
            <a:ext cx="978408" cy="978408"/>
          </a:xfrm>
          <a:prstGeom prst="ellipse">
            <a:avLst/>
          </a:prstGeom>
          <a:gradFill flip="none" rotWithShape="1">
            <a:gsLst>
              <a:gs pos="80000">
                <a:srgbClr val="FFC6CC"/>
              </a:gs>
              <a:gs pos="0">
                <a:srgbClr val="A9D5ED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none" lIns="0" tIns="0" rIns="0" bIns="0" rtlCol="0" anchor="ctr">
            <a:noAutofit/>
          </a:bodyPr>
          <a:lstStyle/>
          <a:p>
            <a:pPr algn="ctr" defTabSz="2275850" fontAlgn="base">
              <a:spcBef>
                <a:spcPct val="0"/>
              </a:spcBef>
              <a:spcAft>
                <a:spcPct val="0"/>
              </a:spcAft>
              <a:tabLst>
                <a:tab pos="3701239" algn="l"/>
              </a:tabLst>
            </a:pPr>
            <a:endParaRPr lang="en-US" sz="1400" b="1" err="1">
              <a:ln w="3175">
                <a:noFill/>
              </a:ln>
              <a:gradFill>
                <a:gsLst>
                  <a:gs pos="53147">
                    <a:srgbClr val="FFFFFF"/>
                  </a:gs>
                  <a:gs pos="28000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pic>
        <p:nvPicPr>
          <p:cNvPr id="22" name="Рисунок 41">
            <a:extLst>
              <a:ext uri="{FF2B5EF4-FFF2-40B4-BE49-F238E27FC236}">
                <a16:creationId xmlns:a16="http://schemas.microsoft.com/office/drawing/2014/main" id="{EA7E6199-D322-BB51-E161-638257CB3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4230" y="2069997"/>
            <a:ext cx="551134" cy="551134"/>
          </a:xfrm>
          <a:prstGeom prst="rect">
            <a:avLst/>
          </a:prstGeom>
        </p:spPr>
      </p:pic>
      <p:pic>
        <p:nvPicPr>
          <p:cNvPr id="23" name="Рисунок 47">
            <a:extLst>
              <a:ext uri="{FF2B5EF4-FFF2-40B4-BE49-F238E27FC236}">
                <a16:creationId xmlns:a16="http://schemas.microsoft.com/office/drawing/2014/main" id="{F20AF27C-7D10-360E-3030-761DE12DA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5381" y="2117807"/>
            <a:ext cx="455514" cy="45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6647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6F96A-4199-423A-F51E-A52C643C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69EED-A4DF-D0DF-327E-6AFE862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1195893"/>
            <a:ext cx="11018520" cy="615553"/>
          </a:xfrm>
        </p:spPr>
        <p:txBody>
          <a:bodyPr/>
          <a:lstStyle/>
          <a:p>
            <a:pPr algn="ctr"/>
            <a:r>
              <a:rPr lang="en-US" sz="4000" dirty="0">
                <a:latin typeface="Segoe UI Variable Display Semib" pitchFamily="2" charset="0"/>
              </a:rPr>
              <a:t>Native Entra-based access control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F2D86B-A825-3DAF-1A43-3FC719B6AA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277151" y="529727"/>
            <a:ext cx="1996291" cy="519779"/>
          </a:xfrm>
          <a:prstGeom prst="roundRect">
            <a:avLst>
              <a:gd name="adj" fmla="val 34256"/>
            </a:avLst>
          </a:prstGeom>
          <a:noFill/>
          <a:ln w="22225">
            <a:gradFill flip="none" rotWithShape="1">
              <a:gsLst>
                <a:gs pos="5000">
                  <a:srgbClr val="8DC8E8"/>
                </a:gs>
                <a:gs pos="100000">
                  <a:srgbClr val="FFB3BB"/>
                </a:gs>
              </a:gsLst>
              <a:path path="circle">
                <a:fillToRect l="100000" t="100000"/>
              </a:path>
              <a:tileRect r="-100000" b="-100000"/>
            </a:gradFill>
            <a:headEnd type="none" w="med" len="med"/>
            <a:tailEnd type="none" w="med" len="med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182880" tIns="36576" rIns="182880" bIns="73152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Segoe UI Variable Display Semib" pitchFamily="2" charset="0"/>
              </a:rPr>
              <a:t>Announcing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66314F-EE3B-ABCA-17D1-532D10920142}"/>
              </a:ext>
            </a:extLst>
          </p:cNvPr>
          <p:cNvSpPr txBox="1"/>
          <p:nvPr/>
        </p:nvSpPr>
        <p:spPr>
          <a:xfrm>
            <a:off x="697832" y="2532654"/>
            <a:ext cx="129484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>
                <a:latin typeface="Segoe UI Variable Display" pitchFamily="2" charset="0"/>
              </a:rPr>
              <a:t>Azure AI Search index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B98F38-1A44-FA46-CB1F-0A62FFE7C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8237"/>
              </p:ext>
            </p:extLst>
          </p:nvPr>
        </p:nvGraphicFramePr>
        <p:xfrm>
          <a:off x="586488" y="3036370"/>
          <a:ext cx="3476218" cy="239105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400369">
                  <a:extLst>
                    <a:ext uri="{9D8B030D-6E8A-4147-A177-3AD203B41FA5}">
                      <a16:colId xmlns:a16="http://schemas.microsoft.com/office/drawing/2014/main" val="1023731025"/>
                    </a:ext>
                  </a:extLst>
                </a:gridCol>
                <a:gridCol w="1229549">
                  <a:extLst>
                    <a:ext uri="{9D8B030D-6E8A-4147-A177-3AD203B41FA5}">
                      <a16:colId xmlns:a16="http://schemas.microsoft.com/office/drawing/2014/main" val="540543234"/>
                    </a:ext>
                  </a:extLst>
                </a:gridCol>
                <a:gridCol w="845765">
                  <a:extLst>
                    <a:ext uri="{9D8B030D-6E8A-4147-A177-3AD203B41FA5}">
                      <a16:colId xmlns:a16="http://schemas.microsoft.com/office/drawing/2014/main" val="4269339925"/>
                    </a:ext>
                  </a:extLst>
                </a:gridCol>
                <a:gridCol w="1000535">
                  <a:extLst>
                    <a:ext uri="{9D8B030D-6E8A-4147-A177-3AD203B41FA5}">
                      <a16:colId xmlns:a16="http://schemas.microsoft.com/office/drawing/2014/main" val="2540163414"/>
                    </a:ext>
                  </a:extLst>
                </a:gridCol>
              </a:tblGrid>
              <a:tr h="79374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Segoe UI Variable Display" pitchFamily="2" charset="0"/>
                          <a:cs typeface="Segoe UI Semibold" panose="020B0702040204020203" pitchFamily="34" charset="0"/>
                        </a:rPr>
                        <a:t>id</a:t>
                      </a:r>
                    </a:p>
                  </a:txBody>
                  <a:tcPr marL="84172" marR="84172" marT="108000" marB="4208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chemeClr val="tx1"/>
                          </a:solidFill>
                          <a:latin typeface="Segoe UI Variable Display" pitchFamily="2" charset="0"/>
                          <a:cs typeface="Segoe UI Semibold" panose="020B0702040204020203" pitchFamily="34" charset="0"/>
                        </a:rPr>
                        <a:t>Text, vector, metadata fields…</a:t>
                      </a:r>
                    </a:p>
                  </a:txBody>
                  <a:tcPr marL="84172" marR="84172" marT="108000" marB="4208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A446F"/>
                          </a:solidFill>
                          <a:latin typeface="Segoe UI Variable Display" pitchFamily="2" charset="0"/>
                          <a:cs typeface="Segoe UI Semibold" panose="020B0702040204020203" pitchFamily="34" charset="0"/>
                        </a:rPr>
                        <a:t>userIds</a:t>
                      </a:r>
                    </a:p>
                  </a:txBody>
                  <a:tcPr marL="84172" marR="84172" marT="108000" marB="4208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A446F"/>
                          </a:solidFill>
                          <a:latin typeface="Segoe UI Variable Display" pitchFamily="2" charset="0"/>
                          <a:cs typeface="Segoe UI Semibold" panose="020B0702040204020203" pitchFamily="34" charset="0"/>
                        </a:rPr>
                        <a:t>groupIds</a:t>
                      </a:r>
                    </a:p>
                  </a:txBody>
                  <a:tcPr marL="84172" marR="84172" marT="108000" marB="4208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964263"/>
                  </a:ext>
                </a:extLst>
              </a:tr>
              <a:tr h="399326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30594"/>
                  </a:ext>
                </a:extLst>
              </a:tr>
              <a:tr h="399326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323336"/>
                  </a:ext>
                </a:extLst>
              </a:tr>
              <a:tr h="399326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65771"/>
                  </a:ext>
                </a:extLst>
              </a:tr>
              <a:tr h="399326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208765"/>
                  </a:ext>
                </a:extLst>
              </a:tr>
            </a:tbl>
          </a:graphicData>
        </a:graphic>
      </p:graphicFrame>
      <p:pic>
        <p:nvPicPr>
          <p:cNvPr id="26" name="Graphic 25" descr="Microsoft Entra icon">
            <a:extLst>
              <a:ext uri="{FF2B5EF4-FFF2-40B4-BE49-F238E27FC236}">
                <a16:creationId xmlns:a16="http://schemas.microsoft.com/office/drawing/2014/main" id="{C961DA03-CA9D-7A74-D06E-9C188644A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43298" y="2017770"/>
            <a:ext cx="708450" cy="70845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8335CC4-BF19-CBFF-659A-D72CE5D2DBF8}"/>
              </a:ext>
            </a:extLst>
          </p:cNvPr>
          <p:cNvSpPr txBox="1"/>
          <p:nvPr/>
        </p:nvSpPr>
        <p:spPr>
          <a:xfrm>
            <a:off x="5373767" y="2831331"/>
            <a:ext cx="144751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>
                <a:latin typeface="Segoe UI Variable Display Semib" pitchFamily="2" charset="0"/>
                <a:cs typeface="Segoe UI Semibold" panose="020B0702040204020203" pitchFamily="34" charset="0"/>
              </a:rPr>
              <a:t>Microsoft Entra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149506-9B8A-70C7-EBAD-7B15BD33ECFF}"/>
              </a:ext>
            </a:extLst>
          </p:cNvPr>
          <p:cNvSpPr txBox="1"/>
          <p:nvPr/>
        </p:nvSpPr>
        <p:spPr>
          <a:xfrm>
            <a:off x="4861608" y="4803949"/>
            <a:ext cx="247183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>
                <a:latin typeface="Segoe UI Variable Display Semib" pitchFamily="2" charset="0"/>
                <a:cs typeface="Segoe UI Semibold" panose="020B0702040204020203" pitchFamily="34" charset="0"/>
              </a:rPr>
              <a:t>Calling user/agent identity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FCE864-EFAF-F888-8C8C-7B16E2015CDB}"/>
              </a:ext>
            </a:extLst>
          </p:cNvPr>
          <p:cNvSpPr txBox="1"/>
          <p:nvPr/>
        </p:nvSpPr>
        <p:spPr>
          <a:xfrm>
            <a:off x="4915425" y="5655130"/>
            <a:ext cx="2521524" cy="24622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600"/>
            </a:lvl1pPr>
          </a:lstStyle>
          <a:p>
            <a:pPr>
              <a:lnSpc>
                <a:spcPct val="100000"/>
              </a:lnSpc>
            </a:pPr>
            <a:r>
              <a:rPr lang="en-US">
                <a:latin typeface="Segoe UI Variable Display Semib" pitchFamily="2" charset="0"/>
              </a:rPr>
              <a:t>Which groups can see this?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566A1E-5B4A-948E-C9CC-1047248A610C}"/>
              </a:ext>
            </a:extLst>
          </p:cNvPr>
          <p:cNvSpPr txBox="1"/>
          <p:nvPr/>
        </p:nvSpPr>
        <p:spPr>
          <a:xfrm>
            <a:off x="4915425" y="5999860"/>
            <a:ext cx="2358018" cy="24622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600">
                <a:latin typeface="Segoe UI Variable Display Semib" pitchFamily="2" charset="0"/>
              </a:rPr>
              <a:t>Which users can see this?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E99E0BBF-CB8B-8E7F-D428-1039AF464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633909"/>
              </p:ext>
            </p:extLst>
          </p:nvPr>
        </p:nvGraphicFramePr>
        <p:xfrm>
          <a:off x="8124732" y="3227739"/>
          <a:ext cx="3472087" cy="1916755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344574">
                  <a:extLst>
                    <a:ext uri="{9D8B030D-6E8A-4147-A177-3AD203B41FA5}">
                      <a16:colId xmlns:a16="http://schemas.microsoft.com/office/drawing/2014/main" val="1023731025"/>
                    </a:ext>
                  </a:extLst>
                </a:gridCol>
                <a:gridCol w="1178047">
                  <a:extLst>
                    <a:ext uri="{9D8B030D-6E8A-4147-A177-3AD203B41FA5}">
                      <a16:colId xmlns:a16="http://schemas.microsoft.com/office/drawing/2014/main" val="540543234"/>
                    </a:ext>
                  </a:extLst>
                </a:gridCol>
                <a:gridCol w="893024">
                  <a:extLst>
                    <a:ext uri="{9D8B030D-6E8A-4147-A177-3AD203B41FA5}">
                      <a16:colId xmlns:a16="http://schemas.microsoft.com/office/drawing/2014/main" val="4269339925"/>
                    </a:ext>
                  </a:extLst>
                </a:gridCol>
                <a:gridCol w="1056442">
                  <a:extLst>
                    <a:ext uri="{9D8B030D-6E8A-4147-A177-3AD203B41FA5}">
                      <a16:colId xmlns:a16="http://schemas.microsoft.com/office/drawing/2014/main" val="2540163414"/>
                    </a:ext>
                  </a:extLst>
                </a:gridCol>
              </a:tblGrid>
              <a:tr h="762489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Segoe UI Variable Display" pitchFamily="2" charset="0"/>
                          <a:cs typeface="Segoe UI Semibold" panose="020B0702040204020203" pitchFamily="34" charset="0"/>
                        </a:rPr>
                        <a:t>id</a:t>
                      </a:r>
                    </a:p>
                  </a:txBody>
                  <a:tcPr marL="84172" marR="84172" marT="42086" marB="4208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  <a:latin typeface="Segoe UI Variable Display" pitchFamily="2" charset="0"/>
                          <a:cs typeface="Segoe UI Semibold" panose="020B0702040204020203" pitchFamily="34" charset="0"/>
                        </a:rPr>
                        <a:t>Text, vector, metadata fields…</a:t>
                      </a:r>
                    </a:p>
                  </a:txBody>
                  <a:tcPr marL="84172" marR="84172" marT="42086" marB="4208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2A446F"/>
                          </a:solidFill>
                          <a:latin typeface="Segoe UI Variable Display" pitchFamily="2" charset="0"/>
                          <a:cs typeface="Segoe UI Semibold" panose="020B0702040204020203" pitchFamily="34" charset="0"/>
                        </a:rPr>
                        <a:t>userIds</a:t>
                      </a:r>
                    </a:p>
                  </a:txBody>
                  <a:tcPr marL="84172" marR="84172" marT="42086" marB="4208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2A446F"/>
                          </a:solidFill>
                          <a:latin typeface="Segoe UI Variable Display" pitchFamily="2" charset="0"/>
                          <a:cs typeface="Segoe UI Semibold" panose="020B0702040204020203" pitchFamily="34" charset="0"/>
                        </a:rPr>
                        <a:t>groupIds</a:t>
                      </a:r>
                    </a:p>
                  </a:txBody>
                  <a:tcPr marL="84172" marR="84172" marT="42086" marB="4208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964263"/>
                  </a:ext>
                </a:extLst>
              </a:tr>
              <a:tr h="577133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330594"/>
                  </a:ext>
                </a:extLst>
              </a:tr>
              <a:tr h="577133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Segoe UI Variable Display" pitchFamily="2" charset="0"/>
                        </a:rPr>
                        <a:t>…</a:t>
                      </a:r>
                    </a:p>
                  </a:txBody>
                  <a:tcPr marL="84172" marR="84172" marT="42086" marB="4208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519835"/>
                  </a:ext>
                </a:extLst>
              </a:tr>
            </a:tbl>
          </a:graphicData>
        </a:graphic>
      </p:graphicFrame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7BDBF6C-2B69-09A2-440F-049A1172E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65588" y="3837637"/>
            <a:ext cx="4053379" cy="149704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D6B7667-7231-4900-3CE9-4B8C6F005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967701" y="5128918"/>
            <a:ext cx="4253948" cy="280116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285879-30F2-2419-F806-69638073F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7523" y="3178377"/>
            <a:ext cx="0" cy="924302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49E78F3-4143-38DF-E6CA-5A91882A4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361536" y="2326334"/>
            <a:ext cx="3109415" cy="631287"/>
            <a:chOff x="2746265" y="1916626"/>
            <a:chExt cx="3641773" cy="1168043"/>
          </a:xfrm>
        </p:grpSpPr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05649853-9AAD-38AC-01F7-642CB61978D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773900" y="1917649"/>
              <a:ext cx="2614138" cy="1167020"/>
            </a:xfrm>
            <a:prstGeom prst="bentConnector2">
              <a:avLst/>
            </a:prstGeom>
            <a:ln w="12700" cap="rnd">
              <a:solidFill>
                <a:srgbClr val="000000"/>
              </a:solidFill>
              <a:headEnd type="none" w="lg" len="sm"/>
              <a:tailEnd type="arrow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E37B9ADE-D233-DC12-8547-746AC72BC5A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46265" y="1916626"/>
              <a:ext cx="2451494" cy="1167019"/>
            </a:xfrm>
            <a:prstGeom prst="bentConnector2">
              <a:avLst/>
            </a:prstGeom>
            <a:ln w="12700" cap="rnd">
              <a:solidFill>
                <a:srgbClr val="000000"/>
              </a:solidFill>
              <a:headEnd type="none" w="lg" len="sm"/>
              <a:tailEnd type="arrow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0FFB8FE-845F-2C49-4908-F1792EF71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487187" y="4134483"/>
            <a:ext cx="550268" cy="55026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7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D7765ED3-1BF2-1168-5E0E-2DB798C36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155945" y="4134483"/>
            <a:ext cx="550268" cy="55026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7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95DAE152-2CBC-EEB9-1D86-C5945F772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7053" y="4245591"/>
            <a:ext cx="328052" cy="328052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8911816A-C12F-0172-3788-FA5C9EDB0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98669" y="4245965"/>
            <a:ext cx="327304" cy="32730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23B6CD-6551-196D-221B-98E306FDA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3780" y="3036370"/>
            <a:ext cx="3476218" cy="2391049"/>
          </a:xfrm>
          <a:prstGeom prst="roundRect">
            <a:avLst>
              <a:gd name="adj" fmla="val 5751"/>
            </a:avLst>
          </a:prstGeom>
          <a:noFill/>
          <a:ln w="12700">
            <a:solidFill>
              <a:schemeClr val="tx1">
                <a:alpha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A1272B-F774-63FB-E22B-B2CADADDC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118967" y="3178377"/>
            <a:ext cx="3476218" cy="1959187"/>
          </a:xfrm>
          <a:prstGeom prst="roundRect">
            <a:avLst>
              <a:gd name="adj" fmla="val 8753"/>
            </a:avLst>
          </a:prstGeom>
          <a:noFill/>
          <a:ln w="12700">
            <a:solidFill>
              <a:schemeClr val="tx1">
                <a:alpha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E543B7D-0B98-EA91-093B-ADA770863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196424" y="5438692"/>
            <a:ext cx="1606164" cy="341906"/>
          </a:xfrm>
          <a:custGeom>
            <a:avLst/>
            <a:gdLst>
              <a:gd name="connsiteX0" fmla="*/ 0 w 1606164"/>
              <a:gd name="connsiteY0" fmla="*/ 0 h 341906"/>
              <a:gd name="connsiteX1" fmla="*/ 0 w 1606164"/>
              <a:gd name="connsiteY1" fmla="*/ 341906 h 341906"/>
              <a:gd name="connsiteX2" fmla="*/ 1606164 w 1606164"/>
              <a:gd name="connsiteY2" fmla="*/ 341906 h 34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6164" h="341906">
                <a:moveTo>
                  <a:pt x="0" y="0"/>
                </a:moveTo>
                <a:lnTo>
                  <a:pt x="0" y="341906"/>
                </a:lnTo>
                <a:lnTo>
                  <a:pt x="1606164" y="341906"/>
                </a:lnTo>
              </a:path>
            </a:pathLst>
          </a:cu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6321B37-83F2-F770-5F3F-6EE234C2C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393342" y="5438692"/>
            <a:ext cx="2409246" cy="667910"/>
          </a:xfrm>
          <a:custGeom>
            <a:avLst/>
            <a:gdLst>
              <a:gd name="connsiteX0" fmla="*/ 0 w 1606164"/>
              <a:gd name="connsiteY0" fmla="*/ 0 h 341906"/>
              <a:gd name="connsiteX1" fmla="*/ 0 w 1606164"/>
              <a:gd name="connsiteY1" fmla="*/ 341906 h 341906"/>
              <a:gd name="connsiteX2" fmla="*/ 1606164 w 1606164"/>
              <a:gd name="connsiteY2" fmla="*/ 341906 h 34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6164" h="341906">
                <a:moveTo>
                  <a:pt x="0" y="0"/>
                </a:moveTo>
                <a:lnTo>
                  <a:pt x="0" y="341906"/>
                </a:lnTo>
                <a:lnTo>
                  <a:pt x="1606164" y="341906"/>
                </a:lnTo>
              </a:path>
            </a:pathLst>
          </a:cu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1641616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C3107DC-5DBC-6749-47BF-A984805B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457200"/>
            <a:ext cx="4109572" cy="2462213"/>
          </a:xfrm>
        </p:spPr>
        <p:txBody>
          <a:bodyPr/>
          <a:lstStyle/>
          <a:p>
            <a:r>
              <a:rPr lang="en-US" sz="4000">
                <a:latin typeface="Segoe UI Variable Display Semib" pitchFamily="2" charset="0"/>
              </a:rPr>
              <a:t>Propagate ACLs from data sources with indexers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0C49291-75FA-2D33-F5A2-A087DD0279E3}"/>
              </a:ext>
            </a:extLst>
          </p:cNvPr>
          <p:cNvSpPr txBox="1">
            <a:spLocks/>
          </p:cNvSpPr>
          <p:nvPr/>
        </p:nvSpPr>
        <p:spPr>
          <a:xfrm>
            <a:off x="588265" y="2751568"/>
            <a:ext cx="4252184" cy="20855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b="0" i="0" kern="1200" spc="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b="0" i="0" kern="1200" spc="0" baseline="0">
                <a:solidFill>
                  <a:srgbClr val="2F2F2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457063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94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126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37" fontAlgn="base">
              <a:lnSpc>
                <a:spcPts val="2400"/>
              </a:lnSpc>
              <a:spcBef>
                <a:spcPct val="0"/>
              </a:spcBef>
              <a:spcAft>
                <a:spcPts val="600"/>
              </a:spcAft>
              <a:tabLst>
                <a:tab pos="1371655" algn="l"/>
              </a:tabLst>
              <a:defRPr/>
            </a:pPr>
            <a:endParaRPr lang="en-US" sz="2000" b="1">
              <a:ln w="3175">
                <a:noFill/>
              </a:ln>
              <a:latin typeface="Segoe UI Variable Display Semib" pitchFamily="2" charset="0"/>
            </a:endParaRPr>
          </a:p>
          <a:p>
            <a:pPr defTabSz="914437" fontAlgn="base">
              <a:lnSpc>
                <a:spcPts val="2400"/>
              </a:lnSpc>
              <a:spcBef>
                <a:spcPct val="0"/>
              </a:spcBef>
              <a:spcAft>
                <a:spcPts val="600"/>
              </a:spcAft>
              <a:tabLst>
                <a:tab pos="1371655" algn="l"/>
              </a:tabLst>
              <a:defRPr/>
            </a:pPr>
            <a:r>
              <a:rPr lang="en-US" sz="2000" b="1">
                <a:ln w="3175">
                  <a:noFill/>
                </a:ln>
                <a:latin typeface="Segoe UI Variable Display Semib" pitchFamily="2" charset="0"/>
              </a:rPr>
              <a:t>Two options for placing ACLs in Azure AI Search:</a:t>
            </a:r>
          </a:p>
          <a:p>
            <a:pPr marL="180000" indent="-180000">
              <a:lnSpc>
                <a:spcPts val="2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600">
                <a:latin typeface="Segoe UI Variable Display Semib" pitchFamily="2" charset="0"/>
                <a:cs typeface="Segoe UI Semibold" panose="020B0702040204020203" pitchFamily="34" charset="0"/>
              </a:rPr>
              <a:t>Push: </a:t>
            </a:r>
            <a:r>
              <a:rPr lang="en-US" sz="1600">
                <a:latin typeface="Segoe UI Variable Display Semib" pitchFamily="2" charset="0"/>
              </a:rPr>
              <a:t>bring your own ACL information</a:t>
            </a:r>
          </a:p>
          <a:p>
            <a:pPr marL="180000" indent="-180000">
              <a:lnSpc>
                <a:spcPts val="2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600">
                <a:latin typeface="Segoe UI Variable Display Semib" pitchFamily="2" charset="0"/>
                <a:cs typeface="Segoe UI Semibold" panose="020B0702040204020203" pitchFamily="34" charset="0"/>
              </a:rPr>
              <a:t>Pull: </a:t>
            </a:r>
            <a:r>
              <a:rPr lang="en-US" sz="1600">
                <a:latin typeface="Segoe UI Variable Display Semib" pitchFamily="2" charset="0"/>
              </a:rPr>
              <a:t>indexers propagate ACLs automatically</a:t>
            </a:r>
          </a:p>
          <a:p>
            <a:pPr>
              <a:lnSpc>
                <a:spcPts val="2000"/>
              </a:lnSpc>
              <a:spcBef>
                <a:spcPts val="0"/>
              </a:spcBef>
            </a:pPr>
            <a:r>
              <a:rPr lang="en-US" sz="1600">
                <a:latin typeface="Segoe UI Variable Display Semib" pitchFamily="2" charset="0"/>
                <a:cs typeface="Segoe UI Semibold" panose="020B0702040204020203" pitchFamily="34" charset="0"/>
                <a:sym typeface="Wingdings" panose="05000000000000000000" pitchFamily="2" charset="2"/>
              </a:rPr>
              <a:t> </a:t>
            </a:r>
            <a:r>
              <a:rPr lang="en-US" sz="1600">
                <a:latin typeface="Segoe UI Variable Display Semib" pitchFamily="2" charset="0"/>
                <a:cs typeface="Segoe UI Semibold" panose="020B0702040204020203" pitchFamily="34" charset="0"/>
              </a:rPr>
              <a:t>Starting with ADLS gen2, </a:t>
            </a:r>
            <a:r>
              <a:rPr lang="en-US" sz="1600" err="1">
                <a:latin typeface="Segoe UI Variable Display Semib" pitchFamily="2" charset="0"/>
                <a:cs typeface="Segoe UI Semibold" panose="020B0702040204020203" pitchFamily="34" charset="0"/>
              </a:rPr>
              <a:t>OneLake</a:t>
            </a:r>
            <a:r>
              <a:rPr lang="en-US" sz="1600">
                <a:latin typeface="Segoe UI Variable Display Semib" pitchFamily="2" charset="0"/>
                <a:cs typeface="Segoe UI Semibold" panose="020B0702040204020203" pitchFamily="34" charset="0"/>
              </a:rPr>
              <a:t> and others to follow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9071ADF-4292-10B1-2829-6333E9A667E4}"/>
              </a:ext>
            </a:extLst>
          </p:cNvPr>
          <p:cNvSpPr txBox="1">
            <a:spLocks/>
          </p:cNvSpPr>
          <p:nvPr/>
        </p:nvSpPr>
        <p:spPr>
          <a:xfrm>
            <a:off x="5211762" y="2"/>
            <a:ext cx="6338888" cy="492314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585216" tIns="91440" rIns="0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999" kern="1200" spc="0" baseline="0">
                <a:solidFill>
                  <a:srgbClr val="FFFFFF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1) Enable permission propagation in data source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84505DA-26EF-D4F6-EA57-4373783B2ADD}"/>
              </a:ext>
            </a:extLst>
          </p:cNvPr>
          <p:cNvSpPr txBox="1">
            <a:spLocks/>
          </p:cNvSpPr>
          <p:nvPr/>
        </p:nvSpPr>
        <p:spPr>
          <a:xfrm>
            <a:off x="5454651" y="709187"/>
            <a:ext cx="6667498" cy="14834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b="0" i="0" kern="1200" spc="0" baseline="0">
                <a:solidFill>
                  <a:srgbClr val="2F2F2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644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3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2pPr>
            <a:lvl3pPr marL="58443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9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3pPr>
            <a:lvl4pPr marL="81431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4pPr>
            <a:lvl5pPr marL="105068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</a:pPr>
            <a:r>
              <a:rPr lang="en-US" sz="120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chemeClr val="tx1"/>
                </a:solidFill>
                <a:latin typeface="Consolas" panose="020B0609020204030204" pitchFamily="49" charset="0"/>
              </a:rPr>
              <a:t>  "name": </a:t>
            </a:r>
            <a:r>
              <a:rPr lang="en-US" sz="1200">
                <a:solidFill>
                  <a:schemeClr val="tx1"/>
                </a:solidFill>
              </a:rPr>
              <a:t>"</a:t>
            </a:r>
            <a:r>
              <a:rPr lang="en-US" sz="1200" err="1">
                <a:solidFill>
                  <a:schemeClr val="tx1"/>
                </a:solidFill>
                <a:latin typeface="Consolas" panose="020B0609020204030204" pitchFamily="49" charset="0"/>
              </a:rPr>
              <a:t>mydatasource</a:t>
            </a:r>
            <a:r>
              <a:rPr lang="en-US" sz="1200">
                <a:solidFill>
                  <a:schemeClr val="tx1"/>
                </a:solidFill>
                <a:latin typeface="Consolas" panose="020B0609020204030204" pitchFamily="49" charset="0"/>
              </a:rPr>
              <a:t>",</a:t>
            </a: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chemeClr val="tx1"/>
                </a:solidFill>
                <a:latin typeface="Consolas" panose="020B0609020204030204" pitchFamily="49" charset="0"/>
              </a:rPr>
              <a:t>  "type": "adlsgen2", </a:t>
            </a: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20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20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indexerPermissionOptions</a:t>
            </a:r>
            <a:r>
              <a:rPr lang="en-US" sz="120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": ["</a:t>
            </a:r>
            <a:r>
              <a:rPr lang="en-US" sz="120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userIds</a:t>
            </a:r>
            <a:r>
              <a:rPr lang="en-US" sz="120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", "</a:t>
            </a:r>
            <a:r>
              <a:rPr lang="en-US" sz="120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groupIds</a:t>
            </a:r>
            <a:r>
              <a:rPr lang="en-US" sz="120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"],</a:t>
            </a: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chemeClr val="tx1"/>
                </a:solidFill>
              </a:rPr>
              <a:t>  …</a:t>
            </a:r>
            <a:endParaRPr lang="en-US" sz="120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FFDED80-C24B-0FBC-D7AE-72F608396C2F}"/>
              </a:ext>
            </a:extLst>
          </p:cNvPr>
          <p:cNvSpPr txBox="1">
            <a:spLocks/>
          </p:cNvSpPr>
          <p:nvPr/>
        </p:nvSpPr>
        <p:spPr>
          <a:xfrm>
            <a:off x="5211762" y="3429000"/>
            <a:ext cx="6338888" cy="492314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585216" tIns="91440" rIns="0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999" kern="1200" spc="0" baseline="0">
                <a:solidFill>
                  <a:srgbClr val="FFFFFF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9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2) Map security fields to index fields in indexer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B0CFF74C-2604-691C-E4B4-D2334AA58F8E}"/>
              </a:ext>
            </a:extLst>
          </p:cNvPr>
          <p:cNvSpPr txBox="1">
            <a:spLocks/>
          </p:cNvSpPr>
          <p:nvPr/>
        </p:nvSpPr>
        <p:spPr>
          <a:xfrm>
            <a:off x="5454650" y="4138186"/>
            <a:ext cx="6667499" cy="2127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rgbClr val="2F2F2F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1pPr>
            <a:lvl2pPr marL="34644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3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2pPr>
            <a:lvl3pPr marL="58443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9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3pPr>
            <a:lvl4pPr marL="814319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4pPr>
            <a:lvl5pPr marL="1050682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799" kern="1200" spc="0" baseline="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+mn-ea"/>
                <a:cs typeface="Consolas" panose="020B0609020204030204" pitchFamily="49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{</a:t>
            </a:r>
          </a:p>
          <a:p>
            <a:pPr marL="0" marR="0" lvl="0" indent="0" algn="l" defTabSz="932742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  "name": "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myindexer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",</a:t>
            </a:r>
          </a:p>
          <a:p>
            <a:pPr marL="0" marR="0" lvl="0" indent="0" algn="l" defTabSz="932742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"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dataSourceName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": "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mydatasource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",</a:t>
            </a:r>
          </a:p>
          <a:p>
            <a:pPr marL="0" marR="0" lvl="0" indent="0" algn="l" defTabSz="932742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  "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targetIndexName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": "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myindex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",</a:t>
            </a:r>
          </a:p>
          <a:p>
            <a:pPr marL="0" marR="0" lvl="0" indent="0" algn="l" defTabSz="932742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  "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fieldMappings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": [</a:t>
            </a:r>
          </a:p>
          <a:p>
            <a:pPr marL="0" marR="0" lvl="0" indent="0" algn="l" defTabSz="932742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    { "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sourceFieldName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": "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metadata_user_ids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", "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targetFieldName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": "users" },</a:t>
            </a:r>
          </a:p>
          <a:p>
            <a:pPr marL="0" marR="0" lvl="0" indent="0" algn="l" defTabSz="932742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    { "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sourceFieldName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": "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metadata_group_ids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", "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targetFieldName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": "groups" }</a:t>
            </a:r>
          </a:p>
          <a:p>
            <a:pPr marL="0" marR="0" lvl="0" indent="0" algn="l" defTabSz="932742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  ],</a:t>
            </a:r>
          </a:p>
          <a:p>
            <a:pPr marL="0" marR="0" lvl="0" indent="0" algn="l" defTabSz="932742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…</a:t>
            </a:r>
          </a:p>
          <a:p>
            <a:pPr marL="0" marR="0" lvl="0" indent="0" algn="l" defTabSz="932742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866785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D60E1-BAC5-D392-E60E-844801FD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313E-C90E-063E-A410-959A25F7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32033"/>
            <a:ext cx="11018520" cy="615553"/>
          </a:xfrm>
        </p:spPr>
        <p:txBody>
          <a:bodyPr/>
          <a:lstStyle/>
          <a:p>
            <a:pPr algn="ctr"/>
            <a:r>
              <a:rPr lang="en-US" sz="4000">
                <a:latin typeface="Segoe UI Variable Display Semib" pitchFamily="2" charset="0"/>
              </a:rPr>
              <a:t>Sensitivity labels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ABF9D-7152-386D-66E6-A7362090401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590199" y="1606004"/>
            <a:ext cx="5307916" cy="603242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>
                <a:latin typeface="Segoe UI Variable Display Semib" pitchFamily="2" charset="0"/>
              </a:rPr>
              <a:t>Labels classify and protect enterprise data</a:t>
            </a:r>
          </a:p>
          <a:p>
            <a:pPr marL="0" indent="0" algn="ctr">
              <a:buNone/>
            </a:pPr>
            <a:r>
              <a:rPr lang="en-US" sz="1600">
                <a:latin typeface="Segoe UI Variable Display Semib" pitchFamily="2" charset="0"/>
              </a:rPr>
              <a:t>Part of the Microsoft Purview governance capabilities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1F6F40-D060-16E1-7219-D5DE4654A9DC}"/>
              </a:ext>
            </a:extLst>
          </p:cNvPr>
          <p:cNvSpPr/>
          <p:nvPr/>
        </p:nvSpPr>
        <p:spPr bwMode="auto">
          <a:xfrm>
            <a:off x="5503128" y="2527507"/>
            <a:ext cx="2226124" cy="440873"/>
          </a:xfrm>
          <a:prstGeom prst="roundRect">
            <a:avLst>
              <a:gd name="adj" fmla="val 29043"/>
            </a:avLst>
          </a:prstGeom>
          <a:gradFill flip="none" rotWithShape="1">
            <a:gsLst>
              <a:gs pos="11000">
                <a:srgbClr val="FFC6CC"/>
              </a:gs>
              <a:gs pos="83000">
                <a:srgbClr val="A9D5E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/>
                </a:solidFill>
                <a:latin typeface="Segoe UI Variable Display Semib" pitchFamily="2" charset="0"/>
                <a:ea typeface="Segoe UI" pitchFamily="34" charset="0"/>
                <a:cs typeface="Segoe UI Semibold" panose="020B0702040204020203" pitchFamily="34" charset="0"/>
              </a:rPr>
              <a:t>ACLs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D71AE-F551-A5C4-8145-801DE5E4F695}"/>
              </a:ext>
            </a:extLst>
          </p:cNvPr>
          <p:cNvSpPr/>
          <p:nvPr/>
        </p:nvSpPr>
        <p:spPr bwMode="auto">
          <a:xfrm>
            <a:off x="8634443" y="2633641"/>
            <a:ext cx="3027427" cy="4308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File container:</a:t>
            </a:r>
          </a:p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e.g. blob storage, </a:t>
            </a:r>
            <a:r>
              <a:rPr lang="en-US" sz="1400" err="1"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OneLake</a:t>
            </a:r>
            <a:r>
              <a:rPr lang="en-US" sz="1400"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, ADLS</a:t>
            </a:r>
          </a:p>
        </p:txBody>
      </p:sp>
      <p:sp>
        <p:nvSpPr>
          <p:cNvPr id="12" name="Graphic 4" descr="Paper outline">
            <a:extLst>
              <a:ext uri="{FF2B5EF4-FFF2-40B4-BE49-F238E27FC236}">
                <a16:creationId xmlns:a16="http://schemas.microsoft.com/office/drawing/2014/main" id="{2837EBCD-E9D4-56A9-2EC1-AE34B511C528}"/>
              </a:ext>
            </a:extLst>
          </p:cNvPr>
          <p:cNvSpPr>
            <a:spLocks noChangeAspect="1"/>
          </p:cNvSpPr>
          <p:nvPr/>
        </p:nvSpPr>
        <p:spPr>
          <a:xfrm>
            <a:off x="5810654" y="3123618"/>
            <a:ext cx="1611072" cy="2148098"/>
          </a:xfrm>
          <a:custGeom>
            <a:avLst/>
            <a:gdLst>
              <a:gd name="connsiteX0" fmla="*/ 0 w 1503386"/>
              <a:gd name="connsiteY0" fmla="*/ 0 h 2004515"/>
              <a:gd name="connsiteX1" fmla="*/ 0 w 1503386"/>
              <a:gd name="connsiteY1" fmla="*/ 2004515 h 2004515"/>
              <a:gd name="connsiteX2" fmla="*/ 1503386 w 1503386"/>
              <a:gd name="connsiteY2" fmla="*/ 2004515 h 2004515"/>
              <a:gd name="connsiteX3" fmla="*/ 1503386 w 1503386"/>
              <a:gd name="connsiteY3" fmla="*/ 540868 h 2004515"/>
              <a:gd name="connsiteX4" fmla="*/ 962518 w 1503386"/>
              <a:gd name="connsiteY4" fmla="*/ 0 h 2004515"/>
              <a:gd name="connsiteX5" fmla="*/ 977627 w 1503386"/>
              <a:gd name="connsiteY5" fmla="*/ 85969 h 2004515"/>
              <a:gd name="connsiteX6" fmla="*/ 1417418 w 1503386"/>
              <a:gd name="connsiteY6" fmla="*/ 525759 h 2004515"/>
              <a:gd name="connsiteX7" fmla="*/ 1417415 w 1503386"/>
              <a:gd name="connsiteY7" fmla="*/ 526113 h 2004515"/>
              <a:gd name="connsiteX8" fmla="*/ 1417242 w 1503386"/>
              <a:gd name="connsiteY8" fmla="*/ 526185 h 2004515"/>
              <a:gd name="connsiteX9" fmla="*/ 977201 w 1503386"/>
              <a:gd name="connsiteY9" fmla="*/ 526185 h 2004515"/>
              <a:gd name="connsiteX10" fmla="*/ 977201 w 1503386"/>
              <a:gd name="connsiteY10" fmla="*/ 86144 h 2004515"/>
              <a:gd name="connsiteX11" fmla="*/ 977454 w 1503386"/>
              <a:gd name="connsiteY11" fmla="*/ 85896 h 2004515"/>
              <a:gd name="connsiteX12" fmla="*/ 977627 w 1503386"/>
              <a:gd name="connsiteY12" fmla="*/ 85969 h 2004515"/>
              <a:gd name="connsiteX13" fmla="*/ 50113 w 1503386"/>
              <a:gd name="connsiteY13" fmla="*/ 1954402 h 2004515"/>
              <a:gd name="connsiteX14" fmla="*/ 50113 w 1503386"/>
              <a:gd name="connsiteY14" fmla="*/ 50113 h 2004515"/>
              <a:gd name="connsiteX15" fmla="*/ 927088 w 1503386"/>
              <a:gd name="connsiteY15" fmla="*/ 50113 h 2004515"/>
              <a:gd name="connsiteX16" fmla="*/ 927088 w 1503386"/>
              <a:gd name="connsiteY16" fmla="*/ 576298 h 2004515"/>
              <a:gd name="connsiteX17" fmla="*/ 1453273 w 1503386"/>
              <a:gd name="connsiteY17" fmla="*/ 576298 h 2004515"/>
              <a:gd name="connsiteX18" fmla="*/ 1453273 w 1503386"/>
              <a:gd name="connsiteY18" fmla="*/ 1954402 h 2004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03386" h="2004515">
                <a:moveTo>
                  <a:pt x="0" y="0"/>
                </a:moveTo>
                <a:lnTo>
                  <a:pt x="0" y="2004515"/>
                </a:lnTo>
                <a:lnTo>
                  <a:pt x="1503386" y="2004515"/>
                </a:lnTo>
                <a:lnTo>
                  <a:pt x="1503386" y="540868"/>
                </a:lnTo>
                <a:lnTo>
                  <a:pt x="962518" y="0"/>
                </a:lnTo>
                <a:close/>
                <a:moveTo>
                  <a:pt x="977627" y="85969"/>
                </a:moveTo>
                <a:lnTo>
                  <a:pt x="1417418" y="525759"/>
                </a:lnTo>
                <a:cubicBezTo>
                  <a:pt x="1417515" y="525857"/>
                  <a:pt x="1417513" y="526017"/>
                  <a:pt x="1417415" y="526113"/>
                </a:cubicBezTo>
                <a:cubicBezTo>
                  <a:pt x="1417368" y="526158"/>
                  <a:pt x="1417307" y="526185"/>
                  <a:pt x="1417242" y="526185"/>
                </a:cubicBezTo>
                <a:lnTo>
                  <a:pt x="977201" y="526185"/>
                </a:lnTo>
                <a:lnTo>
                  <a:pt x="977201" y="86144"/>
                </a:lnTo>
                <a:cubicBezTo>
                  <a:pt x="977204" y="86006"/>
                  <a:pt x="977316" y="85896"/>
                  <a:pt x="977454" y="85896"/>
                </a:cubicBezTo>
                <a:cubicBezTo>
                  <a:pt x="977519" y="85898"/>
                  <a:pt x="977582" y="85924"/>
                  <a:pt x="977627" y="85969"/>
                </a:cubicBezTo>
                <a:close/>
                <a:moveTo>
                  <a:pt x="50113" y="1954402"/>
                </a:moveTo>
                <a:lnTo>
                  <a:pt x="50113" y="50113"/>
                </a:lnTo>
                <a:lnTo>
                  <a:pt x="927088" y="50113"/>
                </a:lnTo>
                <a:lnTo>
                  <a:pt x="927088" y="576298"/>
                </a:lnTo>
                <a:lnTo>
                  <a:pt x="1453273" y="576298"/>
                </a:lnTo>
                <a:lnTo>
                  <a:pt x="1453273" y="1954402"/>
                </a:lnTo>
                <a:close/>
              </a:path>
            </a:pathLst>
          </a:custGeom>
          <a:gradFill>
            <a:gsLst>
              <a:gs pos="11000">
                <a:srgbClr val="73262F">
                  <a:alpha val="20000"/>
                </a:srgbClr>
              </a:gs>
              <a:gs pos="83000">
                <a:srgbClr val="2A446F">
                  <a:alpha val="20000"/>
                </a:srgbClr>
              </a:gs>
            </a:gsLst>
            <a:path path="circle">
              <a:fillToRect l="100000" t="100000"/>
            </a:path>
          </a:gradFill>
          <a:ln w="25003" cap="flat">
            <a:noFill/>
            <a:prstDash val="solid"/>
            <a:miter/>
          </a:ln>
        </p:spPr>
        <p:txBody>
          <a:bodyPr rtlCol="0" anchor="ctr"/>
          <a:lstStyle/>
          <a:p>
            <a:endParaRPr lang="en-CA">
              <a:latin typeface="Segoe UI Variable Display Semib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568FBB-B04B-77BE-0721-169E09C0F5F7}"/>
              </a:ext>
            </a:extLst>
          </p:cNvPr>
          <p:cNvSpPr/>
          <p:nvPr/>
        </p:nvSpPr>
        <p:spPr bwMode="auto">
          <a:xfrm>
            <a:off x="5951093" y="4712052"/>
            <a:ext cx="1330193" cy="413170"/>
          </a:xfrm>
          <a:prstGeom prst="roundRect">
            <a:avLst>
              <a:gd name="adj" fmla="val 26289"/>
            </a:avLst>
          </a:prstGeom>
          <a:gradFill flip="none" rotWithShape="1">
            <a:gsLst>
              <a:gs pos="11000">
                <a:srgbClr val="FFC6CC"/>
              </a:gs>
              <a:gs pos="83000">
                <a:srgbClr val="A9D5E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08000" rIns="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/>
                </a:solidFill>
                <a:latin typeface="Segoe UI Variable Display Semib" pitchFamily="2" charset="0"/>
                <a:ea typeface="Segoe UI" pitchFamily="34" charset="0"/>
                <a:cs typeface="Segoe UI Semibold" panose="020B0702040204020203" pitchFamily="34" charset="0"/>
              </a:rPr>
              <a:t>Label + policy</a:t>
            </a:r>
          </a:p>
        </p:txBody>
      </p:sp>
      <p:sp>
        <p:nvSpPr>
          <p:cNvPr id="26" name="Callout: Line with Accent Bar 10">
            <a:extLst>
              <a:ext uri="{FF2B5EF4-FFF2-40B4-BE49-F238E27FC236}">
                <a16:creationId xmlns:a16="http://schemas.microsoft.com/office/drawing/2014/main" id="{C8A5C988-2FC2-19AC-B3B3-1B511AFFE258}"/>
              </a:ext>
            </a:extLst>
          </p:cNvPr>
          <p:cNvSpPr/>
          <p:nvPr/>
        </p:nvSpPr>
        <p:spPr bwMode="auto">
          <a:xfrm>
            <a:off x="8634443" y="3264304"/>
            <a:ext cx="2900419" cy="4308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tx1"/>
                </a:solidFill>
                <a:latin typeface="Segoe UI Variable Display Semib" pitchFamily="2" charset="0"/>
                <a:cs typeface="Segoe UI" pitchFamily="34" charset="0"/>
              </a:rPr>
              <a:t>Labels are part of the document, independent of container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284D27-3C51-F9E1-6F86-AF93A96DA6E1}"/>
              </a:ext>
            </a:extLst>
          </p:cNvPr>
          <p:cNvSpPr txBox="1"/>
          <p:nvPr/>
        </p:nvSpPr>
        <p:spPr>
          <a:xfrm>
            <a:off x="8634443" y="4519262"/>
            <a:ext cx="2820003" cy="6976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>
                <a:latin typeface="Segoe UI Variable Display Semib" pitchFamily="2" charset="0"/>
              </a:rPr>
              <a:t>Azure AI Search now can:</a:t>
            </a:r>
          </a:p>
          <a:p>
            <a:pPr indent="-180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Segoe UI Variable Display Semib" pitchFamily="2" charset="0"/>
              </a:rPr>
              <a:t>Index encrypted content</a:t>
            </a:r>
          </a:p>
          <a:p>
            <a:pPr indent="-1800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Segoe UI Variable Display Semib" pitchFamily="2" charset="0"/>
              </a:rPr>
              <a:t>Enforce label-associated policies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82EE8BE-9791-AC11-78BC-A552F78A9603}"/>
              </a:ext>
            </a:extLst>
          </p:cNvPr>
          <p:cNvSpPr txBox="1">
            <a:spLocks/>
          </p:cNvSpPr>
          <p:nvPr/>
        </p:nvSpPr>
        <p:spPr>
          <a:xfrm>
            <a:off x="5169931" y="5882396"/>
            <a:ext cx="6148452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>
                <a:latin typeface="Segoe UI Variable Display Semib" pitchFamily="2" charset="0"/>
              </a:rPr>
              <a:t>Join the private preview: </a:t>
            </a:r>
            <a:r>
              <a:rPr lang="en-US" sz="2000" b="1">
                <a:ln w="3175">
                  <a:noFill/>
                </a:ln>
                <a:gradFill flip="none" rotWithShape="1">
                  <a:gsLst>
                    <a:gs pos="0">
                      <a:srgbClr val="73262F"/>
                    </a:gs>
                    <a:gs pos="35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" pitchFamily="2" charset="0"/>
              </a:rPr>
              <a:t>aka.ms/</a:t>
            </a:r>
            <a:r>
              <a:rPr lang="en-US" sz="2000" b="1" err="1">
                <a:ln w="3175">
                  <a:noFill/>
                </a:ln>
                <a:gradFill flip="none" rotWithShape="1">
                  <a:gsLst>
                    <a:gs pos="0">
                      <a:srgbClr val="73262F"/>
                    </a:gs>
                    <a:gs pos="35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" pitchFamily="2" charset="0"/>
              </a:rPr>
              <a:t>AISearch-senslabels</a:t>
            </a:r>
            <a:endParaRPr lang="en-US" sz="2000" b="1">
              <a:ln w="3175">
                <a:noFill/>
              </a:ln>
              <a:gradFill flip="none" rotWithShape="1">
                <a:gsLst>
                  <a:gs pos="0">
                    <a:srgbClr val="73262F"/>
                  </a:gs>
                  <a:gs pos="35000">
                    <a:srgbClr val="2A446F"/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Segoe UI Variable Display Semib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8AF160-F404-F334-BD85-8A4D76733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7" t="864" r="774" b="313"/>
          <a:stretch/>
        </p:blipFill>
        <p:spPr>
          <a:xfrm>
            <a:off x="584200" y="1385009"/>
            <a:ext cx="4061104" cy="4893901"/>
          </a:xfrm>
          <a:prstGeom prst="roundRect">
            <a:avLst>
              <a:gd name="adj" fmla="val 306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2ACAA20-0BFB-64DB-EF12-DD87EF051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305994" y="2377439"/>
            <a:ext cx="2623357" cy="3168250"/>
          </a:xfrm>
          <a:prstGeom prst="roundRect">
            <a:avLst>
              <a:gd name="adj" fmla="val 5422"/>
            </a:avLst>
          </a:prstGeom>
          <a:ln w="12700" cap="rnd">
            <a:solidFill>
              <a:schemeClr val="tx1"/>
            </a:solidFill>
            <a:prstDash val="dash"/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11702">
              <a:spcBef>
                <a:spcPts val="174"/>
              </a:spcBef>
            </a:pPr>
            <a:endParaRPr lang="en-US" sz="2400" b="1" err="1"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latin typeface="Segoe UI Variable Display Semib" pitchFamily="2" charset="0"/>
            </a:endParaRPr>
          </a:p>
        </p:txBody>
      </p:sp>
      <p:pic>
        <p:nvPicPr>
          <p:cNvPr id="13" name="Graphic 9">
            <a:extLst>
              <a:ext uri="{FF2B5EF4-FFF2-40B4-BE49-F238E27FC236}">
                <a16:creationId xmlns:a16="http://schemas.microsoft.com/office/drawing/2014/main" id="{3F72B376-3BDA-3DD2-8DE6-76827A839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34443" y="3928715"/>
            <a:ext cx="590547" cy="590547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982D82D-8483-6CF9-A9C6-FA50E4656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882101" y="1385009"/>
            <a:ext cx="6724112" cy="4884029"/>
          </a:xfrm>
          <a:prstGeom prst="roundRect">
            <a:avLst>
              <a:gd name="adj" fmla="val 2244"/>
            </a:avLst>
          </a:prstGeom>
          <a:noFill/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latin typeface="Segoe UI Variable Display Semib" pitchFamily="2" charset="0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853102E-B5B1-5EF7-EF5A-D544C832F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04573" y="2740845"/>
            <a:ext cx="779469" cy="0"/>
          </a:xfrm>
          <a:prstGeom prst="straightConnector1">
            <a:avLst/>
          </a:pr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91F2BDB-8AC7-7AEB-48EE-C3568EC60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91346" y="3387256"/>
            <a:ext cx="1192696" cy="1542553"/>
          </a:xfrm>
          <a:custGeom>
            <a:avLst/>
            <a:gdLst>
              <a:gd name="connsiteX0" fmla="*/ 0 w 1121134"/>
              <a:gd name="connsiteY0" fmla="*/ 1550505 h 1550505"/>
              <a:gd name="connsiteX1" fmla="*/ 834887 w 1121134"/>
              <a:gd name="connsiteY1" fmla="*/ 1550505 h 1550505"/>
              <a:gd name="connsiteX2" fmla="*/ 834887 w 1121134"/>
              <a:gd name="connsiteY2" fmla="*/ 0 h 1550505"/>
              <a:gd name="connsiteX3" fmla="*/ 1121134 w 1121134"/>
              <a:gd name="connsiteY3" fmla="*/ 0 h 1550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134" h="1550505">
                <a:moveTo>
                  <a:pt x="0" y="1550505"/>
                </a:moveTo>
                <a:lnTo>
                  <a:pt x="834887" y="1550505"/>
                </a:lnTo>
                <a:lnTo>
                  <a:pt x="834887" y="0"/>
                </a:lnTo>
                <a:lnTo>
                  <a:pt x="1121134" y="0"/>
                </a:lnTo>
              </a:path>
            </a:pathLst>
          </a:cu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atin typeface="Segoe UI Variable Display Semib" pitchFamily="2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79BDD01-D6C7-E831-7558-C4D9A98C5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599583" y="4230094"/>
            <a:ext cx="1884459" cy="1152939"/>
          </a:xfrm>
          <a:custGeom>
            <a:avLst/>
            <a:gdLst>
              <a:gd name="connsiteX0" fmla="*/ 0 w 1836751"/>
              <a:gd name="connsiteY0" fmla="*/ 1033669 h 1152939"/>
              <a:gd name="connsiteX1" fmla="*/ 0 w 1836751"/>
              <a:gd name="connsiteY1" fmla="*/ 1152939 h 1152939"/>
              <a:gd name="connsiteX2" fmla="*/ 1693627 w 1836751"/>
              <a:gd name="connsiteY2" fmla="*/ 1152939 h 1152939"/>
              <a:gd name="connsiteX3" fmla="*/ 1693627 w 1836751"/>
              <a:gd name="connsiteY3" fmla="*/ 0 h 1152939"/>
              <a:gd name="connsiteX4" fmla="*/ 1836751 w 1836751"/>
              <a:gd name="connsiteY4" fmla="*/ 0 h 1152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6751" h="1152939">
                <a:moveTo>
                  <a:pt x="0" y="1033669"/>
                </a:moveTo>
                <a:lnTo>
                  <a:pt x="0" y="1152939"/>
                </a:lnTo>
                <a:lnTo>
                  <a:pt x="1693627" y="1152939"/>
                </a:lnTo>
                <a:lnTo>
                  <a:pt x="1693627" y="0"/>
                </a:lnTo>
                <a:lnTo>
                  <a:pt x="1836751" y="0"/>
                </a:lnTo>
              </a:path>
            </a:pathLst>
          </a:custGeom>
          <a:ln w="12700" cap="rnd">
            <a:solidFill>
              <a:srgbClr val="000000"/>
            </a:solidFill>
            <a:headEnd type="none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>
              <a:latin typeface="Segoe UI Variable Display Semi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519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1.875E-6 -2.22222E-6 L -1.875E-6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6EDE-2B4F-CFCC-1919-CE2152370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44553FF-F840-59CC-0F5A-004E575361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7373" y="338471"/>
            <a:ext cx="11017250" cy="677108"/>
          </a:xfrm>
        </p:spPr>
        <p:txBody>
          <a:bodyPr/>
          <a:lstStyle/>
          <a:p>
            <a:pPr algn="ctr"/>
            <a:r>
              <a:rPr lang="en-US" sz="4400">
                <a:latin typeface="Segoe Sans Display Semibold" pitchFamily="2" charset="0"/>
                <a:cs typeface="Segoe Sans Display Semibold" pitchFamily="2" charset="0"/>
              </a:rPr>
              <a:t>Want to test out sensitivity labels?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7F3AC0C-AB86-DCD6-7D41-3604472C3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492142" y="2112264"/>
            <a:ext cx="9207716" cy="4199811"/>
          </a:xfrm>
          <a:prstGeom prst="roundRect">
            <a:avLst>
              <a:gd name="adj" fmla="val 4576"/>
            </a:avLst>
          </a:prstGeom>
          <a:noFill/>
          <a:ln w="12700">
            <a:gradFill>
              <a:gsLst>
                <a:gs pos="0">
                  <a:srgbClr val="2A446F"/>
                </a:gs>
                <a:gs pos="100000">
                  <a:srgbClr val="73262F"/>
                </a:gs>
              </a:gsLst>
              <a:lin ang="2700000" scaled="0"/>
            </a:gradFill>
            <a:headEnd type="none" w="med" len="med"/>
            <a:tailEnd type="none" w="med" len="med"/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 useBgFill="1">
        <p:nvSpPr>
          <p:cNvPr id="27" name="TextBox 26">
            <a:extLst>
              <a:ext uri="{FF2B5EF4-FFF2-40B4-BE49-F238E27FC236}">
                <a16:creationId xmlns:a16="http://schemas.microsoft.com/office/drawing/2014/main" id="{A5E49D50-ECB4-1236-07DD-BF14B996658F}"/>
              </a:ext>
            </a:extLst>
          </p:cNvPr>
          <p:cNvSpPr txBox="1"/>
          <p:nvPr/>
        </p:nvSpPr>
        <p:spPr>
          <a:xfrm>
            <a:off x="4018250" y="1806973"/>
            <a:ext cx="4155493" cy="677108"/>
          </a:xfrm>
          <a:prstGeom prst="rect">
            <a:avLst/>
          </a:prstGeom>
        </p:spPr>
        <p:txBody>
          <a:bodyPr wrap="square" lIns="91440" tIns="91440" rIns="91440" bIns="9144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Variable Display Semib" pitchFamily="2" charset="0"/>
                <a:ea typeface="+mn-ea"/>
                <a:cs typeface="+mn-cs"/>
              </a:rPr>
              <a:t>Join private preview</a:t>
            </a:r>
          </a:p>
        </p:txBody>
      </p:sp>
      <p:sp>
        <p:nvSpPr>
          <p:cNvPr id="35" name="TextBox 34">
            <a:hlinkClick r:id="rId2"/>
            <a:extLst>
              <a:ext uri="{FF2B5EF4-FFF2-40B4-BE49-F238E27FC236}">
                <a16:creationId xmlns:a16="http://schemas.microsoft.com/office/drawing/2014/main" id="{0E6FC46F-E053-6B0A-5330-230EF7726442}"/>
              </a:ext>
            </a:extLst>
          </p:cNvPr>
          <p:cNvSpPr txBox="1"/>
          <p:nvPr/>
        </p:nvSpPr>
        <p:spPr>
          <a:xfrm>
            <a:off x="4209595" y="2449459"/>
            <a:ext cx="377280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Variable Display Semib" pitchFamily="2" charset="0"/>
                <a:ea typeface="+mn-ea"/>
                <a:cs typeface="+mn-cs"/>
              </a:rPr>
              <a:t>aka.ms/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Variable Display Semib" pitchFamily="2" charset="0"/>
                <a:ea typeface="+mn-ea"/>
                <a:cs typeface="+mn-cs"/>
              </a:rPr>
              <a:t>AISearch-senslabels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Variable Display Semib" pitchFamily="2" charset="0"/>
              <a:ea typeface="+mn-ea"/>
              <a:cs typeface="+mn-cs"/>
            </a:endParaRPr>
          </a:p>
        </p:txBody>
      </p:sp>
      <p:grpSp>
        <p:nvGrpSpPr>
          <p:cNvPr id="9" name="Group 8" descr="QR code">
            <a:extLst>
              <a:ext uri="{FF2B5EF4-FFF2-40B4-BE49-F238E27FC236}">
                <a16:creationId xmlns:a16="http://schemas.microsoft.com/office/drawing/2014/main" id="{694D0BCB-B27F-4261-D9B9-12745A7F7ACB}"/>
              </a:ext>
            </a:extLst>
          </p:cNvPr>
          <p:cNvGrpSpPr/>
          <p:nvPr/>
        </p:nvGrpSpPr>
        <p:grpSpPr>
          <a:xfrm>
            <a:off x="4765543" y="3356456"/>
            <a:ext cx="2660904" cy="2616648"/>
            <a:chOff x="4709160" y="3080064"/>
            <a:chExt cx="2660904" cy="261664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554831-80DE-F6E1-08B4-6130C921A1BD}"/>
                </a:ext>
              </a:extLst>
            </p:cNvPr>
            <p:cNvSpPr txBox="1">
              <a:spLocks/>
            </p:cNvSpPr>
            <p:nvPr/>
          </p:nvSpPr>
          <p:spPr>
            <a:xfrm>
              <a:off x="4709160" y="3080064"/>
              <a:ext cx="2660904" cy="2616648"/>
            </a:xfrm>
            <a:prstGeom prst="roundRect">
              <a:avLst>
                <a:gd name="adj" fmla="val 13574"/>
              </a:avLst>
            </a:prstGeom>
            <a:gradFill flip="none" rotWithShape="1">
              <a:gsLst>
                <a:gs pos="0">
                  <a:srgbClr val="73262F">
                    <a:alpha val="89804"/>
                  </a:srgbClr>
                </a:gs>
                <a:gs pos="80000">
                  <a:srgbClr val="2A446F">
                    <a:alpha val="8980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</p:spPr>
          <p:txBody>
            <a:bodyPr wrap="square" lIns="0" tIns="0" rIns="0" bIns="45720" rtlCol="0" anchor="ctr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2275850" rtl="0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701239" algn="l"/>
                </a:tabLst>
                <a:defRPr/>
              </a:pPr>
              <a:endPara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59D032D-2E68-DEC5-369F-46BB9842B67E}"/>
                </a:ext>
              </a:extLst>
            </p:cNvPr>
            <p:cNvSpPr txBox="1">
              <a:spLocks/>
            </p:cNvSpPr>
            <p:nvPr/>
          </p:nvSpPr>
          <p:spPr>
            <a:xfrm>
              <a:off x="4862938" y="3231285"/>
              <a:ext cx="2353348" cy="2314207"/>
            </a:xfrm>
            <a:prstGeom prst="roundRect">
              <a:avLst>
                <a:gd name="adj" fmla="val 13574"/>
              </a:avLst>
            </a:prstGeom>
            <a:blipFill>
              <a:blip r:embed="rId3"/>
              <a:stretch>
                <a:fillRect/>
              </a:stretch>
            </a:blipFill>
          </p:spPr>
          <p:txBody>
            <a:bodyPr wrap="square" lIns="0" tIns="0" rIns="0" bIns="45720" rtlCol="0" anchor="ctr" anchorCtr="0">
              <a:noAutofit/>
            </a:bodyPr>
            <a:lstStyle>
              <a:defPPr>
                <a:defRPr lang="en-US"/>
              </a:defPPr>
              <a:lvl1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 sz="6000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Variable Display Semib" pitchFamily="2" charset="0"/>
                  <a:cs typeface="Segoe UI" pitchFamily="34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2275850" rtl="0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701239" algn="l"/>
                </a:tabLst>
                <a:defRPr/>
              </a:pPr>
              <a:endPara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8899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endParaRPr>
            </a:p>
          </p:txBody>
        </p:sp>
      </p:grpSp>
      <p:pic>
        <p:nvPicPr>
          <p:cNvPr id="10" name="Graphic 9">
            <a:extLst>
              <a:ext uri="{FF2B5EF4-FFF2-40B4-BE49-F238E27FC236}">
                <a16:creationId xmlns:a16="http://schemas.microsoft.com/office/drawing/2014/main" id="{09B0A6DA-7451-E0AF-E1C5-0A7694965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6150" y="1261823"/>
            <a:ext cx="759690" cy="75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43971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9A717-D876-D714-D203-DEE8FA991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EA3B33-1B2A-651C-AD1A-2C165867C1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8963" y="2908856"/>
            <a:ext cx="11017250" cy="104028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FAE4A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  <a:t>Doing it the modern way</a:t>
            </a:r>
          </a:p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50" normalizeH="0" baseline="0" noProof="0">
                <a:ln w="3175">
                  <a:noFill/>
                </a:ln>
                <a:solidFill>
                  <a:srgbClr val="FAE4A2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  <a:t>MCP &amp; Search for development</a:t>
            </a:r>
            <a:endParaRPr kumimoji="0" lang="en-US" sz="2800" b="0" i="0" u="none" strike="noStrike" kern="1200" cap="none" spc="-50" normalizeH="0" baseline="0" noProof="0">
              <a:ln w="3175">
                <a:noFill/>
              </a:ln>
              <a:solidFill>
                <a:srgbClr val="FAE4A2"/>
              </a:solidFill>
              <a:effectLst/>
              <a:uLnTx/>
              <a:uFillTx/>
              <a:latin typeface="+mj-lt"/>
              <a:ea typeface="+mn-ea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72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4CAA-193E-DF5D-E86C-1644B2C20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26DA-9A4A-8183-FDA5-DB0606670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1884607"/>
            <a:ext cx="3476625" cy="615553"/>
          </a:xfrm>
        </p:spPr>
        <p:txBody>
          <a:bodyPr anchor="ctr" anchorCtr="0"/>
          <a:lstStyle/>
          <a:p>
            <a:r>
              <a:rPr lang="en-US" sz="4000">
                <a:latin typeface="Segoe UI Variable Display Semib" pitchFamily="2" charset="0"/>
              </a:rPr>
              <a:t>Azure MCP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B0A95C-2620-A256-C60A-2941BC1AD3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00540" y="2918542"/>
            <a:ext cx="4334426" cy="2962349"/>
          </a:xfrm>
        </p:spPr>
        <p:txBody>
          <a:bodyPr/>
          <a:lstStyle/>
          <a:p>
            <a:pPr marL="0" indent="0">
              <a:spcBef>
                <a:spcPts val="3000"/>
              </a:spcBef>
              <a:buNone/>
            </a:pPr>
            <a:r>
              <a:rPr lang="en-US" sz="2000">
                <a:latin typeface="Segoe UI Variable Display Semib" pitchFamily="2" charset="0"/>
              </a:rPr>
              <a:t>Development oriented MCP server </a:t>
            </a:r>
            <a:br>
              <a:rPr lang="en-US" sz="2000">
                <a:latin typeface="Segoe UI Variable Display Semib" pitchFamily="2" charset="0"/>
              </a:rPr>
            </a:br>
            <a:r>
              <a:rPr lang="en-US" sz="2000">
                <a:latin typeface="Segoe UI Variable Display Semib" pitchFamily="2" charset="0"/>
              </a:rPr>
              <a:t>for Azure</a:t>
            </a:r>
          </a:p>
          <a:p>
            <a:pPr marL="0" indent="0">
              <a:spcBef>
                <a:spcPts val="3000"/>
              </a:spcBef>
              <a:buNone/>
            </a:pPr>
            <a:r>
              <a:rPr lang="en-US" sz="2000" err="1">
                <a:latin typeface="Segoe UI Variable Display Semib" pitchFamily="2" charset="0"/>
              </a:rPr>
              <a:t>azmcp</a:t>
            </a:r>
            <a:r>
              <a:rPr lang="en-US" sz="2000">
                <a:latin typeface="Segoe UI Variable Display Semib" pitchFamily="2" charset="0"/>
              </a:rPr>
              <a:t> + </a:t>
            </a:r>
            <a:r>
              <a:rPr lang="en-US" sz="2000" err="1">
                <a:latin typeface="Segoe UI Variable Display Semib" pitchFamily="2" charset="0"/>
              </a:rPr>
              <a:t>vscode</a:t>
            </a:r>
            <a:r>
              <a:rPr lang="en-US" sz="2000">
                <a:latin typeface="Segoe UI Variable Display Semib" pitchFamily="2" charset="0"/>
              </a:rPr>
              <a:t> work great together!</a:t>
            </a:r>
          </a:p>
          <a:p>
            <a:pPr marL="0" indent="0">
              <a:spcBef>
                <a:spcPts val="3000"/>
              </a:spcBef>
              <a:buNone/>
            </a:pPr>
            <a:r>
              <a:rPr lang="en-US" sz="2000">
                <a:latin typeface="Segoe UI Variable Display Semib" pitchFamily="2" charset="0"/>
              </a:rPr>
              <a:t>Tuning APIs for AI agents that code</a:t>
            </a:r>
          </a:p>
          <a:p>
            <a:pPr marL="0" indent="0"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2000">
                <a:latin typeface="Segoe UI Variable Display Semib" pitchFamily="2" charset="0"/>
              </a:rPr>
              <a:t>Self description, adapters</a:t>
            </a:r>
          </a:p>
        </p:txBody>
      </p:sp>
      <p:sp>
        <p:nvSpPr>
          <p:cNvPr id="48" name="Rounded Rectangle 6">
            <a:extLst>
              <a:ext uri="{FF2B5EF4-FFF2-40B4-BE49-F238E27FC236}">
                <a16:creationId xmlns:a16="http://schemas.microsoft.com/office/drawing/2014/main" id="{AB366640-3062-1B7C-3AC3-E71759636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213941" y="2859602"/>
            <a:ext cx="1161192" cy="1266600"/>
          </a:xfrm>
          <a:prstGeom prst="roundRect">
            <a:avLst>
              <a:gd name="adj" fmla="val 11187"/>
            </a:avLst>
          </a:prstGeom>
          <a:gradFill flip="none" rotWithShape="1">
            <a:gsLst>
              <a:gs pos="0">
                <a:srgbClr val="73262F">
                  <a:alpha val="10000"/>
                </a:srgbClr>
              </a:gs>
              <a:gs pos="99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 cap="rnd">
            <a:noFill/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08345" tIns="86676" rIns="108345" bIns="866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5246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1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000000"/>
                  </a:gs>
                  <a:gs pos="99000">
                    <a:srgbClr val="000000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Segoe UI Variable Display Semib" pitchFamily="2" charset="0"/>
              <a:cs typeface="Segoe Sans Display" pitchFamily="2" charset="0"/>
            </a:endParaRPr>
          </a:p>
        </p:txBody>
      </p:sp>
      <p:sp>
        <p:nvSpPr>
          <p:cNvPr id="49" name="Rounded Rectangle 6">
            <a:extLst>
              <a:ext uri="{FF2B5EF4-FFF2-40B4-BE49-F238E27FC236}">
                <a16:creationId xmlns:a16="http://schemas.microsoft.com/office/drawing/2014/main" id="{9CBC11EC-2BCA-1610-0AC7-2F8981F4A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319464" y="3599161"/>
            <a:ext cx="950146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 w="3175">
                  <a:noFill/>
                </a:ln>
                <a:effectLst/>
                <a:uLnTx/>
                <a:uFillTx/>
                <a:latin typeface="Segoe UI Variable Display Semib" pitchFamily="2" charset="0"/>
                <a:cs typeface="Segoe Sans Display Semibold" pitchFamily="2" charset="0"/>
              </a:rPr>
              <a:t>VS Code</a:t>
            </a:r>
          </a:p>
        </p:txBody>
      </p:sp>
      <p:sp>
        <p:nvSpPr>
          <p:cNvPr id="63" name="CS box - replacement">
            <a:extLst>
              <a:ext uri="{FF2B5EF4-FFF2-40B4-BE49-F238E27FC236}">
                <a16:creationId xmlns:a16="http://schemas.microsoft.com/office/drawing/2014/main" id="{C670E194-164B-3BD2-457F-EFAF93624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724990" y="904114"/>
            <a:ext cx="2723659" cy="5177575"/>
          </a:xfrm>
          <a:prstGeom prst="roundRect">
            <a:avLst>
              <a:gd name="adj" fmla="val 5254"/>
            </a:avLst>
          </a:prstGeom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11702">
              <a:spcBef>
                <a:spcPts val="174"/>
              </a:spcBef>
            </a:pPr>
            <a:endParaRPr lang="en-US" sz="2400" b="1"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latin typeface="Segoe UI Variable Display Semib" pitchFamily="2" charset="0"/>
            </a:endParaRPr>
          </a:p>
        </p:txBody>
      </p:sp>
      <p:sp useBgFill="1">
        <p:nvSpPr>
          <p:cNvPr id="66" name="Title 1">
            <a:extLst>
              <a:ext uri="{FF2B5EF4-FFF2-40B4-BE49-F238E27FC236}">
                <a16:creationId xmlns:a16="http://schemas.microsoft.com/office/drawing/2014/main" id="{47642ACE-1D86-7063-5CF9-8A1DBD483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992722" y="753698"/>
            <a:ext cx="2188194" cy="297490"/>
          </a:xfrm>
          <a:prstGeom prst="rect">
            <a:avLst/>
          </a:prstGeom>
          <a:ln>
            <a:noFill/>
            <a:prstDash/>
          </a:ln>
          <a:effectLst/>
        </p:spPr>
        <p:txBody>
          <a:bodyPr rot="0" spcFirstLastPara="0" vertOverflow="overflow" horzOverflow="overflow" vert="horz" wrap="none" lIns="54187" tIns="0" rIns="54187" bIns="5418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241368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455604" algn="l"/>
              </a:tabLst>
              <a:defRPr lang="en-US" sz="11500" b="0" cap="none" spc="-50" baseline="0" dirty="0" smtClean="0">
                <a:ln w="3175">
                  <a:noFill/>
                </a:ln>
                <a:gradFill>
                  <a:gsLst>
                    <a:gs pos="94406">
                      <a:srgbClr val="FFFFFF">
                        <a:lumMod val="75000"/>
                        <a:lumOff val="25000"/>
                      </a:srgbClr>
                    </a:gs>
                    <a:gs pos="80000">
                      <a:srgbClr val="FFFFFF">
                        <a:lumMod val="75000"/>
                        <a:lumOff val="25000"/>
                      </a:srgbClr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Segoe UI Variable Display Semib" pitchFamily="2" charset="0"/>
              </a:defRPr>
            </a:lvl1pPr>
          </a:lstStyle>
          <a:p>
            <a:pPr marL="0" marR="0" lvl="0" indent="0" algn="ctr" defTabSz="5362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45566" algn="l"/>
              </a:tabLst>
              <a:defRPr/>
            </a:pPr>
            <a:endParaRPr kumimoji="0" lang="en-CA" sz="2133" b="0" i="0" u="none" strike="noStrike" kern="1200" cap="none" spc="0" normalizeH="0" baseline="0" noProof="0">
              <a:ln w="3175">
                <a:noFill/>
              </a:ln>
              <a:noFill/>
              <a:effectLst/>
              <a:uLnTx/>
              <a:uFillTx/>
              <a:cs typeface="Segoe Sans Display" pitchFamily="2" charset="0"/>
            </a:endParaRPr>
          </a:p>
        </p:txBody>
      </p:sp>
      <p:grpSp>
        <p:nvGrpSpPr>
          <p:cNvPr id="78" name="Group 77" descr="Azure MCP Server&#10;">
            <a:extLst>
              <a:ext uri="{FF2B5EF4-FFF2-40B4-BE49-F238E27FC236}">
                <a16:creationId xmlns:a16="http://schemas.microsoft.com/office/drawing/2014/main" id="{9BEDBA7D-B20F-4CFE-ACE3-AA8AA282196F}"/>
              </a:ext>
            </a:extLst>
          </p:cNvPr>
          <p:cNvGrpSpPr/>
          <p:nvPr/>
        </p:nvGrpSpPr>
        <p:grpSpPr>
          <a:xfrm>
            <a:off x="8065678" y="753699"/>
            <a:ext cx="2042282" cy="246393"/>
            <a:chOff x="7864674" y="749870"/>
            <a:chExt cx="2130336" cy="257016"/>
          </a:xfrm>
        </p:grpSpPr>
        <p:sp>
          <p:nvSpPr>
            <p:cNvPr id="76" name="Title 1">
              <a:extLst>
                <a:ext uri="{FF2B5EF4-FFF2-40B4-BE49-F238E27FC236}">
                  <a16:creationId xmlns:a16="http://schemas.microsoft.com/office/drawing/2014/main" id="{02C0A7CA-36CE-1AF8-A986-1C11429BD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8126149" y="749960"/>
              <a:ext cx="1868861" cy="256838"/>
            </a:xfrm>
            <a:prstGeom prst="rect">
              <a:avLst/>
            </a:prstGeom>
            <a:noFill/>
            <a:ln>
              <a:noFill/>
              <a:prstDash/>
            </a:ln>
            <a:effectLst/>
          </p:spPr>
          <p:txBody>
            <a:bodyPr rot="0" spcFirstLastPara="0" vertOverflow="overflow" horzOverflow="overflow" vert="horz" wrap="square" lIns="54187" tIns="0" rIns="54187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ctr" defTabSz="241368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>
                  <a:tab pos="2455604" algn="l"/>
                </a:tabLst>
                <a:defRPr lang="en-US" sz="11500" b="0" cap="none" spc="-50" baseline="0" dirty="0" smtClean="0">
                  <a:ln w="3175">
                    <a:noFill/>
                  </a:ln>
                  <a:gradFill>
                    <a:gsLst>
                      <a:gs pos="94406">
                        <a:srgbClr val="FFFFFF">
                          <a:lumMod val="75000"/>
                          <a:lumOff val="25000"/>
                        </a:srgbClr>
                      </a:gs>
                      <a:gs pos="80000">
                        <a:srgbClr val="FFFFFF">
                          <a:lumMod val="75000"/>
                          <a:lumOff val="25000"/>
                        </a:srgbClr>
                      </a:gs>
                    </a:gsLst>
                    <a:path path="circle">
                      <a:fillToRect l="100000" t="100000"/>
                    </a:path>
                  </a:gradFill>
                  <a:effectLst/>
                  <a:latin typeface="Segoe UI Variable Display Semib" pitchFamily="2" charset="0"/>
                </a:defRPr>
              </a:lvl1pPr>
            </a:lstStyle>
            <a:p>
              <a:pPr marL="0" marR="0" lvl="0" indent="0" algn="l" defTabSz="53625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45566" algn="l"/>
                </a:tabLst>
                <a:defRPr/>
              </a:pPr>
              <a:r>
                <a:rPr kumimoji="0" lang="en-US" sz="1600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10092">
                        <a:srgbClr val="000000"/>
                      </a:gs>
                      <a:gs pos="33028">
                        <a:srgbClr val="000000"/>
                      </a:gs>
                    </a:gsLst>
                    <a:path path="circle">
                      <a:fillToRect l="100000" t="100000"/>
                    </a:path>
                  </a:gradFill>
                  <a:effectLst/>
                  <a:uLnTx/>
                  <a:uFillTx/>
                  <a:cs typeface="Segoe Sans Display Semibold" pitchFamily="2" charset="0"/>
                </a:rPr>
                <a:t>Azure MCP Server</a:t>
              </a:r>
              <a:endParaRPr kumimoji="0" lang="en-CA" sz="16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10092">
                      <a:srgbClr val="000000"/>
                    </a:gs>
                    <a:gs pos="33028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cs typeface="Segoe Sans Display Semibold" pitchFamily="2" charset="0"/>
              </a:endParaRPr>
            </a:p>
          </p:txBody>
        </p:sp>
        <p:pic>
          <p:nvPicPr>
            <p:cNvPr id="77" name="Picture 12" descr="AI for Social Listening in Early Development - Quantiphi">
              <a:extLst>
                <a:ext uri="{FF2B5EF4-FFF2-40B4-BE49-F238E27FC236}">
                  <a16:creationId xmlns:a16="http://schemas.microsoft.com/office/drawing/2014/main" id="{C2202A3D-45EA-FD29-2D9F-85210A5C57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4674" y="749870"/>
              <a:ext cx="257016" cy="25701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0" name="Rounded Rectangle 6">
            <a:extLst>
              <a:ext uri="{FF2B5EF4-FFF2-40B4-BE49-F238E27FC236}">
                <a16:creationId xmlns:a16="http://schemas.microsoft.com/office/drawing/2014/main" id="{47F3C193-ED59-5462-D61C-9110571BF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335123" y="593089"/>
            <a:ext cx="6267914" cy="5697376"/>
          </a:xfrm>
          <a:prstGeom prst="roundRect">
            <a:avLst>
              <a:gd name="adj" fmla="val 3378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42634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11702">
              <a:spcBef>
                <a:spcPts val="174"/>
              </a:spcBef>
            </a:pPr>
            <a:endParaRPr lang="en-US" sz="2400" b="1">
              <a:gradFill>
                <a:gsLst>
                  <a:gs pos="41958">
                    <a:srgbClr val="FFFFFF"/>
                  </a:gs>
                  <a:gs pos="63000">
                    <a:srgbClr val="FFFFFF"/>
                  </a:gs>
                </a:gsLst>
                <a:lin ang="0" scaled="0"/>
              </a:gradFill>
              <a:latin typeface="+mj-lt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95FBA2B-18F5-7081-D194-01751901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3062394" y="1937137"/>
            <a:ext cx="0" cy="275108"/>
          </a:xfrm>
          <a:prstGeom prst="line">
            <a:avLst/>
          </a:prstGeom>
          <a:ln w="12700" cap="rnd">
            <a:solidFill>
              <a:schemeClr val="tx1"/>
            </a:solidFill>
            <a:headEnd type="arrow" w="lg" len="sm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29">
            <a:extLst>
              <a:ext uri="{FF2B5EF4-FFF2-40B4-BE49-F238E27FC236}">
                <a16:creationId xmlns:a16="http://schemas.microsoft.com/office/drawing/2014/main" id="{D1ABA58C-C1E5-1320-BF2C-B649C1AEA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8963" y="3713689"/>
            <a:ext cx="4140000" cy="0"/>
          </a:xfrm>
          <a:prstGeom prst="line">
            <a:avLst/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>
            <a:extLst>
              <a:ext uri="{FF2B5EF4-FFF2-40B4-BE49-F238E27FC236}">
                <a16:creationId xmlns:a16="http://schemas.microsoft.com/office/drawing/2014/main" id="{F650A0F9-3714-B7A6-E8F2-9DCD9D77E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099" y="3119258"/>
            <a:ext cx="360877" cy="360877"/>
          </a:xfrm>
          <a:prstGeom prst="rect">
            <a:avLst/>
          </a:prstGeom>
        </p:spPr>
      </p:pic>
      <p:sp>
        <p:nvSpPr>
          <p:cNvPr id="64" name="Rounded Rectangle 6">
            <a:extLst>
              <a:ext uri="{FF2B5EF4-FFF2-40B4-BE49-F238E27FC236}">
                <a16:creationId xmlns:a16="http://schemas.microsoft.com/office/drawing/2014/main" id="{BC116B1C-4263-5063-F5B3-E2A24410E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939662" y="2394831"/>
            <a:ext cx="1106818" cy="1119387"/>
          </a:xfrm>
          <a:prstGeom prst="roundRect">
            <a:avLst>
              <a:gd name="adj" fmla="val 11737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r>
              <a:rPr lang="en-US" sz="1400" b="1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itchFamily="34" charset="0"/>
              </a:rPr>
              <a:t>CLI Extension</a:t>
            </a:r>
          </a:p>
        </p:txBody>
      </p:sp>
      <p:sp>
        <p:nvSpPr>
          <p:cNvPr id="3" name="Rectangle: Rounded Corners 86">
            <a:extLst>
              <a:ext uri="{FF2B5EF4-FFF2-40B4-BE49-F238E27FC236}">
                <a16:creationId xmlns:a16="http://schemas.microsoft.com/office/drawing/2014/main" id="{7720B6AD-B0DA-EB87-A50D-7E5E1AFE20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7939662" y="4755480"/>
            <a:ext cx="1106818" cy="1119387"/>
          </a:xfrm>
          <a:prstGeom prst="roundRect">
            <a:avLst>
              <a:gd name="adj" fmla="val 11737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r>
              <a:rPr lang="en-US" sz="1400" b="1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itchFamily="34" charset="0"/>
              </a:rPr>
              <a:t>PostgreSQL</a:t>
            </a:r>
          </a:p>
        </p:txBody>
      </p:sp>
      <p:sp>
        <p:nvSpPr>
          <p:cNvPr id="65" name="Rectangle: Rounded Corners 86">
            <a:extLst>
              <a:ext uri="{FF2B5EF4-FFF2-40B4-BE49-F238E27FC236}">
                <a16:creationId xmlns:a16="http://schemas.microsoft.com/office/drawing/2014/main" id="{BF9CA196-9688-E66E-7553-1E2DF36A77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9127158" y="4755481"/>
            <a:ext cx="1106818" cy="1119387"/>
          </a:xfrm>
          <a:prstGeom prst="roundRect">
            <a:avLst>
              <a:gd name="adj" fmla="val 11737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r>
              <a:rPr lang="en-US" sz="1400" b="1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itchFamily="34" charset="0"/>
              </a:rPr>
              <a:t>…</a:t>
            </a:r>
          </a:p>
        </p:txBody>
      </p:sp>
      <p:sp>
        <p:nvSpPr>
          <p:cNvPr id="69" name="Rounded Rectangle 6">
            <a:extLst>
              <a:ext uri="{FF2B5EF4-FFF2-40B4-BE49-F238E27FC236}">
                <a16:creationId xmlns:a16="http://schemas.microsoft.com/office/drawing/2014/main" id="{13DADB06-6461-E136-C3A3-44AD703DD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939662" y="1215408"/>
            <a:ext cx="1106818" cy="1119387"/>
          </a:xfrm>
          <a:prstGeom prst="roundRect">
            <a:avLst>
              <a:gd name="adj" fmla="val 11737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r>
              <a:rPr lang="en-US" sz="1400" b="1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itchFamily="34" charset="0"/>
              </a:rPr>
              <a:t>Resource groups</a:t>
            </a:r>
          </a:p>
        </p:txBody>
      </p:sp>
      <p:sp>
        <p:nvSpPr>
          <p:cNvPr id="70" name="Rounded Rectangle 6">
            <a:extLst>
              <a:ext uri="{FF2B5EF4-FFF2-40B4-BE49-F238E27FC236}">
                <a16:creationId xmlns:a16="http://schemas.microsoft.com/office/drawing/2014/main" id="{5D94EAFC-34E7-3946-9498-39B76B882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127158" y="3574253"/>
            <a:ext cx="1106818" cy="1119387"/>
          </a:xfrm>
          <a:prstGeom prst="roundRect">
            <a:avLst>
              <a:gd name="adj" fmla="val 11737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r>
              <a:rPr lang="en-US" sz="1400" b="1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itchFamily="34" charset="0"/>
              </a:rPr>
              <a:t>Cosmos DB</a:t>
            </a:r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652209C0-E844-2EC9-3643-BB0AC928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939662" y="3574253"/>
            <a:ext cx="1106818" cy="1119387"/>
          </a:xfrm>
          <a:prstGeom prst="roundRect">
            <a:avLst>
              <a:gd name="adj" fmla="val 11737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r>
              <a:rPr lang="en-US" sz="1400" b="1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itchFamily="34" charset="0"/>
              </a:rPr>
              <a:t>Data Explorer</a:t>
            </a:r>
          </a:p>
        </p:txBody>
      </p:sp>
      <p:sp>
        <p:nvSpPr>
          <p:cNvPr id="72" name="Rounded Rectangle 6">
            <a:extLst>
              <a:ext uri="{FF2B5EF4-FFF2-40B4-BE49-F238E27FC236}">
                <a16:creationId xmlns:a16="http://schemas.microsoft.com/office/drawing/2014/main" id="{8C9C6265-D2DC-7323-6069-671B3A7CC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127158" y="1211797"/>
            <a:ext cx="1106818" cy="1119387"/>
          </a:xfrm>
          <a:prstGeom prst="roundRect">
            <a:avLst>
              <a:gd name="adj" fmla="val 11737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r>
              <a:rPr lang="en-US" sz="1400" b="1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itchFamily="34" charset="0"/>
              </a:rPr>
              <a:t>AI Search</a:t>
            </a:r>
          </a:p>
        </p:txBody>
      </p:sp>
      <p:sp>
        <p:nvSpPr>
          <p:cNvPr id="75" name="Rounded Rectangle 6">
            <a:extLst>
              <a:ext uri="{FF2B5EF4-FFF2-40B4-BE49-F238E27FC236}">
                <a16:creationId xmlns:a16="http://schemas.microsoft.com/office/drawing/2014/main" id="{9FB973B1-A2A3-7E6F-75A5-33304CFFE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127158" y="2393025"/>
            <a:ext cx="1106818" cy="1119387"/>
          </a:xfrm>
          <a:prstGeom prst="roundRect">
            <a:avLst>
              <a:gd name="adj" fmla="val 11737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r>
              <a:rPr lang="en-US" sz="1400" b="1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itchFamily="34" charset="0"/>
              </a:rPr>
              <a:t>Monitor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67E8001-1554-B98B-7FE0-94E296E4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462742" y="3402104"/>
            <a:ext cx="206248" cy="181595"/>
            <a:chOff x="7185025" y="3431142"/>
            <a:chExt cx="215140" cy="189425"/>
          </a:xfrm>
        </p:grpSpPr>
        <p:cxnSp>
          <p:nvCxnSpPr>
            <p:cNvPr id="80" name="Straight Arrow Connector 79" descr="Black line arrow">
              <a:extLst>
                <a:ext uri="{FF2B5EF4-FFF2-40B4-BE49-F238E27FC236}">
                  <a16:creationId xmlns:a16="http://schemas.microsoft.com/office/drawing/2014/main" id="{6E232B41-1FA5-6BF1-4A0B-958295D67641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CxnSpPr>
              <a:cxnSpLocks/>
            </p:cNvCxnSpPr>
            <p:nvPr/>
          </p:nvCxnSpPr>
          <p:spPr>
            <a:xfrm>
              <a:off x="7185025" y="3431142"/>
              <a:ext cx="215140" cy="0"/>
            </a:xfrm>
            <a:prstGeom prst="straightConnector1">
              <a:avLst/>
            </a:prstGeom>
            <a:ln w="12700" cap="rnd">
              <a:solidFill>
                <a:srgbClr val="000000"/>
              </a:solidFill>
              <a:headEnd type="none" w="lg" len="sm"/>
              <a:tailEnd type="arrow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 descr="Black line arrow">
              <a:extLst>
                <a:ext uri="{FF2B5EF4-FFF2-40B4-BE49-F238E27FC236}">
                  <a16:creationId xmlns:a16="http://schemas.microsoft.com/office/drawing/2014/main" id="{67F64D6E-009A-6B83-9C7F-469139A60165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85025" y="3620567"/>
              <a:ext cx="215140" cy="0"/>
            </a:xfrm>
            <a:prstGeom prst="straightConnector1">
              <a:avLst/>
            </a:prstGeom>
            <a:ln w="12700" cap="rnd">
              <a:solidFill>
                <a:srgbClr val="000000"/>
              </a:solidFill>
              <a:headEnd type="none" w="lg" len="sm"/>
              <a:tailEnd type="arrow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Прямая соединительная линия 29">
            <a:extLst>
              <a:ext uri="{FF2B5EF4-FFF2-40B4-BE49-F238E27FC236}">
                <a16:creationId xmlns:a16="http://schemas.microsoft.com/office/drawing/2014/main" id="{DCE0F4D5-F517-88E2-8314-799D703F6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0540" y="4440485"/>
            <a:ext cx="4140000" cy="0"/>
          </a:xfrm>
          <a:prstGeom prst="line">
            <a:avLst/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34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420E6-067B-5FA9-420A-BC88BF6B1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1313AC5-A9EF-A2FC-1264-6EA8B3CC82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6740" y="504658"/>
            <a:ext cx="11018520" cy="10464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142722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50" normalizeH="0" baseline="0" noProof="0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" pitchFamily="2" charset="0"/>
              </a:rPr>
              <a:t>Call to Action</a:t>
            </a:r>
            <a:br>
              <a:rPr kumimoji="0" lang="en-US" sz="3600" b="0" i="0" u="none" strike="noStrike" kern="1200" cap="none" spc="-50" normalizeH="0" baseline="0" noProof="0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</a:br>
            <a:r>
              <a:rPr kumimoji="0" lang="en-US" sz="2800" b="0" i="0" u="none" strike="noStrike" kern="1200" cap="none" spc="-50" normalizeH="0" baseline="0" noProof="0">
                <a:ln w="3175">
                  <a:noFill/>
                </a:ln>
                <a:gradFill flip="none" rotWithShape="1">
                  <a:gsLst>
                    <a:gs pos="0">
                      <a:srgbClr val="73262F"/>
                    </a:gs>
                    <a:gs pos="80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Variable Display Semib" pitchFamily="2" charset="0"/>
              </a:rPr>
              <a:t>Resources</a:t>
            </a:r>
            <a:endParaRPr kumimoji="0" lang="en-US" sz="2800" b="0" i="0" u="none" strike="noStrike" kern="1200" cap="none" spc="-50" normalizeH="0" baseline="0" noProof="0">
              <a:ln w="3175">
                <a:noFill/>
              </a:ln>
              <a:gradFill>
                <a:gsLst>
                  <a:gs pos="9174">
                    <a:srgbClr val="000000"/>
                  </a:gs>
                  <a:gs pos="42000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151D45-26AC-7075-A98C-F3B87F587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586740" y="2358073"/>
            <a:ext cx="5442204" cy="3910965"/>
          </a:xfrm>
          <a:prstGeom prst="roundRect">
            <a:avLst>
              <a:gd name="adj" fmla="val 4231"/>
            </a:avLst>
          </a:prstGeom>
          <a:noFill/>
          <a:ln w="12700" cap="rnd">
            <a:solidFill>
              <a:srgbClr val="444142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 sz="1200" b="1">
                <a:solidFill>
                  <a:prstClr val="black"/>
                </a:solidFill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Semibold" panose="020B0502040204020203" pitchFamily="34" charset="0"/>
                <a:cs typeface="Segoe UI" pitchFamily="34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1"/>
            <a:endParaRPr lang="en-US"/>
          </a:p>
        </p:txBody>
      </p:sp>
      <p:sp useBgFill="1"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4F9819F-51C5-165A-00F5-A4EC7D2D5B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799641" y="2168851"/>
            <a:ext cx="1016403" cy="450985"/>
          </a:xfrm>
          <a:prstGeom prst="roundRect">
            <a:avLst>
              <a:gd name="adj" fmla="val 34256"/>
            </a:avLst>
          </a:prstGeom>
        </p:spPr>
        <p:txBody>
          <a:bodyPr wrap="square" lIns="91440" tIns="18288" rIns="91440" bIns="36576" rtlCol="0" anchor="ctr" anchorCtr="0">
            <a:sp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r>
              <a:rPr lang="en-US" sz="2000">
                <a:ln w="3175">
                  <a:noFill/>
                </a:ln>
                <a:gradFill>
                  <a:gsLst>
                    <a:gs pos="46602">
                      <a:srgbClr val="000000"/>
                    </a:gs>
                    <a:gs pos="80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itchFamily="34" charset="0"/>
              </a:rPr>
              <a:t>Learn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A88168-C957-FFF9-7409-764F59040D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8833079"/>
              </p:ext>
            </p:extLst>
          </p:nvPr>
        </p:nvGraphicFramePr>
        <p:xfrm>
          <a:off x="997527" y="2974109"/>
          <a:ext cx="4884162" cy="2926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945">
                  <a:extLst>
                    <a:ext uri="{9D8B030D-6E8A-4147-A177-3AD203B41FA5}">
                      <a16:colId xmlns:a16="http://schemas.microsoft.com/office/drawing/2014/main" val="87204566"/>
                    </a:ext>
                  </a:extLst>
                </a:gridCol>
                <a:gridCol w="1778001">
                  <a:extLst>
                    <a:ext uri="{9D8B030D-6E8A-4147-A177-3AD203B41FA5}">
                      <a16:colId xmlns:a16="http://schemas.microsoft.com/office/drawing/2014/main" val="2447091486"/>
                    </a:ext>
                  </a:extLst>
                </a:gridCol>
                <a:gridCol w="2166216">
                  <a:extLst>
                    <a:ext uri="{9D8B030D-6E8A-4147-A177-3AD203B41FA5}">
                      <a16:colId xmlns:a16="http://schemas.microsoft.com/office/drawing/2014/main" val="3388290827"/>
                    </a:ext>
                  </a:extLst>
                </a:gridCol>
              </a:tblGrid>
              <a:tr h="728339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Blog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spcAft>
                          <a:spcPts val="1200"/>
                        </a:spcAft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Agentic retrieval announcement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aka.ms/agentrag</a:t>
                      </a:r>
                      <a:endParaRPr lang="en-US" sz="1400" b="0" i="0" kern="1200">
                        <a:solidFill>
                          <a:schemeClr val="tx1"/>
                        </a:solidFill>
                        <a:latin typeface="Segoe UI Variable Display" pitchFamily="2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62506"/>
                  </a:ext>
                </a:extLst>
              </a:tr>
              <a:tr h="741042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Blog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spcAft>
                          <a:spcPts val="1200"/>
                        </a:spcAft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Agentic retrieval eval results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aka.ms/aisearch-arevals</a:t>
                      </a:r>
                      <a:endParaRPr lang="en-US" sz="1400" b="0" i="0" kern="1200">
                        <a:solidFill>
                          <a:schemeClr val="tx1"/>
                        </a:solidFill>
                        <a:latin typeface="Segoe UI Variable Display" pitchFamily="2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722568"/>
                  </a:ext>
                </a:extLst>
              </a:tr>
              <a:tr h="728339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Blog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spcAft>
                          <a:spcPts val="1200"/>
                        </a:spcAft>
                        <a:tabLst>
                          <a:tab pos="1371600" algn="l"/>
                        </a:tabLst>
                        <a:defRPr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latin typeface="Segoe UI Variable Display" pitchFamily="2" charset="0"/>
                          <a:cs typeface="Segoe UI"/>
                        </a:rPr>
                        <a:t>Multimodal </a:t>
                      </a:r>
                      <a:br>
                        <a:rPr lang="en-US" sz="1400" b="1" i="0">
                          <a:solidFill>
                            <a:srgbClr val="000000"/>
                          </a:solidFill>
                          <a:latin typeface="Segoe UI Variable Display" pitchFamily="2" charset="0"/>
                          <a:cs typeface="Segoe UI"/>
                        </a:rPr>
                      </a:br>
                      <a:r>
                        <a:rPr lang="en-US" sz="1400" b="1" i="0">
                          <a:solidFill>
                            <a:srgbClr val="000000"/>
                          </a:solidFill>
                          <a:latin typeface="Segoe UI Variable Display" pitchFamily="2" charset="0"/>
                          <a:cs typeface="Segoe UI"/>
                        </a:rPr>
                        <a:t>updates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Segoe UI Variable Display" pitchFamily="2" charset="0"/>
                          <a:cs typeface="Segoe UI"/>
                        </a:rPr>
                        <a:t>aka.ms/Build25/aisearch-multim</a:t>
                      </a:r>
                      <a:endParaRPr lang="en-US" sz="1400" b="0" i="0" kern="1200">
                        <a:solidFill>
                          <a:schemeClr val="tx1"/>
                        </a:solidFill>
                        <a:latin typeface="Segoe UI Variable Display" pitchFamily="2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522165"/>
                  </a:ext>
                </a:extLst>
              </a:tr>
              <a:tr h="728339">
                <a:tc>
                  <a:txBody>
                    <a:bodyPr/>
                    <a:lstStyle/>
                    <a:p>
                      <a:r>
                        <a:rPr lang="en-US" sz="1400" b="0" i="0" kern="1200">
                          <a:solidFill>
                            <a:srgbClr val="000000"/>
                          </a:solidFill>
                          <a:latin typeface="Segoe UI Variable Display" pitchFamily="2" charset="0"/>
                          <a:ea typeface="+mn-ea"/>
                          <a:cs typeface="Segoe UI"/>
                        </a:rPr>
                        <a:t>Docs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spcAft>
                          <a:spcPts val="1200"/>
                        </a:spcAft>
                        <a:tabLst>
                          <a:tab pos="1371600" algn="l"/>
                        </a:tabLst>
                        <a:defRPr/>
                      </a:pPr>
                      <a:r>
                        <a:rPr lang="en-US" sz="1400" b="1" i="0" kern="1200">
                          <a:solidFill>
                            <a:srgbClr val="000000"/>
                          </a:solidFill>
                          <a:latin typeface="Segoe UI Variable Display" pitchFamily="2" charset="0"/>
                          <a:ea typeface="+mn-ea"/>
                          <a:cs typeface="Segoe UI"/>
                        </a:rPr>
                        <a:t>What’s new in </a:t>
                      </a:r>
                      <a:br>
                        <a:rPr lang="en-US" sz="1400" b="1" i="0" kern="1200">
                          <a:solidFill>
                            <a:srgbClr val="000000"/>
                          </a:solidFill>
                          <a:latin typeface="Segoe UI Variable Display" pitchFamily="2" charset="0"/>
                          <a:ea typeface="+mn-ea"/>
                          <a:cs typeface="Segoe UI"/>
                        </a:rPr>
                      </a:br>
                      <a:r>
                        <a:rPr lang="en-US" sz="1400" b="1" i="0" kern="1200">
                          <a:solidFill>
                            <a:srgbClr val="000000"/>
                          </a:solidFill>
                          <a:latin typeface="Segoe UI Variable Display" pitchFamily="2" charset="0"/>
                          <a:ea typeface="+mn-ea"/>
                          <a:cs typeface="Segoe UI"/>
                        </a:rPr>
                        <a:t>Azure AI Search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Segoe UI Variable Display" pitchFamily="2" charset="0"/>
                          <a:cs typeface="Segoe UI"/>
                        </a:rPr>
                        <a:t>aka.ms/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latin typeface="Segoe UI Variable Display" pitchFamily="2" charset="0"/>
                          <a:cs typeface="Segoe UI"/>
                        </a:rPr>
                        <a:t>AISearch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Segoe UI Variable Display" pitchFamily="2" charset="0"/>
                          <a:cs typeface="Segoe UI"/>
                        </a:rPr>
                        <a:t>-new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latin typeface="Segoe UI Variable Display" pitchFamily="2" charset="0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67924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4BBD9E1-2439-DCDB-469F-9E2D81CED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66104" y="2358073"/>
            <a:ext cx="5439156" cy="3910965"/>
          </a:xfrm>
          <a:prstGeom prst="roundRect">
            <a:avLst>
              <a:gd name="adj" fmla="val 4231"/>
            </a:avLst>
          </a:prstGeom>
          <a:noFill/>
          <a:ln w="12700" cap="rnd">
            <a:solidFill>
              <a:srgbClr val="444142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 sz="1200" b="1">
                <a:solidFill>
                  <a:prstClr val="black"/>
                </a:solidFill>
              </a:defRPr>
            </a:lvl1pPr>
            <a:lvl2pPr marL="0" marR="0" lvl="1" indent="0" algn="ctr" defTabSz="630263" fontAlgn="auto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kumimoji="0" sz="1100" b="1" i="0" u="none" strike="noStrike" cap="none" spc="0" normalizeH="0" baseline="0">
                <a:ln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Semibold" panose="020B0502040204020203" pitchFamily="34" charset="0"/>
                <a:cs typeface="Segoe UI" pitchFamily="34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 useBgFill="1"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4C4E319-C79C-B88D-FB70-8D8529BE8B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536695" y="2083229"/>
            <a:ext cx="855664" cy="450985"/>
          </a:xfrm>
          <a:prstGeom prst="roundRect">
            <a:avLst>
              <a:gd name="adj" fmla="val 34256"/>
            </a:avLst>
          </a:prstGeom>
        </p:spPr>
        <p:txBody>
          <a:bodyPr wrap="square" lIns="91440" tIns="18288" rIns="91440" bIns="36576" rtlCol="0" anchor="ctr" anchorCtr="0">
            <a:sp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r>
              <a:rPr lang="en-US" sz="2000">
                <a:ln w="3175">
                  <a:noFill/>
                </a:ln>
                <a:gradFill>
                  <a:gsLst>
                    <a:gs pos="46602">
                      <a:srgbClr val="000000"/>
                    </a:gs>
                    <a:gs pos="80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latin typeface="Segoe UI Variable Display Semib" pitchFamily="2" charset="0"/>
                <a:cs typeface="Segoe UI" pitchFamily="34" charset="0"/>
              </a:rPr>
              <a:t>Try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0491C1-2F87-4CDC-4E33-9116488392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4692520"/>
              </p:ext>
            </p:extLst>
          </p:nvPr>
        </p:nvGraphicFramePr>
        <p:xfrm>
          <a:off x="6518777" y="2619836"/>
          <a:ext cx="5063553" cy="310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682">
                  <a:extLst>
                    <a:ext uri="{9D8B030D-6E8A-4147-A177-3AD203B41FA5}">
                      <a16:colId xmlns:a16="http://schemas.microsoft.com/office/drawing/2014/main" val="87204566"/>
                    </a:ext>
                  </a:extLst>
                </a:gridCol>
                <a:gridCol w="1766579">
                  <a:extLst>
                    <a:ext uri="{9D8B030D-6E8A-4147-A177-3AD203B41FA5}">
                      <a16:colId xmlns:a16="http://schemas.microsoft.com/office/drawing/2014/main" val="2447091486"/>
                    </a:ext>
                  </a:extLst>
                </a:gridCol>
                <a:gridCol w="2387292">
                  <a:extLst>
                    <a:ext uri="{9D8B030D-6E8A-4147-A177-3AD203B41FA5}">
                      <a16:colId xmlns:a16="http://schemas.microsoft.com/office/drawing/2014/main" val="3388290827"/>
                    </a:ext>
                  </a:extLst>
                </a:gridCol>
              </a:tblGrid>
              <a:tr h="620741"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Signup</a:t>
                      </a:r>
                      <a:b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</a:b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form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371600" rtl="0" eaLnBrk="1" latinLnBrk="0" hangingPunct="1">
                        <a:spcBef>
                          <a:spcPts val="0"/>
                        </a:spcBef>
                        <a:spcAft>
                          <a:spcPts val="1200"/>
                        </a:spcAft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Private preview, sensitivity labels</a:t>
                      </a:r>
                      <a:endParaRPr kumimoji="0" lang="en-US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 Variable Display" pitchFamily="2" charset="0"/>
                        <a:ea typeface="+mn-ea"/>
                        <a:cs typeface="Segoe UI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aka.ms/AISearch-senslabels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935074"/>
                  </a:ext>
                </a:extLst>
              </a:tr>
              <a:tr h="620741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Github repo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Agentic retrieval demo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aka.ms/ragchat</a:t>
                      </a:r>
                    </a:p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 Variable Display" pitchFamily="2" charset="0"/>
                        <a:ea typeface="+mn-ea"/>
                        <a:cs typeface="Segoe UI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62506"/>
                  </a:ext>
                </a:extLst>
              </a:tr>
              <a:tr h="620741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Github repo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371600" rtl="0" eaLnBrk="1" latinLnBrk="0" hangingPunct="1">
                        <a:spcBef>
                          <a:spcPts val="0"/>
                        </a:spcBef>
                        <a:spcAft>
                          <a:spcPts val="1200"/>
                        </a:spcAft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Multimodal demo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aka.ms/aisearch-multimodal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722568"/>
                  </a:ext>
                </a:extLst>
              </a:tr>
              <a:tr h="620741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Github repo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Azure MCP repo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aka.ms/azure-mcp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522165"/>
                  </a:ext>
                </a:extLst>
              </a:tr>
              <a:tr h="620741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Github repo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>
                          <a:tab pos="1371600" algn="l"/>
                        </a:tabLst>
                        <a:defRPr/>
                      </a:pPr>
                      <a:r>
                        <a:rPr kumimoji="0" lang="en-US" sz="14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Foundry MCP server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aka.ms/foundry-</a:t>
                      </a:r>
                      <a:r>
                        <a:rPr kumimoji="0" lang="en-US" sz="14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 Variable Display" pitchFamily="2" charset="0"/>
                          <a:ea typeface="+mn-ea"/>
                          <a:cs typeface="Segoe UI"/>
                        </a:rPr>
                        <a:t>mcp</a:t>
                      </a:r>
                      <a:endParaRPr kumimoji="0" lang="en-US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egoe UI Variable Display" pitchFamily="2" charset="0"/>
                        <a:ea typeface="+mn-ea"/>
                        <a:cs typeface="Segoe UI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874302"/>
                  </a:ext>
                </a:extLst>
              </a:tr>
            </a:tbl>
          </a:graphicData>
        </a:graphic>
      </p:graphicFrame>
      <p:pic>
        <p:nvPicPr>
          <p:cNvPr id="7" name="Graphic 9">
            <a:extLst>
              <a:ext uri="{FF2B5EF4-FFF2-40B4-BE49-F238E27FC236}">
                <a16:creationId xmlns:a16="http://schemas.microsoft.com/office/drawing/2014/main" id="{B053B25C-BD1C-0A1A-3BEE-4AA26ACF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80052" y="1522419"/>
            <a:ext cx="431896" cy="43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536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91667E-6 -7.40741E-7 L 2.91667E-6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4.79167E-6 3.33333E-6 L -4.79167E-6 0.03541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22222E-6 L 0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2D49179B-72B3-7F7B-625B-C2DD1C74E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429251">
            <a:off x="-2870496" y="-889031"/>
            <a:ext cx="6475603" cy="3841080"/>
          </a:xfrm>
          <a:prstGeom prst="ellipse">
            <a:avLst/>
          </a:prstGeom>
          <a:gradFill flip="none" rotWithShape="1">
            <a:gsLst>
              <a:gs pos="50000">
                <a:srgbClr val="C5B4E3"/>
              </a:gs>
              <a:gs pos="70000">
                <a:srgbClr val="8DC8E8"/>
              </a:gs>
              <a:gs pos="30000">
                <a:srgbClr val="FFB3BB"/>
              </a:gs>
            </a:gsLst>
            <a:lin ang="10800000" scaled="1"/>
            <a:tileRect/>
          </a:gradFill>
          <a:ln>
            <a:noFill/>
            <a:headEnd type="none" w="med" len="med"/>
            <a:tailEnd type="none" w="med" len="med"/>
          </a:ln>
          <a:effectLst>
            <a:softEdge rad="5334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27432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gradFill>
                <a:gsLst>
                  <a:gs pos="76923">
                    <a:srgbClr val="FFFFFF"/>
                  </a:gs>
                  <a:gs pos="74000">
                    <a:srgbClr val="FFFFFF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Small Semibol" pitchFamily="2" charset="0"/>
              <a:ea typeface="+mn-ea"/>
              <a:cs typeface="Segoe UI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C6B0364-CE69-4C18-88A1-6A814E584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38684" y="137160"/>
            <a:ext cx="11914632" cy="6583680"/>
          </a:xfrm>
          <a:prstGeom prst="roundRect">
            <a:avLst>
              <a:gd name="adj" fmla="val 2697"/>
            </a:avLst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53FCFF9-6E17-E9E1-A9AE-41CB0F7E06D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4675" y="1906588"/>
            <a:ext cx="3289300" cy="7386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1" algn="l" defTabSz="630263" rtl="0" fontAlgn="base">
              <a:spcBef>
                <a:spcPts val="1500"/>
              </a:spcBef>
              <a:buSzPct val="90000"/>
              <a:tabLst>
                <a:tab pos="1371655" algn="l"/>
              </a:tabLst>
              <a:defRPr/>
            </a:pPr>
            <a:r>
              <a:rPr lang="en-US" sz="4800" b="1" kern="1200">
                <a:ln w="3175">
                  <a:noFill/>
                </a:ln>
                <a:gradFill flip="none" rotWithShape="1">
                  <a:gsLst>
                    <a:gs pos="0">
                      <a:srgbClr val="73262F"/>
                    </a:gs>
                    <a:gs pos="80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" pitchFamily="2" charset="0"/>
                <a:ea typeface="+mn-ea"/>
                <a:cs typeface="Segoe UI" pitchFamily="34" charset="0"/>
              </a:rPr>
              <a:t>Thank you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8FD042-4A77-0A62-46AD-5A9F936AE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897786" y="1458556"/>
            <a:ext cx="6732297" cy="4649936"/>
          </a:xfrm>
          <a:prstGeom prst="roundRect">
            <a:avLst>
              <a:gd name="adj" fmla="val 5484"/>
            </a:avLst>
          </a:prstGeom>
          <a:solidFill>
            <a:schemeClr val="bg1">
              <a:alpha val="30000"/>
            </a:schemeClr>
          </a:solidFill>
          <a:ln w="12700" cap="rnd">
            <a:solidFill>
              <a:srgbClr val="3A4953">
                <a:alpha val="2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073360EB-1BBB-644B-5CEF-7F7AFC15A3FC}"/>
              </a:ext>
            </a:extLst>
          </p:cNvPr>
          <p:cNvSpPr txBox="1">
            <a:spLocks/>
          </p:cNvSpPr>
          <p:nvPr/>
        </p:nvSpPr>
        <p:spPr>
          <a:xfrm>
            <a:off x="886149" y="3034281"/>
            <a:ext cx="2894668" cy="1200329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Variable Display Semib" pitchFamily="2" charset="0"/>
                <a:ea typeface="+mn-ea"/>
                <a:cs typeface="Segoe UI" panose="020B0502040204020203" pitchFamily="34" charset="0"/>
              </a:rPr>
              <a:t>Let’s keep the conversation going – stop by the Expert Meet-Up to get your questions answered.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8094A3F2-18D5-AE17-EA58-04EC700233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9885946"/>
              </p:ext>
            </p:extLst>
          </p:nvPr>
        </p:nvGraphicFramePr>
        <p:xfrm>
          <a:off x="5093863" y="1831086"/>
          <a:ext cx="6340139" cy="4003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137">
                  <a:extLst>
                    <a:ext uri="{9D8B030D-6E8A-4147-A177-3AD203B41FA5}">
                      <a16:colId xmlns:a16="http://schemas.microsoft.com/office/drawing/2014/main" val="87204566"/>
                    </a:ext>
                  </a:extLst>
                </a:gridCol>
                <a:gridCol w="3093557">
                  <a:extLst>
                    <a:ext uri="{9D8B030D-6E8A-4147-A177-3AD203B41FA5}">
                      <a16:colId xmlns:a16="http://schemas.microsoft.com/office/drawing/2014/main" val="2447091486"/>
                    </a:ext>
                  </a:extLst>
                </a:gridCol>
                <a:gridCol w="1736445">
                  <a:extLst>
                    <a:ext uri="{9D8B030D-6E8A-4147-A177-3AD203B41FA5}">
                      <a16:colId xmlns:a16="http://schemas.microsoft.com/office/drawing/2014/main" val="2424439131"/>
                    </a:ext>
                  </a:extLst>
                </a:gridCol>
              </a:tblGrid>
              <a:tr h="49369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Segoe UI Variable Display Semib" pitchFamily="2" charset="0"/>
                        </a:rPr>
                        <a:t>Session Code</a:t>
                      </a:r>
                    </a:p>
                  </a:txBody>
                  <a:tcPr marL="0" marR="182880" marT="91440" marB="18288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  <a:latin typeface="Segoe UI Variable Display Semib" pitchFamily="2" charset="0"/>
                        </a:rPr>
                        <a:t>Title</a:t>
                      </a:r>
                    </a:p>
                  </a:txBody>
                  <a:tcPr marL="0" marR="182880" marT="91440" marB="18288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Segoe UI Variable Display Semib" pitchFamily="2" charset="0"/>
                        </a:rPr>
                        <a:t>Times in PT</a:t>
                      </a:r>
                    </a:p>
                  </a:txBody>
                  <a:tcPr marL="0" marR="182880" marT="91440" marB="18288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837955"/>
                  </a:ext>
                </a:extLst>
              </a:tr>
              <a:tr h="58081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Segoe UI Variable Display Semib" pitchFamily="2" charset="0"/>
                        </a:rPr>
                        <a:t>BRK155</a:t>
                      </a:r>
                    </a:p>
                  </a:txBody>
                  <a:tcPr marL="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 Semib" pitchFamily="2" charset="0"/>
                          <a:ea typeface="+mn-ea"/>
                          <a:cs typeface="+mn-cs"/>
                        </a:rPr>
                        <a:t>Azure AI Foundry: Agent factory</a:t>
                      </a:r>
                    </a:p>
                  </a:txBody>
                  <a:tcPr marL="48466" marR="48466" marT="48466" marB="48466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May 19 | 11:15am</a:t>
                      </a:r>
                    </a:p>
                  </a:txBody>
                  <a:tcPr marL="48466" marR="48466" marT="48466" marB="48466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204870"/>
                  </a:ext>
                </a:extLst>
              </a:tr>
              <a:tr h="58081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Segoe UI Variable Display Semib" pitchFamily="2" charset="0"/>
                        </a:rPr>
                        <a:t>DEM529</a:t>
                      </a:r>
                    </a:p>
                  </a:txBody>
                  <a:tcPr marL="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>
                          <a:solidFill>
                            <a:schemeClr val="tx1"/>
                          </a:solidFill>
                          <a:latin typeface="Segoe UI Variable Display Semib" pitchFamily="2" charset="0"/>
                        </a:rPr>
                        <a:t>Memory and agentic </a:t>
                      </a:r>
                      <a:br>
                        <a:rPr lang="uk-UA" sz="1400" b="0" i="0">
                          <a:solidFill>
                            <a:schemeClr val="tx1"/>
                          </a:solidFill>
                          <a:latin typeface="Segoe UI Variable Display Semib" pitchFamily="2" charset="0"/>
                        </a:rPr>
                      </a:br>
                      <a:r>
                        <a:rPr lang="en-US" sz="1400" b="0" i="0">
                          <a:solidFill>
                            <a:schemeClr val="tx1"/>
                          </a:solidFill>
                          <a:latin typeface="Segoe UI Variable Display Semib" pitchFamily="2" charset="0"/>
                        </a:rPr>
                        <a:t>retrieval with AI Search</a:t>
                      </a:r>
                    </a:p>
                  </a:txBody>
                  <a:tcPr marL="48466" marR="48466" marT="48466" marB="4846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May 19 | 2:25pm</a:t>
                      </a:r>
                    </a:p>
                  </a:txBody>
                  <a:tcPr marL="48466" marR="48466" marT="48466" marB="4846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285311"/>
                  </a:ext>
                </a:extLst>
              </a:tr>
              <a:tr h="58081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Segoe UI Variable Display Semib" pitchFamily="2" charset="0"/>
                        </a:rPr>
                        <a:t>BRK153</a:t>
                      </a:r>
                    </a:p>
                  </a:txBody>
                  <a:tcPr marL="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 Semib" pitchFamily="2" charset="0"/>
                          <a:ea typeface="+mn-ea"/>
                          <a:cs typeface="+mn-cs"/>
                        </a:rPr>
                        <a:t>Knowledge retrieval: </a:t>
                      </a:r>
                      <a:br>
                        <a:rPr lang="uk-UA" sz="1400" b="0" i="0" kern="1200">
                          <a:solidFill>
                            <a:schemeClr val="tx1"/>
                          </a:solidFill>
                          <a:latin typeface="Segoe UI Variable Display Semib" pitchFamily="2" charset="0"/>
                          <a:ea typeface="+mn-ea"/>
                          <a:cs typeface="+mn-cs"/>
                        </a:rPr>
                      </a:b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 Semib" pitchFamily="2" charset="0"/>
                          <a:ea typeface="+mn-ea"/>
                          <a:cs typeface="+mn-cs"/>
                        </a:rPr>
                        <a:t>RAG for agents</a:t>
                      </a:r>
                    </a:p>
                  </a:txBody>
                  <a:tcPr marL="48466" marR="48466" marT="48466" marB="4846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May 19 | 6:00pm </a:t>
                      </a:r>
                    </a:p>
                  </a:txBody>
                  <a:tcPr marL="48466" marR="48466" marT="48466" marB="4846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00289"/>
                  </a:ext>
                </a:extLst>
              </a:tr>
              <a:tr h="58081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Segoe UI Variable Display Semib" pitchFamily="2" charset="0"/>
                        </a:rPr>
                        <a:t>COMM401</a:t>
                      </a:r>
                    </a:p>
                  </a:txBody>
                  <a:tcPr marL="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 Semib" pitchFamily="2" charset="0"/>
                          <a:ea typeface="+mn-ea"/>
                          <a:cs typeface="+mn-cs"/>
                        </a:rPr>
                        <a:t>Conversations: AMA with Pablo</a:t>
                      </a:r>
                    </a:p>
                  </a:txBody>
                  <a:tcPr marL="48466" marR="48466" marT="48466" marB="4846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May 20 | 5:45pm</a:t>
                      </a:r>
                    </a:p>
                  </a:txBody>
                  <a:tcPr marL="48466" marR="48466" marT="48466" marB="4846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535654"/>
                  </a:ext>
                </a:extLst>
              </a:tr>
              <a:tr h="58081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Segoe UI Variable Display Semib" pitchFamily="2" charset="0"/>
                        </a:rPr>
                        <a:t>BRK142</a:t>
                      </a:r>
                    </a:p>
                  </a:txBody>
                  <a:tcPr marL="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 Semib" pitchFamily="2" charset="0"/>
                          <a:ea typeface="+mn-ea"/>
                          <a:cs typeface="+mn-cs"/>
                        </a:rPr>
                        <a:t>Agentic RAG: build </a:t>
                      </a:r>
                      <a:br>
                        <a:rPr lang="uk-UA" sz="1400" b="0" i="0" kern="1200">
                          <a:solidFill>
                            <a:schemeClr val="tx1"/>
                          </a:solidFill>
                          <a:latin typeface="Segoe UI Variable Display Semib" pitchFamily="2" charset="0"/>
                          <a:ea typeface="+mn-ea"/>
                          <a:cs typeface="+mn-cs"/>
                        </a:rPr>
                      </a:b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 Semib" pitchFamily="2" charset="0"/>
                          <a:ea typeface="+mn-ea"/>
                          <a:cs typeface="+mn-cs"/>
                        </a:rPr>
                        <a:t>a reasoning retrieval engine</a:t>
                      </a:r>
                    </a:p>
                  </a:txBody>
                  <a:tcPr marL="48466" marR="48466" marT="48466" marB="4846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May 21, 12:30pm</a:t>
                      </a:r>
                    </a:p>
                  </a:txBody>
                  <a:tcPr marL="48466" marR="48466" marT="48466" marB="4846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677252"/>
                  </a:ext>
                </a:extLst>
              </a:tr>
              <a:tr h="58081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Segoe UI Variable Display Semib" pitchFamily="2" charset="0"/>
                        </a:rPr>
                        <a:t>LAB335</a:t>
                      </a:r>
                    </a:p>
                  </a:txBody>
                  <a:tcPr marL="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kern="1200">
                          <a:solidFill>
                            <a:schemeClr val="tx1"/>
                          </a:solidFill>
                          <a:latin typeface="Segoe UI Variable Display Semib" pitchFamily="2" charset="0"/>
                          <a:ea typeface="+mn-ea"/>
                          <a:cs typeface="+mn-cs"/>
                        </a:rPr>
                        <a:t>Build your first agentic RAG solution with Azure AI Search </a:t>
                      </a:r>
                    </a:p>
                  </a:txBody>
                  <a:tcPr marL="48466" marR="48466" marT="48466" marB="4846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latin typeface="Segoe UI Variable Display" pitchFamily="2" charset="0"/>
                          <a:ea typeface="+mn-ea"/>
                          <a:cs typeface="+mn-cs"/>
                        </a:rPr>
                        <a:t>May 21, 4:30pm</a:t>
                      </a:r>
                    </a:p>
                  </a:txBody>
                  <a:tcPr marL="48466" marR="48466" marT="48466" marB="4846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83214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40EDB4-036D-174E-CBAD-A91110AE9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97786" y="2253733"/>
            <a:ext cx="6732295" cy="0"/>
          </a:xfrm>
          <a:prstGeom prst="straightConnector1">
            <a:avLst/>
          </a:prstGeom>
          <a:ln w="12700" cap="rnd">
            <a:gradFill flip="none" rotWithShape="1">
              <a:gsLst>
                <a:gs pos="10000">
                  <a:srgbClr val="FFB3BB"/>
                </a:gs>
                <a:gs pos="92000">
                  <a:srgbClr val="8DC8E8"/>
                </a:gs>
              </a:gsLst>
              <a:path path="circle">
                <a:fillToRect l="100000" t="100000"/>
              </a:path>
              <a:tileRect r="-100000" b="-100000"/>
            </a:gra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C00E320-6824-E8A6-3AFD-993BA74B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1008856"/>
            <a:ext cx="1534583" cy="863263"/>
            <a:chOff x="0" y="-1402736"/>
            <a:chExt cx="1918074" cy="1078992"/>
          </a:xfrm>
        </p:grpSpPr>
        <p:sp>
          <p:nvSpPr>
            <p:cNvPr id="3" name="Rectangle 2">
              <a:hlinkClick r:id="" action="ppaction://noaction"/>
              <a:extLst>
                <a:ext uri="{FF2B5EF4-FFF2-40B4-BE49-F238E27FC236}">
                  <a16:creationId xmlns:a16="http://schemas.microsoft.com/office/drawing/2014/main" id="{80FFB6B1-CE1F-B1C9-B729-13EA1B736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6"/>
              <a:ext cx="1918074" cy="107899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24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FD9D882-AAA9-55E5-DB3D-5A0ACE9A0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0" y="-1402736"/>
              <a:ext cx="1918074" cy="1078992"/>
            </a:xfrm>
            <a:prstGeom prst="rect">
              <a:avLst/>
            </a:prstGeom>
          </p:spPr>
        </p:pic>
        <p:sp>
          <p:nvSpPr>
            <p:cNvPr id="10" name="Rectangle 9">
              <a:hlinkClick r:id="" action="ppaction://noaction"/>
              <a:extLst>
                <a:ext uri="{FF2B5EF4-FFF2-40B4-BE49-F238E27FC236}">
                  <a16:creationId xmlns:a16="http://schemas.microsoft.com/office/drawing/2014/main" id="{1366F303-571E-FC2C-EC34-7CE881666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5"/>
              <a:ext cx="1918074" cy="1078991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37466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40074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2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1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96296E-6 C 0.06406 -0.20833 0.76497 -0.22315 0.92291 -0.08819 C 1.08112 0.04676 1.00846 0.74537 0.94791 0.80996 C 0.8875 0.87454 0.075 0.86505 0.02018 0.81667 C -0.03268 0.76736 -0.0418 0.17246 1.875E-6 -2.96296E-6 Z " pathEditMode="relative" rAng="0" ptsTypes="AAAAA">
                                      <p:cBhvr>
                                        <p:cTn id="11" dur="4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596" y="3398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-4.375E-6 0.03541 " pathEditMode="relative" rAng="0" ptsTypes="AA">
                                      <p:cBhvr>
                                        <p:cTn id="16" dur="7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5E-6 -3.7037E-6 L 5E-6 0.03542 " pathEditMode="relative" rAng="0" ptsTypes="AA">
                                      <p:cBhvr>
                                        <p:cTn id="21" dur="7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4.58333E-6 3.33333E-6 L -4.58333E-6 0.03541 " pathEditMode="relative" rAng="0" ptsTypes="AA">
                                      <p:cBhvr>
                                        <p:cTn id="26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-4.375E-6 0.03541 " pathEditMode="relative" rAng="0" ptsTypes="AA">
                                      <p:cBhvr>
                                        <p:cTn id="31" dur="7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5E-6 -3.7037E-7 L 5E-6 0.03542 " pathEditMode="relative" rAng="0" ptsTypes="AA">
                                      <p:cBhvr>
                                        <p:cTn id="36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5" grpId="2" animBg="1"/>
      <p:bldP spid="7" grpId="0"/>
      <p:bldP spid="7" grpId="1"/>
      <p:bldP spid="9" grpId="0" animBg="1"/>
      <p:bldP spid="9" grpId="1" animBg="1"/>
      <p:bldP spid="5" grpId="0"/>
      <p:bldP spid="5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F6BFD-CB73-FD6E-73BC-0C2C17783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78CBEB-7E73-2516-BF49-1A7D4BEEF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513664"/>
            <a:ext cx="6636422" cy="2769989"/>
          </a:xfrm>
        </p:spPr>
        <p:txBody>
          <a:bodyPr anchor="b" anchorCtr="0">
            <a:spAutoFit/>
          </a:bodyPr>
          <a:lstStyle/>
          <a:p>
            <a:r>
              <a:rPr lang="en-US"/>
              <a:t>Dive into the</a:t>
            </a:r>
            <a:br>
              <a:rPr lang="en-US"/>
            </a:br>
            <a:r>
              <a:rPr lang="en-US"/>
              <a:t>recommended next</a:t>
            </a:r>
            <a:br>
              <a:rPr lang="en-US"/>
            </a:br>
            <a:r>
              <a:rPr lang="en-US"/>
              <a:t>steps on the session page</a:t>
            </a:r>
            <a:br>
              <a:rPr lang="en-US"/>
            </a:br>
            <a:r>
              <a:rPr lang="en-US"/>
              <a:t>to take action with tutorials, resources, and code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391FA5-702E-2BCB-A1E0-03A5759BA3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" y="4728784"/>
            <a:ext cx="6217920" cy="615553"/>
          </a:xfrm>
        </p:spPr>
        <p:txBody>
          <a:bodyPr/>
          <a:lstStyle/>
          <a:p>
            <a:r>
              <a:rPr lang="en-US" sz="2000"/>
              <a:t>Scan the QR code to access the session details page and fill out a session survey</a:t>
            </a:r>
          </a:p>
        </p:txBody>
      </p:sp>
      <p:pic>
        <p:nvPicPr>
          <p:cNvPr id="26" name="Graphic 25" descr="QR code">
            <a:extLst>
              <a:ext uri="{FF2B5EF4-FFF2-40B4-BE49-F238E27FC236}">
                <a16:creationId xmlns:a16="http://schemas.microsoft.com/office/drawing/2014/main" id="{0388F349-C9AF-D975-AC56-C66A7D1FE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99260" y="1774436"/>
            <a:ext cx="3310128" cy="3310128"/>
          </a:xfrm>
          <a:prstGeom prst="roundRect">
            <a:avLst>
              <a:gd name="adj" fmla="val 8098"/>
            </a:avLst>
          </a:prstGeom>
        </p:spPr>
      </p:pic>
    </p:spTree>
    <p:extLst>
      <p:ext uri="{BB962C8B-B14F-4D97-AF65-F5344CB8AC3E}">
        <p14:creationId xmlns:p14="http://schemas.microsoft.com/office/powerpoint/2010/main" val="330401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Microsoft Build 16:9 Template Light">
  <a:themeElements>
    <a:clrScheme name="Custom 16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0078D4"/>
      </a:accent2>
      <a:accent3>
        <a:srgbClr val="FFB900"/>
      </a:accent3>
      <a:accent4>
        <a:srgbClr val="D7D2CB"/>
      </a:accent4>
      <a:accent5>
        <a:srgbClr val="FF5C39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5_16-9 Event-template" id="{C2469FDB-82FA-4F2B-9769-C862A0A29573}" vid="{70371F83-8744-4A35-8E82-4A9015383011}"/>
    </a:ext>
  </a:extLst>
</a:theme>
</file>

<file path=ppt/theme/theme2.xml><?xml version="1.0" encoding="utf-8"?>
<a:theme xmlns:a="http://schemas.openxmlformats.org/drawingml/2006/main" name="Microsoft Build 16:9 Template Dark">
  <a:themeElements>
    <a:clrScheme name="Custom 18">
      <a:dk1>
        <a:srgbClr val="091F2C"/>
      </a:dk1>
      <a:lt1>
        <a:srgbClr val="FFFFFF"/>
      </a:lt1>
      <a:dk2>
        <a:srgbClr val="091F2C"/>
      </a:dk2>
      <a:lt2>
        <a:srgbClr val="E8E6DF"/>
      </a:lt2>
      <a:accent1>
        <a:srgbClr val="D59ED7"/>
      </a:accent1>
      <a:accent2>
        <a:srgbClr val="0078D4"/>
      </a:accent2>
      <a:accent3>
        <a:srgbClr val="FFB900"/>
      </a:accent3>
      <a:accent4>
        <a:srgbClr val="D7D2CB"/>
      </a:accent4>
      <a:accent5>
        <a:srgbClr val="FF5C39"/>
      </a:accent5>
      <a:accent6>
        <a:srgbClr val="D2D2D2"/>
      </a:accent6>
      <a:hlink>
        <a:srgbClr val="D59ED7"/>
      </a:hlink>
      <a:folHlink>
        <a:srgbClr val="D59ED7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5_16-9 Event-template" id="{C2469FDB-82FA-4F2B-9769-C862A0A29573}" vid="{BAEEBADA-AA8C-4424-A9AC-AB189F0E2C04}"/>
    </a:ext>
  </a:extLst>
</a:theme>
</file>

<file path=ppt/theme/theme3.xml><?xml version="1.0" encoding="utf-8"?>
<a:theme xmlns:a="http://schemas.openxmlformats.org/drawingml/2006/main" name="Microsoft Build 16:9 Template Light">
  <a:themeElements>
    <a:clrScheme name="Custom 16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0078D4"/>
      </a:accent2>
      <a:accent3>
        <a:srgbClr val="FFB900"/>
      </a:accent3>
      <a:accent4>
        <a:srgbClr val="D7D2CB"/>
      </a:accent4>
      <a:accent5>
        <a:srgbClr val="FF5C39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5_16-9 Event-template" id="{C2469FDB-82FA-4F2B-9769-C862A0A29573}" vid="{70371F83-8744-4A35-8E82-4A9015383011}"/>
    </a:ext>
  </a:extLst>
</a:theme>
</file>

<file path=ppt/theme/theme4.xml><?xml version="1.0" encoding="utf-8"?>
<a:theme xmlns:a="http://schemas.openxmlformats.org/drawingml/2006/main" name="Microsoft Build 16:9 Theme 6 Light Template">
  <a:themeElements>
    <a:clrScheme name="Custom 16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0078D4"/>
      </a:accent2>
      <a:accent3>
        <a:srgbClr val="FFB900"/>
      </a:accent3>
      <a:accent4>
        <a:srgbClr val="D7D2CB"/>
      </a:accent4>
      <a:accent5>
        <a:srgbClr val="FF5C39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5_16-9 Event-template" id="{C2469FDB-82FA-4F2B-9769-C862A0A29573}" vid="{70371F83-8744-4A35-8E82-4A9015383011}"/>
    </a:ext>
  </a:extLst>
</a:theme>
</file>

<file path=ppt/theme/theme5.xml><?xml version="1.0" encoding="utf-8"?>
<a:theme xmlns:a="http://schemas.openxmlformats.org/drawingml/2006/main" name="2_Microsoft Build 16:9 Template Light">
  <a:themeElements>
    <a:clrScheme name="Custom 16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0078D4"/>
      </a:accent2>
      <a:accent3>
        <a:srgbClr val="FFB900"/>
      </a:accent3>
      <a:accent4>
        <a:srgbClr val="D7D2CB"/>
      </a:accent4>
      <a:accent5>
        <a:srgbClr val="FF5C39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5_16-9 Event-template" id="{C2469FDB-82FA-4F2B-9769-C862A0A29573}" vid="{70371F83-8744-4A35-8E82-4A9015383011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D4B4487B57D443AED9979943B92646" ma:contentTypeVersion="15" ma:contentTypeDescription="Create a new document." ma:contentTypeScope="" ma:versionID="11635a662f4c9a657eae7bf4dc620629">
  <xsd:schema xmlns:xsd="http://www.w3.org/2001/XMLSchema" xmlns:xs="http://www.w3.org/2001/XMLSchema" xmlns:p="http://schemas.microsoft.com/office/2006/metadata/properties" xmlns:ns1="http://schemas.microsoft.com/sharepoint/v3" xmlns:ns2="a29421e1-74d8-4915-bb0d-c72892872ba0" xmlns:ns3="230e9df3-be65-4c73-a93b-d1236ebd677e" targetNamespace="http://schemas.microsoft.com/office/2006/metadata/properties" ma:root="true" ma:fieldsID="dff1dd5af459cf9d2efcc6111ef93463" ns1:_="" ns2:_="" ns3:_="">
    <xsd:import namespace="http://schemas.microsoft.com/sharepoint/v3"/>
    <xsd:import namespace="a29421e1-74d8-4915-bb0d-c72892872ba0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421e1-74d8-4915-bb0d-c72892872ba0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18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12b3914-fd28-4b53-a746-fcfd87edfe12}" ma:internalName="TaxCatchAll" ma:showField="CatchAllData" ma:web="c2fe79a6-8abe-455d-ad41-5c60efd42c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a29421e1-74d8-4915-bb0d-c72892872ba0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F68D44EA-BDC5-402A-A0CE-18C022CBCC44}"/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purl.org/dc/dcmitype/"/>
    <ds:schemaRef ds:uri="http://schemas.microsoft.com/sharepoint/v3"/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913b567d-4c83-4181-a45c-f04ce7e1b72e"/>
    <ds:schemaRef ds:uri="804751ba-60e0-4191-9865-d7e5284c1d69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Build_2025_16-9 Event-template 1 (1) (1)</Template>
  <TotalTime>6</TotalTime>
  <Words>2318</Words>
  <Application>Microsoft Office PowerPoint</Application>
  <PresentationFormat>Widescreen</PresentationFormat>
  <Paragraphs>682</Paragraphs>
  <Slides>34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34</vt:i4>
      </vt:variant>
    </vt:vector>
  </HeadingPairs>
  <TitlesOfParts>
    <vt:vector size="53" baseType="lpstr">
      <vt:lpstr>Aptos</vt:lpstr>
      <vt:lpstr>Arial</vt:lpstr>
      <vt:lpstr>Calibri</vt:lpstr>
      <vt:lpstr>Consolas</vt:lpstr>
      <vt:lpstr>Segoe Pro Display Semibold</vt:lpstr>
      <vt:lpstr>Segoe Sans Display</vt:lpstr>
      <vt:lpstr>Segoe Sans Display Semibold</vt:lpstr>
      <vt:lpstr>Segoe UI</vt:lpstr>
      <vt:lpstr>Segoe UI Semibold</vt:lpstr>
      <vt:lpstr>Segoe UI Variable Display</vt:lpstr>
      <vt:lpstr>Segoe UI Variable Display Semib</vt:lpstr>
      <vt:lpstr>Segoe UI Variable Display Semibold</vt:lpstr>
      <vt:lpstr>Segoe UI Variable Small Semibol</vt:lpstr>
      <vt:lpstr>Wingdings</vt:lpstr>
      <vt:lpstr>1_Microsoft Build 16:9 Template Light</vt:lpstr>
      <vt:lpstr>Microsoft Build 16:9 Template Dark</vt:lpstr>
      <vt:lpstr>Microsoft Build 16:9 Template Light</vt:lpstr>
      <vt:lpstr>Microsoft Build 16:9 Theme 6 Light Template</vt:lpstr>
      <vt:lpstr>2_Microsoft Build 16:9 Template Light</vt:lpstr>
      <vt:lpstr>Microsoft Build</vt:lpstr>
      <vt:lpstr>Knowledge Retrieval:  RAG for enterprise agents with Azure AI Search</vt:lpstr>
      <vt:lpstr>Azure AI Foundry </vt:lpstr>
      <vt:lpstr>Azure AI Foundry: the agent factory</vt:lpstr>
      <vt:lpstr>Evolving RAG What got us here won’t get us there</vt:lpstr>
      <vt:lpstr>Knowledge for agents</vt:lpstr>
      <vt:lpstr>Purpose-built retrieval for RAG &amp; agents</vt:lpstr>
      <vt:lpstr>Query pipeline Search  Agentic retrieval</vt:lpstr>
      <vt:lpstr>Tackle harder questions from humans and agents</vt:lpstr>
      <vt:lpstr>Classic search workflow</vt:lpstr>
      <vt:lpstr>Announcing Agentic Retrieval</vt:lpstr>
      <vt:lpstr>Query planning &amp; decomposition</vt:lpstr>
      <vt:lpstr>Agentic Retrieval API 1/2</vt:lpstr>
      <vt:lpstr>Agentic Retrieval API 2/2</vt:lpstr>
      <vt:lpstr>How do we know if it’s actually better?</vt:lpstr>
      <vt:lpstr>Agentic retrieval evals</vt:lpstr>
      <vt:lpstr>Agentic retrieval evals Datasets x Query Modes</vt:lpstr>
      <vt:lpstr>Agentic retrieval evals Query Types</vt:lpstr>
      <vt:lpstr>Agentic retrieval evals Groundedness</vt:lpstr>
      <vt:lpstr>Data pipeline Ad-hoc chunking &amp; embedding   RAG-specific data acquisition</vt:lpstr>
      <vt:lpstr>Real Business Content is Complicated</vt:lpstr>
      <vt:lpstr>Powering Multimodal Scenarios</vt:lpstr>
      <vt:lpstr>Flexible Data Ingestion: Logic Apps + Azure AI Search</vt:lpstr>
      <vt:lpstr>Security Flat access   Enterprise-grade  granular access control</vt:lpstr>
      <vt:lpstr>Why Granular Access Control?</vt:lpstr>
      <vt:lpstr>Native Entra-based access control</vt:lpstr>
      <vt:lpstr>Propagate ACLs from data sources with indexers</vt:lpstr>
      <vt:lpstr>Sensitivity labels</vt:lpstr>
      <vt:lpstr>Want to test out sensitivity labels?</vt:lpstr>
      <vt:lpstr>Doing it the modern way MCP &amp; Search for development</vt:lpstr>
      <vt:lpstr>Azure MCP</vt:lpstr>
      <vt:lpstr>Call to Action Resources</vt:lpstr>
      <vt:lpstr>Thank you</vt:lpstr>
      <vt:lpstr>Dive into the recommended next steps on the session page to take action with tutorials, resources, and code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Retrieval: RAG for enterprise agents with Azure AI Search</dc:title>
  <dc:subject>Microsoft Build</dc:subject>
  <dc:creator>Pablo Castro</dc:creator>
  <cp:keywords>Microsoft Build 2025</cp:keywords>
  <dc:description/>
  <cp:lastModifiedBy>Bryan Osotio</cp:lastModifiedBy>
  <cp:revision>2</cp:revision>
  <cp:lastPrinted>2023-02-15T20:48:24Z</cp:lastPrinted>
  <dcterms:created xsi:type="dcterms:W3CDTF">2025-04-15T23:04:28Z</dcterms:created>
  <dcterms:modified xsi:type="dcterms:W3CDTF">2025-05-20T01:20:09Z</dcterms:modified>
  <cp:category>Microsoft Corporation</cp:category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0x0101001BD4B4487B57D443AED9979943B92646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tadata">
    <vt:lpwstr/>
  </property>
  <property fmtid="{D5CDD505-2E9C-101B-9397-08002B2CF9AE}" pid="19" name="MediaServiceImageTags">
    <vt:lpwstr/>
  </property>
  <property fmtid="{D5CDD505-2E9C-101B-9397-08002B2CF9AE}" pid="20" name="_MarkAsFinal">
    <vt:bool>true</vt:bool>
  </property>
  <property fmtid="{D5CDD505-2E9C-101B-9397-08002B2CF9AE}" pid="22" name="Lead Signoff">
    <vt:bool>false</vt:bool>
  </property>
  <property fmtid="{D5CDD505-2E9C-101B-9397-08002B2CF9AE}" pid="23" name="Title URL">
    <vt:lpwstr>, </vt:lpwstr>
  </property>
  <property fmtid="{D5CDD505-2E9C-101B-9397-08002B2CF9AE}" pid="29" name="Mail Sent">
    <vt:bool>false</vt:bool>
  </property>
  <property fmtid="{D5CDD505-2E9C-101B-9397-08002B2CF9AE}" pid="32" name="State">
    <vt:lpwstr>Open</vt:lpwstr>
  </property>
  <property fmtid="{D5CDD505-2E9C-101B-9397-08002B2CF9AE}" pid="33" name="xd_ProgID">
    <vt:lpwstr/>
  </property>
  <property fmtid="{D5CDD505-2E9C-101B-9397-08002B2CF9AE}" pid="34" name="_SourceUrl">
    <vt:lpwstr/>
  </property>
  <property fmtid="{D5CDD505-2E9C-101B-9397-08002B2CF9AE}" pid="35" name="_SharedFileIndex">
    <vt:lpwstr/>
  </property>
  <property fmtid="{D5CDD505-2E9C-101B-9397-08002B2CF9AE}" pid="36" name="ComplianceAssetId">
    <vt:lpwstr/>
  </property>
  <property fmtid="{D5CDD505-2E9C-101B-9397-08002B2CF9AE}" pid="37" name="TemplateUrl">
    <vt:lpwstr/>
  </property>
  <property fmtid="{D5CDD505-2E9C-101B-9397-08002B2CF9AE}" pid="38" name="_ExtendedDescription">
    <vt:lpwstr/>
  </property>
  <property fmtid="{D5CDD505-2E9C-101B-9397-08002B2CF9AE}" pid="39" name="xd_Signature">
    <vt:lpwstr/>
  </property>
  <property fmtid="{D5CDD505-2E9C-101B-9397-08002B2CF9AE}" pid="40" name="TriggerFlowInfo">
    <vt:lpwstr/>
  </property>
</Properties>
</file>