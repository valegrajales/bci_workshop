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56"/>
  </p:notesMasterIdLst>
  <p:handoutMasterIdLst>
    <p:handoutMasterId r:id="rId57"/>
  </p:handoutMasterIdLst>
  <p:sldIdLst>
    <p:sldId id="2147482949" r:id="rId6"/>
    <p:sldId id="258" r:id="rId7"/>
    <p:sldId id="269" r:id="rId8"/>
    <p:sldId id="2147482952" r:id="rId9"/>
    <p:sldId id="263" r:id="rId10"/>
    <p:sldId id="2147482995" r:id="rId11"/>
    <p:sldId id="2147479623" r:id="rId12"/>
    <p:sldId id="2147482954" r:id="rId13"/>
    <p:sldId id="2147482910" r:id="rId14"/>
    <p:sldId id="2147482896" r:id="rId15"/>
    <p:sldId id="2147482955" r:id="rId16"/>
    <p:sldId id="2147482897" r:id="rId17"/>
    <p:sldId id="2147482898" r:id="rId18"/>
    <p:sldId id="2147482892" r:id="rId19"/>
    <p:sldId id="2147482956" r:id="rId20"/>
    <p:sldId id="2147482893" r:id="rId21"/>
    <p:sldId id="2147482894" r:id="rId22"/>
    <p:sldId id="2147479642" r:id="rId23"/>
    <p:sldId id="2147482891" r:id="rId24"/>
    <p:sldId id="2147482972" r:id="rId25"/>
    <p:sldId id="2147482969" r:id="rId26"/>
    <p:sldId id="370" r:id="rId27"/>
    <p:sldId id="371" r:id="rId28"/>
    <p:sldId id="2147482970" r:id="rId29"/>
    <p:sldId id="2147482973" r:id="rId30"/>
    <p:sldId id="2147482971" r:id="rId31"/>
    <p:sldId id="2147482974" r:id="rId32"/>
    <p:sldId id="2147482975" r:id="rId33"/>
    <p:sldId id="2147482976" r:id="rId34"/>
    <p:sldId id="2147482977" r:id="rId35"/>
    <p:sldId id="2147482978" r:id="rId36"/>
    <p:sldId id="2147482979" r:id="rId37"/>
    <p:sldId id="2147482980" r:id="rId38"/>
    <p:sldId id="2147482981" r:id="rId39"/>
    <p:sldId id="2147482982" r:id="rId40"/>
    <p:sldId id="2147482983" r:id="rId41"/>
    <p:sldId id="2147482959" r:id="rId42"/>
    <p:sldId id="2147479644" r:id="rId43"/>
    <p:sldId id="2147479624" r:id="rId44"/>
    <p:sldId id="2147482968" r:id="rId45"/>
    <p:sldId id="284" r:id="rId46"/>
    <p:sldId id="2147482967" r:id="rId47"/>
    <p:sldId id="2147482951" r:id="rId48"/>
    <p:sldId id="2147482961" r:id="rId49"/>
    <p:sldId id="2147482962" r:id="rId50"/>
    <p:sldId id="2147482963" r:id="rId51"/>
    <p:sldId id="2147482964" r:id="rId52"/>
    <p:sldId id="2147482965" r:id="rId53"/>
    <p:sldId id="2147482996" r:id="rId54"/>
    <p:sldId id="2147482966" r:id="rId5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ive-Session-ENG" id="{B55AA1A6-1AEB-42C7-A277-7C712E3B5BC2}">
          <p14:sldIdLst>
            <p14:sldId id="2147482949"/>
          </p14:sldIdLst>
        </p14:section>
        <p14:section name="Live-Session-SPA" id="{B9C86BE3-CCD5-495F-8E27-EB498F132A85}">
          <p14:sldIdLst/>
        </p14:section>
        <p14:section name="Overview" id="{3CAE196B-5A6C-4D22-A2AD-1CDB052C40B7}">
          <p14:sldIdLst>
            <p14:sldId id="258"/>
            <p14:sldId id="269"/>
            <p14:sldId id="2147482952"/>
          </p14:sldIdLst>
        </p14:section>
        <p14:section name="Main content" id="{660B4914-61C5-4613-82D6-881ED96EA14E}">
          <p14:sldIdLst>
            <p14:sldId id="263"/>
            <p14:sldId id="2147482995"/>
            <p14:sldId id="2147479623"/>
            <p14:sldId id="2147482954"/>
            <p14:sldId id="2147482910"/>
            <p14:sldId id="2147482896"/>
            <p14:sldId id="2147482955"/>
            <p14:sldId id="2147482897"/>
            <p14:sldId id="2147482898"/>
            <p14:sldId id="2147482892"/>
            <p14:sldId id="2147482956"/>
            <p14:sldId id="2147482893"/>
            <p14:sldId id="2147482894"/>
            <p14:sldId id="2147479642"/>
            <p14:sldId id="2147482891"/>
            <p14:sldId id="2147482972"/>
            <p14:sldId id="2147482969"/>
            <p14:sldId id="370"/>
            <p14:sldId id="371"/>
            <p14:sldId id="2147482970"/>
            <p14:sldId id="2147482973"/>
            <p14:sldId id="2147482971"/>
            <p14:sldId id="2147482974"/>
            <p14:sldId id="2147482975"/>
            <p14:sldId id="2147482976"/>
            <p14:sldId id="2147482977"/>
            <p14:sldId id="2147482978"/>
            <p14:sldId id="2147482979"/>
            <p14:sldId id="2147482980"/>
            <p14:sldId id="2147482981"/>
            <p14:sldId id="2147482982"/>
            <p14:sldId id="2147482983"/>
            <p14:sldId id="2147482959"/>
            <p14:sldId id="2147479644"/>
            <p14:sldId id="2147479624"/>
            <p14:sldId id="2147482968"/>
          </p14:sldIdLst>
        </p14:section>
        <p14:section name="Thank you" id="{18039BEC-4E63-4173-80E5-4B32294302B2}">
          <p14:sldIdLst>
            <p14:sldId id="284"/>
            <p14:sldId id="2147482967"/>
            <p14:sldId id="2147482951"/>
            <p14:sldId id="2147482961"/>
            <p14:sldId id="2147482962"/>
            <p14:sldId id="2147482963"/>
            <p14:sldId id="2147482964"/>
            <p14:sldId id="2147482965"/>
            <p14:sldId id="2147482996"/>
            <p14:sldId id="2147482966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5B73632-6CE1-F5AC-1EEB-9FB25C076E5B}" name="Matt Gotteiner" initials="MG" userId="S::magottei@microsoft.com::44e5f686-35a1-4e2c-9ff3-7b6adafcd3c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CEF4"/>
    <a:srgbClr val="73FCD6"/>
    <a:srgbClr val="556EAF"/>
    <a:srgbClr val="AEB5F4"/>
    <a:srgbClr val="2C685A"/>
    <a:srgbClr val="2D685A"/>
    <a:srgbClr val="2E685A"/>
    <a:srgbClr val="4CA991"/>
    <a:srgbClr val="73FA41"/>
    <a:srgbClr val="82FB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0F60F9-4504-C847-A9B1-95C1FFAA433D}" v="3" dt="2026-02-24T15:34:01.263"/>
  </p1510:revLst>
</p1510:revInfo>
</file>

<file path=ppt/tableStyles.xml><?xml version="1.0" encoding="utf-8"?>
<a:tblStyleLst xmlns:a="http://schemas.openxmlformats.org/drawingml/2006/main" def="{00A15C55-8517-42AA-B614-E9B94910E39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21"/>
    <p:restoredTop sz="94598"/>
  </p:normalViewPr>
  <p:slideViewPr>
    <p:cSldViewPr snapToGrid="0">
      <p:cViewPr varScale="1">
        <p:scale>
          <a:sx n="112" d="100"/>
          <a:sy n="112" d="100"/>
        </p:scale>
        <p:origin x="224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microsoft.com/office/2018/10/relationships/authors" Target="author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tableStyles" Target="tableStyle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23C7EB-5B7F-EC35-C47A-3E71DEC2AD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9F19CB-5D50-8F75-DC84-99B30658E1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88F21-FC08-4265-A0EA-7DCAAA8A0386}" type="datetimeFigureOut">
              <a:rPr lang="es-MX" smtClean="0"/>
              <a:t>23/02/26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974DA-6BA0-F689-ED4C-B26987C81F9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571DD-CE34-DB8F-9E07-DC1DF621732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85052-7AF3-4E33-B760-A67F7CF6271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63714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429A59-3B4E-43BA-8563-6D5BDB7C83C0}" type="datetimeFigureOut">
              <a:rPr lang="es-MX" smtClean="0"/>
              <a:t>23/02/26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6777DB-9E19-4DE0-B5FC-477F0E7FE6A0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2487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C2C86-B9A1-E583-2AC1-9E225124A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D51A2F-9C85-F1EB-ED64-D99CC8A8C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0DA7F0-F358-8DF1-5775-B36E46F6A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sz="1200"/>
              <a:t>An embedding encodes an input as a list of floating-point numbers.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sz="1200"/>
              <a:t>”dog” → [0.017198, -0.007493, -0.057982,…]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sz="1200"/>
              <a:t>Different embedding models output different embeddings, with varying lengths.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95272-FFD0-66E6-DA66-1518DDB2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22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6513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12636-ABD9-EEEB-EDA3-4C514956F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0DE695-A697-44F8-7DA7-420CBC02F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BA504A-D431-E043-B7E6-B80386FC3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sz="1200"/>
              <a:t>An embedding encodes an input as a list of floating-point numbers.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sz="1200"/>
              <a:t>”dog” → [0.017198, -0.007493, -0.057982,…]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sz="1200"/>
              <a:t>Different embedding models output different embeddings, with varying lengths.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DED97-471D-959A-AEA1-DB02663C3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23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8024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E5799-02C8-6A02-26FD-9BC03F83C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FA055A-F838-9288-DA41-3FAABEE0A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2A21EA-6CA8-115D-AC10-242C20B2D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BB037-FD99-F3D3-4DB2-0639E9DAD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50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9022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329202D2-7400-B85C-E27C-1C43F148CDD2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8350" cy="686972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6E44D-AF4D-B0D0-2D38-17BF590B4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141154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3F104-8DDE-A1E6-0719-100ACF208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50893"/>
            <a:ext cx="10515600" cy="1594358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69DBC-2956-8F47-4E6B-2E507E2D9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23/02/26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8C4A3-03C4-5E35-EE53-3E35A3DC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0968-75D8-3240-3B7B-524F6AC9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  <p:sp>
        <p:nvSpPr>
          <p:cNvPr id="15" name="Freeform 8">
            <a:extLst>
              <a:ext uri="{FF2B5EF4-FFF2-40B4-BE49-F238E27FC236}">
                <a16:creationId xmlns:a16="http://schemas.microsoft.com/office/drawing/2014/main" id="{4ABE5541-45AA-5D0D-8169-D76F16EACDA3}"/>
              </a:ext>
            </a:extLst>
          </p:cNvPr>
          <p:cNvSpPr/>
          <p:nvPr userDrawn="1"/>
        </p:nvSpPr>
        <p:spPr>
          <a:xfrm>
            <a:off x="739972" y="471669"/>
            <a:ext cx="1860550" cy="525189"/>
          </a:xfrm>
          <a:custGeom>
            <a:avLst/>
            <a:gdLst/>
            <a:ahLst/>
            <a:cxnLst/>
            <a:rect l="l" t="t" r="r" b="b"/>
            <a:pathLst>
              <a:path w="3040582" h="862772">
                <a:moveTo>
                  <a:pt x="0" y="0"/>
                </a:moveTo>
                <a:lnTo>
                  <a:pt x="3040582" y="0"/>
                </a:lnTo>
                <a:lnTo>
                  <a:pt x="3040582" y="862771"/>
                </a:lnTo>
                <a:lnTo>
                  <a:pt x="0" y="862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542" t="-57395" r="-18192" b="-58446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C6718F5-4CB2-A424-FD1A-5CC53BB88C2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91633" y="4550797"/>
            <a:ext cx="5156494" cy="159435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Role</a:t>
            </a:r>
          </a:p>
          <a:p>
            <a:pPr lvl="0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28653AB-9915-A1B3-34BF-C7AA9C6808D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096000" y="4550797"/>
            <a:ext cx="5249941" cy="159435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Role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832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329202D2-7400-B85C-E27C-1C43F148CDD2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8350" cy="686972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6E44D-AF4D-B0D0-2D38-17BF590B4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2343"/>
            <a:ext cx="10515600" cy="2852737"/>
          </a:xfrm>
        </p:spPr>
        <p:txBody>
          <a:bodyPr anchor="ctr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3F104-8DDE-A1E6-0719-100ACF208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23110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69DBC-2956-8F47-4E6B-2E507E2D9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23/02/26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8C4A3-03C4-5E35-EE53-3E35A3DC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0968-75D8-3240-3B7B-524F6AC9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3161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0295FCD2-FBD5-1EFB-6B99-A5A5A4053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About you</a:t>
            </a:r>
            <a:endParaRPr lang="es-MX"/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38C10DA9-B70C-145C-3BF4-E96609F6562A}"/>
              </a:ext>
            </a:extLst>
          </p:cNvPr>
          <p:cNvGrpSpPr/>
          <p:nvPr userDrawn="1"/>
        </p:nvGrpSpPr>
        <p:grpSpPr>
          <a:xfrm>
            <a:off x="838200" y="1690688"/>
            <a:ext cx="10515602" cy="5167313"/>
            <a:chOff x="0" y="-234844"/>
            <a:chExt cx="4396591" cy="2457932"/>
          </a:xfrm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670F8A61-A63F-DE51-BC1C-81A4C91CE8F3}"/>
                </a:ext>
              </a:extLst>
            </p:cNvPr>
            <p:cNvSpPr/>
            <p:nvPr/>
          </p:nvSpPr>
          <p:spPr>
            <a:xfrm>
              <a:off x="0" y="-234844"/>
              <a:ext cx="4396591" cy="2457932"/>
            </a:xfrm>
            <a:custGeom>
              <a:avLst/>
              <a:gdLst/>
              <a:ahLst/>
              <a:cxnLst/>
              <a:rect l="l" t="t" r="r" b="b"/>
              <a:pathLst>
                <a:path w="4396591" h="2223088">
                  <a:moveTo>
                    <a:pt x="13449" y="0"/>
                  </a:moveTo>
                  <a:lnTo>
                    <a:pt x="4383141" y="0"/>
                  </a:lnTo>
                  <a:cubicBezTo>
                    <a:pt x="4390569" y="0"/>
                    <a:pt x="4396591" y="6022"/>
                    <a:pt x="4396591" y="13449"/>
                  </a:cubicBezTo>
                  <a:lnTo>
                    <a:pt x="4396591" y="2209638"/>
                  </a:lnTo>
                  <a:cubicBezTo>
                    <a:pt x="4396591" y="2213205"/>
                    <a:pt x="4395174" y="2216626"/>
                    <a:pt x="4392651" y="2219148"/>
                  </a:cubicBezTo>
                  <a:cubicBezTo>
                    <a:pt x="4390129" y="2221671"/>
                    <a:pt x="4386708" y="2223088"/>
                    <a:pt x="4383141" y="2223088"/>
                  </a:cubicBezTo>
                  <a:lnTo>
                    <a:pt x="13449" y="2223088"/>
                  </a:lnTo>
                  <a:cubicBezTo>
                    <a:pt x="6022" y="2223088"/>
                    <a:pt x="0" y="2217066"/>
                    <a:pt x="0" y="2209638"/>
                  </a:cubicBezTo>
                  <a:lnTo>
                    <a:pt x="0" y="13449"/>
                  </a:lnTo>
                  <a:cubicBezTo>
                    <a:pt x="0" y="6022"/>
                    <a:pt x="6022" y="0"/>
                    <a:pt x="1344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6AD497AD-1ADB-DF0F-B24D-811410E7D65A}"/>
                </a:ext>
              </a:extLst>
            </p:cNvPr>
            <p:cNvSpPr txBox="1"/>
            <p:nvPr/>
          </p:nvSpPr>
          <p:spPr>
            <a:xfrm>
              <a:off x="0" y="-38100"/>
              <a:ext cx="4396590" cy="2261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267" y="1837854"/>
            <a:ext cx="9863666" cy="4339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162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0295FCD2-FBD5-1EFB-6B99-A5A5A4053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About the speakers</a:t>
            </a:r>
            <a:endParaRPr lang="es-MX"/>
          </a:p>
        </p:txBody>
      </p:sp>
      <p:grpSp>
        <p:nvGrpSpPr>
          <p:cNvPr id="12" name="Group 8">
            <a:extLst>
              <a:ext uri="{FF2B5EF4-FFF2-40B4-BE49-F238E27FC236}">
                <a16:creationId xmlns:a16="http://schemas.microsoft.com/office/drawing/2014/main" id="{84CD342C-E2D3-353F-8B33-2ACD3A1BE8B3}"/>
              </a:ext>
            </a:extLst>
          </p:cNvPr>
          <p:cNvGrpSpPr/>
          <p:nvPr userDrawn="1"/>
        </p:nvGrpSpPr>
        <p:grpSpPr>
          <a:xfrm>
            <a:off x="6891020" y="3537719"/>
            <a:ext cx="4064848" cy="3320281"/>
            <a:chOff x="0" y="0"/>
            <a:chExt cx="1513731" cy="2223088"/>
          </a:xfrm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4F86E2AA-C4BD-82FC-82EE-004E6D1D47E9}"/>
                </a:ext>
              </a:extLst>
            </p:cNvPr>
            <p:cNvSpPr/>
            <p:nvPr/>
          </p:nvSpPr>
          <p:spPr>
            <a:xfrm>
              <a:off x="0" y="0"/>
              <a:ext cx="1513731" cy="2223088"/>
            </a:xfrm>
            <a:custGeom>
              <a:avLst/>
              <a:gdLst/>
              <a:ahLst/>
              <a:cxnLst/>
              <a:rect l="l" t="t" r="r" b="b"/>
              <a:pathLst>
                <a:path w="1513731" h="2223088">
                  <a:moveTo>
                    <a:pt x="39064" y="0"/>
                  </a:moveTo>
                  <a:lnTo>
                    <a:pt x="1474668" y="0"/>
                  </a:lnTo>
                  <a:cubicBezTo>
                    <a:pt x="1485028" y="0"/>
                    <a:pt x="1494964" y="4116"/>
                    <a:pt x="1502290" y="11441"/>
                  </a:cubicBezTo>
                  <a:cubicBezTo>
                    <a:pt x="1509616" y="18767"/>
                    <a:pt x="1513731" y="28703"/>
                    <a:pt x="1513731" y="39064"/>
                  </a:cubicBezTo>
                  <a:lnTo>
                    <a:pt x="1513731" y="2184024"/>
                  </a:lnTo>
                  <a:cubicBezTo>
                    <a:pt x="1513731" y="2205598"/>
                    <a:pt x="1496242" y="2223088"/>
                    <a:pt x="1474668" y="2223088"/>
                  </a:cubicBezTo>
                  <a:lnTo>
                    <a:pt x="39064" y="2223088"/>
                  </a:lnTo>
                  <a:cubicBezTo>
                    <a:pt x="17489" y="2223088"/>
                    <a:pt x="0" y="2205598"/>
                    <a:pt x="0" y="2184024"/>
                  </a:cubicBezTo>
                  <a:lnTo>
                    <a:pt x="0" y="39064"/>
                  </a:lnTo>
                  <a:cubicBezTo>
                    <a:pt x="0" y="17489"/>
                    <a:pt x="17489" y="0"/>
                    <a:pt x="3906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EA62988-03A8-2DE6-E763-D7FD9D803333}"/>
                </a:ext>
              </a:extLst>
            </p:cNvPr>
            <p:cNvSpPr txBox="1"/>
            <p:nvPr/>
          </p:nvSpPr>
          <p:spPr>
            <a:xfrm>
              <a:off x="0" y="-47625"/>
              <a:ext cx="1513731" cy="2270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8">
            <a:extLst>
              <a:ext uri="{FF2B5EF4-FFF2-40B4-BE49-F238E27FC236}">
                <a16:creationId xmlns:a16="http://schemas.microsoft.com/office/drawing/2014/main" id="{CA45EA46-89E2-2C45-FAE0-708611EC9957}"/>
              </a:ext>
            </a:extLst>
          </p:cNvPr>
          <p:cNvGrpSpPr/>
          <p:nvPr userDrawn="1"/>
        </p:nvGrpSpPr>
        <p:grpSpPr>
          <a:xfrm>
            <a:off x="1075267" y="3537719"/>
            <a:ext cx="4064848" cy="3320281"/>
            <a:chOff x="0" y="0"/>
            <a:chExt cx="1513731" cy="2223088"/>
          </a:xfrm>
        </p:grpSpPr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21B8092-5047-EEF5-E13B-09FC7334CE51}"/>
                </a:ext>
              </a:extLst>
            </p:cNvPr>
            <p:cNvSpPr/>
            <p:nvPr/>
          </p:nvSpPr>
          <p:spPr>
            <a:xfrm>
              <a:off x="0" y="0"/>
              <a:ext cx="1513731" cy="2223088"/>
            </a:xfrm>
            <a:custGeom>
              <a:avLst/>
              <a:gdLst/>
              <a:ahLst/>
              <a:cxnLst/>
              <a:rect l="l" t="t" r="r" b="b"/>
              <a:pathLst>
                <a:path w="1513731" h="2223088">
                  <a:moveTo>
                    <a:pt x="39064" y="0"/>
                  </a:moveTo>
                  <a:lnTo>
                    <a:pt x="1474668" y="0"/>
                  </a:lnTo>
                  <a:cubicBezTo>
                    <a:pt x="1485028" y="0"/>
                    <a:pt x="1494964" y="4116"/>
                    <a:pt x="1502290" y="11441"/>
                  </a:cubicBezTo>
                  <a:cubicBezTo>
                    <a:pt x="1509616" y="18767"/>
                    <a:pt x="1513731" y="28703"/>
                    <a:pt x="1513731" y="39064"/>
                  </a:cubicBezTo>
                  <a:lnTo>
                    <a:pt x="1513731" y="2184024"/>
                  </a:lnTo>
                  <a:cubicBezTo>
                    <a:pt x="1513731" y="2205598"/>
                    <a:pt x="1496242" y="2223088"/>
                    <a:pt x="1474668" y="2223088"/>
                  </a:cubicBezTo>
                  <a:lnTo>
                    <a:pt x="39064" y="2223088"/>
                  </a:lnTo>
                  <a:cubicBezTo>
                    <a:pt x="17489" y="2223088"/>
                    <a:pt x="0" y="2205598"/>
                    <a:pt x="0" y="2184024"/>
                  </a:cubicBezTo>
                  <a:lnTo>
                    <a:pt x="0" y="39064"/>
                  </a:lnTo>
                  <a:cubicBezTo>
                    <a:pt x="0" y="17489"/>
                    <a:pt x="17489" y="0"/>
                    <a:pt x="3906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37CCC31-8AF4-47FA-8DCA-1BD5C1B435BC}"/>
                </a:ext>
              </a:extLst>
            </p:cNvPr>
            <p:cNvSpPr txBox="1"/>
            <p:nvPr/>
          </p:nvSpPr>
          <p:spPr>
            <a:xfrm>
              <a:off x="0" y="-47625"/>
              <a:ext cx="1513731" cy="2270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1EDC61F-BE19-72DD-112C-956072532F5D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458710" y="2055813"/>
            <a:ext cx="2929468" cy="2778654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67F8969-FF6A-9BCC-AAAE-F6E9D06627D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458711" y="5162293"/>
            <a:ext cx="2929468" cy="150239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Your 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Social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64A18B6-AE97-E15D-EB56-EA636756AB0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642957" y="5162293"/>
            <a:ext cx="2929468" cy="150239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Your 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Social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A49CB7E8-945A-668B-6849-ED0A7A9C6C14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642957" y="2039673"/>
            <a:ext cx="2929468" cy="2778654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20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ain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0295FCD2-FBD5-1EFB-6B99-A5A5A4053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38C10DA9-B70C-145C-3BF4-E96609F6562A}"/>
              </a:ext>
            </a:extLst>
          </p:cNvPr>
          <p:cNvGrpSpPr/>
          <p:nvPr userDrawn="1"/>
        </p:nvGrpSpPr>
        <p:grpSpPr>
          <a:xfrm>
            <a:off x="838200" y="2184401"/>
            <a:ext cx="10515600" cy="4673600"/>
            <a:chOff x="0" y="0"/>
            <a:chExt cx="4396590" cy="2223088"/>
          </a:xfrm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670F8A61-A63F-DE51-BC1C-81A4C91CE8F3}"/>
                </a:ext>
              </a:extLst>
            </p:cNvPr>
            <p:cNvSpPr/>
            <p:nvPr/>
          </p:nvSpPr>
          <p:spPr>
            <a:xfrm>
              <a:off x="0" y="0"/>
              <a:ext cx="4396591" cy="2223088"/>
            </a:xfrm>
            <a:custGeom>
              <a:avLst/>
              <a:gdLst/>
              <a:ahLst/>
              <a:cxnLst/>
              <a:rect l="l" t="t" r="r" b="b"/>
              <a:pathLst>
                <a:path w="4396591" h="2223088">
                  <a:moveTo>
                    <a:pt x="13449" y="0"/>
                  </a:moveTo>
                  <a:lnTo>
                    <a:pt x="4383141" y="0"/>
                  </a:lnTo>
                  <a:cubicBezTo>
                    <a:pt x="4390569" y="0"/>
                    <a:pt x="4396591" y="6022"/>
                    <a:pt x="4396591" y="13449"/>
                  </a:cubicBezTo>
                  <a:lnTo>
                    <a:pt x="4396591" y="2209638"/>
                  </a:lnTo>
                  <a:cubicBezTo>
                    <a:pt x="4396591" y="2213205"/>
                    <a:pt x="4395174" y="2216626"/>
                    <a:pt x="4392651" y="2219148"/>
                  </a:cubicBezTo>
                  <a:cubicBezTo>
                    <a:pt x="4390129" y="2221671"/>
                    <a:pt x="4386708" y="2223088"/>
                    <a:pt x="4383141" y="2223088"/>
                  </a:cubicBezTo>
                  <a:lnTo>
                    <a:pt x="13449" y="2223088"/>
                  </a:lnTo>
                  <a:cubicBezTo>
                    <a:pt x="6022" y="2223088"/>
                    <a:pt x="0" y="2217066"/>
                    <a:pt x="0" y="2209638"/>
                  </a:cubicBezTo>
                  <a:lnTo>
                    <a:pt x="0" y="13449"/>
                  </a:lnTo>
                  <a:cubicBezTo>
                    <a:pt x="0" y="6022"/>
                    <a:pt x="6022" y="0"/>
                    <a:pt x="1344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6AD497AD-1ADB-DF0F-B24D-811410E7D65A}"/>
                </a:ext>
              </a:extLst>
            </p:cNvPr>
            <p:cNvSpPr txBox="1"/>
            <p:nvPr/>
          </p:nvSpPr>
          <p:spPr>
            <a:xfrm>
              <a:off x="0" y="-38100"/>
              <a:ext cx="4396590" cy="2261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267" y="2590800"/>
            <a:ext cx="9863666" cy="3586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4878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0295FCD2-FBD5-1EFB-6B99-A5A5A4053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6307667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Topic 2</a:t>
            </a:r>
            <a:endParaRPr lang="es-MX"/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38C10DA9-B70C-145C-3BF4-E96609F6562A}"/>
              </a:ext>
            </a:extLst>
          </p:cNvPr>
          <p:cNvGrpSpPr/>
          <p:nvPr userDrawn="1"/>
        </p:nvGrpSpPr>
        <p:grpSpPr>
          <a:xfrm>
            <a:off x="838200" y="2184401"/>
            <a:ext cx="10515600" cy="4673600"/>
            <a:chOff x="0" y="0"/>
            <a:chExt cx="4396590" cy="2223088"/>
          </a:xfrm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670F8A61-A63F-DE51-BC1C-81A4C91CE8F3}"/>
                </a:ext>
              </a:extLst>
            </p:cNvPr>
            <p:cNvSpPr/>
            <p:nvPr/>
          </p:nvSpPr>
          <p:spPr>
            <a:xfrm>
              <a:off x="0" y="0"/>
              <a:ext cx="4396591" cy="2223088"/>
            </a:xfrm>
            <a:custGeom>
              <a:avLst/>
              <a:gdLst/>
              <a:ahLst/>
              <a:cxnLst/>
              <a:rect l="l" t="t" r="r" b="b"/>
              <a:pathLst>
                <a:path w="4396591" h="2223088">
                  <a:moveTo>
                    <a:pt x="13449" y="0"/>
                  </a:moveTo>
                  <a:lnTo>
                    <a:pt x="4383141" y="0"/>
                  </a:lnTo>
                  <a:cubicBezTo>
                    <a:pt x="4390569" y="0"/>
                    <a:pt x="4396591" y="6022"/>
                    <a:pt x="4396591" y="13449"/>
                  </a:cubicBezTo>
                  <a:lnTo>
                    <a:pt x="4396591" y="2209638"/>
                  </a:lnTo>
                  <a:cubicBezTo>
                    <a:pt x="4396591" y="2213205"/>
                    <a:pt x="4395174" y="2216626"/>
                    <a:pt x="4392651" y="2219148"/>
                  </a:cubicBezTo>
                  <a:cubicBezTo>
                    <a:pt x="4390129" y="2221671"/>
                    <a:pt x="4386708" y="2223088"/>
                    <a:pt x="4383141" y="2223088"/>
                  </a:cubicBezTo>
                  <a:lnTo>
                    <a:pt x="13449" y="2223088"/>
                  </a:lnTo>
                  <a:cubicBezTo>
                    <a:pt x="6022" y="2223088"/>
                    <a:pt x="0" y="2217066"/>
                    <a:pt x="0" y="2209638"/>
                  </a:cubicBezTo>
                  <a:lnTo>
                    <a:pt x="0" y="13449"/>
                  </a:lnTo>
                  <a:cubicBezTo>
                    <a:pt x="0" y="6022"/>
                    <a:pt x="6022" y="0"/>
                    <a:pt x="1344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6AD497AD-1ADB-DF0F-B24D-811410E7D65A}"/>
                </a:ext>
              </a:extLst>
            </p:cNvPr>
            <p:cNvSpPr txBox="1"/>
            <p:nvPr/>
          </p:nvSpPr>
          <p:spPr>
            <a:xfrm>
              <a:off x="0" y="-38100"/>
              <a:ext cx="4396590" cy="2261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267" y="2590800"/>
            <a:ext cx="9863666" cy="3586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3DAB7B18-2172-6B5E-E96C-86A5E2B0D6A1}"/>
              </a:ext>
            </a:extLst>
          </p:cNvPr>
          <p:cNvSpPr/>
          <p:nvPr userDrawn="1"/>
        </p:nvSpPr>
        <p:spPr>
          <a:xfrm>
            <a:off x="6096000" y="-5658646"/>
            <a:ext cx="15523832" cy="14165497"/>
          </a:xfrm>
          <a:custGeom>
            <a:avLst/>
            <a:gdLst/>
            <a:ahLst/>
            <a:cxnLst/>
            <a:rect l="l" t="t" r="r" b="b"/>
            <a:pathLst>
              <a:path w="15523832" h="14165497">
                <a:moveTo>
                  <a:pt x="0" y="0"/>
                </a:moveTo>
                <a:lnTo>
                  <a:pt x="15523832" y="0"/>
                </a:lnTo>
                <a:lnTo>
                  <a:pt x="15523832" y="14165497"/>
                </a:lnTo>
                <a:lnTo>
                  <a:pt x="0" y="1416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1EDC61F-BE19-72DD-112C-956072532F5D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696201" y="1146176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8C4A3-03C4-5E35-EE53-3E35A3DC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0968-75D8-3240-3B7B-524F6AC9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329202D2-7400-B85C-E27C-1C43F148CD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7887"/>
            <a:ext cx="12192000" cy="6875887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/>
          <a:lstStyle/>
          <a:p>
            <a:endParaRPr lang="es-MX"/>
          </a:p>
        </p:txBody>
      </p:sp>
      <p:grpSp>
        <p:nvGrpSpPr>
          <p:cNvPr id="15" name="Group 8">
            <a:extLst>
              <a:ext uri="{FF2B5EF4-FFF2-40B4-BE49-F238E27FC236}">
                <a16:creationId xmlns:a16="http://schemas.microsoft.com/office/drawing/2014/main" id="{D19A47D0-0386-C2EB-3688-D5D1F7A0FD96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81027" y="677183"/>
            <a:ext cx="10829946" cy="5485745"/>
            <a:chOff x="0" y="-47625"/>
            <a:chExt cx="4197679" cy="2032576"/>
          </a:xfrm>
        </p:grpSpPr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0C78AA4D-280D-040C-30AF-540254FEE3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0"/>
              <a:ext cx="4197679" cy="1984951"/>
            </a:xfrm>
            <a:custGeom>
              <a:avLst/>
              <a:gdLst/>
              <a:ahLst/>
              <a:cxnLst/>
              <a:rect l="l" t="t" r="r" b="b"/>
              <a:pathLst>
                <a:path w="4197679" h="1984951">
                  <a:moveTo>
                    <a:pt x="14087" y="0"/>
                  </a:moveTo>
                  <a:lnTo>
                    <a:pt x="4183592" y="0"/>
                  </a:lnTo>
                  <a:cubicBezTo>
                    <a:pt x="4191372" y="0"/>
                    <a:pt x="4197679" y="6307"/>
                    <a:pt x="4197679" y="14087"/>
                  </a:cubicBezTo>
                  <a:lnTo>
                    <a:pt x="4197679" y="1970864"/>
                  </a:lnTo>
                  <a:cubicBezTo>
                    <a:pt x="4197679" y="1978644"/>
                    <a:pt x="4191372" y="1984951"/>
                    <a:pt x="4183592" y="1984951"/>
                  </a:cubicBezTo>
                  <a:lnTo>
                    <a:pt x="14087" y="1984951"/>
                  </a:lnTo>
                  <a:cubicBezTo>
                    <a:pt x="6307" y="1984951"/>
                    <a:pt x="0" y="1978644"/>
                    <a:pt x="0" y="1970864"/>
                  </a:cubicBezTo>
                  <a:lnTo>
                    <a:pt x="0" y="14087"/>
                  </a:lnTo>
                  <a:cubicBezTo>
                    <a:pt x="0" y="6307"/>
                    <a:pt x="6307" y="0"/>
                    <a:pt x="1408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Box 10">
              <a:extLst>
                <a:ext uri="{FF2B5EF4-FFF2-40B4-BE49-F238E27FC236}">
                  <a16:creationId xmlns:a16="http://schemas.microsoft.com/office/drawing/2014/main" id="{AACC4D65-72F3-882E-0C74-29085F7FAA3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4197679" cy="2032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B81E6FA9-5712-682C-A5FA-B06C89763C5B}"/>
              </a:ext>
            </a:extLst>
          </p:cNvPr>
          <p:cNvSpPr txBox="1">
            <a:spLocks/>
          </p:cNvSpPr>
          <p:nvPr userDrawn="1"/>
        </p:nvSpPr>
        <p:spPr>
          <a:xfrm>
            <a:off x="978147" y="1008156"/>
            <a:ext cx="10235705" cy="765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200846C-D6C9-853D-DB75-4B0B6DF6E2F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78147" y="1964047"/>
            <a:ext cx="10235705" cy="38525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7ACA83-8A24-CEEC-CFF9-272221E05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47" y="1026203"/>
            <a:ext cx="10235705" cy="8064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3289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-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8">
            <a:extLst>
              <a:ext uri="{FF2B5EF4-FFF2-40B4-BE49-F238E27FC236}">
                <a16:creationId xmlns:a16="http://schemas.microsoft.com/office/drawing/2014/main" id="{DA6A76C6-C0A4-6790-3061-968E4DAC09D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38200" y="0"/>
            <a:ext cx="11353800" cy="6858000"/>
            <a:chOff x="0" y="0"/>
            <a:chExt cx="4197679" cy="1984951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CC5A72BB-BDAC-3A05-54EA-1285727BD2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197679" cy="1984951"/>
            </a:xfrm>
            <a:custGeom>
              <a:avLst/>
              <a:gdLst/>
              <a:ahLst/>
              <a:cxnLst/>
              <a:rect l="l" t="t" r="r" b="b"/>
              <a:pathLst>
                <a:path w="4197679" h="1984951">
                  <a:moveTo>
                    <a:pt x="14087" y="0"/>
                  </a:moveTo>
                  <a:lnTo>
                    <a:pt x="4183592" y="0"/>
                  </a:lnTo>
                  <a:cubicBezTo>
                    <a:pt x="4191372" y="0"/>
                    <a:pt x="4197679" y="6307"/>
                    <a:pt x="4197679" y="14087"/>
                  </a:cubicBezTo>
                  <a:lnTo>
                    <a:pt x="4197679" y="1970864"/>
                  </a:lnTo>
                  <a:cubicBezTo>
                    <a:pt x="4197679" y="1978644"/>
                    <a:pt x="4191372" y="1984951"/>
                    <a:pt x="4183592" y="1984951"/>
                  </a:cubicBezTo>
                  <a:lnTo>
                    <a:pt x="14087" y="1984951"/>
                  </a:lnTo>
                  <a:cubicBezTo>
                    <a:pt x="6307" y="1984951"/>
                    <a:pt x="0" y="1978644"/>
                    <a:pt x="0" y="1970864"/>
                  </a:cubicBezTo>
                  <a:lnTo>
                    <a:pt x="0" y="14087"/>
                  </a:lnTo>
                  <a:cubicBezTo>
                    <a:pt x="0" y="6307"/>
                    <a:pt x="6307" y="0"/>
                    <a:pt x="1408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28219582-B644-88FC-10E4-1824D5EB8D0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4197679" cy="2032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16" y="458258"/>
            <a:ext cx="1091398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16" y="1918758"/>
            <a:ext cx="1091398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60832C5C-8902-D453-4845-67C132625F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77002" y="-29333"/>
            <a:ext cx="915202" cy="6887333"/>
          </a:xfrm>
          <a:custGeom>
            <a:avLst/>
            <a:gdLst/>
            <a:ahLst/>
            <a:cxnLst/>
            <a:rect l="l" t="t" r="r" b="b"/>
            <a:pathLst>
              <a:path w="1028700" h="10287000">
                <a:moveTo>
                  <a:pt x="0" y="0"/>
                </a:moveTo>
                <a:lnTo>
                  <a:pt x="1028700" y="0"/>
                </a:lnTo>
                <a:lnTo>
                  <a:pt x="10287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6">
                  <a:lumMod val="67000"/>
                </a:schemeClr>
              </a:gs>
              <a:gs pos="47000">
                <a:schemeClr val="accent6">
                  <a:lumMod val="97000"/>
                  <a:lumOff val="3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6200000" scaled="1"/>
          </a:gradFill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50862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8">
            <a:extLst>
              <a:ext uri="{FF2B5EF4-FFF2-40B4-BE49-F238E27FC236}">
                <a16:creationId xmlns:a16="http://schemas.microsoft.com/office/drawing/2014/main" id="{DA6A76C6-C0A4-6790-3061-968E4DAC09D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38200" y="0"/>
            <a:ext cx="11353800" cy="6858000"/>
            <a:chOff x="0" y="0"/>
            <a:chExt cx="4197679" cy="1984951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CC5A72BB-BDAC-3A05-54EA-1285727BD2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197679" cy="1984951"/>
            </a:xfrm>
            <a:custGeom>
              <a:avLst/>
              <a:gdLst/>
              <a:ahLst/>
              <a:cxnLst/>
              <a:rect l="l" t="t" r="r" b="b"/>
              <a:pathLst>
                <a:path w="4197679" h="1984951">
                  <a:moveTo>
                    <a:pt x="14087" y="0"/>
                  </a:moveTo>
                  <a:lnTo>
                    <a:pt x="4183592" y="0"/>
                  </a:lnTo>
                  <a:cubicBezTo>
                    <a:pt x="4191372" y="0"/>
                    <a:pt x="4197679" y="6307"/>
                    <a:pt x="4197679" y="14087"/>
                  </a:cubicBezTo>
                  <a:lnTo>
                    <a:pt x="4197679" y="1970864"/>
                  </a:lnTo>
                  <a:cubicBezTo>
                    <a:pt x="4197679" y="1978644"/>
                    <a:pt x="4191372" y="1984951"/>
                    <a:pt x="4183592" y="1984951"/>
                  </a:cubicBezTo>
                  <a:lnTo>
                    <a:pt x="14087" y="1984951"/>
                  </a:lnTo>
                  <a:cubicBezTo>
                    <a:pt x="6307" y="1984951"/>
                    <a:pt x="0" y="1978644"/>
                    <a:pt x="0" y="1970864"/>
                  </a:cubicBezTo>
                  <a:lnTo>
                    <a:pt x="0" y="14087"/>
                  </a:lnTo>
                  <a:cubicBezTo>
                    <a:pt x="0" y="6307"/>
                    <a:pt x="6307" y="0"/>
                    <a:pt x="1408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28219582-B644-88FC-10E4-1824D5EB8D0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4197679" cy="2032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09" y="3877577"/>
            <a:ext cx="10913982" cy="7635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16" y="4766731"/>
            <a:ext cx="10913980" cy="1638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60832C5C-8902-D453-4845-67C132625F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77002" y="-29333"/>
            <a:ext cx="915202" cy="6887333"/>
          </a:xfrm>
          <a:custGeom>
            <a:avLst/>
            <a:gdLst/>
            <a:ahLst/>
            <a:cxnLst/>
            <a:rect l="l" t="t" r="r" b="b"/>
            <a:pathLst>
              <a:path w="1028700" h="10287000">
                <a:moveTo>
                  <a:pt x="0" y="0"/>
                </a:moveTo>
                <a:lnTo>
                  <a:pt x="1028700" y="0"/>
                </a:lnTo>
                <a:lnTo>
                  <a:pt x="10287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4285" r="-664285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4" name="Group 5">
            <a:extLst>
              <a:ext uri="{FF2B5EF4-FFF2-40B4-BE49-F238E27FC236}">
                <a16:creationId xmlns:a16="http://schemas.microsoft.com/office/drawing/2014/main" id="{96685936-0169-34D6-D524-77DA27F95E5C}"/>
              </a:ext>
            </a:extLst>
          </p:cNvPr>
          <p:cNvGrpSpPr/>
          <p:nvPr userDrawn="1"/>
        </p:nvGrpSpPr>
        <p:grpSpPr>
          <a:xfrm>
            <a:off x="276434" y="-29334"/>
            <a:ext cx="576580" cy="6858001"/>
            <a:chOff x="0" y="0"/>
            <a:chExt cx="923323" cy="13716000"/>
          </a:xfrm>
        </p:grpSpPr>
        <p:sp>
          <p:nvSpPr>
            <p:cNvPr id="15" name="AutoShape 6">
              <a:extLst>
                <a:ext uri="{FF2B5EF4-FFF2-40B4-BE49-F238E27FC236}">
                  <a16:creationId xmlns:a16="http://schemas.microsoft.com/office/drawing/2014/main" id="{4BBEC499-967A-9B2E-663D-537ACDDA5F8D}"/>
                </a:ext>
              </a:extLst>
            </p:cNvPr>
            <p:cNvSpPr/>
            <p:nvPr/>
          </p:nvSpPr>
          <p:spPr>
            <a:xfrm rot="-5400000">
              <a:off x="-5941027" y="6851650"/>
              <a:ext cx="13716000" cy="0"/>
            </a:xfrm>
            <a:prstGeom prst="line">
              <a:avLst/>
            </a:prstGeom>
            <a:ln w="12700" cap="rnd">
              <a:solidFill>
                <a:srgbClr val="121212">
                  <a:alpha val="26667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AC43B49D-943A-E1AC-A2BF-FB8BA8DA7140}"/>
                </a:ext>
              </a:extLst>
            </p:cNvPr>
            <p:cNvSpPr/>
            <p:nvPr/>
          </p:nvSpPr>
          <p:spPr>
            <a:xfrm>
              <a:off x="0" y="6724554"/>
              <a:ext cx="400588" cy="266892"/>
            </a:xfrm>
            <a:custGeom>
              <a:avLst/>
              <a:gdLst/>
              <a:ahLst/>
              <a:cxnLst/>
              <a:rect l="l" t="t" r="r" b="b"/>
              <a:pathLst>
                <a:path w="400588" h="266892">
                  <a:moveTo>
                    <a:pt x="0" y="0"/>
                  </a:moveTo>
                  <a:lnTo>
                    <a:pt x="400588" y="0"/>
                  </a:lnTo>
                  <a:lnTo>
                    <a:pt x="400588" y="266892"/>
                  </a:lnTo>
                  <a:lnTo>
                    <a:pt x="0" y="266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7" name="AutoShape 8">
            <a:extLst>
              <a:ext uri="{FF2B5EF4-FFF2-40B4-BE49-F238E27FC236}">
                <a16:creationId xmlns:a16="http://schemas.microsoft.com/office/drawing/2014/main" id="{5B0F7F05-AE44-780B-B6D3-1C7601CBDAFE}"/>
              </a:ext>
            </a:extLst>
          </p:cNvPr>
          <p:cNvSpPr/>
          <p:nvPr userDrawn="1"/>
        </p:nvSpPr>
        <p:spPr>
          <a:xfrm>
            <a:off x="861483" y="3455987"/>
            <a:ext cx="11330517" cy="4763"/>
          </a:xfrm>
          <a:prstGeom prst="line">
            <a:avLst/>
          </a:prstGeom>
          <a:ln w="9525" cap="rnd">
            <a:solidFill>
              <a:srgbClr val="121212">
                <a:alpha val="26667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ABC146F-477C-6739-48C0-131FE8CF8B74}"/>
              </a:ext>
            </a:extLst>
          </p:cNvPr>
          <p:cNvSpPr txBox="1">
            <a:spLocks/>
          </p:cNvSpPr>
          <p:nvPr userDrawn="1"/>
        </p:nvSpPr>
        <p:spPr>
          <a:xfrm>
            <a:off x="1066804" y="495445"/>
            <a:ext cx="10913982" cy="7635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B9CD599-72CC-2EDA-9D9B-CA67650500D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058111" y="1462165"/>
            <a:ext cx="10913980" cy="1638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C9B0F46-90AA-AF3A-87DF-2BCBB2898C3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066806" y="389568"/>
            <a:ext cx="10913980" cy="936770"/>
          </a:xfrm>
        </p:spPr>
        <p:txBody>
          <a:bodyPr>
            <a:normAutofit/>
          </a:bodyPr>
          <a:lstStyle>
            <a:lvl1pPr>
              <a:defRPr sz="4400">
                <a:latin typeface="Aptos Display (Headings)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388834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FAE02A-0F3D-772B-AE13-4C3242EB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23/02/26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842665-4ED8-5551-CD4E-445F4C4D9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EBB6C-0AEE-790B-DA43-889582BD0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74405D5D-B20D-5EDC-B7DF-DA29FEB96A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276667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5638" b="-75638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1B2258-EEDF-F0FE-1595-6FF5A900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you!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8086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024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6E44D-AF4D-B0D0-2D38-17BF590B4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3F104-8DDE-A1E6-0719-100ACF208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69DBC-2956-8F47-4E6B-2E507E2D9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23/02/26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8C4A3-03C4-5E35-EE53-3E35A3DC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0968-75D8-3240-3B7B-524F6AC9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990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52D45-3A83-AEA7-3C98-A922D9D6F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8A29E-D909-EBD3-F645-D91D5C2795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D2051-1577-C401-CF83-F5F6F0F17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02E4E-CF91-9091-E3E4-1849EDA11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23/02/26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E6E776-C01B-C144-3A80-F16152D5D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032A7-C620-28FF-7E02-0504302A8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39549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6243B-4CE5-2C2B-3D4A-4310222E3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AB730-BF81-A82B-31EA-B887DDDB3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1F2ED-813E-436A-FA87-DF185BDDC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EA6617-C184-23FC-1604-80399909F9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2FA727-B2C2-C624-CD3A-67F966E3E5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406E74-28DE-A028-1DF0-5CA3D35F8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23/02/26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9A0C9B-9D47-2AC8-32D1-29D486BB4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D3F9C2-F47A-949C-50EB-A6E0CCCB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4772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ACA44-E74A-143E-0F9D-CF483D8B3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5C20D3-4F4E-8DC2-34B5-EFF7681D4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23/02/26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FBE658-2B11-6008-C727-3F41C4B90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909BDF-639D-E898-ED35-F9155D5B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9285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890D4-0A29-C023-D79F-0EB186935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370AF-B029-62A6-6D49-5CC9FBFF7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91DC73-01B7-2007-BF88-0F021A28E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DF19B-1A42-1962-C23A-450FDDF67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23/02/26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EAFA9-490E-0AAA-E440-69610B8A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818C8-0054-0E70-D43A-429F259C7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2289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F2F8C-D5D9-76D4-64EA-223A757BB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73DEF9-6A1B-863A-2C3A-AC7C336563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EE354-7F91-C959-7DEB-A6D1172E58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24381-4A22-1980-7BA8-6E4052F1E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23/02/26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704551-DD7B-01B9-0EBE-60F2387CF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959E7-B985-AF19-1695-41D3383E3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78028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741D8-C192-BE6C-99B4-FD11C0C11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542917-210D-567F-2CB7-C194B4504A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45793-45A5-5204-0F61-DD574294D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23/02/26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61B22-5D74-A27A-395B-C4746AF5E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9BF5D-DD6D-6E5B-A417-DD07F5D81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06290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B1E22-1FE5-FEA0-ABED-031BE49EA2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2F47FB-61AC-82AB-54E7-E333D1BAB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4106A-9714-F515-A1EF-BAE67E2E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23/02/26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850FC-F9C7-4384-87D7-4CE6498E8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133DE-7937-C763-59A1-AC55CDAD4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89505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6848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38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635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861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200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2103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74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5427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2731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3882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12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011B5D-82C1-6F6D-D8BA-6C1053195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9B62F-7E8A-D6CF-D5AB-E82D2B53D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53780-EE84-6AB5-4311-157708D6A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94684-00AF-422F-9E70-484377D91052}" type="datetimeFigureOut">
              <a:rPr lang="es-MX" smtClean="0"/>
              <a:t>23/02/26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A6702-23AF-355E-E6EF-D39091A582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2D74D-5BAE-5E6C-D834-ABB626BE9E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0375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4" r:id="rId2"/>
    <p:sldLayoutId id="2147483674" r:id="rId3"/>
    <p:sldLayoutId id="2147483675" r:id="rId4"/>
    <p:sldLayoutId id="2147483673" r:id="rId5"/>
    <p:sldLayoutId id="2147483676" r:id="rId6"/>
    <p:sldLayoutId id="2147483679" r:id="rId7"/>
    <p:sldLayoutId id="2147483680" r:id="rId8"/>
    <p:sldLayoutId id="2147483681" r:id="rId9"/>
    <p:sldLayoutId id="2147483655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6" r:id="rId16"/>
    <p:sldLayoutId id="2147483657" r:id="rId17"/>
    <p:sldLayoutId id="2147483658" r:id="rId18"/>
    <p:sldLayoutId id="214748365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457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PythonAgents/series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.png"/><Relationship Id="rId4" Type="http://schemas.openxmlformats.org/officeDocument/2006/relationships/hyperlink" Target="https://aka.ms/pythonmcp/serie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pythonagents/slides/building" TargetMode="External"/><Relationship Id="rId2" Type="http://schemas.openxmlformats.org/officeDocument/2006/relationships/hyperlink" Target="https://www.pamelafox.org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aka.ms/python-agentframework-demos" TargetMode="Externa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simonwillison.net/2025/Sep/18/agents/" TargetMode="Externa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latform.openai.com/docs/guides/function-calling" TargetMode="Externa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platform.openai.com/docs/guides/function-calling" TargetMode="Externa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-Samples/python-agentframework-demos/blob/main/examples/openai_tool_calling.py" TargetMode="Externa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agent-framework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-Samples/python-agentframework-demos/blob/main/examples/agent_tool.py" TargetMode="Externa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-Samples/python-agentframework-demos/blob/main/examples/agent_tools.py" TargetMode="Externa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modelcontextprotocol.io/" TargetMode="Externa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modelcontextprotocol.io/docs/learn/architectur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-Samples/python-agentframework-demos/blob/main/examples/agent_mcp_local.py" TargetMode="Externa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-Samples/python-agentframework-demos/blob/main/examples/agent_mcp_remote.py" TargetMode="Externa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-Samples/python-agentframework-demos/blob/main/examples/agent_middleware.py" TargetMode="Externa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-Samples/python-agentframework-demos/blob/main/examples/agent_middleware.py" TargetMode="Externa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-Samples/python-agentframework-demos/blob/main/examples/agent_middleware.py" TargetMode="Externa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-Samples/python-agentframework-demos/blob/main/examples/agent_middleware.py" TargetMode="Externa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-Samples/python-agentframework-demos/blob/main/examples/agent_middleware.py" TargetMode="Externa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-Samples/python-agentframework-demos/blob/main/examples/agent_middleware.py" TargetMode="Externa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-Samples/python-agentframework-demos/blob/main/examples/agent_middleware.py" TargetMode="Externa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-Samples/python-agentframework-demos/blob/main/examples/agent_supervisor.py" TargetMode="Externa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pythonagents/resources" TargetMode="External"/><Relationship Id="rId2" Type="http://schemas.openxmlformats.org/officeDocument/2006/relationships/hyperlink" Target="https://aka.ms/pythonai/resources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ka.ms/PythonAgents/series" TargetMode="External"/><Relationship Id="rId4" Type="http://schemas.openxmlformats.org/officeDocument/2006/relationships/hyperlink" Target="https://aka.ms/pythonai/oh" TargetMode="Externa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microsoft/agent-framework/blob/main/COMMUNITY.md#public-community-office-hours" TargetMode="External"/><Relationship Id="rId3" Type="http://schemas.openxmlformats.org/officeDocument/2006/relationships/hyperlink" Target="https://ignite.microsoft.com/en-US/sessions/BRK197?source=sessions" TargetMode="External"/><Relationship Id="rId7" Type="http://schemas.openxmlformats.org/officeDocument/2006/relationships/hyperlink" Target="https://ignite.microsoft.com/en-US/sessions/BRK201?source=sessions" TargetMode="External"/><Relationship Id="rId2" Type="http://schemas.openxmlformats.org/officeDocument/2006/relationships/hyperlink" Target="https://learn.microsoft.com/agent-framework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ignite.microsoft.com/en-US/sessions/LAB513-R1?source=sessions" TargetMode="External"/><Relationship Id="rId5" Type="http://schemas.openxmlformats.org/officeDocument/2006/relationships/hyperlink" Target="https://ignite.microsoft.com/en-US/sessions/LAB518-R1?source=sessions" TargetMode="External"/><Relationship Id="rId4" Type="http://schemas.openxmlformats.org/officeDocument/2006/relationships/hyperlink" Target="https://ignite.microsoft.com/en-US/sessions/BRK1706?source=sessions" TargetMode="Externa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devblogs.microsoft.com/foundry/introducing-microsoft-agent-framework-the-open-source-engine-for-agentic-ai-apps/" TargetMode="Externa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crosoft/agent-framework/tree/main/python/samples/autogen-migration" TargetMode="Externa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agent-framework/migration-guide/from-semantic-kernel/samples" TargetMode="External"/><Relationship Id="rId2" Type="http://schemas.openxmlformats.org/officeDocument/2006/relationships/hyperlink" Target="https://learn.microsoft.com/agent-framework/migration-guide/from-semantic-kernel/" TargetMode="External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/agent-framework/tree/main/python/samples/autogen-migration" TargetMode="External"/><Relationship Id="rId2" Type="http://schemas.openxmlformats.org/officeDocument/2006/relationships/hyperlink" Target="https://learn.microsoft.com/en-us/agent-framework/migration-guide/from-autogen/" TargetMode="External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nybaloney/agentic-popup-shop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A75E4-B0C1-D5B9-4F77-859CD22F2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92C9A098-1140-208F-86A8-E0D0F0B90E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39" r="-221" b="11498"/>
          <a:stretch>
            <a:fillRect/>
          </a:stretch>
        </p:blipFill>
        <p:spPr>
          <a:xfrm>
            <a:off x="269009" y="376213"/>
            <a:ext cx="1721697" cy="1840238"/>
          </a:xfrm>
          <a:prstGeom prst="rect">
            <a:avLst/>
          </a:prstGeom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05A3F4-14C3-A8EA-A87D-F7FC6B897E89}"/>
              </a:ext>
            </a:extLst>
          </p:cNvPr>
          <p:cNvSpPr txBox="1"/>
          <p:nvPr/>
        </p:nvSpPr>
        <p:spPr>
          <a:xfrm>
            <a:off x="432984" y="2449816"/>
            <a:ext cx="11326031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🛠️ Feb 24:</a:t>
            </a:r>
            <a:r>
              <a:rPr lang="en-US" sz="3500" b="0" i="0" u="none" strike="noStrike" baseline="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 </a:t>
            </a:r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Building your first agent in Python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🧠 </a:t>
            </a:r>
            <a:r>
              <a:rPr lang="en-US" sz="3500" b="0" i="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Feb 25: Adding context and memory to agents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📊 </a:t>
            </a:r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Feb 26: Monitoring and evaluating agents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🔀 </a:t>
            </a:r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3: Building your first AI-driven workflows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🕸️ </a:t>
            </a:r>
            <a:r>
              <a:rPr lang="en-US" sz="3500" b="0" i="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4: Orchestrating advanced multi-agent workflows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🙋🏽 </a:t>
            </a:r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5: Adding a human-in-the-loop to workflows</a:t>
            </a:r>
            <a:endParaRPr lang="en-US" sz="3500" b="0" i="0">
              <a:solidFill>
                <a:srgbClr val="000000"/>
              </a:solidFill>
              <a:latin typeface="Quire Sans" panose="020B0502040400020003" pitchFamily="34" charset="0"/>
              <a:ea typeface="Segoe UI"/>
              <a:cs typeface="Quire Sans" panose="020B05020404000200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D3A62F-AD7C-5560-5319-1B085F20C1AC}"/>
              </a:ext>
            </a:extLst>
          </p:cNvPr>
          <p:cNvSpPr txBox="1"/>
          <p:nvPr/>
        </p:nvSpPr>
        <p:spPr>
          <a:xfrm>
            <a:off x="360923" y="5909261"/>
            <a:ext cx="1194546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 b="1">
                <a:solidFill>
                  <a:srgbClr val="000000"/>
                </a:solidFill>
                <a:latin typeface="Quire Sans"/>
                <a:ea typeface="Segoe UI"/>
                <a:cs typeface="Segoe UI"/>
              </a:rPr>
              <a:t>🔗</a:t>
            </a:r>
            <a:r>
              <a:rPr lang="en-US" sz="4400" b="1">
                <a:solidFill>
                  <a:srgbClr val="000000"/>
                </a:solidFill>
                <a:latin typeface="Quire Sans"/>
                <a:ea typeface="Segoe UI"/>
                <a:cs typeface="Segoe UI"/>
              </a:rPr>
              <a:t> Register at </a:t>
            </a:r>
            <a:r>
              <a:rPr lang="en-US" sz="4400" b="1">
                <a:solidFill>
                  <a:srgbClr val="306998"/>
                </a:solidFill>
                <a:latin typeface="Quire Sans"/>
                <a:ea typeface="Segoe UI"/>
                <a:cs typeface="Segoe U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aka.ms/PythonAgents/series</a:t>
            </a:r>
            <a:endParaRPr lang="en-US" sz="4400" b="1" i="0">
              <a:solidFill>
                <a:srgbClr val="306998"/>
              </a:solidFill>
              <a:latin typeface="Quire Sans"/>
              <a:ea typeface="Segoe UI"/>
              <a:cs typeface="Segoe UI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13" name="Picture 12" descr="A diagram of a network&#10;&#10;AI-generated content may be incorrect.">
            <a:extLst>
              <a:ext uri="{FF2B5EF4-FFF2-40B4-BE49-F238E27FC236}">
                <a16:creationId xmlns:a16="http://schemas.microsoft.com/office/drawing/2014/main" id="{BB1C877B-1502-7B46-5E1D-99B6815B4F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0434" y="184871"/>
            <a:ext cx="3074063" cy="212948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A727494-82B4-69DA-D3F9-CE82888691C7}"/>
              </a:ext>
            </a:extLst>
          </p:cNvPr>
          <p:cNvSpPr txBox="1">
            <a:spLocks/>
          </p:cNvSpPr>
          <p:nvPr/>
        </p:nvSpPr>
        <p:spPr>
          <a:xfrm>
            <a:off x="1990706" y="740896"/>
            <a:ext cx="6931223" cy="1141154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7000" b="1">
                <a:latin typeface="Quire Sans"/>
                <a:cs typeface="Quire Sans"/>
              </a:rPr>
              <a:t>Python + Agents</a:t>
            </a:r>
            <a:endParaRPr lang="en-US" sz="7000"/>
          </a:p>
        </p:txBody>
      </p:sp>
    </p:spTree>
    <p:extLst>
      <p:ext uri="{BB962C8B-B14F-4D97-AF65-F5344CB8AC3E}">
        <p14:creationId xmlns:p14="http://schemas.microsoft.com/office/powerpoint/2010/main" val="3616837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6F498-58FB-A77B-B566-A60C28CCA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noProof="0"/>
              <a:t>Python + Agents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4B708-5475-3713-E181-48E985434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50893"/>
            <a:ext cx="11512550" cy="873780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🛠️ </a:t>
            </a:r>
            <a:r>
              <a:rPr lang="en-US" sz="5200">
                <a:solidFill>
                  <a:srgbClr val="000000"/>
                </a:solidFill>
                <a:ea typeface="Segoe UI"/>
                <a:cs typeface="Segoe UI"/>
              </a:rPr>
              <a:t>Building your first agent in Python</a:t>
            </a:r>
            <a:endParaRPr lang="es-ES_tradnl" sz="5200" noProof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F3F6DCF-3603-19EC-9B34-2D2871DE85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91633" y="4550797"/>
            <a:ext cx="5156494" cy="159435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Pamela Fox</a:t>
            </a:r>
          </a:p>
          <a:p>
            <a:pPr lvl="0"/>
            <a:r>
              <a:rPr lang="en-US">
                <a:solidFill>
                  <a:schemeClr val="tx1"/>
                </a:solidFill>
              </a:rPr>
              <a:t>Python Cloud Advocate</a:t>
            </a:r>
          </a:p>
          <a:p>
            <a:pPr lvl="0"/>
            <a:r>
              <a:rPr lang="en-US" err="1">
                <a:solidFill>
                  <a:schemeClr val="tx1"/>
                </a:solidFill>
                <a:hlinkClick r:id="rId2"/>
              </a:rPr>
              <a:t>www.pamelafox.org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ACB71E-6545-DC1C-8325-BF2AE36EB32D}"/>
              </a:ext>
            </a:extLst>
          </p:cNvPr>
          <p:cNvSpPr txBox="1"/>
          <p:nvPr/>
        </p:nvSpPr>
        <p:spPr>
          <a:xfrm>
            <a:off x="844550" y="3724673"/>
            <a:ext cx="720932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>
                <a:hlinkClick r:id="rId3"/>
              </a:rPr>
              <a:t>aka.ms/pythonagents/slides/building</a:t>
            </a:r>
            <a:endParaRPr lang="en-US" sz="3000"/>
          </a:p>
        </p:txBody>
      </p:sp>
    </p:spTree>
    <p:extLst>
      <p:ext uri="{BB962C8B-B14F-4D97-AF65-F5344CB8AC3E}">
        <p14:creationId xmlns:p14="http://schemas.microsoft.com/office/powerpoint/2010/main" val="2366346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9586F9-19CA-2B06-D6D7-5EAA9D3145B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s-MX"/>
              <a:t>What's an agent?</a:t>
            </a:r>
          </a:p>
          <a:p>
            <a:r>
              <a:rPr lang="es-MX"/>
              <a:t>How tool-calling works</a:t>
            </a:r>
          </a:p>
          <a:p>
            <a:r>
              <a:rPr lang="es-MX"/>
              <a:t>Building agents with agent-framework</a:t>
            </a:r>
          </a:p>
          <a:p>
            <a:r>
              <a:rPr lang="es-MX"/>
              <a:t>Integrating agents with MCP servers tools</a:t>
            </a:r>
          </a:p>
          <a:p>
            <a:r>
              <a:rPr lang="es-MX"/>
              <a:t>Agent middleware</a:t>
            </a:r>
          </a:p>
          <a:p>
            <a:r>
              <a:rPr lang="es-MX"/>
              <a:t>Multi-agent architectures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36A72E-589A-553F-B8A5-68C184391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Today we'll cover...</a:t>
            </a:r>
          </a:p>
        </p:txBody>
      </p:sp>
    </p:spTree>
    <p:extLst>
      <p:ext uri="{BB962C8B-B14F-4D97-AF65-F5344CB8AC3E}">
        <p14:creationId xmlns:p14="http://schemas.microsoft.com/office/powerpoint/2010/main" val="680310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18DDE-236F-D621-D2CF-E8D6BFAC0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A9201-91CF-15A7-B97F-AC574BCD1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Want to follow along?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6C953F69-9891-6E6F-1713-D0ECB9B3F072}"/>
              </a:ext>
            </a:extLst>
          </p:cNvPr>
          <p:cNvSpPr txBox="1">
            <a:spLocks/>
          </p:cNvSpPr>
          <p:nvPr/>
        </p:nvSpPr>
        <p:spPr>
          <a:xfrm>
            <a:off x="1049416" y="1676453"/>
            <a:ext cx="11375044" cy="17525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1. Open this GitHub repository:</a:t>
            </a:r>
          </a:p>
          <a:p>
            <a:pPr marL="0" indent="0">
              <a:buNone/>
            </a:pPr>
            <a:r>
              <a:rPr lang="en-US">
                <a:hlinkClick r:id="rId2"/>
              </a:rPr>
              <a:t>aka.ms/python-agentframework-demos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2. Use "Code" button to create a GitHub Codespace: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ED7F0D-8B94-C781-25B3-5ABE00B91D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2" r="1572" b="24106"/>
          <a:stretch/>
        </p:blipFill>
        <p:spPr>
          <a:xfrm>
            <a:off x="1425566" y="3868004"/>
            <a:ext cx="2591629" cy="21746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F38C7C91-426D-F5D9-F045-A61914C6AB3D}"/>
              </a:ext>
            </a:extLst>
          </p:cNvPr>
          <p:cNvSpPr txBox="1">
            <a:spLocks/>
          </p:cNvSpPr>
          <p:nvPr/>
        </p:nvSpPr>
        <p:spPr>
          <a:xfrm>
            <a:off x="1049416" y="6285307"/>
            <a:ext cx="10567146" cy="9408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 3. Wait a few minutes for Codespace to start up ⏱️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A531D7-4395-6A4B-157E-7FA70642C1C9}"/>
              </a:ext>
            </a:extLst>
          </p:cNvPr>
          <p:cNvCxnSpPr/>
          <p:nvPr/>
        </p:nvCxnSpPr>
        <p:spPr>
          <a:xfrm flipH="1">
            <a:off x="4178709" y="5820697"/>
            <a:ext cx="1809136" cy="0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46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F489B-3E16-BEB1-AE31-25583788F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Agents 101</a:t>
            </a:r>
          </a:p>
        </p:txBody>
      </p:sp>
    </p:spTree>
    <p:extLst>
      <p:ext uri="{BB962C8B-B14F-4D97-AF65-F5344CB8AC3E}">
        <p14:creationId xmlns:p14="http://schemas.microsoft.com/office/powerpoint/2010/main" val="1195623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6DF9A-7967-09E2-5BFC-E28CE2FB2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40946690-984E-2C1D-EB8D-6DE891722663}"/>
              </a:ext>
            </a:extLst>
          </p:cNvPr>
          <p:cNvSpPr/>
          <p:nvPr/>
        </p:nvSpPr>
        <p:spPr>
          <a:xfrm>
            <a:off x="1168498" y="2064692"/>
            <a:ext cx="4927502" cy="4433307"/>
          </a:xfrm>
          <a:prstGeom prst="roundRect">
            <a:avLst>
              <a:gd name="adj" fmla="val 463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95F4FA-F55F-A1FB-41FD-1CD5613DA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an agent?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68A80A-9538-6485-C7A7-FE7B8CF7B2E7}"/>
              </a:ext>
            </a:extLst>
          </p:cNvPr>
          <p:cNvSpPr txBox="1"/>
          <p:nvPr/>
        </p:nvSpPr>
        <p:spPr>
          <a:xfrm>
            <a:off x="1805460" y="1738095"/>
            <a:ext cx="8031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🤖</a:t>
            </a:r>
            <a:endParaRPr lang="en-US" sz="240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D59458BA-2EA3-3D6A-840A-A724CCD6D48E}"/>
              </a:ext>
            </a:extLst>
          </p:cNvPr>
          <p:cNvSpPr txBox="1">
            <a:spLocks/>
          </p:cNvSpPr>
          <p:nvPr/>
        </p:nvSpPr>
        <p:spPr>
          <a:xfrm>
            <a:off x="4261925" y="3757248"/>
            <a:ext cx="1197254" cy="1038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6000"/>
              <a:t>🛠️</a:t>
            </a: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/>
              <a:t>Tools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8000"/>
          </a:p>
        </p:txBody>
      </p:sp>
      <p:sp>
        <p:nvSpPr>
          <p:cNvPr id="34" name="Curved Down Arrow 33">
            <a:extLst>
              <a:ext uri="{FF2B5EF4-FFF2-40B4-BE49-F238E27FC236}">
                <a16:creationId xmlns:a16="http://schemas.microsoft.com/office/drawing/2014/main" id="{BBC95842-C100-302D-B570-EAEE0CABD61B}"/>
              </a:ext>
            </a:extLst>
          </p:cNvPr>
          <p:cNvSpPr/>
          <p:nvPr/>
        </p:nvSpPr>
        <p:spPr>
          <a:xfrm>
            <a:off x="3031080" y="3637826"/>
            <a:ext cx="1197254" cy="433264"/>
          </a:xfrm>
          <a:prstGeom prst="curved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Curved Down Arrow 34">
            <a:extLst>
              <a:ext uri="{FF2B5EF4-FFF2-40B4-BE49-F238E27FC236}">
                <a16:creationId xmlns:a16="http://schemas.microsoft.com/office/drawing/2014/main" id="{CF52C4B8-0AB5-AF30-DB17-C99450795F09}"/>
              </a:ext>
            </a:extLst>
          </p:cNvPr>
          <p:cNvSpPr/>
          <p:nvPr/>
        </p:nvSpPr>
        <p:spPr>
          <a:xfrm rot="10800000">
            <a:off x="2973759" y="4592672"/>
            <a:ext cx="1197254" cy="433264"/>
          </a:xfrm>
          <a:prstGeom prst="curved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Down Arrow 35">
            <a:extLst>
              <a:ext uri="{FF2B5EF4-FFF2-40B4-BE49-F238E27FC236}">
                <a16:creationId xmlns:a16="http://schemas.microsoft.com/office/drawing/2014/main" id="{B01F29A9-04F3-191F-AEBE-568A77E40B27}"/>
              </a:ext>
            </a:extLst>
          </p:cNvPr>
          <p:cNvSpPr/>
          <p:nvPr/>
        </p:nvSpPr>
        <p:spPr>
          <a:xfrm>
            <a:off x="2126564" y="4796148"/>
            <a:ext cx="157655" cy="45957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F446998-94B9-01CF-1C13-12CD68AE1696}"/>
              </a:ext>
            </a:extLst>
          </p:cNvPr>
          <p:cNvSpPr txBox="1"/>
          <p:nvPr/>
        </p:nvSpPr>
        <p:spPr>
          <a:xfrm>
            <a:off x="1422922" y="5385418"/>
            <a:ext cx="1575899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4400"/>
              </a:lnSpc>
              <a:buFont typeface="Arial" panose="020B0604020202020204" pitchFamily="34" charset="0"/>
              <a:buNone/>
            </a:pPr>
            <a:r>
              <a:rPr lang="en-US" sz="5500"/>
              <a:t>🥅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/>
              <a:t>Goal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6B7186-2F3D-4400-5A93-E5BD9CE5C875}"/>
              </a:ext>
            </a:extLst>
          </p:cNvPr>
          <p:cNvSpPr txBox="1"/>
          <p:nvPr/>
        </p:nvSpPr>
        <p:spPr>
          <a:xfrm>
            <a:off x="1993121" y="2770544"/>
            <a:ext cx="4245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👤</a:t>
            </a:r>
            <a:endParaRPr lang="en-US" sz="4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04FE04-0C04-FE26-CFF3-53B80B8BAC9A}"/>
              </a:ext>
            </a:extLst>
          </p:cNvPr>
          <p:cNvSpPr txBox="1"/>
          <p:nvPr/>
        </p:nvSpPr>
        <p:spPr>
          <a:xfrm>
            <a:off x="1676098" y="2330518"/>
            <a:ext cx="1058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/>
              <a:t>Input</a:t>
            </a:r>
          </a:p>
        </p:txBody>
      </p:sp>
      <p:sp>
        <p:nvSpPr>
          <p:cNvPr id="43" name="Down Arrow 42">
            <a:extLst>
              <a:ext uri="{FF2B5EF4-FFF2-40B4-BE49-F238E27FC236}">
                <a16:creationId xmlns:a16="http://schemas.microsoft.com/office/drawing/2014/main" id="{4E50CAE8-3A8F-8791-C244-33CB89E9F480}"/>
              </a:ext>
            </a:extLst>
          </p:cNvPr>
          <p:cNvSpPr/>
          <p:nvPr/>
        </p:nvSpPr>
        <p:spPr>
          <a:xfrm>
            <a:off x="2126564" y="3371758"/>
            <a:ext cx="157655" cy="45957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E3452F8-7C08-E154-67D0-490B9EB8D153}"/>
              </a:ext>
            </a:extLst>
          </p:cNvPr>
          <p:cNvSpPr/>
          <p:nvPr/>
        </p:nvSpPr>
        <p:spPr bwMode="auto">
          <a:xfrm>
            <a:off x="1732125" y="3977570"/>
            <a:ext cx="929764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243705-581B-3642-D8EA-FD88D3AAC168}"/>
              </a:ext>
            </a:extLst>
          </p:cNvPr>
          <p:cNvSpPr txBox="1"/>
          <p:nvPr/>
        </p:nvSpPr>
        <p:spPr>
          <a:xfrm>
            <a:off x="2447995" y="1803944"/>
            <a:ext cx="1058586" cy="461665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r>
              <a:rPr lang="en-US" sz="2400" b="1" i="0">
                <a:effectLst/>
                <a:latin typeface="Aptos" panose="020B0004020202020204" pitchFamily="34" charset="0"/>
              </a:rPr>
              <a:t>Agent</a:t>
            </a:r>
            <a:endParaRPr lang="en-US" sz="2400" b="1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AFBFA-A82B-9718-A9CD-5475FB42A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4278" y="2092036"/>
            <a:ext cx="4629224" cy="89472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/>
              <a:t>An </a:t>
            </a:r>
            <a:r>
              <a:rPr lang="en-US" b="1"/>
              <a:t>AI agent </a:t>
            </a:r>
            <a:r>
              <a:rPr lang="en-US"/>
              <a:t>uses an </a:t>
            </a:r>
            <a:r>
              <a:rPr lang="en-US" b="1"/>
              <a:t>LLM</a:t>
            </a:r>
            <a:r>
              <a:rPr lang="en-US"/>
              <a:t> to run </a:t>
            </a:r>
            <a:r>
              <a:rPr lang="en-US" b="1"/>
              <a:t>tools</a:t>
            </a:r>
            <a:r>
              <a:rPr lang="en-US"/>
              <a:t> in a loop to achieve a </a:t>
            </a:r>
            <a:r>
              <a:rPr lang="en-US" b="1"/>
              <a:t>goal</a:t>
            </a:r>
            <a:r>
              <a:rPr lang="en-US"/>
              <a:t>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CEC853-804E-0F1F-4E27-40206288C16C}"/>
              </a:ext>
            </a:extLst>
          </p:cNvPr>
          <p:cNvSpPr txBox="1">
            <a:spLocks/>
          </p:cNvSpPr>
          <p:nvPr/>
        </p:nvSpPr>
        <p:spPr>
          <a:xfrm>
            <a:off x="6394278" y="3371758"/>
            <a:ext cx="4399548" cy="2233946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Agents are often augmented by:</a:t>
            </a:r>
          </a:p>
          <a:p>
            <a:pPr marL="0" indent="0">
              <a:buNone/>
            </a:pPr>
            <a:r>
              <a:rPr lang="en-US" sz="2400"/>
              <a:t>📚 Context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🧠 Memory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✅ Planning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👩🏽‍💻 Humans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E41F30-E612-C888-27EE-018F1989A19F}"/>
              </a:ext>
            </a:extLst>
          </p:cNvPr>
          <p:cNvSpPr txBox="1"/>
          <p:nvPr/>
        </p:nvSpPr>
        <p:spPr>
          <a:xfrm>
            <a:off x="6272993" y="6184298"/>
            <a:ext cx="586820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>
                <a:hlinkClick r:id="rId2"/>
              </a:rPr>
              <a:t>https://simonwillison.net/2025/Sep/18/agents/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100456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47E39-D1AF-580B-77AF-150E65FD4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Python AI agent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3854B-74DF-EC7E-396A-8CCB4476A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We'll be experimenting with these frameworks today: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BF6500-46D7-658F-CC33-72D2BBE634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920313"/>
              </p:ext>
            </p:extLst>
          </p:nvPr>
        </p:nvGraphicFramePr>
        <p:xfrm>
          <a:off x="1156996" y="1701628"/>
          <a:ext cx="10790073" cy="456846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006494">
                  <a:extLst>
                    <a:ext uri="{9D8B030D-6E8A-4147-A177-3AD203B41FA5}">
                      <a16:colId xmlns:a16="http://schemas.microsoft.com/office/drawing/2014/main" val="882332886"/>
                    </a:ext>
                  </a:extLst>
                </a:gridCol>
                <a:gridCol w="7783579">
                  <a:extLst>
                    <a:ext uri="{9D8B030D-6E8A-4147-A177-3AD203B41FA5}">
                      <a16:colId xmlns:a16="http://schemas.microsoft.com/office/drawing/2014/main" val="1820821298"/>
                    </a:ext>
                  </a:extLst>
                </a:gridCol>
              </a:tblGrid>
              <a:tr h="634114">
                <a:tc>
                  <a:txBody>
                    <a:bodyPr/>
                    <a:lstStyle/>
                    <a:p>
                      <a:r>
                        <a:rPr lang="en-US" sz="2400"/>
                        <a:t>Framework</a:t>
                      </a:r>
                      <a:endParaRPr lang="en-US" sz="24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Description</a:t>
                      </a:r>
                      <a:endParaRPr lang="en-US" sz="24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6724705"/>
                  </a:ext>
                </a:extLst>
              </a:tr>
              <a:tr h="1278665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/>
                        <a:t>agent-framework</a:t>
                      </a:r>
                      <a:endParaRPr lang="en-US" sz="2400" b="1">
                        <a:latin typeface="+mn-lt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 framework from Microsoft with support for agentic patterns and full integration with Azure offerings.</a:t>
                      </a:r>
                    </a:p>
                    <a:p>
                      <a:r>
                        <a:rPr lang="en-US" sz="2400"/>
                        <a:t>(Successor to autogen and semantic-kernel)</a:t>
                      </a:r>
                      <a:endParaRPr lang="en-US" sz="24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553716"/>
                  </a:ext>
                </a:extLst>
              </a:tr>
              <a:tr h="88523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/>
                        <a:t>langchain v1</a:t>
                      </a:r>
                      <a:endParaRPr lang="en-US" sz="2400" b="1">
                        <a:latin typeface="+mn-lt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An agent-centric framework built on top of Langgraph, with optional Langsmith monitoring</a:t>
                      </a:r>
                      <a:endParaRPr lang="en-US" sz="24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709845"/>
                  </a:ext>
                </a:extLst>
              </a:tr>
              <a:tr h="885230">
                <a:tc>
                  <a:txBody>
                    <a:bodyPr/>
                    <a:lstStyle/>
                    <a:p>
                      <a:r>
                        <a:rPr lang="en-US" sz="2400" b="1"/>
                        <a:t>pydantic-ai</a:t>
                      </a:r>
                      <a:endParaRPr lang="en-US" sz="2400" b="1">
                        <a:latin typeface="+mn-lt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 flexible framework designed for type safety and observability (Logfire/OTel), from the creators of Pydantic</a:t>
                      </a:r>
                      <a:endParaRPr lang="en-US" sz="24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218983"/>
                  </a:ext>
                </a:extLst>
              </a:tr>
              <a:tr h="88523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/>
                        <a:t>openai-agents</a:t>
                      </a:r>
                      <a:endParaRPr lang="en-US" sz="2400" b="1">
                        <a:latin typeface="+mn-lt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 framework from OpenAI that is optimized for use with OpenAI models (especially Responses API/reasoning).</a:t>
                      </a:r>
                      <a:endParaRPr lang="en-US" sz="24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34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9851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F489B-3E16-BEB1-AE31-25583788F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Calling tools</a:t>
            </a:r>
            <a:br>
              <a:rPr lang="es-MX"/>
            </a:br>
            <a:r>
              <a:rPr lang="es-MX"/>
              <a:t>without a framework</a:t>
            </a:r>
          </a:p>
        </p:txBody>
      </p:sp>
    </p:spTree>
    <p:extLst>
      <p:ext uri="{BB962C8B-B14F-4D97-AF65-F5344CB8AC3E}">
        <p14:creationId xmlns:p14="http://schemas.microsoft.com/office/powerpoint/2010/main" val="4103140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5E79D-54BF-7A71-A907-EF8A917CB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Callout 4">
            <a:extLst>
              <a:ext uri="{FF2B5EF4-FFF2-40B4-BE49-F238E27FC236}">
                <a16:creationId xmlns:a16="http://schemas.microsoft.com/office/drawing/2014/main" id="{6AF55C32-508C-1D8E-0CF7-A2F184266C37}"/>
              </a:ext>
            </a:extLst>
          </p:cNvPr>
          <p:cNvSpPr/>
          <p:nvPr/>
        </p:nvSpPr>
        <p:spPr>
          <a:xfrm>
            <a:off x="7483272" y="2181284"/>
            <a:ext cx="4593021" cy="977462"/>
          </a:xfrm>
          <a:prstGeom prst="wedgeEllipseCallout">
            <a:avLst>
              <a:gd name="adj1" fmla="val -50749"/>
              <a:gd name="adj2" fmla="val 4962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42E13-BAE4-5EE0-3E4A-60F8507FF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What is "tool calling"?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9C45F4-739F-1B63-FE14-4AD42EEB8366}"/>
              </a:ext>
            </a:extLst>
          </p:cNvPr>
          <p:cNvSpPr txBox="1"/>
          <p:nvPr/>
        </p:nvSpPr>
        <p:spPr>
          <a:xfrm>
            <a:off x="1135284" y="6184298"/>
            <a:ext cx="802984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>
                <a:latin typeface="Aptos" panose="020B0004020202020204" pitchFamily="34" charset="0"/>
                <a:hlinkClick r:id="rId2"/>
              </a:rPr>
              <a:t>https://platform.openai.com/docs/guides/function-calling</a:t>
            </a:r>
            <a:endParaRPr lang="en-US" sz="2200">
              <a:latin typeface="Aptos" panose="020B0004020202020204" pitchFamily="34" charset="0"/>
            </a:endParaRP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8C01CFA-9C49-A4B9-DD6D-FFCD31E2E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5284" y="1655524"/>
            <a:ext cx="5465213" cy="42175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i="1"/>
              <a:t>* Also known as "function calling"</a:t>
            </a:r>
          </a:p>
          <a:p>
            <a:r>
              <a:rPr lang="en-US" sz="2400"/>
              <a:t>Tool calling permits an LLM to not just generate text, but also generate </a:t>
            </a:r>
            <a:r>
              <a:rPr lang="en-US" sz="2400" b="1"/>
              <a:t>function calls </a:t>
            </a:r>
            <a:r>
              <a:rPr lang="en-US" sz="2400"/>
              <a:t>based off function definitions</a:t>
            </a:r>
          </a:p>
          <a:p>
            <a:r>
              <a:rPr lang="en-US" sz="2400"/>
              <a:t>The LLM responds with the </a:t>
            </a:r>
            <a:r>
              <a:rPr lang="en-US" sz="2400" b="1"/>
              <a:t>function name</a:t>
            </a:r>
            <a:r>
              <a:rPr lang="en-US" sz="2400"/>
              <a:t> and </a:t>
            </a:r>
            <a:r>
              <a:rPr lang="en-US" sz="2400" b="1"/>
              <a:t>the arguments </a:t>
            </a:r>
            <a:r>
              <a:rPr lang="en-US" sz="2400"/>
              <a:t>necessary to satisfy the request</a:t>
            </a:r>
          </a:p>
          <a:p>
            <a:r>
              <a:rPr lang="en-US" sz="2400"/>
              <a:t>This makes it easy to connect LLMs with </a:t>
            </a:r>
            <a:r>
              <a:rPr lang="en-US" sz="2400" b="1"/>
              <a:t>APIs</a:t>
            </a:r>
            <a:r>
              <a:rPr lang="en-US" sz="2400"/>
              <a:t>, </a:t>
            </a:r>
            <a:r>
              <a:rPr lang="en-US" sz="2400" b="1"/>
              <a:t>databases</a:t>
            </a:r>
            <a:r>
              <a:rPr lang="en-US" sz="2400"/>
              <a:t>, and arbitrary </a:t>
            </a:r>
            <a:r>
              <a:rPr lang="en-US" sz="2400" b="1"/>
              <a:t>Python logic</a:t>
            </a:r>
            <a:r>
              <a:rPr lang="en-US" sz="2400"/>
              <a:t>.</a:t>
            </a:r>
          </a:p>
          <a:p>
            <a:endParaRPr lang="en-US" sz="2400"/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038F2E24-F09D-DF5E-A0C3-30703F97BE1C}"/>
              </a:ext>
            </a:extLst>
          </p:cNvPr>
          <p:cNvSpPr txBox="1">
            <a:spLocks/>
          </p:cNvSpPr>
          <p:nvPr/>
        </p:nvSpPr>
        <p:spPr>
          <a:xfrm>
            <a:off x="7810490" y="2509808"/>
            <a:ext cx="3938583" cy="4053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Segoe Print" panose="02000800000000000000" pitchFamily="2" charset="0"/>
              </a:rPr>
              <a:t>What's the weather in Paris?</a:t>
            </a:r>
          </a:p>
        </p:txBody>
      </p:sp>
      <p:sp>
        <p:nvSpPr>
          <p:cNvPr id="6" name="Oval Callout 5">
            <a:extLst>
              <a:ext uri="{FF2B5EF4-FFF2-40B4-BE49-F238E27FC236}">
                <a16:creationId xmlns:a16="http://schemas.microsoft.com/office/drawing/2014/main" id="{8EE94E13-EB94-2FF1-0657-9E0268510AEA}"/>
              </a:ext>
            </a:extLst>
          </p:cNvPr>
          <p:cNvSpPr/>
          <p:nvPr/>
        </p:nvSpPr>
        <p:spPr>
          <a:xfrm>
            <a:off x="7483272" y="3996845"/>
            <a:ext cx="4593021" cy="977462"/>
          </a:xfrm>
          <a:prstGeom prst="wedgeEllipseCallout">
            <a:avLst>
              <a:gd name="adj1" fmla="val -50749"/>
              <a:gd name="adj2" fmla="val 4962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>
                <a:latin typeface="Consolas" panose="020B0609020204030204" pitchFamily="49" charset="0"/>
                <a:cs typeface="Consolas" panose="020B0609020204030204" pitchFamily="49" charset="0"/>
              </a:rPr>
              <a:t>get_weather("Paris")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C12BCA-678D-1456-2618-BD00C39FAC12}"/>
              </a:ext>
            </a:extLst>
          </p:cNvPr>
          <p:cNvSpPr txBox="1"/>
          <p:nvPr/>
        </p:nvSpPr>
        <p:spPr>
          <a:xfrm>
            <a:off x="6675653" y="2902543"/>
            <a:ext cx="103778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5000"/>
              <a:t>👩🏽‍🦱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AC0164-7356-31E1-7546-842E596E8AF5}"/>
              </a:ext>
            </a:extLst>
          </p:cNvPr>
          <p:cNvSpPr/>
          <p:nvPr/>
        </p:nvSpPr>
        <p:spPr bwMode="auto">
          <a:xfrm>
            <a:off x="6650219" y="4692983"/>
            <a:ext cx="783332" cy="562649"/>
          </a:xfrm>
          <a:prstGeom prst="rect">
            <a:avLst/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</p:spTree>
    <p:extLst>
      <p:ext uri="{BB962C8B-B14F-4D97-AF65-F5344CB8AC3E}">
        <p14:creationId xmlns:p14="http://schemas.microsoft.com/office/powerpoint/2010/main" val="2113870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6E640-7ECA-4F5E-83E1-8ADEB93A1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E3243-56E8-36C9-739B-52BA8923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Tool calling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7E0D04-06EE-CB33-A3A5-903E73139B3E}"/>
              </a:ext>
            </a:extLst>
          </p:cNvPr>
          <p:cNvSpPr txBox="1"/>
          <p:nvPr/>
        </p:nvSpPr>
        <p:spPr>
          <a:xfrm>
            <a:off x="1135284" y="6184298"/>
            <a:ext cx="8029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Aptos" panose="020B0004020202020204" pitchFamily="34" charset="0"/>
                <a:hlinkClick r:id="rId2"/>
              </a:rPr>
              <a:t>https://platform.openai.com/docs/guides/function-calling</a:t>
            </a:r>
            <a:endParaRPr lang="en-US">
              <a:latin typeface="Aptos" panose="020B0004020202020204" pitchFamily="34" charset="0"/>
            </a:endParaRPr>
          </a:p>
        </p:txBody>
      </p:sp>
      <p:pic>
        <p:nvPicPr>
          <p:cNvPr id="1026" name="Picture 2" descr="Function Calling Diagram Steps">
            <a:extLst>
              <a:ext uri="{FF2B5EF4-FFF2-40B4-BE49-F238E27FC236}">
                <a16:creationId xmlns:a16="http://schemas.microsoft.com/office/drawing/2014/main" id="{FCDC86E8-3019-A81A-16D5-41E63DFC2F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5309"/>
          <a:stretch>
            <a:fillRect/>
          </a:stretch>
        </p:blipFill>
        <p:spPr bwMode="auto">
          <a:xfrm>
            <a:off x="7426325" y="182056"/>
            <a:ext cx="4765675" cy="6493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F236AC8E-64B3-43A4-BC1F-CC7FE254C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5284" y="1884231"/>
            <a:ext cx="6127753" cy="367631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-US" sz="2400"/>
              <a:t>1. The code tells LLM what tools they can call</a:t>
            </a: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-US" sz="2400"/>
              <a:t>2. The LLM responds with suggested tool name and arguments</a:t>
            </a: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-US" sz="2400"/>
              <a:t>3. The code calls function for that tool</a:t>
            </a: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-US" sz="2400"/>
              <a:t>4. The code sends prior messages and return value from tool function to LLM</a:t>
            </a: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-US" sz="2400"/>
              <a:t>5. The LLM responds based off full history</a:t>
            </a: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024618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155B5-D4D4-E220-E516-557B565CC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4F1F-A2E5-0356-D1B8-E16E09229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Step 1) Tell the LLM what functions it can call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96EDEB-1E36-26BD-4072-3E3686922BC8}"/>
              </a:ext>
            </a:extLst>
          </p:cNvPr>
          <p:cNvSpPr txBox="1"/>
          <p:nvPr/>
        </p:nvSpPr>
        <p:spPr>
          <a:xfrm>
            <a:off x="1135284" y="1849423"/>
            <a:ext cx="4960716" cy="41846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</a:pP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tools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[{</a:t>
            </a:r>
          </a:p>
          <a:p>
            <a:pPr>
              <a:lnSpc>
                <a:spcPts val="2025"/>
              </a:lnSpc>
            </a:pP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"type"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"function"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</a:pP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"function"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{</a:t>
            </a:r>
          </a:p>
          <a:p>
            <a:pPr>
              <a:lnSpc>
                <a:spcPts val="2025"/>
              </a:lnSpc>
            </a:pP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"name"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"lookup_weather"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</a:pP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"description"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"Lookup the weather for a given city name or zip code."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</a:pP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"parameters"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{</a:t>
            </a:r>
          </a:p>
          <a:p>
            <a:pPr>
              <a:lnSpc>
                <a:spcPts val="2025"/>
              </a:lnSpc>
            </a:pP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"type"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"object"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</a:pP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"properties"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{</a:t>
            </a:r>
          </a:p>
          <a:p>
            <a:pPr>
              <a:lnSpc>
                <a:spcPts val="2025"/>
              </a:lnSpc>
            </a:pP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"city_name"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{</a:t>
            </a:r>
          </a:p>
          <a:p>
            <a:pPr>
              <a:lnSpc>
                <a:spcPts val="2025"/>
              </a:lnSpc>
            </a:pP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"type"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"string"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</a:pP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"description"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"The city name"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</a:pP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},</a:t>
            </a:r>
          </a:p>
          <a:p>
            <a:pPr>
              <a:lnSpc>
                <a:spcPts val="2025"/>
              </a:lnSpc>
            </a:pP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"zip_code"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{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"type"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"string"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</a:pP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"description"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"The zip code"</a:t>
            </a:r>
            <a:endParaRPr lang="en-US" sz="16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</a:pP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}}}}}]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1C756E-D68D-17CE-455E-7AF10717C8DB}"/>
              </a:ext>
            </a:extLst>
          </p:cNvPr>
          <p:cNvSpPr txBox="1"/>
          <p:nvPr/>
        </p:nvSpPr>
        <p:spPr>
          <a:xfrm>
            <a:off x="6223322" y="1860587"/>
            <a:ext cx="5740075" cy="33925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client.chat.completions.create(</a:t>
            </a:r>
          </a:p>
          <a:p>
            <a:pPr>
              <a:lnSpc>
                <a:spcPct val="120000"/>
              </a:lnSpc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model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"gpt-5"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20000"/>
              </a:lnSpc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messages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</a:p>
          <a:p>
            <a:pPr>
              <a:lnSpc>
                <a:spcPct val="120000"/>
              </a:lnSpc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"role"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"system"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20000"/>
              </a:lnSpc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"content"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"You're a weather chatbot."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},</a:t>
            </a:r>
          </a:p>
          <a:p>
            <a:pPr>
              <a:lnSpc>
                <a:spcPct val="120000"/>
              </a:lnSpc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"role"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"user"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20000"/>
              </a:lnSpc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"content"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"is it sunny in LA, CA?"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},</a:t>
            </a:r>
          </a:p>
          <a:p>
            <a:pPr>
              <a:lnSpc>
                <a:spcPct val="120000"/>
              </a:lnSpc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],</a:t>
            </a:r>
          </a:p>
          <a:p>
            <a:pPr>
              <a:lnSpc>
                <a:spcPct val="120000"/>
              </a:lnSpc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tools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=tools,</a:t>
            </a:r>
          </a:p>
          <a:p>
            <a:pPr>
              <a:lnSpc>
                <a:spcPct val="120000"/>
              </a:lnSpc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17B14D-2D4E-D86D-05DE-56ABE404868F}"/>
              </a:ext>
            </a:extLst>
          </p:cNvPr>
          <p:cNvSpPr txBox="1"/>
          <p:nvPr/>
        </p:nvSpPr>
        <p:spPr>
          <a:xfrm>
            <a:off x="1135284" y="6199742"/>
            <a:ext cx="489796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u="sng">
                <a:solidFill>
                  <a:srgbClr val="00008B"/>
                </a:solidFill>
                <a:effectLst/>
                <a:latin typeface="Aptos" panose="020B0004020202020204" pitchFamily="34" charset="0"/>
                <a:hlinkClick r:id="rId2"/>
              </a:rPr>
              <a:t>Full example: openai_tool_calling.py</a:t>
            </a:r>
            <a:endParaRPr lang="en-US" sz="22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033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051C3-866B-A5AC-C905-EED0885D5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7F39-3BFD-5751-CAAD-D0EE29655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/>
              <a:t>Step 2) Get function name and args from response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37BD15-B747-6A00-BF67-8F9F0569E367}"/>
              </a:ext>
            </a:extLst>
          </p:cNvPr>
          <p:cNvSpPr txBox="1"/>
          <p:nvPr/>
        </p:nvSpPr>
        <p:spPr>
          <a:xfrm>
            <a:off x="1135284" y="1809133"/>
            <a:ext cx="10217842" cy="27948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choices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000" b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tool_calls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tool_call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choices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000" b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].message.tool_calls[</a:t>
            </a:r>
            <a:r>
              <a:rPr lang="en-US" sz="2000" b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>
              <a:lnSpc>
                <a:spcPct val="110000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function_name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tool_call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function_arguments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loads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tool_call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arguments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 sz="20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(function_name)</a:t>
            </a:r>
          </a:p>
          <a:p>
            <a:pPr>
              <a:lnSpc>
                <a:spcPct val="110000"/>
              </a:lnSpc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function_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arguments)</a:t>
            </a:r>
          </a:p>
          <a:p>
            <a:pPr>
              <a:lnSpc>
                <a:spcPct val="110000"/>
              </a:lnSpc>
              <a:buNone/>
            </a:pPr>
            <a:r>
              <a:rPr lang="en-US" sz="20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print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choices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000" b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content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A1EA1C-77A9-61A0-AA04-F9503C7EB034}"/>
              </a:ext>
            </a:extLst>
          </p:cNvPr>
          <p:cNvSpPr txBox="1"/>
          <p:nvPr/>
        </p:nvSpPr>
        <p:spPr>
          <a:xfrm>
            <a:off x="1135284" y="4758179"/>
            <a:ext cx="10217841" cy="70788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lookup_weather</a:t>
            </a:r>
          </a:p>
          <a:p>
            <a:r>
              <a:rPr lang="en-US" sz="20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{"city_name":"Los Angeles"}</a:t>
            </a:r>
          </a:p>
        </p:txBody>
      </p:sp>
    </p:spTree>
    <p:extLst>
      <p:ext uri="{BB962C8B-B14F-4D97-AF65-F5344CB8AC3E}">
        <p14:creationId xmlns:p14="http://schemas.microsoft.com/office/powerpoint/2010/main" val="3303199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55EC4-2A39-06A8-CC31-7CB709C0E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61743-44BA-C303-01F5-1DFD99DA5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Step 3) Call a local function based on response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5FA3FC-691D-E16A-4F71-70FAE9DECCF5}"/>
              </a:ext>
            </a:extLst>
          </p:cNvPr>
          <p:cNvSpPr txBox="1"/>
          <p:nvPr/>
        </p:nvSpPr>
        <p:spPr>
          <a:xfrm>
            <a:off x="1135284" y="1783821"/>
            <a:ext cx="10828114" cy="41857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lookup_weather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city_name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zip_code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print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"Looking up weather for 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city_name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or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zip_code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..."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"city_name"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city_name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"zip_code"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zip_code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"weather"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"sunny"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"temperature"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75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2000">
              <a:solidFill>
                <a:srgbClr val="008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..</a:t>
            </a:r>
            <a:r>
              <a:rPr lang="en-US" sz="2000" b="0">
                <a:solidFill>
                  <a:srgbClr val="008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Make call to the LLM here...</a:t>
            </a:r>
          </a:p>
          <a:p>
            <a:endParaRPr lang="en-US" sz="2000" b="0">
              <a:solidFill>
                <a:srgbClr val="008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20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choices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000" b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tool_calls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tool_call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choices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000" b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tool_calls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000" b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>
              <a:lnSpc>
                <a:spcPct val="110000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function_name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tool_call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function_arguments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loads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tool_call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arguments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if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function_name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== 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"lookup_weather"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lookup_weather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(**function_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arguments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9B907C-77DC-DB38-0B31-91B51E5466FF}"/>
              </a:ext>
            </a:extLst>
          </p:cNvPr>
          <p:cNvSpPr txBox="1"/>
          <p:nvPr/>
        </p:nvSpPr>
        <p:spPr>
          <a:xfrm>
            <a:off x="1135284" y="6127008"/>
            <a:ext cx="10217841" cy="40011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Looking up weather for Los Angeles...</a:t>
            </a:r>
          </a:p>
        </p:txBody>
      </p:sp>
    </p:spTree>
    <p:extLst>
      <p:ext uri="{BB962C8B-B14F-4D97-AF65-F5344CB8AC3E}">
        <p14:creationId xmlns:p14="http://schemas.microsoft.com/office/powerpoint/2010/main" val="2259978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CD949-B3A7-77BF-0F86-5501334A6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40370-D150-2530-545B-D0FE02513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Step 4) Send tool results to LLM for final answer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F281EC-2978-A8CF-6FD3-407CC62FF6A1}"/>
              </a:ext>
            </a:extLst>
          </p:cNvPr>
          <p:cNvSpPr txBox="1"/>
          <p:nvPr/>
        </p:nvSpPr>
        <p:spPr>
          <a:xfrm>
            <a:off x="8463519" y="5972793"/>
            <a:ext cx="336783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endParaRPr lang="en-US" sz="2400">
              <a:solidFill>
                <a:srgbClr val="2454C3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8EC30E-9582-E088-AA74-657ED63FD792}"/>
              </a:ext>
            </a:extLst>
          </p:cNvPr>
          <p:cNvSpPr txBox="1"/>
          <p:nvPr/>
        </p:nvSpPr>
        <p:spPr>
          <a:xfrm>
            <a:off x="8583345" y="5917512"/>
            <a:ext cx="336783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endParaRPr lang="en-US" sz="2400">
              <a:solidFill>
                <a:srgbClr val="2454C3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106EF7-A5E9-DCA2-BF85-3C240FEB7688}"/>
              </a:ext>
            </a:extLst>
          </p:cNvPr>
          <p:cNvSpPr txBox="1"/>
          <p:nvPr/>
        </p:nvSpPr>
        <p:spPr>
          <a:xfrm>
            <a:off x="1197621" y="1699664"/>
            <a:ext cx="10994379" cy="43897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choices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tool_calls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tool_call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choices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tool_calls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function_name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tool_call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function_arguments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json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loads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tool_call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arguments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20000"/>
              </a:lnSpc>
              <a:buNone/>
            </a:pP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if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function_name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==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"lookup_weather"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messages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append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choices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result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lookup_weather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(**function_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arguments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messages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append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({</a:t>
            </a:r>
          </a:p>
          <a:p>
            <a:pPr>
              <a:lnSpc>
                <a:spcPct val="120000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"role"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"tool"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"tool_call_id"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tool_call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"content"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json.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dumps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)})</a:t>
            </a:r>
          </a:p>
          <a:p>
            <a:pPr>
              <a:lnSpc>
                <a:spcPct val="120000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chat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completions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ct val="120000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model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"gpt-5"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messages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messages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tools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tools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print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choices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A62373-55D8-ABC4-88BA-2807B62C5C1B}"/>
              </a:ext>
            </a:extLst>
          </p:cNvPr>
          <p:cNvSpPr txBox="1"/>
          <p:nvPr/>
        </p:nvSpPr>
        <p:spPr>
          <a:xfrm>
            <a:off x="1197620" y="6199687"/>
            <a:ext cx="10994379" cy="40011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Yes — it's currently sunny in Los Angeles, CA with a temperature around 75°F.</a:t>
            </a:r>
          </a:p>
        </p:txBody>
      </p:sp>
    </p:spTree>
    <p:extLst>
      <p:ext uri="{BB962C8B-B14F-4D97-AF65-F5344CB8AC3E}">
        <p14:creationId xmlns:p14="http://schemas.microsoft.com/office/powerpoint/2010/main" val="4045299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D01DC-CEEC-9A82-5059-F8A1FFAF6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ABA4F-3F38-9892-6D2D-9ABD7D9C8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Building agents</a:t>
            </a:r>
            <a:br>
              <a:rPr lang="es-MX"/>
            </a:br>
            <a:r>
              <a:rPr lang="es-MX"/>
              <a:t>with agent-framework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4793EB-4DF1-7F2C-FEE6-E4432BE8D3A8}"/>
              </a:ext>
            </a:extLst>
          </p:cNvPr>
          <p:cNvSpPr txBox="1"/>
          <p:nvPr/>
        </p:nvSpPr>
        <p:spPr>
          <a:xfrm>
            <a:off x="950495" y="3598062"/>
            <a:ext cx="68940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s-MX" sz="2400">
                <a:latin typeface="Aptos" panose="020B0004020202020204" pitchFamily="34" charset="0"/>
                <a:hlinkClick r:id="rId2"/>
              </a:rPr>
              <a:t>https://learn.microsoft.com/agent-framework/</a:t>
            </a:r>
            <a:endParaRPr lang="es-MX" sz="24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487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5A800-3EBF-FE18-B153-2209B8172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21F8F44-03D8-0FD3-FFAA-3DC0EEF148B1}"/>
              </a:ext>
            </a:extLst>
          </p:cNvPr>
          <p:cNvCxnSpPr>
            <a:cxnSpLocks/>
          </p:cNvCxnSpPr>
          <p:nvPr/>
        </p:nvCxnSpPr>
        <p:spPr>
          <a:xfrm>
            <a:off x="2647972" y="4263538"/>
            <a:ext cx="152553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BA9FEAE-BDCB-3A0E-0F4C-83F02BA60176}"/>
              </a:ext>
            </a:extLst>
          </p:cNvPr>
          <p:cNvSpPr txBox="1"/>
          <p:nvPr/>
        </p:nvSpPr>
        <p:spPr>
          <a:xfrm>
            <a:off x="1116929" y="1779491"/>
            <a:ext cx="110864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400" err="1"/>
              <a:t>The agent can use a tool to help answer a user's question.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13B9162-1E13-ECFC-6160-817725D37639}"/>
              </a:ext>
            </a:extLst>
          </p:cNvPr>
          <p:cNvSpPr/>
          <p:nvPr/>
        </p:nvSpPr>
        <p:spPr bwMode="auto">
          <a:xfrm>
            <a:off x="4173508" y="3997209"/>
            <a:ext cx="1560695" cy="80443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Tool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27C9B1-0111-D3BE-D368-20EB0A639E7C}"/>
              </a:ext>
            </a:extLst>
          </p:cNvPr>
          <p:cNvSpPr/>
          <p:nvPr/>
        </p:nvSpPr>
        <p:spPr bwMode="auto">
          <a:xfrm>
            <a:off x="1228475" y="4077313"/>
            <a:ext cx="1419497" cy="686429"/>
          </a:xfrm>
          <a:prstGeom prst="rect">
            <a:avLst/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ED61C4F-FF50-7603-791C-9252A71802FD}"/>
              </a:ext>
            </a:extLst>
          </p:cNvPr>
          <p:cNvCxnSpPr>
            <a:cxnSpLocks/>
          </p:cNvCxnSpPr>
          <p:nvPr/>
        </p:nvCxnSpPr>
        <p:spPr>
          <a:xfrm>
            <a:off x="2647972" y="4511123"/>
            <a:ext cx="152553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0D0068E1-9C02-0570-D78A-C0027161B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15" y="458258"/>
            <a:ext cx="11916571" cy="1325563"/>
          </a:xfrm>
        </p:spPr>
        <p:txBody>
          <a:bodyPr/>
          <a:lstStyle/>
          <a:p>
            <a:r>
              <a:rPr lang="en-US"/>
              <a:t>Single agent with tool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FDC587-D65A-D8EC-F6AA-25E5DCE1C6B9}"/>
              </a:ext>
            </a:extLst>
          </p:cNvPr>
          <p:cNvSpPr txBox="1"/>
          <p:nvPr/>
        </p:nvSpPr>
        <p:spPr>
          <a:xfrm>
            <a:off x="1137935" y="416254"/>
            <a:ext cx="6518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Agent architecture: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19D255F-DCB6-028E-1AF8-59ABA485D36E}"/>
              </a:ext>
            </a:extLst>
          </p:cNvPr>
          <p:cNvCxnSpPr>
            <a:cxnSpLocks/>
          </p:cNvCxnSpPr>
          <p:nvPr/>
        </p:nvCxnSpPr>
        <p:spPr>
          <a:xfrm flipH="1">
            <a:off x="1938223" y="4763742"/>
            <a:ext cx="15349" cy="106508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74F87E3-A891-1076-31D7-CB7F8C7ACC9B}"/>
              </a:ext>
            </a:extLst>
          </p:cNvPr>
          <p:cNvSpPr txBox="1"/>
          <p:nvPr/>
        </p:nvSpPr>
        <p:spPr>
          <a:xfrm>
            <a:off x="1228474" y="5837390"/>
            <a:ext cx="141949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err="1"/>
              <a:t>Response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B710A1-8239-36CD-A149-00789CBDB9CB}"/>
              </a:ext>
            </a:extLst>
          </p:cNvPr>
          <p:cNvSpPr txBox="1"/>
          <p:nvPr/>
        </p:nvSpPr>
        <p:spPr>
          <a:xfrm>
            <a:off x="1243823" y="2589166"/>
            <a:ext cx="141949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err="1"/>
              <a:t>Request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5C22929-3BB1-0B6A-36B2-0C7597711252}"/>
              </a:ext>
            </a:extLst>
          </p:cNvPr>
          <p:cNvCxnSpPr>
            <a:cxnSpLocks/>
          </p:cNvCxnSpPr>
          <p:nvPr/>
        </p:nvCxnSpPr>
        <p:spPr>
          <a:xfrm flipH="1">
            <a:off x="1953571" y="3012231"/>
            <a:ext cx="15349" cy="106508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70E8408-9AA0-A441-55EA-0695B2BD05DA}"/>
              </a:ext>
            </a:extLst>
          </p:cNvPr>
          <p:cNvGrpSpPr/>
          <p:nvPr/>
        </p:nvGrpSpPr>
        <p:grpSpPr>
          <a:xfrm>
            <a:off x="6227364" y="2589166"/>
            <a:ext cx="5660647" cy="4002155"/>
            <a:chOff x="6227364" y="2589166"/>
            <a:chExt cx="5660647" cy="4002155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80130D2D-513C-BA52-9B7B-59FD660FFD3A}"/>
                </a:ext>
              </a:extLst>
            </p:cNvPr>
            <p:cNvCxnSpPr>
              <a:cxnSpLocks/>
            </p:cNvCxnSpPr>
            <p:nvPr/>
          </p:nvCxnSpPr>
          <p:spPr>
            <a:xfrm>
              <a:off x="8143725" y="4263538"/>
              <a:ext cx="1525536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F530686-2A45-D1B2-7ABE-E761D8BF0E5A}"/>
                </a:ext>
              </a:extLst>
            </p:cNvPr>
            <p:cNvSpPr/>
            <p:nvPr/>
          </p:nvSpPr>
          <p:spPr bwMode="auto">
            <a:xfrm>
              <a:off x="9669260" y="3997210"/>
              <a:ext cx="2218751" cy="76653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err="1">
                  <a:solidFill>
                    <a:schemeClr val="bg1"/>
                  </a:solidFill>
                  <a:ea typeface="Segoe UI" pitchFamily="34" charset="0"/>
                  <a:cs typeface="Segoe UI" pitchFamily="34" charset="0"/>
                </a:rPr>
                <a:t>get_weather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29F7211-A89E-422C-5DF2-704D89AB1187}"/>
                </a:ext>
              </a:extLst>
            </p:cNvPr>
            <p:cNvSpPr/>
            <p:nvPr/>
          </p:nvSpPr>
          <p:spPr bwMode="auto">
            <a:xfrm>
              <a:off x="6724228" y="4077313"/>
              <a:ext cx="1419497" cy="686429"/>
            </a:xfrm>
            <a:prstGeom prst="rect">
              <a:avLst/>
            </a:prstGeom>
            <a:solidFill>
              <a:schemeClr val="accent3"/>
            </a:solidFill>
            <a:ln>
              <a:noFill/>
              <a:headEnd type="none" w="med" len="med"/>
              <a:tailEnd type="none" w="med" len="med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err="1">
                  <a:solidFill>
                    <a:schemeClr val="bg1"/>
                  </a:solidFill>
                  <a:ea typeface="Segoe UI" pitchFamily="34" charset="0"/>
                  <a:cs typeface="Segoe UI" pitchFamily="34" charset="0"/>
                </a:rPr>
                <a:t>LLM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7DA7F59-0D10-6776-955E-20A21C07D343}"/>
                </a:ext>
              </a:extLst>
            </p:cNvPr>
            <p:cNvCxnSpPr>
              <a:cxnSpLocks/>
            </p:cNvCxnSpPr>
            <p:nvPr/>
          </p:nvCxnSpPr>
          <p:spPr>
            <a:xfrm>
              <a:off x="8143725" y="4511123"/>
              <a:ext cx="1525536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70F0F2A-54B6-CF45-2A50-37B21B6725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92" y="4763742"/>
              <a:ext cx="15349" cy="1065082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889FC67-9F0D-0269-6EE1-306AEB77D756}"/>
                </a:ext>
              </a:extLst>
            </p:cNvPr>
            <p:cNvSpPr txBox="1"/>
            <p:nvPr/>
          </p:nvSpPr>
          <p:spPr>
            <a:xfrm>
              <a:off x="6241417" y="5852657"/>
              <a:ext cx="389670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400" err="1"/>
                <a:t>"It's 60 degrees outside and the sun is shining! 🌞"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5412C10-D5D5-E37D-1877-2048E70509EC}"/>
                </a:ext>
              </a:extLst>
            </p:cNvPr>
            <p:cNvSpPr txBox="1"/>
            <p:nvPr/>
          </p:nvSpPr>
          <p:spPr>
            <a:xfrm>
              <a:off x="6227364" y="2589166"/>
              <a:ext cx="3362774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400" err="1"/>
                <a:t>"how's weather in SF?"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1C9FBA7-2B17-2EBF-033D-F3C5BAC902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36140" y="3012231"/>
              <a:ext cx="15349" cy="1065082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A080167-4810-AF40-B0DC-37B63EF7757C}"/>
                </a:ext>
              </a:extLst>
            </p:cNvPr>
            <p:cNvSpPr txBox="1"/>
            <p:nvPr/>
          </p:nvSpPr>
          <p:spPr>
            <a:xfrm>
              <a:off x="8153426" y="4047413"/>
              <a:ext cx="1479489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err="1"/>
                <a:t>"San Francisco"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10769CE-F13B-78CA-FB2E-FEF0D390181A}"/>
                </a:ext>
              </a:extLst>
            </p:cNvPr>
            <p:cNvSpPr txBox="1"/>
            <p:nvPr/>
          </p:nvSpPr>
          <p:spPr>
            <a:xfrm>
              <a:off x="8189770" y="4574042"/>
              <a:ext cx="1479489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err="1"/>
                <a:t>{"temperature": 60,</a:t>
              </a:r>
            </a:p>
            <a:p>
              <a:pPr algn="ctr"/>
              <a:r>
                <a:rPr lang="en-US" sz="1200" err="1"/>
                <a:t>"condition": "sunny"}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912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F8394-FF26-2CFF-13EA-F3B6EB112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351CD-F6FB-DCA5-8FE3-6E786A129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Single agent with tool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8D8CAC-CBA2-E2E6-7DC3-3652F20FF5E9}"/>
              </a:ext>
            </a:extLst>
          </p:cNvPr>
          <p:cNvSpPr txBox="1"/>
          <p:nvPr/>
        </p:nvSpPr>
        <p:spPr>
          <a:xfrm>
            <a:off x="1191801" y="2199272"/>
            <a:ext cx="10477685" cy="40573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@tool</a:t>
            </a:r>
            <a:endParaRPr lang="en-US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get_weather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ct val="120000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city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Annotated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Field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description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"City name, spelled out fully"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)],</a:t>
            </a:r>
          </a:p>
          <a:p>
            <a:pPr>
              <a:lnSpc>
                <a:spcPct val="120000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) -&gt;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dict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120000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"""Returns weather data, a dict with temperature and description."""</a:t>
            </a:r>
          </a:p>
          <a:p>
            <a:pPr>
              <a:lnSpc>
                <a:spcPct val="120000"/>
              </a:lnSpc>
              <a:buNone/>
            </a:pP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"temperature"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72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"description"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"Sunny"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client,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instructions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"You're an info agent. Answer questions cheerfully."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20000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tools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get_weather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</a:p>
          <a:p>
            <a:pPr>
              <a:lnSpc>
                <a:spcPct val="120000"/>
              </a:lnSpc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"Whats weather today in San Francisco?"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AEDA72-E95C-8794-5FED-7A6EE2F3949D}"/>
              </a:ext>
            </a:extLst>
          </p:cNvPr>
          <p:cNvSpPr txBox="1"/>
          <p:nvPr/>
        </p:nvSpPr>
        <p:spPr>
          <a:xfrm>
            <a:off x="1191801" y="1632259"/>
            <a:ext cx="1077159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400" err="1"/>
              <a:t>Define tools using Python functions, with typed args, return type, and docstring: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69E06E-C9B2-6365-7B3F-086F8AEC0F3D}"/>
              </a:ext>
            </a:extLst>
          </p:cNvPr>
          <p:cNvSpPr txBox="1"/>
          <p:nvPr/>
        </p:nvSpPr>
        <p:spPr>
          <a:xfrm>
            <a:off x="1191801" y="6336290"/>
            <a:ext cx="363695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err="1"/>
              <a:t>Full example: </a:t>
            </a:r>
            <a:r>
              <a:rPr lang="en-US" sz="2400" err="1">
                <a:hlinkClick r:id="rId2"/>
              </a:rPr>
              <a:t>agent_tool.py</a:t>
            </a:r>
            <a:endParaRPr lang="en-US" sz="240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39BDD5-6E89-C303-AA18-8D31B27A02C9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</p:spTree>
    <p:extLst>
      <p:ext uri="{BB962C8B-B14F-4D97-AF65-F5344CB8AC3E}">
        <p14:creationId xmlns:p14="http://schemas.microsoft.com/office/powerpoint/2010/main" val="2449469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18048-17A8-C333-48C0-121259221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990E70-0A70-EB82-2B01-E4827C6F6259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1662408" y="3714854"/>
            <a:ext cx="1157273" cy="96415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D43693A-E249-2B8E-9A2F-5780D6468423}"/>
              </a:ext>
            </a:extLst>
          </p:cNvPr>
          <p:cNvSpPr txBox="1"/>
          <p:nvPr/>
        </p:nvSpPr>
        <p:spPr>
          <a:xfrm>
            <a:off x="1137935" y="1836276"/>
            <a:ext cx="110864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400" err="1"/>
              <a:t>The agent must decide which tool to use and what order to call tools in.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DC070F8-E8CD-B097-5AA6-176BA9A52EE7}"/>
              </a:ext>
            </a:extLst>
          </p:cNvPr>
          <p:cNvSpPr/>
          <p:nvPr/>
        </p:nvSpPr>
        <p:spPr bwMode="auto">
          <a:xfrm>
            <a:off x="1047412" y="4679007"/>
            <a:ext cx="1229992" cy="68642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Tool 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2D7A4F-94AB-F885-F0BA-C91A3440C141}"/>
              </a:ext>
            </a:extLst>
          </p:cNvPr>
          <p:cNvSpPr/>
          <p:nvPr/>
        </p:nvSpPr>
        <p:spPr bwMode="auto">
          <a:xfrm>
            <a:off x="2213336" y="3036246"/>
            <a:ext cx="1419497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BDC540-B10D-AC51-F862-FFA5C6AA7B05}"/>
              </a:ext>
            </a:extLst>
          </p:cNvPr>
          <p:cNvSpPr/>
          <p:nvPr/>
        </p:nvSpPr>
        <p:spPr bwMode="auto">
          <a:xfrm>
            <a:off x="2363966" y="4695336"/>
            <a:ext cx="1229992" cy="68642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Tool B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F57A190-11C7-0B99-C0E1-0CFBFC6CC054}"/>
              </a:ext>
            </a:extLst>
          </p:cNvPr>
          <p:cNvSpPr/>
          <p:nvPr/>
        </p:nvSpPr>
        <p:spPr bwMode="auto">
          <a:xfrm>
            <a:off x="3709919" y="4728290"/>
            <a:ext cx="1229992" cy="68642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Tool C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373BE9C-56C5-6162-1B2E-53866C42B597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1861664" y="3722675"/>
            <a:ext cx="1061421" cy="97723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DB85BA0-7F8E-47BD-A783-363B9F87CC02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2923085" y="3722675"/>
            <a:ext cx="18874" cy="98488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9FFB516-A9EE-ADB9-BCE1-3C67B4CD6D1C}"/>
              </a:ext>
            </a:extLst>
          </p:cNvPr>
          <p:cNvCxnSpPr>
            <a:cxnSpLocks/>
          </p:cNvCxnSpPr>
          <p:nvPr/>
        </p:nvCxnSpPr>
        <p:spPr>
          <a:xfrm>
            <a:off x="3038055" y="3703911"/>
            <a:ext cx="0" cy="98163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B156F7C-9ED0-D791-A1DF-BF9D90E06C63}"/>
              </a:ext>
            </a:extLst>
          </p:cNvPr>
          <p:cNvCxnSpPr>
            <a:cxnSpLocks/>
          </p:cNvCxnSpPr>
          <p:nvPr/>
        </p:nvCxnSpPr>
        <p:spPr>
          <a:xfrm>
            <a:off x="3122341" y="3761679"/>
            <a:ext cx="1030736" cy="100121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EF7FB38-F25E-DA59-5552-622833ADA178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3256430" y="3714854"/>
            <a:ext cx="1068485" cy="101343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A2C18BD1-89DD-1022-81EE-71D459029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15" y="458258"/>
            <a:ext cx="11916571" cy="1325563"/>
          </a:xfrm>
        </p:spPr>
        <p:txBody>
          <a:bodyPr/>
          <a:lstStyle/>
          <a:p>
            <a:r>
              <a:rPr lang="en-US"/>
              <a:t>Single agent with multiple tools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5A750E-C86A-40C2-8FFD-9A324A8074C1}"/>
              </a:ext>
            </a:extLst>
          </p:cNvPr>
          <p:cNvSpPr txBox="1"/>
          <p:nvPr/>
        </p:nvSpPr>
        <p:spPr>
          <a:xfrm>
            <a:off x="1137935" y="416254"/>
            <a:ext cx="6518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Agent architecture: 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64E2BB1-B15A-CA12-89D8-415B95DB5895}"/>
              </a:ext>
            </a:extLst>
          </p:cNvPr>
          <p:cNvGrpSpPr/>
          <p:nvPr/>
        </p:nvGrpSpPr>
        <p:grpSpPr>
          <a:xfrm>
            <a:off x="5311692" y="2604196"/>
            <a:ext cx="6828353" cy="2868912"/>
            <a:chOff x="5311692" y="2604196"/>
            <a:chExt cx="6828353" cy="286891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1342820-7255-3E99-63D9-BA0C92A65462}"/>
                </a:ext>
              </a:extLst>
            </p:cNvPr>
            <p:cNvSpPr txBox="1"/>
            <p:nvPr/>
          </p:nvSpPr>
          <p:spPr>
            <a:xfrm>
              <a:off x="6650136" y="2604196"/>
              <a:ext cx="3725778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400" err="1"/>
                <a:t>Weekend planner agent</a:t>
              </a:r>
            </a:p>
          </p:txBody>
        </p:sp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7A9F1EE5-6604-A653-7363-74381A59EBAE}"/>
                </a:ext>
              </a:extLst>
            </p:cNvPr>
            <p:cNvCxnSpPr>
              <a:cxnSpLocks/>
              <a:endCxn id="3" idx="0"/>
            </p:cNvCxnSpPr>
            <p:nvPr/>
          </p:nvCxnSpPr>
          <p:spPr>
            <a:xfrm flipH="1">
              <a:off x="6320356" y="3822526"/>
              <a:ext cx="1550940" cy="96415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FC548EE-993A-5506-553C-B352FE362978}"/>
                </a:ext>
              </a:extLst>
            </p:cNvPr>
            <p:cNvSpPr/>
            <p:nvPr/>
          </p:nvSpPr>
          <p:spPr bwMode="auto">
            <a:xfrm>
              <a:off x="5311692" y="4786679"/>
              <a:ext cx="2017327" cy="68642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err="1">
                  <a:solidFill>
                    <a:schemeClr val="bg1"/>
                  </a:solidFill>
                  <a:ea typeface="Segoe UI" pitchFamily="34" charset="0"/>
                  <a:cs typeface="Segoe UI" pitchFamily="34" charset="0"/>
                </a:rPr>
                <a:t>get_weather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3668F7B-5966-7920-E511-FD8BA21C889B}"/>
                </a:ext>
              </a:extLst>
            </p:cNvPr>
            <p:cNvSpPr/>
            <p:nvPr/>
          </p:nvSpPr>
          <p:spPr bwMode="auto">
            <a:xfrm>
              <a:off x="7669658" y="3127589"/>
              <a:ext cx="1664342" cy="686429"/>
            </a:xfrm>
            <a:prstGeom prst="rect">
              <a:avLst/>
            </a:prstGeom>
            <a:solidFill>
              <a:schemeClr val="accent4"/>
            </a:solidFill>
            <a:ln>
              <a:noFill/>
              <a:headEnd type="none" w="med" len="med"/>
              <a:tailEnd type="none" w="med" len="med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err="1">
                  <a:solidFill>
                    <a:schemeClr val="bg1"/>
                  </a:solidFill>
                  <a:ea typeface="Segoe UI" pitchFamily="34" charset="0"/>
                  <a:cs typeface="Segoe UI" pitchFamily="34" charset="0"/>
                </a:rPr>
                <a:t>LLM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8462441-C411-8214-9E2C-CFE4918E6D75}"/>
                </a:ext>
              </a:extLst>
            </p:cNvPr>
            <p:cNvSpPr/>
            <p:nvPr/>
          </p:nvSpPr>
          <p:spPr bwMode="auto">
            <a:xfrm>
              <a:off x="7427657" y="4786679"/>
              <a:ext cx="2139007" cy="68642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err="1">
                  <a:solidFill>
                    <a:schemeClr val="bg1"/>
                  </a:solidFill>
                  <a:ea typeface="Segoe UI" pitchFamily="34" charset="0"/>
                  <a:cs typeface="Segoe UI" pitchFamily="34" charset="0"/>
                </a:rPr>
                <a:t>get_activities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288D753-0B78-F036-7EF3-11B568A44799}"/>
                </a:ext>
              </a:extLst>
            </p:cNvPr>
            <p:cNvSpPr/>
            <p:nvPr/>
          </p:nvSpPr>
          <p:spPr bwMode="auto">
            <a:xfrm>
              <a:off x="9675692" y="4786679"/>
              <a:ext cx="2464353" cy="68642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err="1">
                  <a:solidFill>
                    <a:schemeClr val="bg1"/>
                  </a:solidFill>
                  <a:ea typeface="Segoe UI" pitchFamily="34" charset="0"/>
                  <a:cs typeface="Segoe UI" pitchFamily="34" charset="0"/>
                </a:rPr>
                <a:t>get_current_date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E50F348-700C-DB5E-F100-0727D6C7B6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40848" y="3818655"/>
              <a:ext cx="1433064" cy="96802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76EC272-F890-E046-C344-2C0FE6C95E08}"/>
                </a:ext>
              </a:extLst>
            </p:cNvPr>
            <p:cNvCxnSpPr>
              <a:cxnSpLocks/>
            </p:cNvCxnSpPr>
            <p:nvPr/>
          </p:nvCxnSpPr>
          <p:spPr>
            <a:xfrm>
              <a:off x="8338873" y="3822526"/>
              <a:ext cx="18874" cy="98488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35DF5CD-1BAE-845E-4FBD-746E41D466E2}"/>
                </a:ext>
              </a:extLst>
            </p:cNvPr>
            <p:cNvCxnSpPr>
              <a:cxnSpLocks/>
            </p:cNvCxnSpPr>
            <p:nvPr/>
          </p:nvCxnSpPr>
          <p:spPr>
            <a:xfrm>
              <a:off x="8632679" y="3805043"/>
              <a:ext cx="0" cy="981636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8F57E2B-6B01-0CC9-D4F1-B9E6FCD6335E}"/>
                </a:ext>
              </a:extLst>
            </p:cNvPr>
            <p:cNvCxnSpPr>
              <a:cxnSpLocks/>
            </p:cNvCxnSpPr>
            <p:nvPr/>
          </p:nvCxnSpPr>
          <p:spPr>
            <a:xfrm>
              <a:off x="8887670" y="3822526"/>
              <a:ext cx="1360222" cy="1031709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6189EBE-FFAF-DB45-456F-FA8B760DEEC5}"/>
                </a:ext>
              </a:extLst>
            </p:cNvPr>
            <p:cNvCxnSpPr>
              <a:cxnSpLocks/>
            </p:cNvCxnSpPr>
            <p:nvPr/>
          </p:nvCxnSpPr>
          <p:spPr>
            <a:xfrm>
              <a:off x="9155740" y="3826927"/>
              <a:ext cx="1278673" cy="980482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58035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5ACB4-B51F-B0A1-0531-95FD38596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E4AF0-119E-DE40-5286-34C6411E3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Single agent with tools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E329E2-CAD5-3508-C016-4679A7B62C08}"/>
              </a:ext>
            </a:extLst>
          </p:cNvPr>
          <p:cNvSpPr txBox="1"/>
          <p:nvPr/>
        </p:nvSpPr>
        <p:spPr>
          <a:xfrm>
            <a:off x="1132794" y="1566368"/>
            <a:ext cx="10676030" cy="48013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@tool</a:t>
            </a:r>
            <a:endParaRPr lang="en-US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get_current_date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-&gt;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now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strftime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"%Y-%m-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%d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buNone/>
            </a:pPr>
            <a:endParaRPr lang="en-US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@tool</a:t>
            </a:r>
            <a:endParaRPr lang="en-US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get_weather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city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Annotated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Field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description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"The city to get weather for"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)]) -&gt;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dict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...</a:t>
            </a:r>
          </a:p>
          <a:p>
            <a:pPr>
              <a:buNone/>
            </a:pPr>
            <a:endParaRPr lang="en-US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@tool</a:t>
            </a:r>
            <a:endParaRPr lang="en-US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get_activities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city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Annotated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Field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description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"The city to get activities for"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)],</a:t>
            </a:r>
          </a:p>
          <a:p>
            <a:pPr>
              <a:buNone/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date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Annotated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Field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description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"Date, in format YYYY-MM-DD."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)]) -&gt;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...</a:t>
            </a:r>
          </a:p>
          <a:p>
            <a:pPr>
              <a:buNone/>
            </a:pPr>
            <a:endParaRPr lang="en-US">
              <a:solidFill>
                <a:srgbClr val="001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instructions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"You help users plan their weekends."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tools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get_weather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get_activities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get_current_date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63659D-6F03-0DB1-2587-DA0476AAD269}"/>
              </a:ext>
            </a:extLst>
          </p:cNvPr>
          <p:cNvSpPr txBox="1"/>
          <p:nvPr/>
        </p:nvSpPr>
        <p:spPr>
          <a:xfrm>
            <a:off x="1191801" y="6399742"/>
            <a:ext cx="378180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err="1"/>
              <a:t>Full example: </a:t>
            </a:r>
            <a:r>
              <a:rPr lang="en-US" sz="2400" err="1">
                <a:hlinkClick r:id="rId2"/>
              </a:rPr>
              <a:t>agent_tools.py</a:t>
            </a:r>
            <a:endParaRPr lang="en-US" sz="2400" err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ADF84-2EF9-591C-F953-15E5BED1EED8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</p:spTree>
    <p:extLst>
      <p:ext uri="{BB962C8B-B14F-4D97-AF65-F5344CB8AC3E}">
        <p14:creationId xmlns:p14="http://schemas.microsoft.com/office/powerpoint/2010/main" val="20588400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840FC-6FD8-A0DE-2307-009357F4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FB0AF-CD0A-1778-6EF4-34B12B95D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Local experimentation with DevUI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61ADEB-D1B7-E251-1145-5DECD41548E3}"/>
              </a:ext>
            </a:extLst>
          </p:cNvPr>
          <p:cNvSpPr txBox="1"/>
          <p:nvPr/>
        </p:nvSpPr>
        <p:spPr>
          <a:xfrm>
            <a:off x="1132793" y="2203814"/>
            <a:ext cx="10298964" cy="8617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agent_framework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devui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serve</a:t>
            </a:r>
            <a:b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entities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auto_open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27C0D3-8159-31F9-5AF6-578C32BE9110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pic>
        <p:nvPicPr>
          <p:cNvPr id="7" name="Picture 6" descr="A screenshot of a chat&#10;&#10;AI-generated content may be incorrect.">
            <a:extLst>
              <a:ext uri="{FF2B5EF4-FFF2-40B4-BE49-F238E27FC236}">
                <a16:creationId xmlns:a16="http://schemas.microsoft.com/office/drawing/2014/main" id="{CCA6E8B8-E2A6-15AB-6266-31A5A8247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816"/>
          <a:stretch>
            <a:fillRect/>
          </a:stretch>
        </p:blipFill>
        <p:spPr>
          <a:xfrm>
            <a:off x="1132793" y="3298545"/>
            <a:ext cx="10298964" cy="3332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02A2618-AF0F-118B-DCCF-7FC66DBD381F}"/>
              </a:ext>
            </a:extLst>
          </p:cNvPr>
          <p:cNvSpPr txBox="1"/>
          <p:nvPr/>
        </p:nvSpPr>
        <p:spPr>
          <a:xfrm>
            <a:off x="1132793" y="1738842"/>
            <a:ext cx="110864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400" err="1"/>
              <a:t>DevUI makes it easy to chat with your agents and trace tool calls:</a:t>
            </a:r>
          </a:p>
        </p:txBody>
      </p:sp>
    </p:spTree>
    <p:extLst>
      <p:ext uri="{BB962C8B-B14F-4D97-AF65-F5344CB8AC3E}">
        <p14:creationId xmlns:p14="http://schemas.microsoft.com/office/powerpoint/2010/main" val="15974400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396EC-730B-A71F-E91F-154AAE0D0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D175C-7626-3343-8092-CDC81B275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Integrating agents</a:t>
            </a:r>
            <a:br>
              <a:rPr lang="es-MX"/>
            </a:br>
            <a:r>
              <a:rPr lang="es-MX"/>
              <a:t>with MCP server tools</a:t>
            </a:r>
          </a:p>
        </p:txBody>
      </p:sp>
    </p:spTree>
    <p:extLst>
      <p:ext uri="{BB962C8B-B14F-4D97-AF65-F5344CB8AC3E}">
        <p14:creationId xmlns:p14="http://schemas.microsoft.com/office/powerpoint/2010/main" val="21099429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2E603-DD70-0233-8B69-7265BC7EB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6A2390-33F6-4FE7-59CB-C7A2934DD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Context Protocol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3BC5E01-0792-8C13-9220-A9A0B49301A9}"/>
              </a:ext>
            </a:extLst>
          </p:cNvPr>
          <p:cNvSpPr txBox="1">
            <a:spLocks/>
          </p:cNvSpPr>
          <p:nvPr/>
        </p:nvSpPr>
        <p:spPr>
          <a:xfrm>
            <a:off x="1111362" y="1783821"/>
            <a:ext cx="10903991" cy="13255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/>
              <a:t>An </a:t>
            </a:r>
            <a:r>
              <a:rPr lang="en-US" sz="2400" b="1"/>
              <a:t>open protocol</a:t>
            </a:r>
            <a:r>
              <a:rPr lang="en-US" sz="2400"/>
              <a:t> created by Anthropic that </a:t>
            </a:r>
            <a:r>
              <a:rPr lang="en-US" sz="2400" b="1"/>
              <a:t>standardizes</a:t>
            </a:r>
            <a:r>
              <a:rPr lang="en-US" sz="2400"/>
              <a:t> the interaction between LLMs and </a:t>
            </a:r>
            <a:r>
              <a:rPr lang="en-US" sz="2400" b="1"/>
              <a:t>external tools</a:t>
            </a:r>
            <a:r>
              <a:rPr lang="en-US" sz="2400"/>
              <a:t>, </a:t>
            </a:r>
            <a:r>
              <a:rPr lang="en-US" sz="2400" b="1"/>
              <a:t>data sources</a:t>
            </a:r>
            <a:r>
              <a:rPr lang="en-US" sz="2400"/>
              <a:t>, and </a:t>
            </a:r>
            <a:r>
              <a:rPr lang="en-US" sz="2400" b="1"/>
              <a:t>applications</a:t>
            </a:r>
            <a:r>
              <a:rPr lang="en-US" sz="240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C45671-B80C-BD28-B798-C41BBB81D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659" y="2915052"/>
            <a:ext cx="6963629" cy="2720167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2A3B7D-CCF7-1F78-DD4E-83D175B19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9594" y="2915052"/>
            <a:ext cx="2744542" cy="2744542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CA7D3C2-47CD-0316-D83E-B9441DFC824D}"/>
              </a:ext>
            </a:extLst>
          </p:cNvPr>
          <p:cNvSpPr txBox="1"/>
          <p:nvPr/>
        </p:nvSpPr>
        <p:spPr>
          <a:xfrm>
            <a:off x="1111362" y="5845744"/>
            <a:ext cx="6255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https://modelcontextprotocol.io/</a:t>
            </a:r>
            <a:endParaRPr lang="en-US" sz="240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9485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37173-257C-CE11-D711-52016545B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543EA-9F14-D3C8-81E7-201A0AF28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MCP client + server architecture</a:t>
            </a:r>
            <a:endParaRPr lang="es-ES_tradnl" noProof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B0B339A-4369-F351-627C-C9403F2C4C33}"/>
              </a:ext>
            </a:extLst>
          </p:cNvPr>
          <p:cNvGrpSpPr/>
          <p:nvPr/>
        </p:nvGrpSpPr>
        <p:grpSpPr>
          <a:xfrm>
            <a:off x="1288471" y="1839207"/>
            <a:ext cx="10019359" cy="4104391"/>
            <a:chOff x="729325" y="1433733"/>
            <a:chExt cx="10019359" cy="4104391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018596B9-A06F-669F-6B2B-886B608F7D92}"/>
                </a:ext>
              </a:extLst>
            </p:cNvPr>
            <p:cNvSpPr/>
            <p:nvPr/>
          </p:nvSpPr>
          <p:spPr>
            <a:xfrm>
              <a:off x="5417190" y="2039845"/>
              <a:ext cx="5331494" cy="1604682"/>
            </a:xfrm>
            <a:prstGeom prst="roundRect">
              <a:avLst>
                <a:gd name="adj" fmla="val 3259"/>
              </a:avLst>
            </a:prstGeom>
            <a:solidFill>
              <a:srgbClr val="73FCD6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solidFill>
                    <a:schemeClr val="tx1"/>
                  </a:solidFill>
                  <a:latin typeface="Segoe UI Semibold" panose="020B0502040204020203" pitchFamily="34" charset="0"/>
                  <a:cs typeface="Segoe UI Semibold" panose="020B0502040204020203" pitchFamily="34" charset="0"/>
                </a:rPr>
                <a:t>MCP Server A</a:t>
              </a:r>
            </a:p>
            <a:p>
              <a:pPr algn="ctr"/>
              <a:endParaRPr lang="en-US" b="1">
                <a:latin typeface="Segoe UI Semibold" panose="020B0502040204020203" pitchFamily="34" charset="0"/>
                <a:cs typeface="Segoe UI Semibold" panose="020B0502040204020203" pitchFamily="34" charset="0"/>
              </a:endParaRPr>
            </a:p>
            <a:p>
              <a:pPr algn="ctr"/>
              <a:endParaRPr lang="en-US" b="1">
                <a:latin typeface="Segoe UI Semibold" panose="020B0502040204020203" pitchFamily="34" charset="0"/>
                <a:cs typeface="Segoe UI Semibold" panose="020B0502040204020203" pitchFamily="34" charset="0"/>
              </a:endParaRPr>
            </a:p>
            <a:p>
              <a:pPr algn="ctr"/>
              <a:endParaRPr lang="en-US" b="1">
                <a:latin typeface="Segoe UI Semibold" panose="020B0502040204020203" pitchFamily="34" charset="0"/>
                <a:cs typeface="Segoe UI Semibold" panose="020B0502040204020203" pitchFamily="34" charset="0"/>
              </a:endParaRP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102CFCC4-1A31-2E33-B288-AF51E95548F4}"/>
                </a:ext>
              </a:extLst>
            </p:cNvPr>
            <p:cNvSpPr/>
            <p:nvPr/>
          </p:nvSpPr>
          <p:spPr>
            <a:xfrm>
              <a:off x="729325" y="1433733"/>
              <a:ext cx="3519166" cy="4104391"/>
            </a:xfrm>
            <a:prstGeom prst="roundRect">
              <a:avLst/>
            </a:prstGeom>
            <a:solidFill>
              <a:srgbClr val="8FC9F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solidFill>
                    <a:schemeClr val="tx1"/>
                  </a:solidFill>
                  <a:latin typeface="Segoe UI Semibold" panose="020B0502040204020203" pitchFamily="34" charset="0"/>
                  <a:cs typeface="Segoe UI Semibold" panose="020B0502040204020203" pitchFamily="34" charset="0"/>
                </a:rPr>
                <a:t>MCP Host </a:t>
              </a:r>
            </a:p>
            <a:p>
              <a:pPr algn="ctr"/>
              <a:r>
                <a:rPr lang="en-US" i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VS Code, Claude Code,</a:t>
              </a:r>
            </a:p>
            <a:p>
              <a:pPr algn="ctr"/>
              <a:r>
                <a:rPr lang="en-US" i="1" u="sng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Your agent! </a:t>
              </a:r>
              <a:r>
                <a:rPr lang="en-US">
                  <a:latin typeface="Segoe UI" panose="020B0502040204020203" pitchFamily="34" charset="0"/>
                  <a:cs typeface="Segoe UI" panose="020B0502040204020203" pitchFamily="34" charset="0"/>
                </a:rPr>
                <a:t>🤖</a:t>
              </a:r>
            </a:p>
            <a:p>
              <a:pPr algn="ctr"/>
              <a:endParaRPr lang="en-US" b="1">
                <a:latin typeface="Segoe UI Semibold" panose="020B0502040204020203" pitchFamily="34" charset="0"/>
                <a:cs typeface="Segoe UI Semibold" panose="020B0502040204020203" pitchFamily="34" charset="0"/>
              </a:endParaRPr>
            </a:p>
            <a:p>
              <a:pPr algn="ctr"/>
              <a:endParaRPr lang="en-US" b="1">
                <a:latin typeface="Segoe UI Semibold" panose="020B0502040204020203" pitchFamily="34" charset="0"/>
                <a:cs typeface="Segoe UI Semibold" panose="020B0502040204020203" pitchFamily="34" charset="0"/>
              </a:endParaRPr>
            </a:p>
            <a:p>
              <a:pPr algn="ctr"/>
              <a:endParaRPr lang="en-US" b="1">
                <a:latin typeface="Segoe UI Semibold" panose="020B0502040204020203" pitchFamily="34" charset="0"/>
                <a:cs typeface="Segoe UI Semibold" panose="020B0502040204020203" pitchFamily="34" charset="0"/>
              </a:endParaRPr>
            </a:p>
            <a:p>
              <a:pPr algn="ctr"/>
              <a:endParaRPr lang="en-US" b="1">
                <a:latin typeface="Segoe UI Semibold" panose="020B0502040204020203" pitchFamily="34" charset="0"/>
                <a:cs typeface="Segoe UI Semibold" panose="020B0502040204020203" pitchFamily="34" charset="0"/>
              </a:endParaRPr>
            </a:p>
            <a:p>
              <a:pPr algn="ctr"/>
              <a:endParaRPr lang="en-US" b="1">
                <a:latin typeface="Segoe UI Semibold" panose="020B0502040204020203" pitchFamily="34" charset="0"/>
                <a:cs typeface="Segoe UI Semibold" panose="020B0502040204020203" pitchFamily="34" charset="0"/>
              </a:endParaRPr>
            </a:p>
            <a:p>
              <a:pPr algn="ctr"/>
              <a:endParaRPr lang="en-US" b="1">
                <a:latin typeface="Segoe UI Semibold" panose="020B0502040204020203" pitchFamily="34" charset="0"/>
                <a:cs typeface="Segoe UI Semibold" panose="020B0502040204020203" pitchFamily="34" charset="0"/>
              </a:endParaRPr>
            </a:p>
            <a:p>
              <a:pPr algn="ctr"/>
              <a:endParaRPr lang="en-US" b="1">
                <a:latin typeface="Segoe UI Semibold" panose="020B0502040204020203" pitchFamily="34" charset="0"/>
                <a:cs typeface="Segoe UI Semibold" panose="020B0502040204020203" pitchFamily="34" charset="0"/>
              </a:endParaRPr>
            </a:p>
            <a:p>
              <a:pPr algn="ctr"/>
              <a:endParaRPr lang="en-US" b="1">
                <a:latin typeface="Segoe UI Semibold" panose="020B0502040204020203" pitchFamily="34" charset="0"/>
                <a:cs typeface="Segoe UI Semibold" panose="020B0502040204020203" pitchFamily="34" charset="0"/>
              </a:endParaRPr>
            </a:p>
            <a:p>
              <a:pPr algn="ctr"/>
              <a:endParaRPr lang="en-US" b="1">
                <a:latin typeface="Segoe UI Semibold" panose="020B0502040204020203" pitchFamily="34" charset="0"/>
                <a:cs typeface="Segoe UI Semibold" panose="020B0502040204020203" pitchFamily="34" charset="0"/>
              </a:endParaRPr>
            </a:p>
            <a:p>
              <a:pPr algn="ctr"/>
              <a:endParaRPr lang="en-US" b="1">
                <a:latin typeface="Segoe UI Semibold" panose="020B0502040204020203" pitchFamily="34" charset="0"/>
                <a:cs typeface="Segoe UI Semibold" panose="020B0502040204020203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1061A98-B01B-7B94-29EC-8EF68189C114}"/>
                </a:ext>
              </a:extLst>
            </p:cNvPr>
            <p:cNvCxnSpPr>
              <a:cxnSpLocks/>
            </p:cNvCxnSpPr>
            <p:nvPr/>
          </p:nvCxnSpPr>
          <p:spPr>
            <a:xfrm>
              <a:off x="4248491" y="3264672"/>
              <a:ext cx="1168699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28A691B-1827-A9E1-B69D-460E2DE67734}"/>
                </a:ext>
              </a:extLst>
            </p:cNvPr>
            <p:cNvSpPr txBox="1"/>
            <p:nvPr/>
          </p:nvSpPr>
          <p:spPr>
            <a:xfrm>
              <a:off x="4452776" y="2882813"/>
              <a:ext cx="6639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Segoe UI" panose="020B0502040204020203" pitchFamily="34" charset="0"/>
                  <a:cs typeface="Segoe UI" panose="020B0502040204020203" pitchFamily="34" charset="0"/>
                </a:rPr>
                <a:t>MCP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8DD602C-7DEA-0C81-7811-60C5EC56E7A7}"/>
                </a:ext>
              </a:extLst>
            </p:cNvPr>
            <p:cNvCxnSpPr>
              <a:cxnSpLocks/>
            </p:cNvCxnSpPr>
            <p:nvPr/>
          </p:nvCxnSpPr>
          <p:spPr>
            <a:xfrm>
              <a:off x="4248491" y="4984904"/>
              <a:ext cx="1168699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D2681CB-CE22-DD5B-CCB8-CCD509A275E3}"/>
                </a:ext>
              </a:extLst>
            </p:cNvPr>
            <p:cNvSpPr txBox="1"/>
            <p:nvPr/>
          </p:nvSpPr>
          <p:spPr>
            <a:xfrm>
              <a:off x="4435547" y="4531159"/>
              <a:ext cx="6639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Segoe UI" panose="020B0502040204020203" pitchFamily="34" charset="0"/>
                  <a:cs typeface="Segoe UI" panose="020B0502040204020203" pitchFamily="34" charset="0"/>
                </a:rPr>
                <a:t>MCP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9F7C540F-ADD1-D029-592D-5041F2049668}"/>
                </a:ext>
              </a:extLst>
            </p:cNvPr>
            <p:cNvSpPr/>
            <p:nvPr/>
          </p:nvSpPr>
          <p:spPr>
            <a:xfrm>
              <a:off x="5636183" y="2940795"/>
              <a:ext cx="1465731" cy="464973"/>
            </a:xfrm>
            <a:prstGeom prst="roundRect">
              <a:avLst/>
            </a:prstGeom>
            <a:solidFill>
              <a:srgbClr val="2E68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Tools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78488E2E-48CE-0F61-B739-10A7A06A3679}"/>
                </a:ext>
              </a:extLst>
            </p:cNvPr>
            <p:cNvSpPr/>
            <p:nvPr/>
          </p:nvSpPr>
          <p:spPr>
            <a:xfrm>
              <a:off x="7256855" y="2940795"/>
              <a:ext cx="1574313" cy="464973"/>
            </a:xfrm>
            <a:prstGeom prst="roundRect">
              <a:avLst/>
            </a:prstGeom>
            <a:solidFill>
              <a:srgbClr val="2D68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Prompts</a:t>
              </a: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CDBDF7E7-B2D2-A89B-99C6-4C736114BC41}"/>
                </a:ext>
              </a:extLst>
            </p:cNvPr>
            <p:cNvSpPr/>
            <p:nvPr/>
          </p:nvSpPr>
          <p:spPr>
            <a:xfrm>
              <a:off x="8986109" y="2930783"/>
              <a:ext cx="1574313" cy="464973"/>
            </a:xfrm>
            <a:prstGeom prst="roundRect">
              <a:avLst/>
            </a:prstGeom>
            <a:solidFill>
              <a:srgbClr val="2C68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Resources</a:t>
              </a: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586DA20B-F6F7-D862-B58D-38ED1DDF1AB4}"/>
                </a:ext>
              </a:extLst>
            </p:cNvPr>
            <p:cNvSpPr/>
            <p:nvPr/>
          </p:nvSpPr>
          <p:spPr>
            <a:xfrm>
              <a:off x="5417190" y="3865325"/>
              <a:ext cx="5331494" cy="1604682"/>
            </a:xfrm>
            <a:prstGeom prst="roundRect">
              <a:avLst>
                <a:gd name="adj" fmla="val 3259"/>
              </a:avLst>
            </a:prstGeom>
            <a:solidFill>
              <a:srgbClr val="B7CEF4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solidFill>
                    <a:schemeClr val="tx1"/>
                  </a:solidFill>
                  <a:latin typeface="Segoe UI Semibold" panose="020B0502040204020203" pitchFamily="34" charset="0"/>
                  <a:cs typeface="Segoe UI Semibold" panose="020B0502040204020203" pitchFamily="34" charset="0"/>
                </a:rPr>
                <a:t>MCP Server B</a:t>
              </a:r>
            </a:p>
            <a:p>
              <a:pPr algn="ctr"/>
              <a:endParaRPr lang="en-US" b="1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endParaRPr>
            </a:p>
            <a:p>
              <a:pPr algn="ctr"/>
              <a:endParaRPr lang="en-US" b="1">
                <a:latin typeface="Segoe UI Semibold" panose="020B0502040204020203" pitchFamily="34" charset="0"/>
                <a:cs typeface="Segoe UI Semibold" panose="020B0502040204020203" pitchFamily="34" charset="0"/>
              </a:endParaRPr>
            </a:p>
            <a:p>
              <a:pPr algn="ctr"/>
              <a:endParaRPr lang="en-US" b="1">
                <a:latin typeface="Segoe UI Semibold" panose="020B0502040204020203" pitchFamily="34" charset="0"/>
                <a:cs typeface="Segoe UI Semibold" panose="020B0502040204020203" pitchFamily="34" charset="0"/>
              </a:endParaRP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619BD260-D55D-D07C-DB8C-5D1C5A3ED5FB}"/>
                </a:ext>
              </a:extLst>
            </p:cNvPr>
            <p:cNvSpPr/>
            <p:nvPr/>
          </p:nvSpPr>
          <p:spPr>
            <a:xfrm>
              <a:off x="5662310" y="4766275"/>
              <a:ext cx="1465731" cy="464973"/>
            </a:xfrm>
            <a:prstGeom prst="roundRect">
              <a:avLst/>
            </a:prstGeom>
            <a:solidFill>
              <a:srgbClr val="556E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Tools</a:t>
              </a: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58CFB329-9FF2-72FE-D040-13F6080A1689}"/>
                </a:ext>
              </a:extLst>
            </p:cNvPr>
            <p:cNvSpPr/>
            <p:nvPr/>
          </p:nvSpPr>
          <p:spPr>
            <a:xfrm>
              <a:off x="7282982" y="4766275"/>
              <a:ext cx="1574313" cy="464973"/>
            </a:xfrm>
            <a:prstGeom prst="roundRect">
              <a:avLst/>
            </a:prstGeom>
            <a:solidFill>
              <a:srgbClr val="556E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Prompts</a:t>
              </a: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2EE03EC9-4EB2-1507-BD06-63F1B6AD2CCD}"/>
                </a:ext>
              </a:extLst>
            </p:cNvPr>
            <p:cNvSpPr/>
            <p:nvPr/>
          </p:nvSpPr>
          <p:spPr>
            <a:xfrm>
              <a:off x="9004441" y="4756263"/>
              <a:ext cx="1574313" cy="464973"/>
            </a:xfrm>
            <a:prstGeom prst="roundRect">
              <a:avLst/>
            </a:prstGeom>
            <a:solidFill>
              <a:srgbClr val="556E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Resources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26DD696A-B96E-D9E7-66A4-9721CBDCCE96}"/>
                </a:ext>
              </a:extLst>
            </p:cNvPr>
            <p:cNvSpPr/>
            <p:nvPr/>
          </p:nvSpPr>
          <p:spPr>
            <a:xfrm>
              <a:off x="1153957" y="3010373"/>
              <a:ext cx="2708105" cy="632071"/>
            </a:xfrm>
            <a:prstGeom prst="roundRect">
              <a:avLst/>
            </a:prstGeom>
            <a:solidFill>
              <a:srgbClr val="1480D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MCP Client A</a:t>
              </a: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3920B9D1-06D3-0FB5-B4AF-D3916AF7A74B}"/>
                </a:ext>
              </a:extLst>
            </p:cNvPr>
            <p:cNvSpPr/>
            <p:nvPr/>
          </p:nvSpPr>
          <p:spPr>
            <a:xfrm>
              <a:off x="1106977" y="4655373"/>
              <a:ext cx="2708105" cy="632071"/>
            </a:xfrm>
            <a:prstGeom prst="roundRect">
              <a:avLst/>
            </a:prstGeom>
            <a:solidFill>
              <a:srgbClr val="1480D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MCP Client B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B1941230-4E3C-BEE7-94BD-E4E0CD552CF3}"/>
              </a:ext>
            </a:extLst>
          </p:cNvPr>
          <p:cNvSpPr txBox="1"/>
          <p:nvPr/>
        </p:nvSpPr>
        <p:spPr>
          <a:xfrm>
            <a:off x="1222233" y="6216156"/>
            <a:ext cx="82088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hlinkClick r:id="rId3"/>
              </a:rPr>
              <a:t>https://</a:t>
            </a:r>
            <a:r>
              <a:rPr lang="en-US" sz="2400" err="1">
                <a:hlinkClick r:id="rId3"/>
              </a:rPr>
              <a:t>modelcontextprotocol.io</a:t>
            </a:r>
            <a:r>
              <a:rPr lang="en-US" sz="2400">
                <a:hlinkClick r:id="rId3"/>
              </a:rPr>
              <a:t>/docs/learn/architecture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2616564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D23DC-BD76-8C1D-8901-E0E691480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ACB53E26-2E9B-3412-4E38-6B6C5BB3AEC6}"/>
              </a:ext>
            </a:extLst>
          </p:cNvPr>
          <p:cNvSpPr txBox="1"/>
          <p:nvPr/>
        </p:nvSpPr>
        <p:spPr>
          <a:xfrm>
            <a:off x="1148337" y="1704203"/>
            <a:ext cx="110864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400" err="1"/>
              <a:t>First the agent queries each MCP server to discover their tools.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6AA4DD0-EA69-41F3-D5D1-FE80EF5EA13A}"/>
              </a:ext>
            </a:extLst>
          </p:cNvPr>
          <p:cNvSpPr/>
          <p:nvPr/>
        </p:nvSpPr>
        <p:spPr bwMode="auto">
          <a:xfrm>
            <a:off x="7805007" y="4487406"/>
            <a:ext cx="1229992" cy="686429"/>
          </a:xfrm>
          <a:prstGeom prst="ellipse">
            <a:avLst/>
          </a:prstGeom>
          <a:solidFill>
            <a:srgbClr val="73FCD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err="1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Tool 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39FE6A-AE69-D5F4-1F65-884884CE4C6B}"/>
              </a:ext>
            </a:extLst>
          </p:cNvPr>
          <p:cNvSpPr/>
          <p:nvPr/>
        </p:nvSpPr>
        <p:spPr bwMode="auto">
          <a:xfrm>
            <a:off x="2041464" y="5262298"/>
            <a:ext cx="1419497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4FBAA58-412C-F216-AF0B-85F6E2D0C34C}"/>
              </a:ext>
            </a:extLst>
          </p:cNvPr>
          <p:cNvSpPr/>
          <p:nvPr/>
        </p:nvSpPr>
        <p:spPr bwMode="auto">
          <a:xfrm>
            <a:off x="7805007" y="5297618"/>
            <a:ext cx="1229992" cy="686429"/>
          </a:xfrm>
          <a:prstGeom prst="ellipse">
            <a:avLst/>
          </a:prstGeom>
          <a:solidFill>
            <a:srgbClr val="73FCD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err="1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Tool Y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9EE1E74-54B1-251C-667D-51ED0CC0AC4C}"/>
              </a:ext>
            </a:extLst>
          </p:cNvPr>
          <p:cNvSpPr/>
          <p:nvPr/>
        </p:nvSpPr>
        <p:spPr bwMode="auto">
          <a:xfrm>
            <a:off x="7805007" y="6107830"/>
            <a:ext cx="1229992" cy="686429"/>
          </a:xfrm>
          <a:prstGeom prst="ellipse">
            <a:avLst/>
          </a:prstGeom>
          <a:solidFill>
            <a:srgbClr val="B7CEF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err="1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Tool Z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BA3D52B-DD18-F857-6822-B5D7C304C97E}"/>
              </a:ext>
            </a:extLst>
          </p:cNvPr>
          <p:cNvCxnSpPr>
            <a:cxnSpLocks/>
            <a:stCxn id="21" idx="2"/>
            <a:endCxn id="22" idx="3"/>
          </p:cNvCxnSpPr>
          <p:nvPr/>
        </p:nvCxnSpPr>
        <p:spPr>
          <a:xfrm flipH="1">
            <a:off x="3460961" y="4830621"/>
            <a:ext cx="4344046" cy="77489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DDF956C5-02B9-23DA-168C-D9D2F393E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15" y="458258"/>
            <a:ext cx="11916571" cy="1325563"/>
          </a:xfrm>
        </p:spPr>
        <p:txBody>
          <a:bodyPr/>
          <a:lstStyle/>
          <a:p>
            <a:r>
              <a:rPr lang="en-US"/>
              <a:t>Single agent with MCP servers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FC9018-E4E5-4397-D678-B2C09267C06F}"/>
              </a:ext>
            </a:extLst>
          </p:cNvPr>
          <p:cNvSpPr txBox="1"/>
          <p:nvPr/>
        </p:nvSpPr>
        <p:spPr>
          <a:xfrm>
            <a:off x="1137935" y="416254"/>
            <a:ext cx="6518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Agent architecture: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DE91C0-C669-2762-CE64-413191F08BA5}"/>
              </a:ext>
            </a:extLst>
          </p:cNvPr>
          <p:cNvSpPr txBox="1"/>
          <p:nvPr/>
        </p:nvSpPr>
        <p:spPr>
          <a:xfrm>
            <a:off x="1137935" y="2585100"/>
            <a:ext cx="77630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0">
                <a:latin typeface="Segoe UI" panose="020B0502040204020203" pitchFamily="34" charset="0"/>
                <a:cs typeface="Segoe UI" panose="020B0502040204020203" pitchFamily="34" charset="0"/>
              </a:rPr>
              <a:t>🤖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C34B105-D9A0-61ED-9EE8-EC9C07D20A74}"/>
              </a:ext>
            </a:extLst>
          </p:cNvPr>
          <p:cNvCxnSpPr>
            <a:cxnSpLocks/>
          </p:cNvCxnSpPr>
          <p:nvPr/>
        </p:nvCxnSpPr>
        <p:spPr>
          <a:xfrm>
            <a:off x="2108718" y="2336564"/>
            <a:ext cx="5435088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C882F45-86D3-04ED-9FDB-9CA39B4B2A04}"/>
              </a:ext>
            </a:extLst>
          </p:cNvPr>
          <p:cNvSpPr txBox="1"/>
          <p:nvPr/>
        </p:nvSpPr>
        <p:spPr>
          <a:xfrm>
            <a:off x="4446766" y="2127996"/>
            <a:ext cx="951711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err="1"/>
              <a:t>tools?</a:t>
            </a:r>
            <a:endParaRPr lang="en-US" sz="200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80491E0-9F5B-2E6D-0664-BBD282BE8087}"/>
              </a:ext>
            </a:extLst>
          </p:cNvPr>
          <p:cNvCxnSpPr>
            <a:cxnSpLocks/>
          </p:cNvCxnSpPr>
          <p:nvPr/>
        </p:nvCxnSpPr>
        <p:spPr>
          <a:xfrm flipH="1">
            <a:off x="2113240" y="2762891"/>
            <a:ext cx="5435088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7DA168D-D906-0B64-4FDC-F5F24ABB1567}"/>
              </a:ext>
            </a:extLst>
          </p:cNvPr>
          <p:cNvSpPr txBox="1"/>
          <p:nvPr/>
        </p:nvSpPr>
        <p:spPr>
          <a:xfrm>
            <a:off x="4095444" y="2585100"/>
            <a:ext cx="165618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800" err="1"/>
              <a:t>Tool X, Tool Y</a:t>
            </a:r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E6A112-B73C-430E-52B5-B791B605684E}"/>
              </a:ext>
            </a:extLst>
          </p:cNvPr>
          <p:cNvSpPr txBox="1"/>
          <p:nvPr/>
        </p:nvSpPr>
        <p:spPr>
          <a:xfrm>
            <a:off x="1181043" y="4131991"/>
            <a:ext cx="1031929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400" err="1"/>
              <a:t>Then the agent decides which of the MCP tools to call. 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3627430-BD92-A6F9-5E66-889169FB735D}"/>
              </a:ext>
            </a:extLst>
          </p:cNvPr>
          <p:cNvCxnSpPr>
            <a:cxnSpLocks/>
          </p:cNvCxnSpPr>
          <p:nvPr/>
        </p:nvCxnSpPr>
        <p:spPr>
          <a:xfrm>
            <a:off x="2108718" y="3280067"/>
            <a:ext cx="5435088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1CBDEB4-7086-A1C5-2B9A-8466335ED97B}"/>
              </a:ext>
            </a:extLst>
          </p:cNvPr>
          <p:cNvSpPr txBox="1"/>
          <p:nvPr/>
        </p:nvSpPr>
        <p:spPr>
          <a:xfrm>
            <a:off x="4446766" y="3071499"/>
            <a:ext cx="951711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err="1"/>
              <a:t>tools?</a:t>
            </a:r>
            <a:endParaRPr lang="en-US" sz="200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7FE133D-2DE4-3828-7052-B1A0A3514ADC}"/>
              </a:ext>
            </a:extLst>
          </p:cNvPr>
          <p:cNvCxnSpPr>
            <a:cxnSpLocks/>
          </p:cNvCxnSpPr>
          <p:nvPr/>
        </p:nvCxnSpPr>
        <p:spPr>
          <a:xfrm flipH="1">
            <a:off x="2113240" y="3706394"/>
            <a:ext cx="5435088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4E467BAB-BC61-1916-55BF-51942A881B6A}"/>
              </a:ext>
            </a:extLst>
          </p:cNvPr>
          <p:cNvSpPr txBox="1"/>
          <p:nvPr/>
        </p:nvSpPr>
        <p:spPr>
          <a:xfrm>
            <a:off x="4271104" y="3528602"/>
            <a:ext cx="130303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800" err="1"/>
              <a:t>Tool Z</a:t>
            </a:r>
            <a:endParaRPr lang="en-US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5551224-D6B7-6C4C-D3A3-715494F93AF6}"/>
              </a:ext>
            </a:extLst>
          </p:cNvPr>
          <p:cNvCxnSpPr>
            <a:cxnSpLocks/>
            <a:stCxn id="24" idx="2"/>
            <a:endCxn id="22" idx="3"/>
          </p:cNvCxnSpPr>
          <p:nvPr/>
        </p:nvCxnSpPr>
        <p:spPr>
          <a:xfrm flipH="1" flipV="1">
            <a:off x="3460961" y="5605513"/>
            <a:ext cx="4344046" cy="8455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12B5F6D-3BC6-646E-D26F-0AF9FC7FEF80}"/>
              </a:ext>
            </a:extLst>
          </p:cNvPr>
          <p:cNvSpPr txBox="1"/>
          <p:nvPr/>
        </p:nvSpPr>
        <p:spPr>
          <a:xfrm>
            <a:off x="1205064" y="5251720"/>
            <a:ext cx="77630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0">
                <a:latin typeface="Segoe UI" panose="020B0502040204020203" pitchFamily="34" charset="0"/>
                <a:cs typeface="Segoe UI" panose="020B0502040204020203" pitchFamily="34" charset="0"/>
              </a:rPr>
              <a:t>🤖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7A9A07ED-CA4F-1E5B-B136-997358519125}"/>
              </a:ext>
            </a:extLst>
          </p:cNvPr>
          <p:cNvSpPr/>
          <p:nvPr/>
        </p:nvSpPr>
        <p:spPr>
          <a:xfrm>
            <a:off x="7747331" y="2225332"/>
            <a:ext cx="3142512" cy="546833"/>
          </a:xfrm>
          <a:prstGeom prst="roundRect">
            <a:avLst>
              <a:gd name="adj" fmla="val 3259"/>
            </a:avLst>
          </a:prstGeom>
          <a:solidFill>
            <a:srgbClr val="73FCD6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MCP Server A</a:t>
            </a:r>
            <a:endParaRPr lang="en-US" b="1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6CFEA6B0-624F-A3F9-E5D6-C6DF810328FC}"/>
              </a:ext>
            </a:extLst>
          </p:cNvPr>
          <p:cNvSpPr/>
          <p:nvPr/>
        </p:nvSpPr>
        <p:spPr>
          <a:xfrm>
            <a:off x="7747331" y="3172927"/>
            <a:ext cx="3142512" cy="568709"/>
          </a:xfrm>
          <a:prstGeom prst="roundRect">
            <a:avLst>
              <a:gd name="adj" fmla="val 3259"/>
            </a:avLst>
          </a:prstGeom>
          <a:solidFill>
            <a:srgbClr val="B7CEF4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MCP Server B</a:t>
            </a:r>
            <a:endParaRPr lang="en-US" b="1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6646BD7-DBDE-C85F-DD95-2DC458F59D6B}"/>
              </a:ext>
            </a:extLst>
          </p:cNvPr>
          <p:cNvCxnSpPr>
            <a:cxnSpLocks/>
            <a:endCxn id="22" idx="3"/>
          </p:cNvCxnSpPr>
          <p:nvPr/>
        </p:nvCxnSpPr>
        <p:spPr>
          <a:xfrm flipH="1">
            <a:off x="3460961" y="5596525"/>
            <a:ext cx="4344046" cy="898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92925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771F1-FF2B-0BE1-AE4E-9C4C13A43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30576-BCA0-1404-907D-13F0DD1D4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Agent with local MCP server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5CA215-63A9-E131-5587-C4CFD797D366}"/>
              </a:ext>
            </a:extLst>
          </p:cNvPr>
          <p:cNvSpPr txBox="1"/>
          <p:nvPr/>
        </p:nvSpPr>
        <p:spPr>
          <a:xfrm>
            <a:off x="1132793" y="6261243"/>
            <a:ext cx="451187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err="1"/>
              <a:t>Full example: </a:t>
            </a:r>
            <a:r>
              <a:rPr lang="en-US" sz="2400" err="1">
                <a:hlinkClick r:id="rId2"/>
              </a:rPr>
              <a:t>agent_mcp_local.py</a:t>
            </a:r>
            <a:endParaRPr lang="en-US" sz="2400" err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EE42E-5E69-043E-009E-44471A552684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625321-4CCF-292E-D032-C64AA2C8AE23}"/>
              </a:ext>
            </a:extLst>
          </p:cNvPr>
          <p:cNvSpPr txBox="1"/>
          <p:nvPr/>
        </p:nvSpPr>
        <p:spPr>
          <a:xfrm>
            <a:off x="1148338" y="1670539"/>
            <a:ext cx="110864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400" err="1"/>
              <a:t>First run the server: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5BFE32-0C7B-34C0-0505-0A4EC29D7DB8}"/>
              </a:ext>
            </a:extLst>
          </p:cNvPr>
          <p:cNvSpPr txBox="1"/>
          <p:nvPr/>
        </p:nvSpPr>
        <p:spPr>
          <a:xfrm>
            <a:off x="1132793" y="2092625"/>
            <a:ext cx="10830603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425"/>
              </a:lnSpc>
              <a:buNone/>
            </a:pPr>
            <a:r>
              <a:rPr lang="en-US" sz="21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uv run examples/mcp_server.py</a:t>
            </a:r>
            <a:endParaRPr lang="en-US" sz="21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7EB10D-600E-278D-4D26-50FA1983990F}"/>
              </a:ext>
            </a:extLst>
          </p:cNvPr>
          <p:cNvSpPr txBox="1"/>
          <p:nvPr/>
        </p:nvSpPr>
        <p:spPr>
          <a:xfrm>
            <a:off x="1132793" y="2692971"/>
            <a:ext cx="10692861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400" err="1"/>
              <a:t>Then run the agent: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5B579F-3CD0-C871-925F-E70A7E71C162}"/>
              </a:ext>
            </a:extLst>
          </p:cNvPr>
          <p:cNvSpPr txBox="1"/>
          <p:nvPr/>
        </p:nvSpPr>
        <p:spPr>
          <a:xfrm>
            <a:off x="1049416" y="3140680"/>
            <a:ext cx="10913981" cy="30601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async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MCPStreamableHTTPTool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"Local MCP Server"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20000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"http://localhost:8000/mcp"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mcp_server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Agent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20000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instructions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"You help users with tasks using the available tools.</a:t>
            </a:r>
          </a:p>
          <a:p>
            <a:pPr>
              <a:lnSpc>
                <a:spcPct val="120000"/>
              </a:lnSpc>
              <a:buNone/>
            </a:pP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Today's date is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now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strftime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'%Y-%m-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%d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tools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mcp_server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])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):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response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"I bought laptop today for $1200 on my visa."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487954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9D89E-5EC2-0A4B-5841-BD3BB12BA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C601-9843-E039-3F25-CA508F3D4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Agent with remote MCP server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61B49A-366C-C96D-7284-414307E74296}"/>
              </a:ext>
            </a:extLst>
          </p:cNvPr>
          <p:cNvSpPr txBox="1"/>
          <p:nvPr/>
        </p:nvSpPr>
        <p:spPr>
          <a:xfrm>
            <a:off x="1132793" y="5967657"/>
            <a:ext cx="479939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err="1"/>
              <a:t>Full example: </a:t>
            </a:r>
            <a:r>
              <a:rPr lang="en-US" sz="2400" err="1">
                <a:hlinkClick r:id="rId2"/>
              </a:rPr>
              <a:t>agent_mcp_remote.py</a:t>
            </a:r>
            <a:endParaRPr lang="en-US" sz="2400" err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D61212-D074-DE81-687A-37A4B7B73CB3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BADB57-B6FF-99F2-C02F-453503ED77E2}"/>
              </a:ext>
            </a:extLst>
          </p:cNvPr>
          <p:cNvSpPr txBox="1"/>
          <p:nvPr/>
        </p:nvSpPr>
        <p:spPr>
          <a:xfrm>
            <a:off x="1132793" y="2009779"/>
            <a:ext cx="10580236" cy="37319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async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</a:p>
          <a:p>
            <a:pPr>
              <a:lnSpc>
                <a:spcPct val="110000"/>
              </a:lnSpc>
              <a:buNone/>
            </a:pP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MCPStreamableHTTPTool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ct val="110000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"Microsoft Learn MCP"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10000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"https://learn.microsoft.com/api/mcp"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mcp_server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10000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ct val="11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client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1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instructions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"You help with Microsoft documentation questions. Use the available tools to search for relevant docs."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1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tools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mcp_server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])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10000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):</a:t>
            </a:r>
          </a:p>
          <a:p>
            <a:pPr>
              <a:lnSpc>
                <a:spcPct val="11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response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ct val="110000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"How do I create an Azure Blob storage account using the az cli?"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199367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007E2-BAF9-BA76-A98B-2B7D05570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C58E6-6ABE-CAEB-3445-3529DF680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Agent middleware</a:t>
            </a:r>
          </a:p>
        </p:txBody>
      </p:sp>
    </p:spTree>
    <p:extLst>
      <p:ext uri="{BB962C8B-B14F-4D97-AF65-F5344CB8AC3E}">
        <p14:creationId xmlns:p14="http://schemas.microsoft.com/office/powerpoint/2010/main" val="6082774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E7C38-D83F-3558-7EE7-D51069D4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08D5AD3-42B2-8B85-256A-136B2FDE1D6A}"/>
              </a:ext>
            </a:extLst>
          </p:cNvPr>
          <p:cNvSpPr/>
          <p:nvPr/>
        </p:nvSpPr>
        <p:spPr>
          <a:xfrm>
            <a:off x="2836098" y="2050544"/>
            <a:ext cx="9294941" cy="2206068"/>
          </a:xfrm>
          <a:prstGeom prst="roundRect">
            <a:avLst>
              <a:gd name="adj" fmla="val 336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87B82FE-5632-5157-AB8A-E67F40E30593}"/>
              </a:ext>
            </a:extLst>
          </p:cNvPr>
          <p:cNvSpPr/>
          <p:nvPr/>
        </p:nvSpPr>
        <p:spPr bwMode="auto">
          <a:xfrm>
            <a:off x="10936232" y="2588466"/>
            <a:ext cx="1131648" cy="686429"/>
          </a:xfrm>
          <a:prstGeom prst="ellipse">
            <a:avLst/>
          </a:prstGeom>
          <a:solidFill>
            <a:srgbClr val="73FCD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b="1" err="1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Tool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345969-DC30-2BD0-27D1-57E5500F5FB4}"/>
              </a:ext>
            </a:extLst>
          </p:cNvPr>
          <p:cNvSpPr/>
          <p:nvPr/>
        </p:nvSpPr>
        <p:spPr bwMode="auto">
          <a:xfrm>
            <a:off x="7592684" y="3192886"/>
            <a:ext cx="929764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8F7301A-994A-6D90-2147-B3382EBFF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15" y="458258"/>
            <a:ext cx="11916571" cy="1325563"/>
          </a:xfrm>
        </p:spPr>
        <p:txBody>
          <a:bodyPr/>
          <a:lstStyle/>
          <a:p>
            <a:r>
              <a:rPr lang="en-US"/>
              <a:t>Agent middleware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F107CB-A6FD-C0D8-B12F-E2802505E986}"/>
              </a:ext>
            </a:extLst>
          </p:cNvPr>
          <p:cNvSpPr txBox="1"/>
          <p:nvPr/>
        </p:nvSpPr>
        <p:spPr>
          <a:xfrm>
            <a:off x="1137935" y="416254"/>
            <a:ext cx="6518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Agent architecture: </a:t>
            </a:r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81DA04CD-25C8-726C-2D57-1F9D74EE4CEB}"/>
              </a:ext>
            </a:extLst>
          </p:cNvPr>
          <p:cNvSpPr/>
          <p:nvPr/>
        </p:nvSpPr>
        <p:spPr>
          <a:xfrm>
            <a:off x="1021621" y="3076613"/>
            <a:ext cx="924077" cy="802702"/>
          </a:xfrm>
          <a:prstGeom prst="wedgeRoundRectCallo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Input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0DD680-E5A7-807E-EAD3-1E7A065F339E}"/>
              </a:ext>
            </a:extLst>
          </p:cNvPr>
          <p:cNvSpPr/>
          <p:nvPr/>
        </p:nvSpPr>
        <p:spPr bwMode="auto">
          <a:xfrm>
            <a:off x="3723459" y="3031136"/>
            <a:ext cx="1464150" cy="99075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Agent</a:t>
            </a: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Middleware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3F4A76-333F-30F1-EDB4-AFE49B9F3A5D}"/>
              </a:ext>
            </a:extLst>
          </p:cNvPr>
          <p:cNvSpPr/>
          <p:nvPr/>
        </p:nvSpPr>
        <p:spPr bwMode="auto">
          <a:xfrm>
            <a:off x="5649164" y="3031136"/>
            <a:ext cx="1481965" cy="99075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Chat</a:t>
            </a: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Middleware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F872394-87A9-8BA2-461E-8F60208D9970}"/>
              </a:ext>
            </a:extLst>
          </p:cNvPr>
          <p:cNvCxnSpPr>
            <a:cxnSpLocks/>
          </p:cNvCxnSpPr>
          <p:nvPr/>
        </p:nvCxnSpPr>
        <p:spPr>
          <a:xfrm flipH="1">
            <a:off x="5187609" y="3536100"/>
            <a:ext cx="461555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5260E47E-5F7F-926D-1F2A-422D0B87BFE1}"/>
              </a:ext>
            </a:extLst>
          </p:cNvPr>
          <p:cNvSpPr/>
          <p:nvPr/>
        </p:nvSpPr>
        <p:spPr bwMode="auto">
          <a:xfrm>
            <a:off x="8992712" y="2559789"/>
            <a:ext cx="1481966" cy="8569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Function</a:t>
            </a: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Middleware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4630C6E-358F-0497-A38C-F60F7E4A1587}"/>
              </a:ext>
            </a:extLst>
          </p:cNvPr>
          <p:cNvCxnSpPr>
            <a:cxnSpLocks/>
          </p:cNvCxnSpPr>
          <p:nvPr/>
        </p:nvCxnSpPr>
        <p:spPr>
          <a:xfrm flipH="1">
            <a:off x="7131129" y="3544879"/>
            <a:ext cx="461555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CDCB3AE-0497-CFA0-C015-2145F0DCEFBC}"/>
              </a:ext>
            </a:extLst>
          </p:cNvPr>
          <p:cNvCxnSpPr>
            <a:cxnSpLocks/>
          </p:cNvCxnSpPr>
          <p:nvPr/>
        </p:nvCxnSpPr>
        <p:spPr>
          <a:xfrm flipH="1" flipV="1">
            <a:off x="8483084" y="3513228"/>
            <a:ext cx="470264" cy="47064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B7DE21A-5847-4AF7-C04F-29731B2414CE}"/>
              </a:ext>
            </a:extLst>
          </p:cNvPr>
          <p:cNvCxnSpPr>
            <a:cxnSpLocks/>
          </p:cNvCxnSpPr>
          <p:nvPr/>
        </p:nvCxnSpPr>
        <p:spPr>
          <a:xfrm flipH="1">
            <a:off x="10465485" y="2980381"/>
            <a:ext cx="461555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D4B9B3B-5317-3FED-9C0B-6CACAF4BFFAD}"/>
              </a:ext>
            </a:extLst>
          </p:cNvPr>
          <p:cNvCxnSpPr>
            <a:cxnSpLocks/>
          </p:cNvCxnSpPr>
          <p:nvPr/>
        </p:nvCxnSpPr>
        <p:spPr>
          <a:xfrm flipH="1">
            <a:off x="1929443" y="3505728"/>
            <a:ext cx="461555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2D72900-36FD-739A-F920-577609DA9278}"/>
              </a:ext>
            </a:extLst>
          </p:cNvPr>
          <p:cNvSpPr/>
          <p:nvPr/>
        </p:nvSpPr>
        <p:spPr>
          <a:xfrm>
            <a:off x="2839538" y="3361050"/>
            <a:ext cx="653143" cy="3309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B8A5C46-0B2B-C921-DA5F-0F6DCE5828F1}"/>
              </a:ext>
            </a:extLst>
          </p:cNvPr>
          <p:cNvSpPr txBox="1"/>
          <p:nvPr/>
        </p:nvSpPr>
        <p:spPr>
          <a:xfrm>
            <a:off x="2338877" y="3274895"/>
            <a:ext cx="10176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  <a:cs typeface="Segoe UI" panose="020B0502040204020203" pitchFamily="34" charset="0"/>
              </a:rPr>
              <a:t>Agent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6667103-97C4-B720-71BF-47D71DD00859}"/>
              </a:ext>
            </a:extLst>
          </p:cNvPr>
          <p:cNvCxnSpPr>
            <a:cxnSpLocks/>
          </p:cNvCxnSpPr>
          <p:nvPr/>
        </p:nvCxnSpPr>
        <p:spPr>
          <a:xfrm flipH="1">
            <a:off x="3261904" y="3526513"/>
            <a:ext cx="461555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urved Left Arrow 39">
            <a:extLst>
              <a:ext uri="{FF2B5EF4-FFF2-40B4-BE49-F238E27FC236}">
                <a16:creationId xmlns:a16="http://schemas.microsoft.com/office/drawing/2014/main" id="{5682060A-6EC9-D02D-780D-7F9DBC191A69}"/>
              </a:ext>
            </a:extLst>
          </p:cNvPr>
          <p:cNvSpPr/>
          <p:nvPr/>
        </p:nvSpPr>
        <p:spPr>
          <a:xfrm rot="5072237" flipH="1">
            <a:off x="8516949" y="-157842"/>
            <a:ext cx="613874" cy="5318999"/>
          </a:xfrm>
          <a:prstGeom prst="curvedLeftArrow">
            <a:avLst>
              <a:gd name="adj1" fmla="val 10638"/>
              <a:gd name="adj2" fmla="val 51139"/>
              <a:gd name="adj3" fmla="val 2185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3AE691B-5314-164D-6F60-BAD113BA9279}"/>
              </a:ext>
            </a:extLst>
          </p:cNvPr>
          <p:cNvCxnSpPr>
            <a:cxnSpLocks/>
          </p:cNvCxnSpPr>
          <p:nvPr/>
        </p:nvCxnSpPr>
        <p:spPr>
          <a:xfrm flipH="1">
            <a:off x="8521965" y="3029539"/>
            <a:ext cx="462037" cy="50042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34194E0-37E1-AB48-BA95-85FF76282AE9}"/>
              </a:ext>
            </a:extLst>
          </p:cNvPr>
          <p:cNvSpPr txBox="1"/>
          <p:nvPr/>
        </p:nvSpPr>
        <p:spPr>
          <a:xfrm>
            <a:off x="8915762" y="3792858"/>
            <a:ext cx="1619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Aptos" panose="020B0004020202020204" pitchFamily="34" charset="0"/>
                <a:cs typeface="Segoe UI" panose="020B0502040204020203" pitchFamily="34" charset="0"/>
              </a:rPr>
              <a:t>Response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3B4D450-6EB2-D7CD-80E2-694DAFCF710C}"/>
              </a:ext>
            </a:extLst>
          </p:cNvPr>
          <p:cNvSpPr txBox="1"/>
          <p:nvPr/>
        </p:nvSpPr>
        <p:spPr>
          <a:xfrm rot="18597355">
            <a:off x="8373011" y="2947207"/>
            <a:ext cx="7768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Aptos" panose="020B0004020202020204" pitchFamily="34" charset="0"/>
                <a:cs typeface="Segoe UI" panose="020B0502040204020203" pitchFamily="34" charset="0"/>
              </a:rPr>
              <a:t>tools</a:t>
            </a:r>
            <a:r>
              <a:rPr lang="en-US" sz="1400">
                <a:latin typeface="Aptos" panose="020B0004020202020204" pitchFamily="34" charset="0"/>
                <a:cs typeface="Segoe UI" panose="020B0502040204020203" pitchFamily="34" charset="0"/>
              </a:rPr>
              <a:t>?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A3F1F4B-A12E-BB22-B1A6-93FEC21848BA}"/>
              </a:ext>
            </a:extLst>
          </p:cNvPr>
          <p:cNvSpPr/>
          <p:nvPr/>
        </p:nvSpPr>
        <p:spPr bwMode="auto">
          <a:xfrm>
            <a:off x="3261904" y="4360229"/>
            <a:ext cx="2203414" cy="23570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u="sng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AgentContext</a:t>
            </a: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:</a:t>
            </a:r>
          </a:p>
          <a:p>
            <a:pPr marL="102870" indent="-10287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messages</a:t>
            </a:r>
          </a:p>
          <a:p>
            <a:pPr marL="102870" indent="-10287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is_streaming</a:t>
            </a:r>
          </a:p>
          <a:p>
            <a:pPr marL="102870" indent="-10287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metadata</a:t>
            </a:r>
          </a:p>
          <a:p>
            <a:pPr marL="102870" indent="-10287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agent</a:t>
            </a:r>
          </a:p>
          <a:p>
            <a:pPr marL="102870" indent="-10287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result: </a:t>
            </a:r>
            <a:r>
              <a:rPr lang="en-US" sz="1400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mutate this to change agent response</a:t>
            </a:r>
          </a:p>
          <a:p>
            <a:pPr marL="102870" indent="-10287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terminate</a:t>
            </a:r>
            <a:r>
              <a:rPr lang="en-US" sz="1400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: set this flag to stop processing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6503715-6339-36C4-D63B-49F22EAE3C5A}"/>
              </a:ext>
            </a:extLst>
          </p:cNvPr>
          <p:cNvSpPr/>
          <p:nvPr/>
        </p:nvSpPr>
        <p:spPr bwMode="auto">
          <a:xfrm>
            <a:off x="5539195" y="4360228"/>
            <a:ext cx="2203414" cy="23570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u="sng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ChatContext</a:t>
            </a: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:</a:t>
            </a:r>
          </a:p>
          <a:p>
            <a:pPr marL="102870" indent="-10287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messages</a:t>
            </a:r>
          </a:p>
          <a:p>
            <a:pPr marL="102870" indent="-10287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is_streaming</a:t>
            </a:r>
          </a:p>
          <a:p>
            <a:pPr marL="102870" indent="-10287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metadata</a:t>
            </a:r>
          </a:p>
          <a:p>
            <a:pPr marL="102870" indent="-10287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chat_client</a:t>
            </a:r>
          </a:p>
          <a:p>
            <a:pPr marL="102870" indent="-10287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chat_options</a:t>
            </a:r>
          </a:p>
          <a:p>
            <a:pPr marL="102870" indent="-10287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result: </a:t>
            </a:r>
            <a:r>
              <a:rPr lang="en-US" sz="1400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mutate this to change chat response</a:t>
            </a:r>
          </a:p>
          <a:p>
            <a:pPr marL="102870" indent="-10287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terminate</a:t>
            </a:r>
            <a:r>
              <a:rPr lang="en-US" sz="1400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: set this flag to stop processing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B8FAF8F-BA6C-7B82-CECB-FAB3EE3CD936}"/>
              </a:ext>
            </a:extLst>
          </p:cNvPr>
          <p:cNvSpPr/>
          <p:nvPr/>
        </p:nvSpPr>
        <p:spPr bwMode="auto">
          <a:xfrm>
            <a:off x="8718216" y="4807456"/>
            <a:ext cx="2767709" cy="19098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u="sng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FunctionInvocationContext:</a:t>
            </a:r>
          </a:p>
          <a:p>
            <a:pPr marL="102870" indent="-10287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metadata</a:t>
            </a:r>
          </a:p>
          <a:p>
            <a:pPr marL="102870" indent="-10287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function</a:t>
            </a:r>
          </a:p>
          <a:p>
            <a:pPr marL="102870" indent="-10287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arguments</a:t>
            </a:r>
          </a:p>
          <a:p>
            <a:pPr marL="102870" indent="-10287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result: </a:t>
            </a:r>
            <a:r>
              <a:rPr lang="en-US" sz="1400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mutate this to change the return value</a:t>
            </a:r>
          </a:p>
          <a:p>
            <a:pPr marL="102870" indent="-10287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terminate</a:t>
            </a:r>
            <a:r>
              <a:rPr lang="en-US" sz="1400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: set this flag to stop processing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A99610B-2251-2094-3E0E-3039C8C63110}"/>
              </a:ext>
            </a:extLst>
          </p:cNvPr>
          <p:cNvSpPr txBox="1"/>
          <p:nvPr/>
        </p:nvSpPr>
        <p:spPr>
          <a:xfrm>
            <a:off x="1210536" y="4523335"/>
            <a:ext cx="201443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err="1"/>
              <a:t>Each middleware receives a context: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AAB31C7-F2ED-0AF1-1120-120D78724278}"/>
              </a:ext>
            </a:extLst>
          </p:cNvPr>
          <p:cNvSpPr txBox="1"/>
          <p:nvPr/>
        </p:nvSpPr>
        <p:spPr>
          <a:xfrm>
            <a:off x="1153004" y="1669100"/>
            <a:ext cx="948886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err="1"/>
              <a:t>Middleware can be called at different stages in the process of running an agent: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C1F59F-60BB-6B2B-B66A-58AE225D2E92}"/>
              </a:ext>
            </a:extLst>
          </p:cNvPr>
          <p:cNvSpPr txBox="1"/>
          <p:nvPr/>
        </p:nvSpPr>
        <p:spPr>
          <a:xfrm>
            <a:off x="2442919" y="2847284"/>
            <a:ext cx="8043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0" i="0">
                <a:solidFill>
                  <a:srgbClr val="616161"/>
                </a:solidFill>
                <a:effectLst/>
                <a:latin typeface="-apple-system"/>
              </a:rPr>
              <a:t>🤖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31379143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163B0-3CE9-9953-FDBF-80A8AD863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637A3-12F5-A5BA-FEDB-0A8E88930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Agent Middleware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A51552-50FA-6607-EEBB-43D131B77CE3}"/>
              </a:ext>
            </a:extLst>
          </p:cNvPr>
          <p:cNvSpPr txBox="1"/>
          <p:nvPr/>
        </p:nvSpPr>
        <p:spPr>
          <a:xfrm>
            <a:off x="1132793" y="6337282"/>
            <a:ext cx="467833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err="1"/>
              <a:t>Full example: </a:t>
            </a:r>
            <a:r>
              <a:rPr lang="en-US" sz="2400" err="1">
                <a:hlinkClick r:id="rId2"/>
              </a:rPr>
              <a:t>agent_middleware.py</a:t>
            </a:r>
            <a:endParaRPr lang="en-US" sz="2400" err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713BDB-926E-2663-46A2-2E95AF4EF3F1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2E86D4-622E-8BB7-D394-5D6B63BB484A}"/>
              </a:ext>
            </a:extLst>
          </p:cNvPr>
          <p:cNvSpPr txBox="1"/>
          <p:nvPr/>
        </p:nvSpPr>
        <p:spPr>
          <a:xfrm>
            <a:off x="1159976" y="1700674"/>
            <a:ext cx="1091398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400" err="1"/>
              <a:t>A middleware should process, </a:t>
            </a: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call_</a:t>
            </a:r>
            <a:r>
              <a:rPr lang="en-US" sz="2200" err="1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next()</a:t>
            </a:r>
            <a:r>
              <a:rPr lang="en-US" sz="2400" err="1"/>
              <a:t>, then optionally post-process: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7A7969-D90E-9CE3-2C19-9522B3AC68A9}"/>
              </a:ext>
            </a:extLst>
          </p:cNvPr>
          <p:cNvSpPr txBox="1"/>
          <p:nvPr/>
        </p:nvSpPr>
        <p:spPr>
          <a:xfrm>
            <a:off x="1132793" y="2214341"/>
            <a:ext cx="10692861" cy="4061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async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timing_agent_middleware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context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AgentContext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call_next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Callable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[[],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Awaitable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]],</a:t>
            </a:r>
          </a:p>
          <a:p>
            <a:pPr>
              <a:lnSpc>
                <a:spcPct val="120000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-&gt;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120000"/>
              </a:lnSpc>
              <a:buNone/>
            </a:pP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start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time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perf_counter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logger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info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"[⏲️ Timing Agent Middleware] Starting agent execution"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20000"/>
              </a:lnSpc>
              <a:buNone/>
            </a:pP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await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call_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elapsed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time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perf_counter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-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start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logger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info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"[⏲️ Timing Agent Middleware] Execution took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elapsed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:.2f}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25626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D6226-34A7-76F3-FCCB-343581713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39C64-E1F0-245F-44B8-E96901E21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Chat Middleware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BB73C9-FE6F-6AB7-6D4B-3FAF3D0F3060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51F5B8-049F-9216-68E5-F52A3F2865E1}"/>
              </a:ext>
            </a:extLst>
          </p:cNvPr>
          <p:cNvSpPr txBox="1"/>
          <p:nvPr/>
        </p:nvSpPr>
        <p:spPr>
          <a:xfrm>
            <a:off x="1159976" y="1700674"/>
            <a:ext cx="1091398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400" err="1"/>
              <a:t>A middleware can access the </a:t>
            </a:r>
            <a:r>
              <a:rPr lang="en-US" sz="2200" err="1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context</a:t>
            </a:r>
            <a:r>
              <a:rPr lang="en-US" sz="240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2400" err="1"/>
              <a:t>for more details: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DBD060-69DC-C0F8-E7E5-0260C89EA18D}"/>
              </a:ext>
            </a:extLst>
          </p:cNvPr>
          <p:cNvSpPr txBox="1"/>
          <p:nvPr/>
        </p:nvSpPr>
        <p:spPr>
          <a:xfrm>
            <a:off x="1132793" y="2265104"/>
            <a:ext cx="10913982" cy="3389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async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logging_chat_middleware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context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ChatContext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call_next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Callable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[[],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Awaitable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]],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) -&gt;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120000"/>
              </a:lnSpc>
              <a:buNone/>
            </a:pP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logger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info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"Sending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messages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messages to AI"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await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call_next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logger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info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"AI response received"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83CABE-C397-365D-7AC3-042EFA5DF6D5}"/>
              </a:ext>
            </a:extLst>
          </p:cNvPr>
          <p:cNvSpPr txBox="1"/>
          <p:nvPr/>
        </p:nvSpPr>
        <p:spPr>
          <a:xfrm>
            <a:off x="1132793" y="6213402"/>
            <a:ext cx="467833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err="1"/>
              <a:t>Full example: </a:t>
            </a:r>
            <a:r>
              <a:rPr lang="en-US" sz="2400" err="1">
                <a:hlinkClick r:id="rId2"/>
              </a:rPr>
              <a:t>agent_middleware.py</a:t>
            </a:r>
            <a:endParaRPr lang="en-US" sz="2400" err="1"/>
          </a:p>
        </p:txBody>
      </p:sp>
    </p:spTree>
    <p:extLst>
      <p:ext uri="{BB962C8B-B14F-4D97-AF65-F5344CB8AC3E}">
        <p14:creationId xmlns:p14="http://schemas.microsoft.com/office/powerpoint/2010/main" val="27417052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D5267-B456-39B3-D2B8-92C37381E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493BE-D01F-CB29-0BF2-FB97BD0E4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 Middleware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7A0DE2-02F9-9E92-316A-562149FAA184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B74D0B-7098-3E1B-61FE-72CF68DE4B9B}"/>
              </a:ext>
            </a:extLst>
          </p:cNvPr>
          <p:cNvSpPr txBox="1"/>
          <p:nvPr/>
        </p:nvSpPr>
        <p:spPr>
          <a:xfrm>
            <a:off x="1159976" y="1700674"/>
            <a:ext cx="1091398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400" err="1"/>
              <a:t>The </a:t>
            </a:r>
            <a:r>
              <a:rPr lang="en-US" sz="2200" err="1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context</a:t>
            </a:r>
            <a:r>
              <a:rPr lang="en-US" sz="240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2400" err="1"/>
              <a:t>may change after </a:t>
            </a:r>
            <a:r>
              <a:rPr lang="en-US" sz="2200" err="1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next(context) </a:t>
            </a:r>
            <a:r>
              <a:rPr lang="en-US" sz="2400" err="1"/>
              <a:t>is called: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447FF8-7129-B265-465A-43ADB1E57E89}"/>
              </a:ext>
            </a:extLst>
          </p:cNvPr>
          <p:cNvSpPr txBox="1"/>
          <p:nvPr/>
        </p:nvSpPr>
        <p:spPr>
          <a:xfrm>
            <a:off x="1132793" y="2203722"/>
            <a:ext cx="10530290" cy="33925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async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logging_function_middleware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context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FunctionInvocationContext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call_next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Callable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[[],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Awaitable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]]</a:t>
            </a:r>
          </a:p>
          <a:p>
            <a:pPr>
              <a:lnSpc>
                <a:spcPct val="120000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-&gt;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120000"/>
              </a:lnSpc>
              <a:buNone/>
            </a:pP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logger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info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"Calling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with: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arguments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await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call_next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ct val="120000"/>
              </a:lnSpc>
              <a:buNone/>
            </a:pPr>
            <a:endParaRPr lang="en-US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logger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info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"Function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returned: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3CC056-D782-402D-2CD9-6BEDF6F793A9}"/>
              </a:ext>
            </a:extLst>
          </p:cNvPr>
          <p:cNvSpPr txBox="1"/>
          <p:nvPr/>
        </p:nvSpPr>
        <p:spPr>
          <a:xfrm>
            <a:off x="1132793" y="6213402"/>
            <a:ext cx="467833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err="1"/>
              <a:t>Full example: </a:t>
            </a:r>
            <a:r>
              <a:rPr lang="en-US" sz="2400" err="1">
                <a:hlinkClick r:id="rId2"/>
              </a:rPr>
              <a:t>agent_middleware.py</a:t>
            </a:r>
            <a:endParaRPr lang="en-US" sz="2400" err="1"/>
          </a:p>
        </p:txBody>
      </p:sp>
    </p:spTree>
    <p:extLst>
      <p:ext uri="{BB962C8B-B14F-4D97-AF65-F5344CB8AC3E}">
        <p14:creationId xmlns:p14="http://schemas.microsoft.com/office/powerpoint/2010/main" val="17250872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635A0-EA95-38FE-59AD-2E2F72119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DC1C2-94F1-6491-2889-CD30FDD42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Class-based middleware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3A3484-1C82-5592-B748-FB49708FA6B0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654E67-8F19-BE8F-781F-12D3B4F1A6EA}"/>
              </a:ext>
            </a:extLst>
          </p:cNvPr>
          <p:cNvSpPr txBox="1"/>
          <p:nvPr/>
        </p:nvSpPr>
        <p:spPr>
          <a:xfrm>
            <a:off x="1159976" y="1700674"/>
            <a:ext cx="1091398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400" err="1"/>
              <a:t>A middleware can be defined as a subclass with a </a:t>
            </a:r>
            <a:r>
              <a:rPr lang="en-US" sz="2200" err="1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process() </a:t>
            </a:r>
            <a:r>
              <a:rPr lang="en-US" sz="2400" err="1"/>
              <a:t>method: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E2559E-A25A-C832-FA2F-B96B54C78A14}"/>
              </a:ext>
            </a:extLst>
          </p:cNvPr>
          <p:cNvSpPr txBox="1"/>
          <p:nvPr/>
        </p:nvSpPr>
        <p:spPr>
          <a:xfrm>
            <a:off x="1076599" y="2250251"/>
            <a:ext cx="10997359" cy="40541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MessageCountChatMiddleware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ChatMiddleware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def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__init__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-&gt;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self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total_messages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async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process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20000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ChatContext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20000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call_next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Callable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[[],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Awaitable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]]) -&gt;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self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total_messages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+=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messages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logger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info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"Messages in this request: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messages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total so far: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total_messages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await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call_next()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5F361D-0322-29D8-6BE4-5D96331E3912}"/>
              </a:ext>
            </a:extLst>
          </p:cNvPr>
          <p:cNvSpPr txBox="1"/>
          <p:nvPr/>
        </p:nvSpPr>
        <p:spPr>
          <a:xfrm>
            <a:off x="1132793" y="6399742"/>
            <a:ext cx="467833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err="1"/>
              <a:t>Full example: </a:t>
            </a:r>
            <a:r>
              <a:rPr lang="en-US" sz="2400" err="1">
                <a:hlinkClick r:id="rId2"/>
              </a:rPr>
              <a:t>agent_middleware.py</a:t>
            </a:r>
            <a:endParaRPr lang="en-US" sz="2400" err="1"/>
          </a:p>
        </p:txBody>
      </p:sp>
    </p:spTree>
    <p:extLst>
      <p:ext uri="{BB962C8B-B14F-4D97-AF65-F5344CB8AC3E}">
        <p14:creationId xmlns:p14="http://schemas.microsoft.com/office/powerpoint/2010/main" val="25012566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FA368-1E5D-DF23-95B1-4FF5E761A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1A478-656C-FFDC-6854-80931C6E3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Middleware with termination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DC19E7-93FA-AE62-858F-162DE732B513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8AF1F7-9510-BF71-E767-D939E5058339}"/>
              </a:ext>
            </a:extLst>
          </p:cNvPr>
          <p:cNvSpPr txBox="1"/>
          <p:nvPr/>
        </p:nvSpPr>
        <p:spPr>
          <a:xfrm>
            <a:off x="1159976" y="1700674"/>
            <a:ext cx="1091398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400" err="1"/>
              <a:t>A middleware can set </a:t>
            </a:r>
            <a:r>
              <a:rPr lang="en-US" sz="2200" err="1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terminate() </a:t>
            </a:r>
            <a:r>
              <a:rPr lang="en-US" sz="2400" err="1"/>
              <a:t>to stop execution of current agent run: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1038AC-42FA-D7EE-EB90-8233F70E63F0}"/>
              </a:ext>
            </a:extLst>
          </p:cNvPr>
          <p:cNvSpPr txBox="1"/>
          <p:nvPr/>
        </p:nvSpPr>
        <p:spPr>
          <a:xfrm>
            <a:off x="1125254" y="2159279"/>
            <a:ext cx="10511245" cy="40541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BlockingAgentMiddleware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AgentMiddleware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async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process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AgentContext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20000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call_next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Callable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[[],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Awaitable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]]) -&gt;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last_message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messages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[-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messages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for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word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blocked_words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if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word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lower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last_message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lower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():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context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terminate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context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AgentResponse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ct val="120000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messages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role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"assistant"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20000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"I can't process requests about '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word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'."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)])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return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call_next()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A7A7DF-CFC0-19AE-924D-305FAFAE1992}"/>
              </a:ext>
            </a:extLst>
          </p:cNvPr>
          <p:cNvSpPr txBox="1"/>
          <p:nvPr/>
        </p:nvSpPr>
        <p:spPr>
          <a:xfrm>
            <a:off x="1110523" y="6302675"/>
            <a:ext cx="467833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err="1"/>
              <a:t>Full example: </a:t>
            </a:r>
            <a:r>
              <a:rPr lang="en-US" sz="2400" err="1">
                <a:hlinkClick r:id="rId2"/>
              </a:rPr>
              <a:t>agent_middleware.py</a:t>
            </a:r>
            <a:endParaRPr lang="en-US" sz="2400" err="1"/>
          </a:p>
        </p:txBody>
      </p:sp>
    </p:spTree>
    <p:extLst>
      <p:ext uri="{BB962C8B-B14F-4D97-AF65-F5344CB8AC3E}">
        <p14:creationId xmlns:p14="http://schemas.microsoft.com/office/powerpoint/2010/main" val="39055333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27FE4-F937-D5C7-3F27-7E853644C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372CA-C980-0A14-C978-67849922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Registering middleware per agent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3C2D33-15C5-48A8-D539-FCF80F8C9003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73A7FD-BA05-A5D8-9A8C-0FCB0ABCB518}"/>
              </a:ext>
            </a:extLst>
          </p:cNvPr>
          <p:cNvSpPr txBox="1"/>
          <p:nvPr/>
        </p:nvSpPr>
        <p:spPr>
          <a:xfrm>
            <a:off x="1159976" y="1700674"/>
            <a:ext cx="1091398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400" err="1"/>
              <a:t>Register middleware functions and class instances on the </a:t>
            </a:r>
            <a:r>
              <a:rPr lang="en-US" sz="2200" err="1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ChatAgent</a:t>
            </a:r>
            <a:r>
              <a:rPr lang="en-US" sz="2400" err="1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A54A38-0359-019F-913E-45932C5B4656}"/>
              </a:ext>
            </a:extLst>
          </p:cNvPr>
          <p:cNvSpPr txBox="1"/>
          <p:nvPr/>
        </p:nvSpPr>
        <p:spPr>
          <a:xfrm>
            <a:off x="1132793" y="2279887"/>
            <a:ext cx="10658613" cy="40541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blocking_middleware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BlockingAgentMiddleware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blocked_words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"nuclear"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</a:p>
          <a:p>
            <a:pPr>
              <a:lnSpc>
                <a:spcPct val="120000"/>
              </a:lnSpc>
              <a:buNone/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timing_function_middleware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TimingFunctionMiddleware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ct val="120000"/>
              </a:lnSpc>
              <a:buNone/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message_count_middleware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MessageCountChatMiddleware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ct val="120000"/>
              </a:lnSpc>
              <a:buNone/>
            </a:pPr>
            <a:endParaRPr lang="en-US" b="0">
              <a:solidFill>
                <a:srgbClr val="00108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client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instructions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"Help users plan weekends."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tools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get_weather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get_current_date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],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middleware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</a:p>
          <a:p>
            <a:pPr>
              <a:lnSpc>
                <a:spcPct val="120000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timing_agent_middleware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blocking_middleware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20000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logging_function_middleware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timing_function_middleware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20000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logging_chat_middleware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message_count_middleware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3F4C6B-183F-149B-16C8-E07BBBA5912F}"/>
              </a:ext>
            </a:extLst>
          </p:cNvPr>
          <p:cNvSpPr txBox="1"/>
          <p:nvPr/>
        </p:nvSpPr>
        <p:spPr>
          <a:xfrm>
            <a:off x="1132793" y="6399742"/>
            <a:ext cx="467833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err="1"/>
              <a:t>Full example: </a:t>
            </a:r>
            <a:r>
              <a:rPr lang="en-US" sz="2400" err="1">
                <a:hlinkClick r:id="rId2"/>
              </a:rPr>
              <a:t>agent_middleware.py</a:t>
            </a:r>
            <a:endParaRPr lang="en-US" sz="2400" err="1"/>
          </a:p>
        </p:txBody>
      </p:sp>
    </p:spTree>
    <p:extLst>
      <p:ext uri="{BB962C8B-B14F-4D97-AF65-F5344CB8AC3E}">
        <p14:creationId xmlns:p14="http://schemas.microsoft.com/office/powerpoint/2010/main" val="3553396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E4FB5-B2C3-C6D8-904C-C9E0591BB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E5D3B-4FC2-FFE7-6197-114A6B378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Registering middleware per run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CF2092-6738-105A-86B9-82A4F600184C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A01562-C813-F476-91F7-1ACAE8393028}"/>
              </a:ext>
            </a:extLst>
          </p:cNvPr>
          <p:cNvSpPr txBox="1"/>
          <p:nvPr/>
        </p:nvSpPr>
        <p:spPr>
          <a:xfrm>
            <a:off x="1159976" y="1700674"/>
            <a:ext cx="1091398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400" err="1"/>
              <a:t>You can also register middleware for a particular run of an agent: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C26913-71AE-8898-6D88-9683F4FA4E58}"/>
              </a:ext>
            </a:extLst>
          </p:cNvPr>
          <p:cNvSpPr txBox="1"/>
          <p:nvPr/>
        </p:nvSpPr>
        <p:spPr>
          <a:xfrm>
            <a:off x="1132794" y="2265406"/>
            <a:ext cx="10197058" cy="33925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async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extra_agent_middleware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context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AgentContext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call_next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Callable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[[],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Awaitable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]]) -&gt;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120000"/>
              </a:lnSpc>
              <a:buNone/>
            </a:pP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logger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info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"This middleware only applies to this run"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await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call_next()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logger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info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"Run completed"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"What's the weather like in Portland?"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2000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middleware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extra_agent_middleware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639AB2-B3FB-3C38-9B1C-68A2301219E3}"/>
              </a:ext>
            </a:extLst>
          </p:cNvPr>
          <p:cNvSpPr txBox="1"/>
          <p:nvPr/>
        </p:nvSpPr>
        <p:spPr>
          <a:xfrm>
            <a:off x="1132793" y="6213402"/>
            <a:ext cx="467833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err="1"/>
              <a:t>Full example: </a:t>
            </a:r>
            <a:r>
              <a:rPr lang="en-US" sz="2400" err="1">
                <a:hlinkClick r:id="rId2"/>
              </a:rPr>
              <a:t>agent_middleware.py</a:t>
            </a:r>
            <a:endParaRPr lang="en-US" sz="2400" err="1"/>
          </a:p>
        </p:txBody>
      </p:sp>
    </p:spTree>
    <p:extLst>
      <p:ext uri="{BB962C8B-B14F-4D97-AF65-F5344CB8AC3E}">
        <p14:creationId xmlns:p14="http://schemas.microsoft.com/office/powerpoint/2010/main" val="14240399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E0DAA-DCE4-B7B0-CF51-859D1165A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BC633-794E-C1C6-EE93-84BD13E3B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Middleware scenarios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C7E04E-D065-2A61-5534-B986590D9F19}"/>
              </a:ext>
            </a:extLst>
          </p:cNvPr>
          <p:cNvSpPr txBox="1"/>
          <p:nvPr/>
        </p:nvSpPr>
        <p:spPr>
          <a:xfrm>
            <a:off x="5172891" y="1875427"/>
            <a:ext cx="3248298" cy="2800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b="1">
                <a:solidFill>
                  <a:schemeClr val="bg1"/>
                </a:solidFill>
              </a:rPr>
              <a:t>Chat Middleware: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Token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Latency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Budget enforcement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PII redaction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Response moderation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Model fallback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Model call limits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FB4326-6D0D-B819-C1DA-E18AB78D9BB4}"/>
              </a:ext>
            </a:extLst>
          </p:cNvPr>
          <p:cNvSpPr txBox="1"/>
          <p:nvPr/>
        </p:nvSpPr>
        <p:spPr>
          <a:xfrm>
            <a:off x="1132793" y="1875427"/>
            <a:ext cx="3778841" cy="2800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b="1">
                <a:solidFill>
                  <a:schemeClr val="bg1"/>
                </a:solidFill>
              </a:rPr>
              <a:t>Agent Middleware: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Logging &amp; timing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Content filtering / blocking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Authorization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Result caching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Result override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Thread summarization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Dynamic system prompts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4D86DA-365E-AB57-07F9-C58039734B61}"/>
              </a:ext>
            </a:extLst>
          </p:cNvPr>
          <p:cNvSpPr txBox="1"/>
          <p:nvPr/>
        </p:nvSpPr>
        <p:spPr>
          <a:xfrm>
            <a:off x="8630194" y="1875427"/>
            <a:ext cx="3161212" cy="2800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b="1">
                <a:solidFill>
                  <a:schemeClr val="bg1"/>
                </a:solidFill>
              </a:rPr>
              <a:t>Function Middleware: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Audit logging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Permission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Input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Caching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HITL approval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Tool call limits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Tool retry with backoff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A4A20F-6D61-F702-0B2E-36A3BFB6D15B}"/>
              </a:ext>
            </a:extLst>
          </p:cNvPr>
          <p:cNvSpPr txBox="1"/>
          <p:nvPr/>
        </p:nvSpPr>
        <p:spPr>
          <a:xfrm>
            <a:off x="1132793" y="4889514"/>
            <a:ext cx="10913982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400" err="1"/>
              <a:t>Once you build a middleware for one agent, you can reuse across other agents.</a:t>
            </a:r>
          </a:p>
          <a:p>
            <a:pPr algn="l"/>
            <a:r>
              <a:rPr lang="en-US" sz="2400" err="1"/>
              <a:t>You might create a central package of middleware for many agents to use.</a:t>
            </a:r>
          </a:p>
        </p:txBody>
      </p:sp>
    </p:spTree>
    <p:extLst>
      <p:ext uri="{BB962C8B-B14F-4D97-AF65-F5344CB8AC3E}">
        <p14:creationId xmlns:p14="http://schemas.microsoft.com/office/powerpoint/2010/main" val="13657892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68CE9-BCF2-B9FC-AD84-EF55E02BF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4D9DD-1908-1DF6-FD9D-F5437DC3E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Multi-agent architectures</a:t>
            </a:r>
          </a:p>
        </p:txBody>
      </p:sp>
    </p:spTree>
    <p:extLst>
      <p:ext uri="{BB962C8B-B14F-4D97-AF65-F5344CB8AC3E}">
        <p14:creationId xmlns:p14="http://schemas.microsoft.com/office/powerpoint/2010/main" val="31596067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D7FA3-E063-2FAF-7095-B4E3EDA95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52CF8-5420-F2BE-A62E-5544A3F1E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15" y="458258"/>
            <a:ext cx="11916571" cy="1325563"/>
          </a:xfrm>
        </p:spPr>
        <p:txBody>
          <a:bodyPr/>
          <a:lstStyle/>
          <a:p>
            <a:r>
              <a:rPr lang="en-US"/>
              <a:t>Supervisor agent with sub-agents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2EF4788-ECF4-A5FE-6BAD-9673ECAC4440}"/>
              </a:ext>
            </a:extLst>
          </p:cNvPr>
          <p:cNvCxnSpPr>
            <a:cxnSpLocks/>
          </p:cNvCxnSpPr>
          <p:nvPr/>
        </p:nvCxnSpPr>
        <p:spPr>
          <a:xfrm flipH="1">
            <a:off x="1687833" y="3774617"/>
            <a:ext cx="1157273" cy="96415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203D405-4938-5C0D-0343-B4B650069B3E}"/>
              </a:ext>
            </a:extLst>
          </p:cNvPr>
          <p:cNvSpPr txBox="1"/>
          <p:nvPr/>
        </p:nvSpPr>
        <p:spPr>
          <a:xfrm>
            <a:off x="1194372" y="1560583"/>
            <a:ext cx="10170314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400" err="1"/>
              <a:t>The </a:t>
            </a:r>
            <a:r>
              <a:rPr lang="en-US" sz="2400" b="1" err="1"/>
              <a:t>supervisor</a:t>
            </a:r>
            <a:r>
              <a:rPr lang="en-US" sz="2400" err="1"/>
              <a:t> agent decides which </a:t>
            </a:r>
            <a:r>
              <a:rPr lang="en-US" sz="2400" b="1" err="1"/>
              <a:t>specialist</a:t>
            </a:r>
            <a:r>
              <a:rPr lang="en-US" sz="2400" err="1"/>
              <a:t> agents should handle a task.</a:t>
            </a:r>
          </a:p>
          <a:p>
            <a:pPr algn="l"/>
            <a:r>
              <a:rPr lang="en-US" sz="2400" err="1"/>
              <a:t>Each agent may still have associated tools to call.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939238-0639-6228-1AF9-72203A4924E5}"/>
              </a:ext>
            </a:extLst>
          </p:cNvPr>
          <p:cNvSpPr/>
          <p:nvPr/>
        </p:nvSpPr>
        <p:spPr bwMode="auto">
          <a:xfrm>
            <a:off x="1715407" y="3085560"/>
            <a:ext cx="2634933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Supervisor Agent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D75992-1586-6E88-A1E4-0FF7D6EADE80}"/>
              </a:ext>
            </a:extLst>
          </p:cNvPr>
          <p:cNvSpPr txBox="1"/>
          <p:nvPr/>
        </p:nvSpPr>
        <p:spPr>
          <a:xfrm>
            <a:off x="1715406" y="2669036"/>
            <a:ext cx="263493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err="1"/>
              <a:t>General architecture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38E3720-4A84-02AD-B1F3-3512280C774C}"/>
              </a:ext>
            </a:extLst>
          </p:cNvPr>
          <p:cNvCxnSpPr>
            <a:cxnSpLocks/>
            <a:stCxn id="22" idx="2"/>
            <a:endCxn id="5" idx="0"/>
          </p:cNvCxnSpPr>
          <p:nvPr/>
        </p:nvCxnSpPr>
        <p:spPr>
          <a:xfrm flipH="1">
            <a:off x="1887089" y="3771989"/>
            <a:ext cx="1145785" cy="99473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5DD67BF-5485-E3CA-EA62-EE5435F2CE68}"/>
              </a:ext>
            </a:extLst>
          </p:cNvPr>
          <p:cNvCxnSpPr>
            <a:cxnSpLocks/>
          </p:cNvCxnSpPr>
          <p:nvPr/>
        </p:nvCxnSpPr>
        <p:spPr>
          <a:xfrm>
            <a:off x="3190475" y="3793385"/>
            <a:ext cx="988027" cy="102927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FB3B124-814B-D955-463A-2A280652CF6E}"/>
              </a:ext>
            </a:extLst>
          </p:cNvPr>
          <p:cNvCxnSpPr>
            <a:cxnSpLocks/>
          </p:cNvCxnSpPr>
          <p:nvPr/>
        </p:nvCxnSpPr>
        <p:spPr>
          <a:xfrm>
            <a:off x="3354617" y="3785315"/>
            <a:ext cx="1068485" cy="101343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C7E022AF-EBF7-91CD-4E4E-589F624F6FA8}"/>
              </a:ext>
            </a:extLst>
          </p:cNvPr>
          <p:cNvSpPr/>
          <p:nvPr/>
        </p:nvSpPr>
        <p:spPr bwMode="auto">
          <a:xfrm>
            <a:off x="1177340" y="4766727"/>
            <a:ext cx="1419497" cy="686429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Agent 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0AA889-4D98-4DE9-08AC-F0FCDF3F8F27}"/>
              </a:ext>
            </a:extLst>
          </p:cNvPr>
          <p:cNvSpPr/>
          <p:nvPr/>
        </p:nvSpPr>
        <p:spPr bwMode="auto">
          <a:xfrm>
            <a:off x="3640591" y="4790681"/>
            <a:ext cx="1419497" cy="686429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Agent 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688152-8BCC-FA8C-0315-73F8CFA4AB1C}"/>
              </a:ext>
            </a:extLst>
          </p:cNvPr>
          <p:cNvSpPr txBox="1"/>
          <p:nvPr/>
        </p:nvSpPr>
        <p:spPr>
          <a:xfrm>
            <a:off x="1137935" y="416254"/>
            <a:ext cx="6518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Agent architecture: 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A168C81-0ADC-112F-08E6-32E88054A0B7}"/>
              </a:ext>
            </a:extLst>
          </p:cNvPr>
          <p:cNvCxnSpPr>
            <a:cxnSpLocks/>
          </p:cNvCxnSpPr>
          <p:nvPr/>
        </p:nvCxnSpPr>
        <p:spPr>
          <a:xfrm flipH="1">
            <a:off x="7457186" y="3785713"/>
            <a:ext cx="1157273" cy="96415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270A5B6E-3639-4F0A-EEB9-798099511858}"/>
              </a:ext>
            </a:extLst>
          </p:cNvPr>
          <p:cNvSpPr/>
          <p:nvPr/>
        </p:nvSpPr>
        <p:spPr bwMode="auto">
          <a:xfrm>
            <a:off x="7484760" y="3096656"/>
            <a:ext cx="2634933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Supervisor Agent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5DFAECC-57A4-79C7-7220-B34B025E292F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7656887" y="3783085"/>
            <a:ext cx="1145340" cy="96415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BF9AD29-90B0-0AAD-399E-7711FFE9D581}"/>
              </a:ext>
            </a:extLst>
          </p:cNvPr>
          <p:cNvCxnSpPr>
            <a:cxnSpLocks/>
          </p:cNvCxnSpPr>
          <p:nvPr/>
        </p:nvCxnSpPr>
        <p:spPr>
          <a:xfrm>
            <a:off x="8959828" y="3804481"/>
            <a:ext cx="988027" cy="102927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2A970B9-EB73-F62D-0986-4A5B0C4F98D9}"/>
              </a:ext>
            </a:extLst>
          </p:cNvPr>
          <p:cNvCxnSpPr>
            <a:cxnSpLocks/>
          </p:cNvCxnSpPr>
          <p:nvPr/>
        </p:nvCxnSpPr>
        <p:spPr>
          <a:xfrm>
            <a:off x="9123970" y="3796411"/>
            <a:ext cx="1068485" cy="101343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DA90C2D-FB6A-781B-3456-5F199C680721}"/>
              </a:ext>
            </a:extLst>
          </p:cNvPr>
          <p:cNvSpPr/>
          <p:nvPr/>
        </p:nvSpPr>
        <p:spPr bwMode="auto">
          <a:xfrm>
            <a:off x="6391564" y="4777823"/>
            <a:ext cx="2323663" cy="868137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Weekend Planning Agent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54EFDE-DC9A-5DF0-91DC-DBDB91571B32}"/>
              </a:ext>
            </a:extLst>
          </p:cNvPr>
          <p:cNvSpPr/>
          <p:nvPr/>
        </p:nvSpPr>
        <p:spPr bwMode="auto">
          <a:xfrm>
            <a:off x="9409944" y="4801777"/>
            <a:ext cx="2117038" cy="868137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Meal </a:t>
            </a: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Planning Agent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D597857-B779-6AD0-30DA-1B09A8761E21}"/>
              </a:ext>
            </a:extLst>
          </p:cNvPr>
          <p:cNvSpPr/>
          <p:nvPr/>
        </p:nvSpPr>
        <p:spPr bwMode="auto">
          <a:xfrm>
            <a:off x="10579460" y="5866836"/>
            <a:ext cx="1416864" cy="86813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Check Fridge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F7AC033-41FE-9CE7-84DD-45CDD4B97B4F}"/>
              </a:ext>
            </a:extLst>
          </p:cNvPr>
          <p:cNvSpPr/>
          <p:nvPr/>
        </p:nvSpPr>
        <p:spPr bwMode="auto">
          <a:xfrm>
            <a:off x="8907422" y="5866836"/>
            <a:ext cx="1501579" cy="86813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Search Recipes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3E05807-17C7-A010-0A5C-1401D532F0A2}"/>
              </a:ext>
            </a:extLst>
          </p:cNvPr>
          <p:cNvCxnSpPr>
            <a:cxnSpLocks/>
          </p:cNvCxnSpPr>
          <p:nvPr/>
        </p:nvCxnSpPr>
        <p:spPr>
          <a:xfrm flipH="1">
            <a:off x="9694695" y="5669914"/>
            <a:ext cx="281376" cy="21684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66814E2-9DBB-346F-3E24-667102F2B6E6}"/>
              </a:ext>
            </a:extLst>
          </p:cNvPr>
          <p:cNvCxnSpPr>
            <a:cxnSpLocks/>
          </p:cNvCxnSpPr>
          <p:nvPr/>
        </p:nvCxnSpPr>
        <p:spPr>
          <a:xfrm flipH="1">
            <a:off x="9892330" y="5673259"/>
            <a:ext cx="222125" cy="19357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91A2A42-F099-1CD0-35FC-72E9DF5C326C}"/>
              </a:ext>
            </a:extLst>
          </p:cNvPr>
          <p:cNvCxnSpPr>
            <a:cxnSpLocks/>
          </p:cNvCxnSpPr>
          <p:nvPr/>
        </p:nvCxnSpPr>
        <p:spPr>
          <a:xfrm>
            <a:off x="10722498" y="5689839"/>
            <a:ext cx="281376" cy="21684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EF92080-D7C4-B2B6-8FA2-749A8EE9F4D6}"/>
              </a:ext>
            </a:extLst>
          </p:cNvPr>
          <p:cNvCxnSpPr>
            <a:cxnSpLocks/>
          </p:cNvCxnSpPr>
          <p:nvPr/>
        </p:nvCxnSpPr>
        <p:spPr>
          <a:xfrm>
            <a:off x="10920133" y="5683948"/>
            <a:ext cx="222125" cy="19357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97CEA4FC-8E62-3860-4EC6-80AF407FA6FE}"/>
              </a:ext>
            </a:extLst>
          </p:cNvPr>
          <p:cNvSpPr/>
          <p:nvPr/>
        </p:nvSpPr>
        <p:spPr bwMode="auto">
          <a:xfrm>
            <a:off x="7300648" y="5860562"/>
            <a:ext cx="1501579" cy="86813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Check Weather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6F6ABA8-78FC-05CB-3764-3134D80925CB}"/>
              </a:ext>
            </a:extLst>
          </p:cNvPr>
          <p:cNvSpPr/>
          <p:nvPr/>
        </p:nvSpPr>
        <p:spPr bwMode="auto">
          <a:xfrm>
            <a:off x="5595795" y="5860562"/>
            <a:ext cx="1619110" cy="86813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Search Activities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4FC5D92-5D44-DC6B-33F6-16A94BEEF2EA}"/>
              </a:ext>
            </a:extLst>
          </p:cNvPr>
          <p:cNvCxnSpPr>
            <a:cxnSpLocks/>
          </p:cNvCxnSpPr>
          <p:nvPr/>
        </p:nvCxnSpPr>
        <p:spPr>
          <a:xfrm flipH="1">
            <a:off x="6500598" y="5663640"/>
            <a:ext cx="281376" cy="21684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DBC7054-24BD-E798-EF84-10AF61102070}"/>
              </a:ext>
            </a:extLst>
          </p:cNvPr>
          <p:cNvCxnSpPr>
            <a:cxnSpLocks/>
          </p:cNvCxnSpPr>
          <p:nvPr/>
        </p:nvCxnSpPr>
        <p:spPr>
          <a:xfrm flipH="1">
            <a:off x="6698233" y="5666985"/>
            <a:ext cx="222125" cy="19357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C036FCD-C7EC-3605-27DD-4398AC2A5F7A}"/>
              </a:ext>
            </a:extLst>
          </p:cNvPr>
          <p:cNvCxnSpPr>
            <a:cxnSpLocks/>
          </p:cNvCxnSpPr>
          <p:nvPr/>
        </p:nvCxnSpPr>
        <p:spPr>
          <a:xfrm>
            <a:off x="7528401" y="5683565"/>
            <a:ext cx="281376" cy="21684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A6DFD76-0CEE-3FBE-42C0-4907660EEAB2}"/>
              </a:ext>
            </a:extLst>
          </p:cNvPr>
          <p:cNvCxnSpPr>
            <a:cxnSpLocks/>
          </p:cNvCxnSpPr>
          <p:nvPr/>
        </p:nvCxnSpPr>
        <p:spPr>
          <a:xfrm>
            <a:off x="7726036" y="5677674"/>
            <a:ext cx="222125" cy="19357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72F7F57-48F2-A66E-D4E4-DB458C7A0109}"/>
              </a:ext>
            </a:extLst>
          </p:cNvPr>
          <p:cNvSpPr txBox="1"/>
          <p:nvPr/>
        </p:nvSpPr>
        <p:spPr>
          <a:xfrm>
            <a:off x="7479521" y="2702020"/>
            <a:ext cx="263493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err="1"/>
              <a:t>Parenting helper agent</a:t>
            </a:r>
          </a:p>
        </p:txBody>
      </p:sp>
    </p:spTree>
    <p:extLst>
      <p:ext uri="{BB962C8B-B14F-4D97-AF65-F5344CB8AC3E}">
        <p14:creationId xmlns:p14="http://schemas.microsoft.com/office/powerpoint/2010/main" val="23391263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34D0C-FCF9-36EB-DFCB-BC699B041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DF54F-0D00-1855-3D53-748B609F8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Supervisor agent with sub-agents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92EC09-109C-C3E5-8B2E-931F52862546}"/>
              </a:ext>
            </a:extLst>
          </p:cNvPr>
          <p:cNvSpPr txBox="1"/>
          <p:nvPr/>
        </p:nvSpPr>
        <p:spPr>
          <a:xfrm>
            <a:off x="1132793" y="1515350"/>
            <a:ext cx="10706015" cy="48320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</a:pPr>
            <a:r>
              <a:rPr lang="en-US" sz="16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weekend_agent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6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instructions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"You help users plan weekend activities based on weather"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tools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 sz="16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get_weather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get_activities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get_current_date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  <a:endParaRPr lang="en-US" sz="1600">
              <a:solidFill>
                <a:srgbClr val="001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</a:pPr>
            <a:r>
              <a:rPr lang="en-US" sz="16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meal_agent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6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</a:pP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instructions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"You help users plan meals + choose the best recipes"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6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tools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 sz="16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find_recipes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check_fridge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</a:p>
          <a:p>
            <a:pPr>
              <a:buNone/>
            </a:pPr>
            <a:endParaRPr lang="en-US" sz="16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@tool</a:t>
            </a:r>
            <a:endParaRPr lang="en-US" sz="16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async def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plan_weekend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query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6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-&gt; </a:t>
            </a:r>
            <a:r>
              <a:rPr lang="en-US" sz="16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weekend_agent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query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return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endParaRPr lang="en-US" sz="16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16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@tool</a:t>
            </a:r>
            <a:endParaRPr lang="en-US" sz="16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async def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plan_meal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query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6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-&gt; </a:t>
            </a:r>
            <a:r>
              <a:rPr lang="en-US" sz="16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meal_agent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query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endParaRPr lang="en-US" sz="16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endParaRPr lang="en-US" sz="1600">
              <a:solidFill>
                <a:srgbClr val="001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6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supervisor_agent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6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instructions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"You're a supervisor managing a weekend planner &amp; meal planner"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tools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 sz="16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plan_meal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plan_weekend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80676C-9FB5-7FC8-8C16-86E8074D84AE}"/>
              </a:ext>
            </a:extLst>
          </p:cNvPr>
          <p:cNvSpPr txBox="1"/>
          <p:nvPr/>
        </p:nvSpPr>
        <p:spPr>
          <a:xfrm>
            <a:off x="1167006" y="6399742"/>
            <a:ext cx="374743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2"/>
              </a:rPr>
              <a:t>agent_supervisor.py</a:t>
            </a:r>
            <a:endParaRPr lang="en-US" sz="200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3F7225-14B4-D1AD-0781-6D54EC4A589E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</p:spTree>
    <p:extLst>
      <p:ext uri="{BB962C8B-B14F-4D97-AF65-F5344CB8AC3E}">
        <p14:creationId xmlns:p14="http://schemas.microsoft.com/office/powerpoint/2010/main" val="38969533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E3688-927D-5976-7CF5-5AAACD9D8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C3E27-3D20-E6F0-4614-7B50DBFCB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15" y="458258"/>
            <a:ext cx="11916571" cy="1325563"/>
          </a:xfrm>
        </p:spPr>
        <p:txBody>
          <a:bodyPr/>
          <a:lstStyle/>
          <a:p>
            <a:r>
              <a:rPr lang="en-US"/>
              <a:t>Multi-agent workflows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5F59D2-7EA8-C4D3-B5AE-C3B19EA9F0A1}"/>
              </a:ext>
            </a:extLst>
          </p:cNvPr>
          <p:cNvSpPr txBox="1"/>
          <p:nvPr/>
        </p:nvSpPr>
        <p:spPr>
          <a:xfrm>
            <a:off x="1176705" y="6072414"/>
            <a:ext cx="1080195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400" i="1" err="1"/>
              <a:t>Join week 2 of this series to learn how to build workflows with agent-framework!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A23CF6-1C45-825D-1C1C-76BC382F8C9E}"/>
              </a:ext>
            </a:extLst>
          </p:cNvPr>
          <p:cNvSpPr/>
          <p:nvPr/>
        </p:nvSpPr>
        <p:spPr bwMode="auto">
          <a:xfrm>
            <a:off x="2892962" y="3021565"/>
            <a:ext cx="1704451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Agent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99B52F-C485-8C44-BC4A-56B028B80977}"/>
              </a:ext>
            </a:extLst>
          </p:cNvPr>
          <p:cNvSpPr txBox="1"/>
          <p:nvPr/>
        </p:nvSpPr>
        <p:spPr>
          <a:xfrm>
            <a:off x="1154761" y="1769878"/>
            <a:ext cx="1065330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err="1"/>
              <a:t>For more complex multi-agent architectures, build workflows: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573C5B-B0FA-2A32-62B3-F72B60ABB42A}"/>
              </a:ext>
            </a:extLst>
          </p:cNvPr>
          <p:cNvSpPr txBox="1"/>
          <p:nvPr/>
        </p:nvSpPr>
        <p:spPr>
          <a:xfrm>
            <a:off x="1137935" y="416254"/>
            <a:ext cx="6518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Agent architecture: </a:t>
            </a:r>
          </a:p>
        </p:txBody>
      </p:sp>
      <p:sp>
        <p:nvSpPr>
          <p:cNvPr id="15" name="Rounded Rectangular Callout 14">
            <a:extLst>
              <a:ext uri="{FF2B5EF4-FFF2-40B4-BE49-F238E27FC236}">
                <a16:creationId xmlns:a16="http://schemas.microsoft.com/office/drawing/2014/main" id="{12A19DBF-387E-0A7F-88C6-4407F03022CA}"/>
              </a:ext>
            </a:extLst>
          </p:cNvPr>
          <p:cNvSpPr/>
          <p:nvPr/>
        </p:nvSpPr>
        <p:spPr>
          <a:xfrm>
            <a:off x="1194372" y="2892919"/>
            <a:ext cx="1151664" cy="943722"/>
          </a:xfrm>
          <a:prstGeom prst="wedgeRoundRectCallo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Input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E0CB39F-F1EF-23FC-4867-BEFEE77E3817}"/>
              </a:ext>
            </a:extLst>
          </p:cNvPr>
          <p:cNvCxnSpPr>
            <a:cxnSpLocks/>
            <a:stCxn id="22" idx="1"/>
            <a:endCxn id="15" idx="3"/>
          </p:cNvCxnSpPr>
          <p:nvPr/>
        </p:nvCxnSpPr>
        <p:spPr>
          <a:xfrm flipH="1">
            <a:off x="2346036" y="3364780"/>
            <a:ext cx="546926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B2C6C65F-DC28-57BD-E973-0212BCB957EA}"/>
              </a:ext>
            </a:extLst>
          </p:cNvPr>
          <p:cNvSpPr/>
          <p:nvPr/>
        </p:nvSpPr>
        <p:spPr bwMode="auto">
          <a:xfrm>
            <a:off x="5477608" y="2426494"/>
            <a:ext cx="1704451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Agent 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4A1FE77-369A-3024-D0BA-1FEAE565D977}"/>
              </a:ext>
            </a:extLst>
          </p:cNvPr>
          <p:cNvSpPr/>
          <p:nvPr/>
        </p:nvSpPr>
        <p:spPr bwMode="auto">
          <a:xfrm>
            <a:off x="5477608" y="3650404"/>
            <a:ext cx="1704451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Agent 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3E1ED84-99F4-E622-DB50-CEA67C2F7095}"/>
              </a:ext>
            </a:extLst>
          </p:cNvPr>
          <p:cNvSpPr/>
          <p:nvPr/>
        </p:nvSpPr>
        <p:spPr bwMode="auto">
          <a:xfrm>
            <a:off x="8206824" y="3097516"/>
            <a:ext cx="1704451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Agent 4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AC69575-1945-0686-5F9D-E77747201B7C}"/>
              </a:ext>
            </a:extLst>
          </p:cNvPr>
          <p:cNvCxnSpPr>
            <a:cxnSpLocks/>
            <a:stCxn id="41" idx="1"/>
            <a:endCxn id="22" idx="3"/>
          </p:cNvCxnSpPr>
          <p:nvPr/>
        </p:nvCxnSpPr>
        <p:spPr>
          <a:xfrm flipH="1" flipV="1">
            <a:off x="4597413" y="3364780"/>
            <a:ext cx="880195" cy="628839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FA523E7-F50B-7D4D-4499-6DC7453930CE}"/>
              </a:ext>
            </a:extLst>
          </p:cNvPr>
          <p:cNvCxnSpPr>
            <a:cxnSpLocks/>
          </p:cNvCxnSpPr>
          <p:nvPr/>
        </p:nvCxnSpPr>
        <p:spPr>
          <a:xfrm flipH="1">
            <a:off x="4597413" y="2735940"/>
            <a:ext cx="880195" cy="628839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5BBAB4E-EB15-5632-0397-2B321CBA1B03}"/>
              </a:ext>
            </a:extLst>
          </p:cNvPr>
          <p:cNvCxnSpPr>
            <a:cxnSpLocks/>
            <a:stCxn id="42" idx="1"/>
          </p:cNvCxnSpPr>
          <p:nvPr/>
        </p:nvCxnSpPr>
        <p:spPr>
          <a:xfrm flipH="1" flipV="1">
            <a:off x="7182059" y="2752381"/>
            <a:ext cx="1024765" cy="68835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3B5FDB5-4F80-5A0C-B286-CF4DF9206D2A}"/>
              </a:ext>
            </a:extLst>
          </p:cNvPr>
          <p:cNvCxnSpPr>
            <a:cxnSpLocks/>
            <a:stCxn id="42" idx="1"/>
          </p:cNvCxnSpPr>
          <p:nvPr/>
        </p:nvCxnSpPr>
        <p:spPr>
          <a:xfrm flipH="1">
            <a:off x="7182058" y="3440731"/>
            <a:ext cx="1024766" cy="53652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484F5111-CE1F-E9F9-FD36-24BE68894C9A}"/>
              </a:ext>
            </a:extLst>
          </p:cNvPr>
          <p:cNvSpPr txBox="1"/>
          <p:nvPr/>
        </p:nvSpPr>
        <p:spPr>
          <a:xfrm>
            <a:off x="1176705" y="4806980"/>
            <a:ext cx="10653307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err="1"/>
              <a:t>Workflows can include conditional edges, approvals, human-in-the-loop, and non-agent nodes as well.</a:t>
            </a:r>
          </a:p>
        </p:txBody>
      </p:sp>
    </p:spTree>
    <p:extLst>
      <p:ext uri="{BB962C8B-B14F-4D97-AF65-F5344CB8AC3E}">
        <p14:creationId xmlns:p14="http://schemas.microsoft.com/office/powerpoint/2010/main" val="16411743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6D43C-BE2A-3BA3-FE47-062467C16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F2F0939-562C-8F34-F9BD-79E6E27E01E4}"/>
              </a:ext>
            </a:extLst>
          </p:cNvPr>
          <p:cNvSpPr/>
          <p:nvPr/>
        </p:nvSpPr>
        <p:spPr>
          <a:xfrm>
            <a:off x="859194" y="3050530"/>
            <a:ext cx="10477500" cy="3014367"/>
          </a:xfrm>
          <a:prstGeom prst="roundRect">
            <a:avLst>
              <a:gd name="adj" fmla="val 212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D348BA-C92C-087A-935B-72F151B2AC4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59194" y="2111864"/>
            <a:ext cx="4505909" cy="89151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200">
                <a:latin typeface="Aptos" panose="020B0004020202020204" pitchFamily="34" charset="0"/>
              </a:rPr>
              <a:t>Watch past recordings: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200">
                <a:latin typeface="Aptos" panose="020B0004020202020204" pitchFamily="34" charset="0"/>
                <a:hlinkClick r:id="rId2"/>
              </a:rPr>
              <a:t>aka.ms/</a:t>
            </a:r>
            <a:r>
              <a:rPr lang="es-MX" sz="2200">
                <a:latin typeface="Aptos" panose="020B0004020202020204" pitchFamily="34" charset="0"/>
                <a:hlinkClick r:id="rId3"/>
              </a:rPr>
              <a:t>pythonagents/resources</a:t>
            </a:r>
            <a:endParaRPr lang="es-MX" sz="2200">
              <a:latin typeface="Aptos" panose="020B00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33D843-40EC-E1C7-3A23-A590A3011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48" y="1026203"/>
            <a:ext cx="3705612" cy="806488"/>
          </a:xfrm>
        </p:spPr>
        <p:txBody>
          <a:bodyPr/>
          <a:lstStyle/>
          <a:p>
            <a:r>
              <a:rPr lang="es-MX"/>
              <a:t>Next steps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34022E3-6896-5817-EE1A-D33D2F048642}"/>
              </a:ext>
            </a:extLst>
          </p:cNvPr>
          <p:cNvSpPr txBox="1">
            <a:spLocks/>
          </p:cNvSpPr>
          <p:nvPr/>
        </p:nvSpPr>
        <p:spPr>
          <a:xfrm>
            <a:off x="978148" y="3172607"/>
            <a:ext cx="9708903" cy="269795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🛠️ Feb 24: Building your first agent in Python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🧠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Feb 25: Adding context and memory to agents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📊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Feb 26: Monitoring and evaluating agents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🔀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3: Building your first AI-driven workflows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🕸️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4: Orchestrating advanced multi-agent workflows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🙋🏽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5: Adding a human-in-the-loop to workflows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FE34F6-E56A-2597-B0BA-8E585D74B6AC}"/>
              </a:ext>
            </a:extLst>
          </p:cNvPr>
          <p:cNvSpPr txBox="1"/>
          <p:nvPr/>
        </p:nvSpPr>
        <p:spPr>
          <a:xfrm>
            <a:off x="5531304" y="2111864"/>
            <a:ext cx="588936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MX" sz="2200">
                <a:latin typeface="Aptos" panose="020B0004020202020204" pitchFamily="34" charset="0"/>
              </a:rPr>
              <a:t>Join office hours after each session in Discord:</a:t>
            </a:r>
          </a:p>
          <a:p>
            <a:pPr marL="0" indent="0">
              <a:buNone/>
            </a:pPr>
            <a:r>
              <a:rPr lang="es-MX" sz="2200">
                <a:latin typeface="Aptos" panose="020B0004020202020204" pitchFamily="34" charset="0"/>
                <a:hlinkClick r:id="rId4"/>
              </a:rPr>
              <a:t>aka.ms/pythonai/oh</a:t>
            </a:r>
            <a:endParaRPr lang="en-US" sz="2200"/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A49413D5-C7CA-8BE7-3714-C61ACE6FA5FB}"/>
              </a:ext>
            </a:extLst>
          </p:cNvPr>
          <p:cNvSpPr txBox="1">
            <a:spLocks/>
          </p:cNvSpPr>
          <p:nvPr/>
        </p:nvSpPr>
        <p:spPr>
          <a:xfrm>
            <a:off x="5531304" y="1051121"/>
            <a:ext cx="5194041" cy="8915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MX" sz="2200">
                <a:latin typeface="Aptos" panose="020B0004020202020204" pitchFamily="34" charset="0"/>
              </a:rPr>
              <a:t>Register: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200">
                <a:latin typeface="Aptos" panose="020B0004020202020204" pitchFamily="34" charset="0"/>
                <a:hlinkClick r:id="rId5"/>
              </a:rPr>
              <a:t>https://aka.ms/PythonAgents/series</a:t>
            </a:r>
            <a:endParaRPr lang="es-MX" sz="22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2985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00834-E105-B677-5BF7-617C64688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9899F-FD7D-99ED-77E7-DA4EEAE45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Appendix 🐉</a:t>
            </a:r>
          </a:p>
        </p:txBody>
      </p:sp>
    </p:spTree>
    <p:extLst>
      <p:ext uri="{BB962C8B-B14F-4D97-AF65-F5344CB8AC3E}">
        <p14:creationId xmlns:p14="http://schemas.microsoft.com/office/powerpoint/2010/main" val="30637838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6D43C-BE2A-3BA3-FE47-062467C16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D348BA-C92C-087A-935B-72F151B2AC4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8670" y="1979243"/>
            <a:ext cx="10354657" cy="385255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>
                <a:latin typeface="Aptos" panose="020B0004020202020204" pitchFamily="34" charset="0"/>
              </a:rPr>
              <a:t>Documentation: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s-MX" sz="1800">
                <a:latin typeface="Aptos" panose="020B0004020202020204" pitchFamily="34" charset="0"/>
                <a:hlinkClick r:id="rId2"/>
              </a:rPr>
              <a:t>https://learn.microsoft.com/agent-framework/</a:t>
            </a:r>
            <a:endParaRPr lang="es-MX" sz="180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s-MX" sz="1800">
                <a:latin typeface="Aptos" panose="020B0004020202020204" pitchFamily="34" charset="0"/>
              </a:rPr>
              <a:t>Watch Ignite talks:</a:t>
            </a:r>
          </a:p>
          <a:p>
            <a:r>
              <a:rPr lang="en-US" sz="1800">
                <a:latin typeface="Aptos" panose="020B0004020202020204" pitchFamily="34" charset="0"/>
                <a:hlinkClick r:id="rId3" tooltip="https://ignite.microsoft.com/en-us/sessions/brk197?source=sessions"/>
              </a:rPr>
              <a:t>AI powered automation &amp; multi-agent orchestration in Azure AI Foundry</a:t>
            </a:r>
            <a:endParaRPr lang="en-US" sz="1800">
              <a:latin typeface="Aptos" panose="020B0004020202020204" pitchFamily="34" charset="0"/>
            </a:endParaRPr>
          </a:p>
          <a:p>
            <a:r>
              <a:rPr lang="en-US" sz="1800">
                <a:latin typeface="Aptos" panose="020B0004020202020204" pitchFamily="34" charset="0"/>
                <a:hlinkClick r:id="rId4" tooltip="https://ignite.microsoft.com/en-us/sessions/brk1706?source=sessions"/>
              </a:rPr>
              <a:t>Innovation Session: Your AI Apps and Agent Factory</a:t>
            </a:r>
            <a:endParaRPr lang="en-US" sz="1800">
              <a:latin typeface="Aptos" panose="020B0004020202020204" pitchFamily="34" charset="0"/>
            </a:endParaRPr>
          </a:p>
          <a:p>
            <a:r>
              <a:rPr lang="en-US" sz="1800">
                <a:latin typeface="Aptos" panose="020B0004020202020204" pitchFamily="34" charset="0"/>
                <a:hlinkClick r:id="rId5" tooltip="https://ignite.microsoft.com/en-us/sessions/lab518-r1?source=sessions"/>
              </a:rPr>
              <a:t>Multi-Agent Apps with Microsoft Agent Framework or LangGraph</a:t>
            </a:r>
            <a:endParaRPr lang="en-US" sz="1800">
              <a:latin typeface="Aptos" panose="020B0004020202020204" pitchFamily="34" charset="0"/>
            </a:endParaRPr>
          </a:p>
          <a:p>
            <a:r>
              <a:rPr lang="en-US" sz="1800">
                <a:latin typeface="Aptos" panose="020B0004020202020204" pitchFamily="34" charset="0"/>
                <a:hlinkClick r:id="rId6" tooltip="https://ignite.microsoft.com/en-us/sessions/lab513-r1?source=sessions"/>
              </a:rPr>
              <a:t>Build A2A and MCP Systems using SWE Agents and agent-framework</a:t>
            </a:r>
            <a:endParaRPr lang="en-US" sz="1800">
              <a:latin typeface="Aptos" panose="020B0004020202020204" pitchFamily="34" charset="0"/>
            </a:endParaRPr>
          </a:p>
          <a:p>
            <a:r>
              <a:rPr lang="en-US" sz="1800">
                <a:latin typeface="Aptos" panose="020B0004020202020204" pitchFamily="34" charset="0"/>
                <a:hlinkClick r:id="rId7" tooltip="https://ignite.microsoft.com/en-us/sessions/brk201?source=sessions"/>
              </a:rPr>
              <a:t>AI builder’s guide to agent development in Foundry Agent Service</a:t>
            </a:r>
            <a:endParaRPr lang="es-MX" sz="1800">
              <a:latin typeface="Aptos" panose="020B0004020202020204" pitchFamily="34" charset="0"/>
            </a:endParaRPr>
          </a:p>
          <a:p>
            <a:pPr marL="0" indent="0">
              <a:spcBef>
                <a:spcPts val="2200"/>
              </a:spcBef>
              <a:buNone/>
            </a:pPr>
            <a:r>
              <a:rPr lang="es-MX" sz="1800">
                <a:latin typeface="Aptos" panose="020B0004020202020204" pitchFamily="34" charset="0"/>
              </a:rPr>
              <a:t>Join weekly Office Hours:</a:t>
            </a:r>
          </a:p>
          <a:p>
            <a:pPr marL="0" indent="0">
              <a:buNone/>
            </a:pPr>
            <a:r>
              <a:rPr lang="es-MX" sz="1800">
                <a:latin typeface="Aptos" panose="020B0004020202020204" pitchFamily="34" charset="0"/>
                <a:hlinkClick r:id="rId8"/>
              </a:rPr>
              <a:t>https://github.com/microsoft/agent-framework/blob/main/COMMUNITY.md</a:t>
            </a:r>
            <a:endParaRPr lang="es-MX" sz="1800">
              <a:latin typeface="Aptos" panose="020B00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33D843-40EC-E1C7-3A23-A590A3011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Learn more</a:t>
            </a:r>
          </a:p>
        </p:txBody>
      </p:sp>
    </p:spTree>
    <p:extLst>
      <p:ext uri="{BB962C8B-B14F-4D97-AF65-F5344CB8AC3E}">
        <p14:creationId xmlns:p14="http://schemas.microsoft.com/office/powerpoint/2010/main" val="15813287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41383-92BB-FC0E-D1D6-2E448141A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DB326-684F-A025-EDD2-18B668191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Migration tips</a:t>
            </a:r>
          </a:p>
        </p:txBody>
      </p:sp>
    </p:spTree>
    <p:extLst>
      <p:ext uri="{BB962C8B-B14F-4D97-AF65-F5344CB8AC3E}">
        <p14:creationId xmlns:p14="http://schemas.microsoft.com/office/powerpoint/2010/main" val="17598327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5E65F-9243-C2B5-3BF0-19729297A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1BC01-9225-17F6-37EF-E89000779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MAF vs Semantic Kernel and AutoGen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8E33FD-9CD0-88F8-9328-60A01B4E4110}"/>
              </a:ext>
            </a:extLst>
          </p:cNvPr>
          <p:cNvSpPr txBox="1"/>
          <p:nvPr/>
        </p:nvSpPr>
        <p:spPr>
          <a:xfrm>
            <a:off x="1049416" y="6369262"/>
            <a:ext cx="11510569" cy="33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50">
                <a:hlinkClick r:id="rId2"/>
              </a:rPr>
              <a:t>https://devblogs.microsoft.com/foundry/introducing-microsoft-agent-framework-the-open-source-engine-for-agentic-ai-apps/</a:t>
            </a:r>
            <a:endParaRPr lang="en-US" sz="155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874A435-DB83-9B93-B777-B78A1C4F905F}"/>
              </a:ext>
            </a:extLst>
          </p:cNvPr>
          <p:cNvGraphicFramePr>
            <a:graphicFrameLocks noGrp="1"/>
          </p:cNvGraphicFramePr>
          <p:nvPr/>
        </p:nvGraphicFramePr>
        <p:xfrm>
          <a:off x="1049416" y="1590781"/>
          <a:ext cx="10414000" cy="466695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03500">
                  <a:extLst>
                    <a:ext uri="{9D8B030D-6E8A-4147-A177-3AD203B41FA5}">
                      <a16:colId xmlns:a16="http://schemas.microsoft.com/office/drawing/2014/main" val="974451784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348312969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908904357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3603270898"/>
                    </a:ext>
                  </a:extLst>
                </a:gridCol>
              </a:tblGrid>
              <a:tr h="36927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Semantic Kernel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AutoGen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Agent Framework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6049515"/>
                  </a:ext>
                </a:extLst>
              </a:tr>
              <a:tr h="669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Focus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Stable SDK with enterprise connectors, workflows, and observability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Experimental multi-agent orchestration from research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Unified SDK combining innovation + enterprise readiness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61049"/>
                  </a:ext>
                </a:extLst>
              </a:tr>
              <a:tr h="669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Interop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Plugins, connectors, and support for MCP, A2A, OpenAPI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Tool integration supported; lacks standardized cross-runtime protocols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Built-in connectors, MCP + A2A + OpenAPI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6880562"/>
                  </a:ext>
                </a:extLst>
              </a:tr>
              <a:tr h="1132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Memory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Multiple vector store connectors and memory store abstraction (e.g. Azure SQL Elasticsearch, MongoDB)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Support for in-memory / buffer history + external vector store memory options (ChromaDB, Mem0, etc)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Pluggable memory across stores (first-party and third-party), persistent &amp; adaptive memory stored with retrieval, hybrid appraoches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0638928"/>
                  </a:ext>
                </a:extLst>
              </a:tr>
              <a:tr h="823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Orchestration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Deterministic + dynamic orchestration (Agent Framework, Process Framework)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Dynamic LLM orchestration (debate, reflection, facilitator/worker, group chat)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Deterministic + dynamic orchestration (Agent Orchestration, Workflow Orchestration)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0069708"/>
                  </a:ext>
                </a:extLst>
              </a:tr>
              <a:tr h="669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Enterprise readiness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Telemetry, observability, compliance hooks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Minimal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Observability, approvals, CI/CD, long-running durability, hydration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7555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92317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D2EF2-2B2F-4061-15AC-B00543F38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1D902-0C15-8501-B81B-297B1DA99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Autogen → Agent-framework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797253-4452-A3F5-D340-2773033415C4}"/>
              </a:ext>
            </a:extLst>
          </p:cNvPr>
          <p:cNvSpPr txBox="1"/>
          <p:nvPr/>
        </p:nvSpPr>
        <p:spPr>
          <a:xfrm>
            <a:off x="1222136" y="5393348"/>
            <a:ext cx="853868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err="1">
                <a:hlinkClick r:id="rId2"/>
              </a:rPr>
              <a:t>https://learn.microsoft.com/agent-framework/migration-guide/from-autogen/</a:t>
            </a:r>
            <a:endParaRPr lang="en-US" sz="2000" err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D1A5FE-5877-BE82-F56A-83B3E2A13EA6}"/>
              </a:ext>
            </a:extLst>
          </p:cNvPr>
          <p:cNvSpPr txBox="1"/>
          <p:nvPr/>
        </p:nvSpPr>
        <p:spPr>
          <a:xfrm>
            <a:off x="1222136" y="5085571"/>
            <a:ext cx="181434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err="1"/>
              <a:t>Migration guide: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B5CAB0-24A9-34BC-1931-0F9772E3C757}"/>
              </a:ext>
            </a:extLst>
          </p:cNvPr>
          <p:cNvSpPr txBox="1"/>
          <p:nvPr/>
        </p:nvSpPr>
        <p:spPr>
          <a:xfrm>
            <a:off x="1222136" y="1722473"/>
            <a:ext cx="10665064" cy="3208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AutoGen pioneered many orchestration patterns (GroupChat, GraphFlow, event-driven runtimes), which are now unified in Agent Framework under the </a:t>
            </a:r>
            <a:r>
              <a:rPr lang="en-US" sz="2000" b="1" i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Workflow</a:t>
            </a:r>
            <a:r>
              <a:rPr lang="en-US" sz="2000" b="0" i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 abstraction </a:t>
            </a:r>
            <a:r>
              <a:rPr lang="en-US" sz="2000">
                <a:solidFill>
                  <a:srgbClr val="242424"/>
                </a:solidFill>
                <a:latin typeface="Aptos" panose="020B0004020202020204" pitchFamily="34" charset="0"/>
              </a:rPr>
              <a:t>that supports checkpointing, pause/resume, and human-in-the-loop flows. </a:t>
            </a:r>
            <a:endParaRPr lang="en-US" sz="2000" b="0" i="0">
              <a:solidFill>
                <a:srgbClr val="242424"/>
              </a:solidFill>
              <a:effectLst/>
              <a:latin typeface="Aptos" panose="020B0004020202020204" pitchFamily="34" charset="0"/>
            </a:endParaRPr>
          </a:p>
          <a:p>
            <a:pPr marL="285750" indent="-28575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The </a:t>
            </a:r>
            <a:r>
              <a:rPr lang="en-US" sz="2000" b="1" i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AssistantAgent</a:t>
            </a:r>
            <a:r>
              <a:rPr lang="en-US" sz="2000" b="0" i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 maps directly to the new </a:t>
            </a:r>
            <a:r>
              <a:rPr lang="en-US" sz="2000" b="1" i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ChatAgent</a:t>
            </a:r>
            <a:r>
              <a:rPr lang="en-US" sz="2000" b="0" i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, which is multi-turn by default and continues tool invocation until a result is ready.</a:t>
            </a:r>
          </a:p>
          <a:p>
            <a:pPr marL="285750" indent="-28575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FunctionTool wrappers migrate to </a:t>
            </a:r>
            <a:r>
              <a:rPr lang="en-US" sz="2000" i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the</a:t>
            </a:r>
            <a:r>
              <a:rPr lang="en-US" sz="2000" b="1" i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 @ai_function </a:t>
            </a:r>
            <a:r>
              <a:rPr lang="en-US" sz="2000" b="0" i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decorator, with automatic schema inference and support for hosted tools like code interpreter or web search.</a:t>
            </a:r>
          </a:p>
          <a:p>
            <a:pPr marL="285750" indent="-28575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Most single-agent migrations require only light refactoring; multi-agent migrations benefit from the new </a:t>
            </a:r>
            <a:r>
              <a:rPr lang="en-US" sz="2000" b="1" i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Workflow</a:t>
            </a:r>
            <a:r>
              <a:rPr lang="en-US" sz="2000" b="0" i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 model with stronger composability and durability.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B160D2-B93F-D13A-9549-EFE738667762}"/>
              </a:ext>
            </a:extLst>
          </p:cNvPr>
          <p:cNvSpPr txBox="1"/>
          <p:nvPr/>
        </p:nvSpPr>
        <p:spPr>
          <a:xfrm>
            <a:off x="1222136" y="6317955"/>
            <a:ext cx="1029160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err="1">
                <a:hlinkClick r:id="rId2"/>
              </a:rPr>
              <a:t>https://github.com/microsoft/agent-framework/tree/main/python/samples/autogen-migration</a:t>
            </a:r>
            <a:endParaRPr lang="en-US" sz="2000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AE1EA6-4D8C-FF17-95CE-B726A57DC629}"/>
              </a:ext>
            </a:extLst>
          </p:cNvPr>
          <p:cNvSpPr txBox="1"/>
          <p:nvPr/>
        </p:nvSpPr>
        <p:spPr>
          <a:xfrm>
            <a:off x="1222136" y="6010178"/>
            <a:ext cx="264841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err="1"/>
              <a:t>Code samples (Python):</a:t>
            </a:r>
          </a:p>
        </p:txBody>
      </p:sp>
    </p:spTree>
    <p:extLst>
      <p:ext uri="{BB962C8B-B14F-4D97-AF65-F5344CB8AC3E}">
        <p14:creationId xmlns:p14="http://schemas.microsoft.com/office/powerpoint/2010/main" val="2799125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FE96-0FB8-8BB6-EFE5-85B3D7B32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D0955-0F6F-81E6-7DD2-F46EDBC59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Semantic Kernel → Agent-framework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A0AE89-D284-7824-4B6D-189AD42E120B}"/>
              </a:ext>
            </a:extLst>
          </p:cNvPr>
          <p:cNvSpPr txBox="1"/>
          <p:nvPr/>
        </p:nvSpPr>
        <p:spPr>
          <a:xfrm>
            <a:off x="1222136" y="5393348"/>
            <a:ext cx="944136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err="1">
                <a:hlinkClick r:id="rId2"/>
              </a:rPr>
              <a:t>https://learn.microsoft.com/agent-framework/migration-guide/from-semantic-kernel/</a:t>
            </a:r>
            <a:endParaRPr lang="en-US" sz="2000" err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220F77-128C-0402-4891-E5DA1EB58253}"/>
              </a:ext>
            </a:extLst>
          </p:cNvPr>
          <p:cNvSpPr txBox="1"/>
          <p:nvPr/>
        </p:nvSpPr>
        <p:spPr>
          <a:xfrm>
            <a:off x="1222136" y="5085571"/>
            <a:ext cx="181434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err="1"/>
              <a:t>Migration guide: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326485-B95E-6CD1-50B1-913490222712}"/>
              </a:ext>
            </a:extLst>
          </p:cNvPr>
          <p:cNvSpPr txBox="1"/>
          <p:nvPr/>
        </p:nvSpPr>
        <p:spPr>
          <a:xfrm>
            <a:off x="1222136" y="1722473"/>
            <a:ext cx="10665064" cy="2593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Replace </a:t>
            </a:r>
            <a:r>
              <a:rPr lang="en-US" sz="2000" b="1">
                <a:latin typeface="Aptos" panose="020B0004020202020204" pitchFamily="34" charset="0"/>
              </a:rPr>
              <a:t>Kernel</a:t>
            </a:r>
            <a:r>
              <a:rPr lang="en-US" sz="2000">
                <a:latin typeface="Aptos" panose="020B0004020202020204" pitchFamily="34" charset="0"/>
              </a:rPr>
              <a:t> and </a:t>
            </a:r>
            <a:r>
              <a:rPr lang="en-US" sz="2000" b="1">
                <a:latin typeface="Aptos" panose="020B0004020202020204" pitchFamily="34" charset="0"/>
              </a:rPr>
              <a:t>plugin</a:t>
            </a:r>
            <a:r>
              <a:rPr lang="en-US" sz="2000">
                <a:latin typeface="Aptos" panose="020B0004020202020204" pitchFamily="34" charset="0"/>
              </a:rPr>
              <a:t> patterns with the </a:t>
            </a:r>
            <a:r>
              <a:rPr lang="en-US" sz="2000" b="1">
                <a:latin typeface="Aptos" panose="020B0004020202020204" pitchFamily="34" charset="0"/>
              </a:rPr>
              <a:t>Agent</a:t>
            </a:r>
            <a:r>
              <a:rPr lang="en-US" sz="2000">
                <a:latin typeface="Aptos" panose="020B0004020202020204" pitchFamily="34" charset="0"/>
              </a:rPr>
              <a:t> and </a:t>
            </a:r>
            <a:r>
              <a:rPr lang="en-US" sz="2000" b="1">
                <a:latin typeface="Aptos" panose="020B0004020202020204" pitchFamily="34" charset="0"/>
              </a:rPr>
              <a:t>Tool</a:t>
            </a:r>
            <a:r>
              <a:rPr lang="en-US" sz="2000">
                <a:latin typeface="Aptos" panose="020B0004020202020204" pitchFamily="34" charset="0"/>
              </a:rPr>
              <a:t> abstractions.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Agents now manage threads natively, simplify invocation with RunAsync / RunStreamingAsync, and register tools inline without attributes or plugin wrappers.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Existing vector store integrations (Azure AI Search, Postgres, Cosmos DB, Redis, Elasticsearch, etc.) continue to work through connectors.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Plugins like Bing, Google, OpenAPI, and Microsoft Graph port directly as tools, often exposed via MCP or OpenAPI.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CBC3F9-6F73-969B-9DF4-5C5275B58286}"/>
              </a:ext>
            </a:extLst>
          </p:cNvPr>
          <p:cNvSpPr txBox="1"/>
          <p:nvPr/>
        </p:nvSpPr>
        <p:spPr>
          <a:xfrm>
            <a:off x="1222136" y="6317955"/>
            <a:ext cx="1064227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err="1">
                <a:hlinkClick r:id="rId3"/>
              </a:rPr>
              <a:t>https://learn.microsoft.com/agent-framework/migration-guide/from-semantic-kernel/samples</a:t>
            </a:r>
            <a:endParaRPr lang="en-US" sz="2000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FEA3F8-E333-5284-AD50-E0BF144F758A}"/>
              </a:ext>
            </a:extLst>
          </p:cNvPr>
          <p:cNvSpPr txBox="1"/>
          <p:nvPr/>
        </p:nvSpPr>
        <p:spPr>
          <a:xfrm>
            <a:off x="1222136" y="6010178"/>
            <a:ext cx="167513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err="1"/>
              <a:t>Code samples:</a:t>
            </a:r>
          </a:p>
        </p:txBody>
      </p:sp>
    </p:spTree>
    <p:extLst>
      <p:ext uri="{BB962C8B-B14F-4D97-AF65-F5344CB8AC3E}">
        <p14:creationId xmlns:p14="http://schemas.microsoft.com/office/powerpoint/2010/main" val="39257238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943DF-05D4-18B3-AA47-90F52EEA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0E048-6836-A512-262F-711720447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GitHub Copilot for migration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499D48-02F2-32F4-4BFB-502FA44AC363}"/>
              </a:ext>
            </a:extLst>
          </p:cNvPr>
          <p:cNvSpPr txBox="1"/>
          <p:nvPr/>
        </p:nvSpPr>
        <p:spPr>
          <a:xfrm>
            <a:off x="1161176" y="2016448"/>
            <a:ext cx="106650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en-US" sz="2400">
                <a:latin typeface="Aptos" panose="020B0004020202020204" pitchFamily="34" charset="0"/>
              </a:rPr>
              <a:t>Try out a prompt like: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3629B6-5C9E-F997-EB8D-F3ABC66B6FE2}"/>
              </a:ext>
            </a:extLst>
          </p:cNvPr>
          <p:cNvSpPr txBox="1"/>
          <p:nvPr/>
        </p:nvSpPr>
        <p:spPr>
          <a:xfrm>
            <a:off x="1161176" y="2710740"/>
            <a:ext cx="10045304" cy="25391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en-US" sz="2400">
                <a:latin typeface="Aptos" panose="020B0004020202020204" pitchFamily="34" charset="0"/>
              </a:rPr>
              <a:t>Port this code from AutoGen to Agent Framework, following the guide at </a:t>
            </a:r>
            <a:r>
              <a:rPr lang="en-US" sz="2400">
                <a:latin typeface="Aptos" panose="020B0004020202020204" pitchFamily="34" charset="0"/>
                <a:hlinkClick r:id="rId2"/>
              </a:rPr>
              <a:t>https://learn.microsoft.com/en-us/agent-framework/migration-guide/from-autogen/</a:t>
            </a:r>
            <a:endParaRPr lang="en-US" sz="2400">
              <a:latin typeface="Aptos" panose="020B0004020202020204" pitchFamily="34" charset="0"/>
            </a:endParaRPr>
          </a:p>
          <a:p>
            <a:pPr>
              <a:spcAft>
                <a:spcPts val="900"/>
              </a:spcAft>
            </a:pPr>
            <a:r>
              <a:rPr lang="en-US" sz="2400">
                <a:latin typeface="Aptos" panose="020B0004020202020204" pitchFamily="34" charset="0"/>
              </a:rPr>
              <a:t>Find relevant code samples here if needed:</a:t>
            </a:r>
          </a:p>
          <a:p>
            <a:pPr>
              <a:spcAft>
                <a:spcPts val="900"/>
              </a:spcAft>
            </a:pPr>
            <a:r>
              <a:rPr lang="en-US" sz="2400">
                <a:latin typeface="Aptos" panose="020B0004020202020204" pitchFamily="34" charset="0"/>
                <a:hlinkClick r:id="rId3"/>
              </a:rPr>
              <a:t>https://github.com/microsoft/agent-framework/tree/main/python/samples/autogen-migration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8746605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C0417-B3E0-B146-5330-4D30EEAFF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83536-7266-0D7F-EB0E-B5E05379E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E2E sample</a:t>
            </a:r>
          </a:p>
        </p:txBody>
      </p:sp>
    </p:spTree>
    <p:extLst>
      <p:ext uri="{BB962C8B-B14F-4D97-AF65-F5344CB8AC3E}">
        <p14:creationId xmlns:p14="http://schemas.microsoft.com/office/powerpoint/2010/main" val="4715471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B1C45-620C-33B2-FB90-B25C700BC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16176-65E9-254E-993E-C67896A9F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15" y="458258"/>
            <a:ext cx="9727441" cy="1325563"/>
          </a:xfrm>
        </p:spPr>
        <p:txBody>
          <a:bodyPr/>
          <a:lstStyle/>
          <a:p>
            <a:r>
              <a:rPr lang="en-US"/>
              <a:t>Sample: Agentic Shop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58AF21-7347-B1B3-059A-465659AAE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6226629"/>
            <a:ext cx="11011955" cy="6313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>
                <a:hlinkClick r:id="rId3"/>
              </a:rPr>
              <a:t>https://github.com/tonybaloney/agentic-popup-shop</a:t>
            </a:r>
            <a:endParaRPr lang="en-US" sz="240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22DFD8E1-3F05-37C9-3EB4-9C8174583B6F}"/>
              </a:ext>
            </a:extLst>
          </p:cNvPr>
          <p:cNvSpPr txBox="1">
            <a:spLocks/>
          </p:cNvSpPr>
          <p:nvPr/>
        </p:nvSpPr>
        <p:spPr>
          <a:xfrm>
            <a:off x="7145416" y="3576583"/>
            <a:ext cx="11011955" cy="43731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D3EEDE-7D93-5F0C-A365-C0D919FAB3F7}"/>
              </a:ext>
            </a:extLst>
          </p:cNvPr>
          <p:cNvSpPr txBox="1"/>
          <p:nvPr/>
        </p:nvSpPr>
        <p:spPr>
          <a:xfrm>
            <a:off x="7833326" y="2130033"/>
            <a:ext cx="422365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>
                <a:solidFill>
                  <a:srgbClr val="1F2328"/>
                </a:solidFill>
                <a:effectLst/>
              </a:rPr>
              <a:t>This app uses docker-compose to deploy 2 MCP servers, an API server (that runs agents), plus a frontend server.</a:t>
            </a:r>
            <a:endParaRPr lang="en-US" sz="220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47BA1D-7818-420B-59BB-2B138AC33A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7" r="2703" b="10419"/>
          <a:stretch>
            <a:fillRect/>
          </a:stretch>
        </p:blipFill>
        <p:spPr>
          <a:xfrm>
            <a:off x="1045028" y="1771499"/>
            <a:ext cx="6716180" cy="42531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4A360B-1524-321D-4358-D460910875CE}"/>
              </a:ext>
            </a:extLst>
          </p:cNvPr>
          <p:cNvSpPr txBox="1"/>
          <p:nvPr/>
        </p:nvSpPr>
        <p:spPr>
          <a:xfrm>
            <a:off x="7915668" y="3978277"/>
            <a:ext cx="3762642" cy="16158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100">
                <a:solidFill>
                  <a:srgbClr val="001080"/>
                </a:solidFill>
                <a:latin typeface="Consolas"/>
                <a:cs typeface="Consolas" panose="020B0609020204030204" pitchFamily="49" charset="0"/>
              </a:rPr>
              <a:t>agent</a:t>
            </a:r>
            <a:r>
              <a:rPr lang="en-US" sz="1100">
                <a:solidFill>
                  <a:srgbClr val="3B3B3B"/>
                </a:solidFill>
                <a:latin typeface="Consolas"/>
                <a:cs typeface="Consolas" panose="020B0609020204030204" pitchFamily="49" charset="0"/>
              </a:rPr>
              <a:t> </a:t>
            </a:r>
            <a:r>
              <a:rPr lang="en-US" sz="1100">
                <a:solidFill>
                  <a:srgbClr val="000000"/>
                </a:solidFill>
                <a:latin typeface="Consolas"/>
                <a:cs typeface="Consolas" panose="020B0609020204030204" pitchFamily="49" charset="0"/>
              </a:rPr>
              <a:t>=</a:t>
            </a:r>
            <a:r>
              <a:rPr lang="en-US" sz="1100">
                <a:solidFill>
                  <a:srgbClr val="3B3B3B"/>
                </a:solidFill>
                <a:latin typeface="Consolas"/>
                <a:cs typeface="Consolas" panose="020B0609020204030204" pitchFamily="49" charset="0"/>
              </a:rPr>
              <a:t> </a:t>
            </a:r>
            <a:r>
              <a:rPr lang="en-US" sz="1100" err="1">
                <a:solidFill>
                  <a:srgbClr val="3B3B3B"/>
                </a:solidFill>
                <a:latin typeface="Consolas"/>
                <a:cs typeface="Consolas" panose="020B0609020204030204" pitchFamily="49" charset="0"/>
              </a:rPr>
              <a:t>chat</a:t>
            </a:r>
            <a:r>
              <a:rPr lang="en-US" sz="1100" b="0" err="1">
                <a:solidFill>
                  <a:srgbClr val="3B3B3B"/>
                </a:solidFill>
                <a:effectLst/>
                <a:latin typeface="Consolas"/>
                <a:cs typeface="Consolas" panose="020B0609020204030204" pitchFamily="49" charset="0"/>
              </a:rPr>
              <a:t>_</a:t>
            </a:r>
            <a:r>
              <a:rPr lang="en-US" sz="1100" err="1">
                <a:solidFill>
                  <a:srgbClr val="3B3B3B"/>
                </a:solidFill>
                <a:latin typeface="Consolas"/>
                <a:cs typeface="Consolas" panose="020B0609020204030204" pitchFamily="49" charset="0"/>
              </a:rPr>
              <a:t>client.create</a:t>
            </a:r>
            <a:r>
              <a:rPr lang="en-US" sz="1100" b="0" err="1">
                <a:solidFill>
                  <a:srgbClr val="3B3B3B"/>
                </a:solidFill>
                <a:effectLst/>
                <a:latin typeface="Consolas"/>
                <a:cs typeface="Consolas" panose="020B0609020204030204" pitchFamily="49" charset="0"/>
              </a:rPr>
              <a:t>_</a:t>
            </a:r>
            <a:r>
              <a:rPr lang="en-US" sz="1100" err="1">
                <a:solidFill>
                  <a:srgbClr val="3B3B3B"/>
                </a:solidFill>
                <a:latin typeface="Consolas"/>
                <a:cs typeface="Consolas" panose="020B0609020204030204" pitchFamily="49" charset="0"/>
              </a:rPr>
              <a:t>agent</a:t>
            </a:r>
            <a:r>
              <a:rPr lang="en-US" sz="1100" b="0">
                <a:solidFill>
                  <a:srgbClr val="3B3B3B"/>
                </a:solidFill>
                <a:effectLst/>
                <a:latin typeface="Consolas"/>
                <a:cs typeface="Consolas" panose="020B0609020204030204" pitchFamily="49" charset="0"/>
              </a:rPr>
              <a:t>(</a:t>
            </a:r>
            <a:endParaRPr lang="en-US" sz="1100">
              <a:solidFill>
                <a:srgbClr val="3B3B3B"/>
              </a:solidFill>
              <a:latin typeface="Consolas"/>
            </a:endParaRPr>
          </a:p>
          <a:p>
            <a:r>
              <a:rPr lang="en-US" sz="1100" b="0">
                <a:solidFill>
                  <a:srgbClr val="001080"/>
                </a:solidFill>
                <a:effectLst/>
                <a:latin typeface="Consolas"/>
                <a:cs typeface="Consolas" panose="020B0609020204030204" pitchFamily="49" charset="0"/>
              </a:rPr>
              <a:t>  name</a:t>
            </a:r>
            <a:r>
              <a:rPr lang="en-US" sz="1100">
                <a:solidFill>
                  <a:srgbClr val="000000"/>
                </a:solidFill>
                <a:latin typeface="Consolas"/>
                <a:cs typeface="Consolas" panose="020B0609020204030204" pitchFamily="49" charset="0"/>
              </a:rPr>
              <a:t>=</a:t>
            </a:r>
            <a:r>
              <a:rPr lang="en-US" sz="1100">
                <a:solidFill>
                  <a:srgbClr val="A31515"/>
                </a:solidFill>
                <a:latin typeface="Consolas"/>
                <a:cs typeface="Consolas" panose="020B0609020204030204" pitchFamily="49" charset="0"/>
              </a:rPr>
              <a:t>"Retail Insights Analyzer"</a:t>
            </a:r>
            <a:r>
              <a:rPr lang="en-US" sz="1100">
                <a:solidFill>
                  <a:srgbClr val="3B3B3B"/>
                </a:solidFill>
                <a:latin typeface="Consolas"/>
                <a:cs typeface="Consolas" panose="020B0609020204030204" pitchFamily="49" charset="0"/>
              </a:rPr>
              <a:t>,</a:t>
            </a:r>
            <a:endParaRPr lang="en-US" sz="1100">
              <a:latin typeface="Consolas"/>
            </a:endParaRPr>
          </a:p>
          <a:p>
            <a:r>
              <a:rPr lang="en-US" sz="1100">
                <a:solidFill>
                  <a:srgbClr val="001080"/>
                </a:solidFill>
                <a:latin typeface="Consolas"/>
                <a:cs typeface="Consolas" panose="020B0609020204030204" pitchFamily="49" charset="0"/>
              </a:rPr>
              <a:t>  tools</a:t>
            </a:r>
            <a:r>
              <a:rPr lang="en-US" sz="1100">
                <a:solidFill>
                  <a:srgbClr val="000000"/>
                </a:solidFill>
                <a:latin typeface="Consolas"/>
                <a:cs typeface="Consolas" panose="020B0609020204030204" pitchFamily="49" charset="0"/>
              </a:rPr>
              <a:t>=</a:t>
            </a:r>
            <a:r>
              <a:rPr lang="en-US" sz="1100">
                <a:solidFill>
                  <a:srgbClr val="3B3B3B"/>
                </a:solidFill>
                <a:latin typeface="Consolas"/>
                <a:cs typeface="Consolas" panose="020B0609020204030204" pitchFamily="49" charset="0"/>
              </a:rPr>
              <a:t>[</a:t>
            </a:r>
            <a:r>
              <a:rPr lang="en-US" sz="1100" err="1">
                <a:solidFill>
                  <a:srgbClr val="3B3B3B"/>
                </a:solidFill>
                <a:latin typeface="Consolas"/>
                <a:cs typeface="Consolas" panose="020B0609020204030204" pitchFamily="49" charset="0"/>
              </a:rPr>
              <a:t>finance</a:t>
            </a:r>
            <a:r>
              <a:rPr lang="en-US" sz="1100" b="0" err="1">
                <a:solidFill>
                  <a:srgbClr val="3B3B3B"/>
                </a:solidFill>
                <a:effectLst/>
                <a:latin typeface="Consolas"/>
                <a:cs typeface="Consolas" panose="020B0609020204030204" pitchFamily="49" charset="0"/>
              </a:rPr>
              <a:t>_</a:t>
            </a:r>
            <a:r>
              <a:rPr lang="en-US" sz="1100" err="1">
                <a:solidFill>
                  <a:srgbClr val="3B3B3B"/>
                </a:solidFill>
                <a:latin typeface="Consolas"/>
                <a:cs typeface="Consolas" panose="020B0609020204030204" pitchFamily="49" charset="0"/>
              </a:rPr>
              <a:t>mcp</a:t>
            </a:r>
            <a:r>
              <a:rPr lang="en-US" sz="1100">
                <a:solidFill>
                  <a:srgbClr val="3B3B3B"/>
                </a:solidFill>
                <a:latin typeface="Consolas"/>
                <a:cs typeface="Consolas" panose="020B0609020204030204" pitchFamily="49" charset="0"/>
              </a:rPr>
              <a:t>],</a:t>
            </a:r>
            <a:endParaRPr lang="en-US" sz="1100">
              <a:solidFill>
                <a:srgbClr val="008000"/>
              </a:solidFill>
              <a:latin typeface="Consolas"/>
            </a:endParaRPr>
          </a:p>
          <a:p>
            <a:r>
              <a:rPr lang="en-US" sz="1100">
                <a:solidFill>
                  <a:srgbClr val="3B3B3B"/>
                </a:solidFill>
                <a:latin typeface="Consolas"/>
                <a:cs typeface="Consolas" panose="020B0609020204030204" pitchFamily="49" charset="0"/>
              </a:rPr>
              <a:t>)</a:t>
            </a:r>
            <a:endParaRPr lang="en-US" sz="2800">
              <a:latin typeface="Consolas"/>
            </a:endParaRPr>
          </a:p>
          <a:p>
            <a:r>
              <a:rPr lang="en-US" sz="1100">
                <a:solidFill>
                  <a:srgbClr val="001080"/>
                </a:solidFill>
                <a:latin typeface="Consolas"/>
                <a:cs typeface="Consolas" panose="020B0609020204030204" pitchFamily="49" charset="0"/>
              </a:rPr>
              <a:t>response</a:t>
            </a:r>
            <a:r>
              <a:rPr lang="en-US" sz="1100">
                <a:solidFill>
                  <a:srgbClr val="3B3B3B"/>
                </a:solidFill>
                <a:latin typeface="Consolas"/>
                <a:cs typeface="Consolas" panose="020B0609020204030204" pitchFamily="49" charset="0"/>
              </a:rPr>
              <a:t> </a:t>
            </a:r>
            <a:r>
              <a:rPr lang="en-US" sz="1100">
                <a:solidFill>
                  <a:srgbClr val="000000"/>
                </a:solidFill>
                <a:latin typeface="Consolas"/>
                <a:cs typeface="Consolas" panose="020B0609020204030204" pitchFamily="49" charset="0"/>
              </a:rPr>
              <a:t>=</a:t>
            </a:r>
            <a:r>
              <a:rPr lang="en-US" sz="1100">
                <a:solidFill>
                  <a:srgbClr val="3B3B3B"/>
                </a:solidFill>
                <a:latin typeface="Consolas"/>
                <a:cs typeface="Consolas" panose="020B0609020204030204" pitchFamily="49" charset="0"/>
              </a:rPr>
              <a:t> </a:t>
            </a:r>
            <a:r>
              <a:rPr lang="en-US" sz="1100">
                <a:solidFill>
                  <a:srgbClr val="AF00DB"/>
                </a:solidFill>
                <a:latin typeface="Consolas"/>
                <a:cs typeface="Consolas" panose="020B0609020204030204" pitchFamily="49" charset="0"/>
              </a:rPr>
              <a:t>await</a:t>
            </a:r>
            <a:r>
              <a:rPr lang="en-US" sz="1100">
                <a:solidFill>
                  <a:srgbClr val="3B3B3B"/>
                </a:solidFill>
                <a:latin typeface="Consolas"/>
                <a:cs typeface="Consolas" panose="020B0609020204030204" pitchFamily="49" charset="0"/>
              </a:rPr>
              <a:t> </a:t>
            </a:r>
            <a:r>
              <a:rPr lang="en-US" sz="1100" err="1">
                <a:solidFill>
                  <a:srgbClr val="001080"/>
                </a:solidFill>
                <a:latin typeface="Consolas"/>
                <a:cs typeface="Consolas" panose="020B0609020204030204" pitchFamily="49" charset="0"/>
              </a:rPr>
              <a:t>agent</a:t>
            </a:r>
            <a:r>
              <a:rPr lang="en-US" sz="1100" b="0" err="1">
                <a:solidFill>
                  <a:srgbClr val="3B3B3B"/>
                </a:solidFill>
                <a:effectLst/>
                <a:latin typeface="Consolas"/>
                <a:cs typeface="Consolas" panose="020B0609020204030204" pitchFamily="49" charset="0"/>
              </a:rPr>
              <a:t>.</a:t>
            </a:r>
            <a:r>
              <a:rPr lang="en-US" sz="1100" err="1">
                <a:solidFill>
                  <a:srgbClr val="3B3B3B"/>
                </a:solidFill>
                <a:latin typeface="Consolas"/>
                <a:cs typeface="Consolas" panose="020B0609020204030204" pitchFamily="49" charset="0"/>
              </a:rPr>
              <a:t>run</a:t>
            </a:r>
            <a:r>
              <a:rPr lang="en-US" sz="1100">
                <a:solidFill>
                  <a:srgbClr val="3B3B3B"/>
                </a:solidFill>
                <a:latin typeface="Consolas"/>
                <a:cs typeface="Consolas" panose="020B0609020204030204" pitchFamily="49" charset="0"/>
              </a:rPr>
              <a:t>(</a:t>
            </a:r>
            <a:endParaRPr lang="en-US" sz="1100">
              <a:latin typeface="Consolas"/>
            </a:endParaRPr>
          </a:p>
          <a:p>
            <a:r>
              <a:rPr lang="en-US" sz="1100" b="0">
                <a:solidFill>
                  <a:srgbClr val="A31515"/>
                </a:solidFill>
                <a:effectLst/>
                <a:latin typeface="Consolas"/>
                <a:cs typeface="Consolas" panose="020B0609020204030204" pitchFamily="49" charset="0"/>
              </a:rPr>
              <a:t>  "</a:t>
            </a:r>
            <a:r>
              <a:rPr lang="en-US" sz="1100">
                <a:solidFill>
                  <a:srgbClr val="A31515"/>
                </a:solidFill>
                <a:latin typeface="Consolas"/>
                <a:cs typeface="Consolas" panose="020B0609020204030204" pitchFamily="49" charset="0"/>
              </a:rPr>
              <a:t>Top 5 selling products for store 1"</a:t>
            </a:r>
            <a:r>
              <a:rPr lang="en-US" sz="1100">
                <a:solidFill>
                  <a:srgbClr val="3B3B3B"/>
                </a:solidFill>
                <a:latin typeface="Consolas"/>
                <a:cs typeface="Consolas" panose="020B0609020204030204" pitchFamily="49" charset="0"/>
              </a:rPr>
              <a:t>,</a:t>
            </a:r>
            <a:endParaRPr lang="en-US" sz="1100">
              <a:latin typeface="Consolas"/>
            </a:endParaRPr>
          </a:p>
          <a:p>
            <a:r>
              <a:rPr lang="en-US" sz="1100" err="1">
                <a:solidFill>
                  <a:srgbClr val="001080"/>
                </a:solidFill>
                <a:latin typeface="Consolas"/>
                <a:cs typeface="Consolas" panose="020B0609020204030204" pitchFamily="49" charset="0"/>
              </a:rPr>
              <a:t>  response</a:t>
            </a:r>
            <a:r>
              <a:rPr lang="en-US" sz="1100" b="0" err="1">
                <a:solidFill>
                  <a:srgbClr val="001080"/>
                </a:solidFill>
                <a:effectLst/>
                <a:latin typeface="Consolas"/>
                <a:cs typeface="Consolas" panose="020B0609020204030204" pitchFamily="49" charset="0"/>
              </a:rPr>
              <a:t>_</a:t>
            </a:r>
            <a:r>
              <a:rPr lang="en-US" sz="1100" err="1">
                <a:solidFill>
                  <a:srgbClr val="001080"/>
                </a:solidFill>
                <a:latin typeface="Consolas"/>
                <a:cs typeface="Consolas" panose="020B0609020204030204" pitchFamily="49" charset="0"/>
              </a:rPr>
              <a:t>format</a:t>
            </a:r>
            <a:r>
              <a:rPr lang="en-US" sz="1100">
                <a:solidFill>
                  <a:srgbClr val="000000"/>
                </a:solidFill>
                <a:latin typeface="Consolas"/>
                <a:cs typeface="Consolas" panose="020B0609020204030204" pitchFamily="49" charset="0"/>
              </a:rPr>
              <a:t>=</a:t>
            </a:r>
            <a:r>
              <a:rPr lang="en-US" sz="1100">
                <a:solidFill>
                  <a:srgbClr val="3B3B3B"/>
                </a:solidFill>
                <a:latin typeface="Consolas"/>
                <a:cs typeface="Consolas" panose="020B0609020204030204" pitchFamily="49" charset="0"/>
              </a:rPr>
              <a:t>ProductsAgentResponse</a:t>
            </a:r>
            <a:endParaRPr lang="en-US" sz="1100">
              <a:solidFill>
                <a:srgbClr val="3B3B3B"/>
              </a:solidFill>
              <a:latin typeface="Consolas"/>
            </a:endParaRPr>
          </a:p>
          <a:p>
            <a:r>
              <a:rPr lang="en-US" sz="1100">
                <a:solidFill>
                  <a:srgbClr val="3B3B3B"/>
                </a:solidFill>
                <a:latin typeface="Consolas"/>
              </a:rPr>
              <a:t>)</a:t>
            </a:r>
            <a:endParaRPr lang="en-US" sz="2800">
              <a:latin typeface="Consolas"/>
            </a:endParaRPr>
          </a:p>
          <a:p>
            <a:r>
              <a:rPr lang="en-US" sz="1100">
                <a:solidFill>
                  <a:srgbClr val="001080"/>
                </a:solidFill>
                <a:latin typeface="Consolas"/>
                <a:cs typeface="Consolas" panose="020B0609020204030204" pitchFamily="49" charset="0"/>
              </a:rPr>
              <a:t>products</a:t>
            </a:r>
            <a:r>
              <a:rPr lang="en-US" sz="1100" b="0">
                <a:solidFill>
                  <a:srgbClr val="3B3B3B"/>
                </a:solidFill>
                <a:effectLst/>
                <a:latin typeface="Consolas"/>
                <a:cs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000000"/>
                </a:solidFill>
                <a:effectLst/>
                <a:latin typeface="Consolas"/>
                <a:cs typeface="Consolas" panose="020B0609020204030204" pitchFamily="49" charset="0"/>
              </a:rPr>
              <a:t>=</a:t>
            </a:r>
            <a:r>
              <a:rPr lang="en-US" sz="1100" b="0">
                <a:solidFill>
                  <a:srgbClr val="3B3B3B"/>
                </a:solidFill>
                <a:effectLst/>
                <a:latin typeface="Consolas"/>
                <a:cs typeface="Consolas" panose="020B0609020204030204" pitchFamily="49" charset="0"/>
              </a:rPr>
              <a:t> </a:t>
            </a:r>
            <a:r>
              <a:rPr lang="en-US" sz="1100" err="1">
                <a:solidFill>
                  <a:srgbClr val="001080"/>
                </a:solidFill>
                <a:latin typeface="Consolas"/>
                <a:cs typeface="Consolas" panose="020B0609020204030204" pitchFamily="49" charset="0"/>
              </a:rPr>
              <a:t>response</a:t>
            </a:r>
            <a:r>
              <a:rPr lang="en-US" sz="1100" b="0" err="1">
                <a:solidFill>
                  <a:srgbClr val="3B3B3B"/>
                </a:solidFill>
                <a:effectLst/>
                <a:latin typeface="Consolas"/>
                <a:cs typeface="Consolas" panose="020B0609020204030204" pitchFamily="49" charset="0"/>
              </a:rPr>
              <a:t>.</a:t>
            </a:r>
            <a:r>
              <a:rPr lang="en-US" sz="1100" err="1">
                <a:solidFill>
                  <a:srgbClr val="3B3B3B"/>
                </a:solidFill>
                <a:latin typeface="Consolas"/>
                <a:cs typeface="Consolas" panose="020B0609020204030204" pitchFamily="49" charset="0"/>
              </a:rPr>
              <a:t>value</a:t>
            </a:r>
            <a:r>
              <a:rPr lang="en-US" sz="1100" b="0" err="1">
                <a:solidFill>
                  <a:srgbClr val="3B3B3B"/>
                </a:solidFill>
                <a:effectLst/>
                <a:latin typeface="Consolas"/>
                <a:cs typeface="Consolas" panose="020B0609020204030204" pitchFamily="49" charset="0"/>
              </a:rPr>
              <a:t>.</a:t>
            </a:r>
            <a:r>
              <a:rPr lang="en-US" sz="1100" err="1">
                <a:solidFill>
                  <a:srgbClr val="3B3B3B"/>
                </a:solidFill>
                <a:latin typeface="Consolas"/>
                <a:cs typeface="Consolas" panose="020B0609020204030204" pitchFamily="49" charset="0"/>
              </a:rPr>
              <a:t>products</a:t>
            </a:r>
            <a:endParaRPr lang="en-US" sz="1100">
              <a:latin typeface="Consola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2648973-BCB6-73DB-60BC-4DA8A20277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3357" y="354726"/>
            <a:ext cx="1364953" cy="1364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366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D4B4487B57D443AED9979943B92646" ma:contentTypeVersion="15" ma:contentTypeDescription="Create a new document." ma:contentTypeScope="" ma:versionID="11635a662f4c9a657eae7bf4dc620629">
  <xsd:schema xmlns:xsd="http://www.w3.org/2001/XMLSchema" xmlns:xs="http://www.w3.org/2001/XMLSchema" xmlns:p="http://schemas.microsoft.com/office/2006/metadata/properties" xmlns:ns1="http://schemas.microsoft.com/sharepoint/v3" xmlns:ns2="a29421e1-74d8-4915-bb0d-c72892872ba0" xmlns:ns3="230e9df3-be65-4c73-a93b-d1236ebd677e" targetNamespace="http://schemas.microsoft.com/office/2006/metadata/properties" ma:root="true" ma:fieldsID="dff1dd5af459cf9d2efcc6111ef93463" ns1:_="" ns2:_="" ns3:_="">
    <xsd:import namespace="http://schemas.microsoft.com/sharepoint/v3"/>
    <xsd:import namespace="a29421e1-74d8-4915-bb0d-c72892872ba0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ocTag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9421e1-74d8-4915-bb0d-c72892872ba0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ocTags" ma:index="18" nillable="true" ma:displayName="MediaServiceDocTags" ma:hidden="true" ma:internalName="MediaServiceDocTags" ma:readOnly="true">
      <xsd:simpleType>
        <xsd:restriction base="dms:Note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12b3914-fd28-4b53-a746-fcfd87edfe12}" ma:internalName="TaxCatchAll" ma:showField="CatchAllData" ma:web="c2fe79a6-8abe-455d-ad41-5c60efd42c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Properties xmlns="http://schemas.microsoft.com/sharepoint/v3" xsi:nil="true"/>
    <_ip_UnifiedCompliancePolicyUIAction xmlns="http://schemas.microsoft.com/sharepoint/v3" xsi:nil="true"/>
    <lcf76f155ced4ddcb4097134ff3c332f xmlns="a29421e1-74d8-4915-bb0d-c72892872ba0">
      <Terms xmlns="http://schemas.microsoft.com/office/infopath/2007/PartnerControls"/>
    </lcf76f155ced4ddcb4097134ff3c332f>
    <TaxCatchAll xmlns="230e9df3-be65-4c73-a93b-d1236ebd677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8D59771-71B4-4847-9822-DD4E937058CF}"/>
</file>

<file path=customXml/itemProps2.xml><?xml version="1.0" encoding="utf-8"?>
<ds:datastoreItem xmlns:ds="http://schemas.openxmlformats.org/officeDocument/2006/customXml" ds:itemID="{09898A2C-BE4D-4D93-AD47-903F380990E0}">
  <ds:schemaRefs>
    <ds:schemaRef ds:uri="http://purl.org/dc/terms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230e9df3-be65-4c73-a93b-d1236ebd677e"/>
    <ds:schemaRef ds:uri="http://purl.org/dc/elements/1.1/"/>
    <ds:schemaRef ds:uri="496da845-320a-4090-a8c1-9d38d24895f3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4d763a3d-abd4-45ac-ad35-6c0fa32d5be4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0B3390A4-EB81-4EDD-9EA1-D4D1BA7CABC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4190</Words>
  <Application>Microsoft Macintosh PowerPoint</Application>
  <PresentationFormat>Widescreen</PresentationFormat>
  <Paragraphs>598</Paragraphs>
  <Slides>50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50</vt:i4>
      </vt:variant>
    </vt:vector>
  </HeadingPairs>
  <TitlesOfParts>
    <vt:vector size="64" baseType="lpstr">
      <vt:lpstr>-apple-system</vt:lpstr>
      <vt:lpstr>Aptos</vt:lpstr>
      <vt:lpstr>Aptos Display</vt:lpstr>
      <vt:lpstr>Aptos Display (Headings)</vt:lpstr>
      <vt:lpstr>Arial</vt:lpstr>
      <vt:lpstr>Calibri</vt:lpstr>
      <vt:lpstr>Consolas</vt:lpstr>
      <vt:lpstr>Menlo</vt:lpstr>
      <vt:lpstr>Quire Sans</vt:lpstr>
      <vt:lpstr>Segoe Print</vt:lpstr>
      <vt:lpstr>Segoe UI</vt:lpstr>
      <vt:lpstr>Segoe UI Semibold</vt:lpstr>
      <vt:lpstr>Office Theme</vt:lpstr>
      <vt:lpstr>1_Office Theme</vt:lpstr>
      <vt:lpstr>PowerPoint Presentation</vt:lpstr>
      <vt:lpstr>Python + Agents</vt:lpstr>
      <vt:lpstr>Today we'll cover...</vt:lpstr>
      <vt:lpstr>Want to follow along?</vt:lpstr>
      <vt:lpstr>Agents 101</vt:lpstr>
      <vt:lpstr>What is an agent?</vt:lpstr>
      <vt:lpstr>Python AI agent frameworks</vt:lpstr>
      <vt:lpstr>Calling tools without a framework</vt:lpstr>
      <vt:lpstr>What is "tool calling"?</vt:lpstr>
      <vt:lpstr>Tool calling flow</vt:lpstr>
      <vt:lpstr>Step 1) Tell the LLM what functions it can call</vt:lpstr>
      <vt:lpstr>Step 2) Get function name and args from response</vt:lpstr>
      <vt:lpstr>Step 3) Call a local function based on response</vt:lpstr>
      <vt:lpstr>Step 4) Send tool results to LLM for final answer</vt:lpstr>
      <vt:lpstr>Building agents with agent-framework</vt:lpstr>
      <vt:lpstr>Single agent with tool</vt:lpstr>
      <vt:lpstr>Single agent with tool</vt:lpstr>
      <vt:lpstr>Single agent with multiple tools</vt:lpstr>
      <vt:lpstr>Single agent with tools</vt:lpstr>
      <vt:lpstr>Local experimentation with DevUI</vt:lpstr>
      <vt:lpstr>Integrating agents with MCP server tools</vt:lpstr>
      <vt:lpstr>Model Context Protocol</vt:lpstr>
      <vt:lpstr>MCP client + server architecture</vt:lpstr>
      <vt:lpstr>Single agent with MCP servers</vt:lpstr>
      <vt:lpstr>Agent with local MCP server</vt:lpstr>
      <vt:lpstr>Agent with remote MCP server</vt:lpstr>
      <vt:lpstr>Agent middleware</vt:lpstr>
      <vt:lpstr>Agent middleware</vt:lpstr>
      <vt:lpstr>Agent Middleware example</vt:lpstr>
      <vt:lpstr>Chat Middleware example</vt:lpstr>
      <vt:lpstr>Function Middleware example</vt:lpstr>
      <vt:lpstr>Class-based middleware</vt:lpstr>
      <vt:lpstr>Middleware with termination</vt:lpstr>
      <vt:lpstr>Registering middleware per agent</vt:lpstr>
      <vt:lpstr>Registering middleware per run</vt:lpstr>
      <vt:lpstr>Middleware scenarios</vt:lpstr>
      <vt:lpstr>Multi-agent architectures</vt:lpstr>
      <vt:lpstr>Supervisor agent with sub-agents</vt:lpstr>
      <vt:lpstr>Supervisor agent with sub-agents</vt:lpstr>
      <vt:lpstr>Multi-agent workflows</vt:lpstr>
      <vt:lpstr>Next steps</vt:lpstr>
      <vt:lpstr>Appendix 🐉</vt:lpstr>
      <vt:lpstr>Learn more</vt:lpstr>
      <vt:lpstr>Migration tips</vt:lpstr>
      <vt:lpstr>MAF vs Semantic Kernel and AutoGen</vt:lpstr>
      <vt:lpstr>Autogen → Agent-framework</vt:lpstr>
      <vt:lpstr>Semantic Kernel → Agent-framework</vt:lpstr>
      <vt:lpstr>Use GitHub Copilot for migration</vt:lpstr>
      <vt:lpstr>E2E sample</vt:lpstr>
      <vt:lpstr>Sample: Agentic Shop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Abril Ureña</dc:creator>
  <cp:lastModifiedBy>Pamela Fox</cp:lastModifiedBy>
  <cp:revision>2</cp:revision>
  <dcterms:created xsi:type="dcterms:W3CDTF">2025-02-24T19:33:09Z</dcterms:created>
  <dcterms:modified xsi:type="dcterms:W3CDTF">2026-02-24T15:34:50Z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0x0101001BD4B4487B57D443AED9979943B92646</vt:lpwstr>
  </property>
  <property fmtid="{D5CDD505-2E9C-101B-9397-08002B2CF9AE}" pid="3" name="_SourceUrl">
    <vt:lpwstr/>
  </property>
  <property fmtid="{D5CDD505-2E9C-101B-9397-08002B2CF9AE}" pid="4" name="_SharedFileIndex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MediaServiceImageTags">
    <vt:lpwstr/>
  </property>
  <property fmtid="{D5CDD505-2E9C-101B-9397-08002B2CF9AE}" pid="9" name="Order">
    <vt:lpwstr>26550500.0000000</vt:lpwstr>
  </property>
  <property fmtid="{D5CDD505-2E9C-101B-9397-08002B2CF9AE}" pid="10" name="xd_ProgID">
    <vt:lpwstr/>
  </property>
  <property fmtid="{D5CDD505-2E9C-101B-9397-08002B2CF9AE}" pid="11" name="TemplateUrl">
    <vt:lpwstr/>
  </property>
  <property fmtid="{D5CDD505-2E9C-101B-9397-08002B2CF9AE}" pid="12" name="xd_Signature">
    <vt:lpwstr/>
  </property>
</Properties>
</file>