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notesMasterIdLst>
    <p:notesMasterId r:id="rId51"/>
  </p:notesMasterIdLst>
  <p:handoutMasterIdLst>
    <p:handoutMasterId r:id="rId52"/>
  </p:handoutMasterIdLst>
  <p:sldIdLst>
    <p:sldId id="2147482949" r:id="rId6"/>
    <p:sldId id="258" r:id="rId7"/>
    <p:sldId id="269" r:id="rId8"/>
    <p:sldId id="2147482952" r:id="rId9"/>
    <p:sldId id="2147482995" r:id="rId10"/>
    <p:sldId id="2147483001" r:id="rId11"/>
    <p:sldId id="2147483030" r:id="rId12"/>
    <p:sldId id="2147483020" r:id="rId13"/>
    <p:sldId id="2147483016" r:id="rId14"/>
    <p:sldId id="2147483017" r:id="rId15"/>
    <p:sldId id="2147483018" r:id="rId16"/>
    <p:sldId id="2147482999" r:id="rId17"/>
    <p:sldId id="2147482988" r:id="rId18"/>
    <p:sldId id="2147482996" r:id="rId19"/>
    <p:sldId id="2147482939" r:id="rId20"/>
    <p:sldId id="2147482997" r:id="rId21"/>
    <p:sldId id="2147482986" r:id="rId22"/>
    <p:sldId id="2147483000" r:id="rId23"/>
    <p:sldId id="2147482987" r:id="rId24"/>
    <p:sldId id="2147482991" r:id="rId25"/>
    <p:sldId id="2147482990" r:id="rId26"/>
    <p:sldId id="2147482992" r:id="rId27"/>
    <p:sldId id="2147482994" r:id="rId28"/>
    <p:sldId id="2147482941" r:id="rId29"/>
    <p:sldId id="2147482993" r:id="rId30"/>
    <p:sldId id="2147483021" r:id="rId31"/>
    <p:sldId id="2147483022" r:id="rId32"/>
    <p:sldId id="2147483023" r:id="rId33"/>
    <p:sldId id="2147483024" r:id="rId34"/>
    <p:sldId id="2147483025" r:id="rId35"/>
    <p:sldId id="2147483026" r:id="rId36"/>
    <p:sldId id="2147483027" r:id="rId37"/>
    <p:sldId id="2147483028" r:id="rId38"/>
    <p:sldId id="2147483029" r:id="rId39"/>
    <p:sldId id="2147482984" r:id="rId40"/>
    <p:sldId id="2147483006" r:id="rId41"/>
    <p:sldId id="2147482840" r:id="rId42"/>
    <p:sldId id="2147483007" r:id="rId43"/>
    <p:sldId id="2147482975" r:id="rId44"/>
    <p:sldId id="2147483008" r:id="rId45"/>
    <p:sldId id="2147482943" r:id="rId46"/>
    <p:sldId id="2147483010" r:id="rId47"/>
    <p:sldId id="2147483009" r:id="rId48"/>
    <p:sldId id="2147483011" r:id="rId49"/>
    <p:sldId id="284" r:id="rId5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ive-Session-ENG" id="{B55AA1A6-1AEB-42C7-A277-7C712E3B5BC2}">
          <p14:sldIdLst>
            <p14:sldId id="2147482949"/>
          </p14:sldIdLst>
        </p14:section>
        <p14:section name="Live-Session-SPA" id="{B9C86BE3-CCD5-495F-8E27-EB498F132A85}">
          <p14:sldIdLst/>
        </p14:section>
        <p14:section name="Overview" id="{3CAE196B-5A6C-4D22-A2AD-1CDB052C40B7}">
          <p14:sldIdLst>
            <p14:sldId id="258"/>
            <p14:sldId id="269"/>
            <p14:sldId id="2147482952"/>
            <p14:sldId id="2147482995"/>
          </p14:sldIdLst>
        </p14:section>
        <p14:section name="Main content" id="{660B4914-61C5-4613-82D6-881ED96EA14E}">
          <p14:sldIdLst>
            <p14:sldId id="2147483001"/>
            <p14:sldId id="2147483030"/>
            <p14:sldId id="2147483020"/>
            <p14:sldId id="2147483016"/>
            <p14:sldId id="2147483017"/>
            <p14:sldId id="2147483018"/>
            <p14:sldId id="2147482999"/>
            <p14:sldId id="2147482988"/>
            <p14:sldId id="2147482996"/>
            <p14:sldId id="2147482939"/>
            <p14:sldId id="2147482997"/>
            <p14:sldId id="2147482986"/>
            <p14:sldId id="2147483000"/>
            <p14:sldId id="2147482987"/>
            <p14:sldId id="2147482991"/>
            <p14:sldId id="2147482990"/>
            <p14:sldId id="2147482992"/>
            <p14:sldId id="2147482994"/>
            <p14:sldId id="2147482941"/>
            <p14:sldId id="2147482993"/>
            <p14:sldId id="2147483021"/>
            <p14:sldId id="2147483022"/>
            <p14:sldId id="2147483023"/>
            <p14:sldId id="2147483024"/>
            <p14:sldId id="2147483025"/>
            <p14:sldId id="2147483026"/>
            <p14:sldId id="2147483027"/>
            <p14:sldId id="2147483028"/>
            <p14:sldId id="2147483029"/>
            <p14:sldId id="2147482984"/>
            <p14:sldId id="2147483006"/>
            <p14:sldId id="2147482840"/>
            <p14:sldId id="2147483007"/>
            <p14:sldId id="2147482975"/>
            <p14:sldId id="2147483008"/>
            <p14:sldId id="2147482943"/>
            <p14:sldId id="2147483010"/>
            <p14:sldId id="2147483009"/>
            <p14:sldId id="2147483011"/>
          </p14:sldIdLst>
        </p14:section>
        <p14:section name="Thank you" id="{18039BEC-4E63-4173-80E5-4B32294302B2}">
          <p14:sldIdLst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5B73632-6CE1-F5AC-1EEB-9FB25C076E5B}" name="Matt Gotteiner" initials="MG" userId="S::magottei@microsoft.com::44e5f686-35a1-4e2c-9ff3-7b6adafcd3c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2A9"/>
    <a:srgbClr val="F08382"/>
    <a:srgbClr val="CAEDFF"/>
    <a:srgbClr val="979FA9"/>
    <a:srgbClr val="CF6968"/>
    <a:srgbClr val="45698B"/>
    <a:srgbClr val="B7CEF4"/>
    <a:srgbClr val="73FCD6"/>
    <a:srgbClr val="556EAF"/>
    <a:srgbClr val="AEB5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0A15C55-8517-42AA-B614-E9B94910E39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85"/>
    <p:restoredTop sz="84885"/>
  </p:normalViewPr>
  <p:slideViewPr>
    <p:cSldViewPr snapToGrid="0">
      <p:cViewPr varScale="1">
        <p:scale>
          <a:sx n="122" d="100"/>
          <a:sy n="122" d="100"/>
        </p:scale>
        <p:origin x="148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tableStyles" Target="tableStyles.xml"/><Relationship Id="rId8" Type="http://schemas.openxmlformats.org/officeDocument/2006/relationships/slide" Target="slides/slide3.xml"/><Relationship Id="rId51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microsoft.com/office/2018/10/relationships/authors" Target="authors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19050" cap="rnd">
              <a:solidFill>
                <a:srgbClr val="399A9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399A91"/>
              </a:solidFill>
              <a:ln w="9525">
                <a:noFill/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74</c:v>
                </c:pt>
                <c:pt idx="1">
                  <c:v>66</c:v>
                </c:pt>
                <c:pt idx="2">
                  <c:v>61</c:v>
                </c:pt>
                <c:pt idx="3">
                  <c:v>57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020-284B-9200-5DFEE09562E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</c:numCache>
            </c:numRef>
          </c:xVal>
          <c:yVal>
            <c:numRef>
              <c:f>Sheet1!$C$2:$C$5</c:f>
              <c:numCache>
                <c:formatCode>General</c:formatCode>
                <c:ptCount val="4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F020-284B-9200-5DFEE09562E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Column2</c:v>
                </c:pt>
              </c:strCache>
            </c:strRef>
          </c:tx>
          <c:spPr>
            <a:ln w="19050" cap="rnd">
              <a:solidFill>
                <a:srgbClr val="0078D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78D4"/>
              </a:solidFill>
              <a:ln w="9525">
                <a:noFill/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</c:numCache>
            </c:numRef>
          </c:xVal>
          <c:yVal>
            <c:numRef>
              <c:f>Sheet1!$D$2:$D$5</c:f>
              <c:numCache>
                <c:formatCode>General</c:formatCode>
                <c:ptCount val="4"/>
                <c:pt idx="0">
                  <c:v>66</c:v>
                </c:pt>
                <c:pt idx="1">
                  <c:v>63</c:v>
                </c:pt>
                <c:pt idx="2">
                  <c:v>58</c:v>
                </c:pt>
                <c:pt idx="3">
                  <c:v>55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F020-284B-9200-5DFEE09562E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Column3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</c:numCache>
            </c:numRef>
          </c:xVal>
          <c:yVal>
            <c:numRef>
              <c:f>Sheet1!$E$2:$E$5</c:f>
              <c:numCache>
                <c:formatCode>General</c:formatCode>
                <c:ptCount val="4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F020-284B-9200-5DFEE09562E3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Column4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noFill/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</c:numCache>
            </c:numRef>
          </c:xVal>
          <c:yVal>
            <c:numRef>
              <c:f>Sheet1!$F$2:$F$5</c:f>
              <c:numCache>
                <c:formatCode>General</c:formatCode>
                <c:ptCount val="4"/>
                <c:pt idx="0">
                  <c:v>64</c:v>
                </c:pt>
                <c:pt idx="1">
                  <c:v>60</c:v>
                </c:pt>
                <c:pt idx="2">
                  <c:v>58</c:v>
                </c:pt>
                <c:pt idx="3">
                  <c:v>57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F020-284B-9200-5DFEE09562E3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Column5</c:v>
                </c:pt>
              </c:strCache>
            </c:strRef>
          </c:tx>
          <c:spPr>
            <a:ln w="19050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</c:numCache>
            </c:numRef>
          </c:xVal>
          <c:yVal>
            <c:numRef>
              <c:f>Sheet1!$G$2:$G$5</c:f>
              <c:numCache>
                <c:formatCode>General</c:formatCode>
                <c:ptCount val="4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F020-284B-9200-5DFEE09562E3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Column6</c:v>
                </c:pt>
              </c:strCache>
            </c:strRef>
          </c:tx>
          <c:spPr>
            <a:ln w="19050" cap="rnd">
              <a:solidFill>
                <a:srgbClr val="C03BC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C03BC4"/>
              </a:solidFill>
              <a:ln w="9525">
                <a:noFill/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</c:numCache>
            </c:numRef>
          </c:xVal>
          <c:yVal>
            <c:numRef>
              <c:f>Sheet1!$H$2:$H$5</c:f>
              <c:numCache>
                <c:formatCode>General</c:formatCode>
                <c:ptCount val="4"/>
                <c:pt idx="0">
                  <c:v>64</c:v>
                </c:pt>
                <c:pt idx="1">
                  <c:v>60</c:v>
                </c:pt>
                <c:pt idx="2">
                  <c:v>58</c:v>
                </c:pt>
                <c:pt idx="3">
                  <c:v>57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F020-284B-9200-5DFEE09562E3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Column7</c:v>
                </c:pt>
              </c:strCache>
            </c:strRef>
          </c:tx>
          <c:spPr>
            <a:ln w="19050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>
                  <a:lumMod val="60000"/>
                </a:schemeClr>
              </a:solidFill>
              <a:ln w="9525">
                <a:solidFill>
                  <a:schemeClr val="accent2">
                    <a:lumMod val="60000"/>
                  </a:schemeClr>
                </a:solidFill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</c:numCache>
            </c:numRef>
          </c:xVal>
          <c:yVal>
            <c:numRef>
              <c:f>Sheet1!$I$2:$I$5</c:f>
              <c:numCache>
                <c:formatCode>General</c:formatCode>
                <c:ptCount val="4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F020-284B-9200-5DFEE09562E3}"/>
            </c:ext>
          </c:extLst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Column8</c:v>
                </c:pt>
              </c:strCache>
            </c:strRef>
          </c:tx>
          <c:spPr>
            <a:ln w="19050" cap="rnd">
              <a:solidFill>
                <a:srgbClr val="FF5C3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5C39"/>
              </a:solidFill>
              <a:ln w="9525">
                <a:noFill/>
              </a:ln>
              <a:effectLst/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</c:numCache>
            </c:numRef>
          </c:xVal>
          <c:yVal>
            <c:numRef>
              <c:f>Sheet1!$J$2:$J$5</c:f>
              <c:numCache>
                <c:formatCode>General</c:formatCode>
                <c:ptCount val="4"/>
                <c:pt idx="0">
                  <c:v>64</c:v>
                </c:pt>
                <c:pt idx="1">
                  <c:v>59</c:v>
                </c:pt>
                <c:pt idx="2">
                  <c:v>54</c:v>
                </c:pt>
                <c:pt idx="3">
                  <c:v>51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8-F020-284B-9200-5DFEE09562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1314224"/>
        <c:axId val="1889209744"/>
      </c:scatterChart>
      <c:valAx>
        <c:axId val="171314224"/>
        <c:scaling>
          <c:orientation val="minMax"/>
          <c:max val="30"/>
          <c:min val="5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89209744"/>
        <c:crosses val="autoZero"/>
        <c:crossBetween val="midCat"/>
      </c:valAx>
      <c:valAx>
        <c:axId val="1889209744"/>
        <c:scaling>
          <c:orientation val="minMax"/>
          <c:max val="75"/>
          <c:min val="5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131422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023C7EB-5B7F-EC35-C47A-3E71DEC2AD3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9F19CB-5D50-8F75-DC84-99B30658E15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088F21-FC08-4265-A0EA-7DCAAA8A0386}" type="datetimeFigureOut">
              <a:rPr lang="es-MX" smtClean="0"/>
              <a:t>25/02/26</a:t>
            </a:fld>
            <a:endParaRPr lang="es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D974DA-6BA0-F689-ED4C-B26987C81F9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1571DD-CE34-DB8F-9E07-DC1DF621732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A85052-7AF3-4E33-B760-A67F7CF6271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963714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429A59-3B4E-43BA-8563-6D5BDB7C83C0}" type="datetimeFigureOut">
              <a:rPr lang="es-MX" smtClean="0"/>
              <a:t>25/02/26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6777DB-9E19-4DE0-B5FC-477F0E7FE6A0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2487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Most basic form of memory – what were we talking about earlier?!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777DB-9E19-4DE0-B5FC-477F0E7FE6A0}" type="slidenum">
              <a:rPr lang="es-MX" smtClean="0"/>
              <a:t>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423375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777DB-9E19-4DE0-B5FC-477F0E7FE6A0}" type="slidenum">
              <a:rPr lang="es-MX" smtClean="0"/>
              <a:t>17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312600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9F453-205C-652E-5B84-63271686B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2049E7-1CE7-D53E-7973-40FC73D197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B1EB20-A3EC-69A9-D742-45531929FE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9FE240-1EFC-6D0D-BF07-8F383A6E68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777DB-9E19-4DE0-B5FC-477F0E7FE6A0}" type="slidenum">
              <a:rPr lang="es-MX" smtClean="0"/>
              <a:t>29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04266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B39F9-93DA-F280-E43D-8EED2FBE7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752DBE-38E3-6569-3AFF-92BB2725CA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552D97-7040-A8DD-1C90-53835B6974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28877E-1541-4D6B-B387-A8129783A7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777DB-9E19-4DE0-B5FC-477F0E7FE6A0}" type="slidenum">
              <a:rPr lang="es-MX" smtClean="0"/>
              <a:t>31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980842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FB175-12B3-7E34-0DCD-3FBC80AB9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4480E1-3370-2529-63E0-9BEEC90855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00EFC5-76FD-1C08-5642-962D870FDB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/>
              <a:t>Before the search step:</a:t>
            </a:r>
          </a:p>
          <a:p>
            <a:pPr lvl="1"/>
            <a:r>
              <a:rPr lang="en-US" sz="2000"/>
              <a:t>Query rewriting ("what do you have for kayaking?" → "kayaking gear")</a:t>
            </a:r>
          </a:p>
          <a:p>
            <a:pPr lvl="1"/>
            <a:r>
              <a:rPr lang="en-US" sz="2000"/>
              <a:t>Multiple knowledge sources with source selection ("kayaking" → "outdoor_products_db")</a:t>
            </a:r>
          </a:p>
          <a:p>
            <a:r>
              <a:rPr lang="en-US" sz="2400"/>
              <a:t>After the results return:</a:t>
            </a:r>
          </a:p>
          <a:p>
            <a:pPr lvl="1"/>
            <a:r>
              <a:rPr lang="en-US" sz="2000"/>
              <a:t>Re-ranking model (["paddle", "boat"] → ["boat", "paddle"])</a:t>
            </a:r>
          </a:p>
          <a:p>
            <a:pPr lvl="1"/>
            <a:r>
              <a:rPr lang="en-US" sz="2000"/>
              <a:t>Reflection and iterative search ("results not good enough?" → "search again!")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/>
              <a:t>You can also implement many techniques implementing retrieval as a tool!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3053A4-BAD5-AB85-54A6-7EBB61DAB2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777DB-9E19-4DE0-B5FC-477F0E7FE6A0}" type="slidenum">
              <a:rPr lang="es-MX" smtClean="0"/>
              <a:t>33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701669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Sub-agents: </a:t>
            </a:r>
            <a:r>
              <a:rPr lang="en-US"/>
              <a:t>Agent calls a sub-agent that gets the relevant context and then only provides the summary version that's helpful for the main task</a:t>
            </a:r>
          </a:p>
          <a:p>
            <a:pPr marL="457200" lvl="1" indent="0">
              <a:buNone/>
            </a:pPr>
            <a:r>
              <a:rPr lang="en-US"/>
              <a:t>(See deep-agents in Langchain)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777DB-9E19-4DE0-B5FC-477F0E7FE6A0}" type="slidenum">
              <a:rPr lang="es-MX" smtClean="0"/>
              <a:t>41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133769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4F094-E086-5ACE-FB61-CA7F88091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DDFD9E-9B72-6C2A-1609-51DEAFD939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19241C-DC9E-F051-B312-71EECFFEDC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Sub-agents: </a:t>
            </a:r>
            <a:r>
              <a:rPr lang="en-US"/>
              <a:t>Agent calls a sub-agent that gets the relevant context and then only provides the summary version that's helpful for the main task</a:t>
            </a:r>
          </a:p>
          <a:p>
            <a:pPr marL="457200" lvl="1" indent="0">
              <a:buNone/>
            </a:pPr>
            <a:r>
              <a:rPr lang="en-US"/>
              <a:t>(See deep-agents in Langchain)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885F9-C46F-FABD-E9B0-3B34A875CC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777DB-9E19-4DE0-B5FC-477F0E7FE6A0}" type="slidenum">
              <a:rPr lang="es-MX" smtClean="0"/>
              <a:t>43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976474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2F7F0-AF47-1876-8A7B-845429D2A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94816B-E378-AB59-F7D6-1F98B1DB7E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99FE85-40FC-F0F7-DCB7-725E1284DA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Large outputs: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The sub-agent absorbs raw data (file contents, search results) and returns only a summary. Our demo showed 6,714 input tokens without vs 623 with — 10.8x reduction.</a:t>
            </a:r>
          </a:p>
          <a:p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Multi-step research: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When answering requires several chained tool calls, the sub-agent isolates all intermediate work. The coordinator never sees the chain.</a:t>
            </a:r>
          </a:p>
          <a:p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Multiple responsibilities: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If the coordinator also handles planning, user interaction, or other tools, keeping its context clean helps it stay focused and reduces confusion (we saw redundant tool calls in the bloated version).</a:t>
            </a:r>
          </a:p>
          <a:p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Multi-turn: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Context bloat compounds across turns. Sub-agents prevent per-turn tool output from accumulating in history.</a:t>
            </a:r>
          </a:p>
          <a:p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Specialized instructions: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 research sub-agent can be told "return &lt; 200 words" while a coding sub-agent gets "write complete implementations."</a:t>
            </a:r>
          </a:p>
          <a:p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Skip for short responses: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The overhead of an extra LLM round-trip isn't worth it for a tool that returns 50 tokens.</a:t>
            </a:r>
          </a:p>
          <a:p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Skip when raw output needed: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If the main agent must review exact code before editing it, isolating it loses necessary detail.</a:t>
            </a:r>
          </a:p>
          <a:p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Cost tradeoff: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Our test showed ~23% more total tokens with sub-agents (10,211 vs 8,312), but the coordinator's context was 91% smaller.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07A111-87A2-EF5D-6967-46A8111FC6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777DB-9E19-4DE0-B5FC-477F0E7FE6A0}" type="slidenum">
              <a:rPr lang="es-MX" smtClean="0"/>
              <a:t>44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706239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329202D2-7400-B85C-E27C-1C43F148CDD2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8350" cy="686972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endParaRPr lang="es-MX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A6E44D-AF4D-B0D0-2D38-17BF590B4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141154"/>
          </a:xfrm>
        </p:spPr>
        <p:txBody>
          <a:bodyPr anchor="ctr">
            <a:normAutofit/>
          </a:bodyPr>
          <a:lstStyle>
            <a:lvl1pPr>
              <a:defRPr sz="440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73F104-8DDE-A1E6-0719-100ACF2087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850893"/>
            <a:ext cx="10515600" cy="1594358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69DBC-2956-8F47-4E6B-2E507E2D9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4684-00AF-422F-9E70-484377D91052}" type="datetimeFigureOut">
              <a:rPr lang="es-MX" smtClean="0"/>
              <a:t>25/02/26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8C4A3-03C4-5E35-EE53-3E35A3DCB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A0968-75D8-3240-3B7B-524F6AC96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  <p:sp>
        <p:nvSpPr>
          <p:cNvPr id="15" name="Freeform 8">
            <a:extLst>
              <a:ext uri="{FF2B5EF4-FFF2-40B4-BE49-F238E27FC236}">
                <a16:creationId xmlns:a16="http://schemas.microsoft.com/office/drawing/2014/main" id="{4ABE5541-45AA-5D0D-8169-D76F16EACDA3}"/>
              </a:ext>
            </a:extLst>
          </p:cNvPr>
          <p:cNvSpPr/>
          <p:nvPr userDrawn="1"/>
        </p:nvSpPr>
        <p:spPr>
          <a:xfrm>
            <a:off x="739972" y="471669"/>
            <a:ext cx="1860550" cy="525189"/>
          </a:xfrm>
          <a:custGeom>
            <a:avLst/>
            <a:gdLst/>
            <a:ahLst/>
            <a:cxnLst/>
            <a:rect l="l" t="t" r="r" b="b"/>
            <a:pathLst>
              <a:path w="3040582" h="862772">
                <a:moveTo>
                  <a:pt x="0" y="0"/>
                </a:moveTo>
                <a:lnTo>
                  <a:pt x="3040582" y="0"/>
                </a:lnTo>
                <a:lnTo>
                  <a:pt x="3040582" y="862771"/>
                </a:lnTo>
                <a:lnTo>
                  <a:pt x="0" y="8627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542" t="-57395" r="-18192" b="-58446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0C6718F5-4CB2-A424-FD1A-5CC53BB88C2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91633" y="4550797"/>
            <a:ext cx="5156494" cy="1594358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accent6">
                    <a:lumMod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Role</a:t>
            </a:r>
          </a:p>
          <a:p>
            <a:pPr lvl="0"/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B28653AB-9915-A1B3-34BF-C7AA9C6808D9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096000" y="4550797"/>
            <a:ext cx="5249941" cy="1594358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accent6">
                    <a:lumMod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Role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832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329202D2-7400-B85C-E27C-1C43F148CDD2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8350" cy="686972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endParaRPr lang="es-MX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A6E44D-AF4D-B0D0-2D38-17BF590B4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2343"/>
            <a:ext cx="10515600" cy="2852737"/>
          </a:xfrm>
        </p:spPr>
        <p:txBody>
          <a:bodyPr anchor="ctr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73F104-8DDE-A1E6-0719-100ACF2087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423110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69DBC-2956-8F47-4E6B-2E507E2D9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4684-00AF-422F-9E70-484377D91052}" type="datetimeFigureOut">
              <a:rPr lang="es-MX" smtClean="0"/>
              <a:t>25/02/26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8C4A3-03C4-5E35-EE53-3E35A3DCB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A0968-75D8-3240-3B7B-524F6AC96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13161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0295FCD2-FBD5-1EFB-6B99-A5A5A40535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0115F-7367-9831-CC7F-5F32AB3CDF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About you</a:t>
            </a:r>
            <a:endParaRPr lang="es-MX"/>
          </a:p>
        </p:txBody>
      </p:sp>
      <p:grpSp>
        <p:nvGrpSpPr>
          <p:cNvPr id="5" name="Group 6">
            <a:extLst>
              <a:ext uri="{FF2B5EF4-FFF2-40B4-BE49-F238E27FC236}">
                <a16:creationId xmlns:a16="http://schemas.microsoft.com/office/drawing/2014/main" id="{38C10DA9-B70C-145C-3BF4-E96609F6562A}"/>
              </a:ext>
            </a:extLst>
          </p:cNvPr>
          <p:cNvGrpSpPr/>
          <p:nvPr userDrawn="1"/>
        </p:nvGrpSpPr>
        <p:grpSpPr>
          <a:xfrm>
            <a:off x="838200" y="1690688"/>
            <a:ext cx="10515602" cy="5167313"/>
            <a:chOff x="0" y="-234844"/>
            <a:chExt cx="4396591" cy="2457932"/>
          </a:xfrm>
        </p:grpSpPr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670F8A61-A63F-DE51-BC1C-81A4C91CE8F3}"/>
                </a:ext>
              </a:extLst>
            </p:cNvPr>
            <p:cNvSpPr/>
            <p:nvPr/>
          </p:nvSpPr>
          <p:spPr>
            <a:xfrm>
              <a:off x="0" y="-234844"/>
              <a:ext cx="4396591" cy="2457932"/>
            </a:xfrm>
            <a:custGeom>
              <a:avLst/>
              <a:gdLst/>
              <a:ahLst/>
              <a:cxnLst/>
              <a:rect l="l" t="t" r="r" b="b"/>
              <a:pathLst>
                <a:path w="4396591" h="2223088">
                  <a:moveTo>
                    <a:pt x="13449" y="0"/>
                  </a:moveTo>
                  <a:lnTo>
                    <a:pt x="4383141" y="0"/>
                  </a:lnTo>
                  <a:cubicBezTo>
                    <a:pt x="4390569" y="0"/>
                    <a:pt x="4396591" y="6022"/>
                    <a:pt x="4396591" y="13449"/>
                  </a:cubicBezTo>
                  <a:lnTo>
                    <a:pt x="4396591" y="2209638"/>
                  </a:lnTo>
                  <a:cubicBezTo>
                    <a:pt x="4396591" y="2213205"/>
                    <a:pt x="4395174" y="2216626"/>
                    <a:pt x="4392651" y="2219148"/>
                  </a:cubicBezTo>
                  <a:cubicBezTo>
                    <a:pt x="4390129" y="2221671"/>
                    <a:pt x="4386708" y="2223088"/>
                    <a:pt x="4383141" y="2223088"/>
                  </a:cubicBezTo>
                  <a:lnTo>
                    <a:pt x="13449" y="2223088"/>
                  </a:lnTo>
                  <a:cubicBezTo>
                    <a:pt x="6022" y="2223088"/>
                    <a:pt x="0" y="2217066"/>
                    <a:pt x="0" y="2209638"/>
                  </a:cubicBezTo>
                  <a:lnTo>
                    <a:pt x="0" y="13449"/>
                  </a:lnTo>
                  <a:cubicBezTo>
                    <a:pt x="0" y="6022"/>
                    <a:pt x="6022" y="0"/>
                    <a:pt x="13449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TextBox 8">
              <a:extLst>
                <a:ext uri="{FF2B5EF4-FFF2-40B4-BE49-F238E27FC236}">
                  <a16:creationId xmlns:a16="http://schemas.microsoft.com/office/drawing/2014/main" id="{6AD497AD-1ADB-DF0F-B24D-811410E7D65A}"/>
                </a:ext>
              </a:extLst>
            </p:cNvPr>
            <p:cNvSpPr txBox="1"/>
            <p:nvPr/>
          </p:nvSpPr>
          <p:spPr>
            <a:xfrm>
              <a:off x="0" y="-38100"/>
              <a:ext cx="4396590" cy="22611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8A29B-4D9A-F0BE-9E0B-F63084694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267" y="1837854"/>
            <a:ext cx="9863666" cy="43391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3162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0295FCD2-FBD5-1EFB-6B99-A5A5A40535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0115F-7367-9831-CC7F-5F32AB3CDF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About the speakers</a:t>
            </a:r>
            <a:endParaRPr lang="es-MX"/>
          </a:p>
        </p:txBody>
      </p:sp>
      <p:grpSp>
        <p:nvGrpSpPr>
          <p:cNvPr id="12" name="Group 8">
            <a:extLst>
              <a:ext uri="{FF2B5EF4-FFF2-40B4-BE49-F238E27FC236}">
                <a16:creationId xmlns:a16="http://schemas.microsoft.com/office/drawing/2014/main" id="{84CD342C-E2D3-353F-8B33-2ACD3A1BE8B3}"/>
              </a:ext>
            </a:extLst>
          </p:cNvPr>
          <p:cNvGrpSpPr/>
          <p:nvPr userDrawn="1"/>
        </p:nvGrpSpPr>
        <p:grpSpPr>
          <a:xfrm>
            <a:off x="6891020" y="3537719"/>
            <a:ext cx="4064848" cy="3320281"/>
            <a:chOff x="0" y="0"/>
            <a:chExt cx="1513731" cy="2223088"/>
          </a:xfrm>
        </p:grpSpPr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4F86E2AA-C4BD-82FC-82EE-004E6D1D47E9}"/>
                </a:ext>
              </a:extLst>
            </p:cNvPr>
            <p:cNvSpPr/>
            <p:nvPr/>
          </p:nvSpPr>
          <p:spPr>
            <a:xfrm>
              <a:off x="0" y="0"/>
              <a:ext cx="1513731" cy="2223088"/>
            </a:xfrm>
            <a:custGeom>
              <a:avLst/>
              <a:gdLst/>
              <a:ahLst/>
              <a:cxnLst/>
              <a:rect l="l" t="t" r="r" b="b"/>
              <a:pathLst>
                <a:path w="1513731" h="2223088">
                  <a:moveTo>
                    <a:pt x="39064" y="0"/>
                  </a:moveTo>
                  <a:lnTo>
                    <a:pt x="1474668" y="0"/>
                  </a:lnTo>
                  <a:cubicBezTo>
                    <a:pt x="1485028" y="0"/>
                    <a:pt x="1494964" y="4116"/>
                    <a:pt x="1502290" y="11441"/>
                  </a:cubicBezTo>
                  <a:cubicBezTo>
                    <a:pt x="1509616" y="18767"/>
                    <a:pt x="1513731" y="28703"/>
                    <a:pt x="1513731" y="39064"/>
                  </a:cubicBezTo>
                  <a:lnTo>
                    <a:pt x="1513731" y="2184024"/>
                  </a:lnTo>
                  <a:cubicBezTo>
                    <a:pt x="1513731" y="2205598"/>
                    <a:pt x="1496242" y="2223088"/>
                    <a:pt x="1474668" y="2223088"/>
                  </a:cubicBezTo>
                  <a:lnTo>
                    <a:pt x="39064" y="2223088"/>
                  </a:lnTo>
                  <a:cubicBezTo>
                    <a:pt x="17489" y="2223088"/>
                    <a:pt x="0" y="2205598"/>
                    <a:pt x="0" y="2184024"/>
                  </a:cubicBezTo>
                  <a:lnTo>
                    <a:pt x="0" y="39064"/>
                  </a:lnTo>
                  <a:cubicBezTo>
                    <a:pt x="0" y="17489"/>
                    <a:pt x="17489" y="0"/>
                    <a:pt x="39064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EA62988-03A8-2DE6-E763-D7FD9D803333}"/>
                </a:ext>
              </a:extLst>
            </p:cNvPr>
            <p:cNvSpPr txBox="1"/>
            <p:nvPr/>
          </p:nvSpPr>
          <p:spPr>
            <a:xfrm>
              <a:off x="0" y="-47625"/>
              <a:ext cx="1513731" cy="2270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8">
            <a:extLst>
              <a:ext uri="{FF2B5EF4-FFF2-40B4-BE49-F238E27FC236}">
                <a16:creationId xmlns:a16="http://schemas.microsoft.com/office/drawing/2014/main" id="{CA45EA46-89E2-2C45-FAE0-708611EC9957}"/>
              </a:ext>
            </a:extLst>
          </p:cNvPr>
          <p:cNvGrpSpPr/>
          <p:nvPr userDrawn="1"/>
        </p:nvGrpSpPr>
        <p:grpSpPr>
          <a:xfrm>
            <a:off x="1075267" y="3537719"/>
            <a:ext cx="4064848" cy="3320281"/>
            <a:chOff x="0" y="0"/>
            <a:chExt cx="1513731" cy="2223088"/>
          </a:xfrm>
        </p:grpSpPr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321B8092-5047-EEF5-E13B-09FC7334CE51}"/>
                </a:ext>
              </a:extLst>
            </p:cNvPr>
            <p:cNvSpPr/>
            <p:nvPr/>
          </p:nvSpPr>
          <p:spPr>
            <a:xfrm>
              <a:off x="0" y="0"/>
              <a:ext cx="1513731" cy="2223088"/>
            </a:xfrm>
            <a:custGeom>
              <a:avLst/>
              <a:gdLst/>
              <a:ahLst/>
              <a:cxnLst/>
              <a:rect l="l" t="t" r="r" b="b"/>
              <a:pathLst>
                <a:path w="1513731" h="2223088">
                  <a:moveTo>
                    <a:pt x="39064" y="0"/>
                  </a:moveTo>
                  <a:lnTo>
                    <a:pt x="1474668" y="0"/>
                  </a:lnTo>
                  <a:cubicBezTo>
                    <a:pt x="1485028" y="0"/>
                    <a:pt x="1494964" y="4116"/>
                    <a:pt x="1502290" y="11441"/>
                  </a:cubicBezTo>
                  <a:cubicBezTo>
                    <a:pt x="1509616" y="18767"/>
                    <a:pt x="1513731" y="28703"/>
                    <a:pt x="1513731" y="39064"/>
                  </a:cubicBezTo>
                  <a:lnTo>
                    <a:pt x="1513731" y="2184024"/>
                  </a:lnTo>
                  <a:cubicBezTo>
                    <a:pt x="1513731" y="2205598"/>
                    <a:pt x="1496242" y="2223088"/>
                    <a:pt x="1474668" y="2223088"/>
                  </a:cubicBezTo>
                  <a:lnTo>
                    <a:pt x="39064" y="2223088"/>
                  </a:lnTo>
                  <a:cubicBezTo>
                    <a:pt x="17489" y="2223088"/>
                    <a:pt x="0" y="2205598"/>
                    <a:pt x="0" y="2184024"/>
                  </a:cubicBezTo>
                  <a:lnTo>
                    <a:pt x="0" y="39064"/>
                  </a:lnTo>
                  <a:cubicBezTo>
                    <a:pt x="0" y="17489"/>
                    <a:pt x="17489" y="0"/>
                    <a:pt x="39064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37CCC31-8AF4-47FA-8DCA-1BD5C1B435BC}"/>
                </a:ext>
              </a:extLst>
            </p:cNvPr>
            <p:cNvSpPr txBox="1"/>
            <p:nvPr/>
          </p:nvSpPr>
          <p:spPr>
            <a:xfrm>
              <a:off x="0" y="-47625"/>
              <a:ext cx="1513731" cy="2270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31EDC61F-BE19-72DD-112C-956072532F5D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7458710" y="2055813"/>
            <a:ext cx="2929468" cy="2778654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867F8969-FF6A-9BCC-AAAE-F6E9D06627D3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458711" y="5162293"/>
            <a:ext cx="2929468" cy="150239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/>
              <a:t>Your Name</a:t>
            </a:r>
          </a:p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Social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D64A18B6-AE97-E15D-EB56-EA636756AB0A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642957" y="5162293"/>
            <a:ext cx="2929468" cy="150239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/>
              <a:t>Your Name</a:t>
            </a:r>
          </a:p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Social</a:t>
            </a:r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A49CB7E8-945A-668B-6849-ED0A7A9C6C14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1642957" y="2039673"/>
            <a:ext cx="2929468" cy="2778654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620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Main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0295FCD2-FBD5-1EFB-6B99-A5A5A40535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0115F-7367-9831-CC7F-5F32AB3CD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grpSp>
        <p:nvGrpSpPr>
          <p:cNvPr id="5" name="Group 6">
            <a:extLst>
              <a:ext uri="{FF2B5EF4-FFF2-40B4-BE49-F238E27FC236}">
                <a16:creationId xmlns:a16="http://schemas.microsoft.com/office/drawing/2014/main" id="{38C10DA9-B70C-145C-3BF4-E96609F6562A}"/>
              </a:ext>
            </a:extLst>
          </p:cNvPr>
          <p:cNvGrpSpPr/>
          <p:nvPr userDrawn="1"/>
        </p:nvGrpSpPr>
        <p:grpSpPr>
          <a:xfrm>
            <a:off x="838200" y="2184401"/>
            <a:ext cx="10515600" cy="4673600"/>
            <a:chOff x="0" y="0"/>
            <a:chExt cx="4396590" cy="2223088"/>
          </a:xfrm>
        </p:grpSpPr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670F8A61-A63F-DE51-BC1C-81A4C91CE8F3}"/>
                </a:ext>
              </a:extLst>
            </p:cNvPr>
            <p:cNvSpPr/>
            <p:nvPr/>
          </p:nvSpPr>
          <p:spPr>
            <a:xfrm>
              <a:off x="0" y="0"/>
              <a:ext cx="4396591" cy="2223088"/>
            </a:xfrm>
            <a:custGeom>
              <a:avLst/>
              <a:gdLst/>
              <a:ahLst/>
              <a:cxnLst/>
              <a:rect l="l" t="t" r="r" b="b"/>
              <a:pathLst>
                <a:path w="4396591" h="2223088">
                  <a:moveTo>
                    <a:pt x="13449" y="0"/>
                  </a:moveTo>
                  <a:lnTo>
                    <a:pt x="4383141" y="0"/>
                  </a:lnTo>
                  <a:cubicBezTo>
                    <a:pt x="4390569" y="0"/>
                    <a:pt x="4396591" y="6022"/>
                    <a:pt x="4396591" y="13449"/>
                  </a:cubicBezTo>
                  <a:lnTo>
                    <a:pt x="4396591" y="2209638"/>
                  </a:lnTo>
                  <a:cubicBezTo>
                    <a:pt x="4396591" y="2213205"/>
                    <a:pt x="4395174" y="2216626"/>
                    <a:pt x="4392651" y="2219148"/>
                  </a:cubicBezTo>
                  <a:cubicBezTo>
                    <a:pt x="4390129" y="2221671"/>
                    <a:pt x="4386708" y="2223088"/>
                    <a:pt x="4383141" y="2223088"/>
                  </a:cubicBezTo>
                  <a:lnTo>
                    <a:pt x="13449" y="2223088"/>
                  </a:lnTo>
                  <a:cubicBezTo>
                    <a:pt x="6022" y="2223088"/>
                    <a:pt x="0" y="2217066"/>
                    <a:pt x="0" y="2209638"/>
                  </a:cubicBezTo>
                  <a:lnTo>
                    <a:pt x="0" y="13449"/>
                  </a:lnTo>
                  <a:cubicBezTo>
                    <a:pt x="0" y="6022"/>
                    <a:pt x="6022" y="0"/>
                    <a:pt x="13449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TextBox 8">
              <a:extLst>
                <a:ext uri="{FF2B5EF4-FFF2-40B4-BE49-F238E27FC236}">
                  <a16:creationId xmlns:a16="http://schemas.microsoft.com/office/drawing/2014/main" id="{6AD497AD-1ADB-DF0F-B24D-811410E7D65A}"/>
                </a:ext>
              </a:extLst>
            </p:cNvPr>
            <p:cNvSpPr txBox="1"/>
            <p:nvPr/>
          </p:nvSpPr>
          <p:spPr>
            <a:xfrm>
              <a:off x="0" y="-38100"/>
              <a:ext cx="4396590" cy="22611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8A29B-4D9A-F0BE-9E0B-F63084694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267" y="2590800"/>
            <a:ext cx="9863666" cy="3586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44878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0295FCD2-FBD5-1EFB-6B99-A5A5A40535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0115F-7367-9831-CC7F-5F32AB3CDF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6307667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Topic 2</a:t>
            </a:r>
            <a:endParaRPr lang="es-MX"/>
          </a:p>
        </p:txBody>
      </p:sp>
      <p:grpSp>
        <p:nvGrpSpPr>
          <p:cNvPr id="5" name="Group 6">
            <a:extLst>
              <a:ext uri="{FF2B5EF4-FFF2-40B4-BE49-F238E27FC236}">
                <a16:creationId xmlns:a16="http://schemas.microsoft.com/office/drawing/2014/main" id="{38C10DA9-B70C-145C-3BF4-E96609F6562A}"/>
              </a:ext>
            </a:extLst>
          </p:cNvPr>
          <p:cNvGrpSpPr/>
          <p:nvPr userDrawn="1"/>
        </p:nvGrpSpPr>
        <p:grpSpPr>
          <a:xfrm>
            <a:off x="838200" y="2184401"/>
            <a:ext cx="10515600" cy="4673600"/>
            <a:chOff x="0" y="0"/>
            <a:chExt cx="4396590" cy="2223088"/>
          </a:xfrm>
        </p:grpSpPr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670F8A61-A63F-DE51-BC1C-81A4C91CE8F3}"/>
                </a:ext>
              </a:extLst>
            </p:cNvPr>
            <p:cNvSpPr/>
            <p:nvPr/>
          </p:nvSpPr>
          <p:spPr>
            <a:xfrm>
              <a:off x="0" y="0"/>
              <a:ext cx="4396591" cy="2223088"/>
            </a:xfrm>
            <a:custGeom>
              <a:avLst/>
              <a:gdLst/>
              <a:ahLst/>
              <a:cxnLst/>
              <a:rect l="l" t="t" r="r" b="b"/>
              <a:pathLst>
                <a:path w="4396591" h="2223088">
                  <a:moveTo>
                    <a:pt x="13449" y="0"/>
                  </a:moveTo>
                  <a:lnTo>
                    <a:pt x="4383141" y="0"/>
                  </a:lnTo>
                  <a:cubicBezTo>
                    <a:pt x="4390569" y="0"/>
                    <a:pt x="4396591" y="6022"/>
                    <a:pt x="4396591" y="13449"/>
                  </a:cubicBezTo>
                  <a:lnTo>
                    <a:pt x="4396591" y="2209638"/>
                  </a:lnTo>
                  <a:cubicBezTo>
                    <a:pt x="4396591" y="2213205"/>
                    <a:pt x="4395174" y="2216626"/>
                    <a:pt x="4392651" y="2219148"/>
                  </a:cubicBezTo>
                  <a:cubicBezTo>
                    <a:pt x="4390129" y="2221671"/>
                    <a:pt x="4386708" y="2223088"/>
                    <a:pt x="4383141" y="2223088"/>
                  </a:cubicBezTo>
                  <a:lnTo>
                    <a:pt x="13449" y="2223088"/>
                  </a:lnTo>
                  <a:cubicBezTo>
                    <a:pt x="6022" y="2223088"/>
                    <a:pt x="0" y="2217066"/>
                    <a:pt x="0" y="2209638"/>
                  </a:cubicBezTo>
                  <a:lnTo>
                    <a:pt x="0" y="13449"/>
                  </a:lnTo>
                  <a:cubicBezTo>
                    <a:pt x="0" y="6022"/>
                    <a:pt x="6022" y="0"/>
                    <a:pt x="13449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TextBox 8">
              <a:extLst>
                <a:ext uri="{FF2B5EF4-FFF2-40B4-BE49-F238E27FC236}">
                  <a16:creationId xmlns:a16="http://schemas.microsoft.com/office/drawing/2014/main" id="{6AD497AD-1ADB-DF0F-B24D-811410E7D65A}"/>
                </a:ext>
              </a:extLst>
            </p:cNvPr>
            <p:cNvSpPr txBox="1"/>
            <p:nvPr/>
          </p:nvSpPr>
          <p:spPr>
            <a:xfrm>
              <a:off x="0" y="-38100"/>
              <a:ext cx="4396590" cy="22611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8A29B-4D9A-F0BE-9E0B-F63084694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267" y="2590800"/>
            <a:ext cx="9863666" cy="3586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3DAB7B18-2172-6B5E-E96C-86A5E2B0D6A1}"/>
              </a:ext>
            </a:extLst>
          </p:cNvPr>
          <p:cNvSpPr/>
          <p:nvPr userDrawn="1"/>
        </p:nvSpPr>
        <p:spPr>
          <a:xfrm>
            <a:off x="6096000" y="-5658646"/>
            <a:ext cx="15523832" cy="14165497"/>
          </a:xfrm>
          <a:custGeom>
            <a:avLst/>
            <a:gdLst/>
            <a:ahLst/>
            <a:cxnLst/>
            <a:rect l="l" t="t" r="r" b="b"/>
            <a:pathLst>
              <a:path w="15523832" h="14165497">
                <a:moveTo>
                  <a:pt x="0" y="0"/>
                </a:moveTo>
                <a:lnTo>
                  <a:pt x="15523832" y="0"/>
                </a:lnTo>
                <a:lnTo>
                  <a:pt x="15523832" y="14165497"/>
                </a:lnTo>
                <a:lnTo>
                  <a:pt x="0" y="1416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31EDC61F-BE19-72DD-112C-956072532F5D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7696201" y="1146176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8C4A3-03C4-5E35-EE53-3E35A3DCB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A0968-75D8-3240-3B7B-524F6AC96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329202D2-7400-B85C-E27C-1C43F148CD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-17887"/>
            <a:ext cx="12192000" cy="6875887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6200000" scaled="1"/>
            <a:tileRect/>
          </a:gradFill>
        </p:spPr>
        <p:txBody>
          <a:bodyPr/>
          <a:lstStyle/>
          <a:p>
            <a:endParaRPr lang="es-MX"/>
          </a:p>
        </p:txBody>
      </p:sp>
      <p:grpSp>
        <p:nvGrpSpPr>
          <p:cNvPr id="15" name="Group 8">
            <a:extLst>
              <a:ext uri="{FF2B5EF4-FFF2-40B4-BE49-F238E27FC236}">
                <a16:creationId xmlns:a16="http://schemas.microsoft.com/office/drawing/2014/main" id="{D19A47D0-0386-C2EB-3688-D5D1F7A0FD96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681027" y="677183"/>
            <a:ext cx="10829946" cy="5485745"/>
            <a:chOff x="0" y="-47625"/>
            <a:chExt cx="4197679" cy="2032576"/>
          </a:xfrm>
        </p:grpSpPr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0C78AA4D-280D-040C-30AF-540254FEE34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0" y="0"/>
              <a:ext cx="4197679" cy="1984951"/>
            </a:xfrm>
            <a:custGeom>
              <a:avLst/>
              <a:gdLst/>
              <a:ahLst/>
              <a:cxnLst/>
              <a:rect l="l" t="t" r="r" b="b"/>
              <a:pathLst>
                <a:path w="4197679" h="1984951">
                  <a:moveTo>
                    <a:pt x="14087" y="0"/>
                  </a:moveTo>
                  <a:lnTo>
                    <a:pt x="4183592" y="0"/>
                  </a:lnTo>
                  <a:cubicBezTo>
                    <a:pt x="4191372" y="0"/>
                    <a:pt x="4197679" y="6307"/>
                    <a:pt x="4197679" y="14087"/>
                  </a:cubicBezTo>
                  <a:lnTo>
                    <a:pt x="4197679" y="1970864"/>
                  </a:lnTo>
                  <a:cubicBezTo>
                    <a:pt x="4197679" y="1978644"/>
                    <a:pt x="4191372" y="1984951"/>
                    <a:pt x="4183592" y="1984951"/>
                  </a:cubicBezTo>
                  <a:lnTo>
                    <a:pt x="14087" y="1984951"/>
                  </a:lnTo>
                  <a:cubicBezTo>
                    <a:pt x="6307" y="1984951"/>
                    <a:pt x="0" y="1978644"/>
                    <a:pt x="0" y="1970864"/>
                  </a:cubicBezTo>
                  <a:lnTo>
                    <a:pt x="0" y="14087"/>
                  </a:lnTo>
                  <a:cubicBezTo>
                    <a:pt x="0" y="6307"/>
                    <a:pt x="6307" y="0"/>
                    <a:pt x="1408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7" name="TextBox 10">
              <a:extLst>
                <a:ext uri="{FF2B5EF4-FFF2-40B4-BE49-F238E27FC236}">
                  <a16:creationId xmlns:a16="http://schemas.microsoft.com/office/drawing/2014/main" id="{AACC4D65-72F3-882E-0C74-29085F7FAA3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4197679" cy="20325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Title 1">
            <a:extLst>
              <a:ext uri="{FF2B5EF4-FFF2-40B4-BE49-F238E27FC236}">
                <a16:creationId xmlns:a16="http://schemas.microsoft.com/office/drawing/2014/main" id="{B81E6FA9-5712-682C-A5FA-B06C89763C5B}"/>
              </a:ext>
            </a:extLst>
          </p:cNvPr>
          <p:cNvSpPr txBox="1">
            <a:spLocks/>
          </p:cNvSpPr>
          <p:nvPr userDrawn="1"/>
        </p:nvSpPr>
        <p:spPr>
          <a:xfrm>
            <a:off x="978147" y="1008156"/>
            <a:ext cx="10235705" cy="7652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MX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E200846C-D6C9-853D-DB75-4B0B6DF6E2F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78147" y="1964047"/>
            <a:ext cx="10235705" cy="38525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87ACA83-8A24-CEEC-CFF9-272221E05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147" y="1026203"/>
            <a:ext cx="10235705" cy="8064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53289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-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8">
            <a:extLst>
              <a:ext uri="{FF2B5EF4-FFF2-40B4-BE49-F238E27FC236}">
                <a16:creationId xmlns:a16="http://schemas.microsoft.com/office/drawing/2014/main" id="{DA6A76C6-C0A4-6790-3061-968E4DAC09D7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838200" y="0"/>
            <a:ext cx="11353800" cy="6858000"/>
            <a:chOff x="0" y="0"/>
            <a:chExt cx="4197679" cy="1984951"/>
          </a:xfrm>
        </p:grpSpPr>
        <p:sp>
          <p:nvSpPr>
            <p:cNvPr id="5" name="Freeform 9">
              <a:extLst>
                <a:ext uri="{FF2B5EF4-FFF2-40B4-BE49-F238E27FC236}">
                  <a16:creationId xmlns:a16="http://schemas.microsoft.com/office/drawing/2014/main" id="{CC5A72BB-BDAC-3A05-54EA-1285727BD27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4197679" cy="1984951"/>
            </a:xfrm>
            <a:custGeom>
              <a:avLst/>
              <a:gdLst/>
              <a:ahLst/>
              <a:cxnLst/>
              <a:rect l="l" t="t" r="r" b="b"/>
              <a:pathLst>
                <a:path w="4197679" h="1984951">
                  <a:moveTo>
                    <a:pt x="14087" y="0"/>
                  </a:moveTo>
                  <a:lnTo>
                    <a:pt x="4183592" y="0"/>
                  </a:lnTo>
                  <a:cubicBezTo>
                    <a:pt x="4191372" y="0"/>
                    <a:pt x="4197679" y="6307"/>
                    <a:pt x="4197679" y="14087"/>
                  </a:cubicBezTo>
                  <a:lnTo>
                    <a:pt x="4197679" y="1970864"/>
                  </a:lnTo>
                  <a:cubicBezTo>
                    <a:pt x="4197679" y="1978644"/>
                    <a:pt x="4191372" y="1984951"/>
                    <a:pt x="4183592" y="1984951"/>
                  </a:cubicBezTo>
                  <a:lnTo>
                    <a:pt x="14087" y="1984951"/>
                  </a:lnTo>
                  <a:cubicBezTo>
                    <a:pt x="6307" y="1984951"/>
                    <a:pt x="0" y="1978644"/>
                    <a:pt x="0" y="1970864"/>
                  </a:cubicBezTo>
                  <a:lnTo>
                    <a:pt x="0" y="14087"/>
                  </a:lnTo>
                  <a:cubicBezTo>
                    <a:pt x="0" y="6307"/>
                    <a:pt x="6307" y="0"/>
                    <a:pt x="1408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6" name="TextBox 10">
              <a:extLst>
                <a:ext uri="{FF2B5EF4-FFF2-40B4-BE49-F238E27FC236}">
                  <a16:creationId xmlns:a16="http://schemas.microsoft.com/office/drawing/2014/main" id="{28219582-B644-88FC-10E4-1824D5EB8D0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4197679" cy="20325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060115F-7367-9831-CC7F-5F32AB3CD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416" y="458258"/>
            <a:ext cx="1091398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8A29B-4D9A-F0BE-9E0B-F63084694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416" y="1918758"/>
            <a:ext cx="1091398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60832C5C-8902-D453-4845-67C132625F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77002" y="-29333"/>
            <a:ext cx="915202" cy="6887333"/>
          </a:xfrm>
          <a:custGeom>
            <a:avLst/>
            <a:gdLst/>
            <a:ahLst/>
            <a:cxnLst/>
            <a:rect l="l" t="t" r="r" b="b"/>
            <a:pathLst>
              <a:path w="1028700" h="10287000">
                <a:moveTo>
                  <a:pt x="0" y="0"/>
                </a:moveTo>
                <a:lnTo>
                  <a:pt x="1028700" y="0"/>
                </a:lnTo>
                <a:lnTo>
                  <a:pt x="10287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6">
                  <a:lumMod val="67000"/>
                </a:schemeClr>
              </a:gs>
              <a:gs pos="47000">
                <a:schemeClr val="accent6">
                  <a:lumMod val="97000"/>
                  <a:lumOff val="3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6200000" scaled="1"/>
          </a:gradFill>
        </p:spPr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50862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opt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8">
            <a:extLst>
              <a:ext uri="{FF2B5EF4-FFF2-40B4-BE49-F238E27FC236}">
                <a16:creationId xmlns:a16="http://schemas.microsoft.com/office/drawing/2014/main" id="{DA6A76C6-C0A4-6790-3061-968E4DAC09D7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838200" y="0"/>
            <a:ext cx="11353800" cy="6858000"/>
            <a:chOff x="0" y="0"/>
            <a:chExt cx="4197679" cy="1984951"/>
          </a:xfrm>
        </p:grpSpPr>
        <p:sp>
          <p:nvSpPr>
            <p:cNvPr id="5" name="Freeform 9">
              <a:extLst>
                <a:ext uri="{FF2B5EF4-FFF2-40B4-BE49-F238E27FC236}">
                  <a16:creationId xmlns:a16="http://schemas.microsoft.com/office/drawing/2014/main" id="{CC5A72BB-BDAC-3A05-54EA-1285727BD27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4197679" cy="1984951"/>
            </a:xfrm>
            <a:custGeom>
              <a:avLst/>
              <a:gdLst/>
              <a:ahLst/>
              <a:cxnLst/>
              <a:rect l="l" t="t" r="r" b="b"/>
              <a:pathLst>
                <a:path w="4197679" h="1984951">
                  <a:moveTo>
                    <a:pt x="14087" y="0"/>
                  </a:moveTo>
                  <a:lnTo>
                    <a:pt x="4183592" y="0"/>
                  </a:lnTo>
                  <a:cubicBezTo>
                    <a:pt x="4191372" y="0"/>
                    <a:pt x="4197679" y="6307"/>
                    <a:pt x="4197679" y="14087"/>
                  </a:cubicBezTo>
                  <a:lnTo>
                    <a:pt x="4197679" y="1970864"/>
                  </a:lnTo>
                  <a:cubicBezTo>
                    <a:pt x="4197679" y="1978644"/>
                    <a:pt x="4191372" y="1984951"/>
                    <a:pt x="4183592" y="1984951"/>
                  </a:cubicBezTo>
                  <a:lnTo>
                    <a:pt x="14087" y="1984951"/>
                  </a:lnTo>
                  <a:cubicBezTo>
                    <a:pt x="6307" y="1984951"/>
                    <a:pt x="0" y="1978644"/>
                    <a:pt x="0" y="1970864"/>
                  </a:cubicBezTo>
                  <a:lnTo>
                    <a:pt x="0" y="14087"/>
                  </a:lnTo>
                  <a:cubicBezTo>
                    <a:pt x="0" y="6307"/>
                    <a:pt x="6307" y="0"/>
                    <a:pt x="1408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6" name="TextBox 10">
              <a:extLst>
                <a:ext uri="{FF2B5EF4-FFF2-40B4-BE49-F238E27FC236}">
                  <a16:creationId xmlns:a16="http://schemas.microsoft.com/office/drawing/2014/main" id="{28219582-B644-88FC-10E4-1824D5EB8D0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4197679" cy="20325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060115F-7367-9831-CC7F-5F32AB3CD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109" y="3877577"/>
            <a:ext cx="10913982" cy="7635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8A29B-4D9A-F0BE-9E0B-F63084694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416" y="4766731"/>
            <a:ext cx="10913980" cy="1638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60832C5C-8902-D453-4845-67C132625F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77002" y="-29333"/>
            <a:ext cx="915202" cy="6887333"/>
          </a:xfrm>
          <a:custGeom>
            <a:avLst/>
            <a:gdLst/>
            <a:ahLst/>
            <a:cxnLst/>
            <a:rect l="l" t="t" r="r" b="b"/>
            <a:pathLst>
              <a:path w="1028700" h="10287000">
                <a:moveTo>
                  <a:pt x="0" y="0"/>
                </a:moveTo>
                <a:lnTo>
                  <a:pt x="1028700" y="0"/>
                </a:lnTo>
                <a:lnTo>
                  <a:pt x="10287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64285" r="-664285"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4" name="Group 5">
            <a:extLst>
              <a:ext uri="{FF2B5EF4-FFF2-40B4-BE49-F238E27FC236}">
                <a16:creationId xmlns:a16="http://schemas.microsoft.com/office/drawing/2014/main" id="{96685936-0169-34D6-D524-77DA27F95E5C}"/>
              </a:ext>
            </a:extLst>
          </p:cNvPr>
          <p:cNvGrpSpPr/>
          <p:nvPr userDrawn="1"/>
        </p:nvGrpSpPr>
        <p:grpSpPr>
          <a:xfrm>
            <a:off x="276434" y="-29334"/>
            <a:ext cx="576580" cy="6858001"/>
            <a:chOff x="0" y="0"/>
            <a:chExt cx="923323" cy="13716000"/>
          </a:xfrm>
        </p:grpSpPr>
        <p:sp>
          <p:nvSpPr>
            <p:cNvPr id="15" name="AutoShape 6">
              <a:extLst>
                <a:ext uri="{FF2B5EF4-FFF2-40B4-BE49-F238E27FC236}">
                  <a16:creationId xmlns:a16="http://schemas.microsoft.com/office/drawing/2014/main" id="{4BBEC499-967A-9B2E-663D-537ACDDA5F8D}"/>
                </a:ext>
              </a:extLst>
            </p:cNvPr>
            <p:cNvSpPr/>
            <p:nvPr/>
          </p:nvSpPr>
          <p:spPr>
            <a:xfrm rot="-5400000">
              <a:off x="-5941027" y="6851650"/>
              <a:ext cx="13716000" cy="0"/>
            </a:xfrm>
            <a:prstGeom prst="line">
              <a:avLst/>
            </a:prstGeom>
            <a:ln w="12700" cap="rnd">
              <a:solidFill>
                <a:srgbClr val="121212">
                  <a:alpha val="26667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AC43B49D-943A-E1AC-A2BF-FB8BA8DA7140}"/>
                </a:ext>
              </a:extLst>
            </p:cNvPr>
            <p:cNvSpPr/>
            <p:nvPr/>
          </p:nvSpPr>
          <p:spPr>
            <a:xfrm>
              <a:off x="0" y="6724554"/>
              <a:ext cx="400588" cy="266892"/>
            </a:xfrm>
            <a:custGeom>
              <a:avLst/>
              <a:gdLst/>
              <a:ahLst/>
              <a:cxnLst/>
              <a:rect l="l" t="t" r="r" b="b"/>
              <a:pathLst>
                <a:path w="400588" h="266892">
                  <a:moveTo>
                    <a:pt x="0" y="0"/>
                  </a:moveTo>
                  <a:lnTo>
                    <a:pt x="400588" y="0"/>
                  </a:lnTo>
                  <a:lnTo>
                    <a:pt x="400588" y="266892"/>
                  </a:lnTo>
                  <a:lnTo>
                    <a:pt x="0" y="2668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7" name="AutoShape 8">
            <a:extLst>
              <a:ext uri="{FF2B5EF4-FFF2-40B4-BE49-F238E27FC236}">
                <a16:creationId xmlns:a16="http://schemas.microsoft.com/office/drawing/2014/main" id="{5B0F7F05-AE44-780B-B6D3-1C7601CBDAFE}"/>
              </a:ext>
            </a:extLst>
          </p:cNvPr>
          <p:cNvSpPr/>
          <p:nvPr userDrawn="1"/>
        </p:nvSpPr>
        <p:spPr>
          <a:xfrm>
            <a:off x="861483" y="3455987"/>
            <a:ext cx="11330517" cy="4763"/>
          </a:xfrm>
          <a:prstGeom prst="line">
            <a:avLst/>
          </a:prstGeom>
          <a:ln w="9525" cap="rnd">
            <a:solidFill>
              <a:srgbClr val="121212">
                <a:alpha val="26667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ABC146F-477C-6739-48C0-131FE8CF8B74}"/>
              </a:ext>
            </a:extLst>
          </p:cNvPr>
          <p:cNvSpPr txBox="1">
            <a:spLocks/>
          </p:cNvSpPr>
          <p:nvPr userDrawn="1"/>
        </p:nvSpPr>
        <p:spPr>
          <a:xfrm>
            <a:off x="1066804" y="495445"/>
            <a:ext cx="10913982" cy="7635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MX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B9CD599-72CC-2EDA-9D9B-CA67650500D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058111" y="1462165"/>
            <a:ext cx="10913980" cy="1638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BC9B0F46-90AA-AF3A-87DF-2BCBB2898C3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066806" y="389568"/>
            <a:ext cx="10913980" cy="936770"/>
          </a:xfrm>
        </p:spPr>
        <p:txBody>
          <a:bodyPr>
            <a:normAutofit/>
          </a:bodyPr>
          <a:lstStyle>
            <a:lvl1pPr>
              <a:defRPr sz="4400">
                <a:latin typeface="Aptos Display (Headings)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388834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!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FAE02A-0F3D-772B-AE13-4C3242EB0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4684-00AF-422F-9E70-484377D91052}" type="datetimeFigureOut">
              <a:rPr lang="es-MX" smtClean="0"/>
              <a:t>25/02/26</a:t>
            </a:fld>
            <a:endParaRPr lang="es-MX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842665-4ED8-5551-CD4E-445F4C4D9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AEBB6C-0AEE-790B-DA43-889582BD0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74405D5D-B20D-5EDC-B7DF-DA29FEB96AA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" y="0"/>
            <a:ext cx="12276667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5638" b="-75638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A1B2258-EEDF-F0FE-1595-6FF5A9003C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US"/>
              <a:t>Thank you!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38086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0115F-7367-9831-CC7F-5F32AB3CD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8A29B-4D9A-F0BE-9E0B-F63084694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30247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6E44D-AF4D-B0D0-2D38-17BF590B4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73F104-8DDE-A1E6-0719-100ACF2087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69DBC-2956-8F47-4E6B-2E507E2D9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4684-00AF-422F-9E70-484377D91052}" type="datetimeFigureOut">
              <a:rPr lang="es-MX" smtClean="0"/>
              <a:t>25/02/26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8C4A3-03C4-5E35-EE53-3E35A3DCB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A0968-75D8-3240-3B7B-524F6AC96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69902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52D45-3A83-AEA7-3C98-A922D9D6F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8A29E-D909-EBD3-F645-D91D5C2795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DD2051-1577-C401-CF83-F5F6F0F17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602E4E-CF91-9091-E3E4-1849EDA11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4684-00AF-422F-9E70-484377D91052}" type="datetimeFigureOut">
              <a:rPr lang="es-MX" smtClean="0"/>
              <a:t>25/02/26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E6E776-C01B-C144-3A80-F16152D5D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D032A7-C620-28FF-7E02-0504302A8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395493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6243B-4CE5-2C2B-3D4A-4310222E3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CAB730-BF81-A82B-31EA-B887DDDB3D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1F2ED-813E-436A-FA87-DF185BDDCD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EA6617-C184-23FC-1604-80399909F9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2FA727-B2C2-C624-CD3A-67F966E3E5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406E74-28DE-A028-1DF0-5CA3D35F8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4684-00AF-422F-9E70-484377D91052}" type="datetimeFigureOut">
              <a:rPr lang="es-MX" smtClean="0"/>
              <a:t>25/02/26</a:t>
            </a:fld>
            <a:endParaRPr lang="es-MX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9A0C9B-9D47-2AC8-32D1-29D486BB4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D3F9C2-F47A-949C-50EB-A6E0CCCBA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547725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ACA44-E74A-143E-0F9D-CF483D8B3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5C20D3-4F4E-8DC2-34B5-EFF7681D4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4684-00AF-422F-9E70-484377D91052}" type="datetimeFigureOut">
              <a:rPr lang="es-MX" smtClean="0"/>
              <a:t>25/02/26</a:t>
            </a:fld>
            <a:endParaRPr lang="es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FBE658-2B11-6008-C727-3F41C4B90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909BDF-639D-E898-ED35-F9155D5B3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09285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890D4-0A29-C023-D79F-0EB186935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370AF-B029-62A6-6D49-5CC9FBFF7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91DC73-01B7-2007-BF88-0F021A28E4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4DF19B-1A42-1962-C23A-450FDDF67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4684-00AF-422F-9E70-484377D91052}" type="datetimeFigureOut">
              <a:rPr lang="es-MX" smtClean="0"/>
              <a:t>25/02/26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6EAFA9-490E-0AAA-E440-69610B8AC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D818C8-0054-0E70-D43A-429F259C7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622892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F2F8C-D5D9-76D4-64EA-223A757BB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73DEF9-6A1B-863A-2C3A-AC7C336563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2EE354-7F91-C959-7DEB-A6D1172E58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424381-4A22-1980-7BA8-6E4052F1E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4684-00AF-422F-9E70-484377D91052}" type="datetimeFigureOut">
              <a:rPr lang="es-MX" smtClean="0"/>
              <a:t>25/02/26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704551-DD7B-01B9-0EBE-60F2387CF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8959E7-B985-AF19-1695-41D3383E3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878028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741D8-C192-BE6C-99B4-FD11C0C11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542917-210D-567F-2CB7-C194B4504A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45793-45A5-5204-0F61-DD574294D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4684-00AF-422F-9E70-484377D91052}" type="datetimeFigureOut">
              <a:rPr lang="es-MX" smtClean="0"/>
              <a:t>25/02/26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F61B22-5D74-A27A-395B-C4746AF5E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9BF5D-DD6D-6E5B-A417-DD07F5D81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706290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9B1E22-1FE5-FEA0-ABED-031BE49EA2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2F47FB-61AC-82AB-54E7-E333D1BAB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D4106A-9714-F515-A1EF-BAE67E2E0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4684-00AF-422F-9E70-484377D91052}" type="datetimeFigureOut">
              <a:rPr lang="es-MX" smtClean="0"/>
              <a:t>25/02/26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4850FC-F9C7-4384-87D7-4CE6498E8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133DE-7937-C763-59A1-AC55CDAD4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889505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6848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838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1635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8861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72004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2103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074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5427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2731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38825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412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011B5D-82C1-6F6D-D8BA-6C1053195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09B62F-7E8A-D6CF-D5AB-E82D2B53D1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53780-EE84-6AB5-4311-157708D6A5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894684-00AF-422F-9E70-484377D91052}" type="datetimeFigureOut">
              <a:rPr lang="es-MX" smtClean="0"/>
              <a:t>25/02/26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0A6702-23AF-355E-E6EF-D39091A582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2D74D-5BAE-5E6C-D834-ABB626BE9E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90375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84" r:id="rId2"/>
    <p:sldLayoutId id="2147483674" r:id="rId3"/>
    <p:sldLayoutId id="2147483675" r:id="rId4"/>
    <p:sldLayoutId id="2147483673" r:id="rId5"/>
    <p:sldLayoutId id="2147483676" r:id="rId6"/>
    <p:sldLayoutId id="2147483679" r:id="rId7"/>
    <p:sldLayoutId id="2147483680" r:id="rId8"/>
    <p:sldLayoutId id="2147483681" r:id="rId9"/>
    <p:sldLayoutId id="2147483655" r:id="rId10"/>
    <p:sldLayoutId id="2147483650" r:id="rId11"/>
    <p:sldLayoutId id="2147483651" r:id="rId12"/>
    <p:sldLayoutId id="2147483652" r:id="rId13"/>
    <p:sldLayoutId id="2147483653" r:id="rId14"/>
    <p:sldLayoutId id="2147483654" r:id="rId15"/>
    <p:sldLayoutId id="2147483656" r:id="rId16"/>
    <p:sldLayoutId id="2147483657" r:id="rId17"/>
    <p:sldLayoutId id="2147483658" r:id="rId18"/>
    <p:sldLayoutId id="2147483659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457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ka.ms/PythonAgents/series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8.png"/><Relationship Id="rId4" Type="http://schemas.openxmlformats.org/officeDocument/2006/relationships/hyperlink" Target="https://aka.ms/pythonmcp/series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ka.ms/pythonagents/slides/contextmemory" TargetMode="External"/><Relationship Id="rId2" Type="http://schemas.openxmlformats.org/officeDocument/2006/relationships/hyperlink" Target="https://www.pamelafox.org/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aka.ms/python-agentframework-demos" TargetMode="Externa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agent-framework/user-guide/agents/agent-memory" TargetMode="Externa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zure-Samples/python-agentframework-demos/blob/main/agent_session.py" TargetMode="Externa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zure-Samples/python-agentframework-demos/blob/main/agent_history_redis.py" TargetMode="Externa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zure-Samples/python-agentframework-demos/blob/main/agent_history_sqlite.py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zure-Samples/python-agentframework-demos/blob/main/agent_memory_redis.py" TargetMode="Externa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zure-Samples/python-agentframework-demos/blob/main/agent_memory_mem0.py" TargetMode="Externa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github.blog/ai-and-ml/github-copilot/building-an-agentic-memory-system-for-github-copilot/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zure-Samples/python-agentframework-demos/blob/main/agent_thread_redis.py" TargetMode="Externa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zure-Samples/python-agentframework-demos/blob/main/agent_knowledge_postgres.py" TargetMode="Externa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zure-Samples/python-agentframework-demos/blob/main/agent_knowledge_pg_rewrite.py" TargetMode="External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://aka.ms/pythonai/resource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aka.ms/agenticrag/ignite/video" TargetMode="Externa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zure-Samples/python-agentframework-demos/blob/main/agent_knowledge_aisearch.py" TargetMode="External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07.03172" TargetMode="Externa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hamel.dev/notes/llm/rag/p6-context_rot.html" TargetMode="Externa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zure-Samples/python-agentframework-demos/blob/main/agent_summarization.py" TargetMode="External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zure-Samples/python-agentframework-demos/blob/main/agent_with_subagent.py" TargetMode="External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aka.ms/pythonagents/resources" TargetMode="External"/><Relationship Id="rId2" Type="http://schemas.openxmlformats.org/officeDocument/2006/relationships/hyperlink" Target="https://aka.ms/pythonai/resources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aka.ms/PythonAgents/series" TargetMode="External"/><Relationship Id="rId4" Type="http://schemas.openxmlformats.org/officeDocument/2006/relationships/hyperlink" Target="https://aka.ms/pythonai/oh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A75E4-B0C1-D5B9-4F77-859CD22F2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and yellow snake logo&#10;&#10;AI-generated content may be incorrect.">
            <a:extLst>
              <a:ext uri="{FF2B5EF4-FFF2-40B4-BE49-F238E27FC236}">
                <a16:creationId xmlns:a16="http://schemas.microsoft.com/office/drawing/2014/main" id="{92C9A098-1140-208F-86A8-E0D0F0B90E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39" r="-221" b="11498"/>
          <a:stretch>
            <a:fillRect/>
          </a:stretch>
        </p:blipFill>
        <p:spPr>
          <a:xfrm>
            <a:off x="269009" y="376213"/>
            <a:ext cx="1721697" cy="1840238"/>
          </a:xfrm>
          <a:prstGeom prst="rect">
            <a:avLst/>
          </a:prstGeom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005A3F4-14C3-A8EA-A87D-F7FC6B897E89}"/>
              </a:ext>
            </a:extLst>
          </p:cNvPr>
          <p:cNvSpPr txBox="1"/>
          <p:nvPr/>
        </p:nvSpPr>
        <p:spPr>
          <a:xfrm>
            <a:off x="432984" y="2449816"/>
            <a:ext cx="11326031" cy="33239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5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🛠️ Feb 24:</a:t>
            </a:r>
            <a:r>
              <a:rPr lang="en-US" sz="3500" b="0" i="0" u="none" strike="noStrike" baseline="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 </a:t>
            </a:r>
            <a:r>
              <a:rPr lang="en-US" sz="35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Building your first agent in Python</a:t>
            </a:r>
          </a:p>
          <a:p>
            <a:r>
              <a:rPr lang="en-US" sz="3500">
                <a:latin typeface="Quire Sans" panose="020B0502040400020003" pitchFamily="34" charset="0"/>
                <a:cs typeface="Quire Sans" panose="020B0502040400020003" pitchFamily="34" charset="0"/>
              </a:rPr>
              <a:t>🧠 </a:t>
            </a:r>
            <a:r>
              <a:rPr lang="en-US" sz="3500" b="0" i="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Feb 25: Adding context and memory to agents</a:t>
            </a:r>
          </a:p>
          <a:p>
            <a:r>
              <a:rPr lang="en-US" sz="3500">
                <a:latin typeface="Quire Sans" panose="020B0502040400020003" pitchFamily="34" charset="0"/>
                <a:cs typeface="Quire Sans" panose="020B0502040400020003" pitchFamily="34" charset="0"/>
              </a:rPr>
              <a:t>📊 </a:t>
            </a:r>
            <a:r>
              <a:rPr lang="en-US" sz="35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Feb 26: Monitoring and evaluating agents</a:t>
            </a:r>
          </a:p>
          <a:p>
            <a:r>
              <a:rPr lang="en-US" sz="3500">
                <a:latin typeface="Quire Sans" panose="020B0502040400020003" pitchFamily="34" charset="0"/>
                <a:cs typeface="Quire Sans" panose="020B0502040400020003" pitchFamily="34" charset="0"/>
              </a:rPr>
              <a:t>🔀 </a:t>
            </a:r>
            <a:r>
              <a:rPr lang="en-US" sz="35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Mar 3: Building your first AI-driven workflows</a:t>
            </a:r>
          </a:p>
          <a:p>
            <a:r>
              <a:rPr lang="en-US" sz="3500">
                <a:latin typeface="Quire Sans" panose="020B0502040400020003" pitchFamily="34" charset="0"/>
                <a:cs typeface="Quire Sans" panose="020B0502040400020003" pitchFamily="34" charset="0"/>
              </a:rPr>
              <a:t>🕸️ </a:t>
            </a:r>
            <a:r>
              <a:rPr lang="en-US" sz="3500" b="0" i="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Mar 4: Orchestrating advanced multi-agent workflows</a:t>
            </a:r>
          </a:p>
          <a:p>
            <a:r>
              <a:rPr lang="en-US" sz="3500">
                <a:latin typeface="Quire Sans" panose="020B0502040400020003" pitchFamily="34" charset="0"/>
                <a:cs typeface="Quire Sans" panose="020B0502040400020003" pitchFamily="34" charset="0"/>
              </a:rPr>
              <a:t>🙋🏽 </a:t>
            </a:r>
            <a:r>
              <a:rPr lang="en-US" sz="35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Mar 5: Adding a human-in-the-loop to workflows</a:t>
            </a:r>
            <a:endParaRPr lang="en-US" sz="3500" b="0" i="0">
              <a:solidFill>
                <a:srgbClr val="000000"/>
              </a:solidFill>
              <a:latin typeface="Quire Sans" panose="020B0502040400020003" pitchFamily="34" charset="0"/>
              <a:ea typeface="Segoe UI"/>
              <a:cs typeface="Quire Sans" panose="020B05020404000200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D3A62F-AD7C-5560-5319-1B085F20C1AC}"/>
              </a:ext>
            </a:extLst>
          </p:cNvPr>
          <p:cNvSpPr txBox="1"/>
          <p:nvPr/>
        </p:nvSpPr>
        <p:spPr>
          <a:xfrm>
            <a:off x="360923" y="5909261"/>
            <a:ext cx="11945463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500" b="1" dirty="0">
                <a:solidFill>
                  <a:srgbClr val="000000"/>
                </a:solidFill>
                <a:latin typeface="Quire Sans"/>
                <a:ea typeface="Segoe UI"/>
                <a:cs typeface="Segoe UI"/>
              </a:rPr>
              <a:t>🔗</a:t>
            </a:r>
            <a:r>
              <a:rPr lang="en-US" sz="4400" b="1" dirty="0">
                <a:solidFill>
                  <a:srgbClr val="000000"/>
                </a:solidFill>
                <a:latin typeface="Quire Sans"/>
                <a:ea typeface="Segoe UI"/>
                <a:cs typeface="Segoe UI"/>
              </a:rPr>
              <a:t> Register at </a:t>
            </a:r>
            <a:r>
              <a:rPr lang="en-US" sz="4400" b="1" dirty="0">
                <a:solidFill>
                  <a:srgbClr val="306998"/>
                </a:solidFill>
                <a:latin typeface="Quire Sans"/>
                <a:ea typeface="Segoe UI"/>
                <a:cs typeface="Segoe U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aka.ms/PythonAgents/series</a:t>
            </a:r>
            <a:endParaRPr lang="en-US" sz="4400" b="1" i="0" dirty="0">
              <a:solidFill>
                <a:srgbClr val="306998"/>
              </a:solidFill>
              <a:latin typeface="Quire Sans"/>
              <a:ea typeface="Segoe UI"/>
              <a:cs typeface="Segoe UI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13" name="Picture 12" descr="A diagram of a network&#10;&#10;AI-generated content may be incorrect.">
            <a:extLst>
              <a:ext uri="{FF2B5EF4-FFF2-40B4-BE49-F238E27FC236}">
                <a16:creationId xmlns:a16="http://schemas.microsoft.com/office/drawing/2014/main" id="{BB1C877B-1502-7B46-5E1D-99B6815B4F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0434" y="184871"/>
            <a:ext cx="3074063" cy="212948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A727494-82B4-69DA-D3F9-CE82888691C7}"/>
              </a:ext>
            </a:extLst>
          </p:cNvPr>
          <p:cNvSpPr txBox="1">
            <a:spLocks/>
          </p:cNvSpPr>
          <p:nvPr/>
        </p:nvSpPr>
        <p:spPr>
          <a:xfrm>
            <a:off x="1990706" y="740896"/>
            <a:ext cx="6931223" cy="1141154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7000" b="1" dirty="0">
                <a:latin typeface="Quire Sans"/>
                <a:cs typeface="Quire Sans"/>
              </a:rPr>
              <a:t>Python + Agents</a:t>
            </a:r>
            <a:endParaRPr lang="en-US" sz="7000" dirty="0"/>
          </a:p>
        </p:txBody>
      </p:sp>
    </p:spTree>
    <p:extLst>
      <p:ext uri="{BB962C8B-B14F-4D97-AF65-F5344CB8AC3E}">
        <p14:creationId xmlns:p14="http://schemas.microsoft.com/office/powerpoint/2010/main" val="3616837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6F498-58FB-A77B-B566-A60C28CCA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noProof="0"/>
              <a:t>Python + Agents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04B708-5475-3713-E181-48E985434F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850893"/>
            <a:ext cx="11512550" cy="873780"/>
          </a:xfrm>
        </p:spPr>
        <p:txBody>
          <a:bodyPr>
            <a:normAutofit fontScale="92500"/>
          </a:bodyPr>
          <a:lstStyle/>
          <a:p>
            <a:r>
              <a:rPr lang="en-US" sz="5400">
                <a:latin typeface="Quire Sans" panose="020B0502040400020003" pitchFamily="34" charset="0"/>
                <a:cs typeface="Quire Sans" panose="020B0502040400020003" pitchFamily="34" charset="0"/>
              </a:rPr>
              <a:t>🧠</a:t>
            </a:r>
            <a:r>
              <a:rPr lang="en-US" sz="54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 </a:t>
            </a:r>
            <a:r>
              <a:rPr lang="en-US" sz="5200">
                <a:solidFill>
                  <a:srgbClr val="000000"/>
                </a:solidFill>
                <a:ea typeface="Segoe UI"/>
                <a:cs typeface="Segoe UI"/>
              </a:rPr>
              <a:t>Adding context and memory to agents</a:t>
            </a:r>
            <a:endParaRPr lang="es-ES_tradnl" sz="5200" noProof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F3F6DCF-3603-19EC-9B34-2D2871DE85F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91633" y="4550797"/>
            <a:ext cx="5156494" cy="1594358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sz="2400">
                <a:solidFill>
                  <a:schemeClr val="accent6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>
                <a:solidFill>
                  <a:schemeClr val="tx1"/>
                </a:solidFill>
              </a:rPr>
              <a:t>Pamela Fox</a:t>
            </a:r>
          </a:p>
          <a:p>
            <a:pPr lvl="0"/>
            <a:r>
              <a:rPr lang="en-US">
                <a:solidFill>
                  <a:schemeClr val="tx1"/>
                </a:solidFill>
              </a:rPr>
              <a:t>Python Cloud Advocate</a:t>
            </a:r>
          </a:p>
          <a:p>
            <a:pPr lvl="0"/>
            <a:r>
              <a:rPr lang="en-US" err="1">
                <a:solidFill>
                  <a:schemeClr val="tx1"/>
                </a:solidFill>
                <a:hlinkClick r:id="rId2"/>
              </a:rPr>
              <a:t>www.pamelafox.org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ACB71E-6545-DC1C-8325-BF2AE36EB32D}"/>
              </a:ext>
            </a:extLst>
          </p:cNvPr>
          <p:cNvSpPr txBox="1"/>
          <p:nvPr/>
        </p:nvSpPr>
        <p:spPr>
          <a:xfrm>
            <a:off x="844549" y="3724673"/>
            <a:ext cx="845710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>
                <a:hlinkClick r:id="rId3"/>
              </a:rPr>
              <a:t>aka.ms/pythonagents/slides/contextmemory</a:t>
            </a:r>
            <a:endParaRPr lang="en-US" sz="3000"/>
          </a:p>
        </p:txBody>
      </p:sp>
    </p:spTree>
    <p:extLst>
      <p:ext uri="{BB962C8B-B14F-4D97-AF65-F5344CB8AC3E}">
        <p14:creationId xmlns:p14="http://schemas.microsoft.com/office/powerpoint/2010/main" val="2366346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9586F9-19CA-2B06-D6D7-5EAA9D3145B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/>
              <a:t>What is context?</a:t>
            </a:r>
          </a:p>
          <a:p>
            <a:r>
              <a:rPr lang="en-US"/>
              <a:t>Memory</a:t>
            </a:r>
          </a:p>
          <a:p>
            <a:pPr lvl="1"/>
            <a:r>
              <a:rPr lang="en-US"/>
              <a:t>Sessions</a:t>
            </a:r>
          </a:p>
          <a:p>
            <a:pPr lvl="1"/>
            <a:r>
              <a:rPr lang="en-US"/>
              <a:t>Chat history</a:t>
            </a:r>
          </a:p>
          <a:p>
            <a:pPr lvl="1"/>
            <a:r>
              <a:rPr lang="en-US"/>
              <a:t>Dynamic memory</a:t>
            </a:r>
          </a:p>
          <a:p>
            <a:r>
              <a:rPr lang="en-US"/>
              <a:t>Knowledge providers</a:t>
            </a:r>
          </a:p>
          <a:p>
            <a:r>
              <a:rPr lang="en-US"/>
              <a:t>Context management</a:t>
            </a:r>
            <a:endParaRPr lang="es-MX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436A72E-589A-553F-B8A5-68C184391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Today we'll cover different kinds of context...</a:t>
            </a:r>
          </a:p>
        </p:txBody>
      </p:sp>
    </p:spTree>
    <p:extLst>
      <p:ext uri="{BB962C8B-B14F-4D97-AF65-F5344CB8AC3E}">
        <p14:creationId xmlns:p14="http://schemas.microsoft.com/office/powerpoint/2010/main" val="680310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18DDE-236F-D621-D2CF-E8D6BFAC0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A9201-91CF-15A7-B97F-AC574BCD1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Want to follow along?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6C953F69-9891-6E6F-1713-D0ECB9B3F072}"/>
              </a:ext>
            </a:extLst>
          </p:cNvPr>
          <p:cNvSpPr txBox="1">
            <a:spLocks/>
          </p:cNvSpPr>
          <p:nvPr/>
        </p:nvSpPr>
        <p:spPr>
          <a:xfrm>
            <a:off x="1049416" y="1676453"/>
            <a:ext cx="11375044" cy="17525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1. Open this GitHub repository:</a:t>
            </a:r>
          </a:p>
          <a:p>
            <a:pPr marL="0" indent="0">
              <a:buNone/>
            </a:pPr>
            <a:r>
              <a:rPr lang="en-US">
                <a:hlinkClick r:id="rId2"/>
              </a:rPr>
              <a:t>aka.ms/python-agentframework-demos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2. Use "Code" button to create a GitHub Codespace: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2ED7F0D-8B94-C781-25B3-5ABE00B91D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2" r="1572" b="24106"/>
          <a:stretch/>
        </p:blipFill>
        <p:spPr>
          <a:xfrm>
            <a:off x="1425566" y="3868004"/>
            <a:ext cx="2591629" cy="217461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F38C7C91-426D-F5D9-F045-A61914C6AB3D}"/>
              </a:ext>
            </a:extLst>
          </p:cNvPr>
          <p:cNvSpPr txBox="1">
            <a:spLocks/>
          </p:cNvSpPr>
          <p:nvPr/>
        </p:nvSpPr>
        <p:spPr>
          <a:xfrm>
            <a:off x="1049416" y="6285307"/>
            <a:ext cx="10567146" cy="9408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 3. Wait a few minutes for Codespace to start up ⏱️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A531D7-4395-6A4B-157E-7FA70642C1C9}"/>
              </a:ext>
            </a:extLst>
          </p:cNvPr>
          <p:cNvCxnSpPr/>
          <p:nvPr/>
        </p:nvCxnSpPr>
        <p:spPr>
          <a:xfrm flipH="1">
            <a:off x="4178709" y="5820697"/>
            <a:ext cx="1809136" cy="0"/>
          </a:xfrm>
          <a:prstGeom prst="line">
            <a:avLst/>
          </a:prstGeom>
          <a:ln w="762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446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6DF9A-7967-09E2-5BFC-E28CE2FB2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40946690-984E-2C1D-EB8D-6DE891722663}"/>
              </a:ext>
            </a:extLst>
          </p:cNvPr>
          <p:cNvSpPr/>
          <p:nvPr/>
        </p:nvSpPr>
        <p:spPr>
          <a:xfrm>
            <a:off x="1168498" y="2064692"/>
            <a:ext cx="4927502" cy="4433307"/>
          </a:xfrm>
          <a:prstGeom prst="roundRect">
            <a:avLst>
              <a:gd name="adj" fmla="val 463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95F4FA-F55F-A1FB-41FD-1CD5613DA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Recap: What's an agent?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968A80A-9538-6485-C7A7-FE7B8CF7B2E7}"/>
              </a:ext>
            </a:extLst>
          </p:cNvPr>
          <p:cNvSpPr txBox="1"/>
          <p:nvPr/>
        </p:nvSpPr>
        <p:spPr>
          <a:xfrm>
            <a:off x="1859250" y="1738095"/>
            <a:ext cx="8031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0" i="0">
                <a:solidFill>
                  <a:srgbClr val="616161"/>
                </a:solidFill>
                <a:effectLst/>
                <a:latin typeface="-apple-system"/>
              </a:rPr>
              <a:t>🤖</a:t>
            </a:r>
            <a:endParaRPr lang="en-US" sz="2400"/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D59458BA-2EA3-3D6A-840A-A724CCD6D48E}"/>
              </a:ext>
            </a:extLst>
          </p:cNvPr>
          <p:cNvSpPr txBox="1">
            <a:spLocks/>
          </p:cNvSpPr>
          <p:nvPr/>
        </p:nvSpPr>
        <p:spPr>
          <a:xfrm>
            <a:off x="4261925" y="3757248"/>
            <a:ext cx="1197254" cy="10389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6000"/>
              <a:t>🛠️</a:t>
            </a:r>
          </a:p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/>
              <a:t>Tools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8000"/>
          </a:p>
        </p:txBody>
      </p:sp>
      <p:sp>
        <p:nvSpPr>
          <p:cNvPr id="34" name="Curved Down Arrow 33">
            <a:extLst>
              <a:ext uri="{FF2B5EF4-FFF2-40B4-BE49-F238E27FC236}">
                <a16:creationId xmlns:a16="http://schemas.microsoft.com/office/drawing/2014/main" id="{BBC95842-C100-302D-B570-EAEE0CABD61B}"/>
              </a:ext>
            </a:extLst>
          </p:cNvPr>
          <p:cNvSpPr/>
          <p:nvPr/>
        </p:nvSpPr>
        <p:spPr>
          <a:xfrm>
            <a:off x="3031080" y="3637826"/>
            <a:ext cx="1197254" cy="433264"/>
          </a:xfrm>
          <a:prstGeom prst="curved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Curved Down Arrow 34">
            <a:extLst>
              <a:ext uri="{FF2B5EF4-FFF2-40B4-BE49-F238E27FC236}">
                <a16:creationId xmlns:a16="http://schemas.microsoft.com/office/drawing/2014/main" id="{CF52C4B8-0AB5-AF30-DB17-C99450795F09}"/>
              </a:ext>
            </a:extLst>
          </p:cNvPr>
          <p:cNvSpPr/>
          <p:nvPr/>
        </p:nvSpPr>
        <p:spPr>
          <a:xfrm rot="10800000">
            <a:off x="2973759" y="4592672"/>
            <a:ext cx="1197254" cy="433264"/>
          </a:xfrm>
          <a:prstGeom prst="curved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6" name="Down Arrow 35">
            <a:extLst>
              <a:ext uri="{FF2B5EF4-FFF2-40B4-BE49-F238E27FC236}">
                <a16:creationId xmlns:a16="http://schemas.microsoft.com/office/drawing/2014/main" id="{B01F29A9-04F3-191F-AEBE-568A77E40B27}"/>
              </a:ext>
            </a:extLst>
          </p:cNvPr>
          <p:cNvSpPr/>
          <p:nvPr/>
        </p:nvSpPr>
        <p:spPr>
          <a:xfrm>
            <a:off x="2126564" y="4796148"/>
            <a:ext cx="157655" cy="459578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F446998-94B9-01CF-1C13-12CD68AE1696}"/>
              </a:ext>
            </a:extLst>
          </p:cNvPr>
          <p:cNvSpPr txBox="1"/>
          <p:nvPr/>
        </p:nvSpPr>
        <p:spPr>
          <a:xfrm>
            <a:off x="1422922" y="5385418"/>
            <a:ext cx="1575899" cy="1025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4400"/>
              </a:lnSpc>
              <a:buFont typeface="Arial" panose="020B0604020202020204" pitchFamily="34" charset="0"/>
              <a:buNone/>
            </a:pPr>
            <a:r>
              <a:rPr lang="en-US" sz="5500"/>
              <a:t>🥅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/>
              <a:t>Goal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16B7186-2F3D-4400-5A93-E5BD9CE5C875}"/>
              </a:ext>
            </a:extLst>
          </p:cNvPr>
          <p:cNvSpPr txBox="1"/>
          <p:nvPr/>
        </p:nvSpPr>
        <p:spPr>
          <a:xfrm>
            <a:off x="1993121" y="2770544"/>
            <a:ext cx="4245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0" i="0">
                <a:solidFill>
                  <a:srgbClr val="616161"/>
                </a:solidFill>
                <a:effectLst/>
                <a:latin typeface="-apple-system"/>
              </a:rPr>
              <a:t>👤</a:t>
            </a:r>
            <a:endParaRPr lang="en-US" sz="40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204FE04-0C04-FE26-CFF3-53B80B8BAC9A}"/>
              </a:ext>
            </a:extLst>
          </p:cNvPr>
          <p:cNvSpPr txBox="1"/>
          <p:nvPr/>
        </p:nvSpPr>
        <p:spPr>
          <a:xfrm>
            <a:off x="1676098" y="2330518"/>
            <a:ext cx="10585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/>
              <a:t>Input</a:t>
            </a:r>
          </a:p>
        </p:txBody>
      </p:sp>
      <p:sp>
        <p:nvSpPr>
          <p:cNvPr id="43" name="Down Arrow 42">
            <a:extLst>
              <a:ext uri="{FF2B5EF4-FFF2-40B4-BE49-F238E27FC236}">
                <a16:creationId xmlns:a16="http://schemas.microsoft.com/office/drawing/2014/main" id="{4E50CAE8-3A8F-8791-C244-33CB89E9F480}"/>
              </a:ext>
            </a:extLst>
          </p:cNvPr>
          <p:cNvSpPr/>
          <p:nvPr/>
        </p:nvSpPr>
        <p:spPr>
          <a:xfrm>
            <a:off x="2126564" y="3371758"/>
            <a:ext cx="157655" cy="459578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E3452F8-7C08-E154-67D0-490B9EB8D153}"/>
              </a:ext>
            </a:extLst>
          </p:cNvPr>
          <p:cNvSpPr/>
          <p:nvPr/>
        </p:nvSpPr>
        <p:spPr bwMode="auto">
          <a:xfrm>
            <a:off x="1732125" y="3977570"/>
            <a:ext cx="929764" cy="686429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LLM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C243705-581B-3642-D8EA-FD88D3AAC168}"/>
              </a:ext>
            </a:extLst>
          </p:cNvPr>
          <p:cNvSpPr txBox="1"/>
          <p:nvPr/>
        </p:nvSpPr>
        <p:spPr>
          <a:xfrm>
            <a:off x="2501785" y="1803944"/>
            <a:ext cx="1058586" cy="461665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r>
              <a:rPr lang="en-US" sz="2400" b="0" i="0">
                <a:effectLst/>
                <a:latin typeface="Aptos" panose="020B0004020202020204" pitchFamily="34" charset="0"/>
              </a:rPr>
              <a:t>Agent</a:t>
            </a:r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AFBFA-A82B-9718-A9CD-5475FB42A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4278" y="2092036"/>
            <a:ext cx="4629224" cy="894721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/>
              <a:t>An </a:t>
            </a:r>
            <a:r>
              <a:rPr lang="en-US" b="1"/>
              <a:t>AI agent </a:t>
            </a:r>
            <a:r>
              <a:rPr lang="en-US"/>
              <a:t>uses an </a:t>
            </a:r>
            <a:r>
              <a:rPr lang="en-US" b="1"/>
              <a:t>LLM</a:t>
            </a:r>
            <a:r>
              <a:rPr lang="en-US"/>
              <a:t> to run </a:t>
            </a:r>
            <a:r>
              <a:rPr lang="en-US" b="1"/>
              <a:t>tools</a:t>
            </a:r>
            <a:r>
              <a:rPr lang="en-US"/>
              <a:t> in a loop to achieve a </a:t>
            </a:r>
            <a:r>
              <a:rPr lang="en-US" b="1"/>
              <a:t>goal</a:t>
            </a:r>
            <a:r>
              <a:rPr lang="en-US"/>
              <a:t>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ACEC853-804E-0F1F-4E27-40206288C16C}"/>
              </a:ext>
            </a:extLst>
          </p:cNvPr>
          <p:cNvSpPr txBox="1">
            <a:spLocks/>
          </p:cNvSpPr>
          <p:nvPr/>
        </p:nvSpPr>
        <p:spPr>
          <a:xfrm>
            <a:off x="6394278" y="3371758"/>
            <a:ext cx="5448098" cy="2233946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/>
              <a:t>Agents are improved by better </a:t>
            </a:r>
            <a:r>
              <a:rPr lang="en-US" sz="2400" b="1"/>
              <a:t>context</a:t>
            </a:r>
            <a:r>
              <a:rPr lang="en-US" sz="2400"/>
              <a:t>:</a:t>
            </a:r>
          </a:p>
          <a:p>
            <a:pPr marL="0" indent="0">
              <a:buNone/>
            </a:pPr>
            <a:r>
              <a:rPr lang="en-US" sz="2400"/>
              <a:t>📚 Knowledge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/>
              <a:t>🧠 Memory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/>
              <a:t>👩🏽‍💻 Humans</a:t>
            </a:r>
          </a:p>
        </p:txBody>
      </p:sp>
    </p:spTree>
    <p:extLst>
      <p:ext uri="{BB962C8B-B14F-4D97-AF65-F5344CB8AC3E}">
        <p14:creationId xmlns:p14="http://schemas.microsoft.com/office/powerpoint/2010/main" val="3100456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EBA3A-93D2-FC5C-552D-953E4DCC4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8C304-8A97-FEAB-59C4-AA152B258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Context is everything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F96FF-92D9-A0A8-9E8A-9343CCB03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3508" y="1849210"/>
            <a:ext cx="9884984" cy="89472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/>
              <a:t>The context to an agent is all the inputs that help the agent decide what action it will take next and how it will respond.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F8B997C-E8D8-E895-D55B-733FECD16AAA}"/>
              </a:ext>
            </a:extLst>
          </p:cNvPr>
          <p:cNvSpPr txBox="1">
            <a:spLocks/>
          </p:cNvSpPr>
          <p:nvPr/>
        </p:nvSpPr>
        <p:spPr>
          <a:xfrm>
            <a:off x="1246474" y="2940887"/>
            <a:ext cx="5684255" cy="2978187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/>
              <a:t>📋 Overall instructions</a:t>
            </a:r>
          </a:p>
          <a:p>
            <a:pPr marL="0" indent="0">
              <a:buNone/>
            </a:pPr>
            <a:r>
              <a:rPr lang="en-US" sz="2200"/>
              <a:t>💻 Environment information</a:t>
            </a:r>
          </a:p>
          <a:p>
            <a:pPr marL="0" indent="0">
              <a:spcAft>
                <a:spcPts val="2400"/>
              </a:spcAft>
              <a:buNone/>
            </a:pPr>
            <a:r>
              <a:rPr lang="en-US" sz="2200"/>
              <a:t>📚 Domain-specific knowledge 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sz="2200"/>
              <a:t>🧠 Memories from previous conversations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200"/>
              <a:t>💬 Past messages in the session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200"/>
              <a:t>🛠️ Tool descriptions, calls, results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EF811F-E900-6E70-E01B-AC83935082B1}"/>
              </a:ext>
            </a:extLst>
          </p:cNvPr>
          <p:cNvSpPr txBox="1"/>
          <p:nvPr/>
        </p:nvSpPr>
        <p:spPr>
          <a:xfrm>
            <a:off x="11539881" y="3101952"/>
            <a:ext cx="45937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0" i="0">
                <a:solidFill>
                  <a:srgbClr val="616161"/>
                </a:solidFill>
                <a:effectLst/>
                <a:latin typeface="-apple-system"/>
              </a:rPr>
              <a:t>⚙️</a:t>
            </a:r>
            <a:endParaRPr lang="en-US" sz="4000"/>
          </a:p>
        </p:txBody>
      </p:sp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1658AC26-B70B-21F7-5FE4-477825B542B6}"/>
              </a:ext>
            </a:extLst>
          </p:cNvPr>
          <p:cNvSpPr/>
          <p:nvPr/>
        </p:nvSpPr>
        <p:spPr>
          <a:xfrm>
            <a:off x="6932076" y="2810241"/>
            <a:ext cx="4249271" cy="2196486"/>
          </a:xfrm>
          <a:prstGeom prst="wedgeRoundRectCallout">
            <a:avLst>
              <a:gd name="adj1" fmla="val 54845"/>
              <a:gd name="adj2" fmla="val -22760"/>
              <a:gd name="adj3" fmla="val 16667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spcAft>
                <a:spcPts val="1200"/>
              </a:spcAft>
            </a:pPr>
            <a:r>
              <a:rPr lang="en-US" sz="2000"/>
              <a:t>You're a friendly weather assistant. </a:t>
            </a:r>
          </a:p>
          <a:p>
            <a:pPr>
              <a:spcAft>
                <a:spcPts val="1200"/>
              </a:spcAft>
            </a:pPr>
            <a:r>
              <a:rPr lang="en-US" sz="2000"/>
              <a:t>Today's date is Feb 25, 2026.</a:t>
            </a:r>
          </a:p>
          <a:p>
            <a:pPr>
              <a:spcAft>
                <a:spcPts val="1200"/>
              </a:spcAft>
            </a:pPr>
            <a:r>
              <a:rPr lang="en-US" sz="2000"/>
              <a:t>There is an emergency alert today for CA citizens due to wildfire risk.</a:t>
            </a:r>
          </a:p>
          <a:p>
            <a:r>
              <a:rPr lang="en-US" sz="2000"/>
              <a:t>The current user lives in California.</a:t>
            </a:r>
          </a:p>
        </p:txBody>
      </p:sp>
      <p:sp>
        <p:nvSpPr>
          <p:cNvPr id="16" name="Rounded Rectangular Callout 15">
            <a:extLst>
              <a:ext uri="{FF2B5EF4-FFF2-40B4-BE49-F238E27FC236}">
                <a16:creationId xmlns:a16="http://schemas.microsoft.com/office/drawing/2014/main" id="{6AF96574-09EB-842B-5D90-889B4A6BB548}"/>
              </a:ext>
            </a:extLst>
          </p:cNvPr>
          <p:cNvSpPr/>
          <p:nvPr/>
        </p:nvSpPr>
        <p:spPr>
          <a:xfrm>
            <a:off x="6932075" y="5076148"/>
            <a:ext cx="4249271" cy="339003"/>
          </a:xfrm>
          <a:prstGeom prst="wedgeRoundRectCallout">
            <a:avLst>
              <a:gd name="adj1" fmla="val 52865"/>
              <a:gd name="adj2" fmla="val -26662"/>
              <a:gd name="adj3" fmla="val 16667"/>
            </a:avLst>
          </a:prstGeom>
          <a:solidFill>
            <a:srgbClr val="4569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sz="1600"/>
              <a:t>Weather in Tokyo?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91FF33-89FB-B334-6E25-147107415428}"/>
              </a:ext>
            </a:extLst>
          </p:cNvPr>
          <p:cNvSpPr txBox="1"/>
          <p:nvPr/>
        </p:nvSpPr>
        <p:spPr>
          <a:xfrm>
            <a:off x="11320640" y="4951464"/>
            <a:ext cx="42454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0" i="0">
                <a:solidFill>
                  <a:srgbClr val="616161"/>
                </a:solidFill>
                <a:effectLst/>
                <a:latin typeface="-apple-system"/>
              </a:rPr>
              <a:t>👤</a:t>
            </a:r>
            <a:endParaRPr lang="en-US" sz="30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7D251E-05D2-284A-56D4-FC63B912E0A5}"/>
              </a:ext>
            </a:extLst>
          </p:cNvPr>
          <p:cNvSpPr txBox="1"/>
          <p:nvPr/>
        </p:nvSpPr>
        <p:spPr>
          <a:xfrm>
            <a:off x="11370639" y="5938798"/>
            <a:ext cx="381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0" i="0">
                <a:solidFill>
                  <a:srgbClr val="616161"/>
                </a:solidFill>
                <a:effectLst/>
                <a:latin typeface="-apple-system"/>
              </a:rPr>
              <a:t>🔧</a:t>
            </a:r>
            <a:endParaRPr lang="en-US" sz="3000"/>
          </a:p>
        </p:txBody>
      </p:sp>
      <p:sp>
        <p:nvSpPr>
          <p:cNvPr id="19" name="Rounded Rectangular Callout 18">
            <a:extLst>
              <a:ext uri="{FF2B5EF4-FFF2-40B4-BE49-F238E27FC236}">
                <a16:creationId xmlns:a16="http://schemas.microsoft.com/office/drawing/2014/main" id="{F4EAF802-77DE-7EBB-D942-FD5761866046}"/>
              </a:ext>
            </a:extLst>
          </p:cNvPr>
          <p:cNvSpPr/>
          <p:nvPr/>
        </p:nvSpPr>
        <p:spPr>
          <a:xfrm>
            <a:off x="6919289" y="5543275"/>
            <a:ext cx="4249270" cy="344032"/>
          </a:xfrm>
          <a:prstGeom prst="wedgeRoundRectCallout">
            <a:avLst>
              <a:gd name="adj1" fmla="val 52443"/>
              <a:gd name="adj2" fmla="val -24802"/>
              <a:gd name="adj3" fmla="val 166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sz="1600">
                <a:solidFill>
                  <a:schemeClr val="bg1"/>
                </a:solidFill>
              </a:rPr>
              <a:t>get_weather("Tokyo")</a:t>
            </a:r>
          </a:p>
        </p:txBody>
      </p:sp>
      <p:sp>
        <p:nvSpPr>
          <p:cNvPr id="20" name="Rounded Rectangular Callout 19">
            <a:extLst>
              <a:ext uri="{FF2B5EF4-FFF2-40B4-BE49-F238E27FC236}">
                <a16:creationId xmlns:a16="http://schemas.microsoft.com/office/drawing/2014/main" id="{D80FF8BF-7488-1B4F-798D-5DA952C5CC08}"/>
              </a:ext>
            </a:extLst>
          </p:cNvPr>
          <p:cNvSpPr/>
          <p:nvPr/>
        </p:nvSpPr>
        <p:spPr>
          <a:xfrm>
            <a:off x="6919289" y="5956728"/>
            <a:ext cx="4249270" cy="363021"/>
          </a:xfrm>
          <a:prstGeom prst="wedgeRoundRectCallout">
            <a:avLst>
              <a:gd name="adj1" fmla="val 52865"/>
              <a:gd name="adj2" fmla="val -22942"/>
              <a:gd name="adj3" fmla="val 16667"/>
            </a:avLst>
          </a:prstGeom>
          <a:solidFill>
            <a:srgbClr val="CAE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sz="1600">
                <a:solidFill>
                  <a:schemeClr val="tx1"/>
                </a:solidFill>
              </a:rPr>
              <a:t>Sunny, 25°C</a:t>
            </a:r>
          </a:p>
        </p:txBody>
      </p:sp>
      <p:sp>
        <p:nvSpPr>
          <p:cNvPr id="21" name="Rounded Rectangular Callout 20">
            <a:extLst>
              <a:ext uri="{FF2B5EF4-FFF2-40B4-BE49-F238E27FC236}">
                <a16:creationId xmlns:a16="http://schemas.microsoft.com/office/drawing/2014/main" id="{051355CD-EBC7-12F6-AA33-DA816CA4AF0B}"/>
              </a:ext>
            </a:extLst>
          </p:cNvPr>
          <p:cNvSpPr/>
          <p:nvPr/>
        </p:nvSpPr>
        <p:spPr>
          <a:xfrm>
            <a:off x="6930729" y="6432223"/>
            <a:ext cx="4249269" cy="363021"/>
          </a:xfrm>
          <a:prstGeom prst="wedgeRoundRectCallout">
            <a:avLst>
              <a:gd name="adj1" fmla="val 51810"/>
              <a:gd name="adj2" fmla="val -24803"/>
              <a:gd name="adj3" fmla="val 166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r>
              <a:rPr lang="en-US" sz="1600">
                <a:solidFill>
                  <a:schemeClr val="bg1"/>
                </a:solidFill>
              </a:rPr>
              <a:t>It's sunny in Tokyo at 25°C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D53DAEE-809B-5C15-E20C-AD527B8F64BC}"/>
              </a:ext>
            </a:extLst>
          </p:cNvPr>
          <p:cNvSpPr/>
          <p:nvPr/>
        </p:nvSpPr>
        <p:spPr bwMode="auto">
          <a:xfrm>
            <a:off x="11315258" y="5438950"/>
            <a:ext cx="684000" cy="443561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LLM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E6E8AB4-D438-A433-668B-1AD5AC839054}"/>
              </a:ext>
            </a:extLst>
          </p:cNvPr>
          <p:cNvSpPr/>
          <p:nvPr/>
        </p:nvSpPr>
        <p:spPr bwMode="auto">
          <a:xfrm>
            <a:off x="11315258" y="6362121"/>
            <a:ext cx="684000" cy="443561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LLM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86BAA52-C360-34BE-F3AF-323F5F84B948}"/>
              </a:ext>
            </a:extLst>
          </p:cNvPr>
          <p:cNvCxnSpPr>
            <a:cxnSpLocks/>
          </p:cNvCxnSpPr>
          <p:nvPr/>
        </p:nvCxnSpPr>
        <p:spPr>
          <a:xfrm>
            <a:off x="4159624" y="3191435"/>
            <a:ext cx="2671482" cy="0"/>
          </a:xfrm>
          <a:prstGeom prst="line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ED597D7-9F95-4C61-B52F-9205AF44CAE2}"/>
              </a:ext>
            </a:extLst>
          </p:cNvPr>
          <p:cNvCxnSpPr>
            <a:cxnSpLocks/>
          </p:cNvCxnSpPr>
          <p:nvPr/>
        </p:nvCxnSpPr>
        <p:spPr>
          <a:xfrm>
            <a:off x="4780574" y="3562529"/>
            <a:ext cx="2050532" cy="0"/>
          </a:xfrm>
          <a:prstGeom prst="line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946C1C1-3E50-0336-5EA5-184EEDDA5E9F}"/>
              </a:ext>
            </a:extLst>
          </p:cNvPr>
          <p:cNvCxnSpPr>
            <a:cxnSpLocks/>
          </p:cNvCxnSpPr>
          <p:nvPr/>
        </p:nvCxnSpPr>
        <p:spPr>
          <a:xfrm>
            <a:off x="5070734" y="4031020"/>
            <a:ext cx="1760372" cy="0"/>
          </a:xfrm>
          <a:prstGeom prst="line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8B446EA-81CD-21BB-BF8A-90AFCEE14B58}"/>
              </a:ext>
            </a:extLst>
          </p:cNvPr>
          <p:cNvCxnSpPr>
            <a:cxnSpLocks/>
          </p:cNvCxnSpPr>
          <p:nvPr/>
        </p:nvCxnSpPr>
        <p:spPr>
          <a:xfrm>
            <a:off x="6409085" y="4749280"/>
            <a:ext cx="422020" cy="0"/>
          </a:xfrm>
          <a:prstGeom prst="line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DC0EF22-431C-EEAB-01D5-41B97B039232}"/>
              </a:ext>
            </a:extLst>
          </p:cNvPr>
          <p:cNvCxnSpPr>
            <a:cxnSpLocks/>
          </p:cNvCxnSpPr>
          <p:nvPr/>
        </p:nvCxnSpPr>
        <p:spPr>
          <a:xfrm>
            <a:off x="5278582" y="5266155"/>
            <a:ext cx="1552524" cy="0"/>
          </a:xfrm>
          <a:prstGeom prst="line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F11C1E17-B92F-AAA5-DEAE-28B709AA7F02}"/>
              </a:ext>
            </a:extLst>
          </p:cNvPr>
          <p:cNvCxnSpPr>
            <a:cxnSpLocks/>
          </p:cNvCxnSpPr>
          <p:nvPr/>
        </p:nvCxnSpPr>
        <p:spPr>
          <a:xfrm>
            <a:off x="5495365" y="5715291"/>
            <a:ext cx="1335740" cy="0"/>
          </a:xfrm>
          <a:prstGeom prst="line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5362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03F8C-6D52-B47A-9DC1-7615BCF40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B17C0-581C-C550-D844-8F1EA7CFD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🧠 Memory</a:t>
            </a:r>
          </a:p>
        </p:txBody>
      </p:sp>
    </p:spTree>
    <p:extLst>
      <p:ext uri="{BB962C8B-B14F-4D97-AF65-F5344CB8AC3E}">
        <p14:creationId xmlns:p14="http://schemas.microsoft.com/office/powerpoint/2010/main" val="3207738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3342E-F689-E83D-4213-B73FBBBEE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9F63F-95D4-1DD6-675C-5323768AA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0E02C-41D6-3D19-7CBD-CE29CB58F8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416" y="2751913"/>
            <a:ext cx="3853510" cy="33353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/>
              <a:t>Session</a:t>
            </a:r>
            <a:endParaRPr lang="en-US"/>
          </a:p>
          <a:p>
            <a:r>
              <a:rPr lang="en-US" sz="2200"/>
              <a:t>Within conversation, just messages and tool calls</a:t>
            </a:r>
          </a:p>
          <a:p>
            <a:r>
              <a:rPr lang="en-US" sz="2200"/>
              <a:t>Can be stored in-memory OR persisted to a database to restore conversation later </a:t>
            </a:r>
          </a:p>
          <a:p>
            <a:r>
              <a:rPr lang="en-US" sz="2200"/>
              <a:t>May require truncation or summarization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A01FEA4-2152-C4D5-8F13-ED60A330EAA6}"/>
              </a:ext>
            </a:extLst>
          </p:cNvPr>
          <p:cNvSpPr txBox="1">
            <a:spLocks/>
          </p:cNvSpPr>
          <p:nvPr/>
        </p:nvSpPr>
        <p:spPr>
          <a:xfrm>
            <a:off x="8786949" y="2751913"/>
            <a:ext cx="3283131" cy="30945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/>
              <a:t>Dynamic memory</a:t>
            </a:r>
            <a:endParaRPr lang="en-US"/>
          </a:p>
          <a:p>
            <a:r>
              <a:rPr lang="en-US" sz="2200"/>
              <a:t>Must be stored in a persistent database</a:t>
            </a:r>
          </a:p>
          <a:p>
            <a:r>
              <a:rPr lang="en-US" sz="2200"/>
              <a:t>Retrieve memories, optionally using search to find most relevant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8CBFEB6-044B-1143-6187-85333BB3CF6B}"/>
              </a:ext>
            </a:extLst>
          </p:cNvPr>
          <p:cNvSpPr txBox="1">
            <a:spLocks/>
          </p:cNvSpPr>
          <p:nvPr/>
        </p:nvSpPr>
        <p:spPr>
          <a:xfrm>
            <a:off x="5120640" y="2751913"/>
            <a:ext cx="357922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/>
              <a:t>Chat history</a:t>
            </a:r>
            <a:endParaRPr lang="en-US" sz="2200"/>
          </a:p>
          <a:p>
            <a:r>
              <a:rPr lang="en-US" sz="2200"/>
              <a:t>Must be stored in a persistent database</a:t>
            </a:r>
          </a:p>
          <a:p>
            <a:r>
              <a:rPr lang="en-US" sz="2200"/>
              <a:t>Across conversations, typically tied to user ID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161F619-2861-3AC6-88D5-DDCA113222FA}"/>
              </a:ext>
            </a:extLst>
          </p:cNvPr>
          <p:cNvCxnSpPr/>
          <p:nvPr/>
        </p:nvCxnSpPr>
        <p:spPr>
          <a:xfrm>
            <a:off x="1181115" y="2412274"/>
            <a:ext cx="10650583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824C27F-41E6-9A7E-9507-BB5F30008806}"/>
              </a:ext>
            </a:extLst>
          </p:cNvPr>
          <p:cNvSpPr txBox="1"/>
          <p:nvPr/>
        </p:nvSpPr>
        <p:spPr>
          <a:xfrm>
            <a:off x="1181115" y="6245853"/>
            <a:ext cx="1160035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err="1">
                <a:hlinkClick r:id="rId2"/>
              </a:rPr>
              <a:t>https://learn.microsoft.com/agent-framework/user-guide/agents/agent-memory</a:t>
            </a:r>
            <a:endParaRPr lang="en-US" sz="2000" err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0CF7E7-A0D4-3B52-4493-29DE4292F1BF}"/>
              </a:ext>
            </a:extLst>
          </p:cNvPr>
          <p:cNvSpPr txBox="1"/>
          <p:nvPr/>
        </p:nvSpPr>
        <p:spPr>
          <a:xfrm>
            <a:off x="1181115" y="1661542"/>
            <a:ext cx="2589696" cy="653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Can LLM remember past messages?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66D901-E9C8-D4DC-7CAA-476990DBFC66}"/>
              </a:ext>
            </a:extLst>
          </p:cNvPr>
          <p:cNvSpPr txBox="1"/>
          <p:nvPr/>
        </p:nvSpPr>
        <p:spPr>
          <a:xfrm>
            <a:off x="5120640" y="1682194"/>
            <a:ext cx="2589696" cy="653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Can app remember past conversations?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A72643-1F42-267F-2E93-414FB2EF33B7}"/>
              </a:ext>
            </a:extLst>
          </p:cNvPr>
          <p:cNvSpPr txBox="1"/>
          <p:nvPr/>
        </p:nvSpPr>
        <p:spPr>
          <a:xfrm>
            <a:off x="8865069" y="1706174"/>
            <a:ext cx="30983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Can LLM remember facts from past conversations?</a:t>
            </a:r>
          </a:p>
        </p:txBody>
      </p:sp>
    </p:spTree>
    <p:extLst>
      <p:ext uri="{BB962C8B-B14F-4D97-AF65-F5344CB8AC3E}">
        <p14:creationId xmlns:p14="http://schemas.microsoft.com/office/powerpoint/2010/main" val="1702031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CBE9B-3E7B-9977-C361-97E31B881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7507D-A34C-6A17-CFB1-D2305AC88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💬 Conversation sessions</a:t>
            </a:r>
          </a:p>
        </p:txBody>
      </p:sp>
    </p:spTree>
    <p:extLst>
      <p:ext uri="{BB962C8B-B14F-4D97-AF65-F5344CB8AC3E}">
        <p14:creationId xmlns:p14="http://schemas.microsoft.com/office/powerpoint/2010/main" val="376503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EF939-CA6F-EFD6-2B11-2A94620EB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78A18FE6-64D8-AA83-C366-3E26DC0592E6}"/>
              </a:ext>
            </a:extLst>
          </p:cNvPr>
          <p:cNvSpPr/>
          <p:nvPr/>
        </p:nvSpPr>
        <p:spPr>
          <a:xfrm>
            <a:off x="1168498" y="2064692"/>
            <a:ext cx="4927502" cy="4433307"/>
          </a:xfrm>
          <a:prstGeom prst="roundRect">
            <a:avLst>
              <a:gd name="adj" fmla="val 463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C2EB8D-95F4-F82E-97EB-8F5DE0E1F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Conversation sessions</a:t>
            </a:r>
          </a:p>
        </p:txBody>
      </p:sp>
      <p:sp>
        <p:nvSpPr>
          <p:cNvPr id="9" name="Rounded Rectangular Callout 8">
            <a:extLst>
              <a:ext uri="{FF2B5EF4-FFF2-40B4-BE49-F238E27FC236}">
                <a16:creationId xmlns:a16="http://schemas.microsoft.com/office/drawing/2014/main" id="{866F9885-07E6-7BB1-C906-F5CDD2D029AA}"/>
              </a:ext>
            </a:extLst>
          </p:cNvPr>
          <p:cNvSpPr/>
          <p:nvPr/>
        </p:nvSpPr>
        <p:spPr>
          <a:xfrm>
            <a:off x="7634493" y="2159553"/>
            <a:ext cx="3768090" cy="482112"/>
          </a:xfrm>
          <a:prstGeom prst="wedgeRoundRectCallout">
            <a:avLst>
              <a:gd name="adj1" fmla="val -55152"/>
              <a:gd name="adj2" fmla="val -21083"/>
              <a:gd name="adj3" fmla="val 16667"/>
            </a:avLst>
          </a:prstGeom>
          <a:solidFill>
            <a:srgbClr val="4569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/>
              <a:t>Weather in Tokyo?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502BE3-24B2-A4DA-486A-8DF73EE1375F}"/>
              </a:ext>
            </a:extLst>
          </p:cNvPr>
          <p:cNvSpPr txBox="1"/>
          <p:nvPr/>
        </p:nvSpPr>
        <p:spPr>
          <a:xfrm>
            <a:off x="6899482" y="2159553"/>
            <a:ext cx="4245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0" i="0">
                <a:solidFill>
                  <a:srgbClr val="616161"/>
                </a:solidFill>
                <a:effectLst/>
                <a:latin typeface="-apple-system"/>
              </a:rPr>
              <a:t>👤</a:t>
            </a:r>
            <a:endParaRPr lang="en-US" sz="40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069CA7-7D9C-65CB-2F39-BB2651AE24EA}"/>
              </a:ext>
            </a:extLst>
          </p:cNvPr>
          <p:cNvSpPr txBox="1"/>
          <p:nvPr/>
        </p:nvSpPr>
        <p:spPr>
          <a:xfrm>
            <a:off x="6921253" y="3315978"/>
            <a:ext cx="381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0" i="0">
                <a:solidFill>
                  <a:srgbClr val="616161"/>
                </a:solidFill>
                <a:effectLst/>
                <a:latin typeface="-apple-system"/>
              </a:rPr>
              <a:t>🔧</a:t>
            </a:r>
            <a:endParaRPr lang="en-US" sz="40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B24FB7F-B2DA-1C43-1436-849A85B1F275}"/>
              </a:ext>
            </a:extLst>
          </p:cNvPr>
          <p:cNvSpPr txBox="1"/>
          <p:nvPr/>
        </p:nvSpPr>
        <p:spPr>
          <a:xfrm>
            <a:off x="6882065" y="1582580"/>
            <a:ext cx="45937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0" i="0">
                <a:solidFill>
                  <a:srgbClr val="616161"/>
                </a:solidFill>
                <a:effectLst/>
                <a:latin typeface="-apple-system"/>
              </a:rPr>
              <a:t>⚙️</a:t>
            </a:r>
            <a:endParaRPr lang="en-US" sz="4000"/>
          </a:p>
        </p:txBody>
      </p:sp>
      <p:sp>
        <p:nvSpPr>
          <p:cNvPr id="19" name="Rounded Rectangular Callout 18">
            <a:extLst>
              <a:ext uri="{FF2B5EF4-FFF2-40B4-BE49-F238E27FC236}">
                <a16:creationId xmlns:a16="http://schemas.microsoft.com/office/drawing/2014/main" id="{FC7D922D-5FC7-F604-9D82-A01A53641E4F}"/>
              </a:ext>
            </a:extLst>
          </p:cNvPr>
          <p:cNvSpPr/>
          <p:nvPr/>
        </p:nvSpPr>
        <p:spPr>
          <a:xfrm>
            <a:off x="7645934" y="1582580"/>
            <a:ext cx="3768090" cy="482112"/>
          </a:xfrm>
          <a:prstGeom prst="wedgeRoundRectCallout">
            <a:avLst>
              <a:gd name="adj1" fmla="val -55152"/>
              <a:gd name="adj2" fmla="val -21083"/>
              <a:gd name="adj3" fmla="val 16667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/>
              <a:t>You're a weather assistant.</a:t>
            </a:r>
          </a:p>
        </p:txBody>
      </p:sp>
      <p:sp>
        <p:nvSpPr>
          <p:cNvPr id="20" name="Rounded Rectangular Callout 19">
            <a:extLst>
              <a:ext uri="{FF2B5EF4-FFF2-40B4-BE49-F238E27FC236}">
                <a16:creationId xmlns:a16="http://schemas.microsoft.com/office/drawing/2014/main" id="{F70F29A9-96ED-433F-6A73-B534593C6AE6}"/>
              </a:ext>
            </a:extLst>
          </p:cNvPr>
          <p:cNvSpPr/>
          <p:nvPr/>
        </p:nvSpPr>
        <p:spPr>
          <a:xfrm>
            <a:off x="7634493" y="2729359"/>
            <a:ext cx="3768090" cy="482112"/>
          </a:xfrm>
          <a:prstGeom prst="wedgeRoundRectCallout">
            <a:avLst>
              <a:gd name="adj1" fmla="val -55152"/>
              <a:gd name="adj2" fmla="val -21083"/>
              <a:gd name="adj3" fmla="val 166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>
                <a:solidFill>
                  <a:schemeClr val="bg1"/>
                </a:solidFill>
              </a:rPr>
              <a:t>get_weather("Tokyo")</a:t>
            </a:r>
          </a:p>
        </p:txBody>
      </p:sp>
      <p:sp>
        <p:nvSpPr>
          <p:cNvPr id="21" name="Rounded Rectangular Callout 20">
            <a:extLst>
              <a:ext uri="{FF2B5EF4-FFF2-40B4-BE49-F238E27FC236}">
                <a16:creationId xmlns:a16="http://schemas.microsoft.com/office/drawing/2014/main" id="{140E79E1-E6B7-023A-F4B2-1BFC7AA7B7FE}"/>
              </a:ext>
            </a:extLst>
          </p:cNvPr>
          <p:cNvSpPr/>
          <p:nvPr/>
        </p:nvSpPr>
        <p:spPr>
          <a:xfrm>
            <a:off x="7634493" y="3318155"/>
            <a:ext cx="3768090" cy="482112"/>
          </a:xfrm>
          <a:prstGeom prst="wedgeRoundRectCallout">
            <a:avLst>
              <a:gd name="adj1" fmla="val -55152"/>
              <a:gd name="adj2" fmla="val -21083"/>
              <a:gd name="adj3" fmla="val 16667"/>
            </a:avLst>
          </a:prstGeom>
          <a:solidFill>
            <a:srgbClr val="CAE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>
                <a:solidFill>
                  <a:schemeClr val="tx1"/>
                </a:solidFill>
              </a:rPr>
              <a:t>Sunny, 25°C</a:t>
            </a:r>
          </a:p>
        </p:txBody>
      </p:sp>
      <p:sp>
        <p:nvSpPr>
          <p:cNvPr id="23" name="Rounded Rectangular Callout 22">
            <a:extLst>
              <a:ext uri="{FF2B5EF4-FFF2-40B4-BE49-F238E27FC236}">
                <a16:creationId xmlns:a16="http://schemas.microsoft.com/office/drawing/2014/main" id="{6054AA43-6CC6-7B38-78EE-F88DF12AD911}"/>
              </a:ext>
            </a:extLst>
          </p:cNvPr>
          <p:cNvSpPr/>
          <p:nvPr/>
        </p:nvSpPr>
        <p:spPr>
          <a:xfrm>
            <a:off x="7645934" y="3874193"/>
            <a:ext cx="3768090" cy="482112"/>
          </a:xfrm>
          <a:prstGeom prst="wedgeRoundRectCallout">
            <a:avLst>
              <a:gd name="adj1" fmla="val -55152"/>
              <a:gd name="adj2" fmla="val -21083"/>
              <a:gd name="adj3" fmla="val 166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>
                <a:solidFill>
                  <a:schemeClr val="bg1"/>
                </a:solidFill>
              </a:rPr>
              <a:t>It's sunny in Tokyo at 25°C </a:t>
            </a:r>
          </a:p>
        </p:txBody>
      </p:sp>
      <p:sp>
        <p:nvSpPr>
          <p:cNvPr id="24" name="Rounded Rectangular Callout 23">
            <a:extLst>
              <a:ext uri="{FF2B5EF4-FFF2-40B4-BE49-F238E27FC236}">
                <a16:creationId xmlns:a16="http://schemas.microsoft.com/office/drawing/2014/main" id="{95547A7A-7A1B-BC10-D904-6A51DA8B107A}"/>
              </a:ext>
            </a:extLst>
          </p:cNvPr>
          <p:cNvSpPr/>
          <p:nvPr/>
        </p:nvSpPr>
        <p:spPr>
          <a:xfrm>
            <a:off x="7645934" y="4453628"/>
            <a:ext cx="3768090" cy="482112"/>
          </a:xfrm>
          <a:prstGeom prst="wedgeRoundRectCallout">
            <a:avLst>
              <a:gd name="adj1" fmla="val -55152"/>
              <a:gd name="adj2" fmla="val -21083"/>
              <a:gd name="adj3" fmla="val 16667"/>
            </a:avLst>
          </a:prstGeom>
          <a:solidFill>
            <a:srgbClr val="4569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/>
              <a:t>How about London?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7FF88D1-B8A3-E4FA-8CCA-09690E2ED84E}"/>
              </a:ext>
            </a:extLst>
          </p:cNvPr>
          <p:cNvSpPr txBox="1"/>
          <p:nvPr/>
        </p:nvSpPr>
        <p:spPr>
          <a:xfrm>
            <a:off x="6899482" y="4465630"/>
            <a:ext cx="4245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0" i="0">
                <a:solidFill>
                  <a:srgbClr val="616161"/>
                </a:solidFill>
                <a:effectLst/>
                <a:latin typeface="-apple-system"/>
              </a:rPr>
              <a:t>👤</a:t>
            </a:r>
            <a:endParaRPr lang="en-US" sz="4000"/>
          </a:p>
        </p:txBody>
      </p:sp>
      <p:sp>
        <p:nvSpPr>
          <p:cNvPr id="27" name="Rounded Rectangular Callout 26">
            <a:extLst>
              <a:ext uri="{FF2B5EF4-FFF2-40B4-BE49-F238E27FC236}">
                <a16:creationId xmlns:a16="http://schemas.microsoft.com/office/drawing/2014/main" id="{BFE25B64-B640-C4F4-EEBC-0ABC83D8C19A}"/>
              </a:ext>
            </a:extLst>
          </p:cNvPr>
          <p:cNvSpPr/>
          <p:nvPr/>
        </p:nvSpPr>
        <p:spPr>
          <a:xfrm>
            <a:off x="7645934" y="5033063"/>
            <a:ext cx="3768090" cy="482112"/>
          </a:xfrm>
          <a:prstGeom prst="wedgeRoundRectCallout">
            <a:avLst>
              <a:gd name="adj1" fmla="val -55152"/>
              <a:gd name="adj2" fmla="val -21083"/>
              <a:gd name="adj3" fmla="val 166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>
                <a:solidFill>
                  <a:schemeClr val="bg1"/>
                </a:solidFill>
              </a:rPr>
              <a:t>get_weather("London")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DC119F2-CAAB-177E-9D64-C1987339CBA2}"/>
              </a:ext>
            </a:extLst>
          </p:cNvPr>
          <p:cNvSpPr txBox="1"/>
          <p:nvPr/>
        </p:nvSpPr>
        <p:spPr>
          <a:xfrm>
            <a:off x="6921253" y="5623677"/>
            <a:ext cx="381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0" i="0">
                <a:solidFill>
                  <a:srgbClr val="616161"/>
                </a:solidFill>
                <a:effectLst/>
                <a:latin typeface="-apple-system"/>
              </a:rPr>
              <a:t>🔧</a:t>
            </a:r>
            <a:endParaRPr lang="en-US" sz="4000"/>
          </a:p>
        </p:txBody>
      </p:sp>
      <p:sp>
        <p:nvSpPr>
          <p:cNvPr id="29" name="Rounded Rectangular Callout 28">
            <a:extLst>
              <a:ext uri="{FF2B5EF4-FFF2-40B4-BE49-F238E27FC236}">
                <a16:creationId xmlns:a16="http://schemas.microsoft.com/office/drawing/2014/main" id="{EBF299E2-51AA-16BB-F6A2-026AB25930D9}"/>
              </a:ext>
            </a:extLst>
          </p:cNvPr>
          <p:cNvSpPr/>
          <p:nvPr/>
        </p:nvSpPr>
        <p:spPr>
          <a:xfrm>
            <a:off x="7645934" y="5612498"/>
            <a:ext cx="3768090" cy="482112"/>
          </a:xfrm>
          <a:prstGeom prst="wedgeRoundRectCallout">
            <a:avLst>
              <a:gd name="adj1" fmla="val -55152"/>
              <a:gd name="adj2" fmla="val -21083"/>
              <a:gd name="adj3" fmla="val 16667"/>
            </a:avLst>
          </a:prstGeom>
          <a:solidFill>
            <a:srgbClr val="CAE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>
                <a:solidFill>
                  <a:schemeClr val="tx1"/>
                </a:solidFill>
              </a:rPr>
              <a:t>Rainy, 12°C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C45FA9-9799-454C-61C7-F69C55216E70}"/>
              </a:ext>
            </a:extLst>
          </p:cNvPr>
          <p:cNvSpPr txBox="1"/>
          <p:nvPr/>
        </p:nvSpPr>
        <p:spPr>
          <a:xfrm>
            <a:off x="1859250" y="1738095"/>
            <a:ext cx="8031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0" i="0">
                <a:solidFill>
                  <a:srgbClr val="616161"/>
                </a:solidFill>
                <a:effectLst/>
                <a:latin typeface="-apple-system"/>
              </a:rPr>
              <a:t>🤖</a:t>
            </a:r>
            <a:endParaRPr lang="en-US" sz="2400"/>
          </a:p>
        </p:txBody>
      </p:sp>
      <p:sp>
        <p:nvSpPr>
          <p:cNvPr id="31" name="Rounded Rectangular Callout 30">
            <a:extLst>
              <a:ext uri="{FF2B5EF4-FFF2-40B4-BE49-F238E27FC236}">
                <a16:creationId xmlns:a16="http://schemas.microsoft.com/office/drawing/2014/main" id="{1A7EE6D6-EB31-DE08-7E1F-1F6277B98E6D}"/>
              </a:ext>
            </a:extLst>
          </p:cNvPr>
          <p:cNvSpPr/>
          <p:nvPr/>
        </p:nvSpPr>
        <p:spPr>
          <a:xfrm>
            <a:off x="7645934" y="6191931"/>
            <a:ext cx="3768090" cy="482112"/>
          </a:xfrm>
          <a:prstGeom prst="wedgeRoundRectCallout">
            <a:avLst>
              <a:gd name="adj1" fmla="val -55152"/>
              <a:gd name="adj2" fmla="val -21083"/>
              <a:gd name="adj3" fmla="val 166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>
                <a:solidFill>
                  <a:schemeClr val="bg1"/>
                </a:solidFill>
              </a:rPr>
              <a:t>London is rainy at 12°C 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E64D0463-11F8-FDDD-0C97-7E1DC9100063}"/>
              </a:ext>
            </a:extLst>
          </p:cNvPr>
          <p:cNvSpPr txBox="1">
            <a:spLocks/>
          </p:cNvSpPr>
          <p:nvPr/>
        </p:nvSpPr>
        <p:spPr>
          <a:xfrm>
            <a:off x="4261925" y="3757248"/>
            <a:ext cx="1197254" cy="10389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6000"/>
              <a:t>🛠️</a:t>
            </a:r>
          </a:p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/>
              <a:t>Tools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8000"/>
          </a:p>
        </p:txBody>
      </p:sp>
      <p:sp>
        <p:nvSpPr>
          <p:cNvPr id="34" name="Curved Down Arrow 33">
            <a:extLst>
              <a:ext uri="{FF2B5EF4-FFF2-40B4-BE49-F238E27FC236}">
                <a16:creationId xmlns:a16="http://schemas.microsoft.com/office/drawing/2014/main" id="{536CCEE8-2465-991A-50C9-2EF9ABBB4945}"/>
              </a:ext>
            </a:extLst>
          </p:cNvPr>
          <p:cNvSpPr/>
          <p:nvPr/>
        </p:nvSpPr>
        <p:spPr>
          <a:xfrm>
            <a:off x="3031080" y="3637826"/>
            <a:ext cx="1197254" cy="433264"/>
          </a:xfrm>
          <a:prstGeom prst="curved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Curved Down Arrow 34">
            <a:extLst>
              <a:ext uri="{FF2B5EF4-FFF2-40B4-BE49-F238E27FC236}">
                <a16:creationId xmlns:a16="http://schemas.microsoft.com/office/drawing/2014/main" id="{60CBBE6F-C812-C5DE-7B7D-0218B5F3615A}"/>
              </a:ext>
            </a:extLst>
          </p:cNvPr>
          <p:cNvSpPr/>
          <p:nvPr/>
        </p:nvSpPr>
        <p:spPr>
          <a:xfrm rot="10800000">
            <a:off x="2973759" y="4592672"/>
            <a:ext cx="1197254" cy="433264"/>
          </a:xfrm>
          <a:prstGeom prst="curved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6" name="Down Arrow 35">
            <a:extLst>
              <a:ext uri="{FF2B5EF4-FFF2-40B4-BE49-F238E27FC236}">
                <a16:creationId xmlns:a16="http://schemas.microsoft.com/office/drawing/2014/main" id="{DA78D6E9-5332-F19A-EC9D-1FA522B8B86F}"/>
              </a:ext>
            </a:extLst>
          </p:cNvPr>
          <p:cNvSpPr/>
          <p:nvPr/>
        </p:nvSpPr>
        <p:spPr>
          <a:xfrm>
            <a:off x="2126564" y="4796148"/>
            <a:ext cx="157655" cy="459578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C732D3C-291C-E57E-02BA-AD048705C0BB}"/>
              </a:ext>
            </a:extLst>
          </p:cNvPr>
          <p:cNvSpPr txBox="1"/>
          <p:nvPr/>
        </p:nvSpPr>
        <p:spPr>
          <a:xfrm>
            <a:off x="1422922" y="5385418"/>
            <a:ext cx="1575899" cy="1025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4400"/>
              </a:lnSpc>
              <a:buFont typeface="Arial" panose="020B0604020202020204" pitchFamily="34" charset="0"/>
              <a:buNone/>
            </a:pPr>
            <a:r>
              <a:rPr lang="en-US" sz="5500"/>
              <a:t>🥅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/>
              <a:t>Response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02157CA-15EC-6D40-4C90-9386733F83BA}"/>
              </a:ext>
            </a:extLst>
          </p:cNvPr>
          <p:cNvSpPr txBox="1"/>
          <p:nvPr/>
        </p:nvSpPr>
        <p:spPr>
          <a:xfrm>
            <a:off x="1993121" y="2770544"/>
            <a:ext cx="4245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0" i="0">
                <a:solidFill>
                  <a:srgbClr val="616161"/>
                </a:solidFill>
                <a:effectLst/>
                <a:latin typeface="-apple-system"/>
              </a:rPr>
              <a:t>👤</a:t>
            </a:r>
            <a:endParaRPr lang="en-US" sz="40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F15CF71-E8DD-2827-CDB0-72692BFEC033}"/>
              </a:ext>
            </a:extLst>
          </p:cNvPr>
          <p:cNvSpPr txBox="1"/>
          <p:nvPr/>
        </p:nvSpPr>
        <p:spPr>
          <a:xfrm>
            <a:off x="1676098" y="2330518"/>
            <a:ext cx="10585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/>
              <a:t>Input</a:t>
            </a:r>
          </a:p>
        </p:txBody>
      </p:sp>
      <p:sp>
        <p:nvSpPr>
          <p:cNvPr id="43" name="Down Arrow 42">
            <a:extLst>
              <a:ext uri="{FF2B5EF4-FFF2-40B4-BE49-F238E27FC236}">
                <a16:creationId xmlns:a16="http://schemas.microsoft.com/office/drawing/2014/main" id="{F0012304-9FFE-6F0C-E55E-9EB4328B3707}"/>
              </a:ext>
            </a:extLst>
          </p:cNvPr>
          <p:cNvSpPr/>
          <p:nvPr/>
        </p:nvSpPr>
        <p:spPr>
          <a:xfrm>
            <a:off x="2126564" y="3371758"/>
            <a:ext cx="157655" cy="459578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58AEF11-1D23-7844-CAD8-A1AF69F4190A}"/>
              </a:ext>
            </a:extLst>
          </p:cNvPr>
          <p:cNvSpPr/>
          <p:nvPr/>
        </p:nvSpPr>
        <p:spPr bwMode="auto">
          <a:xfrm>
            <a:off x="1732125" y="3977570"/>
            <a:ext cx="929764" cy="686429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LLM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2473641-3774-1ADE-CA12-87BF56499845}"/>
              </a:ext>
            </a:extLst>
          </p:cNvPr>
          <p:cNvSpPr/>
          <p:nvPr/>
        </p:nvSpPr>
        <p:spPr bwMode="auto">
          <a:xfrm>
            <a:off x="6769753" y="2763114"/>
            <a:ext cx="684000" cy="443561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LLM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BC77339-3AB1-9E5B-52CC-63115DD7E231}"/>
              </a:ext>
            </a:extLst>
          </p:cNvPr>
          <p:cNvSpPr/>
          <p:nvPr/>
        </p:nvSpPr>
        <p:spPr bwMode="auto">
          <a:xfrm>
            <a:off x="6769753" y="3923181"/>
            <a:ext cx="684000" cy="443561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LLM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A15B920-9035-3D69-C5D1-E4D95365E863}"/>
              </a:ext>
            </a:extLst>
          </p:cNvPr>
          <p:cNvSpPr/>
          <p:nvPr/>
        </p:nvSpPr>
        <p:spPr bwMode="auto">
          <a:xfrm>
            <a:off x="6769753" y="5090421"/>
            <a:ext cx="684000" cy="443561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LLM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3D28ABB-A567-83C9-910C-C213D0917305}"/>
              </a:ext>
            </a:extLst>
          </p:cNvPr>
          <p:cNvSpPr/>
          <p:nvPr/>
        </p:nvSpPr>
        <p:spPr bwMode="auto">
          <a:xfrm>
            <a:off x="6769753" y="6230482"/>
            <a:ext cx="684000" cy="443561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LLM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BD75D39-96A1-E1D8-E183-E4442405A95F}"/>
              </a:ext>
            </a:extLst>
          </p:cNvPr>
          <p:cNvSpPr txBox="1"/>
          <p:nvPr/>
        </p:nvSpPr>
        <p:spPr>
          <a:xfrm>
            <a:off x="2501785" y="1803944"/>
            <a:ext cx="1058586" cy="461665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r>
              <a:rPr lang="en-US" sz="2400" b="0" i="0">
                <a:effectLst/>
                <a:latin typeface="Aptos" panose="020B0004020202020204" pitchFamily="34" charset="0"/>
              </a:rPr>
              <a:t>Agent</a:t>
            </a:r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53" name="Curved Down Arrow 52">
            <a:extLst>
              <a:ext uri="{FF2B5EF4-FFF2-40B4-BE49-F238E27FC236}">
                <a16:creationId xmlns:a16="http://schemas.microsoft.com/office/drawing/2014/main" id="{B135BB6B-029F-9FD3-301B-79714C14782B}"/>
              </a:ext>
            </a:extLst>
          </p:cNvPr>
          <p:cNvSpPr/>
          <p:nvPr/>
        </p:nvSpPr>
        <p:spPr>
          <a:xfrm rot="5400000">
            <a:off x="3837664" y="4152651"/>
            <a:ext cx="3298896" cy="684000"/>
          </a:xfrm>
          <a:prstGeom prst="curvedDownArrow">
            <a:avLst>
              <a:gd name="adj1" fmla="val 17259"/>
              <a:gd name="adj2" fmla="val 50000"/>
              <a:gd name="adj3" fmla="val 25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98BCBEB-ECE7-ECDE-D944-19CFEF11C66F}"/>
              </a:ext>
            </a:extLst>
          </p:cNvPr>
          <p:cNvSpPr txBox="1"/>
          <p:nvPr/>
        </p:nvSpPr>
        <p:spPr>
          <a:xfrm>
            <a:off x="6769753" y="1103945"/>
            <a:ext cx="47507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A </a:t>
            </a:r>
            <a:r>
              <a:rPr lang="en-US" b="1"/>
              <a:t>session</a:t>
            </a:r>
            <a:r>
              <a:rPr lang="en-US"/>
              <a:t> includes all the past messages:</a:t>
            </a:r>
          </a:p>
        </p:txBody>
      </p:sp>
    </p:spTree>
    <p:extLst>
      <p:ext uri="{BB962C8B-B14F-4D97-AF65-F5344CB8AC3E}">
        <p14:creationId xmlns:p14="http://schemas.microsoft.com/office/powerpoint/2010/main" val="4035450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CB606-5704-C04D-5DD0-1050A20F3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8BC95-A032-0956-7F35-65024BEBB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Conversation session (In-memory)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ECE211-E873-2A80-E842-2BCEAC4B83A1}"/>
              </a:ext>
            </a:extLst>
          </p:cNvPr>
          <p:cNvSpPr txBox="1"/>
          <p:nvPr/>
        </p:nvSpPr>
        <p:spPr>
          <a:xfrm>
            <a:off x="1132793" y="1687744"/>
            <a:ext cx="1114258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/>
              <a:t>By default, a </a:t>
            </a:r>
            <a:r>
              <a:rPr lang="en-US" sz="2200" b="1"/>
              <a:t>session</a:t>
            </a:r>
            <a:r>
              <a:rPr lang="en-US" sz="2200"/>
              <a:t> stores the conversation messages in memory: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B5DC16-065C-5680-845E-7C86F0807DAC}"/>
              </a:ext>
            </a:extLst>
          </p:cNvPr>
          <p:cNvSpPr txBox="1"/>
          <p:nvPr/>
        </p:nvSpPr>
        <p:spPr>
          <a:xfrm>
            <a:off x="1132793" y="227425"/>
            <a:ext cx="3168620" cy="461665"/>
          </a:xfrm>
          <a:prstGeom prst="rect">
            <a:avLst/>
          </a:prstGeom>
          <a:solidFill>
            <a:schemeClr val="accent3"/>
          </a:solidFill>
          <a:effectLst>
            <a:softEdge rad="31750"/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agent-framework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43E35F-E0B6-D30C-00CB-E7CB58ED228E}"/>
              </a:ext>
            </a:extLst>
          </p:cNvPr>
          <p:cNvSpPr txBox="1"/>
          <p:nvPr/>
        </p:nvSpPr>
        <p:spPr>
          <a:xfrm>
            <a:off x="1132792" y="2277771"/>
            <a:ext cx="11059208" cy="34778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agent_framework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Agent</a:t>
            </a:r>
            <a:endParaRPr lang="en-US" sz="2200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US" sz="2200" b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agent_framework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2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openai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OpenAIChatClient</a:t>
            </a:r>
            <a:endParaRPr lang="en-US" sz="2200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endParaRPr lang="en-US" sz="2200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US" sz="22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agent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2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Agent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>
              <a:buNone/>
            </a:pPr>
            <a:r>
              <a:rPr lang="en-US" sz="22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client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OpenAIChatClient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(),</a:t>
            </a:r>
          </a:p>
          <a:p>
            <a:pPr>
              <a:buNone/>
            </a:pPr>
            <a:r>
              <a:rPr lang="en-US" sz="22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instructions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"You are a helpful assistant."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buNone/>
            </a:pPr>
            <a:endParaRPr lang="en-US" sz="2200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US" sz="22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session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2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agent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200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create_session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b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US" sz="2200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US" sz="22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response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200" b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await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agent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200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run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"Hello, my name is Alice"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2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session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session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5AFD91-1C57-F288-24C7-FF3B744ED8D1}"/>
              </a:ext>
            </a:extLst>
          </p:cNvPr>
          <p:cNvSpPr txBox="1"/>
          <p:nvPr/>
        </p:nvSpPr>
        <p:spPr>
          <a:xfrm>
            <a:off x="1135284" y="6199742"/>
            <a:ext cx="65281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0" i="0" u="sng">
                <a:solidFill>
                  <a:srgbClr val="00008B"/>
                </a:solidFill>
                <a:effectLst/>
                <a:latin typeface="Aptos" panose="020B0004020202020204" pitchFamily="34" charset="0"/>
                <a:hlinkClick r:id="rId2"/>
              </a:rPr>
              <a:t>Full example: agent_session.py</a:t>
            </a:r>
            <a:endParaRPr lang="en-US" sz="220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17611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E9E8D-5F15-977D-A4CC-F682D56C2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0C218-CD7E-FD3F-5708-FA02A4A58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Persistent chat history</a:t>
            </a:r>
          </a:p>
        </p:txBody>
      </p:sp>
    </p:spTree>
    <p:extLst>
      <p:ext uri="{BB962C8B-B14F-4D97-AF65-F5344CB8AC3E}">
        <p14:creationId xmlns:p14="http://schemas.microsoft.com/office/powerpoint/2010/main" val="9658592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C37DB-3EA1-DB81-F18D-589BB959F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3039F-FA22-724B-8FCF-DDC0E332C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Persistent chat history</a:t>
            </a:r>
          </a:p>
        </p:txBody>
      </p:sp>
      <p:sp>
        <p:nvSpPr>
          <p:cNvPr id="5" name="Rounded Rectangular Callout 4">
            <a:extLst>
              <a:ext uri="{FF2B5EF4-FFF2-40B4-BE49-F238E27FC236}">
                <a16:creationId xmlns:a16="http://schemas.microsoft.com/office/drawing/2014/main" id="{BE1E1EB3-E748-FFE5-9477-79F7496311B6}"/>
              </a:ext>
            </a:extLst>
          </p:cNvPr>
          <p:cNvSpPr/>
          <p:nvPr/>
        </p:nvSpPr>
        <p:spPr>
          <a:xfrm>
            <a:off x="2121199" y="2231271"/>
            <a:ext cx="3264113" cy="482112"/>
          </a:xfrm>
          <a:prstGeom prst="wedgeRoundRectCallout">
            <a:avLst>
              <a:gd name="adj1" fmla="val -55152"/>
              <a:gd name="adj2" fmla="val -21083"/>
              <a:gd name="adj3" fmla="val 16667"/>
            </a:avLst>
          </a:prstGeom>
          <a:solidFill>
            <a:srgbClr val="4569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/>
              <a:t>Weather in Tokyo?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A00BBB-48FF-139D-A264-C9B2ED54D3D0}"/>
              </a:ext>
            </a:extLst>
          </p:cNvPr>
          <p:cNvSpPr txBox="1"/>
          <p:nvPr/>
        </p:nvSpPr>
        <p:spPr>
          <a:xfrm>
            <a:off x="1386188" y="2231271"/>
            <a:ext cx="4245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0" i="0">
                <a:solidFill>
                  <a:srgbClr val="616161"/>
                </a:solidFill>
                <a:effectLst/>
                <a:latin typeface="-apple-system"/>
              </a:rPr>
              <a:t>👤</a:t>
            </a:r>
            <a:endParaRPr lang="en-US" sz="4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7031F6-B499-47A1-6175-D31E66A77B0B}"/>
              </a:ext>
            </a:extLst>
          </p:cNvPr>
          <p:cNvSpPr txBox="1"/>
          <p:nvPr/>
        </p:nvSpPr>
        <p:spPr>
          <a:xfrm>
            <a:off x="1407959" y="3387696"/>
            <a:ext cx="381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0" i="0">
                <a:solidFill>
                  <a:srgbClr val="616161"/>
                </a:solidFill>
                <a:effectLst/>
                <a:latin typeface="-apple-system"/>
              </a:rPr>
              <a:t>🔧</a:t>
            </a:r>
            <a:endParaRPr lang="en-US" sz="40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2D4F7D-B402-1ED6-F2BF-11315B306F73}"/>
              </a:ext>
            </a:extLst>
          </p:cNvPr>
          <p:cNvSpPr txBox="1"/>
          <p:nvPr/>
        </p:nvSpPr>
        <p:spPr>
          <a:xfrm>
            <a:off x="1368771" y="1654298"/>
            <a:ext cx="45937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0" i="0">
                <a:solidFill>
                  <a:srgbClr val="616161"/>
                </a:solidFill>
                <a:effectLst/>
                <a:latin typeface="-apple-system"/>
              </a:rPr>
              <a:t>⚙️</a:t>
            </a:r>
            <a:endParaRPr lang="en-US" sz="4000"/>
          </a:p>
        </p:txBody>
      </p:sp>
      <p:sp>
        <p:nvSpPr>
          <p:cNvPr id="10" name="Rounded Rectangular Callout 9">
            <a:extLst>
              <a:ext uri="{FF2B5EF4-FFF2-40B4-BE49-F238E27FC236}">
                <a16:creationId xmlns:a16="http://schemas.microsoft.com/office/drawing/2014/main" id="{1DF622E0-4570-39DA-927E-BFF7CFA3DC95}"/>
              </a:ext>
            </a:extLst>
          </p:cNvPr>
          <p:cNvSpPr/>
          <p:nvPr/>
        </p:nvSpPr>
        <p:spPr>
          <a:xfrm>
            <a:off x="2132641" y="1654298"/>
            <a:ext cx="3252672" cy="482112"/>
          </a:xfrm>
          <a:prstGeom prst="wedgeRoundRectCallout">
            <a:avLst>
              <a:gd name="adj1" fmla="val -55152"/>
              <a:gd name="adj2" fmla="val -21083"/>
              <a:gd name="adj3" fmla="val 16667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/>
              <a:t>You're a weather assistant.</a:t>
            </a:r>
          </a:p>
        </p:txBody>
      </p:sp>
      <p:sp>
        <p:nvSpPr>
          <p:cNvPr id="11" name="Rounded Rectangular Callout 10">
            <a:extLst>
              <a:ext uri="{FF2B5EF4-FFF2-40B4-BE49-F238E27FC236}">
                <a16:creationId xmlns:a16="http://schemas.microsoft.com/office/drawing/2014/main" id="{91797F37-573C-5167-9978-9F621326C5F1}"/>
              </a:ext>
            </a:extLst>
          </p:cNvPr>
          <p:cNvSpPr/>
          <p:nvPr/>
        </p:nvSpPr>
        <p:spPr>
          <a:xfrm>
            <a:off x="2121199" y="2801077"/>
            <a:ext cx="3264113" cy="482112"/>
          </a:xfrm>
          <a:prstGeom prst="wedgeRoundRectCallout">
            <a:avLst>
              <a:gd name="adj1" fmla="val -55152"/>
              <a:gd name="adj2" fmla="val -21083"/>
              <a:gd name="adj3" fmla="val 166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>
                <a:solidFill>
                  <a:schemeClr val="bg1"/>
                </a:solidFill>
              </a:rPr>
              <a:t>get_weather("Tokyo")</a:t>
            </a:r>
          </a:p>
        </p:txBody>
      </p:sp>
      <p:sp>
        <p:nvSpPr>
          <p:cNvPr id="13" name="Rounded Rectangular Callout 12">
            <a:extLst>
              <a:ext uri="{FF2B5EF4-FFF2-40B4-BE49-F238E27FC236}">
                <a16:creationId xmlns:a16="http://schemas.microsoft.com/office/drawing/2014/main" id="{5EEF2EAD-0874-1BF2-4017-DFB393498E32}"/>
              </a:ext>
            </a:extLst>
          </p:cNvPr>
          <p:cNvSpPr/>
          <p:nvPr/>
        </p:nvSpPr>
        <p:spPr>
          <a:xfrm>
            <a:off x="2121199" y="3389873"/>
            <a:ext cx="3264113" cy="482112"/>
          </a:xfrm>
          <a:prstGeom prst="wedgeRoundRectCallout">
            <a:avLst>
              <a:gd name="adj1" fmla="val -55152"/>
              <a:gd name="adj2" fmla="val -21083"/>
              <a:gd name="adj3" fmla="val 16667"/>
            </a:avLst>
          </a:prstGeom>
          <a:solidFill>
            <a:srgbClr val="CAE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>
                <a:solidFill>
                  <a:schemeClr val="tx1"/>
                </a:solidFill>
              </a:rPr>
              <a:t>Sunny, 25°C</a:t>
            </a:r>
          </a:p>
        </p:txBody>
      </p:sp>
      <p:sp>
        <p:nvSpPr>
          <p:cNvPr id="14" name="Rounded Rectangular Callout 13">
            <a:extLst>
              <a:ext uri="{FF2B5EF4-FFF2-40B4-BE49-F238E27FC236}">
                <a16:creationId xmlns:a16="http://schemas.microsoft.com/office/drawing/2014/main" id="{C99AEB93-6BA7-B8F8-1217-A646B279D4B2}"/>
              </a:ext>
            </a:extLst>
          </p:cNvPr>
          <p:cNvSpPr/>
          <p:nvPr/>
        </p:nvSpPr>
        <p:spPr>
          <a:xfrm>
            <a:off x="2132640" y="3945911"/>
            <a:ext cx="3252672" cy="482112"/>
          </a:xfrm>
          <a:prstGeom prst="wedgeRoundRectCallout">
            <a:avLst>
              <a:gd name="adj1" fmla="val -55152"/>
              <a:gd name="adj2" fmla="val -21083"/>
              <a:gd name="adj3" fmla="val 166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>
                <a:solidFill>
                  <a:schemeClr val="bg1"/>
                </a:solidFill>
              </a:rPr>
              <a:t>It's sunny in Tokyo at 25°C </a:t>
            </a:r>
          </a:p>
        </p:txBody>
      </p:sp>
      <p:sp>
        <p:nvSpPr>
          <p:cNvPr id="15" name="Rounded Rectangular Callout 14">
            <a:extLst>
              <a:ext uri="{FF2B5EF4-FFF2-40B4-BE49-F238E27FC236}">
                <a16:creationId xmlns:a16="http://schemas.microsoft.com/office/drawing/2014/main" id="{A7B4F6E8-A655-3B6C-A955-4B48B8BEFDF8}"/>
              </a:ext>
            </a:extLst>
          </p:cNvPr>
          <p:cNvSpPr/>
          <p:nvPr/>
        </p:nvSpPr>
        <p:spPr>
          <a:xfrm>
            <a:off x="2132640" y="4525346"/>
            <a:ext cx="3252672" cy="482112"/>
          </a:xfrm>
          <a:prstGeom prst="wedgeRoundRectCallout">
            <a:avLst>
              <a:gd name="adj1" fmla="val -55152"/>
              <a:gd name="adj2" fmla="val -21083"/>
              <a:gd name="adj3" fmla="val 16667"/>
            </a:avLst>
          </a:prstGeom>
          <a:solidFill>
            <a:srgbClr val="4569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/>
              <a:t>How about London?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2664C5-BFC5-749E-67DC-02C755412856}"/>
              </a:ext>
            </a:extLst>
          </p:cNvPr>
          <p:cNvSpPr txBox="1"/>
          <p:nvPr/>
        </p:nvSpPr>
        <p:spPr>
          <a:xfrm>
            <a:off x="1386188" y="4537348"/>
            <a:ext cx="4245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0" i="0">
                <a:solidFill>
                  <a:srgbClr val="616161"/>
                </a:solidFill>
                <a:effectLst/>
                <a:latin typeface="-apple-system"/>
              </a:rPr>
              <a:t>👤</a:t>
            </a:r>
            <a:endParaRPr lang="en-US" sz="4000"/>
          </a:p>
        </p:txBody>
      </p:sp>
      <p:sp>
        <p:nvSpPr>
          <p:cNvPr id="17" name="Rounded Rectangular Callout 16">
            <a:extLst>
              <a:ext uri="{FF2B5EF4-FFF2-40B4-BE49-F238E27FC236}">
                <a16:creationId xmlns:a16="http://schemas.microsoft.com/office/drawing/2014/main" id="{467A849B-E242-A73A-F847-41ABB51E0B91}"/>
              </a:ext>
            </a:extLst>
          </p:cNvPr>
          <p:cNvSpPr/>
          <p:nvPr/>
        </p:nvSpPr>
        <p:spPr>
          <a:xfrm>
            <a:off x="2132641" y="5104781"/>
            <a:ext cx="3252672" cy="482112"/>
          </a:xfrm>
          <a:prstGeom prst="wedgeRoundRectCallout">
            <a:avLst>
              <a:gd name="adj1" fmla="val -55152"/>
              <a:gd name="adj2" fmla="val -21083"/>
              <a:gd name="adj3" fmla="val 166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>
                <a:solidFill>
                  <a:schemeClr val="bg1"/>
                </a:solidFill>
              </a:rPr>
              <a:t>get_weather("London")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AD27329-976B-06AD-F420-0529F9C1BD5D}"/>
              </a:ext>
            </a:extLst>
          </p:cNvPr>
          <p:cNvSpPr txBox="1"/>
          <p:nvPr/>
        </p:nvSpPr>
        <p:spPr>
          <a:xfrm>
            <a:off x="1407959" y="5695395"/>
            <a:ext cx="381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0" i="0">
                <a:solidFill>
                  <a:srgbClr val="616161"/>
                </a:solidFill>
                <a:effectLst/>
                <a:latin typeface="-apple-system"/>
              </a:rPr>
              <a:t>🔧</a:t>
            </a:r>
            <a:endParaRPr lang="en-US" sz="4000"/>
          </a:p>
        </p:txBody>
      </p:sp>
      <p:sp>
        <p:nvSpPr>
          <p:cNvPr id="19" name="Rounded Rectangular Callout 18">
            <a:extLst>
              <a:ext uri="{FF2B5EF4-FFF2-40B4-BE49-F238E27FC236}">
                <a16:creationId xmlns:a16="http://schemas.microsoft.com/office/drawing/2014/main" id="{91BDBFBA-1973-5879-2FB3-807F79F84231}"/>
              </a:ext>
            </a:extLst>
          </p:cNvPr>
          <p:cNvSpPr/>
          <p:nvPr/>
        </p:nvSpPr>
        <p:spPr>
          <a:xfrm>
            <a:off x="2132640" y="5684216"/>
            <a:ext cx="3252672" cy="482112"/>
          </a:xfrm>
          <a:prstGeom prst="wedgeRoundRectCallout">
            <a:avLst>
              <a:gd name="adj1" fmla="val -55152"/>
              <a:gd name="adj2" fmla="val -21083"/>
              <a:gd name="adj3" fmla="val 16667"/>
            </a:avLst>
          </a:prstGeom>
          <a:solidFill>
            <a:srgbClr val="CAE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>
                <a:solidFill>
                  <a:schemeClr val="tx1"/>
                </a:solidFill>
              </a:rPr>
              <a:t>Rainy, 12°C</a:t>
            </a:r>
          </a:p>
        </p:txBody>
      </p:sp>
      <p:sp>
        <p:nvSpPr>
          <p:cNvPr id="20" name="Rounded Rectangular Callout 19">
            <a:extLst>
              <a:ext uri="{FF2B5EF4-FFF2-40B4-BE49-F238E27FC236}">
                <a16:creationId xmlns:a16="http://schemas.microsoft.com/office/drawing/2014/main" id="{458B6756-D712-DD94-572C-6BCE10FFA364}"/>
              </a:ext>
            </a:extLst>
          </p:cNvPr>
          <p:cNvSpPr/>
          <p:nvPr/>
        </p:nvSpPr>
        <p:spPr>
          <a:xfrm>
            <a:off x="2132640" y="6263649"/>
            <a:ext cx="3252672" cy="482112"/>
          </a:xfrm>
          <a:prstGeom prst="wedgeRoundRectCallout">
            <a:avLst>
              <a:gd name="adj1" fmla="val -55152"/>
              <a:gd name="adj2" fmla="val -21083"/>
              <a:gd name="adj3" fmla="val 166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>
                <a:solidFill>
                  <a:schemeClr val="bg1"/>
                </a:solidFill>
              </a:rPr>
              <a:t>London is rainy at 12°C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8F310B6-0DCD-749C-D4F4-15BD89418442}"/>
              </a:ext>
            </a:extLst>
          </p:cNvPr>
          <p:cNvSpPr/>
          <p:nvPr/>
        </p:nvSpPr>
        <p:spPr bwMode="auto">
          <a:xfrm>
            <a:off x="1256459" y="2834832"/>
            <a:ext cx="684000" cy="443561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LLM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90D1ED2-35C9-E65C-2544-46ED0E99F133}"/>
              </a:ext>
            </a:extLst>
          </p:cNvPr>
          <p:cNvSpPr/>
          <p:nvPr/>
        </p:nvSpPr>
        <p:spPr bwMode="auto">
          <a:xfrm>
            <a:off x="1256459" y="3994899"/>
            <a:ext cx="684000" cy="443561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LLM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D32404C-0290-0712-7469-3B0365BCB9B2}"/>
              </a:ext>
            </a:extLst>
          </p:cNvPr>
          <p:cNvSpPr/>
          <p:nvPr/>
        </p:nvSpPr>
        <p:spPr bwMode="auto">
          <a:xfrm>
            <a:off x="1256459" y="5162139"/>
            <a:ext cx="684000" cy="443561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LLM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226DA27-EEE6-78A6-9CBE-82B3CE67B5F0}"/>
              </a:ext>
            </a:extLst>
          </p:cNvPr>
          <p:cNvSpPr/>
          <p:nvPr/>
        </p:nvSpPr>
        <p:spPr bwMode="auto">
          <a:xfrm>
            <a:off x="1256459" y="6302200"/>
            <a:ext cx="684000" cy="443561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LLM</a:t>
            </a:r>
          </a:p>
        </p:txBody>
      </p:sp>
      <p:pic>
        <p:nvPicPr>
          <p:cNvPr id="25" name="Graphic 24" descr="Database with solid fill">
            <a:extLst>
              <a:ext uri="{FF2B5EF4-FFF2-40B4-BE49-F238E27FC236}">
                <a16:creationId xmlns:a16="http://schemas.microsoft.com/office/drawing/2014/main" id="{AF2EDF94-B3FB-BF99-E942-38562072D6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65881" y="2553456"/>
            <a:ext cx="1202640" cy="100631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9EAB8337-C9B5-5C35-74F9-3BAA26FACB58}"/>
              </a:ext>
            </a:extLst>
          </p:cNvPr>
          <p:cNvSpPr txBox="1"/>
          <p:nvPr/>
        </p:nvSpPr>
        <p:spPr>
          <a:xfrm>
            <a:off x="5868374" y="3471875"/>
            <a:ext cx="13976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latin typeface="Aptos" panose="020B0004020202020204" pitchFamily="34" charset="0"/>
                <a:cs typeface="Segoe UI" panose="020B0502040204020203" pitchFamily="34" charset="0"/>
              </a:rPr>
              <a:t>Database</a:t>
            </a: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4B30CBA5-3A4C-8BE1-F694-56E126CC8A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2513800"/>
              </p:ext>
            </p:extLst>
          </p:nvPr>
        </p:nvGraphicFramePr>
        <p:xfrm>
          <a:off x="7624727" y="2058690"/>
          <a:ext cx="4338671" cy="230971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59792">
                  <a:extLst>
                    <a:ext uri="{9D8B030D-6E8A-4147-A177-3AD203B41FA5}">
                      <a16:colId xmlns:a16="http://schemas.microsoft.com/office/drawing/2014/main" val="3698272983"/>
                    </a:ext>
                  </a:extLst>
                </a:gridCol>
                <a:gridCol w="3178879">
                  <a:extLst>
                    <a:ext uri="{9D8B030D-6E8A-4147-A177-3AD203B41FA5}">
                      <a16:colId xmlns:a16="http://schemas.microsoft.com/office/drawing/2014/main" val="267783004"/>
                    </a:ext>
                  </a:extLst>
                </a:gridCol>
              </a:tblGrid>
              <a:tr h="306892">
                <a:tc>
                  <a:txBody>
                    <a:bodyPr/>
                    <a:lstStyle/>
                    <a:p>
                      <a:r>
                        <a:rPr lang="en-US" sz="150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messages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0715843"/>
                  </a:ext>
                </a:extLst>
              </a:tr>
              <a:tr h="1098466">
                <a:tc>
                  <a:txBody>
                    <a:bodyPr/>
                    <a:lstStyle/>
                    <a:p>
                      <a:r>
                        <a:rPr lang="en-US" sz="1500"/>
                        <a:t>session123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system: You're a weather assistant.</a:t>
                      </a:r>
                    </a:p>
                    <a:p>
                      <a:r>
                        <a:rPr lang="en-US" sz="1500"/>
                        <a:t>user: Weather in Tokyo?</a:t>
                      </a:r>
                    </a:p>
                    <a:p>
                      <a:r>
                        <a:rPr lang="en-US" sz="1500"/>
                        <a:t>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514979"/>
                  </a:ext>
                </a:extLst>
              </a:tr>
              <a:tr h="891208">
                <a:tc>
                  <a:txBody>
                    <a:bodyPr/>
                    <a:lstStyle/>
                    <a:p>
                      <a:r>
                        <a:rPr lang="en-US" sz="1500"/>
                        <a:t>session456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system: You're a weather assistant.</a:t>
                      </a:r>
                    </a:p>
                    <a:p>
                      <a:r>
                        <a:rPr lang="en-US" sz="1500"/>
                        <a:t>user: Will it rain in CA?</a:t>
                      </a:r>
                    </a:p>
                    <a:p>
                      <a:r>
                        <a:rPr lang="en-US" sz="1500"/>
                        <a:t>....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329458"/>
                  </a:ext>
                </a:extLst>
              </a:tr>
            </a:tbl>
          </a:graphicData>
        </a:graphic>
      </p:graphicFrame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51FD5A4-7DD1-D702-2A8F-2BA816B5D31E}"/>
              </a:ext>
            </a:extLst>
          </p:cNvPr>
          <p:cNvCxnSpPr>
            <a:cxnSpLocks/>
          </p:cNvCxnSpPr>
          <p:nvPr/>
        </p:nvCxnSpPr>
        <p:spPr>
          <a:xfrm>
            <a:off x="5495046" y="3082163"/>
            <a:ext cx="58929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5A81DC8-2DA8-AAC4-71F7-BFFB72977BD8}"/>
              </a:ext>
            </a:extLst>
          </p:cNvPr>
          <p:cNvCxnSpPr>
            <a:cxnSpLocks/>
          </p:cNvCxnSpPr>
          <p:nvPr/>
        </p:nvCxnSpPr>
        <p:spPr>
          <a:xfrm>
            <a:off x="7045939" y="3098397"/>
            <a:ext cx="52499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BBC173F7-7277-A918-AB4E-71DA9AAE18F6}"/>
              </a:ext>
            </a:extLst>
          </p:cNvPr>
          <p:cNvSpPr txBox="1">
            <a:spLocks/>
          </p:cNvSpPr>
          <p:nvPr/>
        </p:nvSpPr>
        <p:spPr>
          <a:xfrm>
            <a:off x="7689019" y="4643274"/>
            <a:ext cx="4452032" cy="207611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/>
              <a:t>Implementation details:</a:t>
            </a:r>
          </a:p>
          <a:p>
            <a:r>
              <a:rPr lang="en-US" sz="2200"/>
              <a:t>Will entire session fit in one row?</a:t>
            </a:r>
            <a:br>
              <a:rPr lang="en-US" sz="2200"/>
            </a:br>
            <a:r>
              <a:rPr lang="en-US" sz="2200"/>
              <a:t>If not, how to handle?</a:t>
            </a:r>
          </a:p>
          <a:p>
            <a:r>
              <a:rPr lang="en-US" sz="2200"/>
              <a:t>How will sessions be linked to users?</a:t>
            </a:r>
          </a:p>
          <a:p>
            <a:r>
              <a:rPr lang="en-US" sz="2200"/>
              <a:t> Will the sessions be searchable?</a:t>
            </a:r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12505753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FFF84-4561-1F5C-8C69-9320AE614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D0ACD-C918-04E0-4E36-788FD814A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Persistent chat history in Redis</a:t>
            </a:r>
          </a:p>
        </p:txBody>
      </p:sp>
      <p:sp>
        <p:nvSpPr>
          <p:cNvPr id="5" name="Rounded Rectangular Callout 4">
            <a:extLst>
              <a:ext uri="{FF2B5EF4-FFF2-40B4-BE49-F238E27FC236}">
                <a16:creationId xmlns:a16="http://schemas.microsoft.com/office/drawing/2014/main" id="{5F9C991E-6B17-4131-5BC7-14FDDFF1CCE3}"/>
              </a:ext>
            </a:extLst>
          </p:cNvPr>
          <p:cNvSpPr/>
          <p:nvPr/>
        </p:nvSpPr>
        <p:spPr>
          <a:xfrm>
            <a:off x="2121199" y="2231271"/>
            <a:ext cx="3264113" cy="482112"/>
          </a:xfrm>
          <a:prstGeom prst="wedgeRoundRectCallout">
            <a:avLst>
              <a:gd name="adj1" fmla="val -55152"/>
              <a:gd name="adj2" fmla="val -21083"/>
              <a:gd name="adj3" fmla="val 16667"/>
            </a:avLst>
          </a:prstGeom>
          <a:solidFill>
            <a:srgbClr val="4569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/>
              <a:t>Weather in Tokyo?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036BD9-0B57-AC81-F085-B43919DB3066}"/>
              </a:ext>
            </a:extLst>
          </p:cNvPr>
          <p:cNvSpPr txBox="1"/>
          <p:nvPr/>
        </p:nvSpPr>
        <p:spPr>
          <a:xfrm>
            <a:off x="1386188" y="2231271"/>
            <a:ext cx="4245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0" i="0">
                <a:solidFill>
                  <a:srgbClr val="616161"/>
                </a:solidFill>
                <a:effectLst/>
                <a:latin typeface="-apple-system"/>
              </a:rPr>
              <a:t>👤</a:t>
            </a:r>
            <a:endParaRPr lang="en-US" sz="4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C25ACC-BBF1-333D-7900-E5BFFAC77D82}"/>
              </a:ext>
            </a:extLst>
          </p:cNvPr>
          <p:cNvSpPr txBox="1"/>
          <p:nvPr/>
        </p:nvSpPr>
        <p:spPr>
          <a:xfrm>
            <a:off x="1407959" y="3387696"/>
            <a:ext cx="381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0" i="0">
                <a:solidFill>
                  <a:srgbClr val="616161"/>
                </a:solidFill>
                <a:effectLst/>
                <a:latin typeface="-apple-system"/>
              </a:rPr>
              <a:t>🔧</a:t>
            </a:r>
            <a:endParaRPr lang="en-US" sz="40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96C54F-A972-4622-B0B8-E5869085418E}"/>
              </a:ext>
            </a:extLst>
          </p:cNvPr>
          <p:cNvSpPr txBox="1"/>
          <p:nvPr/>
        </p:nvSpPr>
        <p:spPr>
          <a:xfrm>
            <a:off x="1368771" y="1654298"/>
            <a:ext cx="45937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0" i="0">
                <a:solidFill>
                  <a:srgbClr val="616161"/>
                </a:solidFill>
                <a:effectLst/>
                <a:latin typeface="-apple-system"/>
              </a:rPr>
              <a:t>⚙️</a:t>
            </a:r>
            <a:endParaRPr lang="en-US" sz="4000"/>
          </a:p>
        </p:txBody>
      </p:sp>
      <p:sp>
        <p:nvSpPr>
          <p:cNvPr id="10" name="Rounded Rectangular Callout 9">
            <a:extLst>
              <a:ext uri="{FF2B5EF4-FFF2-40B4-BE49-F238E27FC236}">
                <a16:creationId xmlns:a16="http://schemas.microsoft.com/office/drawing/2014/main" id="{0B297C80-E531-A391-0E1C-110FD4BE27C8}"/>
              </a:ext>
            </a:extLst>
          </p:cNvPr>
          <p:cNvSpPr/>
          <p:nvPr/>
        </p:nvSpPr>
        <p:spPr>
          <a:xfrm>
            <a:off x="2132641" y="1654298"/>
            <a:ext cx="3252672" cy="482112"/>
          </a:xfrm>
          <a:prstGeom prst="wedgeRoundRectCallout">
            <a:avLst>
              <a:gd name="adj1" fmla="val -55152"/>
              <a:gd name="adj2" fmla="val -21083"/>
              <a:gd name="adj3" fmla="val 16667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/>
              <a:t>You're a weather assistant.</a:t>
            </a:r>
          </a:p>
        </p:txBody>
      </p:sp>
      <p:sp>
        <p:nvSpPr>
          <p:cNvPr id="11" name="Rounded Rectangular Callout 10">
            <a:extLst>
              <a:ext uri="{FF2B5EF4-FFF2-40B4-BE49-F238E27FC236}">
                <a16:creationId xmlns:a16="http://schemas.microsoft.com/office/drawing/2014/main" id="{D2246DCF-74FC-A5B6-BACB-D9A32CE62DB7}"/>
              </a:ext>
            </a:extLst>
          </p:cNvPr>
          <p:cNvSpPr/>
          <p:nvPr/>
        </p:nvSpPr>
        <p:spPr>
          <a:xfrm>
            <a:off x="2121199" y="2801077"/>
            <a:ext cx="3264113" cy="482112"/>
          </a:xfrm>
          <a:prstGeom prst="wedgeRoundRectCallout">
            <a:avLst>
              <a:gd name="adj1" fmla="val -55152"/>
              <a:gd name="adj2" fmla="val -21083"/>
              <a:gd name="adj3" fmla="val 166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>
                <a:solidFill>
                  <a:schemeClr val="bg1"/>
                </a:solidFill>
              </a:rPr>
              <a:t>get_weather("Tokyo")</a:t>
            </a:r>
          </a:p>
        </p:txBody>
      </p:sp>
      <p:sp>
        <p:nvSpPr>
          <p:cNvPr id="13" name="Rounded Rectangular Callout 12">
            <a:extLst>
              <a:ext uri="{FF2B5EF4-FFF2-40B4-BE49-F238E27FC236}">
                <a16:creationId xmlns:a16="http://schemas.microsoft.com/office/drawing/2014/main" id="{18F28FED-6534-5C09-D8D7-107A931EAB4C}"/>
              </a:ext>
            </a:extLst>
          </p:cNvPr>
          <p:cNvSpPr/>
          <p:nvPr/>
        </p:nvSpPr>
        <p:spPr>
          <a:xfrm>
            <a:off x="2121199" y="3389873"/>
            <a:ext cx="3264113" cy="482112"/>
          </a:xfrm>
          <a:prstGeom prst="wedgeRoundRectCallout">
            <a:avLst>
              <a:gd name="adj1" fmla="val -55152"/>
              <a:gd name="adj2" fmla="val -21083"/>
              <a:gd name="adj3" fmla="val 16667"/>
            </a:avLst>
          </a:prstGeom>
          <a:solidFill>
            <a:srgbClr val="CAE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>
                <a:solidFill>
                  <a:schemeClr val="tx1"/>
                </a:solidFill>
              </a:rPr>
              <a:t>Sunny, 25°C</a:t>
            </a:r>
          </a:p>
        </p:txBody>
      </p:sp>
      <p:sp>
        <p:nvSpPr>
          <p:cNvPr id="14" name="Rounded Rectangular Callout 13">
            <a:extLst>
              <a:ext uri="{FF2B5EF4-FFF2-40B4-BE49-F238E27FC236}">
                <a16:creationId xmlns:a16="http://schemas.microsoft.com/office/drawing/2014/main" id="{5E764F8E-DAA5-5E48-D66C-5D97A1314A0E}"/>
              </a:ext>
            </a:extLst>
          </p:cNvPr>
          <p:cNvSpPr/>
          <p:nvPr/>
        </p:nvSpPr>
        <p:spPr>
          <a:xfrm>
            <a:off x="2132640" y="3945911"/>
            <a:ext cx="3252672" cy="482112"/>
          </a:xfrm>
          <a:prstGeom prst="wedgeRoundRectCallout">
            <a:avLst>
              <a:gd name="adj1" fmla="val -55152"/>
              <a:gd name="adj2" fmla="val -21083"/>
              <a:gd name="adj3" fmla="val 166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>
                <a:solidFill>
                  <a:schemeClr val="bg1"/>
                </a:solidFill>
              </a:rPr>
              <a:t>It's sunny in Tokyo at 25°C </a:t>
            </a:r>
          </a:p>
        </p:txBody>
      </p:sp>
      <p:sp>
        <p:nvSpPr>
          <p:cNvPr id="15" name="Rounded Rectangular Callout 14">
            <a:extLst>
              <a:ext uri="{FF2B5EF4-FFF2-40B4-BE49-F238E27FC236}">
                <a16:creationId xmlns:a16="http://schemas.microsoft.com/office/drawing/2014/main" id="{88FB1255-F547-835C-E258-0F72DAD31FEA}"/>
              </a:ext>
            </a:extLst>
          </p:cNvPr>
          <p:cNvSpPr/>
          <p:nvPr/>
        </p:nvSpPr>
        <p:spPr>
          <a:xfrm>
            <a:off x="2132640" y="4525346"/>
            <a:ext cx="3252672" cy="482112"/>
          </a:xfrm>
          <a:prstGeom prst="wedgeRoundRectCallout">
            <a:avLst>
              <a:gd name="adj1" fmla="val -55152"/>
              <a:gd name="adj2" fmla="val -21083"/>
              <a:gd name="adj3" fmla="val 16667"/>
            </a:avLst>
          </a:prstGeom>
          <a:solidFill>
            <a:srgbClr val="4569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/>
              <a:t>How about London?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BDE264-0CA8-C157-F3D8-DB0E8A3988CB}"/>
              </a:ext>
            </a:extLst>
          </p:cNvPr>
          <p:cNvSpPr txBox="1"/>
          <p:nvPr/>
        </p:nvSpPr>
        <p:spPr>
          <a:xfrm>
            <a:off x="1386188" y="4537348"/>
            <a:ext cx="4245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0" i="0">
                <a:solidFill>
                  <a:srgbClr val="616161"/>
                </a:solidFill>
                <a:effectLst/>
                <a:latin typeface="-apple-system"/>
              </a:rPr>
              <a:t>👤</a:t>
            </a:r>
            <a:endParaRPr lang="en-US" sz="4000"/>
          </a:p>
        </p:txBody>
      </p:sp>
      <p:sp>
        <p:nvSpPr>
          <p:cNvPr id="17" name="Rounded Rectangular Callout 16">
            <a:extLst>
              <a:ext uri="{FF2B5EF4-FFF2-40B4-BE49-F238E27FC236}">
                <a16:creationId xmlns:a16="http://schemas.microsoft.com/office/drawing/2014/main" id="{F3FE2295-7982-A668-0BBB-BB156F66EAC7}"/>
              </a:ext>
            </a:extLst>
          </p:cNvPr>
          <p:cNvSpPr/>
          <p:nvPr/>
        </p:nvSpPr>
        <p:spPr>
          <a:xfrm>
            <a:off x="2132641" y="5104781"/>
            <a:ext cx="3252672" cy="482112"/>
          </a:xfrm>
          <a:prstGeom prst="wedgeRoundRectCallout">
            <a:avLst>
              <a:gd name="adj1" fmla="val -55152"/>
              <a:gd name="adj2" fmla="val -21083"/>
              <a:gd name="adj3" fmla="val 166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>
                <a:solidFill>
                  <a:schemeClr val="bg1"/>
                </a:solidFill>
              </a:rPr>
              <a:t>get_weather("London")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DD3E3F-B0FC-6AE3-3497-23DB68328411}"/>
              </a:ext>
            </a:extLst>
          </p:cNvPr>
          <p:cNvSpPr txBox="1"/>
          <p:nvPr/>
        </p:nvSpPr>
        <p:spPr>
          <a:xfrm>
            <a:off x="1407959" y="5695395"/>
            <a:ext cx="381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0" i="0">
                <a:solidFill>
                  <a:srgbClr val="616161"/>
                </a:solidFill>
                <a:effectLst/>
                <a:latin typeface="-apple-system"/>
              </a:rPr>
              <a:t>🔧</a:t>
            </a:r>
            <a:endParaRPr lang="en-US" sz="4000"/>
          </a:p>
        </p:txBody>
      </p:sp>
      <p:sp>
        <p:nvSpPr>
          <p:cNvPr id="19" name="Rounded Rectangular Callout 18">
            <a:extLst>
              <a:ext uri="{FF2B5EF4-FFF2-40B4-BE49-F238E27FC236}">
                <a16:creationId xmlns:a16="http://schemas.microsoft.com/office/drawing/2014/main" id="{65F2AF6C-4686-4FE8-AD84-490E96DB0C12}"/>
              </a:ext>
            </a:extLst>
          </p:cNvPr>
          <p:cNvSpPr/>
          <p:nvPr/>
        </p:nvSpPr>
        <p:spPr>
          <a:xfrm>
            <a:off x="2132640" y="5684216"/>
            <a:ext cx="3252672" cy="482112"/>
          </a:xfrm>
          <a:prstGeom prst="wedgeRoundRectCallout">
            <a:avLst>
              <a:gd name="adj1" fmla="val -55152"/>
              <a:gd name="adj2" fmla="val -21083"/>
              <a:gd name="adj3" fmla="val 16667"/>
            </a:avLst>
          </a:prstGeom>
          <a:solidFill>
            <a:srgbClr val="CAE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>
                <a:solidFill>
                  <a:schemeClr val="tx1"/>
                </a:solidFill>
              </a:rPr>
              <a:t>Rainy, 12°C</a:t>
            </a:r>
          </a:p>
        </p:txBody>
      </p:sp>
      <p:sp>
        <p:nvSpPr>
          <p:cNvPr id="20" name="Rounded Rectangular Callout 19">
            <a:extLst>
              <a:ext uri="{FF2B5EF4-FFF2-40B4-BE49-F238E27FC236}">
                <a16:creationId xmlns:a16="http://schemas.microsoft.com/office/drawing/2014/main" id="{BCD7932F-B18C-8669-9E0D-984073E28597}"/>
              </a:ext>
            </a:extLst>
          </p:cNvPr>
          <p:cNvSpPr/>
          <p:nvPr/>
        </p:nvSpPr>
        <p:spPr>
          <a:xfrm>
            <a:off x="2132640" y="6263649"/>
            <a:ext cx="3252672" cy="482112"/>
          </a:xfrm>
          <a:prstGeom prst="wedgeRoundRectCallout">
            <a:avLst>
              <a:gd name="adj1" fmla="val -55152"/>
              <a:gd name="adj2" fmla="val -21083"/>
              <a:gd name="adj3" fmla="val 166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>
                <a:solidFill>
                  <a:schemeClr val="bg1"/>
                </a:solidFill>
              </a:rPr>
              <a:t>London is rainy at 12°C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04E6837-EC87-05BF-69BC-0715068F42A4}"/>
              </a:ext>
            </a:extLst>
          </p:cNvPr>
          <p:cNvSpPr/>
          <p:nvPr/>
        </p:nvSpPr>
        <p:spPr bwMode="auto">
          <a:xfrm>
            <a:off x="1256459" y="2834832"/>
            <a:ext cx="684000" cy="443561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LLM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D32B6B3-04EF-B865-2616-028C0B6C406D}"/>
              </a:ext>
            </a:extLst>
          </p:cNvPr>
          <p:cNvSpPr/>
          <p:nvPr/>
        </p:nvSpPr>
        <p:spPr bwMode="auto">
          <a:xfrm>
            <a:off x="1256459" y="3994899"/>
            <a:ext cx="684000" cy="443561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LLM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B9C830-D57D-B48E-AD46-3150270D8F78}"/>
              </a:ext>
            </a:extLst>
          </p:cNvPr>
          <p:cNvSpPr/>
          <p:nvPr/>
        </p:nvSpPr>
        <p:spPr bwMode="auto">
          <a:xfrm>
            <a:off x="1256459" y="5162139"/>
            <a:ext cx="684000" cy="443561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LLM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05D66EF-9D67-D2C9-FAC8-D3EE5FD46998}"/>
              </a:ext>
            </a:extLst>
          </p:cNvPr>
          <p:cNvSpPr/>
          <p:nvPr/>
        </p:nvSpPr>
        <p:spPr bwMode="auto">
          <a:xfrm>
            <a:off x="1256459" y="6302200"/>
            <a:ext cx="684000" cy="443561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LLM</a:t>
            </a:r>
          </a:p>
        </p:txBody>
      </p:sp>
      <p:pic>
        <p:nvPicPr>
          <p:cNvPr id="25" name="Graphic 24" descr="Database with solid fill">
            <a:extLst>
              <a:ext uri="{FF2B5EF4-FFF2-40B4-BE49-F238E27FC236}">
                <a16:creationId xmlns:a16="http://schemas.microsoft.com/office/drawing/2014/main" id="{5DA83872-2CC9-8CC8-6DDC-789CF86CEA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65881" y="2553456"/>
            <a:ext cx="1202640" cy="100631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EB4F9DE-E3CE-E0A0-D138-09773E9CD3C4}"/>
              </a:ext>
            </a:extLst>
          </p:cNvPr>
          <p:cNvSpPr txBox="1"/>
          <p:nvPr/>
        </p:nvSpPr>
        <p:spPr>
          <a:xfrm>
            <a:off x="5868374" y="3471875"/>
            <a:ext cx="13976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solidFill>
                  <a:srgbClr val="FF0000"/>
                </a:solidFill>
                <a:latin typeface="Aptos" panose="020B0004020202020204" pitchFamily="34" charset="0"/>
                <a:cs typeface="Segoe UI" panose="020B0502040204020203" pitchFamily="34" charset="0"/>
              </a:rPr>
              <a:t>Redis</a:t>
            </a: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1A25DE73-F671-E8AC-4049-CE7C3BB63C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6077003"/>
              </p:ext>
            </p:extLst>
          </p:nvPr>
        </p:nvGraphicFramePr>
        <p:xfrm>
          <a:off x="7570937" y="2058690"/>
          <a:ext cx="4505822" cy="286293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27820">
                  <a:extLst>
                    <a:ext uri="{9D8B030D-6E8A-4147-A177-3AD203B41FA5}">
                      <a16:colId xmlns:a16="http://schemas.microsoft.com/office/drawing/2014/main" val="3698272983"/>
                    </a:ext>
                  </a:extLst>
                </a:gridCol>
                <a:gridCol w="3378002">
                  <a:extLst>
                    <a:ext uri="{9D8B030D-6E8A-4147-A177-3AD203B41FA5}">
                      <a16:colId xmlns:a16="http://schemas.microsoft.com/office/drawing/2014/main" val="267783004"/>
                    </a:ext>
                  </a:extLst>
                </a:gridCol>
              </a:tblGrid>
              <a:tr h="589427">
                <a:tc>
                  <a:txBody>
                    <a:bodyPr/>
                    <a:lstStyle/>
                    <a:p>
                      <a:r>
                        <a:rPr lang="en-US" sz="150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value [LIST]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0715843"/>
                  </a:ext>
                </a:extLst>
              </a:tr>
              <a:tr h="2273505">
                <a:tc>
                  <a:txBody>
                    <a:bodyPr/>
                    <a:lstStyle/>
                    <a:p>
                      <a:r>
                        <a:rPr lang="en-US" sz="1500"/>
                        <a:t>session123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514979"/>
                  </a:ext>
                </a:extLst>
              </a:tr>
            </a:tbl>
          </a:graphicData>
        </a:graphic>
      </p:graphicFrame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C6FB729-9F12-9B97-A636-2FA0C8A188D6}"/>
              </a:ext>
            </a:extLst>
          </p:cNvPr>
          <p:cNvCxnSpPr>
            <a:cxnSpLocks/>
          </p:cNvCxnSpPr>
          <p:nvPr/>
        </p:nvCxnSpPr>
        <p:spPr>
          <a:xfrm>
            <a:off x="5495046" y="3082163"/>
            <a:ext cx="58929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B332179-AF9F-CEC8-ECBE-A4D0D4E3944D}"/>
              </a:ext>
            </a:extLst>
          </p:cNvPr>
          <p:cNvCxnSpPr>
            <a:cxnSpLocks/>
          </p:cNvCxnSpPr>
          <p:nvPr/>
        </p:nvCxnSpPr>
        <p:spPr>
          <a:xfrm>
            <a:off x="7003528" y="3082163"/>
            <a:ext cx="52499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939AD9DD-4EEF-7834-DEA5-D90F41037C30}"/>
              </a:ext>
            </a:extLst>
          </p:cNvPr>
          <p:cNvSpPr txBox="1">
            <a:spLocks/>
          </p:cNvSpPr>
          <p:nvPr/>
        </p:nvSpPr>
        <p:spPr>
          <a:xfrm>
            <a:off x="7624727" y="5098355"/>
            <a:ext cx="4452032" cy="14256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900"/>
              <a:t>Implementation details:</a:t>
            </a:r>
          </a:p>
          <a:p>
            <a:r>
              <a:rPr lang="en-US" sz="1900"/>
              <a:t>Keys are session IDs</a:t>
            </a:r>
          </a:p>
          <a:p>
            <a:r>
              <a:rPr lang="en-US" sz="1900"/>
              <a:t>The values are lists of messages that can be truncated to the most recent N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614BF65-C969-5A5A-E698-1A45F5E0EB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1675379"/>
              </p:ext>
            </p:extLst>
          </p:nvPr>
        </p:nvGraphicFramePr>
        <p:xfrm>
          <a:off x="8789893" y="2722378"/>
          <a:ext cx="3209365" cy="21006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09365">
                  <a:extLst>
                    <a:ext uri="{9D8B030D-6E8A-4147-A177-3AD203B41FA5}">
                      <a16:colId xmlns:a16="http://schemas.microsoft.com/office/drawing/2014/main" val="2807899842"/>
                    </a:ext>
                  </a:extLst>
                </a:gridCol>
              </a:tblGrid>
              <a:tr h="870995">
                <a:tc>
                  <a:txBody>
                    <a:bodyPr/>
                    <a:lstStyle/>
                    <a:p>
                      <a:r>
                        <a:rPr lang="en-US" sz="1500" b="0"/>
                        <a:t>{"role": "system",</a:t>
                      </a:r>
                    </a:p>
                    <a:p>
                      <a:r>
                        <a:rPr lang="en-US" sz="1500" b="0"/>
                        <a:t> "content": "You're a weather assistant."}</a:t>
                      </a:r>
                      <a:endParaRPr lang="en-US" sz="1500" b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828268"/>
                  </a:ext>
                </a:extLst>
              </a:tr>
              <a:tr h="614820">
                <a:tc>
                  <a:txBody>
                    <a:bodyPr/>
                    <a:lstStyle/>
                    <a:p>
                      <a:r>
                        <a:rPr lang="en-US" sz="1500" b="0"/>
                        <a:t>{"role": "user",</a:t>
                      </a:r>
                    </a:p>
                    <a:p>
                      <a:r>
                        <a:rPr lang="en-US" sz="1500" b="0"/>
                        <a:t> "content": "Weather in Tokyo?"}</a:t>
                      </a:r>
                      <a:endParaRPr lang="en-US" sz="1500" b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2046887"/>
                  </a:ext>
                </a:extLst>
              </a:tr>
              <a:tr h="614820">
                <a:tc>
                  <a:txBody>
                    <a:bodyPr/>
                    <a:lstStyle/>
                    <a:p>
                      <a:r>
                        <a:rPr lang="en-US" sz="1500" b="0"/>
                        <a:t>{"role": "assistant",</a:t>
                      </a:r>
                    </a:p>
                    <a:p>
                      <a:r>
                        <a:rPr lang="en-US" sz="1500" b="0"/>
                        <a:t> "tool_call": "get_weather"}</a:t>
                      </a:r>
                      <a:endParaRPr lang="en-US" sz="1500" b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02379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14954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232DA-0656-0C42-B384-69098349C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2B27A-B160-20BA-78CE-C6E5EC101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Persistent chat history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461F79-E5DA-FD42-5BEF-B88B42C27E6B}"/>
              </a:ext>
            </a:extLst>
          </p:cNvPr>
          <p:cNvSpPr txBox="1"/>
          <p:nvPr/>
        </p:nvSpPr>
        <p:spPr>
          <a:xfrm>
            <a:off x="1132793" y="1714806"/>
            <a:ext cx="1114258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/>
              <a:t>Redis support is built-in, so you can directly use </a:t>
            </a:r>
            <a:r>
              <a:rPr lang="en-US" sz="2200">
                <a:latin typeface="Consolas" panose="020B0609020204030204" pitchFamily="49" charset="0"/>
                <a:cs typeface="Consolas" panose="020B0609020204030204" pitchFamily="49" charset="0"/>
              </a:rPr>
              <a:t>RedisHistoryProvider:</a:t>
            </a:r>
            <a:endParaRPr lang="en-US" sz="22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4DD0C9-B939-0FF2-80FF-BE0BB18B204C}"/>
              </a:ext>
            </a:extLst>
          </p:cNvPr>
          <p:cNvSpPr txBox="1"/>
          <p:nvPr/>
        </p:nvSpPr>
        <p:spPr>
          <a:xfrm>
            <a:off x="1132793" y="227425"/>
            <a:ext cx="3168620" cy="461665"/>
          </a:xfrm>
          <a:prstGeom prst="rect">
            <a:avLst/>
          </a:prstGeom>
          <a:solidFill>
            <a:schemeClr val="accent3"/>
          </a:solidFill>
          <a:effectLst>
            <a:softEdge rad="31750"/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agent-framework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57DADA-86C2-B433-27A6-7DAF286352BE}"/>
              </a:ext>
            </a:extLst>
          </p:cNvPr>
          <p:cNvSpPr txBox="1"/>
          <p:nvPr/>
        </p:nvSpPr>
        <p:spPr>
          <a:xfrm>
            <a:off x="1203913" y="2290511"/>
            <a:ext cx="10723927" cy="385746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900" b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from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 </a:t>
            </a:r>
            <a:r>
              <a:rPr lang="en-US" sz="1900" b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agent_framework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.</a:t>
            </a:r>
            <a:r>
              <a:rPr lang="en-US" sz="1900" b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redis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 </a:t>
            </a:r>
            <a:r>
              <a:rPr lang="en-US" sz="1900" b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import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 </a:t>
            </a:r>
            <a:r>
              <a:rPr lang="en-US" sz="1900">
                <a:solidFill>
                  <a:srgbClr val="267F99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RedisHistoryProvider</a:t>
            </a:r>
            <a:b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</a:br>
            <a:endParaRPr lang="en-US" sz="1900" b="0">
              <a:solidFill>
                <a:srgbClr val="000000"/>
              </a:solidFill>
              <a:effectLst/>
              <a:latin typeface="Consolas" panose="020B0609020204030204" pitchFamily="49" charset="0"/>
              <a:ea typeface="Menlo" panose="020B060903080402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US" sz="19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redis_provider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 = </a:t>
            </a:r>
            <a:r>
              <a:rPr lang="en-US" sz="1900">
                <a:solidFill>
                  <a:srgbClr val="267F99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RedisHistoryProvider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(</a:t>
            </a:r>
          </a:p>
          <a:p>
            <a:pPr>
              <a:buNone/>
            </a:pPr>
            <a:r>
              <a:rPr lang="en-US" sz="1900" b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    redis_url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=</a:t>
            </a:r>
            <a:r>
              <a:rPr lang="en-US" sz="1900" b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"redis://localhost:6379"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900" b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    source_id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=</a:t>
            </a:r>
            <a:r>
              <a:rPr lang="en-US" sz="1900">
                <a:solidFill>
                  <a:srgbClr val="A31515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"redis_chat"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)</a:t>
            </a:r>
          </a:p>
          <a:p>
            <a:pPr>
              <a:buNone/>
            </a:pPr>
            <a:endParaRPr lang="en-US" sz="1900" b="0">
              <a:solidFill>
                <a:srgbClr val="000000"/>
              </a:solidFill>
              <a:effectLst/>
              <a:latin typeface="Consolas" panose="020B0609020204030204" pitchFamily="49" charset="0"/>
              <a:ea typeface="Menlo" panose="020B060903080402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US" sz="1900" b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agent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 = </a:t>
            </a:r>
            <a:r>
              <a:rPr lang="en-US" sz="1900" b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Agent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(</a:t>
            </a:r>
          </a:p>
          <a:p>
            <a:pPr>
              <a:buNone/>
            </a:pPr>
            <a:r>
              <a:rPr lang="en-US" sz="1900" b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  client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=</a:t>
            </a:r>
            <a:r>
              <a:rPr lang="en-US" sz="1900" b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OpenAIChatClient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(),</a:t>
            </a:r>
          </a:p>
          <a:p>
            <a:pPr>
              <a:buNone/>
            </a:pPr>
            <a:r>
              <a:rPr lang="en-US" sz="1900" b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  instructions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=</a:t>
            </a:r>
            <a:r>
              <a:rPr lang="en-US" sz="1900" b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"You are a helpful weather agent."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,</a:t>
            </a:r>
          </a:p>
          <a:p>
            <a:r>
              <a:rPr lang="en-US" sz="1900" b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  </a:t>
            </a:r>
            <a:r>
              <a:rPr lang="en-US" sz="19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tools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=[</a:t>
            </a:r>
            <a:r>
              <a:rPr lang="en-US" sz="19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get_weather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],</a:t>
            </a:r>
          </a:p>
          <a:p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9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context_providers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=[</a:t>
            </a:r>
            <a:r>
              <a:rPr lang="en-US" sz="19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redis_provider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)</a:t>
            </a:r>
          </a:p>
          <a:p>
            <a:endParaRPr lang="en-US" sz="1900">
              <a:solidFill>
                <a:srgbClr val="000000"/>
              </a:solidFill>
              <a:latin typeface="Consolas" panose="020B0609020204030204" pitchFamily="49" charset="0"/>
              <a:ea typeface="Menlo" panose="020B060903080402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session = agent.create_session(</a:t>
            </a:r>
            <a:r>
              <a:rPr lang="en-US" sz="19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session_id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900">
                <a:solidFill>
                  <a:srgbClr val="267F99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str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(</a:t>
            </a:r>
            <a:r>
              <a:rPr lang="en-US" sz="1900">
                <a:solidFill>
                  <a:srgbClr val="267F99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uuid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.</a:t>
            </a:r>
            <a:r>
              <a:rPr lang="en-US" sz="1900">
                <a:solidFill>
                  <a:srgbClr val="795E26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uuid4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())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300494-756E-232F-4F3D-DCC1590DDD09}"/>
              </a:ext>
            </a:extLst>
          </p:cNvPr>
          <p:cNvSpPr txBox="1"/>
          <p:nvPr/>
        </p:nvSpPr>
        <p:spPr>
          <a:xfrm>
            <a:off x="1135284" y="6199742"/>
            <a:ext cx="65281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0" i="0" u="sng">
                <a:solidFill>
                  <a:srgbClr val="00008B"/>
                </a:solidFill>
                <a:effectLst/>
                <a:latin typeface="Aptos" panose="020B0004020202020204" pitchFamily="34" charset="0"/>
                <a:hlinkClick r:id="rId2"/>
              </a:rPr>
              <a:t>Full example: agent_history_redis.py</a:t>
            </a:r>
            <a:endParaRPr lang="en-US" sz="220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34412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AF94B-08F1-C092-92C3-DFDB8408E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5CA26-6524-5BD1-4403-42F4E8055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Persistent chat history in SQLite</a:t>
            </a:r>
          </a:p>
        </p:txBody>
      </p:sp>
      <p:sp>
        <p:nvSpPr>
          <p:cNvPr id="5" name="Rounded Rectangular Callout 4">
            <a:extLst>
              <a:ext uri="{FF2B5EF4-FFF2-40B4-BE49-F238E27FC236}">
                <a16:creationId xmlns:a16="http://schemas.microsoft.com/office/drawing/2014/main" id="{75495E96-590C-B0ED-3454-43724DAEE9FC}"/>
              </a:ext>
            </a:extLst>
          </p:cNvPr>
          <p:cNvSpPr/>
          <p:nvPr/>
        </p:nvSpPr>
        <p:spPr>
          <a:xfrm>
            <a:off x="2121199" y="2231271"/>
            <a:ext cx="3264113" cy="482112"/>
          </a:xfrm>
          <a:prstGeom prst="wedgeRoundRectCallout">
            <a:avLst>
              <a:gd name="adj1" fmla="val -55152"/>
              <a:gd name="adj2" fmla="val -21083"/>
              <a:gd name="adj3" fmla="val 16667"/>
            </a:avLst>
          </a:prstGeom>
          <a:solidFill>
            <a:srgbClr val="4569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/>
              <a:t>Weather in Tokyo?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39BE7A-3E10-13C8-89D5-1272000A0CD2}"/>
              </a:ext>
            </a:extLst>
          </p:cNvPr>
          <p:cNvSpPr txBox="1"/>
          <p:nvPr/>
        </p:nvSpPr>
        <p:spPr>
          <a:xfrm>
            <a:off x="1386188" y="2231271"/>
            <a:ext cx="4245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0" i="0">
                <a:solidFill>
                  <a:srgbClr val="616161"/>
                </a:solidFill>
                <a:effectLst/>
                <a:latin typeface="-apple-system"/>
              </a:rPr>
              <a:t>👤</a:t>
            </a:r>
            <a:endParaRPr lang="en-US" sz="4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A8A1F6-FD34-D304-0A5A-3D6EE970FC37}"/>
              </a:ext>
            </a:extLst>
          </p:cNvPr>
          <p:cNvSpPr txBox="1"/>
          <p:nvPr/>
        </p:nvSpPr>
        <p:spPr>
          <a:xfrm>
            <a:off x="1407959" y="3387696"/>
            <a:ext cx="381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0" i="0">
                <a:solidFill>
                  <a:srgbClr val="616161"/>
                </a:solidFill>
                <a:effectLst/>
                <a:latin typeface="-apple-system"/>
              </a:rPr>
              <a:t>🔧</a:t>
            </a:r>
            <a:endParaRPr lang="en-US" sz="40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3C0AD6-D466-3B31-AF22-0377EEE52C7C}"/>
              </a:ext>
            </a:extLst>
          </p:cNvPr>
          <p:cNvSpPr txBox="1"/>
          <p:nvPr/>
        </p:nvSpPr>
        <p:spPr>
          <a:xfrm>
            <a:off x="1368771" y="1654298"/>
            <a:ext cx="45937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0" i="0">
                <a:solidFill>
                  <a:srgbClr val="616161"/>
                </a:solidFill>
                <a:effectLst/>
                <a:latin typeface="-apple-system"/>
              </a:rPr>
              <a:t>⚙️</a:t>
            </a:r>
            <a:endParaRPr lang="en-US" sz="4000"/>
          </a:p>
        </p:txBody>
      </p:sp>
      <p:sp>
        <p:nvSpPr>
          <p:cNvPr id="10" name="Rounded Rectangular Callout 9">
            <a:extLst>
              <a:ext uri="{FF2B5EF4-FFF2-40B4-BE49-F238E27FC236}">
                <a16:creationId xmlns:a16="http://schemas.microsoft.com/office/drawing/2014/main" id="{55ECA768-1837-2913-5E02-E283FC5B93D0}"/>
              </a:ext>
            </a:extLst>
          </p:cNvPr>
          <p:cNvSpPr/>
          <p:nvPr/>
        </p:nvSpPr>
        <p:spPr>
          <a:xfrm>
            <a:off x="2132641" y="1654298"/>
            <a:ext cx="3252672" cy="482112"/>
          </a:xfrm>
          <a:prstGeom prst="wedgeRoundRectCallout">
            <a:avLst>
              <a:gd name="adj1" fmla="val -55152"/>
              <a:gd name="adj2" fmla="val -21083"/>
              <a:gd name="adj3" fmla="val 16667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/>
              <a:t>You're a weather assistant.</a:t>
            </a:r>
          </a:p>
        </p:txBody>
      </p:sp>
      <p:sp>
        <p:nvSpPr>
          <p:cNvPr id="11" name="Rounded Rectangular Callout 10">
            <a:extLst>
              <a:ext uri="{FF2B5EF4-FFF2-40B4-BE49-F238E27FC236}">
                <a16:creationId xmlns:a16="http://schemas.microsoft.com/office/drawing/2014/main" id="{65E74A3C-0CA5-13B9-249F-B635B3BDCC82}"/>
              </a:ext>
            </a:extLst>
          </p:cNvPr>
          <p:cNvSpPr/>
          <p:nvPr/>
        </p:nvSpPr>
        <p:spPr>
          <a:xfrm>
            <a:off x="2121199" y="2801077"/>
            <a:ext cx="3264113" cy="482112"/>
          </a:xfrm>
          <a:prstGeom prst="wedgeRoundRectCallout">
            <a:avLst>
              <a:gd name="adj1" fmla="val -55152"/>
              <a:gd name="adj2" fmla="val -21083"/>
              <a:gd name="adj3" fmla="val 166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>
                <a:solidFill>
                  <a:schemeClr val="bg1"/>
                </a:solidFill>
              </a:rPr>
              <a:t>get_weather("Tokyo")</a:t>
            </a:r>
          </a:p>
        </p:txBody>
      </p:sp>
      <p:sp>
        <p:nvSpPr>
          <p:cNvPr id="13" name="Rounded Rectangular Callout 12">
            <a:extLst>
              <a:ext uri="{FF2B5EF4-FFF2-40B4-BE49-F238E27FC236}">
                <a16:creationId xmlns:a16="http://schemas.microsoft.com/office/drawing/2014/main" id="{07DE8182-568B-867B-0ACF-2A0431BDD34D}"/>
              </a:ext>
            </a:extLst>
          </p:cNvPr>
          <p:cNvSpPr/>
          <p:nvPr/>
        </p:nvSpPr>
        <p:spPr>
          <a:xfrm>
            <a:off x="2121199" y="3389873"/>
            <a:ext cx="3264113" cy="482112"/>
          </a:xfrm>
          <a:prstGeom prst="wedgeRoundRectCallout">
            <a:avLst>
              <a:gd name="adj1" fmla="val -55152"/>
              <a:gd name="adj2" fmla="val -21083"/>
              <a:gd name="adj3" fmla="val 16667"/>
            </a:avLst>
          </a:prstGeom>
          <a:solidFill>
            <a:srgbClr val="CAE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>
                <a:solidFill>
                  <a:schemeClr val="tx1"/>
                </a:solidFill>
              </a:rPr>
              <a:t>Sunny, 25°C</a:t>
            </a:r>
          </a:p>
        </p:txBody>
      </p:sp>
      <p:sp>
        <p:nvSpPr>
          <p:cNvPr id="14" name="Rounded Rectangular Callout 13">
            <a:extLst>
              <a:ext uri="{FF2B5EF4-FFF2-40B4-BE49-F238E27FC236}">
                <a16:creationId xmlns:a16="http://schemas.microsoft.com/office/drawing/2014/main" id="{B6E1D131-8C52-AD51-CD7A-5353489E64DB}"/>
              </a:ext>
            </a:extLst>
          </p:cNvPr>
          <p:cNvSpPr/>
          <p:nvPr/>
        </p:nvSpPr>
        <p:spPr>
          <a:xfrm>
            <a:off x="2132640" y="3945911"/>
            <a:ext cx="3252672" cy="482112"/>
          </a:xfrm>
          <a:prstGeom prst="wedgeRoundRectCallout">
            <a:avLst>
              <a:gd name="adj1" fmla="val -55152"/>
              <a:gd name="adj2" fmla="val -21083"/>
              <a:gd name="adj3" fmla="val 166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>
                <a:solidFill>
                  <a:schemeClr val="bg1"/>
                </a:solidFill>
              </a:rPr>
              <a:t>It's sunny in Tokyo at 25°C </a:t>
            </a:r>
          </a:p>
        </p:txBody>
      </p:sp>
      <p:sp>
        <p:nvSpPr>
          <p:cNvPr id="15" name="Rounded Rectangular Callout 14">
            <a:extLst>
              <a:ext uri="{FF2B5EF4-FFF2-40B4-BE49-F238E27FC236}">
                <a16:creationId xmlns:a16="http://schemas.microsoft.com/office/drawing/2014/main" id="{08A1E88B-B3F7-70AD-54DD-8C7E957C4F35}"/>
              </a:ext>
            </a:extLst>
          </p:cNvPr>
          <p:cNvSpPr/>
          <p:nvPr/>
        </p:nvSpPr>
        <p:spPr>
          <a:xfrm>
            <a:off x="2132640" y="4525346"/>
            <a:ext cx="3252672" cy="482112"/>
          </a:xfrm>
          <a:prstGeom prst="wedgeRoundRectCallout">
            <a:avLst>
              <a:gd name="adj1" fmla="val -55152"/>
              <a:gd name="adj2" fmla="val -21083"/>
              <a:gd name="adj3" fmla="val 16667"/>
            </a:avLst>
          </a:prstGeom>
          <a:solidFill>
            <a:srgbClr val="4569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/>
              <a:t>How about London?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B911CA-4785-F712-8F25-353BAC8D46AE}"/>
              </a:ext>
            </a:extLst>
          </p:cNvPr>
          <p:cNvSpPr txBox="1"/>
          <p:nvPr/>
        </p:nvSpPr>
        <p:spPr>
          <a:xfrm>
            <a:off x="1386188" y="4537348"/>
            <a:ext cx="4245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0" i="0">
                <a:solidFill>
                  <a:srgbClr val="616161"/>
                </a:solidFill>
                <a:effectLst/>
                <a:latin typeface="-apple-system"/>
              </a:rPr>
              <a:t>👤</a:t>
            </a:r>
            <a:endParaRPr lang="en-US" sz="4000"/>
          </a:p>
        </p:txBody>
      </p:sp>
      <p:sp>
        <p:nvSpPr>
          <p:cNvPr id="17" name="Rounded Rectangular Callout 16">
            <a:extLst>
              <a:ext uri="{FF2B5EF4-FFF2-40B4-BE49-F238E27FC236}">
                <a16:creationId xmlns:a16="http://schemas.microsoft.com/office/drawing/2014/main" id="{8ABEDB7E-95D2-C6BA-442A-0CABAE75E94B}"/>
              </a:ext>
            </a:extLst>
          </p:cNvPr>
          <p:cNvSpPr/>
          <p:nvPr/>
        </p:nvSpPr>
        <p:spPr>
          <a:xfrm>
            <a:off x="2132641" y="5104781"/>
            <a:ext cx="3252672" cy="482112"/>
          </a:xfrm>
          <a:prstGeom prst="wedgeRoundRectCallout">
            <a:avLst>
              <a:gd name="adj1" fmla="val -55152"/>
              <a:gd name="adj2" fmla="val -21083"/>
              <a:gd name="adj3" fmla="val 166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>
                <a:solidFill>
                  <a:schemeClr val="bg1"/>
                </a:solidFill>
              </a:rPr>
              <a:t>get_weather("London")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8992D0-1CCE-EBBC-7419-1EF3FC8EC627}"/>
              </a:ext>
            </a:extLst>
          </p:cNvPr>
          <p:cNvSpPr txBox="1"/>
          <p:nvPr/>
        </p:nvSpPr>
        <p:spPr>
          <a:xfrm>
            <a:off x="1407959" y="5695395"/>
            <a:ext cx="381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0" i="0">
                <a:solidFill>
                  <a:srgbClr val="616161"/>
                </a:solidFill>
                <a:effectLst/>
                <a:latin typeface="-apple-system"/>
              </a:rPr>
              <a:t>🔧</a:t>
            </a:r>
            <a:endParaRPr lang="en-US" sz="4000"/>
          </a:p>
        </p:txBody>
      </p:sp>
      <p:sp>
        <p:nvSpPr>
          <p:cNvPr id="19" name="Rounded Rectangular Callout 18">
            <a:extLst>
              <a:ext uri="{FF2B5EF4-FFF2-40B4-BE49-F238E27FC236}">
                <a16:creationId xmlns:a16="http://schemas.microsoft.com/office/drawing/2014/main" id="{5B67A6AC-E1AC-5EEB-9D83-18635241E59B}"/>
              </a:ext>
            </a:extLst>
          </p:cNvPr>
          <p:cNvSpPr/>
          <p:nvPr/>
        </p:nvSpPr>
        <p:spPr>
          <a:xfrm>
            <a:off x="2132640" y="5684216"/>
            <a:ext cx="3252672" cy="482112"/>
          </a:xfrm>
          <a:prstGeom prst="wedgeRoundRectCallout">
            <a:avLst>
              <a:gd name="adj1" fmla="val -55152"/>
              <a:gd name="adj2" fmla="val -21083"/>
              <a:gd name="adj3" fmla="val 16667"/>
            </a:avLst>
          </a:prstGeom>
          <a:solidFill>
            <a:srgbClr val="CAE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>
                <a:solidFill>
                  <a:schemeClr val="tx1"/>
                </a:solidFill>
              </a:rPr>
              <a:t>Rainy, 12°C</a:t>
            </a:r>
          </a:p>
        </p:txBody>
      </p:sp>
      <p:sp>
        <p:nvSpPr>
          <p:cNvPr id="20" name="Rounded Rectangular Callout 19">
            <a:extLst>
              <a:ext uri="{FF2B5EF4-FFF2-40B4-BE49-F238E27FC236}">
                <a16:creationId xmlns:a16="http://schemas.microsoft.com/office/drawing/2014/main" id="{DAE142AF-D429-593D-C836-2C5F999A0B77}"/>
              </a:ext>
            </a:extLst>
          </p:cNvPr>
          <p:cNvSpPr/>
          <p:nvPr/>
        </p:nvSpPr>
        <p:spPr>
          <a:xfrm>
            <a:off x="2132640" y="6263649"/>
            <a:ext cx="3252672" cy="482112"/>
          </a:xfrm>
          <a:prstGeom prst="wedgeRoundRectCallout">
            <a:avLst>
              <a:gd name="adj1" fmla="val -55152"/>
              <a:gd name="adj2" fmla="val -21083"/>
              <a:gd name="adj3" fmla="val 166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>
                <a:solidFill>
                  <a:schemeClr val="bg1"/>
                </a:solidFill>
              </a:rPr>
              <a:t>London is rainy at 12°C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9AC1E22-1CBE-DDA7-B96F-F2D5F036DCE7}"/>
              </a:ext>
            </a:extLst>
          </p:cNvPr>
          <p:cNvSpPr/>
          <p:nvPr/>
        </p:nvSpPr>
        <p:spPr bwMode="auto">
          <a:xfrm>
            <a:off x="1256459" y="2834832"/>
            <a:ext cx="684000" cy="443561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LLM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5FD9759-6EFB-12EE-B3F6-510A9472690A}"/>
              </a:ext>
            </a:extLst>
          </p:cNvPr>
          <p:cNvSpPr/>
          <p:nvPr/>
        </p:nvSpPr>
        <p:spPr bwMode="auto">
          <a:xfrm>
            <a:off x="1256459" y="3994899"/>
            <a:ext cx="684000" cy="443561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LLM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DC0053F-0859-9A6E-7A9D-610EEEC21EFB}"/>
              </a:ext>
            </a:extLst>
          </p:cNvPr>
          <p:cNvSpPr/>
          <p:nvPr/>
        </p:nvSpPr>
        <p:spPr bwMode="auto">
          <a:xfrm>
            <a:off x="1256459" y="5162139"/>
            <a:ext cx="684000" cy="443561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LLM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2A55180-9A77-27DA-F8A0-98DD5A842BFB}"/>
              </a:ext>
            </a:extLst>
          </p:cNvPr>
          <p:cNvSpPr/>
          <p:nvPr/>
        </p:nvSpPr>
        <p:spPr bwMode="auto">
          <a:xfrm>
            <a:off x="1256459" y="6302200"/>
            <a:ext cx="684000" cy="443561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LLM</a:t>
            </a:r>
          </a:p>
        </p:txBody>
      </p:sp>
      <p:pic>
        <p:nvPicPr>
          <p:cNvPr id="25" name="Graphic 24" descr="Database with solid fill">
            <a:extLst>
              <a:ext uri="{FF2B5EF4-FFF2-40B4-BE49-F238E27FC236}">
                <a16:creationId xmlns:a16="http://schemas.microsoft.com/office/drawing/2014/main" id="{04B57CF5-16A9-2CA3-F6AA-5D30473C24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65881" y="2553456"/>
            <a:ext cx="1202640" cy="100631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42C31BBE-16FC-3570-4A4E-9FB8CB94C1A3}"/>
              </a:ext>
            </a:extLst>
          </p:cNvPr>
          <p:cNvSpPr txBox="1"/>
          <p:nvPr/>
        </p:nvSpPr>
        <p:spPr>
          <a:xfrm>
            <a:off x="5868374" y="3471875"/>
            <a:ext cx="13976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solidFill>
                  <a:srgbClr val="0070C0"/>
                </a:solidFill>
                <a:latin typeface="Aptos" panose="020B0004020202020204" pitchFamily="34" charset="0"/>
                <a:cs typeface="Segoe UI" panose="020B0502040204020203" pitchFamily="34" charset="0"/>
              </a:rPr>
              <a:t>SQLite</a:t>
            </a: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AE634846-5E15-33AF-E041-D772B8759E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469900"/>
              </p:ext>
            </p:extLst>
          </p:nvPr>
        </p:nvGraphicFramePr>
        <p:xfrm>
          <a:off x="7657892" y="1545934"/>
          <a:ext cx="4452031" cy="361773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89720">
                  <a:extLst>
                    <a:ext uri="{9D8B030D-6E8A-4147-A177-3AD203B41FA5}">
                      <a16:colId xmlns:a16="http://schemas.microsoft.com/office/drawing/2014/main" val="3698272983"/>
                    </a:ext>
                  </a:extLst>
                </a:gridCol>
                <a:gridCol w="1246094">
                  <a:extLst>
                    <a:ext uri="{9D8B030D-6E8A-4147-A177-3AD203B41FA5}">
                      <a16:colId xmlns:a16="http://schemas.microsoft.com/office/drawing/2014/main" val="1451110379"/>
                    </a:ext>
                  </a:extLst>
                </a:gridCol>
                <a:gridCol w="2816217">
                  <a:extLst>
                    <a:ext uri="{9D8B030D-6E8A-4147-A177-3AD203B41FA5}">
                      <a16:colId xmlns:a16="http://schemas.microsoft.com/office/drawing/2014/main" val="267783004"/>
                    </a:ext>
                  </a:extLst>
                </a:gridCol>
              </a:tblGrid>
              <a:tr h="302425">
                <a:tc>
                  <a:txBody>
                    <a:bodyPr/>
                    <a:lstStyle/>
                    <a:p>
                      <a:r>
                        <a:rPr lang="en-US" sz="150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thread_id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message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0715843"/>
                  </a:ext>
                </a:extLst>
              </a:tr>
              <a:tr h="691258">
                <a:tc>
                  <a:txBody>
                    <a:bodyPr/>
                    <a:lstStyle/>
                    <a:p>
                      <a:r>
                        <a:rPr lang="en-US" sz="140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session123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{"role": "system",</a:t>
                      </a:r>
                    </a:p>
                    <a:p>
                      <a:r>
                        <a:rPr lang="en-US" sz="1400" b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"content": "You're a weather assistant."}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514979"/>
                  </a:ext>
                </a:extLst>
              </a:tr>
              <a:tr h="730507">
                <a:tc>
                  <a:txBody>
                    <a:bodyPr/>
                    <a:lstStyle/>
                    <a:p>
                      <a:r>
                        <a:rPr lang="en-US" sz="140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session123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{"role": "user",</a:t>
                      </a:r>
                    </a:p>
                    <a:p>
                      <a:r>
                        <a:rPr lang="en-US" sz="1400" b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"content": "Weather in Tokyo?"}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6357441"/>
                  </a:ext>
                </a:extLst>
              </a:tr>
              <a:tr h="917328">
                <a:tc>
                  <a:txBody>
                    <a:bodyPr/>
                    <a:lstStyle/>
                    <a:p>
                      <a:r>
                        <a:rPr lang="en-US" sz="140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session123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{"role": "assistant",</a:t>
                      </a:r>
                    </a:p>
                    <a:p>
                      <a:r>
                        <a:rPr lang="en-US" sz="1400" b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"tool_call": "get_weather"}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9720386"/>
                  </a:ext>
                </a:extLst>
              </a:tr>
              <a:tr h="917328">
                <a:tc>
                  <a:txBody>
                    <a:bodyPr/>
                    <a:lstStyle/>
                    <a:p>
                      <a:r>
                        <a:rPr lang="en-US" sz="140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session456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{"role": "system",</a:t>
                      </a:r>
                    </a:p>
                    <a:p>
                      <a:r>
                        <a:rPr lang="en-US" sz="1400" b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"content": "You're a weather assistant."}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505555"/>
                  </a:ext>
                </a:extLst>
              </a:tr>
            </a:tbl>
          </a:graphicData>
        </a:graphic>
      </p:graphicFrame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64AEF98-BF1D-F3F4-F04B-E9E32931351A}"/>
              </a:ext>
            </a:extLst>
          </p:cNvPr>
          <p:cNvCxnSpPr>
            <a:cxnSpLocks/>
          </p:cNvCxnSpPr>
          <p:nvPr/>
        </p:nvCxnSpPr>
        <p:spPr>
          <a:xfrm>
            <a:off x="5495046" y="3082163"/>
            <a:ext cx="58929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D605285-30FE-D82B-2344-FA4302AF0288}"/>
              </a:ext>
            </a:extLst>
          </p:cNvPr>
          <p:cNvCxnSpPr>
            <a:cxnSpLocks/>
          </p:cNvCxnSpPr>
          <p:nvPr/>
        </p:nvCxnSpPr>
        <p:spPr>
          <a:xfrm>
            <a:off x="7045939" y="3098397"/>
            <a:ext cx="52499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41F2EA5B-5B86-5C20-332A-606E09AFBD09}"/>
              </a:ext>
            </a:extLst>
          </p:cNvPr>
          <p:cNvSpPr txBox="1">
            <a:spLocks/>
          </p:cNvSpPr>
          <p:nvPr/>
        </p:nvSpPr>
        <p:spPr>
          <a:xfrm>
            <a:off x="7657891" y="5245234"/>
            <a:ext cx="4452032" cy="14256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900"/>
              <a:t>Implementation details:</a:t>
            </a:r>
          </a:p>
          <a:p>
            <a:r>
              <a:rPr lang="en-US" sz="1900"/>
              <a:t>Rows are single messages, retrieved based off incrementing ID order</a:t>
            </a:r>
          </a:p>
          <a:p>
            <a:r>
              <a:rPr lang="en-US" sz="1900"/>
              <a:t>No limits to # of messages in session</a:t>
            </a:r>
          </a:p>
        </p:txBody>
      </p:sp>
    </p:spTree>
    <p:extLst>
      <p:ext uri="{BB962C8B-B14F-4D97-AF65-F5344CB8AC3E}">
        <p14:creationId xmlns:p14="http://schemas.microsoft.com/office/powerpoint/2010/main" val="5260151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04737-8735-2CB1-B3FA-CE99BA8D3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015FD-133B-7FB1-B9CA-7A1829FCB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Persistent chat history with custom storage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2C64D9-C5BD-2431-2635-2125A78D8498}"/>
              </a:ext>
            </a:extLst>
          </p:cNvPr>
          <p:cNvSpPr txBox="1"/>
          <p:nvPr/>
        </p:nvSpPr>
        <p:spPr>
          <a:xfrm>
            <a:off x="1132793" y="1629691"/>
            <a:ext cx="1194207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/>
              <a:t>For DBs without built-in support, write a subclass that implements </a:t>
            </a:r>
            <a:r>
              <a:rPr lang="en-US" sz="2100">
                <a:latin typeface="Consolas" panose="020B0609020204030204" pitchFamily="49" charset="0"/>
                <a:cs typeface="Consolas" panose="020B0609020204030204" pitchFamily="49" charset="0"/>
              </a:rPr>
              <a:t>BaseHistoryProvider</a:t>
            </a:r>
            <a:r>
              <a:rPr lang="en-US" sz="2100"/>
              <a:t>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D221D3-4389-4EF9-539B-327C4CDDD5CB}"/>
              </a:ext>
            </a:extLst>
          </p:cNvPr>
          <p:cNvSpPr txBox="1"/>
          <p:nvPr/>
        </p:nvSpPr>
        <p:spPr>
          <a:xfrm>
            <a:off x="1132793" y="227425"/>
            <a:ext cx="3168620" cy="461665"/>
          </a:xfrm>
          <a:prstGeom prst="rect">
            <a:avLst/>
          </a:prstGeom>
          <a:solidFill>
            <a:schemeClr val="accent3"/>
          </a:solidFill>
          <a:effectLst>
            <a:softEdge rad="31750"/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agent-framework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62C0E9-401D-9703-6AFD-C81278454BA5}"/>
              </a:ext>
            </a:extLst>
          </p:cNvPr>
          <p:cNvSpPr txBox="1"/>
          <p:nvPr/>
        </p:nvSpPr>
        <p:spPr>
          <a:xfrm>
            <a:off x="1214303" y="2060578"/>
            <a:ext cx="10919750" cy="41817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sz="1600">
                <a:solidFill>
                  <a:srgbClr val="0000FF"/>
                </a:solidFill>
                <a:latin typeface="Menlo" panose="020B0609030804020204" pitchFamily="49" charset="0"/>
              </a:rPr>
              <a:t>class</a:t>
            </a:r>
            <a:r>
              <a:rPr lang="en-US" sz="16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600">
                <a:solidFill>
                  <a:srgbClr val="267F99"/>
                </a:solidFill>
                <a:latin typeface="Menlo" panose="020B0609030804020204" pitchFamily="49" charset="0"/>
              </a:rPr>
              <a:t>SQLiteHistoryProvider</a:t>
            </a:r>
            <a:r>
              <a:rPr lang="en-US" sz="160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600">
                <a:solidFill>
                  <a:srgbClr val="267F99"/>
                </a:solidFill>
                <a:latin typeface="Menlo" panose="020B0609030804020204" pitchFamily="49" charset="0"/>
              </a:rPr>
              <a:t>BaseHistoryProvider</a:t>
            </a:r>
            <a:r>
              <a:rPr lang="en-US" sz="160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pPr>
              <a:lnSpc>
                <a:spcPts val="2025"/>
              </a:lnSpc>
              <a:buNone/>
            </a:pPr>
            <a:endParaRPr lang="en-US" sz="160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sz="1600">
                <a:solidFill>
                  <a:srgbClr val="0000FF"/>
                </a:solidFill>
                <a:latin typeface="Menlo" panose="020B0609030804020204" pitchFamily="49" charset="0"/>
              </a:rPr>
              <a:t>  def</a:t>
            </a:r>
            <a:r>
              <a:rPr lang="en-US" sz="16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600">
                <a:solidFill>
                  <a:srgbClr val="795E26"/>
                </a:solidFill>
                <a:latin typeface="Menlo" panose="020B0609030804020204" pitchFamily="49" charset="0"/>
              </a:rPr>
              <a:t>__init__</a:t>
            </a:r>
            <a:r>
              <a:rPr lang="en-US" sz="160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600">
                <a:solidFill>
                  <a:srgbClr val="001080"/>
                </a:solidFill>
                <a:latin typeface="Menlo" panose="020B0609030804020204" pitchFamily="49" charset="0"/>
              </a:rPr>
              <a:t>self</a:t>
            </a:r>
            <a:r>
              <a:rPr lang="en-US" sz="160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sz="1600">
                <a:solidFill>
                  <a:srgbClr val="001080"/>
                </a:solidFill>
                <a:latin typeface="Menlo" panose="020B0609030804020204" pitchFamily="49" charset="0"/>
              </a:rPr>
              <a:t>db_path</a:t>
            </a:r>
            <a:r>
              <a:rPr lang="en-US" sz="1600">
                <a:solidFill>
                  <a:srgbClr val="000000"/>
                </a:solidFill>
                <a:latin typeface="Menlo" panose="020B0609030804020204" pitchFamily="49" charset="0"/>
              </a:rPr>
              <a:t>: </a:t>
            </a:r>
            <a:r>
              <a:rPr lang="en-US" sz="1600">
                <a:solidFill>
                  <a:srgbClr val="267F99"/>
                </a:solidFill>
                <a:latin typeface="Menlo" panose="020B0609030804020204" pitchFamily="49" charset="0"/>
              </a:rPr>
              <a:t>str</a:t>
            </a:r>
            <a:r>
              <a:rPr lang="en-US" sz="160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pPr>
              <a:lnSpc>
                <a:spcPts val="2025"/>
              </a:lnSpc>
              <a:buNone/>
            </a:pPr>
            <a:r>
              <a:rPr lang="en-US" sz="1600">
                <a:solidFill>
                  <a:srgbClr val="000000"/>
                </a:solidFill>
                <a:latin typeface="Menlo" panose="020B0609030804020204" pitchFamily="49" charset="0"/>
              </a:rPr>
              <a:t>    ...</a:t>
            </a:r>
          </a:p>
          <a:p>
            <a:pPr>
              <a:lnSpc>
                <a:spcPts val="2025"/>
              </a:lnSpc>
              <a:buNone/>
            </a:pPr>
            <a:endParaRPr lang="en-US" sz="160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sz="1600">
                <a:solidFill>
                  <a:srgbClr val="0000FF"/>
                </a:solidFill>
                <a:latin typeface="Menlo" panose="020B0609030804020204" pitchFamily="49" charset="0"/>
              </a:rPr>
              <a:t>  async</a:t>
            </a:r>
            <a:r>
              <a:rPr lang="en-US" sz="16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600">
                <a:solidFill>
                  <a:srgbClr val="0000FF"/>
                </a:solidFill>
                <a:latin typeface="Menlo" panose="020B0609030804020204" pitchFamily="49" charset="0"/>
              </a:rPr>
              <a:t>def</a:t>
            </a:r>
            <a:r>
              <a:rPr lang="en-US" sz="16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600">
                <a:solidFill>
                  <a:srgbClr val="795E26"/>
                </a:solidFill>
                <a:latin typeface="Menlo" panose="020B0609030804020204" pitchFamily="49" charset="0"/>
              </a:rPr>
              <a:t>get_messages</a:t>
            </a:r>
            <a:r>
              <a:rPr lang="en-US" sz="160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600">
                <a:solidFill>
                  <a:srgbClr val="001080"/>
                </a:solidFill>
                <a:latin typeface="Menlo" panose="020B0609030804020204" pitchFamily="49" charset="0"/>
              </a:rPr>
              <a:t>self</a:t>
            </a:r>
            <a:r>
              <a:rPr lang="en-US" sz="160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sz="1600">
                <a:solidFill>
                  <a:srgbClr val="001080"/>
                </a:solidFill>
                <a:latin typeface="Menlo" panose="020B0609030804020204" pitchFamily="49" charset="0"/>
              </a:rPr>
              <a:t>session_id</a:t>
            </a:r>
            <a:r>
              <a:rPr lang="en-US" sz="1600">
                <a:solidFill>
                  <a:srgbClr val="000000"/>
                </a:solidFill>
                <a:latin typeface="Menlo" panose="020B0609030804020204" pitchFamily="49" charset="0"/>
              </a:rPr>
              <a:t>, **</a:t>
            </a:r>
            <a:r>
              <a:rPr lang="en-US" sz="1600">
                <a:solidFill>
                  <a:srgbClr val="001080"/>
                </a:solidFill>
                <a:latin typeface="Menlo" panose="020B0609030804020204" pitchFamily="49" charset="0"/>
              </a:rPr>
              <a:t>kwargs</a:t>
            </a:r>
            <a:r>
              <a:rPr lang="en-US" sz="1600">
                <a:solidFill>
                  <a:srgbClr val="000000"/>
                </a:solidFill>
                <a:latin typeface="Menlo" panose="020B0609030804020204" pitchFamily="49" charset="0"/>
              </a:rPr>
              <a:t>) -&gt; </a:t>
            </a:r>
            <a:r>
              <a:rPr lang="en-US" sz="1600">
                <a:solidFill>
                  <a:srgbClr val="267F99"/>
                </a:solidFill>
                <a:latin typeface="Menlo" panose="020B0609030804020204" pitchFamily="49" charset="0"/>
              </a:rPr>
              <a:t>list</a:t>
            </a:r>
            <a:r>
              <a:rPr lang="en-US" sz="160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-US" sz="1600">
                <a:solidFill>
                  <a:srgbClr val="267F99"/>
                </a:solidFill>
                <a:latin typeface="Menlo" panose="020B0609030804020204" pitchFamily="49" charset="0"/>
              </a:rPr>
              <a:t>Message</a:t>
            </a:r>
            <a:r>
              <a:rPr lang="en-US" sz="1600">
                <a:solidFill>
                  <a:srgbClr val="000000"/>
                </a:solidFill>
                <a:latin typeface="Menlo" panose="020B0609030804020204" pitchFamily="49" charset="0"/>
              </a:rPr>
              <a:t>]:</a:t>
            </a:r>
          </a:p>
          <a:p>
            <a:pPr>
              <a:lnSpc>
                <a:spcPts val="2025"/>
              </a:lnSpc>
              <a:buNone/>
            </a:pPr>
            <a:r>
              <a:rPr lang="en-US" sz="1600">
                <a:solidFill>
                  <a:srgbClr val="001080"/>
                </a:solidFill>
                <a:latin typeface="Menlo" panose="020B0609030804020204" pitchFamily="49" charset="0"/>
              </a:rPr>
              <a:t>    cursor</a:t>
            </a:r>
            <a:r>
              <a:rPr lang="en-US" sz="160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sz="1600">
                <a:solidFill>
                  <a:srgbClr val="001080"/>
                </a:solidFill>
                <a:latin typeface="Menlo" panose="020B0609030804020204" pitchFamily="49" charset="0"/>
              </a:rPr>
              <a:t>self</a:t>
            </a:r>
            <a:r>
              <a:rPr lang="en-US" sz="1600">
                <a:solidFill>
                  <a:srgbClr val="000000"/>
                </a:solidFill>
                <a:latin typeface="Menlo" panose="020B0609030804020204" pitchFamily="49" charset="0"/>
              </a:rPr>
              <a:t>._conn.execute(</a:t>
            </a:r>
          </a:p>
          <a:p>
            <a:pPr>
              <a:lnSpc>
                <a:spcPts val="2025"/>
              </a:lnSpc>
              <a:buNone/>
            </a:pPr>
            <a:r>
              <a:rPr lang="en-US" sz="1600">
                <a:solidFill>
                  <a:srgbClr val="000000"/>
                </a:solidFill>
                <a:latin typeface="Menlo" panose="020B0609030804020204" pitchFamily="49" charset="0"/>
              </a:rPr>
              <a:t>      </a:t>
            </a:r>
            <a:r>
              <a:rPr lang="en-US" sz="1600">
                <a:solidFill>
                  <a:srgbClr val="A31515"/>
                </a:solidFill>
                <a:latin typeface="Menlo" panose="020B0609030804020204" pitchFamily="49" charset="0"/>
              </a:rPr>
              <a:t>"SELECT message_json FROM messages WHERE session_id = ? ORDER BY id"</a:t>
            </a:r>
            <a:r>
              <a:rPr lang="en-US" sz="160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</a:p>
          <a:p>
            <a:pPr>
              <a:lnSpc>
                <a:spcPts val="2025"/>
              </a:lnSpc>
              <a:buNone/>
            </a:pPr>
            <a:r>
              <a:rPr lang="en-US" sz="1600">
                <a:solidFill>
                  <a:srgbClr val="000000"/>
                </a:solidFill>
                <a:latin typeface="Menlo" panose="020B0609030804020204" pitchFamily="49" charset="0"/>
              </a:rPr>
              <a:t>      (</a:t>
            </a:r>
            <a:r>
              <a:rPr lang="en-US" sz="1600">
                <a:solidFill>
                  <a:srgbClr val="001080"/>
                </a:solidFill>
                <a:latin typeface="Menlo" panose="020B0609030804020204" pitchFamily="49" charset="0"/>
              </a:rPr>
              <a:t>session_id</a:t>
            </a:r>
            <a:r>
              <a:rPr lang="en-US" sz="1600">
                <a:solidFill>
                  <a:srgbClr val="000000"/>
                </a:solidFill>
                <a:latin typeface="Menlo" panose="020B0609030804020204" pitchFamily="49" charset="0"/>
              </a:rPr>
              <a:t>,))</a:t>
            </a:r>
          </a:p>
          <a:p>
            <a:pPr>
              <a:lnSpc>
                <a:spcPts val="2025"/>
              </a:lnSpc>
              <a:buNone/>
            </a:pPr>
            <a:r>
              <a:rPr lang="en-US" sz="1600">
                <a:solidFill>
                  <a:srgbClr val="AF00DB"/>
                </a:solidFill>
                <a:latin typeface="Menlo" panose="020B0609030804020204" pitchFamily="49" charset="0"/>
              </a:rPr>
              <a:t>   return</a:t>
            </a:r>
            <a:r>
              <a:rPr lang="en-US" sz="1600">
                <a:solidFill>
                  <a:srgbClr val="000000"/>
                </a:solidFill>
                <a:latin typeface="Menlo" panose="020B0609030804020204" pitchFamily="49" charset="0"/>
              </a:rPr>
              <a:t> [</a:t>
            </a:r>
            <a:r>
              <a:rPr lang="en-US" sz="1600">
                <a:solidFill>
                  <a:srgbClr val="267F99"/>
                </a:solidFill>
                <a:latin typeface="Menlo" panose="020B0609030804020204" pitchFamily="49" charset="0"/>
              </a:rPr>
              <a:t>Message</a:t>
            </a:r>
            <a:r>
              <a:rPr lang="en-US" sz="1600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-US" sz="1600">
                <a:solidFill>
                  <a:srgbClr val="795E26"/>
                </a:solidFill>
                <a:latin typeface="Menlo" panose="020B0609030804020204" pitchFamily="49" charset="0"/>
              </a:rPr>
              <a:t>from_json</a:t>
            </a:r>
            <a:r>
              <a:rPr lang="en-US" sz="160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600">
                <a:solidFill>
                  <a:srgbClr val="001080"/>
                </a:solidFill>
                <a:latin typeface="Menlo" panose="020B0609030804020204" pitchFamily="49" charset="0"/>
              </a:rPr>
              <a:t>row</a:t>
            </a:r>
            <a:r>
              <a:rPr lang="en-US" sz="160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-US" sz="160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-US" sz="1600">
                <a:solidFill>
                  <a:srgbClr val="000000"/>
                </a:solidFill>
                <a:latin typeface="Menlo" panose="020B0609030804020204" pitchFamily="49" charset="0"/>
              </a:rPr>
              <a:t>]) </a:t>
            </a:r>
            <a:r>
              <a:rPr lang="en-US" sz="1600">
                <a:solidFill>
                  <a:srgbClr val="AF00DB"/>
                </a:solidFill>
                <a:latin typeface="Menlo" panose="020B0609030804020204" pitchFamily="49" charset="0"/>
              </a:rPr>
              <a:t>for</a:t>
            </a:r>
            <a:r>
              <a:rPr lang="en-US" sz="16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600">
                <a:solidFill>
                  <a:srgbClr val="001080"/>
                </a:solidFill>
                <a:latin typeface="Menlo" panose="020B0609030804020204" pitchFamily="49" charset="0"/>
              </a:rPr>
              <a:t>row</a:t>
            </a:r>
            <a:r>
              <a:rPr lang="en-US" sz="16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600">
                <a:solidFill>
                  <a:srgbClr val="AF00DB"/>
                </a:solidFill>
                <a:latin typeface="Menlo" panose="020B0609030804020204" pitchFamily="49" charset="0"/>
              </a:rPr>
              <a:t>in</a:t>
            </a:r>
            <a:r>
              <a:rPr lang="en-US" sz="16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600">
                <a:solidFill>
                  <a:srgbClr val="001080"/>
                </a:solidFill>
                <a:latin typeface="Menlo" panose="020B0609030804020204" pitchFamily="49" charset="0"/>
              </a:rPr>
              <a:t>cursor</a:t>
            </a:r>
            <a:r>
              <a:rPr lang="en-US" sz="1600">
                <a:solidFill>
                  <a:srgbClr val="000000"/>
                </a:solidFill>
                <a:latin typeface="Menlo" panose="020B0609030804020204" pitchFamily="49" charset="0"/>
              </a:rPr>
              <a:t>.fetchall()]</a:t>
            </a:r>
          </a:p>
          <a:p>
            <a:pPr>
              <a:lnSpc>
                <a:spcPts val="2025"/>
              </a:lnSpc>
              <a:buNone/>
            </a:pPr>
            <a:endParaRPr lang="en-US" sz="160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sz="1600">
                <a:solidFill>
                  <a:srgbClr val="0000FF"/>
                </a:solidFill>
                <a:latin typeface="Menlo" panose="020B0609030804020204" pitchFamily="49" charset="0"/>
              </a:rPr>
              <a:t>  async</a:t>
            </a:r>
            <a:r>
              <a:rPr lang="en-US" sz="16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600">
                <a:solidFill>
                  <a:srgbClr val="0000FF"/>
                </a:solidFill>
                <a:latin typeface="Menlo" panose="020B0609030804020204" pitchFamily="49" charset="0"/>
              </a:rPr>
              <a:t>def</a:t>
            </a:r>
            <a:r>
              <a:rPr lang="en-US" sz="16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600">
                <a:solidFill>
                  <a:srgbClr val="795E26"/>
                </a:solidFill>
                <a:latin typeface="Menlo" panose="020B0609030804020204" pitchFamily="49" charset="0"/>
              </a:rPr>
              <a:t>save_messages</a:t>
            </a:r>
            <a:r>
              <a:rPr lang="en-US" sz="160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600">
                <a:solidFill>
                  <a:srgbClr val="001080"/>
                </a:solidFill>
                <a:latin typeface="Menlo" panose="020B0609030804020204" pitchFamily="49" charset="0"/>
              </a:rPr>
              <a:t>self</a:t>
            </a:r>
            <a:r>
              <a:rPr lang="en-US" sz="160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sz="1600">
                <a:solidFill>
                  <a:srgbClr val="001080"/>
                </a:solidFill>
                <a:latin typeface="Menlo" panose="020B0609030804020204" pitchFamily="49" charset="0"/>
              </a:rPr>
              <a:t>session_id</a:t>
            </a:r>
            <a:r>
              <a:rPr lang="en-US" sz="160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sz="1600">
                <a:solidFill>
                  <a:srgbClr val="001080"/>
                </a:solidFill>
                <a:latin typeface="Menlo" panose="020B0609030804020204" pitchFamily="49" charset="0"/>
              </a:rPr>
              <a:t>messages</a:t>
            </a:r>
            <a:r>
              <a:rPr lang="en-US" sz="1600">
                <a:solidFill>
                  <a:srgbClr val="000000"/>
                </a:solidFill>
                <a:latin typeface="Menlo" panose="020B0609030804020204" pitchFamily="49" charset="0"/>
              </a:rPr>
              <a:t>, **</a:t>
            </a:r>
            <a:r>
              <a:rPr lang="en-US" sz="1600">
                <a:solidFill>
                  <a:srgbClr val="001080"/>
                </a:solidFill>
                <a:latin typeface="Menlo" panose="020B0609030804020204" pitchFamily="49" charset="0"/>
              </a:rPr>
              <a:t>kwargs</a:t>
            </a:r>
            <a:r>
              <a:rPr lang="en-US" sz="1600">
                <a:solidFill>
                  <a:srgbClr val="000000"/>
                </a:solidFill>
                <a:latin typeface="Menlo" panose="020B0609030804020204" pitchFamily="49" charset="0"/>
              </a:rPr>
              <a:t>) -&gt; </a:t>
            </a:r>
            <a:r>
              <a:rPr lang="en-US" sz="1600">
                <a:solidFill>
                  <a:srgbClr val="0000FF"/>
                </a:solidFill>
                <a:latin typeface="Menlo" panose="020B0609030804020204" pitchFamily="49" charset="0"/>
              </a:rPr>
              <a:t>None</a:t>
            </a:r>
            <a:r>
              <a:rPr lang="en-US" sz="160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</a:p>
          <a:p>
            <a:pPr>
              <a:lnSpc>
                <a:spcPts val="2025"/>
              </a:lnSpc>
              <a:buNone/>
            </a:pPr>
            <a:r>
              <a:rPr lang="en-US" sz="1600">
                <a:solidFill>
                  <a:srgbClr val="000000"/>
                </a:solidFill>
                <a:latin typeface="Menlo" panose="020B0609030804020204" pitchFamily="49" charset="0"/>
              </a:rPr>
              <a:t>    </a:t>
            </a:r>
            <a:r>
              <a:rPr lang="en-US" sz="1600">
                <a:solidFill>
                  <a:srgbClr val="001080"/>
                </a:solidFill>
                <a:latin typeface="Menlo" panose="020B0609030804020204" pitchFamily="49" charset="0"/>
              </a:rPr>
              <a:t>self</a:t>
            </a:r>
            <a:r>
              <a:rPr lang="en-US" sz="1600">
                <a:solidFill>
                  <a:srgbClr val="000000"/>
                </a:solidFill>
                <a:latin typeface="Menlo" panose="020B0609030804020204" pitchFamily="49" charset="0"/>
              </a:rPr>
              <a:t>._conn.executemany(</a:t>
            </a:r>
          </a:p>
          <a:p>
            <a:pPr>
              <a:lnSpc>
                <a:spcPts val="2025"/>
              </a:lnSpc>
              <a:buNone/>
            </a:pPr>
            <a:r>
              <a:rPr lang="en-US" sz="1600">
                <a:solidFill>
                  <a:srgbClr val="000000"/>
                </a:solidFill>
                <a:latin typeface="Menlo" panose="020B0609030804020204" pitchFamily="49" charset="0"/>
              </a:rPr>
              <a:t>      </a:t>
            </a:r>
            <a:r>
              <a:rPr lang="en-US" sz="1600">
                <a:solidFill>
                  <a:srgbClr val="A31515"/>
                </a:solidFill>
                <a:latin typeface="Menlo" panose="020B0609030804020204" pitchFamily="49" charset="0"/>
              </a:rPr>
              <a:t>"INSERT INTO messages (session_id, message_json) VALUES (?, ?)"</a:t>
            </a:r>
            <a:r>
              <a:rPr lang="en-US" sz="160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</a:p>
          <a:p>
            <a:pPr>
              <a:lnSpc>
                <a:spcPts val="2025"/>
              </a:lnSpc>
              <a:buNone/>
            </a:pPr>
            <a:r>
              <a:rPr lang="en-US" sz="1600">
                <a:solidFill>
                  <a:srgbClr val="000000"/>
                </a:solidFill>
                <a:latin typeface="Menlo" panose="020B0609030804020204" pitchFamily="49" charset="0"/>
              </a:rPr>
              <a:t>      [(</a:t>
            </a:r>
            <a:r>
              <a:rPr lang="en-US" sz="1600">
                <a:solidFill>
                  <a:srgbClr val="001080"/>
                </a:solidFill>
                <a:latin typeface="Menlo" panose="020B0609030804020204" pitchFamily="49" charset="0"/>
              </a:rPr>
              <a:t>session_id</a:t>
            </a:r>
            <a:r>
              <a:rPr lang="en-US" sz="160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sz="1600">
                <a:solidFill>
                  <a:srgbClr val="001080"/>
                </a:solidFill>
                <a:latin typeface="Menlo" panose="020B0609030804020204" pitchFamily="49" charset="0"/>
              </a:rPr>
              <a:t>msg</a:t>
            </a:r>
            <a:r>
              <a:rPr lang="en-US" sz="1600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-US" sz="1600">
                <a:solidFill>
                  <a:srgbClr val="795E26"/>
                </a:solidFill>
                <a:latin typeface="Menlo" panose="020B0609030804020204" pitchFamily="49" charset="0"/>
              </a:rPr>
              <a:t>to_json</a:t>
            </a:r>
            <a:r>
              <a:rPr lang="en-US" sz="1600">
                <a:solidFill>
                  <a:srgbClr val="000000"/>
                </a:solidFill>
                <a:latin typeface="Menlo" panose="020B0609030804020204" pitchFamily="49" charset="0"/>
              </a:rPr>
              <a:t>()) </a:t>
            </a:r>
            <a:r>
              <a:rPr lang="en-US" sz="1600">
                <a:solidFill>
                  <a:srgbClr val="AF00DB"/>
                </a:solidFill>
                <a:latin typeface="Menlo" panose="020B0609030804020204" pitchFamily="49" charset="0"/>
              </a:rPr>
              <a:t>for</a:t>
            </a:r>
            <a:r>
              <a:rPr lang="en-US" sz="16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600">
                <a:solidFill>
                  <a:srgbClr val="001080"/>
                </a:solidFill>
                <a:latin typeface="Menlo" panose="020B0609030804020204" pitchFamily="49" charset="0"/>
              </a:rPr>
              <a:t>msg</a:t>
            </a:r>
            <a:r>
              <a:rPr lang="en-US" sz="16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600">
                <a:solidFill>
                  <a:srgbClr val="AF00DB"/>
                </a:solidFill>
                <a:latin typeface="Menlo" panose="020B0609030804020204" pitchFamily="49" charset="0"/>
              </a:rPr>
              <a:t>in</a:t>
            </a:r>
            <a:r>
              <a:rPr lang="en-US" sz="16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600">
                <a:solidFill>
                  <a:srgbClr val="001080"/>
                </a:solidFill>
                <a:latin typeface="Menlo" panose="020B0609030804020204" pitchFamily="49" charset="0"/>
              </a:rPr>
              <a:t>messages</a:t>
            </a:r>
            <a:r>
              <a:rPr lang="en-US" sz="1600">
                <a:solidFill>
                  <a:srgbClr val="000000"/>
                </a:solidFill>
                <a:latin typeface="Menlo" panose="020B0609030804020204" pitchFamily="49" charset="0"/>
              </a:rPr>
              <a:t>])</a:t>
            </a:r>
          </a:p>
          <a:p>
            <a:pPr>
              <a:lnSpc>
                <a:spcPts val="2025"/>
              </a:lnSpc>
              <a:buNone/>
            </a:pPr>
            <a:r>
              <a:rPr lang="en-US" sz="1600">
                <a:solidFill>
                  <a:srgbClr val="001080"/>
                </a:solidFill>
                <a:latin typeface="Menlo" panose="020B0609030804020204" pitchFamily="49" charset="0"/>
              </a:rPr>
              <a:t>     self</a:t>
            </a:r>
            <a:r>
              <a:rPr lang="en-US" sz="1600">
                <a:solidFill>
                  <a:srgbClr val="000000"/>
                </a:solidFill>
                <a:latin typeface="Menlo" panose="020B0609030804020204" pitchFamily="49" charset="0"/>
              </a:rPr>
              <a:t>._conn.commit()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7C60F1-809B-C587-5E5D-6520E020F7C7}"/>
              </a:ext>
            </a:extLst>
          </p:cNvPr>
          <p:cNvSpPr txBox="1"/>
          <p:nvPr/>
        </p:nvSpPr>
        <p:spPr>
          <a:xfrm>
            <a:off x="1214303" y="6303613"/>
            <a:ext cx="65281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0" i="0" u="sng">
                <a:solidFill>
                  <a:srgbClr val="00008B"/>
                </a:solidFill>
                <a:effectLst/>
                <a:latin typeface="Aptos" panose="020B0004020202020204" pitchFamily="34" charset="0"/>
                <a:hlinkClick r:id="rId3"/>
              </a:rPr>
              <a:t>Full example: agent_history_sqlite.py</a:t>
            </a:r>
            <a:endParaRPr lang="en-US" sz="220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00084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2CDA8-3AA3-2198-C6AB-CBEF5E5A7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87C8B-F269-59E5-FE49-EF379CE05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Dynamic memory</a:t>
            </a:r>
          </a:p>
        </p:txBody>
      </p:sp>
    </p:spTree>
    <p:extLst>
      <p:ext uri="{BB962C8B-B14F-4D97-AF65-F5344CB8AC3E}">
        <p14:creationId xmlns:p14="http://schemas.microsoft.com/office/powerpoint/2010/main" val="15457655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DC312-E124-418A-6A0C-B6E48DF0F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83344-C4E3-5F01-F500-2709A65E3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Dynamic memory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C1A0DE3-6DBF-0DA8-2969-5384369E59EA}"/>
              </a:ext>
            </a:extLst>
          </p:cNvPr>
          <p:cNvSpPr/>
          <p:nvPr/>
        </p:nvSpPr>
        <p:spPr>
          <a:xfrm>
            <a:off x="2661924" y="1712893"/>
            <a:ext cx="5454462" cy="4931744"/>
          </a:xfrm>
          <a:prstGeom prst="roundRect">
            <a:avLst>
              <a:gd name="adj" fmla="val 3364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E56710F-665F-8F05-90CC-27F62C2829D9}"/>
              </a:ext>
            </a:extLst>
          </p:cNvPr>
          <p:cNvSpPr/>
          <p:nvPr/>
        </p:nvSpPr>
        <p:spPr bwMode="auto">
          <a:xfrm>
            <a:off x="4744430" y="3279794"/>
            <a:ext cx="929764" cy="686429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LLM</a:t>
            </a:r>
          </a:p>
        </p:txBody>
      </p:sp>
      <p:sp>
        <p:nvSpPr>
          <p:cNvPr id="23" name="Rounded Rectangular Callout 22">
            <a:extLst>
              <a:ext uri="{FF2B5EF4-FFF2-40B4-BE49-F238E27FC236}">
                <a16:creationId xmlns:a16="http://schemas.microsoft.com/office/drawing/2014/main" id="{5CEAB2A5-E755-1BA2-BB96-8986B54F6472}"/>
              </a:ext>
            </a:extLst>
          </p:cNvPr>
          <p:cNvSpPr/>
          <p:nvPr/>
        </p:nvSpPr>
        <p:spPr>
          <a:xfrm>
            <a:off x="960664" y="3189648"/>
            <a:ext cx="924077" cy="802702"/>
          </a:xfrm>
          <a:prstGeom prst="wedgeRoundRectCallou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/>
              <a:t>Input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8DCB352-2EAB-196F-5194-0CE99249DF19}"/>
              </a:ext>
            </a:extLst>
          </p:cNvPr>
          <p:cNvCxnSpPr>
            <a:cxnSpLocks/>
          </p:cNvCxnSpPr>
          <p:nvPr/>
        </p:nvCxnSpPr>
        <p:spPr>
          <a:xfrm flipH="1">
            <a:off x="3182363" y="3623008"/>
            <a:ext cx="1578522" cy="0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54AED30-38D8-B382-E9E4-925648B72F3D}"/>
              </a:ext>
            </a:extLst>
          </p:cNvPr>
          <p:cNvCxnSpPr>
            <a:cxnSpLocks/>
            <a:stCxn id="33" idx="1"/>
            <a:endCxn id="23" idx="3"/>
          </p:cNvCxnSpPr>
          <p:nvPr/>
        </p:nvCxnSpPr>
        <p:spPr>
          <a:xfrm flipH="1" flipV="1">
            <a:off x="1884741" y="3590999"/>
            <a:ext cx="340925" cy="1637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9865F2FC-DEAC-B64A-D704-265F502C0E2E}"/>
              </a:ext>
            </a:extLst>
          </p:cNvPr>
          <p:cNvSpPr/>
          <p:nvPr/>
        </p:nvSpPr>
        <p:spPr>
          <a:xfrm>
            <a:off x="2665364" y="3447958"/>
            <a:ext cx="481225" cy="33092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D0E6387-34E5-AC0F-EC9B-F7DF6FE14CAD}"/>
              </a:ext>
            </a:extLst>
          </p:cNvPr>
          <p:cNvSpPr txBox="1"/>
          <p:nvPr/>
        </p:nvSpPr>
        <p:spPr>
          <a:xfrm>
            <a:off x="2225666" y="3361803"/>
            <a:ext cx="10176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latin typeface="Aptos" panose="020B0004020202020204" pitchFamily="34" charset="0"/>
                <a:cs typeface="Segoe UI" panose="020B0502040204020203" pitchFamily="34" charset="0"/>
              </a:rPr>
              <a:t>Agent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1B802CE-3144-A583-D848-B6358843CABA}"/>
              </a:ext>
            </a:extLst>
          </p:cNvPr>
          <p:cNvSpPr txBox="1"/>
          <p:nvPr/>
        </p:nvSpPr>
        <p:spPr>
          <a:xfrm>
            <a:off x="6792683" y="3402167"/>
            <a:ext cx="16191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latin typeface="Aptos" panose="020B0004020202020204" pitchFamily="34" charset="0"/>
                <a:cs typeface="Segoe UI" panose="020B0502040204020203" pitchFamily="34" charset="0"/>
              </a:rPr>
              <a:t>Response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121B399-B10E-C26F-0CFF-AD561E2B834B}"/>
              </a:ext>
            </a:extLst>
          </p:cNvPr>
          <p:cNvSpPr txBox="1"/>
          <p:nvPr/>
        </p:nvSpPr>
        <p:spPr>
          <a:xfrm rot="3413751">
            <a:off x="4076327" y="4474158"/>
            <a:ext cx="15868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Aptos" panose="020B0004020202020204" pitchFamily="34" charset="0"/>
                <a:cs typeface="Segoe UI" panose="020B0502040204020203" pitchFamily="34" charset="0"/>
              </a:rPr>
              <a:t>retrieve memories</a:t>
            </a:r>
            <a:endParaRPr lang="en-US" sz="1400">
              <a:latin typeface="Aptos" panose="020B0004020202020204" pitchFamily="34" charset="0"/>
              <a:cs typeface="Segoe UI" panose="020B0502040204020203" pitchFamily="34" charset="0"/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49934A2-E403-4486-6E6A-02224F544C31}"/>
              </a:ext>
            </a:extLst>
          </p:cNvPr>
          <p:cNvCxnSpPr>
            <a:cxnSpLocks/>
            <a:stCxn id="43" idx="1"/>
          </p:cNvCxnSpPr>
          <p:nvPr/>
        </p:nvCxnSpPr>
        <p:spPr>
          <a:xfrm flipH="1" flipV="1">
            <a:off x="3443330" y="3613421"/>
            <a:ext cx="1398645" cy="2091393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9987EE97-BE34-5A9B-BE90-6219C74D78E4}"/>
              </a:ext>
            </a:extLst>
          </p:cNvPr>
          <p:cNvSpPr/>
          <p:nvPr/>
        </p:nvSpPr>
        <p:spPr bwMode="auto">
          <a:xfrm>
            <a:off x="4841975" y="5276337"/>
            <a:ext cx="1481966" cy="8569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Memory store</a:t>
            </a:r>
            <a:endParaRPr lang="en-US" sz="1600" b="1" err="1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149D175E-C725-13B9-BB5A-D2A2ABB53C37}"/>
              </a:ext>
            </a:extLst>
          </p:cNvPr>
          <p:cNvCxnSpPr>
            <a:cxnSpLocks/>
          </p:cNvCxnSpPr>
          <p:nvPr/>
        </p:nvCxnSpPr>
        <p:spPr>
          <a:xfrm flipH="1" flipV="1">
            <a:off x="4065918" y="3631450"/>
            <a:ext cx="1056480" cy="1644887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EAC09EE3-1B5D-0E00-F1A9-3080553E89DE}"/>
              </a:ext>
            </a:extLst>
          </p:cNvPr>
          <p:cNvSpPr txBox="1"/>
          <p:nvPr/>
        </p:nvSpPr>
        <p:spPr>
          <a:xfrm rot="3413751">
            <a:off x="3510487" y="4303442"/>
            <a:ext cx="565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Aptos" panose="020B0004020202020204" pitchFamily="34" charset="0"/>
                <a:cs typeface="Segoe UI" panose="020B0502040204020203" pitchFamily="34" charset="0"/>
              </a:rPr>
              <a:t>input</a:t>
            </a:r>
            <a:endParaRPr lang="en-US" sz="1400">
              <a:latin typeface="Aptos" panose="020B0004020202020204" pitchFamily="34" charset="0"/>
              <a:cs typeface="Segoe UI" panose="020B0502040204020203" pitchFamily="34" charset="0"/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BF63196-401F-F22B-FDFC-5A4E9E159DB8}"/>
              </a:ext>
            </a:extLst>
          </p:cNvPr>
          <p:cNvCxnSpPr>
            <a:cxnSpLocks/>
          </p:cNvCxnSpPr>
          <p:nvPr/>
        </p:nvCxnSpPr>
        <p:spPr>
          <a:xfrm flipH="1" flipV="1">
            <a:off x="5687796" y="3592635"/>
            <a:ext cx="1043924" cy="4641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E2A0304-F612-24EC-8121-FF05D0BE12CF}"/>
              </a:ext>
            </a:extLst>
          </p:cNvPr>
          <p:cNvCxnSpPr>
            <a:cxnSpLocks/>
          </p:cNvCxnSpPr>
          <p:nvPr/>
        </p:nvCxnSpPr>
        <p:spPr>
          <a:xfrm flipV="1">
            <a:off x="6143075" y="3728709"/>
            <a:ext cx="1036151" cy="1547628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EDBF61D9-91F9-A9CF-24B0-E14D4DA762BB}"/>
              </a:ext>
            </a:extLst>
          </p:cNvPr>
          <p:cNvSpPr txBox="1"/>
          <p:nvPr/>
        </p:nvSpPr>
        <p:spPr>
          <a:xfrm rot="18262211">
            <a:off x="5970062" y="4331927"/>
            <a:ext cx="11110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Aptos" panose="020B0004020202020204" pitchFamily="34" charset="0"/>
                <a:cs typeface="Segoe UI" panose="020B0502040204020203" pitchFamily="34" charset="0"/>
              </a:rPr>
              <a:t>store memory</a:t>
            </a:r>
            <a:endParaRPr lang="en-US" sz="1400">
              <a:latin typeface="Aptos" panose="020B0004020202020204" pitchFamily="34" charset="0"/>
              <a:cs typeface="Segoe UI" panose="020B0502040204020203" pitchFamily="34" charset="0"/>
            </a:endParaRPr>
          </a:p>
        </p:txBody>
      </p:sp>
      <p:sp>
        <p:nvSpPr>
          <p:cNvPr id="53" name="Curved Down Arrow 52">
            <a:extLst>
              <a:ext uri="{FF2B5EF4-FFF2-40B4-BE49-F238E27FC236}">
                <a16:creationId xmlns:a16="http://schemas.microsoft.com/office/drawing/2014/main" id="{F6D64CD9-98E3-5CDD-4C81-F7AB20936774}"/>
              </a:ext>
            </a:extLst>
          </p:cNvPr>
          <p:cNvSpPr/>
          <p:nvPr/>
        </p:nvSpPr>
        <p:spPr>
          <a:xfrm>
            <a:off x="4744430" y="2833084"/>
            <a:ext cx="855176" cy="351476"/>
          </a:xfrm>
          <a:prstGeom prst="curvedDownArrow">
            <a:avLst>
              <a:gd name="adj1" fmla="val 15244"/>
              <a:gd name="adj2" fmla="val 50000"/>
              <a:gd name="adj3" fmla="val 25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4" name="Content Placeholder 2">
            <a:extLst>
              <a:ext uri="{FF2B5EF4-FFF2-40B4-BE49-F238E27FC236}">
                <a16:creationId xmlns:a16="http://schemas.microsoft.com/office/drawing/2014/main" id="{28F8ACBC-FF16-624F-5499-1BA851762622}"/>
              </a:ext>
            </a:extLst>
          </p:cNvPr>
          <p:cNvSpPr txBox="1">
            <a:spLocks/>
          </p:cNvSpPr>
          <p:nvPr/>
        </p:nvSpPr>
        <p:spPr>
          <a:xfrm>
            <a:off x="4587322" y="2412326"/>
            <a:ext cx="1153494" cy="3323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/>
              <a:t>🛠️ Tools</a:t>
            </a: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EF7ADC87-FCE3-F7A5-DDD8-4672F813F6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07609" y="1711457"/>
            <a:ext cx="3967517" cy="473019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/>
              <a:t>Implementation matters!</a:t>
            </a:r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r>
              <a:rPr lang="en-US" sz="2400"/>
              <a:t>Retrieving memories:</a:t>
            </a:r>
          </a:p>
          <a:p>
            <a:r>
              <a:rPr lang="en-US" sz="2400"/>
              <a:t>All or only most relevant?</a:t>
            </a:r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r>
              <a:rPr lang="en-US" sz="2400"/>
              <a:t>Storing memories:</a:t>
            </a:r>
          </a:p>
          <a:p>
            <a:r>
              <a:rPr lang="en-US" sz="2400"/>
              <a:t>Whole message? </a:t>
            </a:r>
          </a:p>
          <a:p>
            <a:r>
              <a:rPr lang="en-US" sz="2400"/>
              <a:t>LLM-synthesized memory?</a:t>
            </a:r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r>
              <a:rPr lang="en-US" sz="2400"/>
              <a:t>Forgetting memories: </a:t>
            </a:r>
          </a:p>
          <a:p>
            <a:r>
              <a:rPr lang="en-US" sz="2400"/>
              <a:t>Oldest? Obsolete?</a:t>
            </a:r>
          </a:p>
        </p:txBody>
      </p:sp>
    </p:spTree>
    <p:extLst>
      <p:ext uri="{BB962C8B-B14F-4D97-AF65-F5344CB8AC3E}">
        <p14:creationId xmlns:p14="http://schemas.microsoft.com/office/powerpoint/2010/main" val="28064731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1A91D-3543-36AE-04E4-BC62E3B15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C3B41-7A3A-E2D4-49A7-D30B9850D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Dynamic memory with Redis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36ECDAF-FE32-BA30-569E-529CF4EA5B5F}"/>
              </a:ext>
            </a:extLst>
          </p:cNvPr>
          <p:cNvSpPr/>
          <p:nvPr/>
        </p:nvSpPr>
        <p:spPr bwMode="auto">
          <a:xfrm>
            <a:off x="4744430" y="2667891"/>
            <a:ext cx="929764" cy="686429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LLM</a:t>
            </a:r>
          </a:p>
        </p:txBody>
      </p:sp>
      <p:sp>
        <p:nvSpPr>
          <p:cNvPr id="23" name="Rounded Rectangular Callout 22">
            <a:extLst>
              <a:ext uri="{FF2B5EF4-FFF2-40B4-BE49-F238E27FC236}">
                <a16:creationId xmlns:a16="http://schemas.microsoft.com/office/drawing/2014/main" id="{EC1E6F60-FD23-DBEF-AC87-4E913FD45D69}"/>
              </a:ext>
            </a:extLst>
          </p:cNvPr>
          <p:cNvSpPr/>
          <p:nvPr/>
        </p:nvSpPr>
        <p:spPr>
          <a:xfrm>
            <a:off x="960664" y="2577745"/>
            <a:ext cx="924077" cy="802702"/>
          </a:xfrm>
          <a:prstGeom prst="wedgeRoundRectCallou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/>
              <a:t>Input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2190BF0-3EC5-1B67-CBB1-21DAF7CBDA2A}"/>
              </a:ext>
            </a:extLst>
          </p:cNvPr>
          <p:cNvCxnSpPr>
            <a:cxnSpLocks/>
          </p:cNvCxnSpPr>
          <p:nvPr/>
        </p:nvCxnSpPr>
        <p:spPr>
          <a:xfrm flipH="1">
            <a:off x="3182363" y="3011105"/>
            <a:ext cx="1578522" cy="0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F147011-726D-2D5B-8433-97B08655B84A}"/>
              </a:ext>
            </a:extLst>
          </p:cNvPr>
          <p:cNvCxnSpPr>
            <a:cxnSpLocks/>
            <a:stCxn id="33" idx="1"/>
            <a:endCxn id="23" idx="3"/>
          </p:cNvCxnSpPr>
          <p:nvPr/>
        </p:nvCxnSpPr>
        <p:spPr>
          <a:xfrm flipH="1" flipV="1">
            <a:off x="1884741" y="2979096"/>
            <a:ext cx="340925" cy="1637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FDADAE55-8816-716F-8542-A96EABC7AF26}"/>
              </a:ext>
            </a:extLst>
          </p:cNvPr>
          <p:cNvSpPr txBox="1"/>
          <p:nvPr/>
        </p:nvSpPr>
        <p:spPr>
          <a:xfrm>
            <a:off x="2225666" y="2749900"/>
            <a:ext cx="10176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latin typeface="Aptos" panose="020B0004020202020204" pitchFamily="34" charset="0"/>
                <a:cs typeface="Segoe UI" panose="020B0502040204020203" pitchFamily="34" charset="0"/>
              </a:rPr>
              <a:t>Agent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6B2A0AF-1C92-3A5A-76E7-DC21032E03C5}"/>
              </a:ext>
            </a:extLst>
          </p:cNvPr>
          <p:cNvSpPr txBox="1"/>
          <p:nvPr/>
        </p:nvSpPr>
        <p:spPr>
          <a:xfrm>
            <a:off x="6792683" y="2790264"/>
            <a:ext cx="16191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latin typeface="Aptos" panose="020B0004020202020204" pitchFamily="34" charset="0"/>
                <a:cs typeface="Segoe UI" panose="020B0502040204020203" pitchFamily="34" charset="0"/>
              </a:rPr>
              <a:t>Response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D1D94AF-8B90-4891-ABD6-4AE556CE3608}"/>
              </a:ext>
            </a:extLst>
          </p:cNvPr>
          <p:cNvCxnSpPr>
            <a:cxnSpLocks/>
          </p:cNvCxnSpPr>
          <p:nvPr/>
        </p:nvCxnSpPr>
        <p:spPr>
          <a:xfrm flipH="1" flipV="1">
            <a:off x="5687796" y="2980732"/>
            <a:ext cx="1043924" cy="4641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urved Down Arrow 52">
            <a:extLst>
              <a:ext uri="{FF2B5EF4-FFF2-40B4-BE49-F238E27FC236}">
                <a16:creationId xmlns:a16="http://schemas.microsoft.com/office/drawing/2014/main" id="{9CC49F2A-EFB7-8243-437F-C3B76EA8AC02}"/>
              </a:ext>
            </a:extLst>
          </p:cNvPr>
          <p:cNvSpPr/>
          <p:nvPr/>
        </p:nvSpPr>
        <p:spPr>
          <a:xfrm>
            <a:off x="4744430" y="2221181"/>
            <a:ext cx="855176" cy="351476"/>
          </a:xfrm>
          <a:prstGeom prst="curvedDownArrow">
            <a:avLst>
              <a:gd name="adj1" fmla="val 15244"/>
              <a:gd name="adj2" fmla="val 50000"/>
              <a:gd name="adj3" fmla="val 25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4" name="Content Placeholder 2">
            <a:extLst>
              <a:ext uri="{FF2B5EF4-FFF2-40B4-BE49-F238E27FC236}">
                <a16:creationId xmlns:a16="http://schemas.microsoft.com/office/drawing/2014/main" id="{70F98B41-3080-2FE8-A526-1CC0B46EACBA}"/>
              </a:ext>
            </a:extLst>
          </p:cNvPr>
          <p:cNvSpPr txBox="1">
            <a:spLocks/>
          </p:cNvSpPr>
          <p:nvPr/>
        </p:nvSpPr>
        <p:spPr>
          <a:xfrm>
            <a:off x="4587322" y="1800423"/>
            <a:ext cx="1153494" cy="3323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/>
              <a:t>🛠️ Tools</a:t>
            </a: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A28E2E0C-531B-151B-8A2F-0E07931D9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5885" y="1641925"/>
            <a:ext cx="3967517" cy="473019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RedisProvider:</a:t>
            </a:r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r>
              <a:rPr lang="en-US" sz="2400" b="1"/>
              <a:t>Retrieving memories:</a:t>
            </a:r>
          </a:p>
          <a:p>
            <a:r>
              <a:rPr lang="en-US" sz="2400"/>
              <a:t>Searches with full-text, vector, or hybrid search</a:t>
            </a:r>
          </a:p>
          <a:p>
            <a:pPr marL="0" indent="0">
              <a:spcBef>
                <a:spcPts val="2200"/>
              </a:spcBef>
              <a:buNone/>
            </a:pPr>
            <a:r>
              <a:rPr lang="en-US" sz="2400" b="1"/>
              <a:t>Storing memories:</a:t>
            </a:r>
          </a:p>
          <a:p>
            <a:r>
              <a:rPr lang="en-US" sz="2400"/>
              <a:t>Entire user and assistant messages (no tool calls)</a:t>
            </a:r>
          </a:p>
          <a:p>
            <a:pPr marL="0" indent="0">
              <a:spcBef>
                <a:spcPts val="2200"/>
              </a:spcBef>
              <a:buNone/>
            </a:pPr>
            <a:r>
              <a:rPr lang="en-US" sz="2400" b="1"/>
              <a:t>Forgetting memories: </a:t>
            </a:r>
          </a:p>
          <a:p>
            <a:r>
              <a:rPr lang="en-US" sz="2400"/>
              <a:t>No mechanism- memories remain forever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985A89-8FF4-620A-F63E-5F899D6E7403}"/>
              </a:ext>
            </a:extLst>
          </p:cNvPr>
          <p:cNvSpPr txBox="1"/>
          <p:nvPr/>
        </p:nvSpPr>
        <p:spPr>
          <a:xfrm>
            <a:off x="1132793" y="227425"/>
            <a:ext cx="3168620" cy="461665"/>
          </a:xfrm>
          <a:prstGeom prst="rect">
            <a:avLst/>
          </a:prstGeom>
          <a:solidFill>
            <a:schemeClr val="accent3"/>
          </a:solidFill>
          <a:effectLst>
            <a:softEdge rad="31750"/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agent-framework</a:t>
            </a:r>
          </a:p>
        </p:txBody>
      </p:sp>
      <p:pic>
        <p:nvPicPr>
          <p:cNvPr id="8" name="Graphic 7" descr="Database with solid fill">
            <a:extLst>
              <a:ext uri="{FF2B5EF4-FFF2-40B4-BE49-F238E27FC236}">
                <a16:creationId xmlns:a16="http://schemas.microsoft.com/office/drawing/2014/main" id="{653B830E-7366-F8D0-D278-3900D0D7B5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33460" y="5529436"/>
            <a:ext cx="1197180" cy="475859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C83F4C9-1B0A-F575-9851-EF0A0DD0D29C}"/>
              </a:ext>
            </a:extLst>
          </p:cNvPr>
          <p:cNvCxnSpPr>
            <a:cxnSpLocks/>
          </p:cNvCxnSpPr>
          <p:nvPr/>
        </p:nvCxnSpPr>
        <p:spPr>
          <a:xfrm>
            <a:off x="4987780" y="5222521"/>
            <a:ext cx="0" cy="304966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7248200-4F34-9F40-5FD6-6A0A97D93FE8}"/>
              </a:ext>
            </a:extLst>
          </p:cNvPr>
          <p:cNvSpPr txBox="1"/>
          <p:nvPr/>
        </p:nvSpPr>
        <p:spPr>
          <a:xfrm>
            <a:off x="4754842" y="5906290"/>
            <a:ext cx="9736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solidFill>
                  <a:srgbClr val="FF0000"/>
                </a:solidFill>
                <a:latin typeface="Aptos" panose="020B0004020202020204" pitchFamily="34" charset="0"/>
                <a:cs typeface="Segoe UI" panose="020B0502040204020203" pitchFamily="34" charset="0"/>
              </a:rPr>
              <a:t>Redis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5434DC4-85EB-21B2-3101-2818B5B39BE6}"/>
              </a:ext>
            </a:extLst>
          </p:cNvPr>
          <p:cNvCxnSpPr>
            <a:cxnSpLocks/>
          </p:cNvCxnSpPr>
          <p:nvPr/>
        </p:nvCxnSpPr>
        <p:spPr>
          <a:xfrm flipV="1">
            <a:off x="5451789" y="5222521"/>
            <a:ext cx="0" cy="295833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F221869-0CA2-769C-5A62-820DC36477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2596956"/>
              </p:ext>
            </p:extLst>
          </p:nvPr>
        </p:nvGraphicFramePr>
        <p:xfrm>
          <a:off x="5728444" y="5366532"/>
          <a:ext cx="2053236" cy="102547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52837">
                  <a:extLst>
                    <a:ext uri="{9D8B030D-6E8A-4147-A177-3AD203B41FA5}">
                      <a16:colId xmlns:a16="http://schemas.microsoft.com/office/drawing/2014/main" val="3698272983"/>
                    </a:ext>
                  </a:extLst>
                </a:gridCol>
                <a:gridCol w="1400399">
                  <a:extLst>
                    <a:ext uri="{9D8B030D-6E8A-4147-A177-3AD203B41FA5}">
                      <a16:colId xmlns:a16="http://schemas.microsoft.com/office/drawing/2014/main" val="267783004"/>
                    </a:ext>
                  </a:extLst>
                </a:gridCol>
              </a:tblGrid>
              <a:tr h="222057">
                <a:tc>
                  <a:txBody>
                    <a:bodyPr/>
                    <a:lstStyle/>
                    <a:p>
                      <a:r>
                        <a:rPr lang="en-US" sz="100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0715843"/>
                  </a:ext>
                </a:extLst>
              </a:tr>
              <a:tr h="264216">
                <a:tc>
                  <a:txBody>
                    <a:bodyPr/>
                    <a:lstStyle/>
                    <a:p>
                      <a:r>
                        <a:rPr lang="en-US" sz="1000"/>
                        <a:t>userA_0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user: weather in CA?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514979"/>
                  </a:ext>
                </a:extLst>
              </a:tr>
              <a:tr h="258707">
                <a:tc>
                  <a:txBody>
                    <a:bodyPr/>
                    <a:lstStyle/>
                    <a:p>
                      <a:r>
                        <a:rPr lang="en-US" sz="1000"/>
                        <a:t>userA_1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assistant: sunny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329458"/>
                  </a:ext>
                </a:extLst>
              </a:tr>
              <a:tr h="258707">
                <a:tc>
                  <a:txBody>
                    <a:bodyPr/>
                    <a:lstStyle/>
                    <a:p>
                      <a:r>
                        <a:rPr lang="en-US" sz="1000"/>
                        <a:t>userA_2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user: awesome!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861039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927EEE91-404B-B1AD-7E15-939B377DE24E}"/>
              </a:ext>
            </a:extLst>
          </p:cNvPr>
          <p:cNvSpPr txBox="1"/>
          <p:nvPr/>
        </p:nvSpPr>
        <p:spPr>
          <a:xfrm rot="3413751">
            <a:off x="3773507" y="3846482"/>
            <a:ext cx="15868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Aptos" panose="020B0004020202020204" pitchFamily="34" charset="0"/>
                <a:cs typeface="Segoe UI" panose="020B0502040204020203" pitchFamily="34" charset="0"/>
              </a:rPr>
              <a:t>retrieve memories</a:t>
            </a:r>
            <a:endParaRPr lang="en-US" sz="1400">
              <a:latin typeface="Aptos" panose="020B0004020202020204" pitchFamily="34" charset="0"/>
              <a:cs typeface="Segoe UI" panose="020B0502040204020203" pitchFamily="34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06D4165-91DF-3FB4-F404-AE83B44E5D1D}"/>
              </a:ext>
            </a:extLst>
          </p:cNvPr>
          <p:cNvCxnSpPr>
            <a:cxnSpLocks/>
          </p:cNvCxnSpPr>
          <p:nvPr/>
        </p:nvCxnSpPr>
        <p:spPr>
          <a:xfrm flipH="1" flipV="1">
            <a:off x="3288751" y="3019547"/>
            <a:ext cx="1146149" cy="1644887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2B642342-58A9-A514-0D04-B6DAB6F120B8}"/>
              </a:ext>
            </a:extLst>
          </p:cNvPr>
          <p:cNvSpPr/>
          <p:nvPr/>
        </p:nvSpPr>
        <p:spPr bwMode="auto">
          <a:xfrm>
            <a:off x="4225551" y="4664434"/>
            <a:ext cx="2043477" cy="59256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RedisProvider</a:t>
            </a:r>
            <a:endParaRPr lang="en-US" sz="1600" b="1" err="1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9FA5A77-8FB8-397D-B841-564716BF8C1E}"/>
              </a:ext>
            </a:extLst>
          </p:cNvPr>
          <p:cNvCxnSpPr>
            <a:cxnSpLocks/>
          </p:cNvCxnSpPr>
          <p:nvPr/>
        </p:nvCxnSpPr>
        <p:spPr>
          <a:xfrm flipH="1" flipV="1">
            <a:off x="3763098" y="3003774"/>
            <a:ext cx="1095258" cy="1660660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E5E8848-6558-3291-BD52-764F75624F1B}"/>
              </a:ext>
            </a:extLst>
          </p:cNvPr>
          <p:cNvSpPr txBox="1"/>
          <p:nvPr/>
        </p:nvSpPr>
        <p:spPr>
          <a:xfrm rot="3413751">
            <a:off x="3825843" y="3823947"/>
            <a:ext cx="565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Aptos" panose="020B0004020202020204" pitchFamily="34" charset="0"/>
                <a:cs typeface="Segoe UI" panose="020B0502040204020203" pitchFamily="34" charset="0"/>
              </a:rPr>
              <a:t>input</a:t>
            </a:r>
            <a:endParaRPr lang="en-US" sz="1400">
              <a:latin typeface="Aptos" panose="020B0004020202020204" pitchFamily="34" charset="0"/>
              <a:cs typeface="Segoe UI" panose="020B0502040204020203" pitchFamily="34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138F9D6-A9F7-A32C-A8B5-559A36A1350B}"/>
              </a:ext>
            </a:extLst>
          </p:cNvPr>
          <p:cNvCxnSpPr>
            <a:cxnSpLocks/>
          </p:cNvCxnSpPr>
          <p:nvPr/>
        </p:nvCxnSpPr>
        <p:spPr>
          <a:xfrm flipV="1">
            <a:off x="6143075" y="3116806"/>
            <a:ext cx="1036151" cy="1547628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E9EE340-C491-03E9-EE73-279433287EBB}"/>
              </a:ext>
            </a:extLst>
          </p:cNvPr>
          <p:cNvSpPr txBox="1"/>
          <p:nvPr/>
        </p:nvSpPr>
        <p:spPr>
          <a:xfrm rot="18262211">
            <a:off x="5970062" y="3720024"/>
            <a:ext cx="11110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Aptos" panose="020B0004020202020204" pitchFamily="34" charset="0"/>
                <a:cs typeface="Segoe UI" panose="020B0502040204020203" pitchFamily="34" charset="0"/>
              </a:rPr>
              <a:t>store memory</a:t>
            </a:r>
            <a:endParaRPr lang="en-US" sz="1400">
              <a:latin typeface="Aptos" panose="020B000402020202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72051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48CB1-70E6-7F5F-FE31-7DBBD5533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46815-96D9-4361-F765-671A216DF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Dynamic memory with Redis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66E3B4-0CB6-8E79-EF21-7574C4F4A8A6}"/>
              </a:ext>
            </a:extLst>
          </p:cNvPr>
          <p:cNvSpPr txBox="1"/>
          <p:nvPr/>
        </p:nvSpPr>
        <p:spPr>
          <a:xfrm>
            <a:off x="1132793" y="227425"/>
            <a:ext cx="3168620" cy="461665"/>
          </a:xfrm>
          <a:prstGeom prst="rect">
            <a:avLst/>
          </a:prstGeom>
          <a:solidFill>
            <a:schemeClr val="accent3"/>
          </a:solidFill>
          <a:effectLst>
            <a:softEdge rad="31750"/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agent-framework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7F917E-78D4-DD4D-4321-31EBEE325D3A}"/>
              </a:ext>
            </a:extLst>
          </p:cNvPr>
          <p:cNvSpPr txBox="1"/>
          <p:nvPr/>
        </p:nvSpPr>
        <p:spPr>
          <a:xfrm>
            <a:off x="1203911" y="1640661"/>
            <a:ext cx="10134648" cy="455509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agent_framework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redis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RedisContextProvider</a:t>
            </a:r>
            <a:endParaRPr lang="en-US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endParaRPr lang="en-US">
              <a:solidFill>
                <a:srgbClr val="000000"/>
              </a:solidFill>
              <a:latin typeface="Consolas" panose="020B0609020204030204" pitchFamily="49" charset="0"/>
              <a:ea typeface="Menlo" panose="020B060903080402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</a:pP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user_id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 = 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str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(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uuid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uuid4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())</a:t>
            </a:r>
          </a:p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memory_provider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RedisContextProvider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>
              <a:lnSpc>
                <a:spcPts val="2025"/>
              </a:lnSpc>
            </a:pP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redis_url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>
                <a:solidFill>
                  <a:srgbClr val="0070C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REDIS_URL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ts val="2025"/>
              </a:lnSpc>
            </a:pP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index_name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"agent_memory_demo"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ts val="2025"/>
              </a:lnSpc>
            </a:pP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overwrite_index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ts val="2025"/>
              </a:lnSpc>
            </a:pP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prefix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"memory_demo"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ts val="2025"/>
              </a:lnSpc>
            </a:pP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application_id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"weather_app"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ts val="2025"/>
              </a:lnSpc>
            </a:pP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agent_id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"weather_agent"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ts val="2025"/>
              </a:lnSpc>
            </a:pP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user_id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user_id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,</a:t>
            </a:r>
            <a:endParaRPr lang="en-US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en-US" b="0">
              <a:solidFill>
                <a:srgbClr val="001080"/>
              </a:solidFill>
              <a:effectLst/>
              <a:latin typeface="Consolas" panose="020B0609020204030204" pitchFamily="49" charset="0"/>
              <a:ea typeface="Menlo" panose="020B060903080402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agent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 =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Agent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(</a:t>
            </a:r>
          </a:p>
          <a:p>
            <a:pPr>
              <a:buNone/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  client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=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OpenAIChatClient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(),</a:t>
            </a:r>
          </a:p>
          <a:p>
            <a:pPr>
              <a:buNone/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  instructions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=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"You are a helpful weather assistant."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,</a:t>
            </a:r>
          </a:p>
          <a:p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  context_providers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=[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memory_provider]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,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  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tools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=[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get_weather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757172-89D5-7D8E-119A-994556677BD1}"/>
              </a:ext>
            </a:extLst>
          </p:cNvPr>
          <p:cNvSpPr txBox="1"/>
          <p:nvPr/>
        </p:nvSpPr>
        <p:spPr>
          <a:xfrm>
            <a:off x="1203911" y="6199688"/>
            <a:ext cx="65281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0" i="0" u="sng">
                <a:solidFill>
                  <a:srgbClr val="00008B"/>
                </a:solidFill>
                <a:effectLst/>
                <a:latin typeface="Aptos" panose="020B0004020202020204" pitchFamily="34" charset="0"/>
                <a:hlinkClick r:id="rId2"/>
              </a:rPr>
              <a:t>Full example: agent_memory_redis.py</a:t>
            </a:r>
            <a:endParaRPr lang="en-US" sz="220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37334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91FAC-6880-0794-C09F-9F19BD430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A54F8-A849-B24C-97E2-34E85AC15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Dynamic memory with Mem0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A493949-777B-9A02-1D77-AF501D1A0083}"/>
              </a:ext>
            </a:extLst>
          </p:cNvPr>
          <p:cNvSpPr/>
          <p:nvPr/>
        </p:nvSpPr>
        <p:spPr bwMode="auto">
          <a:xfrm>
            <a:off x="4744430" y="2667891"/>
            <a:ext cx="929764" cy="686429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LLM</a:t>
            </a:r>
          </a:p>
        </p:txBody>
      </p:sp>
      <p:sp>
        <p:nvSpPr>
          <p:cNvPr id="23" name="Rounded Rectangular Callout 22">
            <a:extLst>
              <a:ext uri="{FF2B5EF4-FFF2-40B4-BE49-F238E27FC236}">
                <a16:creationId xmlns:a16="http://schemas.microsoft.com/office/drawing/2014/main" id="{0AF67B34-413D-8652-110E-7966D659B8E8}"/>
              </a:ext>
            </a:extLst>
          </p:cNvPr>
          <p:cNvSpPr/>
          <p:nvPr/>
        </p:nvSpPr>
        <p:spPr>
          <a:xfrm>
            <a:off x="960664" y="2577745"/>
            <a:ext cx="924077" cy="802702"/>
          </a:xfrm>
          <a:prstGeom prst="wedgeRoundRectCallou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/>
              <a:t>Input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1D26A37-3B0B-E8F6-D566-246562616FA7}"/>
              </a:ext>
            </a:extLst>
          </p:cNvPr>
          <p:cNvCxnSpPr>
            <a:cxnSpLocks/>
          </p:cNvCxnSpPr>
          <p:nvPr/>
        </p:nvCxnSpPr>
        <p:spPr>
          <a:xfrm flipH="1">
            <a:off x="3182363" y="3011105"/>
            <a:ext cx="1578522" cy="0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04D5688-6A25-17DE-D3DC-48FE46FFE067}"/>
              </a:ext>
            </a:extLst>
          </p:cNvPr>
          <p:cNvCxnSpPr>
            <a:cxnSpLocks/>
            <a:stCxn id="33" idx="1"/>
            <a:endCxn id="23" idx="3"/>
          </p:cNvCxnSpPr>
          <p:nvPr/>
        </p:nvCxnSpPr>
        <p:spPr>
          <a:xfrm flipH="1" flipV="1">
            <a:off x="1884741" y="2979096"/>
            <a:ext cx="340925" cy="1637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A503E43-9A6F-263A-0475-FD38C9A48868}"/>
              </a:ext>
            </a:extLst>
          </p:cNvPr>
          <p:cNvSpPr txBox="1"/>
          <p:nvPr/>
        </p:nvSpPr>
        <p:spPr>
          <a:xfrm>
            <a:off x="2225666" y="2749900"/>
            <a:ext cx="10176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latin typeface="Aptos" panose="020B0004020202020204" pitchFamily="34" charset="0"/>
                <a:cs typeface="Segoe UI" panose="020B0502040204020203" pitchFamily="34" charset="0"/>
              </a:rPr>
              <a:t>Agent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767BA8E-F776-E93A-1652-E2905385E00D}"/>
              </a:ext>
            </a:extLst>
          </p:cNvPr>
          <p:cNvSpPr txBox="1"/>
          <p:nvPr/>
        </p:nvSpPr>
        <p:spPr>
          <a:xfrm>
            <a:off x="6792683" y="2790264"/>
            <a:ext cx="16191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latin typeface="Aptos" panose="020B0004020202020204" pitchFamily="34" charset="0"/>
                <a:cs typeface="Segoe UI" panose="020B0502040204020203" pitchFamily="34" charset="0"/>
              </a:rPr>
              <a:t>Response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8801E2A-FF35-92D0-BF58-DD7FB538A2D4}"/>
              </a:ext>
            </a:extLst>
          </p:cNvPr>
          <p:cNvSpPr txBox="1"/>
          <p:nvPr/>
        </p:nvSpPr>
        <p:spPr>
          <a:xfrm rot="3413751">
            <a:off x="3773507" y="3846482"/>
            <a:ext cx="15868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Aptos" panose="020B0004020202020204" pitchFamily="34" charset="0"/>
                <a:cs typeface="Segoe UI" panose="020B0502040204020203" pitchFamily="34" charset="0"/>
              </a:rPr>
              <a:t>retrieve memories</a:t>
            </a:r>
            <a:endParaRPr lang="en-US" sz="1400">
              <a:latin typeface="Aptos" panose="020B0004020202020204" pitchFamily="34" charset="0"/>
              <a:cs typeface="Segoe UI" panose="020B0502040204020203" pitchFamily="34" charset="0"/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7254FCB-7D46-F527-E2A4-9DE86D234100}"/>
              </a:ext>
            </a:extLst>
          </p:cNvPr>
          <p:cNvCxnSpPr>
            <a:cxnSpLocks/>
          </p:cNvCxnSpPr>
          <p:nvPr/>
        </p:nvCxnSpPr>
        <p:spPr>
          <a:xfrm flipH="1" flipV="1">
            <a:off x="3288751" y="3019547"/>
            <a:ext cx="1146149" cy="1644887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65CD6693-A816-5A56-B213-3C0A445FEB21}"/>
              </a:ext>
            </a:extLst>
          </p:cNvPr>
          <p:cNvSpPr/>
          <p:nvPr/>
        </p:nvSpPr>
        <p:spPr bwMode="auto">
          <a:xfrm>
            <a:off x="4225551" y="4664434"/>
            <a:ext cx="2043477" cy="59256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Mem0Provider</a:t>
            </a:r>
            <a:endParaRPr lang="en-US" sz="1600" b="1" err="1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1BB2784C-9163-D683-56DA-3266A71C59BE}"/>
              </a:ext>
            </a:extLst>
          </p:cNvPr>
          <p:cNvCxnSpPr>
            <a:cxnSpLocks/>
          </p:cNvCxnSpPr>
          <p:nvPr/>
        </p:nvCxnSpPr>
        <p:spPr>
          <a:xfrm flipH="1" flipV="1">
            <a:off x="3763098" y="3003774"/>
            <a:ext cx="1095258" cy="1660660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5284115D-EBD3-8F12-6A31-4E53B5A63444}"/>
              </a:ext>
            </a:extLst>
          </p:cNvPr>
          <p:cNvSpPr txBox="1"/>
          <p:nvPr/>
        </p:nvSpPr>
        <p:spPr>
          <a:xfrm rot="3413751">
            <a:off x="3825843" y="3823947"/>
            <a:ext cx="565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Aptos" panose="020B0004020202020204" pitchFamily="34" charset="0"/>
                <a:cs typeface="Segoe UI" panose="020B0502040204020203" pitchFamily="34" charset="0"/>
              </a:rPr>
              <a:t>input</a:t>
            </a:r>
            <a:endParaRPr lang="en-US" sz="1400">
              <a:latin typeface="Aptos" panose="020B0004020202020204" pitchFamily="34" charset="0"/>
              <a:cs typeface="Segoe UI" panose="020B0502040204020203" pitchFamily="34" charset="0"/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CDF1162-31F9-35D7-801F-B80B5A44402E}"/>
              </a:ext>
            </a:extLst>
          </p:cNvPr>
          <p:cNvCxnSpPr>
            <a:cxnSpLocks/>
          </p:cNvCxnSpPr>
          <p:nvPr/>
        </p:nvCxnSpPr>
        <p:spPr>
          <a:xfrm flipH="1" flipV="1">
            <a:off x="5687796" y="2980732"/>
            <a:ext cx="1043924" cy="4641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BDCE730-ADDD-7855-A533-69E5023B0D9E}"/>
              </a:ext>
            </a:extLst>
          </p:cNvPr>
          <p:cNvCxnSpPr>
            <a:cxnSpLocks/>
          </p:cNvCxnSpPr>
          <p:nvPr/>
        </p:nvCxnSpPr>
        <p:spPr>
          <a:xfrm flipV="1">
            <a:off x="6143075" y="3116806"/>
            <a:ext cx="1036151" cy="1547628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82877D4C-F881-C197-5FD4-7B5CC77AFFBC}"/>
              </a:ext>
            </a:extLst>
          </p:cNvPr>
          <p:cNvSpPr txBox="1"/>
          <p:nvPr/>
        </p:nvSpPr>
        <p:spPr>
          <a:xfrm rot="18262211">
            <a:off x="5690129" y="4017370"/>
            <a:ext cx="14316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Aptos" panose="020B0004020202020204" pitchFamily="34" charset="0"/>
                <a:cs typeface="Segoe UI" panose="020B0502040204020203" pitchFamily="34" charset="0"/>
              </a:rPr>
              <a:t>add/update/del memory</a:t>
            </a:r>
            <a:endParaRPr lang="en-US" sz="1400">
              <a:latin typeface="Aptos" panose="020B0004020202020204" pitchFamily="34" charset="0"/>
              <a:cs typeface="Segoe UI" panose="020B0502040204020203" pitchFamily="34" charset="0"/>
            </a:endParaRPr>
          </a:p>
        </p:txBody>
      </p:sp>
      <p:sp>
        <p:nvSpPr>
          <p:cNvPr id="53" name="Curved Down Arrow 52">
            <a:extLst>
              <a:ext uri="{FF2B5EF4-FFF2-40B4-BE49-F238E27FC236}">
                <a16:creationId xmlns:a16="http://schemas.microsoft.com/office/drawing/2014/main" id="{511C6872-589B-C791-A377-4C12C48EC54A}"/>
              </a:ext>
            </a:extLst>
          </p:cNvPr>
          <p:cNvSpPr/>
          <p:nvPr/>
        </p:nvSpPr>
        <p:spPr>
          <a:xfrm>
            <a:off x="4744430" y="2221181"/>
            <a:ext cx="855176" cy="351476"/>
          </a:xfrm>
          <a:prstGeom prst="curvedDownArrow">
            <a:avLst>
              <a:gd name="adj1" fmla="val 15244"/>
              <a:gd name="adj2" fmla="val 50000"/>
              <a:gd name="adj3" fmla="val 25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4" name="Content Placeholder 2">
            <a:extLst>
              <a:ext uri="{FF2B5EF4-FFF2-40B4-BE49-F238E27FC236}">
                <a16:creationId xmlns:a16="http://schemas.microsoft.com/office/drawing/2014/main" id="{F42B5D3C-AA5E-F4F0-91AD-5C694917BEA6}"/>
              </a:ext>
            </a:extLst>
          </p:cNvPr>
          <p:cNvSpPr txBox="1">
            <a:spLocks/>
          </p:cNvSpPr>
          <p:nvPr/>
        </p:nvSpPr>
        <p:spPr>
          <a:xfrm>
            <a:off x="4587322" y="1800423"/>
            <a:ext cx="1153494" cy="3323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/>
              <a:t>🛠️ Tools</a:t>
            </a: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8393EC8B-4C3C-D516-A687-D1249A920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2341" y="1641925"/>
            <a:ext cx="4081062" cy="50278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Mem0Provider:</a:t>
            </a:r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r>
              <a:rPr lang="en-US" sz="2400" b="1"/>
              <a:t>Retrieving memories:</a:t>
            </a:r>
          </a:p>
          <a:p>
            <a:r>
              <a:rPr lang="en-US" sz="2400"/>
              <a:t>Searches the associated database (Qdrant default)</a:t>
            </a:r>
          </a:p>
          <a:p>
            <a:pPr marL="0" indent="0">
              <a:spcBef>
                <a:spcPts val="2200"/>
              </a:spcBef>
              <a:buNone/>
            </a:pPr>
            <a:r>
              <a:rPr lang="en-US" sz="2400" b="1"/>
              <a:t>Storing memories:</a:t>
            </a:r>
          </a:p>
          <a:p>
            <a:r>
              <a:rPr lang="en-US" sz="2300"/>
              <a:t>LLM suggests new memories</a:t>
            </a:r>
          </a:p>
          <a:p>
            <a:pPr marL="0" indent="0">
              <a:spcBef>
                <a:spcPts val="2200"/>
              </a:spcBef>
              <a:buNone/>
            </a:pPr>
            <a:r>
              <a:rPr lang="en-US" sz="2400" b="1"/>
              <a:t>Forgetting memories: </a:t>
            </a:r>
          </a:p>
          <a:p>
            <a:r>
              <a:rPr lang="en-US" sz="2400"/>
              <a:t>LLM suggests memory removal or updating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26CE9E-F0D6-5D0B-B9D6-6470DEDA8C12}"/>
              </a:ext>
            </a:extLst>
          </p:cNvPr>
          <p:cNvSpPr txBox="1"/>
          <p:nvPr/>
        </p:nvSpPr>
        <p:spPr>
          <a:xfrm>
            <a:off x="1132793" y="227425"/>
            <a:ext cx="3168620" cy="461665"/>
          </a:xfrm>
          <a:prstGeom prst="rect">
            <a:avLst/>
          </a:prstGeom>
          <a:solidFill>
            <a:schemeClr val="accent3"/>
          </a:solidFill>
          <a:effectLst>
            <a:softEdge rad="31750"/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agent-framework</a:t>
            </a:r>
          </a:p>
        </p:txBody>
      </p:sp>
      <p:pic>
        <p:nvPicPr>
          <p:cNvPr id="8" name="Graphic 7" descr="Database with solid fill">
            <a:extLst>
              <a:ext uri="{FF2B5EF4-FFF2-40B4-BE49-F238E27FC236}">
                <a16:creationId xmlns:a16="http://schemas.microsoft.com/office/drawing/2014/main" id="{12B01751-F5B6-9EE8-D7D5-581D80E2E0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94555" y="5548600"/>
            <a:ext cx="1197180" cy="475859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0156742-5B27-DAED-CE32-78654B908F00}"/>
              </a:ext>
            </a:extLst>
          </p:cNvPr>
          <p:cNvCxnSpPr>
            <a:cxnSpLocks/>
          </p:cNvCxnSpPr>
          <p:nvPr/>
        </p:nvCxnSpPr>
        <p:spPr>
          <a:xfrm>
            <a:off x="4948875" y="5241685"/>
            <a:ext cx="0" cy="304966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9E575DA-BB87-A0A2-0351-C3DF4C4F2B41}"/>
              </a:ext>
            </a:extLst>
          </p:cNvPr>
          <p:cNvSpPr txBox="1"/>
          <p:nvPr/>
        </p:nvSpPr>
        <p:spPr>
          <a:xfrm>
            <a:off x="4581092" y="5943384"/>
            <a:ext cx="12002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latin typeface="Aptos" panose="020B0004020202020204" pitchFamily="34" charset="0"/>
                <a:cs typeface="Segoe UI" panose="020B0502040204020203" pitchFamily="34" charset="0"/>
              </a:rPr>
              <a:t>Qdrant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9388CBE-448D-92BF-482A-40D4D21F41C8}"/>
              </a:ext>
            </a:extLst>
          </p:cNvPr>
          <p:cNvCxnSpPr>
            <a:cxnSpLocks/>
          </p:cNvCxnSpPr>
          <p:nvPr/>
        </p:nvCxnSpPr>
        <p:spPr>
          <a:xfrm flipV="1">
            <a:off x="5412884" y="5241685"/>
            <a:ext cx="0" cy="295833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1DBBD8F2-BAC4-3E0E-0EBC-D5A3B5A03F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3290646"/>
              </p:ext>
            </p:extLst>
          </p:nvPr>
        </p:nvGraphicFramePr>
        <p:xfrm>
          <a:off x="5725871" y="5496897"/>
          <a:ext cx="2043483" cy="76676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52826">
                  <a:extLst>
                    <a:ext uri="{9D8B030D-6E8A-4147-A177-3AD203B41FA5}">
                      <a16:colId xmlns:a16="http://schemas.microsoft.com/office/drawing/2014/main" val="3988504157"/>
                    </a:ext>
                  </a:extLst>
                </a:gridCol>
                <a:gridCol w="677644">
                  <a:extLst>
                    <a:ext uri="{9D8B030D-6E8A-4147-A177-3AD203B41FA5}">
                      <a16:colId xmlns:a16="http://schemas.microsoft.com/office/drawing/2014/main" val="3698272983"/>
                    </a:ext>
                  </a:extLst>
                </a:gridCol>
                <a:gridCol w="1013013">
                  <a:extLst>
                    <a:ext uri="{9D8B030D-6E8A-4147-A177-3AD203B41FA5}">
                      <a16:colId xmlns:a16="http://schemas.microsoft.com/office/drawing/2014/main" val="267783004"/>
                    </a:ext>
                  </a:extLst>
                </a:gridCol>
              </a:tblGrid>
              <a:tr h="222057">
                <a:tc>
                  <a:txBody>
                    <a:bodyPr/>
                    <a:lstStyle/>
                    <a:p>
                      <a:r>
                        <a:rPr lang="en-US" sz="100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user_id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memory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0715843"/>
                  </a:ext>
                </a:extLst>
              </a:tr>
              <a:tr h="264216">
                <a:tc>
                  <a:txBody>
                    <a:bodyPr/>
                    <a:lstStyle/>
                    <a:p>
                      <a:r>
                        <a:rPr lang="en-US" sz="10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userA_0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Lives in 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514979"/>
                  </a:ext>
                </a:extLst>
              </a:tr>
              <a:tr h="258707">
                <a:tc>
                  <a:txBody>
                    <a:bodyPr/>
                    <a:lstStyle/>
                    <a:p>
                      <a:r>
                        <a:rPr lang="en-US" sz="10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userA_1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Loves the sun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329458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E0DB8EDE-E8C4-D025-465F-118F7CC7C72F}"/>
              </a:ext>
            </a:extLst>
          </p:cNvPr>
          <p:cNvSpPr/>
          <p:nvPr/>
        </p:nvSpPr>
        <p:spPr bwMode="auto">
          <a:xfrm>
            <a:off x="6645658" y="3200582"/>
            <a:ext cx="761808" cy="478486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LLM</a:t>
            </a:r>
          </a:p>
        </p:txBody>
      </p:sp>
    </p:spTree>
    <p:extLst>
      <p:ext uri="{BB962C8B-B14F-4D97-AF65-F5344CB8AC3E}">
        <p14:creationId xmlns:p14="http://schemas.microsoft.com/office/powerpoint/2010/main" val="26036225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2D904-5412-42C2-EFA7-A62B5E12A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633B1-BB68-E952-DB57-DD2AA172D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Mem0Provider</a:t>
            </a:r>
            <a:r>
              <a:rPr lang="en-US"/>
              <a:t>: Memory update process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3A3A2C3-7636-798E-28CA-598C5CFF97E4}"/>
              </a:ext>
            </a:extLst>
          </p:cNvPr>
          <p:cNvSpPr txBox="1"/>
          <p:nvPr/>
        </p:nvSpPr>
        <p:spPr>
          <a:xfrm>
            <a:off x="1288354" y="2790264"/>
            <a:ext cx="16191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latin typeface="Aptos" panose="020B0004020202020204" pitchFamily="34" charset="0"/>
                <a:cs typeface="Segoe UI" panose="020B0502040204020203" pitchFamily="34" charset="0"/>
              </a:rPr>
              <a:t>Response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85FBA6B-7E92-53F4-086C-0BF621520FF5}"/>
              </a:ext>
            </a:extLst>
          </p:cNvPr>
          <p:cNvCxnSpPr>
            <a:cxnSpLocks/>
          </p:cNvCxnSpPr>
          <p:nvPr/>
        </p:nvCxnSpPr>
        <p:spPr>
          <a:xfrm flipH="1" flipV="1">
            <a:off x="5612360" y="4598894"/>
            <a:ext cx="1488266" cy="1245734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48F44F78-3D19-4681-1A07-D10817D552BF}"/>
              </a:ext>
            </a:extLst>
          </p:cNvPr>
          <p:cNvSpPr txBox="1"/>
          <p:nvPr/>
        </p:nvSpPr>
        <p:spPr>
          <a:xfrm rot="2477884">
            <a:off x="5828844" y="4955143"/>
            <a:ext cx="16334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Aptos" panose="020B0004020202020204" pitchFamily="34" charset="0"/>
                <a:cs typeface="Segoe UI" panose="020B0502040204020203" pitchFamily="34" charset="0"/>
              </a:rPr>
              <a:t>search for</a:t>
            </a:r>
          </a:p>
          <a:p>
            <a:pPr algn="ctr"/>
            <a:r>
              <a:rPr lang="en-US" sz="1200">
                <a:latin typeface="Aptos" panose="020B0004020202020204" pitchFamily="34" charset="0"/>
                <a:cs typeface="Segoe UI" panose="020B0502040204020203" pitchFamily="34" charset="0"/>
              </a:rPr>
              <a:t>similar memories</a:t>
            </a:r>
            <a:endParaRPr lang="en-US" sz="1400">
              <a:latin typeface="Aptos" panose="020B0004020202020204" pitchFamily="34" charset="0"/>
              <a:cs typeface="Segoe UI" panose="020B0502040204020203" pitchFamily="34" charset="0"/>
            </a:endParaRPr>
          </a:p>
        </p:txBody>
      </p:sp>
      <p:pic>
        <p:nvPicPr>
          <p:cNvPr id="8" name="Graphic 7" descr="Database with solid fill">
            <a:extLst>
              <a:ext uri="{FF2B5EF4-FFF2-40B4-BE49-F238E27FC236}">
                <a16:creationId xmlns:a16="http://schemas.microsoft.com/office/drawing/2014/main" id="{22258E9C-8683-A142-597F-122E962F7E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05342" y="5791294"/>
            <a:ext cx="1197180" cy="47585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4C9CED4-441C-457A-59C6-2C024F138529}"/>
              </a:ext>
            </a:extLst>
          </p:cNvPr>
          <p:cNvSpPr txBox="1"/>
          <p:nvPr/>
        </p:nvSpPr>
        <p:spPr>
          <a:xfrm>
            <a:off x="7091879" y="6186078"/>
            <a:ext cx="12002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latin typeface="Aptos" panose="020B0004020202020204" pitchFamily="34" charset="0"/>
                <a:cs typeface="Segoe UI" panose="020B0502040204020203" pitchFamily="34" charset="0"/>
              </a:rPr>
              <a:t>Qdrant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5EEE4A29-570C-D669-E8F3-E0A930386F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68785"/>
              </p:ext>
            </p:extLst>
          </p:nvPr>
        </p:nvGraphicFramePr>
        <p:xfrm>
          <a:off x="8419881" y="5754418"/>
          <a:ext cx="2043483" cy="102547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52826">
                  <a:extLst>
                    <a:ext uri="{9D8B030D-6E8A-4147-A177-3AD203B41FA5}">
                      <a16:colId xmlns:a16="http://schemas.microsoft.com/office/drawing/2014/main" val="3988504157"/>
                    </a:ext>
                  </a:extLst>
                </a:gridCol>
                <a:gridCol w="677644">
                  <a:extLst>
                    <a:ext uri="{9D8B030D-6E8A-4147-A177-3AD203B41FA5}">
                      <a16:colId xmlns:a16="http://schemas.microsoft.com/office/drawing/2014/main" val="3698272983"/>
                    </a:ext>
                  </a:extLst>
                </a:gridCol>
                <a:gridCol w="1013013">
                  <a:extLst>
                    <a:ext uri="{9D8B030D-6E8A-4147-A177-3AD203B41FA5}">
                      <a16:colId xmlns:a16="http://schemas.microsoft.com/office/drawing/2014/main" val="267783004"/>
                    </a:ext>
                  </a:extLst>
                </a:gridCol>
              </a:tblGrid>
              <a:tr h="222057">
                <a:tc>
                  <a:txBody>
                    <a:bodyPr/>
                    <a:lstStyle/>
                    <a:p>
                      <a:r>
                        <a:rPr lang="en-US" sz="100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user_id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memory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0715843"/>
                  </a:ext>
                </a:extLst>
              </a:tr>
              <a:tr h="264216">
                <a:tc>
                  <a:txBody>
                    <a:bodyPr/>
                    <a:lstStyle/>
                    <a:p>
                      <a:r>
                        <a:rPr lang="en-US" sz="10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userA_0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Lives in NY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514979"/>
                  </a:ext>
                </a:extLst>
              </a:tr>
              <a:tr h="258707">
                <a:tc>
                  <a:txBody>
                    <a:bodyPr/>
                    <a:lstStyle/>
                    <a:p>
                      <a:r>
                        <a:rPr lang="en-US" sz="10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userA_1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Loves the sun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329458"/>
                  </a:ext>
                </a:extLst>
              </a:tr>
              <a:tr h="258707">
                <a:tc>
                  <a:txBody>
                    <a:bodyPr/>
                    <a:lstStyle/>
                    <a:p>
                      <a:r>
                        <a:rPr lang="en-US" sz="10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userA_2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Hates snow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1529936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32EB3F48-1493-8562-9C15-33255A1EC884}"/>
              </a:ext>
            </a:extLst>
          </p:cNvPr>
          <p:cNvSpPr/>
          <p:nvPr/>
        </p:nvSpPr>
        <p:spPr bwMode="auto">
          <a:xfrm>
            <a:off x="3664791" y="2711577"/>
            <a:ext cx="929764" cy="686429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LLM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5339641-46E5-801D-0459-DA3C49E1B5AA}"/>
              </a:ext>
            </a:extLst>
          </p:cNvPr>
          <p:cNvCxnSpPr>
            <a:cxnSpLocks/>
          </p:cNvCxnSpPr>
          <p:nvPr/>
        </p:nvCxnSpPr>
        <p:spPr>
          <a:xfrm flipH="1" flipV="1">
            <a:off x="2602315" y="2999284"/>
            <a:ext cx="1043924" cy="4641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9EC6F72-9955-CCA2-ABC5-6733AD8D24F5}"/>
              </a:ext>
            </a:extLst>
          </p:cNvPr>
          <p:cNvSpPr txBox="1"/>
          <p:nvPr/>
        </p:nvSpPr>
        <p:spPr>
          <a:xfrm>
            <a:off x="4823348" y="2753911"/>
            <a:ext cx="201660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latin typeface="Aptos" panose="020B0004020202020204" pitchFamily="34" charset="0"/>
                <a:cs typeface="Segoe UI" panose="020B0502040204020203" pitchFamily="34" charset="0"/>
              </a:rPr>
              <a:t>Extracted memories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2B0775-2025-1540-EB36-F9906801D52E}"/>
              </a:ext>
            </a:extLst>
          </p:cNvPr>
          <p:cNvSpPr/>
          <p:nvPr/>
        </p:nvSpPr>
        <p:spPr bwMode="auto">
          <a:xfrm>
            <a:off x="7588697" y="2711576"/>
            <a:ext cx="929764" cy="686429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LLM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39B78C4-1428-CD84-BB8B-16BCAE902637}"/>
              </a:ext>
            </a:extLst>
          </p:cNvPr>
          <p:cNvCxnSpPr>
            <a:cxnSpLocks/>
          </p:cNvCxnSpPr>
          <p:nvPr/>
        </p:nvCxnSpPr>
        <p:spPr>
          <a:xfrm flipH="1">
            <a:off x="4594555" y="2999284"/>
            <a:ext cx="551186" cy="0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1BA6FF8-F4A3-D1A8-73E3-A5971FF466D2}"/>
              </a:ext>
            </a:extLst>
          </p:cNvPr>
          <p:cNvCxnSpPr>
            <a:cxnSpLocks/>
          </p:cNvCxnSpPr>
          <p:nvPr/>
        </p:nvCxnSpPr>
        <p:spPr>
          <a:xfrm flipH="1">
            <a:off x="6472518" y="2999284"/>
            <a:ext cx="1116179" cy="0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F2D4356-D991-F102-86C0-19E26737A5AE}"/>
              </a:ext>
            </a:extLst>
          </p:cNvPr>
          <p:cNvCxnSpPr>
            <a:cxnSpLocks/>
            <a:stCxn id="46" idx="2"/>
          </p:cNvCxnSpPr>
          <p:nvPr/>
        </p:nvCxnSpPr>
        <p:spPr>
          <a:xfrm>
            <a:off x="7054022" y="4228560"/>
            <a:ext cx="501285" cy="1470787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5FC421D9-EEBD-C18D-6B11-F43C63074B4A}"/>
              </a:ext>
            </a:extLst>
          </p:cNvPr>
          <p:cNvSpPr txBox="1"/>
          <p:nvPr/>
        </p:nvSpPr>
        <p:spPr>
          <a:xfrm>
            <a:off x="3133860" y="2129942"/>
            <a:ext cx="20118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>
                <a:latin typeface="Aptos" panose="020B0004020202020204" pitchFamily="34" charset="0"/>
                <a:cs typeface="Segoe UI" panose="020B0502040204020203" pitchFamily="34" charset="0"/>
              </a:rPr>
              <a:t>"Review response</a:t>
            </a:r>
          </a:p>
          <a:p>
            <a:pPr algn="ctr"/>
            <a:r>
              <a:rPr lang="en-US" sz="1400">
                <a:latin typeface="Aptos" panose="020B0004020202020204" pitchFamily="34" charset="0"/>
                <a:cs typeface="Segoe UI" panose="020B0502040204020203" pitchFamily="34" charset="0"/>
              </a:rPr>
              <a:t>and suggest memories"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A51D0B4-D6BA-B020-D3E1-A5DB48AF08B2}"/>
              </a:ext>
            </a:extLst>
          </p:cNvPr>
          <p:cNvSpPr txBox="1"/>
          <p:nvPr/>
        </p:nvSpPr>
        <p:spPr>
          <a:xfrm>
            <a:off x="6779100" y="1712359"/>
            <a:ext cx="259782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>
                <a:latin typeface="Aptos" panose="020B0004020202020204" pitchFamily="34" charset="0"/>
                <a:cs typeface="Segoe UI" panose="020B0502040204020203" pitchFamily="34" charset="0"/>
              </a:rPr>
              <a:t>"Compare new memories</a:t>
            </a:r>
          </a:p>
          <a:p>
            <a:pPr algn="ctr"/>
            <a:r>
              <a:rPr lang="en-US" sz="1400">
                <a:latin typeface="Aptos" panose="020B0004020202020204" pitchFamily="34" charset="0"/>
                <a:cs typeface="Segoe UI" panose="020B0502040204020203" pitchFamily="34" charset="0"/>
              </a:rPr>
              <a:t>to old memories</a:t>
            </a:r>
          </a:p>
          <a:p>
            <a:pPr algn="ctr"/>
            <a:r>
              <a:rPr lang="en-US" sz="1400">
                <a:latin typeface="Aptos" panose="020B0004020202020204" pitchFamily="34" charset="0"/>
                <a:cs typeface="Segoe UI" panose="020B0502040204020203" pitchFamily="34" charset="0"/>
              </a:rPr>
              <a:t>and recommend action (ADD/UPDATE/DELETE/NONE)"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65BCBED-481E-902B-3BCC-32017566B4BB}"/>
              </a:ext>
            </a:extLst>
          </p:cNvPr>
          <p:cNvCxnSpPr>
            <a:cxnSpLocks/>
          </p:cNvCxnSpPr>
          <p:nvPr/>
        </p:nvCxnSpPr>
        <p:spPr>
          <a:xfrm flipH="1">
            <a:off x="8518461" y="3030845"/>
            <a:ext cx="551186" cy="0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02D06497-A4CE-D89F-4E73-05713C2DB2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3973588"/>
              </p:ext>
            </p:extLst>
          </p:nvPr>
        </p:nvGraphicFramePr>
        <p:xfrm>
          <a:off x="9166189" y="2685027"/>
          <a:ext cx="1699252" cy="103097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55452">
                  <a:extLst>
                    <a:ext uri="{9D8B030D-6E8A-4147-A177-3AD203B41FA5}">
                      <a16:colId xmlns:a16="http://schemas.microsoft.com/office/drawing/2014/main" val="267783004"/>
                    </a:ext>
                  </a:extLst>
                </a:gridCol>
                <a:gridCol w="743800">
                  <a:extLst>
                    <a:ext uri="{9D8B030D-6E8A-4147-A177-3AD203B41FA5}">
                      <a16:colId xmlns:a16="http://schemas.microsoft.com/office/drawing/2014/main" val="1305279005"/>
                    </a:ext>
                  </a:extLst>
                </a:gridCol>
              </a:tblGrid>
              <a:tr h="222057">
                <a:tc>
                  <a:txBody>
                    <a:bodyPr/>
                    <a:lstStyle/>
                    <a:p>
                      <a:r>
                        <a:rPr lang="en-US" sz="1000"/>
                        <a:t>new 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0715843"/>
                  </a:ext>
                </a:extLst>
              </a:tr>
              <a:tr h="264216">
                <a:tc>
                  <a:txBody>
                    <a:bodyPr/>
                    <a:lstStyle/>
                    <a:p>
                      <a:r>
                        <a:rPr lang="en-US" sz="1000"/>
                        <a:t>Hates snow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ADD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3669889"/>
                  </a:ext>
                </a:extLst>
              </a:tr>
              <a:tr h="264216">
                <a:tc>
                  <a:txBody>
                    <a:bodyPr/>
                    <a:lstStyle/>
                    <a:p>
                      <a:r>
                        <a:rPr lang="en-US" sz="1000"/>
                        <a:t>Lives in 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UPDATE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514979"/>
                  </a:ext>
                </a:extLst>
              </a:tr>
              <a:tr h="258707">
                <a:tc>
                  <a:txBody>
                    <a:bodyPr/>
                    <a:lstStyle/>
                    <a:p>
                      <a:r>
                        <a:rPr lang="en-US" sz="1000"/>
                        <a:t>Loves the sun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329458"/>
                  </a:ext>
                </a:extLst>
              </a:tr>
            </a:tbl>
          </a:graphicData>
        </a:graphic>
      </p:graphicFrame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D9E3885E-B7F6-A33C-C4AE-2AC66FCC90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7707286"/>
              </p:ext>
            </p:extLst>
          </p:nvPr>
        </p:nvGraphicFramePr>
        <p:xfrm>
          <a:off x="5211083" y="3482520"/>
          <a:ext cx="959168" cy="103097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59168">
                  <a:extLst>
                    <a:ext uri="{9D8B030D-6E8A-4147-A177-3AD203B41FA5}">
                      <a16:colId xmlns:a16="http://schemas.microsoft.com/office/drawing/2014/main" val="267783004"/>
                    </a:ext>
                  </a:extLst>
                </a:gridCol>
              </a:tblGrid>
              <a:tr h="222057">
                <a:tc>
                  <a:txBody>
                    <a:bodyPr/>
                    <a:lstStyle/>
                    <a:p>
                      <a:r>
                        <a:rPr lang="en-US" sz="1000"/>
                        <a:t>new memory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0715843"/>
                  </a:ext>
                </a:extLst>
              </a:tr>
              <a:tr h="264216">
                <a:tc>
                  <a:txBody>
                    <a:bodyPr/>
                    <a:lstStyle/>
                    <a:p>
                      <a:r>
                        <a:rPr lang="en-US" sz="1000"/>
                        <a:t>Hates snow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0433491"/>
                  </a:ext>
                </a:extLst>
              </a:tr>
              <a:tr h="264216">
                <a:tc>
                  <a:txBody>
                    <a:bodyPr/>
                    <a:lstStyle/>
                    <a:p>
                      <a:r>
                        <a:rPr lang="en-US" sz="1000"/>
                        <a:t>Lives in NY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514979"/>
                  </a:ext>
                </a:extLst>
              </a:tr>
              <a:tr h="258707">
                <a:tc>
                  <a:txBody>
                    <a:bodyPr/>
                    <a:lstStyle/>
                    <a:p>
                      <a:r>
                        <a:rPr lang="en-US" sz="1000"/>
                        <a:t>Loves the sun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329458"/>
                  </a:ext>
                </a:extLst>
              </a:tr>
            </a:tbl>
          </a:graphicData>
        </a:graphic>
      </p:graphicFrame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2136EEB4-00EF-70C8-6154-67F82889DA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384765"/>
              </p:ext>
            </p:extLst>
          </p:nvPr>
        </p:nvGraphicFramePr>
        <p:xfrm>
          <a:off x="6547516" y="3461797"/>
          <a:ext cx="1013013" cy="76676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13013">
                  <a:extLst>
                    <a:ext uri="{9D8B030D-6E8A-4147-A177-3AD203B41FA5}">
                      <a16:colId xmlns:a16="http://schemas.microsoft.com/office/drawing/2014/main" val="267783004"/>
                    </a:ext>
                  </a:extLst>
                </a:gridCol>
              </a:tblGrid>
              <a:tr h="222057">
                <a:tc>
                  <a:txBody>
                    <a:bodyPr/>
                    <a:lstStyle/>
                    <a:p>
                      <a:r>
                        <a:rPr lang="en-US" sz="1000"/>
                        <a:t>old memory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0715843"/>
                  </a:ext>
                </a:extLst>
              </a:tr>
              <a:tr h="264216">
                <a:tc>
                  <a:txBody>
                    <a:bodyPr/>
                    <a:lstStyle/>
                    <a:p>
                      <a:r>
                        <a:rPr lang="en-US" sz="1000"/>
                        <a:t>Lives in 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514979"/>
                  </a:ext>
                </a:extLst>
              </a:tr>
              <a:tr h="258707">
                <a:tc>
                  <a:txBody>
                    <a:bodyPr/>
                    <a:lstStyle/>
                    <a:p>
                      <a:r>
                        <a:rPr lang="en-US" sz="1000"/>
                        <a:t>Loves the sun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329458"/>
                  </a:ext>
                </a:extLst>
              </a:tr>
            </a:tbl>
          </a:graphicData>
        </a:graphic>
      </p:graphicFrame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9987C880-3C14-6718-D1C3-EF6F54CD199B}"/>
              </a:ext>
            </a:extLst>
          </p:cNvPr>
          <p:cNvCxnSpPr>
            <a:cxnSpLocks/>
          </p:cNvCxnSpPr>
          <p:nvPr/>
        </p:nvCxnSpPr>
        <p:spPr>
          <a:xfrm flipV="1">
            <a:off x="8166847" y="3827155"/>
            <a:ext cx="1848968" cy="1946116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DCD5B44E-1CEE-9079-FE62-B254D342A40B}"/>
              </a:ext>
            </a:extLst>
          </p:cNvPr>
          <p:cNvSpPr txBox="1"/>
          <p:nvPr/>
        </p:nvSpPr>
        <p:spPr>
          <a:xfrm rot="18831577">
            <a:off x="7773248" y="4629149"/>
            <a:ext cx="22925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Aptos" panose="020B0004020202020204" pitchFamily="34" charset="0"/>
                <a:cs typeface="Segoe UI" panose="020B0502040204020203" pitchFamily="34" charset="0"/>
              </a:rPr>
              <a:t>insert/update/delete memories</a:t>
            </a:r>
            <a:endParaRPr lang="en-US" sz="1400">
              <a:latin typeface="Aptos" panose="020B0004020202020204" pitchFamily="34" charset="0"/>
              <a:cs typeface="Segoe UI" panose="020B0502040204020203" pitchFamily="34" charset="0"/>
            </a:endParaRP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9A270D7C-EBE6-21E6-410D-FA481C315FEB}"/>
              </a:ext>
            </a:extLst>
          </p:cNvPr>
          <p:cNvCxnSpPr>
            <a:cxnSpLocks/>
          </p:cNvCxnSpPr>
          <p:nvPr/>
        </p:nvCxnSpPr>
        <p:spPr>
          <a:xfrm>
            <a:off x="6997879" y="2999284"/>
            <a:ext cx="0" cy="407686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85404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10721-E65C-532D-4478-9FB02CDEF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32D7B-402D-95EF-3F64-77A595226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Dynamic memory with Mem0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D1322C-6207-B7F7-38E0-2B115B60D1BC}"/>
              </a:ext>
            </a:extLst>
          </p:cNvPr>
          <p:cNvSpPr txBox="1"/>
          <p:nvPr/>
        </p:nvSpPr>
        <p:spPr>
          <a:xfrm>
            <a:off x="1132793" y="1629691"/>
            <a:ext cx="1114258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/>
              <a:t>Use a built-in memory provider (like </a:t>
            </a:r>
            <a:r>
              <a:rPr lang="en-US" sz="2200">
                <a:latin typeface="Consolas" panose="020B0609020204030204" pitchFamily="49" charset="0"/>
                <a:cs typeface="Consolas" panose="020B0609020204030204" pitchFamily="49" charset="0"/>
              </a:rPr>
              <a:t>Mem0Provider</a:t>
            </a:r>
            <a:r>
              <a:rPr lang="en-US" sz="2200"/>
              <a:t>) or write your own context provider: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A6EC2A-3307-7D40-2095-96396FAEABDD}"/>
              </a:ext>
            </a:extLst>
          </p:cNvPr>
          <p:cNvSpPr txBox="1"/>
          <p:nvPr/>
        </p:nvSpPr>
        <p:spPr>
          <a:xfrm>
            <a:off x="1132793" y="227425"/>
            <a:ext cx="3168620" cy="461665"/>
          </a:xfrm>
          <a:prstGeom prst="rect">
            <a:avLst/>
          </a:prstGeom>
          <a:solidFill>
            <a:schemeClr val="accent3"/>
          </a:solidFill>
          <a:effectLst>
            <a:softEdge rad="31750"/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agent-framework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101D08-F370-36B1-B964-38CC59B1D8CE}"/>
              </a:ext>
            </a:extLst>
          </p:cNvPr>
          <p:cNvSpPr txBox="1"/>
          <p:nvPr/>
        </p:nvSpPr>
        <p:spPr>
          <a:xfrm>
            <a:off x="1203913" y="2295912"/>
            <a:ext cx="10134648" cy="380617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from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agent_framework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mem0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import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Mem0ContextProvider</a:t>
            </a:r>
            <a:endParaRPr lang="en-US">
              <a:solidFill>
                <a:srgbClr val="000000"/>
              </a:solidFill>
              <a:latin typeface="Consolas" panose="020B0609020204030204" pitchFamily="49" charset="0"/>
              <a:ea typeface="Menlo" panose="020B0609030804020204" pitchFamily="49" charset="0"/>
              <a:cs typeface="Consolas" panose="020B0609020204030204" pitchFamily="49" charset="0"/>
            </a:endParaRPr>
          </a:p>
          <a:p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from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mem0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import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AsyncMemory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  <a:ea typeface="Menlo" panose="020B060903080402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endParaRPr lang="en-US">
              <a:solidFill>
                <a:srgbClr val="000000"/>
              </a:solidFill>
              <a:latin typeface="Consolas" panose="020B0609020204030204" pitchFamily="49" charset="0"/>
              <a:ea typeface="Menlo" panose="020B060903080402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</a:pP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user_id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 = 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str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(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uuid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uuid4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())</a:t>
            </a:r>
            <a:br>
              <a:rPr lang="en-US">
                <a:solidFill>
                  <a:srgbClr val="000000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</a:br>
            <a:endParaRPr lang="en-US">
              <a:solidFill>
                <a:srgbClr val="000000"/>
              </a:solidFill>
              <a:latin typeface="Consolas" panose="020B0609020204030204" pitchFamily="49" charset="0"/>
              <a:ea typeface="Menlo" panose="020B060903080402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mem0_client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 = 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await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AsyncMemory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from_config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mem0_config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025"/>
              </a:lnSpc>
              <a:buNone/>
            </a:pPr>
            <a:endParaRPr lang="en-US">
              <a:solidFill>
                <a:srgbClr val="000000"/>
              </a:solidFill>
              <a:latin typeface="Consolas" panose="020B0609020204030204" pitchFamily="49" charset="0"/>
              <a:ea typeface="Menlo" panose="020B060903080402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memory_provider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 = 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Mem0ContextProvider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user_id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=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user_id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, 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mem0_client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=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mem0_client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)</a:t>
            </a:r>
            <a:b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</a:b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  <a:ea typeface="Menlo" panose="020B060903080402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agent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 =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Agent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(</a:t>
            </a:r>
          </a:p>
          <a:p>
            <a:pPr>
              <a:buNone/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  client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=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OpenAIChatClient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(),</a:t>
            </a:r>
          </a:p>
          <a:p>
            <a:pPr>
              <a:buNone/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  instructions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=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"You are a helpful weather assistant."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  context_providers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=[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memory_provider],</a:t>
            </a:r>
          </a:p>
          <a:p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  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tools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=[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get_weather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D4B91E-D9A3-D943-AABC-3A148C448C31}"/>
              </a:ext>
            </a:extLst>
          </p:cNvPr>
          <p:cNvSpPr txBox="1"/>
          <p:nvPr/>
        </p:nvSpPr>
        <p:spPr>
          <a:xfrm>
            <a:off x="1203913" y="6286748"/>
            <a:ext cx="65281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0" i="0" u="sng">
                <a:solidFill>
                  <a:srgbClr val="00008B"/>
                </a:solidFill>
                <a:effectLst/>
                <a:latin typeface="Aptos" panose="020B0004020202020204" pitchFamily="34" charset="0"/>
                <a:hlinkClick r:id="rId2"/>
              </a:rPr>
              <a:t>Full example: agent_memory_mem0.py</a:t>
            </a:r>
            <a:endParaRPr lang="en-US" sz="220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85935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390AF-D984-1971-A49A-51D88DAB1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2E9CC-29F3-5745-73B3-1A489069E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Memory in production: GitHub Copilot</a:t>
            </a:r>
          </a:p>
        </p:txBody>
      </p:sp>
      <p:pic>
        <p:nvPicPr>
          <p:cNvPr id="6" name="Picture 5" descr="A flow chart showing how Copilot agents store learnings worth remembering as they carry out their tasks.">
            <a:extLst>
              <a:ext uri="{FF2B5EF4-FFF2-40B4-BE49-F238E27FC236}">
                <a16:creationId xmlns:a16="http://schemas.microsoft.com/office/drawing/2014/main" id="{7D382432-D7FA-623D-0957-CA60344B9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169" y="1691140"/>
            <a:ext cx="5840160" cy="3066085"/>
          </a:xfrm>
          <a:prstGeom prst="rect">
            <a:avLst/>
          </a:prstGeom>
        </p:spPr>
      </p:pic>
      <p:pic>
        <p:nvPicPr>
          <p:cNvPr id="7" name="Picture 6" descr="A diagram of a memory process&#10;&#10;AI-generated content may be incorrect.">
            <a:extLst>
              <a:ext uri="{FF2B5EF4-FFF2-40B4-BE49-F238E27FC236}">
                <a16:creationId xmlns:a16="http://schemas.microsoft.com/office/drawing/2014/main" id="{7486737B-F5E8-C3C0-62E6-1362B323B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7329" y="1691140"/>
            <a:ext cx="4747488" cy="306608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662B698-9E91-07C5-3D7D-E0E1797A708E}"/>
              </a:ext>
            </a:extLst>
          </p:cNvPr>
          <p:cNvSpPr txBox="1"/>
          <p:nvPr/>
        </p:nvSpPr>
        <p:spPr>
          <a:xfrm>
            <a:off x="1132793" y="4993556"/>
            <a:ext cx="11142584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/>
              <a:t>All memories include </a:t>
            </a:r>
            <a:r>
              <a:rPr lang="en-US" sz="2200" b="1"/>
              <a:t>citations</a:t>
            </a:r>
            <a:r>
              <a:rPr lang="en-US" sz="2200"/>
              <a:t>, which are verified for accuracy </a:t>
            </a:r>
            <a:r>
              <a:rPr lang="en-US" sz="2200" i="1"/>
              <a:t>before</a:t>
            </a:r>
            <a:r>
              <a:rPr lang="en-US" sz="2200"/>
              <a:t> memories are used.</a:t>
            </a:r>
          </a:p>
          <a:p>
            <a:r>
              <a:rPr lang="en-US" sz="2200"/>
              <a:t>A memory which can no longer be verified is removed.</a:t>
            </a:r>
          </a:p>
          <a:p>
            <a:endParaRPr lang="en-US" sz="2200"/>
          </a:p>
          <a:p>
            <a:r>
              <a:rPr lang="en-US"/>
              <a:t>Learn more:</a:t>
            </a:r>
          </a:p>
          <a:p>
            <a:r>
              <a:rPr lang="en-US">
                <a:hlinkClick r:id="rId4"/>
              </a:rPr>
              <a:t>https://github.blog/ai-and-ml/github-copilot/building-an-agentic-memory-system-for-github-copilot/</a:t>
            </a:r>
            <a:endParaRPr lang="en-US"/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4020332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EC0FA-1240-212A-0F46-955453692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71F8B-F303-83CD-40DC-BA41527D9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📚 Knowledge</a:t>
            </a:r>
          </a:p>
        </p:txBody>
      </p:sp>
    </p:spTree>
    <p:extLst>
      <p:ext uri="{BB962C8B-B14F-4D97-AF65-F5344CB8AC3E}">
        <p14:creationId xmlns:p14="http://schemas.microsoft.com/office/powerpoint/2010/main" val="17696496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F3507-AC73-F364-0B84-1EE28F568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47975-DDEF-150D-4D86-F675790E1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Knowledge retrieval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FE626DE-4F1F-BB3E-08EA-6BFC255D0F93}"/>
              </a:ext>
            </a:extLst>
          </p:cNvPr>
          <p:cNvSpPr/>
          <p:nvPr/>
        </p:nvSpPr>
        <p:spPr>
          <a:xfrm>
            <a:off x="2661924" y="1712893"/>
            <a:ext cx="5454462" cy="4931744"/>
          </a:xfrm>
          <a:prstGeom prst="roundRect">
            <a:avLst>
              <a:gd name="adj" fmla="val 3364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32A7354-A232-F507-317E-D342192FF8B9}"/>
              </a:ext>
            </a:extLst>
          </p:cNvPr>
          <p:cNvSpPr/>
          <p:nvPr/>
        </p:nvSpPr>
        <p:spPr bwMode="auto">
          <a:xfrm>
            <a:off x="4744430" y="3279794"/>
            <a:ext cx="929764" cy="686429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LLM</a:t>
            </a:r>
          </a:p>
        </p:txBody>
      </p:sp>
      <p:sp>
        <p:nvSpPr>
          <p:cNvPr id="23" name="Rounded Rectangular Callout 22">
            <a:extLst>
              <a:ext uri="{FF2B5EF4-FFF2-40B4-BE49-F238E27FC236}">
                <a16:creationId xmlns:a16="http://schemas.microsoft.com/office/drawing/2014/main" id="{B18548D4-B74A-DBA3-D5B9-BB3BE7716F25}"/>
              </a:ext>
            </a:extLst>
          </p:cNvPr>
          <p:cNvSpPr/>
          <p:nvPr/>
        </p:nvSpPr>
        <p:spPr>
          <a:xfrm>
            <a:off x="960664" y="3189648"/>
            <a:ext cx="924077" cy="802702"/>
          </a:xfrm>
          <a:prstGeom prst="wedgeRoundRectCallou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/>
              <a:t>Input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74FEF5D-4D22-3356-F2E3-6B054793BADA}"/>
              </a:ext>
            </a:extLst>
          </p:cNvPr>
          <p:cNvCxnSpPr>
            <a:cxnSpLocks/>
          </p:cNvCxnSpPr>
          <p:nvPr/>
        </p:nvCxnSpPr>
        <p:spPr>
          <a:xfrm flipH="1">
            <a:off x="3182363" y="3623008"/>
            <a:ext cx="1578522" cy="0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4677053-529A-31FC-B340-94EE40EF7F9D}"/>
              </a:ext>
            </a:extLst>
          </p:cNvPr>
          <p:cNvCxnSpPr>
            <a:cxnSpLocks/>
            <a:stCxn id="33" idx="1"/>
            <a:endCxn id="23" idx="3"/>
          </p:cNvCxnSpPr>
          <p:nvPr/>
        </p:nvCxnSpPr>
        <p:spPr>
          <a:xfrm flipH="1" flipV="1">
            <a:off x="1884741" y="3590999"/>
            <a:ext cx="340925" cy="1637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B9856993-C4A3-5065-B4EC-EFF1674F62C6}"/>
              </a:ext>
            </a:extLst>
          </p:cNvPr>
          <p:cNvSpPr/>
          <p:nvPr/>
        </p:nvSpPr>
        <p:spPr>
          <a:xfrm>
            <a:off x="2665364" y="3447958"/>
            <a:ext cx="481225" cy="33092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8A0FEB3-3BEC-6E68-A6C6-56902131D8E2}"/>
              </a:ext>
            </a:extLst>
          </p:cNvPr>
          <p:cNvSpPr txBox="1"/>
          <p:nvPr/>
        </p:nvSpPr>
        <p:spPr>
          <a:xfrm>
            <a:off x="2225666" y="3361803"/>
            <a:ext cx="10176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latin typeface="Aptos" panose="020B0004020202020204" pitchFamily="34" charset="0"/>
                <a:cs typeface="Segoe UI" panose="020B0502040204020203" pitchFamily="34" charset="0"/>
              </a:rPr>
              <a:t>Agent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946E0F2-F9B3-4C78-2B8A-002FAC76B2EA}"/>
              </a:ext>
            </a:extLst>
          </p:cNvPr>
          <p:cNvSpPr txBox="1"/>
          <p:nvPr/>
        </p:nvSpPr>
        <p:spPr>
          <a:xfrm>
            <a:off x="6792683" y="3402167"/>
            <a:ext cx="16191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latin typeface="Aptos" panose="020B0004020202020204" pitchFamily="34" charset="0"/>
                <a:cs typeface="Segoe UI" panose="020B0502040204020203" pitchFamily="34" charset="0"/>
              </a:rPr>
              <a:t>Response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1AA8D28-8DC9-A324-718E-B63DC4C00CC1}"/>
              </a:ext>
            </a:extLst>
          </p:cNvPr>
          <p:cNvSpPr txBox="1"/>
          <p:nvPr/>
        </p:nvSpPr>
        <p:spPr>
          <a:xfrm rot="5400000">
            <a:off x="3297078" y="4357335"/>
            <a:ext cx="15868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Aptos" panose="020B0004020202020204" pitchFamily="34" charset="0"/>
                <a:cs typeface="Segoe UI" panose="020B0502040204020203" pitchFamily="34" charset="0"/>
              </a:rPr>
              <a:t>relevant knowledge</a:t>
            </a:r>
            <a:endParaRPr lang="en-US" sz="1400">
              <a:latin typeface="Aptos" panose="020B0004020202020204" pitchFamily="34" charset="0"/>
              <a:cs typeface="Segoe UI" panose="020B0502040204020203" pitchFamily="34" charset="0"/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A4455BF-6507-831F-D195-8AE8F2CC459D}"/>
              </a:ext>
            </a:extLst>
          </p:cNvPr>
          <p:cNvCxnSpPr>
            <a:cxnSpLocks/>
          </p:cNvCxnSpPr>
          <p:nvPr/>
        </p:nvCxnSpPr>
        <p:spPr>
          <a:xfrm flipV="1">
            <a:off x="3383500" y="3623008"/>
            <a:ext cx="0" cy="1666271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DBCFBB3B-F467-5ED0-4D28-D930B3A48DC9}"/>
              </a:ext>
            </a:extLst>
          </p:cNvPr>
          <p:cNvSpPr/>
          <p:nvPr/>
        </p:nvSpPr>
        <p:spPr bwMode="auto">
          <a:xfrm>
            <a:off x="2993532" y="5271096"/>
            <a:ext cx="1684417" cy="8569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Knowledge store</a:t>
            </a:r>
            <a:endParaRPr lang="en-US" sz="1600" b="1" err="1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5DC43F2-D361-4362-49A7-49AEBF0B7AB4}"/>
              </a:ext>
            </a:extLst>
          </p:cNvPr>
          <p:cNvSpPr txBox="1"/>
          <p:nvPr/>
        </p:nvSpPr>
        <p:spPr>
          <a:xfrm rot="5400000">
            <a:off x="2834231" y="4357335"/>
            <a:ext cx="137553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Aptos" panose="020B0004020202020204" pitchFamily="34" charset="0"/>
                <a:cs typeface="Segoe UI" panose="020B0502040204020203" pitchFamily="34" charset="0"/>
              </a:rPr>
              <a:t>search with input</a:t>
            </a:r>
            <a:endParaRPr lang="en-US" sz="1400">
              <a:latin typeface="Aptos" panose="020B0004020202020204" pitchFamily="34" charset="0"/>
              <a:cs typeface="Segoe UI" panose="020B0502040204020203" pitchFamily="34" charset="0"/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CCCF2B8-C8BB-DA6B-D715-665C76FB6023}"/>
              </a:ext>
            </a:extLst>
          </p:cNvPr>
          <p:cNvCxnSpPr>
            <a:cxnSpLocks/>
            <a:stCxn id="36" idx="1"/>
          </p:cNvCxnSpPr>
          <p:nvPr/>
        </p:nvCxnSpPr>
        <p:spPr>
          <a:xfrm flipH="1" flipV="1">
            <a:off x="5687796" y="3592635"/>
            <a:ext cx="1104887" cy="9587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urved Down Arrow 52">
            <a:extLst>
              <a:ext uri="{FF2B5EF4-FFF2-40B4-BE49-F238E27FC236}">
                <a16:creationId xmlns:a16="http://schemas.microsoft.com/office/drawing/2014/main" id="{D17AFE0D-02F7-5DC0-4C9B-5E6BEC898F74}"/>
              </a:ext>
            </a:extLst>
          </p:cNvPr>
          <p:cNvSpPr/>
          <p:nvPr/>
        </p:nvSpPr>
        <p:spPr>
          <a:xfrm>
            <a:off x="4744430" y="2833084"/>
            <a:ext cx="855176" cy="351476"/>
          </a:xfrm>
          <a:prstGeom prst="curvedDownArrow">
            <a:avLst>
              <a:gd name="adj1" fmla="val 15244"/>
              <a:gd name="adj2" fmla="val 50000"/>
              <a:gd name="adj3" fmla="val 25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4" name="Content Placeholder 2">
            <a:extLst>
              <a:ext uri="{FF2B5EF4-FFF2-40B4-BE49-F238E27FC236}">
                <a16:creationId xmlns:a16="http://schemas.microsoft.com/office/drawing/2014/main" id="{D12C2931-5267-DEDC-5C0E-D2D688BED4AB}"/>
              </a:ext>
            </a:extLst>
          </p:cNvPr>
          <p:cNvSpPr txBox="1">
            <a:spLocks/>
          </p:cNvSpPr>
          <p:nvPr/>
        </p:nvSpPr>
        <p:spPr>
          <a:xfrm>
            <a:off x="4587322" y="2412326"/>
            <a:ext cx="1153494" cy="3323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/>
              <a:t>🛠️ Tools</a:t>
            </a: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372688AD-1AB8-1790-9CF7-6C117088F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07609" y="1711457"/>
            <a:ext cx="3967517" cy="503000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/>
              <a:t>The agent retrieves knowledge </a:t>
            </a:r>
            <a:r>
              <a:rPr lang="en-US" sz="2400" i="1"/>
              <a:t>before</a:t>
            </a:r>
            <a:r>
              <a:rPr lang="en-US" sz="2400"/>
              <a:t> asking the LLM to call tools.</a:t>
            </a:r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r>
              <a:rPr lang="en-US" sz="2400" b="1"/>
              <a:t>Why not just use a tool to retrieve knowledge?</a:t>
            </a:r>
          </a:p>
          <a:p>
            <a:pPr marL="0" indent="0">
              <a:buNone/>
            </a:pPr>
            <a:r>
              <a:rPr lang="en-US" sz="2400"/>
              <a:t>In many scenarios, the agent </a:t>
            </a:r>
            <a:r>
              <a:rPr lang="en-US" sz="2400" i="1"/>
              <a:t>always</a:t>
            </a:r>
            <a:r>
              <a:rPr lang="en-US" sz="2400"/>
              <a:t> needs domain-specific knowledge to ground its response, so it's unnecessary to ask an LLM to decide to use the tool.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FD45781-5B7F-30E2-D122-11B7B76EA731}"/>
              </a:ext>
            </a:extLst>
          </p:cNvPr>
          <p:cNvCxnSpPr>
            <a:cxnSpLocks/>
          </p:cNvCxnSpPr>
          <p:nvPr/>
        </p:nvCxnSpPr>
        <p:spPr>
          <a:xfrm flipH="1">
            <a:off x="3927302" y="3602209"/>
            <a:ext cx="21565" cy="1680097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02380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8B454-CB9A-D413-4857-A34039477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CF43F-69F6-0490-B03A-5C9333222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Knowledge retrieval from SQLite database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0052AD-CEFD-1C2C-3395-74F5B45D73C3}"/>
              </a:ext>
            </a:extLst>
          </p:cNvPr>
          <p:cNvSpPr txBox="1"/>
          <p:nvPr/>
        </p:nvSpPr>
        <p:spPr>
          <a:xfrm>
            <a:off x="1132793" y="1629691"/>
            <a:ext cx="1114258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/>
              <a:t>Create a subclass of </a:t>
            </a:r>
            <a:r>
              <a:rPr lang="en-US" sz="2200">
                <a:latin typeface="Consolas" panose="020B0609020204030204" pitchFamily="49" charset="0"/>
                <a:cs typeface="Consolas" panose="020B0609020204030204" pitchFamily="49" charset="0"/>
              </a:rPr>
              <a:t>BaseContextProvider</a:t>
            </a:r>
            <a:r>
              <a:rPr lang="en-US" sz="2200"/>
              <a:t> to retrieve data for the given input: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E86DEB-D9A2-A294-4163-E7414A43D426}"/>
              </a:ext>
            </a:extLst>
          </p:cNvPr>
          <p:cNvSpPr txBox="1"/>
          <p:nvPr/>
        </p:nvSpPr>
        <p:spPr>
          <a:xfrm>
            <a:off x="1132793" y="227425"/>
            <a:ext cx="3168620" cy="461665"/>
          </a:xfrm>
          <a:prstGeom prst="rect">
            <a:avLst/>
          </a:prstGeom>
          <a:solidFill>
            <a:schemeClr val="accent3"/>
          </a:solidFill>
          <a:effectLst>
            <a:softEdge rad="31750"/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agent-framework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F8C05C-B796-AA31-2E14-D3D204864F22}"/>
              </a:ext>
            </a:extLst>
          </p:cNvPr>
          <p:cNvSpPr txBox="1"/>
          <p:nvPr/>
        </p:nvSpPr>
        <p:spPr>
          <a:xfrm>
            <a:off x="1132793" y="2192873"/>
            <a:ext cx="10922051" cy="40934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SQLiteKnowledgeProvider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BaseContextProvider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async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before_run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*,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session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context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state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user_text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context.input_messages[-</a:t>
            </a:r>
            <a:r>
              <a:rPr lang="en-US" sz="200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].text</a:t>
            </a:r>
          </a:p>
          <a:p>
            <a:pPr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results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._search(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user_text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results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context.extend_messages(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.source_id,</a:t>
            </a:r>
          </a:p>
          <a:p>
            <a:pPr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[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role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"user"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._format_results(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results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))])</a:t>
            </a:r>
          </a:p>
          <a:p>
            <a:pPr>
              <a:buNone/>
            </a:pPr>
            <a:endParaRPr lang="en-US" sz="2000" b="0">
              <a:solidFill>
                <a:srgbClr val="000000"/>
              </a:solidFill>
              <a:effectLst/>
              <a:latin typeface="Consolas" panose="020B0609020204030204" pitchFamily="49" charset="0"/>
              <a:ea typeface="Menlo" panose="020B060903080402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client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client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instructions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=(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"You are an outdoor-gear shopping assistant."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),</a:t>
            </a:r>
          </a:p>
          <a:p>
            <a:pPr>
              <a:buNone/>
            </a:pP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context_providers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=[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knowledge_provider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])</a:t>
            </a:r>
          </a:p>
          <a:p>
            <a:pPr>
              <a:buNone/>
            </a:pPr>
            <a:endParaRPr lang="en-US" sz="20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response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await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run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"Do you have anything for kayaking?"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5D3A75-FC0D-C9AD-6399-C1FD015F9A75}"/>
              </a:ext>
            </a:extLst>
          </p:cNvPr>
          <p:cNvSpPr txBox="1"/>
          <p:nvPr/>
        </p:nvSpPr>
        <p:spPr>
          <a:xfrm>
            <a:off x="1132793" y="6286301"/>
            <a:ext cx="65281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0" i="0" u="sng">
                <a:solidFill>
                  <a:srgbClr val="00008B"/>
                </a:solidFill>
                <a:effectLst/>
                <a:latin typeface="Aptos" panose="020B0004020202020204" pitchFamily="34" charset="0"/>
                <a:hlinkClick r:id="rId2"/>
              </a:rPr>
              <a:t>Full example: agent_knowledge_sqlite.py</a:t>
            </a:r>
            <a:endParaRPr lang="en-US" sz="220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78848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35F93-E1F2-0A24-94AC-BB263BA14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D6525-BC4D-ABC4-BF63-41B63C88F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Improve retrieval with hybrid search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E5B9E8F-A38E-6D96-7C2C-1290D0F2DADC}"/>
              </a:ext>
            </a:extLst>
          </p:cNvPr>
          <p:cNvGrpSpPr/>
          <p:nvPr/>
        </p:nvGrpSpPr>
        <p:grpSpPr>
          <a:xfrm>
            <a:off x="6166242" y="2532294"/>
            <a:ext cx="5460273" cy="2271065"/>
            <a:chOff x="3928829" y="2369006"/>
            <a:chExt cx="5460273" cy="2271065"/>
          </a:xfrm>
        </p:grpSpPr>
        <p:sp>
          <p:nvSpPr>
            <p:cNvPr id="7" name="Rectangle: Rounded Corners 7">
              <a:extLst>
                <a:ext uri="{FF2B5EF4-FFF2-40B4-BE49-F238E27FC236}">
                  <a16:creationId xmlns:a16="http://schemas.microsoft.com/office/drawing/2014/main" id="{BF96726A-93ED-BF06-23B2-BBCE9957A8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885766" y="2868136"/>
              <a:ext cx="3503336" cy="923883"/>
            </a:xfrm>
            <a:prstGeom prst="roundRect">
              <a:avLst/>
            </a:prstGeom>
            <a:solidFill>
              <a:schemeClr val="accent2"/>
            </a:solidFill>
            <a:ln w="25400">
              <a:solidFill>
                <a:schemeClr val="bg1"/>
              </a:solidFill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Reciprocal Rank Fusion</a:t>
              </a:r>
              <a:br>
                <a:rPr lang="en-US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</a:br>
              <a:r>
                <a:rPr lang="en-US" sz="140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(RRF)</a:t>
              </a:r>
              <a:endParaRPr lang="en-US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8" name="Connector: Elbow 22">
              <a:extLst>
                <a:ext uri="{FF2B5EF4-FFF2-40B4-BE49-F238E27FC236}">
                  <a16:creationId xmlns:a16="http://schemas.microsoft.com/office/drawing/2014/main" id="{C93768C9-7430-4FD7-B6D8-DC1E19441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  <a:stCxn id="21" idx="4"/>
              <a:endCxn id="7" idx="1"/>
            </p:cNvCxnSpPr>
            <p:nvPr/>
          </p:nvCxnSpPr>
          <p:spPr>
            <a:xfrm flipV="1">
              <a:off x="3936921" y="3330078"/>
              <a:ext cx="1948845" cy="1309993"/>
            </a:xfrm>
            <a:prstGeom prst="bentConnector3">
              <a:avLst>
                <a:gd name="adj1" fmla="val 50000"/>
              </a:avLst>
            </a:prstGeom>
            <a:ln w="28575" cap="rnd">
              <a:solidFill>
                <a:schemeClr val="tx1"/>
              </a:solidFill>
              <a:headEnd type="none" w="lg" len="med"/>
              <a:tailEnd type="arrow" w="lg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: Elbow 23">
              <a:extLst>
                <a:ext uri="{FF2B5EF4-FFF2-40B4-BE49-F238E27FC236}">
                  <a16:creationId xmlns:a16="http://schemas.microsoft.com/office/drawing/2014/main" id="{9E5C4D69-7E35-4702-F201-613B045B3A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  <a:stCxn id="22" idx="4"/>
              <a:endCxn id="7" idx="1"/>
            </p:cNvCxnSpPr>
            <p:nvPr/>
          </p:nvCxnSpPr>
          <p:spPr>
            <a:xfrm>
              <a:off x="3928829" y="2369006"/>
              <a:ext cx="1956937" cy="961072"/>
            </a:xfrm>
            <a:prstGeom prst="bentConnector3">
              <a:avLst>
                <a:gd name="adj1" fmla="val 50000"/>
              </a:avLst>
            </a:prstGeom>
            <a:ln w="28575" cap="rnd">
              <a:solidFill>
                <a:schemeClr val="tx1"/>
              </a:solidFill>
              <a:headEnd type="none" w="lg" len="med"/>
              <a:tailEnd type="arrow" w="lg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F429FB8-BEA4-D7BB-48C0-1EEE6497E62C}"/>
              </a:ext>
            </a:extLst>
          </p:cNvPr>
          <p:cNvGraphicFramePr>
            <a:graphicFrameLocks noGrp="1"/>
          </p:cNvGraphicFramePr>
          <p:nvPr/>
        </p:nvGraphicFramePr>
        <p:xfrm>
          <a:off x="3700223" y="3010415"/>
          <a:ext cx="3250384" cy="731520"/>
        </p:xfrm>
        <a:graphic>
          <a:graphicData uri="http://schemas.openxmlformats.org/drawingml/2006/table">
            <a:tbl>
              <a:tblPr bandRow="1">
                <a:tableStyleId>{BC89EF96-8CEA-46FF-86C4-4CE0E7609802}</a:tableStyleId>
              </a:tblPr>
              <a:tblGrid>
                <a:gridCol w="301612">
                  <a:extLst>
                    <a:ext uri="{9D8B030D-6E8A-4147-A177-3AD203B41FA5}">
                      <a16:colId xmlns:a16="http://schemas.microsoft.com/office/drawing/2014/main" val="461969700"/>
                    </a:ext>
                  </a:extLst>
                </a:gridCol>
                <a:gridCol w="2948772">
                  <a:extLst>
                    <a:ext uri="{9D8B030D-6E8A-4147-A177-3AD203B41FA5}">
                      <a16:colId xmlns:a16="http://schemas.microsoft.com/office/drawing/2014/main" val="1482892922"/>
                    </a:ext>
                  </a:extLst>
                </a:gridCol>
              </a:tblGrid>
              <a:tr h="305171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  <a:endParaRPr lang="en-US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TrailBlaze Hiking Boots</a:t>
                      </a:r>
                      <a:endParaRPr lang="en-US" b="0" u="none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6800493"/>
                  </a:ext>
                </a:extLst>
              </a:tr>
              <a:tr h="305171"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  <a:endParaRPr lang="en-US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u="none"/>
                        <a:t>SummitPack 40L Backpack</a:t>
                      </a:r>
                      <a:endParaRPr lang="en-US" b="0" u="none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8461184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FD29FC2-1365-2AC2-F9F7-A61AE2329BBB}"/>
              </a:ext>
            </a:extLst>
          </p:cNvPr>
          <p:cNvGraphicFramePr>
            <a:graphicFrameLocks noGrp="1"/>
          </p:cNvGraphicFramePr>
          <p:nvPr/>
        </p:nvGraphicFramePr>
        <p:xfrm>
          <a:off x="3700223" y="5302462"/>
          <a:ext cx="3250384" cy="1097280"/>
        </p:xfrm>
        <a:graphic>
          <a:graphicData uri="http://schemas.openxmlformats.org/drawingml/2006/table">
            <a:tbl>
              <a:tblPr bandRow="1">
                <a:tableStyleId>{BDBED569-4797-4DF1-A0F4-6AAB3CD982D8}</a:tableStyleId>
              </a:tblPr>
              <a:tblGrid>
                <a:gridCol w="340928">
                  <a:extLst>
                    <a:ext uri="{9D8B030D-6E8A-4147-A177-3AD203B41FA5}">
                      <a16:colId xmlns:a16="http://schemas.microsoft.com/office/drawing/2014/main" val="461969700"/>
                    </a:ext>
                  </a:extLst>
                </a:gridCol>
                <a:gridCol w="2909456">
                  <a:extLst>
                    <a:ext uri="{9D8B030D-6E8A-4147-A177-3AD203B41FA5}">
                      <a16:colId xmlns:a16="http://schemas.microsoft.com/office/drawing/2014/main" val="1482892922"/>
                    </a:ext>
                  </a:extLst>
                </a:gridCol>
              </a:tblGrid>
              <a:tr h="305171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  <a:endParaRPr lang="en-US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u="none"/>
                        <a:t>TrailBlaze Hiking Boots</a:t>
                      </a:r>
                      <a:endParaRPr lang="en-US" b="0" u="none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2526485"/>
                  </a:ext>
                </a:extLst>
              </a:tr>
              <a:tr h="305171"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  <a:endParaRPr lang="en-US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ArcticShield Down Jacket</a:t>
                      </a:r>
                      <a:endParaRPr lang="en-US" b="0" u="none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6800493"/>
                  </a:ext>
                </a:extLst>
              </a:tr>
              <a:tr h="30517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3</a:t>
                      </a:r>
                      <a:endParaRPr lang="en-US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 u="none"/>
                        <a:t>SummitPack 40L Backpack</a:t>
                      </a:r>
                      <a:endParaRPr lang="en-US" b="1" u="sng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482149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035FC93-A448-C050-E65F-B16AFCAB5D1D}"/>
              </a:ext>
            </a:extLst>
          </p:cNvPr>
          <p:cNvGraphicFramePr>
            <a:graphicFrameLocks noGrp="1"/>
          </p:cNvGraphicFramePr>
          <p:nvPr/>
        </p:nvGraphicFramePr>
        <p:xfrm>
          <a:off x="8145132" y="4071839"/>
          <a:ext cx="3481383" cy="1097280"/>
        </p:xfrm>
        <a:graphic>
          <a:graphicData uri="http://schemas.openxmlformats.org/drawingml/2006/table">
            <a:tbl>
              <a:tblPr bandRow="1">
                <a:tableStyleId>{8799B23B-EC83-4686-B30A-512413B5E67A}</a:tableStyleId>
              </a:tblPr>
              <a:tblGrid>
                <a:gridCol w="550909">
                  <a:extLst>
                    <a:ext uri="{9D8B030D-6E8A-4147-A177-3AD203B41FA5}">
                      <a16:colId xmlns:a16="http://schemas.microsoft.com/office/drawing/2014/main" val="461969700"/>
                    </a:ext>
                  </a:extLst>
                </a:gridCol>
                <a:gridCol w="2930474">
                  <a:extLst>
                    <a:ext uri="{9D8B030D-6E8A-4147-A177-3AD203B41FA5}">
                      <a16:colId xmlns:a16="http://schemas.microsoft.com/office/drawing/2014/main" val="1482892922"/>
                    </a:ext>
                  </a:extLst>
                </a:gridCol>
              </a:tblGrid>
              <a:tr h="305171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  <a:endParaRPr lang="en-US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u="none"/>
                        <a:t>TrailBlaze Hiking Boots</a:t>
                      </a:r>
                      <a:endParaRPr lang="en-US" b="0" u="none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6800493"/>
                  </a:ext>
                </a:extLst>
              </a:tr>
              <a:tr h="30517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2</a:t>
                      </a:r>
                      <a:endParaRPr lang="en-US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u="none" strike="noStrike" noProof="0">
                          <a:solidFill>
                            <a:srgbClr val="000000"/>
                          </a:solidFill>
                        </a:rPr>
                        <a:t>SummitPack 40L Backpack</a:t>
                      </a:r>
                      <a:endParaRPr lang="en-US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623344"/>
                  </a:ext>
                </a:extLst>
              </a:tr>
              <a:tr h="30517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3</a:t>
                      </a:r>
                      <a:endParaRPr lang="en-US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ArcticShield Down Jacket</a:t>
                      </a:r>
                      <a:endParaRPr lang="en-US" b="0" u="none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482149"/>
                  </a:ext>
                </a:extLst>
              </a:tr>
            </a:tbl>
          </a:graphicData>
        </a:graphic>
      </p:graphicFrame>
      <p:grpSp>
        <p:nvGrpSpPr>
          <p:cNvPr id="20" name="Group 19">
            <a:extLst>
              <a:ext uri="{FF2B5EF4-FFF2-40B4-BE49-F238E27FC236}">
                <a16:creationId xmlns:a16="http://schemas.microsoft.com/office/drawing/2014/main" id="{45D76AC5-EB79-A5D0-4607-3886635347CF}"/>
              </a:ext>
            </a:extLst>
          </p:cNvPr>
          <p:cNvGrpSpPr/>
          <p:nvPr/>
        </p:nvGrpSpPr>
        <p:grpSpPr>
          <a:xfrm>
            <a:off x="3324118" y="2195432"/>
            <a:ext cx="2850216" cy="2948141"/>
            <a:chOff x="1086705" y="2032144"/>
            <a:chExt cx="2850216" cy="2948141"/>
          </a:xfrm>
        </p:grpSpPr>
        <p:sp>
          <p:nvSpPr>
            <p:cNvPr id="21" name="Flowchart: Magnetic Disk 4">
              <a:extLst>
                <a:ext uri="{FF2B5EF4-FFF2-40B4-BE49-F238E27FC236}">
                  <a16:creationId xmlns:a16="http://schemas.microsoft.com/office/drawing/2014/main" id="{EA48F78B-DB58-C97A-942C-FFE573D8B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888665" y="4299856"/>
              <a:ext cx="2048256" cy="680429"/>
            </a:xfrm>
            <a:prstGeom prst="flowChartMagneticDisk">
              <a:avLst/>
            </a:prstGeom>
            <a:solidFill>
              <a:schemeClr val="accent5"/>
            </a:solidFill>
            <a:ln w="25400">
              <a:solidFill>
                <a:schemeClr val="bg1"/>
              </a:solidFill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Vector search</a:t>
              </a:r>
            </a:p>
          </p:txBody>
        </p:sp>
        <p:sp>
          <p:nvSpPr>
            <p:cNvPr id="22" name="Flowchart: Magnetic Disk 5">
              <a:extLst>
                <a:ext uri="{FF2B5EF4-FFF2-40B4-BE49-F238E27FC236}">
                  <a16:creationId xmlns:a16="http://schemas.microsoft.com/office/drawing/2014/main" id="{014F9F02-156F-A941-D2ED-AB9114FFA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880573" y="2032144"/>
              <a:ext cx="2048256" cy="673724"/>
            </a:xfrm>
            <a:prstGeom prst="flowChartMagneticDisk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Keyword search</a:t>
              </a:r>
            </a:p>
          </p:txBody>
        </p:sp>
        <p:cxnSp>
          <p:nvCxnSpPr>
            <p:cNvPr id="23" name="Connector: Elbow 6">
              <a:extLst>
                <a:ext uri="{FF2B5EF4-FFF2-40B4-BE49-F238E27FC236}">
                  <a16:creationId xmlns:a16="http://schemas.microsoft.com/office/drawing/2014/main" id="{AF619210-5B79-54BC-7F36-8E63F6F9555C}"/>
                </a:ext>
              </a:extLst>
            </p:cNvPr>
            <p:cNvCxnSpPr>
              <a:cxnSpLocks/>
              <a:endCxn id="22" idx="2"/>
            </p:cNvCxnSpPr>
            <p:nvPr/>
          </p:nvCxnSpPr>
          <p:spPr>
            <a:xfrm rot="5400000" flipH="1" flipV="1">
              <a:off x="941768" y="2513943"/>
              <a:ext cx="1083742" cy="793868"/>
            </a:xfrm>
            <a:prstGeom prst="bentConnector2">
              <a:avLst/>
            </a:prstGeom>
            <a:ln w="28575" cap="rnd">
              <a:solidFill>
                <a:schemeClr val="tx1"/>
              </a:solidFill>
              <a:headEnd type="none" w="lg" len="med"/>
              <a:tailEnd type="arrow" w="lg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: Elbow 8">
              <a:extLst>
                <a:ext uri="{FF2B5EF4-FFF2-40B4-BE49-F238E27FC236}">
                  <a16:creationId xmlns:a16="http://schemas.microsoft.com/office/drawing/2014/main" id="{196543BA-F80E-0A29-5E13-9C1B264D3920}"/>
                </a:ext>
              </a:extLst>
            </p:cNvPr>
            <p:cNvCxnSpPr>
              <a:cxnSpLocks/>
              <a:endCxn id="21" idx="2"/>
            </p:cNvCxnSpPr>
            <p:nvPr/>
          </p:nvCxnSpPr>
          <p:spPr>
            <a:xfrm rot="16200000" flipH="1">
              <a:off x="894024" y="3645429"/>
              <a:ext cx="1187323" cy="801960"/>
            </a:xfrm>
            <a:prstGeom prst="bentConnector2">
              <a:avLst/>
            </a:prstGeom>
            <a:ln w="28575" cap="rnd">
              <a:solidFill>
                <a:schemeClr val="tx1"/>
              </a:solidFill>
              <a:headEnd type="none" w="lg" len="med"/>
              <a:tailEnd type="arrow" w="lg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Rounded Rectangular Callout 26">
            <a:extLst>
              <a:ext uri="{FF2B5EF4-FFF2-40B4-BE49-F238E27FC236}">
                <a16:creationId xmlns:a16="http://schemas.microsoft.com/office/drawing/2014/main" id="{33BA2C9A-5BB9-FD4A-7B58-C91C0E1A70A4}"/>
              </a:ext>
            </a:extLst>
          </p:cNvPr>
          <p:cNvSpPr/>
          <p:nvPr/>
        </p:nvSpPr>
        <p:spPr>
          <a:xfrm>
            <a:off x="1049416" y="2953254"/>
            <a:ext cx="1819837" cy="1325562"/>
          </a:xfrm>
          <a:prstGeom prst="wedgeRoundRectCallou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EF0D5D-D6E6-BFA5-1F14-6E687C9DBF2B}"/>
              </a:ext>
            </a:extLst>
          </p:cNvPr>
          <p:cNvSpPr txBox="1"/>
          <p:nvPr/>
        </p:nvSpPr>
        <p:spPr>
          <a:xfrm>
            <a:off x="1265897" y="3138412"/>
            <a:ext cx="160335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protection from rain on rocky paths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3C63937-547F-CA7D-FB78-95FEC7614714}"/>
              </a:ext>
            </a:extLst>
          </p:cNvPr>
          <p:cNvCxnSpPr>
            <a:cxnSpLocks/>
          </p:cNvCxnSpPr>
          <p:nvPr/>
        </p:nvCxnSpPr>
        <p:spPr>
          <a:xfrm flipH="1">
            <a:off x="2904433" y="3683205"/>
            <a:ext cx="419685" cy="0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9194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4EE62-A24A-D9B8-7DC5-411D5C8A1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D25E9-A4A5-E4BA-0FCF-DB1CF6A41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Knowledge retrieval from PostgreSQL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BA95E8-80F7-1BA6-3D60-2E4BA87191DD}"/>
              </a:ext>
            </a:extLst>
          </p:cNvPr>
          <p:cNvSpPr txBox="1"/>
          <p:nvPr/>
        </p:nvSpPr>
        <p:spPr>
          <a:xfrm>
            <a:off x="1132793" y="1629691"/>
            <a:ext cx="1114258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/>
              <a:t>PostgreSQL can do a hybrid search with an embedding model and SQL query: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F48782-A5BD-0B3A-78DF-041D8E97AC67}"/>
              </a:ext>
            </a:extLst>
          </p:cNvPr>
          <p:cNvSpPr txBox="1"/>
          <p:nvPr/>
        </p:nvSpPr>
        <p:spPr>
          <a:xfrm>
            <a:off x="1132793" y="227425"/>
            <a:ext cx="3168620" cy="461665"/>
          </a:xfrm>
          <a:prstGeom prst="rect">
            <a:avLst/>
          </a:prstGeom>
          <a:solidFill>
            <a:schemeClr val="accent3"/>
          </a:solidFill>
          <a:effectLst>
            <a:softEdge rad="31750"/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agent-framework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990BD0-0C3E-C07A-0B3E-6A326AB0020E}"/>
              </a:ext>
            </a:extLst>
          </p:cNvPr>
          <p:cNvSpPr txBox="1"/>
          <p:nvPr/>
        </p:nvSpPr>
        <p:spPr>
          <a:xfrm>
            <a:off x="1132793" y="6286301"/>
            <a:ext cx="65281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0" i="0" u="sng">
                <a:solidFill>
                  <a:srgbClr val="00008B"/>
                </a:solidFill>
                <a:effectLst/>
                <a:latin typeface="Aptos" panose="020B0004020202020204" pitchFamily="34" charset="0"/>
                <a:hlinkClick r:id="rId2"/>
              </a:rPr>
              <a:t>Full example: agent_knowledge_postgres.py</a:t>
            </a:r>
            <a:endParaRPr lang="en-US" sz="2200"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2C5D12-FBD4-9CA9-FE4B-50DA9F567DBD}"/>
              </a:ext>
            </a:extLst>
          </p:cNvPr>
          <p:cNvSpPr txBox="1"/>
          <p:nvPr/>
        </p:nvSpPr>
        <p:spPr>
          <a:xfrm>
            <a:off x="1215921" y="2131317"/>
            <a:ext cx="10219458" cy="41549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200">
                <a:latin typeface="Consolas" panose="020B0609020204030204" pitchFamily="49" charset="0"/>
                <a:cs typeface="Consolas" panose="020B0609020204030204" pitchFamily="49" charset="0"/>
              </a:rPr>
              <a:t>WITH semantic_search AS (</a:t>
            </a:r>
          </a:p>
          <a:p>
            <a:r>
              <a:rPr lang="en-US" sz="1200">
                <a:latin typeface="Consolas" panose="020B0609020204030204" pitchFamily="49" charset="0"/>
                <a:cs typeface="Consolas" panose="020B0609020204030204" pitchFamily="49" charset="0"/>
              </a:rPr>
              <a:t>    SELECT id, RANK() OVER (ORDER BY embedding &lt;=&gt; %(embedding)s::vector(256)) AS rank</a:t>
            </a:r>
          </a:p>
          <a:p>
            <a:r>
              <a:rPr lang="en-US" sz="1200">
                <a:latin typeface="Consolas" panose="020B0609020204030204" pitchFamily="49" charset="0"/>
                <a:cs typeface="Consolas" panose="020B0609020204030204" pitchFamily="49" charset="0"/>
              </a:rPr>
              <a:t>    FROM products</a:t>
            </a:r>
          </a:p>
          <a:p>
            <a:r>
              <a:rPr lang="en-US" sz="1200">
                <a:latin typeface="Consolas" panose="020B0609020204030204" pitchFamily="49" charset="0"/>
                <a:cs typeface="Consolas" panose="020B0609020204030204" pitchFamily="49" charset="0"/>
              </a:rPr>
              <a:t>    ORDER BY embedding &lt;=&gt; %(embedding)s::vector(256)</a:t>
            </a:r>
          </a:p>
          <a:p>
            <a:r>
              <a:rPr lang="en-US" sz="1200">
                <a:latin typeface="Consolas" panose="020B0609020204030204" pitchFamily="49" charset="0"/>
                <a:cs typeface="Consolas" panose="020B0609020204030204" pitchFamily="49" charset="0"/>
              </a:rPr>
              <a:t>    LIMIT 20</a:t>
            </a:r>
          </a:p>
          <a:p>
            <a:r>
              <a:rPr lang="en-US" sz="1200">
                <a:latin typeface="Consolas" panose="020B0609020204030204" pitchFamily="49" charset="0"/>
                <a:cs typeface="Consolas" panose="020B0609020204030204" pitchFamily="49" charset="0"/>
              </a:rPr>
              <a:t>),</a:t>
            </a:r>
          </a:p>
          <a:p>
            <a:r>
              <a:rPr lang="en-US" sz="1200">
                <a:latin typeface="Consolas" panose="020B0609020204030204" pitchFamily="49" charset="0"/>
                <a:cs typeface="Consolas" panose="020B0609020204030204" pitchFamily="49" charset="0"/>
              </a:rPr>
              <a:t>keyword_search AS (</a:t>
            </a:r>
          </a:p>
          <a:p>
            <a:r>
              <a:rPr lang="en-US" sz="1200">
                <a:latin typeface="Consolas" panose="020B0609020204030204" pitchFamily="49" charset="0"/>
                <a:cs typeface="Consolas" panose="020B0609020204030204" pitchFamily="49" charset="0"/>
              </a:rPr>
              <a:t>    SELECT id, RANK() OVER (ORDER BY ts_rank_cd(</a:t>
            </a:r>
          </a:p>
          <a:p>
            <a:r>
              <a:rPr lang="en-US" sz="1200">
                <a:latin typeface="Consolas" panose="020B0609020204030204" pitchFamily="49" charset="0"/>
                <a:cs typeface="Consolas" panose="020B0609020204030204" pitchFamily="49" charset="0"/>
              </a:rPr>
              <a:t>        to_tsvector('english', name || ' ' || description), query) DESC)</a:t>
            </a:r>
          </a:p>
          <a:p>
            <a:r>
              <a:rPr lang="en-US" sz="1200">
                <a:latin typeface="Consolas" panose="020B0609020204030204" pitchFamily="49" charset="0"/>
                <a:cs typeface="Consolas" panose="020B0609020204030204" pitchFamily="49" charset="0"/>
              </a:rPr>
              <a:t>    FROM products, plainto_tsquery('english', %(query)s) query</a:t>
            </a:r>
          </a:p>
          <a:p>
            <a:r>
              <a:rPr lang="en-US" sz="1200">
                <a:latin typeface="Consolas" panose="020B0609020204030204" pitchFamily="49" charset="0"/>
                <a:cs typeface="Consolas" panose="020B0609020204030204" pitchFamily="49" charset="0"/>
              </a:rPr>
              <a:t>    WHERE to_tsvector('english', name || ' ' || description) @@ query</a:t>
            </a:r>
          </a:p>
          <a:p>
            <a:r>
              <a:rPr lang="en-US" sz="1200">
                <a:latin typeface="Consolas" panose="020B0609020204030204" pitchFamily="49" charset="0"/>
                <a:cs typeface="Consolas" panose="020B0609020204030204" pitchFamily="49" charset="0"/>
              </a:rPr>
              <a:t>    ORDER BY ts_rank_cd(...) DESC</a:t>
            </a:r>
          </a:p>
          <a:p>
            <a:r>
              <a:rPr lang="en-US" sz="1200">
                <a:latin typeface="Consolas" panose="020B0609020204030204" pitchFamily="49" charset="0"/>
                <a:cs typeface="Consolas" panose="020B0609020204030204" pitchFamily="49" charset="0"/>
              </a:rPr>
              <a:t>    LIMIT 20</a:t>
            </a:r>
          </a:p>
          <a:p>
            <a:r>
              <a:rPr lang="en-US" sz="120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sz="1200">
                <a:latin typeface="Consolas" panose="020B0609020204030204" pitchFamily="49" charset="0"/>
                <a:cs typeface="Consolas" panose="020B0609020204030204" pitchFamily="49" charset="0"/>
              </a:rPr>
              <a:t>SELECT</a:t>
            </a:r>
          </a:p>
          <a:p>
            <a:r>
              <a:rPr lang="en-US" sz="1200">
                <a:latin typeface="Consolas" panose="020B0609020204030204" pitchFamily="49" charset="0"/>
                <a:cs typeface="Consolas" panose="020B0609020204030204" pitchFamily="49" charset="0"/>
              </a:rPr>
              <a:t>    COALESCE(semantic_search.id, keyword_search.id) AS id,</a:t>
            </a:r>
          </a:p>
          <a:p>
            <a:r>
              <a:rPr lang="en-US" sz="1200">
                <a:latin typeface="Consolas" panose="020B0609020204030204" pitchFamily="49" charset="0"/>
                <a:cs typeface="Consolas" panose="020B0609020204030204" pitchFamily="49" charset="0"/>
              </a:rPr>
              <a:t>    COALESCE(1.0 / (60 + semantic_search.rank), 0.0) +</a:t>
            </a:r>
          </a:p>
          <a:p>
            <a:r>
              <a:rPr lang="en-US" sz="1200">
                <a:latin typeface="Consolas" panose="020B0609020204030204" pitchFamily="49" charset="0"/>
                <a:cs typeface="Consolas" panose="020B0609020204030204" pitchFamily="49" charset="0"/>
              </a:rPr>
              <a:t>    COALESCE(1.0 / (60 + keyword_search.rank), 0.0) AS score</a:t>
            </a:r>
          </a:p>
          <a:p>
            <a:r>
              <a:rPr lang="en-US" sz="1200">
                <a:latin typeface="Consolas" panose="020B0609020204030204" pitchFamily="49" charset="0"/>
                <a:cs typeface="Consolas" panose="020B0609020204030204" pitchFamily="49" charset="0"/>
              </a:rPr>
              <a:t>FROM semantic_search</a:t>
            </a:r>
          </a:p>
          <a:p>
            <a:r>
              <a:rPr lang="en-US" sz="1200">
                <a:latin typeface="Consolas" panose="020B0609020204030204" pitchFamily="49" charset="0"/>
                <a:cs typeface="Consolas" panose="020B0609020204030204" pitchFamily="49" charset="0"/>
              </a:rPr>
              <a:t>FULL OUTER JOIN keyword_search ON semantic_search.id = keyword_search.id</a:t>
            </a:r>
          </a:p>
          <a:p>
            <a:r>
              <a:rPr lang="en-US" sz="1200">
                <a:latin typeface="Consolas" panose="020B0609020204030204" pitchFamily="49" charset="0"/>
                <a:cs typeface="Consolas" panose="020B0609020204030204" pitchFamily="49" charset="0"/>
              </a:rPr>
              <a:t>ORDER BY score DESC</a:t>
            </a:r>
          </a:p>
          <a:p>
            <a:r>
              <a:rPr lang="en-US" sz="1200">
                <a:latin typeface="Consolas" panose="020B0609020204030204" pitchFamily="49" charset="0"/>
                <a:cs typeface="Consolas" panose="020B0609020204030204" pitchFamily="49" charset="0"/>
              </a:rPr>
              <a:t>LIMIT 3</a:t>
            </a:r>
          </a:p>
        </p:txBody>
      </p:sp>
    </p:spTree>
    <p:extLst>
      <p:ext uri="{BB962C8B-B14F-4D97-AF65-F5344CB8AC3E}">
        <p14:creationId xmlns:p14="http://schemas.microsoft.com/office/powerpoint/2010/main" val="15542379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B164B-EA2A-A0AA-A601-7CDC89FAB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DF08D-1399-66ED-CC71-0DC3E40D8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Improve retrieval for multi-turn conversations</a:t>
            </a:r>
          </a:p>
        </p:txBody>
      </p:sp>
      <p:sp>
        <p:nvSpPr>
          <p:cNvPr id="27" name="Rounded Rectangular Callout 26">
            <a:extLst>
              <a:ext uri="{FF2B5EF4-FFF2-40B4-BE49-F238E27FC236}">
                <a16:creationId xmlns:a16="http://schemas.microsoft.com/office/drawing/2014/main" id="{B14756B6-297E-78D5-43D5-2839A10B8E38}"/>
              </a:ext>
            </a:extLst>
          </p:cNvPr>
          <p:cNvSpPr/>
          <p:nvPr/>
        </p:nvSpPr>
        <p:spPr>
          <a:xfrm>
            <a:off x="1049415" y="4971676"/>
            <a:ext cx="2378612" cy="1234203"/>
          </a:xfrm>
          <a:prstGeom prst="wedgeRoundRectCallou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what similar gear do you have for snowy situations?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BDF44D3-BAFB-472D-4609-16121145D7E0}"/>
              </a:ext>
            </a:extLst>
          </p:cNvPr>
          <p:cNvCxnSpPr>
            <a:cxnSpLocks/>
          </p:cNvCxnSpPr>
          <p:nvPr/>
        </p:nvCxnSpPr>
        <p:spPr>
          <a:xfrm flipH="1">
            <a:off x="3735705" y="5346064"/>
            <a:ext cx="419685" cy="0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ounded Rectangular Callout 2">
            <a:extLst>
              <a:ext uri="{FF2B5EF4-FFF2-40B4-BE49-F238E27FC236}">
                <a16:creationId xmlns:a16="http://schemas.microsoft.com/office/drawing/2014/main" id="{1345A352-847B-9225-62F7-827CF6032640}"/>
              </a:ext>
            </a:extLst>
          </p:cNvPr>
          <p:cNvSpPr/>
          <p:nvPr/>
        </p:nvSpPr>
        <p:spPr>
          <a:xfrm>
            <a:off x="1049413" y="3594154"/>
            <a:ext cx="2378612" cy="1138298"/>
          </a:xfrm>
          <a:prstGeom prst="wedgeRoundRectCallou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Check out our Down Jacket and Hiking Boots!</a:t>
            </a:r>
          </a:p>
        </p:txBody>
      </p:sp>
      <p:sp>
        <p:nvSpPr>
          <p:cNvPr id="4" name="Rounded Rectangular Callout 3">
            <a:extLst>
              <a:ext uri="{FF2B5EF4-FFF2-40B4-BE49-F238E27FC236}">
                <a16:creationId xmlns:a16="http://schemas.microsoft.com/office/drawing/2014/main" id="{6D72EF7D-87BC-0D0C-405E-337C6325FE1E}"/>
              </a:ext>
            </a:extLst>
          </p:cNvPr>
          <p:cNvSpPr/>
          <p:nvPr/>
        </p:nvSpPr>
        <p:spPr>
          <a:xfrm>
            <a:off x="1049413" y="2185685"/>
            <a:ext cx="2378613" cy="1138301"/>
          </a:xfrm>
          <a:prstGeom prst="wedgeRoundRectCallou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 need protection from rain on rocky paths.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48665C-D0E4-DDE6-D36E-15AC7BFFC369}"/>
              </a:ext>
            </a:extLst>
          </p:cNvPr>
          <p:cNvSpPr/>
          <p:nvPr/>
        </p:nvSpPr>
        <p:spPr bwMode="auto">
          <a:xfrm>
            <a:off x="4266449" y="4971677"/>
            <a:ext cx="929764" cy="686429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LLM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D919AB9-FFFD-7E50-1922-AC855F018D56}"/>
              </a:ext>
            </a:extLst>
          </p:cNvPr>
          <p:cNvSpPr/>
          <p:nvPr/>
        </p:nvSpPr>
        <p:spPr bwMode="auto">
          <a:xfrm>
            <a:off x="9507682" y="4871917"/>
            <a:ext cx="1684417" cy="85695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Knowledge store</a:t>
            </a:r>
            <a:endParaRPr lang="en-US" sz="1600" b="1" err="1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70638667-D6E6-9DAC-2D2C-601AC42A857C}"/>
              </a:ext>
            </a:extLst>
          </p:cNvPr>
          <p:cNvSpPr/>
          <p:nvPr/>
        </p:nvSpPr>
        <p:spPr>
          <a:xfrm>
            <a:off x="3501736" y="2535382"/>
            <a:ext cx="517195" cy="3501735"/>
          </a:xfrm>
          <a:prstGeom prst="rightBrace">
            <a:avLst>
              <a:gd name="adj1" fmla="val 8333"/>
              <a:gd name="adj2" fmla="val 80114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E8B5545-C241-CC37-7077-46248D10565F}"/>
              </a:ext>
            </a:extLst>
          </p:cNvPr>
          <p:cNvCxnSpPr>
            <a:cxnSpLocks/>
          </p:cNvCxnSpPr>
          <p:nvPr/>
        </p:nvCxnSpPr>
        <p:spPr>
          <a:xfrm flipH="1">
            <a:off x="5196213" y="5313026"/>
            <a:ext cx="891094" cy="1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4A70EDE4-0F6A-0F2A-1F64-EA185A3F0A93}"/>
              </a:ext>
            </a:extLst>
          </p:cNvPr>
          <p:cNvSpPr txBox="1">
            <a:spLocks/>
          </p:cNvSpPr>
          <p:nvPr/>
        </p:nvSpPr>
        <p:spPr>
          <a:xfrm>
            <a:off x="4129990" y="3757203"/>
            <a:ext cx="1838218" cy="3323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/>
              <a:t>"Suggest a search query based on this conversation"</a:t>
            </a:r>
          </a:p>
        </p:txBody>
      </p:sp>
      <p:sp>
        <p:nvSpPr>
          <p:cNvPr id="25" name="Rounded Rectangular Callout 24">
            <a:extLst>
              <a:ext uri="{FF2B5EF4-FFF2-40B4-BE49-F238E27FC236}">
                <a16:creationId xmlns:a16="http://schemas.microsoft.com/office/drawing/2014/main" id="{9A788CF9-336E-9431-5DEB-94249A8AE3CC}"/>
              </a:ext>
            </a:extLst>
          </p:cNvPr>
          <p:cNvSpPr/>
          <p:nvPr/>
        </p:nvSpPr>
        <p:spPr>
          <a:xfrm>
            <a:off x="6087307" y="4743875"/>
            <a:ext cx="2378613" cy="1138301"/>
          </a:xfrm>
          <a:prstGeom prst="wedgeRoundRectCallout">
            <a:avLst>
              <a:gd name="adj1" fmla="val -19959"/>
              <a:gd name="adj2" fmla="val 37853"/>
              <a:gd name="adj3" fmla="val 1666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protective jackets and boots for hiking in snow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50C96B51-0A93-8A94-5312-65D8FD697245}"/>
              </a:ext>
            </a:extLst>
          </p:cNvPr>
          <p:cNvSpPr txBox="1">
            <a:spLocks/>
          </p:cNvSpPr>
          <p:nvPr/>
        </p:nvSpPr>
        <p:spPr>
          <a:xfrm>
            <a:off x="1454693" y="1783821"/>
            <a:ext cx="1838218" cy="3323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/>
              <a:t>Conversation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B68654EE-7150-E23C-3365-A4F49BC21687}"/>
              </a:ext>
            </a:extLst>
          </p:cNvPr>
          <p:cNvSpPr txBox="1">
            <a:spLocks/>
          </p:cNvSpPr>
          <p:nvPr/>
        </p:nvSpPr>
        <p:spPr>
          <a:xfrm>
            <a:off x="6332285" y="4358986"/>
            <a:ext cx="2112853" cy="3323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/>
              <a:t>Rewritten query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51E2DD3-49C6-C2F7-7ACB-895502E9278F}"/>
              </a:ext>
            </a:extLst>
          </p:cNvPr>
          <p:cNvCxnSpPr>
            <a:cxnSpLocks/>
          </p:cNvCxnSpPr>
          <p:nvPr/>
        </p:nvCxnSpPr>
        <p:spPr>
          <a:xfrm flipH="1">
            <a:off x="8445138" y="5313025"/>
            <a:ext cx="1062544" cy="0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47851194-1280-7383-6873-FFDDD659E784}"/>
              </a:ext>
            </a:extLst>
          </p:cNvPr>
          <p:cNvSpPr txBox="1">
            <a:spLocks/>
          </p:cNvSpPr>
          <p:nvPr/>
        </p:nvSpPr>
        <p:spPr>
          <a:xfrm>
            <a:off x="8516520" y="4908029"/>
            <a:ext cx="1077209" cy="3323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/>
              <a:t>search</a:t>
            </a: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2366AF72-D0B8-7959-0088-E36C17095E45}"/>
              </a:ext>
            </a:extLst>
          </p:cNvPr>
          <p:cNvSpPr txBox="1">
            <a:spLocks/>
          </p:cNvSpPr>
          <p:nvPr/>
        </p:nvSpPr>
        <p:spPr>
          <a:xfrm>
            <a:off x="5968208" y="1959019"/>
            <a:ext cx="5877428" cy="104831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/>
              <a:t>Tip: Use a query rewriting step when the input is an entire conversation, as the final message may be missing important context.</a:t>
            </a:r>
          </a:p>
        </p:txBody>
      </p:sp>
    </p:spTree>
    <p:extLst>
      <p:ext uri="{BB962C8B-B14F-4D97-AF65-F5344CB8AC3E}">
        <p14:creationId xmlns:p14="http://schemas.microsoft.com/office/powerpoint/2010/main" val="34772896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FC06A-BAB5-4108-272A-48C4810B4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FD5DE-9764-BEB9-94F0-C590A1FDA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Query rewriting in a context provider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80CD2B-1E99-1B3B-0A78-82541B49809A}"/>
              </a:ext>
            </a:extLst>
          </p:cNvPr>
          <p:cNvSpPr txBox="1"/>
          <p:nvPr/>
        </p:nvSpPr>
        <p:spPr>
          <a:xfrm>
            <a:off x="1132793" y="1629691"/>
            <a:ext cx="1114258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/>
              <a:t>Use an LLM to rewrite the query based off the user/agent messages so far: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4F55E7-103B-3FED-10C3-9CABD2D17A02}"/>
              </a:ext>
            </a:extLst>
          </p:cNvPr>
          <p:cNvSpPr txBox="1"/>
          <p:nvPr/>
        </p:nvSpPr>
        <p:spPr>
          <a:xfrm>
            <a:off x="1132793" y="227425"/>
            <a:ext cx="3168620" cy="461665"/>
          </a:xfrm>
          <a:prstGeom prst="rect">
            <a:avLst/>
          </a:prstGeom>
          <a:solidFill>
            <a:schemeClr val="accent3"/>
          </a:solidFill>
          <a:effectLst>
            <a:softEdge rad="31750"/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agent-framework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DA6A31-5F23-4A0C-45CC-B48231B42EA5}"/>
              </a:ext>
            </a:extLst>
          </p:cNvPr>
          <p:cNvSpPr txBox="1"/>
          <p:nvPr/>
        </p:nvSpPr>
        <p:spPr>
          <a:xfrm>
            <a:off x="1132793" y="6399742"/>
            <a:ext cx="65281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0" i="0" u="sng">
                <a:solidFill>
                  <a:srgbClr val="00008B"/>
                </a:solidFill>
                <a:effectLst/>
                <a:latin typeface="Aptos" panose="020B0004020202020204" pitchFamily="34" charset="0"/>
                <a:hlinkClick r:id="rId2"/>
              </a:rPr>
              <a:t>Full example: agent_knowledge_pg_rewrite.py</a:t>
            </a:r>
            <a:endParaRPr lang="en-US" sz="2200"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AAA5C0-C5C8-70AB-5055-36991E29F8ED}"/>
              </a:ext>
            </a:extLst>
          </p:cNvPr>
          <p:cNvSpPr txBox="1"/>
          <p:nvPr/>
        </p:nvSpPr>
        <p:spPr>
          <a:xfrm>
            <a:off x="1179552" y="2152668"/>
            <a:ext cx="10783846" cy="41549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22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PostgresQueryRewriteProvider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BaseContextProvider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endParaRPr lang="en-US" sz="22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async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before_run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2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agent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2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session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2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context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2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state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sz="22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conversation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[</a:t>
            </a:r>
          </a:p>
          <a:p>
            <a:pPr>
              <a:buNone/>
            </a:pP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  <a:r>
              <a:rPr lang="en-US" sz="22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context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.get_messages() + </a:t>
            </a:r>
            <a:r>
              <a:rPr lang="en-US" sz="22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context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.input_messages</a:t>
            </a:r>
          </a:p>
          <a:p>
            <a:pPr>
              <a:buNone/>
            </a:pP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  <a:r>
              <a:rPr lang="en-US" sz="2200" b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.role </a:t>
            </a:r>
            <a:r>
              <a:rPr lang="en-US" sz="2200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US" sz="2200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"user"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200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"assistant"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sz="2200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and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.text]</a:t>
            </a:r>
          </a:p>
          <a:p>
            <a:pPr>
              <a:buNone/>
            </a:pP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22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search_query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200" b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await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._rewrite_query(</a:t>
            </a:r>
            <a:r>
              <a:rPr lang="en-US" sz="22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conversation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</a:p>
          <a:p>
            <a:pPr>
              <a:buNone/>
            </a:pP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22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results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2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._search(</a:t>
            </a:r>
            <a:r>
              <a:rPr lang="en-US" sz="22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search_query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2200" b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if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results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  <a:r>
              <a:rPr lang="en-US" sz="22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context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.extend_messages(</a:t>
            </a:r>
            <a:r>
              <a:rPr lang="en-US" sz="22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.source_id,</a:t>
            </a:r>
          </a:p>
          <a:p>
            <a:pPr>
              <a:buNone/>
            </a:pP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22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Message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role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"user"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2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text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._format_results(</a:t>
            </a:r>
            <a:r>
              <a:rPr lang="en-US" sz="22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results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))])</a:t>
            </a:r>
          </a:p>
        </p:txBody>
      </p:sp>
    </p:spTree>
    <p:extLst>
      <p:ext uri="{BB962C8B-B14F-4D97-AF65-F5344CB8AC3E}">
        <p14:creationId xmlns:p14="http://schemas.microsoft.com/office/powerpoint/2010/main" val="6384792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07A3F-37DC-17A4-E551-9A0F90634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594F9-D35F-4731-DF27-97FCBF19D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Knowledge retrieval with Azure AI Search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169E28-3DD2-B7B2-D803-107FE10D5DFE}"/>
              </a:ext>
            </a:extLst>
          </p:cNvPr>
          <p:cNvSpPr txBox="1"/>
          <p:nvPr/>
        </p:nvSpPr>
        <p:spPr>
          <a:xfrm>
            <a:off x="1155281" y="7525628"/>
            <a:ext cx="10913981" cy="1200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/>
              <a:t>Learn more: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Python+AI RAG stream: </a:t>
            </a:r>
            <a:r>
              <a:rPr lang="en-US" sz="2400">
                <a:hlinkClick r:id="rId3"/>
              </a:rPr>
              <a:t>aka.ms/pythonai/resources</a:t>
            </a: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Ignite talk on Agentic RAG with Azure AI Search: </a:t>
            </a:r>
            <a:r>
              <a:rPr lang="en-US" sz="2400">
                <a:hlinkClick r:id="rId4"/>
              </a:rPr>
              <a:t>aka.ms/agenticrag/ignite/video</a:t>
            </a:r>
            <a:endParaRPr lang="en-US" sz="2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1BA5C-99CB-DCCF-241D-323232BEE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417" y="1638956"/>
            <a:ext cx="10913981" cy="74234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/>
              <a:t>Azure AI Search has a </a:t>
            </a:r>
            <a:r>
              <a:rPr lang="en-US" sz="2400" b="1"/>
              <a:t>knowledge base </a:t>
            </a:r>
            <a:r>
              <a:rPr lang="en-US" sz="2400"/>
              <a:t>feature which has </a:t>
            </a:r>
            <a:r>
              <a:rPr lang="en-US" sz="2400" b="1"/>
              <a:t>query rewriting </a:t>
            </a:r>
            <a:r>
              <a:rPr lang="en-US" sz="2400"/>
              <a:t>and </a:t>
            </a:r>
            <a:r>
              <a:rPr lang="en-US" sz="2400" b="1"/>
              <a:t>hybrid search </a:t>
            </a:r>
            <a:r>
              <a:rPr lang="en-US" sz="2400"/>
              <a:t>built-in, plus </a:t>
            </a:r>
            <a:r>
              <a:rPr lang="en-US" sz="2400" b="1"/>
              <a:t>multi-source selection </a:t>
            </a:r>
            <a:r>
              <a:rPr lang="en-US" sz="2400"/>
              <a:t>and a </a:t>
            </a:r>
            <a:r>
              <a:rPr lang="en-US" sz="2400" b="1"/>
              <a:t>reflection</a:t>
            </a:r>
            <a:r>
              <a:rPr lang="en-US" sz="2400"/>
              <a:t> step.</a:t>
            </a:r>
          </a:p>
          <a:p>
            <a:pPr marL="457200" lvl="1" indent="0">
              <a:buNone/>
            </a:pPr>
            <a:endParaRPr lang="en-US" sz="20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7615EE-A716-5D53-87F3-923BC866A770}"/>
              </a:ext>
            </a:extLst>
          </p:cNvPr>
          <p:cNvSpPr/>
          <p:nvPr/>
        </p:nvSpPr>
        <p:spPr bwMode="auto">
          <a:xfrm>
            <a:off x="2922478" y="3320591"/>
            <a:ext cx="1435089" cy="1483942"/>
          </a:xfrm>
          <a:prstGeom prst="rect">
            <a:avLst/>
          </a:prstGeom>
          <a:solidFill>
            <a:srgbClr val="2D8287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FFFFFF"/>
                </a:solidFill>
                <a:ea typeface="Segoe UI" pitchFamily="34" charset="0"/>
                <a:cs typeface="Segoe UI" pitchFamily="34" charset="0"/>
              </a:rPr>
              <a:t>Query planning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699EF6-F77D-ABE8-A732-C2C199EEF31E}"/>
              </a:ext>
            </a:extLst>
          </p:cNvPr>
          <p:cNvSpPr/>
          <p:nvPr/>
        </p:nvSpPr>
        <p:spPr bwMode="auto">
          <a:xfrm>
            <a:off x="4863339" y="3424255"/>
            <a:ext cx="1237317" cy="612732"/>
          </a:xfrm>
          <a:prstGeom prst="rect">
            <a:avLst/>
          </a:prstGeom>
          <a:solidFill>
            <a:srgbClr val="2D8287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FFFFFF"/>
                </a:solidFill>
                <a:ea typeface="Segoe UI" pitchFamily="34" charset="0"/>
                <a:cs typeface="Segoe UI" pitchFamily="34" charset="0"/>
              </a:rPr>
              <a:t>Query 1</a:t>
            </a: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2D771C-346B-BDB0-03EE-3BCC0764DCB7}"/>
              </a:ext>
            </a:extLst>
          </p:cNvPr>
          <p:cNvSpPr/>
          <p:nvPr/>
        </p:nvSpPr>
        <p:spPr bwMode="auto">
          <a:xfrm>
            <a:off x="4873335" y="4197739"/>
            <a:ext cx="1237317" cy="612732"/>
          </a:xfrm>
          <a:prstGeom prst="rect">
            <a:avLst/>
          </a:prstGeom>
          <a:solidFill>
            <a:srgbClr val="2D8287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FFFFFF"/>
                </a:solidFill>
                <a:ea typeface="Segoe UI" pitchFamily="34" charset="0"/>
                <a:cs typeface="Segoe UI" pitchFamily="34" charset="0"/>
              </a:rPr>
              <a:t>Query 2</a:t>
            </a: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3EA4E0E-78CD-977D-04D5-6F94FDD3B2D8}"/>
              </a:ext>
            </a:extLst>
          </p:cNvPr>
          <p:cNvCxnSpPr>
            <a:cxnSpLocks/>
          </p:cNvCxnSpPr>
          <p:nvPr/>
        </p:nvCxnSpPr>
        <p:spPr>
          <a:xfrm>
            <a:off x="4367281" y="3730621"/>
            <a:ext cx="463694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2B761F6-8C9B-7F1F-4F07-5355059B161E}"/>
              </a:ext>
            </a:extLst>
          </p:cNvPr>
          <p:cNvCxnSpPr>
            <a:cxnSpLocks/>
          </p:cNvCxnSpPr>
          <p:nvPr/>
        </p:nvCxnSpPr>
        <p:spPr>
          <a:xfrm>
            <a:off x="4367281" y="4527850"/>
            <a:ext cx="463694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36C3741D-6B8D-3E74-20A9-EA424787D3DD}"/>
              </a:ext>
            </a:extLst>
          </p:cNvPr>
          <p:cNvSpPr/>
          <p:nvPr/>
        </p:nvSpPr>
        <p:spPr bwMode="auto">
          <a:xfrm>
            <a:off x="7666183" y="2766593"/>
            <a:ext cx="2079780" cy="553998"/>
          </a:xfrm>
          <a:prstGeom prst="rect">
            <a:avLst/>
          </a:prstGeom>
          <a:solidFill>
            <a:srgbClr val="9B3AB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FFFFFF"/>
                </a:solidFill>
                <a:ea typeface="Segoe UI" pitchFamily="34" charset="0"/>
                <a:cs typeface="Segoe UI" pitchFamily="34" charset="0"/>
              </a:rPr>
              <a:t>Search Indexes</a:t>
            </a: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E16E7C-9924-833C-3020-A20AFC927F93}"/>
              </a:ext>
            </a:extLst>
          </p:cNvPr>
          <p:cNvSpPr/>
          <p:nvPr/>
        </p:nvSpPr>
        <p:spPr bwMode="auto">
          <a:xfrm>
            <a:off x="7708865" y="3524953"/>
            <a:ext cx="1994416" cy="553998"/>
          </a:xfrm>
          <a:prstGeom prst="rect">
            <a:avLst/>
          </a:prstGeom>
          <a:solidFill>
            <a:srgbClr val="9B3AB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FFFFFF"/>
                </a:solidFill>
                <a:ea typeface="Segoe UI" pitchFamily="34" charset="0"/>
                <a:cs typeface="Segoe UI" pitchFamily="34" charset="0"/>
              </a:rPr>
              <a:t>OneLake</a:t>
            </a: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2C9428-7737-02BE-9B13-F70AA5E8FCA3}"/>
              </a:ext>
            </a:extLst>
          </p:cNvPr>
          <p:cNvSpPr/>
          <p:nvPr/>
        </p:nvSpPr>
        <p:spPr bwMode="auto">
          <a:xfrm>
            <a:off x="7708865" y="4250539"/>
            <a:ext cx="1994416" cy="553998"/>
          </a:xfrm>
          <a:prstGeom prst="rect">
            <a:avLst/>
          </a:prstGeom>
          <a:solidFill>
            <a:srgbClr val="9B3AB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FFFFFF"/>
                </a:solidFill>
                <a:ea typeface="Segoe UI" pitchFamily="34" charset="0"/>
                <a:cs typeface="Segoe UI" pitchFamily="34" charset="0"/>
              </a:rPr>
              <a:t>SharePoint</a:t>
            </a: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04B9F3-4113-2C89-207C-5743A1B56D50}"/>
              </a:ext>
            </a:extLst>
          </p:cNvPr>
          <p:cNvSpPr/>
          <p:nvPr/>
        </p:nvSpPr>
        <p:spPr bwMode="auto">
          <a:xfrm>
            <a:off x="7708865" y="5022334"/>
            <a:ext cx="1994416" cy="553998"/>
          </a:xfrm>
          <a:prstGeom prst="rect">
            <a:avLst/>
          </a:prstGeom>
          <a:solidFill>
            <a:srgbClr val="9B3AB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FFFFFF"/>
                </a:solidFill>
                <a:ea typeface="Segoe UI" pitchFamily="34" charset="0"/>
                <a:cs typeface="Segoe UI" pitchFamily="34" charset="0"/>
              </a:rPr>
              <a:t>Bing</a:t>
            </a: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10E7F00-1D7F-1B02-BC2B-758A6C69B3E2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 flipV="1">
            <a:off x="6100656" y="3043592"/>
            <a:ext cx="1565527" cy="687029"/>
          </a:xfrm>
          <a:prstGeom prst="straightConnector1">
            <a:avLst/>
          </a:prstGeom>
          <a:ln w="28575">
            <a:solidFill>
              <a:srgbClr val="1766B9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083B104-4470-D519-F3A2-E2FDA59F33AF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>
            <a:off x="6110652" y="4504105"/>
            <a:ext cx="1598213" cy="23433"/>
          </a:xfrm>
          <a:prstGeom prst="straightConnector1">
            <a:avLst/>
          </a:prstGeom>
          <a:ln w="28575">
            <a:solidFill>
              <a:srgbClr val="1766B9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3A61E3D-6A02-7AAD-C632-69A7EA0B07FC}"/>
              </a:ext>
            </a:extLst>
          </p:cNvPr>
          <p:cNvCxnSpPr>
            <a:cxnSpLocks/>
            <a:stCxn id="9" idx="3"/>
            <a:endCxn id="35" idx="1"/>
          </p:cNvCxnSpPr>
          <p:nvPr/>
        </p:nvCxnSpPr>
        <p:spPr>
          <a:xfrm>
            <a:off x="9745963" y="3043592"/>
            <a:ext cx="438324" cy="1204944"/>
          </a:xfrm>
          <a:prstGeom prst="straightConnector1">
            <a:avLst/>
          </a:prstGeom>
          <a:ln w="28575">
            <a:solidFill>
              <a:srgbClr val="E84F74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3634D705-8199-961F-B098-33A486B3A8EB}"/>
              </a:ext>
            </a:extLst>
          </p:cNvPr>
          <p:cNvSpPr/>
          <p:nvPr/>
        </p:nvSpPr>
        <p:spPr bwMode="auto">
          <a:xfrm>
            <a:off x="3936739" y="5709363"/>
            <a:ext cx="2685752" cy="560590"/>
          </a:xfrm>
          <a:prstGeom prst="rect">
            <a:avLst/>
          </a:prstGeom>
          <a:solidFill>
            <a:srgbClr val="E94F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FFFFFF"/>
                </a:solidFill>
                <a:ea typeface="Segoe UI" pitchFamily="34" charset="0"/>
                <a:cs typeface="Segoe UI" pitchFamily="34" charset="0"/>
              </a:rPr>
              <a:t>Iterative retrieval</a:t>
            </a: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18" name="Connector: Elbow 62">
            <a:extLst>
              <a:ext uri="{FF2B5EF4-FFF2-40B4-BE49-F238E27FC236}">
                <a16:creationId xmlns:a16="http://schemas.microsoft.com/office/drawing/2014/main" id="{7650C349-6D09-F3FF-BB03-B9EF2EE48293}"/>
              </a:ext>
            </a:extLst>
          </p:cNvPr>
          <p:cNvCxnSpPr>
            <a:cxnSpLocks/>
            <a:stCxn id="35" idx="2"/>
            <a:endCxn id="17" idx="3"/>
          </p:cNvCxnSpPr>
          <p:nvPr/>
        </p:nvCxnSpPr>
        <p:spPr>
          <a:xfrm rot="5400000">
            <a:off x="8761408" y="3607347"/>
            <a:ext cx="243394" cy="4521228"/>
          </a:xfrm>
          <a:prstGeom prst="bentConnector2">
            <a:avLst/>
          </a:prstGeom>
          <a:ln w="28575">
            <a:solidFill>
              <a:srgbClr val="E94F00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64">
            <a:extLst>
              <a:ext uri="{FF2B5EF4-FFF2-40B4-BE49-F238E27FC236}">
                <a16:creationId xmlns:a16="http://schemas.microsoft.com/office/drawing/2014/main" id="{7DE0D235-5A50-785C-9174-C1B42147AAA7}"/>
              </a:ext>
            </a:extLst>
          </p:cNvPr>
          <p:cNvCxnSpPr>
            <a:cxnSpLocks/>
            <a:stCxn id="17" idx="1"/>
            <a:endCxn id="4" idx="2"/>
          </p:cNvCxnSpPr>
          <p:nvPr/>
        </p:nvCxnSpPr>
        <p:spPr>
          <a:xfrm rot="10800000">
            <a:off x="3640023" y="4804534"/>
            <a:ext cx="296716" cy="1185125"/>
          </a:xfrm>
          <a:prstGeom prst="bentConnector2">
            <a:avLst/>
          </a:prstGeom>
          <a:ln w="28575">
            <a:solidFill>
              <a:srgbClr val="E94F00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4">
            <a:extLst>
              <a:ext uri="{FF2B5EF4-FFF2-40B4-BE49-F238E27FC236}">
                <a16:creationId xmlns:a16="http://schemas.microsoft.com/office/drawing/2014/main" id="{7D1E1ABF-0F23-0F12-B342-C9BA64539360}"/>
              </a:ext>
            </a:extLst>
          </p:cNvPr>
          <p:cNvSpPr/>
          <p:nvPr/>
        </p:nvSpPr>
        <p:spPr bwMode="auto">
          <a:xfrm>
            <a:off x="1098065" y="3740091"/>
            <a:ext cx="1494090" cy="593792"/>
          </a:xfrm>
          <a:prstGeom prst="roundRect">
            <a:avLst>
              <a:gd name="adj" fmla="val 27866"/>
            </a:avLst>
          </a:prstGeom>
          <a:gradFill flip="none" rotWithShape="1">
            <a:gsLst>
              <a:gs pos="0">
                <a:srgbClr val="73262F">
                  <a:alpha val="10000"/>
                </a:srgbClr>
              </a:gs>
              <a:gs pos="80000">
                <a:srgbClr val="2A446F">
                  <a:alpha val="1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46304" rIns="9144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chemeClr val="tx1"/>
                </a:solidFill>
                <a:ea typeface="Segoe UI" pitchFamily="34" charset="0"/>
                <a:cs typeface="Segoe UI Semibold" panose="020B0702040204020203" pitchFamily="34" charset="0"/>
              </a:rPr>
              <a:t>Conversation</a:t>
            </a:r>
          </a:p>
        </p:txBody>
      </p:sp>
      <p:sp>
        <p:nvSpPr>
          <p:cNvPr id="21" name="Graphic 24">
            <a:extLst>
              <a:ext uri="{FF2B5EF4-FFF2-40B4-BE49-F238E27FC236}">
                <a16:creationId xmlns:a16="http://schemas.microsoft.com/office/drawing/2014/main" id="{2B10095A-9BB9-2541-4A71-227AC59DF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51684" y="3538605"/>
            <a:ext cx="489551" cy="489827"/>
          </a:xfrm>
          <a:custGeom>
            <a:avLst/>
            <a:gdLst>
              <a:gd name="connsiteX0" fmla="*/ 770994 w 907063"/>
              <a:gd name="connsiteY0" fmla="*/ 113334 h 907573"/>
              <a:gd name="connsiteX1" fmla="*/ 657654 w 907063"/>
              <a:gd name="connsiteY1" fmla="*/ 226764 h 907573"/>
              <a:gd name="connsiteX2" fmla="*/ 634387 w 907063"/>
              <a:gd name="connsiteY2" fmla="*/ 224361 h 907573"/>
              <a:gd name="connsiteX3" fmla="*/ 576334 w 907063"/>
              <a:gd name="connsiteY3" fmla="*/ 320421 h 907573"/>
              <a:gd name="connsiteX4" fmla="*/ 634932 w 907063"/>
              <a:gd name="connsiteY4" fmla="*/ 453897 h 907573"/>
              <a:gd name="connsiteX5" fmla="*/ 634932 w 907063"/>
              <a:gd name="connsiteY5" fmla="*/ 456528 h 907573"/>
              <a:gd name="connsiteX6" fmla="*/ 693710 w 907063"/>
              <a:gd name="connsiteY6" fmla="*/ 468365 h 907573"/>
              <a:gd name="connsiteX7" fmla="*/ 847197 w 907063"/>
              <a:gd name="connsiteY7" fmla="*/ 421959 h 907573"/>
              <a:gd name="connsiteX8" fmla="*/ 893603 w 907063"/>
              <a:gd name="connsiteY8" fmla="*/ 575451 h 907573"/>
              <a:gd name="connsiteX9" fmla="*/ 740117 w 907063"/>
              <a:gd name="connsiteY9" fmla="*/ 621852 h 907573"/>
              <a:gd name="connsiteX10" fmla="*/ 681057 w 907063"/>
              <a:gd name="connsiteY10" fmla="*/ 535217 h 907573"/>
              <a:gd name="connsiteX11" fmla="*/ 621189 w 907063"/>
              <a:gd name="connsiteY11" fmla="*/ 523198 h 907573"/>
              <a:gd name="connsiteX12" fmla="*/ 542183 w 907063"/>
              <a:gd name="connsiteY12" fmla="*/ 612228 h 907573"/>
              <a:gd name="connsiteX13" fmla="*/ 564633 w 907063"/>
              <a:gd name="connsiteY13" fmla="*/ 680803 h 907573"/>
              <a:gd name="connsiteX14" fmla="*/ 566901 w 907063"/>
              <a:gd name="connsiteY14" fmla="*/ 680803 h 907573"/>
              <a:gd name="connsiteX15" fmla="*/ 680204 w 907063"/>
              <a:gd name="connsiteY15" fmla="*/ 794270 h 907573"/>
              <a:gd name="connsiteX16" fmla="*/ 566737 w 907063"/>
              <a:gd name="connsiteY16" fmla="*/ 907573 h 907573"/>
              <a:gd name="connsiteX17" fmla="*/ 453434 w 907063"/>
              <a:gd name="connsiteY17" fmla="*/ 794106 h 907573"/>
              <a:gd name="connsiteX18" fmla="*/ 500140 w 907063"/>
              <a:gd name="connsiteY18" fmla="*/ 702482 h 907573"/>
              <a:gd name="connsiteX19" fmla="*/ 477644 w 907063"/>
              <a:gd name="connsiteY19" fmla="*/ 633726 h 907573"/>
              <a:gd name="connsiteX20" fmla="*/ 307476 w 907063"/>
              <a:gd name="connsiteY20" fmla="*/ 561477 h 907573"/>
              <a:gd name="connsiteX21" fmla="*/ 226066 w 907063"/>
              <a:gd name="connsiteY21" fmla="*/ 599937 h 907573"/>
              <a:gd name="connsiteX22" fmla="*/ 126102 w 907063"/>
              <a:gd name="connsiteY22" fmla="*/ 725314 h 907573"/>
              <a:gd name="connsiteX23" fmla="*/ 725 w 907063"/>
              <a:gd name="connsiteY23" fmla="*/ 625353 h 907573"/>
              <a:gd name="connsiteX24" fmla="*/ 100688 w 907063"/>
              <a:gd name="connsiteY24" fmla="*/ 499972 h 907573"/>
              <a:gd name="connsiteX25" fmla="*/ 198490 w 907063"/>
              <a:gd name="connsiteY25" fmla="*/ 537711 h 907573"/>
              <a:gd name="connsiteX26" fmla="*/ 278041 w 907063"/>
              <a:gd name="connsiteY26" fmla="*/ 500158 h 907573"/>
              <a:gd name="connsiteX27" fmla="*/ 313599 w 907063"/>
              <a:gd name="connsiteY27" fmla="*/ 338381 h 907573"/>
              <a:gd name="connsiteX28" fmla="*/ 268653 w 907063"/>
              <a:gd name="connsiteY28" fmla="*/ 287131 h 907573"/>
              <a:gd name="connsiteX29" fmla="*/ 121392 w 907063"/>
              <a:gd name="connsiteY29" fmla="*/ 223675 h 907573"/>
              <a:gd name="connsiteX30" fmla="*/ 184848 w 907063"/>
              <a:gd name="connsiteY30" fmla="*/ 76415 h 907573"/>
              <a:gd name="connsiteX31" fmla="*/ 332109 w 907063"/>
              <a:gd name="connsiteY31" fmla="*/ 139870 h 907573"/>
              <a:gd name="connsiteX32" fmla="*/ 321445 w 907063"/>
              <a:gd name="connsiteY32" fmla="*/ 244135 h 907573"/>
              <a:gd name="connsiteX33" fmla="*/ 366028 w 907063"/>
              <a:gd name="connsiteY33" fmla="*/ 294932 h 907573"/>
              <a:gd name="connsiteX34" fmla="*/ 453516 w 907063"/>
              <a:gd name="connsiteY34" fmla="*/ 272482 h 907573"/>
              <a:gd name="connsiteX35" fmla="*/ 518553 w 907063"/>
              <a:gd name="connsiteY35" fmla="*/ 284500 h 907573"/>
              <a:gd name="connsiteX36" fmla="*/ 575019 w 907063"/>
              <a:gd name="connsiteY36" fmla="*/ 191071 h 907573"/>
              <a:gd name="connsiteX37" fmla="*/ 579922 w 907063"/>
              <a:gd name="connsiteY37" fmla="*/ 30796 h 907573"/>
              <a:gd name="connsiteX38" fmla="*/ 740198 w 907063"/>
              <a:gd name="connsiteY38" fmla="*/ 35699 h 907573"/>
              <a:gd name="connsiteX39" fmla="*/ 770994 w 907063"/>
              <a:gd name="connsiteY39" fmla="*/ 113380 h 907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907063" h="907573">
                <a:moveTo>
                  <a:pt x="770994" y="113334"/>
                </a:moveTo>
                <a:cubicBezTo>
                  <a:pt x="771016" y="175955"/>
                  <a:pt x="720274" y="226739"/>
                  <a:pt x="657654" y="226764"/>
                </a:cubicBezTo>
                <a:cubicBezTo>
                  <a:pt x="649835" y="226767"/>
                  <a:pt x="642039" y="225962"/>
                  <a:pt x="634387" y="224361"/>
                </a:cubicBezTo>
                <a:lnTo>
                  <a:pt x="576334" y="320421"/>
                </a:lnTo>
                <a:cubicBezTo>
                  <a:pt x="613715" y="354730"/>
                  <a:pt x="634977" y="403160"/>
                  <a:pt x="634932" y="453897"/>
                </a:cubicBezTo>
                <a:lnTo>
                  <a:pt x="634932" y="456528"/>
                </a:lnTo>
                <a:lnTo>
                  <a:pt x="693710" y="468365"/>
                </a:lnTo>
                <a:cubicBezTo>
                  <a:pt x="723281" y="413165"/>
                  <a:pt x="792001" y="392388"/>
                  <a:pt x="847197" y="421959"/>
                </a:cubicBezTo>
                <a:cubicBezTo>
                  <a:pt x="902398" y="451530"/>
                  <a:pt x="923174" y="520250"/>
                  <a:pt x="893603" y="575451"/>
                </a:cubicBezTo>
                <a:cubicBezTo>
                  <a:pt x="864033" y="630646"/>
                  <a:pt x="795317" y="651423"/>
                  <a:pt x="740117" y="621852"/>
                </a:cubicBezTo>
                <a:cubicBezTo>
                  <a:pt x="707457" y="604359"/>
                  <a:pt x="685406" y="572013"/>
                  <a:pt x="681057" y="535217"/>
                </a:cubicBezTo>
                <a:lnTo>
                  <a:pt x="621189" y="523198"/>
                </a:lnTo>
                <a:cubicBezTo>
                  <a:pt x="605570" y="560887"/>
                  <a:pt x="577749" y="592241"/>
                  <a:pt x="542183" y="612228"/>
                </a:cubicBezTo>
                <a:lnTo>
                  <a:pt x="564633" y="680803"/>
                </a:lnTo>
                <a:lnTo>
                  <a:pt x="566901" y="680803"/>
                </a:lnTo>
                <a:cubicBezTo>
                  <a:pt x="629521" y="680849"/>
                  <a:pt x="680249" y="731650"/>
                  <a:pt x="680204" y="794270"/>
                </a:cubicBezTo>
                <a:cubicBezTo>
                  <a:pt x="680159" y="856890"/>
                  <a:pt x="629358" y="907618"/>
                  <a:pt x="566737" y="907573"/>
                </a:cubicBezTo>
                <a:cubicBezTo>
                  <a:pt x="504117" y="907528"/>
                  <a:pt x="453389" y="856727"/>
                  <a:pt x="453434" y="794106"/>
                </a:cubicBezTo>
                <a:cubicBezTo>
                  <a:pt x="453461" y="757855"/>
                  <a:pt x="470818" y="723803"/>
                  <a:pt x="500140" y="702482"/>
                </a:cubicBezTo>
                <a:lnTo>
                  <a:pt x="477644" y="633726"/>
                </a:lnTo>
                <a:cubicBezTo>
                  <a:pt x="411976" y="642579"/>
                  <a:pt x="346715" y="614872"/>
                  <a:pt x="307476" y="561477"/>
                </a:cubicBezTo>
                <a:lnTo>
                  <a:pt x="226066" y="599937"/>
                </a:lnTo>
                <a:cubicBezTo>
                  <a:pt x="233084" y="662163"/>
                  <a:pt x="188328" y="718297"/>
                  <a:pt x="126102" y="725314"/>
                </a:cubicBezTo>
                <a:cubicBezTo>
                  <a:pt x="63876" y="732334"/>
                  <a:pt x="7743" y="687579"/>
                  <a:pt x="725" y="625353"/>
                </a:cubicBezTo>
                <a:cubicBezTo>
                  <a:pt x="-6294" y="563123"/>
                  <a:pt x="38462" y="506993"/>
                  <a:pt x="100688" y="499972"/>
                </a:cubicBezTo>
                <a:cubicBezTo>
                  <a:pt x="137496" y="495823"/>
                  <a:pt x="174011" y="509914"/>
                  <a:pt x="198490" y="537711"/>
                </a:cubicBezTo>
                <a:lnTo>
                  <a:pt x="278041" y="500158"/>
                </a:lnTo>
                <a:cubicBezTo>
                  <a:pt x="263193" y="443652"/>
                  <a:pt x="276425" y="383454"/>
                  <a:pt x="313599" y="338381"/>
                </a:cubicBezTo>
                <a:lnTo>
                  <a:pt x="268653" y="287131"/>
                </a:lnTo>
                <a:cubicBezTo>
                  <a:pt x="210465" y="310273"/>
                  <a:pt x="144535" y="281863"/>
                  <a:pt x="121392" y="223675"/>
                </a:cubicBezTo>
                <a:cubicBezTo>
                  <a:pt x="98251" y="165488"/>
                  <a:pt x="126660" y="99557"/>
                  <a:pt x="184848" y="76415"/>
                </a:cubicBezTo>
                <a:cubicBezTo>
                  <a:pt x="243036" y="53273"/>
                  <a:pt x="308966" y="81683"/>
                  <a:pt x="332109" y="139870"/>
                </a:cubicBezTo>
                <a:cubicBezTo>
                  <a:pt x="345794" y="174281"/>
                  <a:pt x="341813" y="213207"/>
                  <a:pt x="321445" y="244135"/>
                </a:cubicBezTo>
                <a:lnTo>
                  <a:pt x="366028" y="294932"/>
                </a:lnTo>
                <a:cubicBezTo>
                  <a:pt x="392819" y="280159"/>
                  <a:pt x="422925" y="272434"/>
                  <a:pt x="453516" y="272482"/>
                </a:cubicBezTo>
                <a:cubicBezTo>
                  <a:pt x="476420" y="272482"/>
                  <a:pt x="498416" y="276745"/>
                  <a:pt x="518553" y="284500"/>
                </a:cubicBezTo>
                <a:lnTo>
                  <a:pt x="575019" y="191071"/>
                </a:lnTo>
                <a:cubicBezTo>
                  <a:pt x="532114" y="145458"/>
                  <a:pt x="534309" y="73701"/>
                  <a:pt x="579922" y="30796"/>
                </a:cubicBezTo>
                <a:cubicBezTo>
                  <a:pt x="625534" y="-12109"/>
                  <a:pt x="697293" y="-9914"/>
                  <a:pt x="740198" y="35699"/>
                </a:cubicBezTo>
                <a:cubicBezTo>
                  <a:pt x="759977" y="56728"/>
                  <a:pt x="770994" y="84510"/>
                  <a:pt x="770994" y="113380"/>
                </a:cubicBezTo>
                <a:close/>
              </a:path>
            </a:pathLst>
          </a:custGeom>
          <a:solidFill>
            <a:schemeClr val="bg1"/>
          </a:solidFill>
          <a:ln w="4524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DAD1AA8-F538-8FFD-EB96-8F4D71B14783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2592155" y="4036987"/>
            <a:ext cx="338094" cy="6120"/>
          </a:xfrm>
          <a:prstGeom prst="straightConnector1">
            <a:avLst/>
          </a:prstGeom>
          <a:ln w="28575"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E639E6E-6A0A-E3E9-E20C-F4BB82DE567D}"/>
              </a:ext>
            </a:extLst>
          </p:cNvPr>
          <p:cNvCxnSpPr>
            <a:cxnSpLocks/>
            <a:stCxn id="12" idx="3"/>
            <a:endCxn id="35" idx="1"/>
          </p:cNvCxnSpPr>
          <p:nvPr/>
        </p:nvCxnSpPr>
        <p:spPr>
          <a:xfrm flipV="1">
            <a:off x="9703281" y="4248536"/>
            <a:ext cx="481006" cy="1050797"/>
          </a:xfrm>
          <a:prstGeom prst="straightConnector1">
            <a:avLst/>
          </a:prstGeom>
          <a:ln w="28575">
            <a:solidFill>
              <a:srgbClr val="E84F74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FFE809D-2550-1D8F-C610-556CDD83F5AA}"/>
              </a:ext>
            </a:extLst>
          </p:cNvPr>
          <p:cNvCxnSpPr>
            <a:cxnSpLocks/>
            <a:stCxn id="11" idx="3"/>
            <a:endCxn id="35" idx="1"/>
          </p:cNvCxnSpPr>
          <p:nvPr/>
        </p:nvCxnSpPr>
        <p:spPr>
          <a:xfrm flipV="1">
            <a:off x="9703281" y="4248536"/>
            <a:ext cx="481006" cy="279002"/>
          </a:xfrm>
          <a:prstGeom prst="straightConnector1">
            <a:avLst/>
          </a:prstGeom>
          <a:ln w="28575">
            <a:solidFill>
              <a:srgbClr val="E84F74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7FA16DC-0E39-34EF-3B0B-B4EB32D7AF4A}"/>
              </a:ext>
            </a:extLst>
          </p:cNvPr>
          <p:cNvCxnSpPr>
            <a:cxnSpLocks/>
            <a:stCxn id="10" idx="3"/>
            <a:endCxn id="35" idx="1"/>
          </p:cNvCxnSpPr>
          <p:nvPr/>
        </p:nvCxnSpPr>
        <p:spPr>
          <a:xfrm>
            <a:off x="9703281" y="3801952"/>
            <a:ext cx="481006" cy="446584"/>
          </a:xfrm>
          <a:prstGeom prst="straightConnector1">
            <a:avLst/>
          </a:prstGeom>
          <a:ln w="28575">
            <a:solidFill>
              <a:srgbClr val="E84F74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101A70A-9116-097D-33AB-A71717E4B4D9}"/>
              </a:ext>
            </a:extLst>
          </p:cNvPr>
          <p:cNvCxnSpPr>
            <a:cxnSpLocks/>
            <a:stCxn id="6" idx="3"/>
            <a:endCxn id="12" idx="1"/>
          </p:cNvCxnSpPr>
          <p:nvPr/>
        </p:nvCxnSpPr>
        <p:spPr>
          <a:xfrm>
            <a:off x="6110652" y="4504105"/>
            <a:ext cx="1598213" cy="795228"/>
          </a:xfrm>
          <a:prstGeom prst="straightConnector1">
            <a:avLst/>
          </a:prstGeom>
          <a:ln w="28575">
            <a:solidFill>
              <a:srgbClr val="1766B9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F206785-9764-05EC-9DBE-607FC741B2B8}"/>
              </a:ext>
            </a:extLst>
          </p:cNvPr>
          <p:cNvCxnSpPr>
            <a:cxnSpLocks/>
            <a:stCxn id="5" idx="3"/>
            <a:endCxn id="10" idx="1"/>
          </p:cNvCxnSpPr>
          <p:nvPr/>
        </p:nvCxnSpPr>
        <p:spPr>
          <a:xfrm>
            <a:off x="6100656" y="3730621"/>
            <a:ext cx="1608209" cy="71331"/>
          </a:xfrm>
          <a:prstGeom prst="straightConnector1">
            <a:avLst/>
          </a:prstGeom>
          <a:ln w="28575">
            <a:solidFill>
              <a:srgbClr val="1766B9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17921CD-9A52-3528-50FC-101C19C602EC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6100656" y="3730621"/>
            <a:ext cx="1608209" cy="796917"/>
          </a:xfrm>
          <a:prstGeom prst="straightConnector1">
            <a:avLst/>
          </a:prstGeom>
          <a:ln w="28575">
            <a:solidFill>
              <a:srgbClr val="1766B9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AE58118-77F9-0FF6-B12B-5945516E3546}"/>
              </a:ext>
            </a:extLst>
          </p:cNvPr>
          <p:cNvCxnSpPr>
            <a:cxnSpLocks/>
            <a:stCxn id="5" idx="3"/>
            <a:endCxn id="12" idx="1"/>
          </p:cNvCxnSpPr>
          <p:nvPr/>
        </p:nvCxnSpPr>
        <p:spPr>
          <a:xfrm>
            <a:off x="6100656" y="3730621"/>
            <a:ext cx="1608209" cy="1568712"/>
          </a:xfrm>
          <a:prstGeom prst="straightConnector1">
            <a:avLst/>
          </a:prstGeom>
          <a:ln w="28575">
            <a:solidFill>
              <a:srgbClr val="1766B9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F54507D-D26C-5D8C-4948-EDAADABE9414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 flipV="1">
            <a:off x="6110652" y="3801952"/>
            <a:ext cx="1598213" cy="702153"/>
          </a:xfrm>
          <a:prstGeom prst="straightConnector1">
            <a:avLst/>
          </a:prstGeom>
          <a:ln w="28575">
            <a:solidFill>
              <a:srgbClr val="1766B9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2475987-3CAA-D3C8-84AF-C1302EA4908D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 flipV="1">
            <a:off x="6110652" y="3043592"/>
            <a:ext cx="1555531" cy="1460513"/>
          </a:xfrm>
          <a:prstGeom prst="straightConnector1">
            <a:avLst/>
          </a:prstGeom>
          <a:ln w="28575">
            <a:solidFill>
              <a:srgbClr val="1766B9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02AAE47-63FA-3CEC-34FB-0312B8D7BD9F}"/>
              </a:ext>
            </a:extLst>
          </p:cNvPr>
          <p:cNvSpPr txBox="1"/>
          <p:nvPr/>
        </p:nvSpPr>
        <p:spPr>
          <a:xfrm rot="20179297">
            <a:off x="6091213" y="3035736"/>
            <a:ext cx="1545780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spAutoFit/>
          </a:bodyPr>
          <a:lstStyle/>
          <a:p>
            <a:pPr lvl="0" algn="ctr" defTabSz="914400">
              <a:defRPr/>
            </a:pPr>
            <a:r>
              <a:rPr lang="en-US" sz="1800">
                <a:solidFill>
                  <a:srgbClr val="1766B9"/>
                </a:solidFill>
                <a:cs typeface="Segoe UI" panose="020B0502040204020203" pitchFamily="34" charset="0"/>
              </a:rPr>
              <a:t>Search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FF034FC-2184-96C6-B410-B182849785FE}"/>
              </a:ext>
            </a:extLst>
          </p:cNvPr>
          <p:cNvSpPr txBox="1"/>
          <p:nvPr/>
        </p:nvSpPr>
        <p:spPr>
          <a:xfrm>
            <a:off x="1027924" y="6436252"/>
            <a:ext cx="10821627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lvl="0" algn="ctr" defTabSz="914400">
              <a:defRPr/>
            </a:pPr>
            <a:r>
              <a:rPr lang="en-US" sz="1800">
                <a:solidFill>
                  <a:srgbClr val="1766B9"/>
                </a:solidFill>
              </a:rPr>
              <a:t>Search step uses </a:t>
            </a:r>
            <a:r>
              <a:rPr lang="en-US" sz="1800">
                <a:solidFill>
                  <a:srgbClr val="1766B9"/>
                </a:solidFill>
                <a:cs typeface="Segoe UI" panose="020B0502040204020203" pitchFamily="34" charset="0"/>
              </a:rPr>
              <a:t>hybrid</a:t>
            </a:r>
            <a:r>
              <a:rPr lang="en-US" sz="1800">
                <a:solidFill>
                  <a:srgbClr val="1766B9"/>
                </a:solidFill>
              </a:rPr>
              <a:t> search with semantic re-ranking when supported by the knowledge source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0580A2B-8AF3-5DC3-CFAA-9DFFE640AB89}"/>
              </a:ext>
            </a:extLst>
          </p:cNvPr>
          <p:cNvSpPr txBox="1"/>
          <p:nvPr/>
        </p:nvSpPr>
        <p:spPr>
          <a:xfrm>
            <a:off x="7604036" y="2426927"/>
            <a:ext cx="2141927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lvl="0" algn="ctr" defTabSz="914400">
              <a:defRPr/>
            </a:pPr>
            <a:r>
              <a:rPr lang="en-US" sz="1800">
                <a:solidFill>
                  <a:srgbClr val="9B3AB0"/>
                </a:solidFill>
              </a:rPr>
              <a:t>Knowledge sources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6232D41-A091-768E-F0EB-A6EA33E82AE2}"/>
              </a:ext>
            </a:extLst>
          </p:cNvPr>
          <p:cNvSpPr/>
          <p:nvPr/>
        </p:nvSpPr>
        <p:spPr bwMode="auto">
          <a:xfrm>
            <a:off x="10184287" y="2750808"/>
            <a:ext cx="1918864" cy="2995456"/>
          </a:xfrm>
          <a:prstGeom prst="rect">
            <a:avLst/>
          </a:prstGeom>
          <a:noFill/>
          <a:ln w="12700">
            <a:solidFill>
              <a:srgbClr val="E84F74"/>
            </a:solidFill>
            <a:prstDash val="sysDash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ED35FBF-7E85-7F5C-9ED8-F276F5E3183E}"/>
              </a:ext>
            </a:extLst>
          </p:cNvPr>
          <p:cNvSpPr txBox="1"/>
          <p:nvPr/>
        </p:nvSpPr>
        <p:spPr>
          <a:xfrm>
            <a:off x="10517597" y="2431211"/>
            <a:ext cx="1252244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lvl="0" algn="ctr" defTabSz="914400">
              <a:defRPr/>
            </a:pPr>
            <a:r>
              <a:rPr lang="en-US" sz="1800">
                <a:solidFill>
                  <a:srgbClr val="E84F74"/>
                </a:solidFill>
              </a:rPr>
              <a:t>Output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4DA8EAF-ECE4-3A3D-669F-7196CEFCE147}"/>
              </a:ext>
            </a:extLst>
          </p:cNvPr>
          <p:cNvSpPr/>
          <p:nvPr/>
        </p:nvSpPr>
        <p:spPr bwMode="auto">
          <a:xfrm>
            <a:off x="10330715" y="2786231"/>
            <a:ext cx="1626008" cy="842675"/>
          </a:xfrm>
          <a:prstGeom prst="rect">
            <a:avLst/>
          </a:prstGeom>
          <a:solidFill>
            <a:srgbClr val="E84F7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FFFFFF"/>
                </a:solidFill>
                <a:ea typeface="Segoe UI" pitchFamily="34" charset="0"/>
                <a:cs typeface="Segoe UI" pitchFamily="34" charset="0"/>
              </a:rPr>
              <a:t>Merged results</a:t>
            </a: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F9F3048-ACED-C435-6CCA-29BD2CCEDF62}"/>
              </a:ext>
            </a:extLst>
          </p:cNvPr>
          <p:cNvSpPr/>
          <p:nvPr/>
        </p:nvSpPr>
        <p:spPr bwMode="auto">
          <a:xfrm>
            <a:off x="10330715" y="3737030"/>
            <a:ext cx="1626008" cy="634855"/>
          </a:xfrm>
          <a:prstGeom prst="rect">
            <a:avLst/>
          </a:prstGeom>
          <a:solidFill>
            <a:srgbClr val="E84F7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FFFFFF"/>
                </a:solidFill>
                <a:ea typeface="Segoe UI" pitchFamily="34" charset="0"/>
                <a:cs typeface="Segoe UI" pitchFamily="34" charset="0"/>
              </a:rPr>
              <a:t>Activity log</a:t>
            </a: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E43CDB0-8A1D-25DA-2AA0-3E617FCA47CC}"/>
              </a:ext>
            </a:extLst>
          </p:cNvPr>
          <p:cNvSpPr/>
          <p:nvPr/>
        </p:nvSpPr>
        <p:spPr bwMode="auto">
          <a:xfrm>
            <a:off x="10337390" y="4497862"/>
            <a:ext cx="1626008" cy="1172992"/>
          </a:xfrm>
          <a:prstGeom prst="rect">
            <a:avLst/>
          </a:prstGeom>
          <a:solidFill>
            <a:srgbClr val="E84F7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FFFFFF"/>
                </a:solidFill>
                <a:ea typeface="Segoe UI" pitchFamily="34" charset="0"/>
                <a:cs typeface="Segoe UI" pitchFamily="34" charset="0"/>
              </a:rPr>
              <a:t>Answer synthesis</a:t>
            </a: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0" name="Graphic 24">
            <a:extLst>
              <a:ext uri="{FF2B5EF4-FFF2-40B4-BE49-F238E27FC236}">
                <a16:creationId xmlns:a16="http://schemas.microsoft.com/office/drawing/2014/main" id="{8595267B-5D4B-86A5-1351-E208796AB6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35352" y="4572989"/>
            <a:ext cx="391601" cy="391822"/>
          </a:xfrm>
          <a:custGeom>
            <a:avLst/>
            <a:gdLst>
              <a:gd name="connsiteX0" fmla="*/ 770994 w 907063"/>
              <a:gd name="connsiteY0" fmla="*/ 113334 h 907573"/>
              <a:gd name="connsiteX1" fmla="*/ 657654 w 907063"/>
              <a:gd name="connsiteY1" fmla="*/ 226764 h 907573"/>
              <a:gd name="connsiteX2" fmla="*/ 634387 w 907063"/>
              <a:gd name="connsiteY2" fmla="*/ 224361 h 907573"/>
              <a:gd name="connsiteX3" fmla="*/ 576334 w 907063"/>
              <a:gd name="connsiteY3" fmla="*/ 320421 h 907573"/>
              <a:gd name="connsiteX4" fmla="*/ 634932 w 907063"/>
              <a:gd name="connsiteY4" fmla="*/ 453897 h 907573"/>
              <a:gd name="connsiteX5" fmla="*/ 634932 w 907063"/>
              <a:gd name="connsiteY5" fmla="*/ 456528 h 907573"/>
              <a:gd name="connsiteX6" fmla="*/ 693710 w 907063"/>
              <a:gd name="connsiteY6" fmla="*/ 468365 h 907573"/>
              <a:gd name="connsiteX7" fmla="*/ 847197 w 907063"/>
              <a:gd name="connsiteY7" fmla="*/ 421959 h 907573"/>
              <a:gd name="connsiteX8" fmla="*/ 893603 w 907063"/>
              <a:gd name="connsiteY8" fmla="*/ 575451 h 907573"/>
              <a:gd name="connsiteX9" fmla="*/ 740117 w 907063"/>
              <a:gd name="connsiteY9" fmla="*/ 621852 h 907573"/>
              <a:gd name="connsiteX10" fmla="*/ 681057 w 907063"/>
              <a:gd name="connsiteY10" fmla="*/ 535217 h 907573"/>
              <a:gd name="connsiteX11" fmla="*/ 621189 w 907063"/>
              <a:gd name="connsiteY11" fmla="*/ 523198 h 907573"/>
              <a:gd name="connsiteX12" fmla="*/ 542183 w 907063"/>
              <a:gd name="connsiteY12" fmla="*/ 612228 h 907573"/>
              <a:gd name="connsiteX13" fmla="*/ 564633 w 907063"/>
              <a:gd name="connsiteY13" fmla="*/ 680803 h 907573"/>
              <a:gd name="connsiteX14" fmla="*/ 566901 w 907063"/>
              <a:gd name="connsiteY14" fmla="*/ 680803 h 907573"/>
              <a:gd name="connsiteX15" fmla="*/ 680204 w 907063"/>
              <a:gd name="connsiteY15" fmla="*/ 794270 h 907573"/>
              <a:gd name="connsiteX16" fmla="*/ 566737 w 907063"/>
              <a:gd name="connsiteY16" fmla="*/ 907573 h 907573"/>
              <a:gd name="connsiteX17" fmla="*/ 453434 w 907063"/>
              <a:gd name="connsiteY17" fmla="*/ 794106 h 907573"/>
              <a:gd name="connsiteX18" fmla="*/ 500140 w 907063"/>
              <a:gd name="connsiteY18" fmla="*/ 702482 h 907573"/>
              <a:gd name="connsiteX19" fmla="*/ 477644 w 907063"/>
              <a:gd name="connsiteY19" fmla="*/ 633726 h 907573"/>
              <a:gd name="connsiteX20" fmla="*/ 307476 w 907063"/>
              <a:gd name="connsiteY20" fmla="*/ 561477 h 907573"/>
              <a:gd name="connsiteX21" fmla="*/ 226066 w 907063"/>
              <a:gd name="connsiteY21" fmla="*/ 599937 h 907573"/>
              <a:gd name="connsiteX22" fmla="*/ 126102 w 907063"/>
              <a:gd name="connsiteY22" fmla="*/ 725314 h 907573"/>
              <a:gd name="connsiteX23" fmla="*/ 725 w 907063"/>
              <a:gd name="connsiteY23" fmla="*/ 625353 h 907573"/>
              <a:gd name="connsiteX24" fmla="*/ 100688 w 907063"/>
              <a:gd name="connsiteY24" fmla="*/ 499972 h 907573"/>
              <a:gd name="connsiteX25" fmla="*/ 198490 w 907063"/>
              <a:gd name="connsiteY25" fmla="*/ 537711 h 907573"/>
              <a:gd name="connsiteX26" fmla="*/ 278041 w 907063"/>
              <a:gd name="connsiteY26" fmla="*/ 500158 h 907573"/>
              <a:gd name="connsiteX27" fmla="*/ 313599 w 907063"/>
              <a:gd name="connsiteY27" fmla="*/ 338381 h 907573"/>
              <a:gd name="connsiteX28" fmla="*/ 268653 w 907063"/>
              <a:gd name="connsiteY28" fmla="*/ 287131 h 907573"/>
              <a:gd name="connsiteX29" fmla="*/ 121392 w 907063"/>
              <a:gd name="connsiteY29" fmla="*/ 223675 h 907573"/>
              <a:gd name="connsiteX30" fmla="*/ 184848 w 907063"/>
              <a:gd name="connsiteY30" fmla="*/ 76415 h 907573"/>
              <a:gd name="connsiteX31" fmla="*/ 332109 w 907063"/>
              <a:gd name="connsiteY31" fmla="*/ 139870 h 907573"/>
              <a:gd name="connsiteX32" fmla="*/ 321445 w 907063"/>
              <a:gd name="connsiteY32" fmla="*/ 244135 h 907573"/>
              <a:gd name="connsiteX33" fmla="*/ 366028 w 907063"/>
              <a:gd name="connsiteY33" fmla="*/ 294932 h 907573"/>
              <a:gd name="connsiteX34" fmla="*/ 453516 w 907063"/>
              <a:gd name="connsiteY34" fmla="*/ 272482 h 907573"/>
              <a:gd name="connsiteX35" fmla="*/ 518553 w 907063"/>
              <a:gd name="connsiteY35" fmla="*/ 284500 h 907573"/>
              <a:gd name="connsiteX36" fmla="*/ 575019 w 907063"/>
              <a:gd name="connsiteY36" fmla="*/ 191071 h 907573"/>
              <a:gd name="connsiteX37" fmla="*/ 579922 w 907063"/>
              <a:gd name="connsiteY37" fmla="*/ 30796 h 907573"/>
              <a:gd name="connsiteX38" fmla="*/ 740198 w 907063"/>
              <a:gd name="connsiteY38" fmla="*/ 35699 h 907573"/>
              <a:gd name="connsiteX39" fmla="*/ 770994 w 907063"/>
              <a:gd name="connsiteY39" fmla="*/ 113380 h 907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907063" h="907573">
                <a:moveTo>
                  <a:pt x="770994" y="113334"/>
                </a:moveTo>
                <a:cubicBezTo>
                  <a:pt x="771016" y="175955"/>
                  <a:pt x="720274" y="226739"/>
                  <a:pt x="657654" y="226764"/>
                </a:cubicBezTo>
                <a:cubicBezTo>
                  <a:pt x="649835" y="226767"/>
                  <a:pt x="642039" y="225962"/>
                  <a:pt x="634387" y="224361"/>
                </a:cubicBezTo>
                <a:lnTo>
                  <a:pt x="576334" y="320421"/>
                </a:lnTo>
                <a:cubicBezTo>
                  <a:pt x="613715" y="354730"/>
                  <a:pt x="634977" y="403160"/>
                  <a:pt x="634932" y="453897"/>
                </a:cubicBezTo>
                <a:lnTo>
                  <a:pt x="634932" y="456528"/>
                </a:lnTo>
                <a:lnTo>
                  <a:pt x="693710" y="468365"/>
                </a:lnTo>
                <a:cubicBezTo>
                  <a:pt x="723281" y="413165"/>
                  <a:pt x="792001" y="392388"/>
                  <a:pt x="847197" y="421959"/>
                </a:cubicBezTo>
                <a:cubicBezTo>
                  <a:pt x="902398" y="451530"/>
                  <a:pt x="923174" y="520250"/>
                  <a:pt x="893603" y="575451"/>
                </a:cubicBezTo>
                <a:cubicBezTo>
                  <a:pt x="864033" y="630646"/>
                  <a:pt x="795317" y="651423"/>
                  <a:pt x="740117" y="621852"/>
                </a:cubicBezTo>
                <a:cubicBezTo>
                  <a:pt x="707457" y="604359"/>
                  <a:pt x="685406" y="572013"/>
                  <a:pt x="681057" y="535217"/>
                </a:cubicBezTo>
                <a:lnTo>
                  <a:pt x="621189" y="523198"/>
                </a:lnTo>
                <a:cubicBezTo>
                  <a:pt x="605570" y="560887"/>
                  <a:pt x="577749" y="592241"/>
                  <a:pt x="542183" y="612228"/>
                </a:cubicBezTo>
                <a:lnTo>
                  <a:pt x="564633" y="680803"/>
                </a:lnTo>
                <a:lnTo>
                  <a:pt x="566901" y="680803"/>
                </a:lnTo>
                <a:cubicBezTo>
                  <a:pt x="629521" y="680849"/>
                  <a:pt x="680249" y="731650"/>
                  <a:pt x="680204" y="794270"/>
                </a:cubicBezTo>
                <a:cubicBezTo>
                  <a:pt x="680159" y="856890"/>
                  <a:pt x="629358" y="907618"/>
                  <a:pt x="566737" y="907573"/>
                </a:cubicBezTo>
                <a:cubicBezTo>
                  <a:pt x="504117" y="907528"/>
                  <a:pt x="453389" y="856727"/>
                  <a:pt x="453434" y="794106"/>
                </a:cubicBezTo>
                <a:cubicBezTo>
                  <a:pt x="453461" y="757855"/>
                  <a:pt x="470818" y="723803"/>
                  <a:pt x="500140" y="702482"/>
                </a:cubicBezTo>
                <a:lnTo>
                  <a:pt x="477644" y="633726"/>
                </a:lnTo>
                <a:cubicBezTo>
                  <a:pt x="411976" y="642579"/>
                  <a:pt x="346715" y="614872"/>
                  <a:pt x="307476" y="561477"/>
                </a:cubicBezTo>
                <a:lnTo>
                  <a:pt x="226066" y="599937"/>
                </a:lnTo>
                <a:cubicBezTo>
                  <a:pt x="233084" y="662163"/>
                  <a:pt x="188328" y="718297"/>
                  <a:pt x="126102" y="725314"/>
                </a:cubicBezTo>
                <a:cubicBezTo>
                  <a:pt x="63876" y="732334"/>
                  <a:pt x="7743" y="687579"/>
                  <a:pt x="725" y="625353"/>
                </a:cubicBezTo>
                <a:cubicBezTo>
                  <a:pt x="-6294" y="563123"/>
                  <a:pt x="38462" y="506993"/>
                  <a:pt x="100688" y="499972"/>
                </a:cubicBezTo>
                <a:cubicBezTo>
                  <a:pt x="137496" y="495823"/>
                  <a:pt x="174011" y="509914"/>
                  <a:pt x="198490" y="537711"/>
                </a:cubicBezTo>
                <a:lnTo>
                  <a:pt x="278041" y="500158"/>
                </a:lnTo>
                <a:cubicBezTo>
                  <a:pt x="263193" y="443652"/>
                  <a:pt x="276425" y="383454"/>
                  <a:pt x="313599" y="338381"/>
                </a:cubicBezTo>
                <a:lnTo>
                  <a:pt x="268653" y="287131"/>
                </a:lnTo>
                <a:cubicBezTo>
                  <a:pt x="210465" y="310273"/>
                  <a:pt x="144535" y="281863"/>
                  <a:pt x="121392" y="223675"/>
                </a:cubicBezTo>
                <a:cubicBezTo>
                  <a:pt x="98251" y="165488"/>
                  <a:pt x="126660" y="99557"/>
                  <a:pt x="184848" y="76415"/>
                </a:cubicBezTo>
                <a:cubicBezTo>
                  <a:pt x="243036" y="53273"/>
                  <a:pt x="308966" y="81683"/>
                  <a:pt x="332109" y="139870"/>
                </a:cubicBezTo>
                <a:cubicBezTo>
                  <a:pt x="345794" y="174281"/>
                  <a:pt x="341813" y="213207"/>
                  <a:pt x="321445" y="244135"/>
                </a:cubicBezTo>
                <a:lnTo>
                  <a:pt x="366028" y="294932"/>
                </a:lnTo>
                <a:cubicBezTo>
                  <a:pt x="392819" y="280159"/>
                  <a:pt x="422925" y="272434"/>
                  <a:pt x="453516" y="272482"/>
                </a:cubicBezTo>
                <a:cubicBezTo>
                  <a:pt x="476420" y="272482"/>
                  <a:pt x="498416" y="276745"/>
                  <a:pt x="518553" y="284500"/>
                </a:cubicBezTo>
                <a:lnTo>
                  <a:pt x="575019" y="191071"/>
                </a:lnTo>
                <a:cubicBezTo>
                  <a:pt x="532114" y="145458"/>
                  <a:pt x="534309" y="73701"/>
                  <a:pt x="579922" y="30796"/>
                </a:cubicBezTo>
                <a:cubicBezTo>
                  <a:pt x="625534" y="-12109"/>
                  <a:pt x="697293" y="-9914"/>
                  <a:pt x="740198" y="35699"/>
                </a:cubicBezTo>
                <a:cubicBezTo>
                  <a:pt x="759977" y="56728"/>
                  <a:pt x="770994" y="84510"/>
                  <a:pt x="770994" y="113380"/>
                </a:cubicBezTo>
                <a:close/>
              </a:path>
            </a:pathLst>
          </a:custGeom>
          <a:solidFill>
            <a:schemeClr val="bg1"/>
          </a:solidFill>
          <a:ln w="4524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718B0A7-6CDD-44D9-20E2-3B56DD7B9EC0}"/>
              </a:ext>
            </a:extLst>
          </p:cNvPr>
          <p:cNvSpPr txBox="1"/>
          <p:nvPr/>
        </p:nvSpPr>
        <p:spPr>
          <a:xfrm>
            <a:off x="1098065" y="3352697"/>
            <a:ext cx="1424357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lvl="0" algn="ctr" defTabSz="914400">
              <a:defRPr/>
            </a:pPr>
            <a:r>
              <a:rPr lang="en-US" sz="1800"/>
              <a:t>Input</a:t>
            </a:r>
          </a:p>
        </p:txBody>
      </p:sp>
      <p:sp>
        <p:nvSpPr>
          <p:cNvPr id="50" name="Graphic 126">
            <a:extLst>
              <a:ext uri="{FF2B5EF4-FFF2-40B4-BE49-F238E27FC236}">
                <a16:creationId xmlns:a16="http://schemas.microsoft.com/office/drawing/2014/main" id="{65005107-F31E-9BD7-EB8D-8187696A3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34198" y="6315214"/>
            <a:ext cx="348780" cy="385457"/>
          </a:xfrm>
          <a:custGeom>
            <a:avLst/>
            <a:gdLst>
              <a:gd name="connsiteX0" fmla="*/ 100542 w 239021"/>
              <a:gd name="connsiteY0" fmla="*/ 100542 h 264156"/>
              <a:gd name="connsiteX1" fmla="*/ 201083 w 239021"/>
              <a:gd name="connsiteY1" fmla="*/ 50271 h 264156"/>
              <a:gd name="connsiteX2" fmla="*/ 100542 w 239021"/>
              <a:gd name="connsiteY2" fmla="*/ 0 h 264156"/>
              <a:gd name="connsiteX3" fmla="*/ 0 w 239021"/>
              <a:gd name="connsiteY3" fmla="*/ 50271 h 264156"/>
              <a:gd name="connsiteX4" fmla="*/ 100542 w 239021"/>
              <a:gd name="connsiteY4" fmla="*/ 100542 h 264156"/>
              <a:gd name="connsiteX5" fmla="*/ 180070 w 239021"/>
              <a:gd name="connsiteY5" fmla="*/ 102678 h 264156"/>
              <a:gd name="connsiteX6" fmla="*/ 201083 w 239021"/>
              <a:gd name="connsiteY6" fmla="*/ 88640 h 264156"/>
              <a:gd name="connsiteX7" fmla="*/ 201083 w 239021"/>
              <a:gd name="connsiteY7" fmla="*/ 128907 h 264156"/>
              <a:gd name="connsiteX8" fmla="*/ 150561 w 239021"/>
              <a:gd name="connsiteY8" fmla="*/ 113411 h 264156"/>
              <a:gd name="connsiteX9" fmla="*/ 180070 w 239021"/>
              <a:gd name="connsiteY9" fmla="*/ 102678 h 264156"/>
              <a:gd name="connsiteX10" fmla="*/ 87974 w 239021"/>
              <a:gd name="connsiteY10" fmla="*/ 182232 h 264156"/>
              <a:gd name="connsiteX11" fmla="*/ 136121 w 239021"/>
              <a:gd name="connsiteY11" fmla="*/ 248112 h 264156"/>
              <a:gd name="connsiteX12" fmla="*/ 100542 w 239021"/>
              <a:gd name="connsiteY12" fmla="*/ 251354 h 264156"/>
              <a:gd name="connsiteX13" fmla="*/ 0 w 239021"/>
              <a:gd name="connsiteY13" fmla="*/ 201083 h 264156"/>
              <a:gd name="connsiteX14" fmla="*/ 0 w 239021"/>
              <a:gd name="connsiteY14" fmla="*/ 88640 h 264156"/>
              <a:gd name="connsiteX15" fmla="*/ 21013 w 239021"/>
              <a:gd name="connsiteY15" fmla="*/ 102678 h 264156"/>
              <a:gd name="connsiteX16" fmla="*/ 100542 w 239021"/>
              <a:gd name="connsiteY16" fmla="*/ 119393 h 264156"/>
              <a:gd name="connsiteX17" fmla="*/ 135442 w 239021"/>
              <a:gd name="connsiteY17" fmla="*/ 116565 h 264156"/>
              <a:gd name="connsiteX18" fmla="*/ 87974 w 239021"/>
              <a:gd name="connsiteY18" fmla="*/ 182232 h 264156"/>
              <a:gd name="connsiteX19" fmla="*/ 157096 w 239021"/>
              <a:gd name="connsiteY19" fmla="*/ 238786 h 264156"/>
              <a:gd name="connsiteX20" fmla="*/ 189860 w 239021"/>
              <a:gd name="connsiteY20" fmla="*/ 228330 h 264156"/>
              <a:gd name="connsiteX21" fmla="*/ 222700 w 239021"/>
              <a:gd name="connsiteY21" fmla="*/ 261157 h 264156"/>
              <a:gd name="connsiteX22" fmla="*/ 236022 w 239021"/>
              <a:gd name="connsiteY22" fmla="*/ 261627 h 264156"/>
              <a:gd name="connsiteX23" fmla="*/ 236492 w 239021"/>
              <a:gd name="connsiteY23" fmla="*/ 248305 h 264156"/>
              <a:gd name="connsiteX24" fmla="*/ 236022 w 239021"/>
              <a:gd name="connsiteY24" fmla="*/ 247835 h 264156"/>
              <a:gd name="connsiteX25" fmla="*/ 203195 w 239021"/>
              <a:gd name="connsiteY25" fmla="*/ 214996 h 264156"/>
              <a:gd name="connsiteX26" fmla="*/ 189862 w 239021"/>
              <a:gd name="connsiteY26" fmla="*/ 136135 h 264156"/>
              <a:gd name="connsiteX27" fmla="*/ 111001 w 239021"/>
              <a:gd name="connsiteY27" fmla="*/ 149468 h 264156"/>
              <a:gd name="connsiteX28" fmla="*/ 124334 w 239021"/>
              <a:gd name="connsiteY28" fmla="*/ 228329 h 264156"/>
              <a:gd name="connsiteX29" fmla="*/ 157096 w 239021"/>
              <a:gd name="connsiteY29" fmla="*/ 238786 h 264156"/>
              <a:gd name="connsiteX30" fmla="*/ 157096 w 239021"/>
              <a:gd name="connsiteY30" fmla="*/ 219935 h 264156"/>
              <a:gd name="connsiteX31" fmla="*/ 119393 w 239021"/>
              <a:gd name="connsiteY31" fmla="*/ 182232 h 264156"/>
              <a:gd name="connsiteX32" fmla="*/ 157096 w 239021"/>
              <a:gd name="connsiteY32" fmla="*/ 144529 h 264156"/>
              <a:gd name="connsiteX33" fmla="*/ 194799 w 239021"/>
              <a:gd name="connsiteY33" fmla="*/ 182232 h 264156"/>
              <a:gd name="connsiteX34" fmla="*/ 157096 w 239021"/>
              <a:gd name="connsiteY34" fmla="*/ 219935 h 264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239021" h="264156">
                <a:moveTo>
                  <a:pt x="100542" y="100542"/>
                </a:moveTo>
                <a:cubicBezTo>
                  <a:pt x="156066" y="100542"/>
                  <a:pt x="201083" y="78045"/>
                  <a:pt x="201083" y="50271"/>
                </a:cubicBezTo>
                <a:cubicBezTo>
                  <a:pt x="201083" y="22496"/>
                  <a:pt x="156066" y="0"/>
                  <a:pt x="100542" y="0"/>
                </a:cubicBezTo>
                <a:cubicBezTo>
                  <a:pt x="45018" y="0"/>
                  <a:pt x="0" y="22496"/>
                  <a:pt x="0" y="50271"/>
                </a:cubicBezTo>
                <a:cubicBezTo>
                  <a:pt x="0" y="78045"/>
                  <a:pt x="45018" y="100542"/>
                  <a:pt x="100542" y="100542"/>
                </a:cubicBezTo>
                <a:close/>
                <a:moveTo>
                  <a:pt x="180070" y="102678"/>
                </a:moveTo>
                <a:cubicBezTo>
                  <a:pt x="187665" y="98949"/>
                  <a:pt x="194730" y="94228"/>
                  <a:pt x="201083" y="88640"/>
                </a:cubicBezTo>
                <a:lnTo>
                  <a:pt x="201083" y="128907"/>
                </a:lnTo>
                <a:cubicBezTo>
                  <a:pt x="186975" y="117225"/>
                  <a:pt x="168793" y="111649"/>
                  <a:pt x="150561" y="113411"/>
                </a:cubicBezTo>
                <a:cubicBezTo>
                  <a:pt x="160752" y="110899"/>
                  <a:pt x="170646" y="107301"/>
                  <a:pt x="180070" y="102678"/>
                </a:cubicBezTo>
                <a:close/>
                <a:moveTo>
                  <a:pt x="87974" y="182232"/>
                </a:moveTo>
                <a:cubicBezTo>
                  <a:pt x="87974" y="212330"/>
                  <a:pt x="107444" y="238971"/>
                  <a:pt x="136121" y="248112"/>
                </a:cubicBezTo>
                <a:cubicBezTo>
                  <a:pt x="125061" y="250211"/>
                  <a:pt x="113072" y="251354"/>
                  <a:pt x="100542" y="251354"/>
                </a:cubicBezTo>
                <a:cubicBezTo>
                  <a:pt x="45018" y="251354"/>
                  <a:pt x="0" y="228858"/>
                  <a:pt x="0" y="201083"/>
                </a:cubicBezTo>
                <a:lnTo>
                  <a:pt x="0" y="88640"/>
                </a:lnTo>
                <a:cubicBezTo>
                  <a:pt x="6353" y="94228"/>
                  <a:pt x="13419" y="98949"/>
                  <a:pt x="21013" y="102678"/>
                </a:cubicBezTo>
                <a:cubicBezTo>
                  <a:pt x="42353" y="113336"/>
                  <a:pt x="70480" y="119393"/>
                  <a:pt x="100542" y="119393"/>
                </a:cubicBezTo>
                <a:cubicBezTo>
                  <a:pt x="112582" y="119393"/>
                  <a:pt x="124320" y="118426"/>
                  <a:pt x="135442" y="116565"/>
                </a:cubicBezTo>
                <a:cubicBezTo>
                  <a:pt x="107110" y="125920"/>
                  <a:pt x="87971" y="152394"/>
                  <a:pt x="87974" y="182232"/>
                </a:cubicBezTo>
                <a:close/>
                <a:moveTo>
                  <a:pt x="157096" y="238786"/>
                </a:moveTo>
                <a:cubicBezTo>
                  <a:pt x="168841" y="238804"/>
                  <a:pt x="180296" y="235147"/>
                  <a:pt x="189860" y="228330"/>
                </a:cubicBezTo>
                <a:lnTo>
                  <a:pt x="222700" y="261157"/>
                </a:lnTo>
                <a:cubicBezTo>
                  <a:pt x="226249" y="264965"/>
                  <a:pt x="232214" y="265176"/>
                  <a:pt x="236022" y="261627"/>
                </a:cubicBezTo>
                <a:cubicBezTo>
                  <a:pt x="239830" y="258078"/>
                  <a:pt x="240041" y="252115"/>
                  <a:pt x="236492" y="248305"/>
                </a:cubicBezTo>
                <a:cubicBezTo>
                  <a:pt x="236341" y="248143"/>
                  <a:pt x="236184" y="247986"/>
                  <a:pt x="236022" y="247835"/>
                </a:cubicBezTo>
                <a:lnTo>
                  <a:pt x="203195" y="214996"/>
                </a:lnTo>
                <a:cubicBezTo>
                  <a:pt x="221290" y="189537"/>
                  <a:pt x="215320" y="154230"/>
                  <a:pt x="189862" y="136135"/>
                </a:cubicBezTo>
                <a:cubicBezTo>
                  <a:pt x="164403" y="118040"/>
                  <a:pt x="129096" y="124009"/>
                  <a:pt x="111001" y="149468"/>
                </a:cubicBezTo>
                <a:cubicBezTo>
                  <a:pt x="92906" y="174926"/>
                  <a:pt x="98875" y="210234"/>
                  <a:pt x="124334" y="228329"/>
                </a:cubicBezTo>
                <a:cubicBezTo>
                  <a:pt x="133904" y="235132"/>
                  <a:pt x="145354" y="238786"/>
                  <a:pt x="157096" y="238786"/>
                </a:cubicBezTo>
                <a:close/>
                <a:moveTo>
                  <a:pt x="157096" y="219935"/>
                </a:moveTo>
                <a:cubicBezTo>
                  <a:pt x="136273" y="219935"/>
                  <a:pt x="119393" y="203055"/>
                  <a:pt x="119393" y="182232"/>
                </a:cubicBezTo>
                <a:cubicBezTo>
                  <a:pt x="119393" y="161408"/>
                  <a:pt x="136273" y="144529"/>
                  <a:pt x="157096" y="144529"/>
                </a:cubicBezTo>
                <a:cubicBezTo>
                  <a:pt x="177920" y="144529"/>
                  <a:pt x="194799" y="161408"/>
                  <a:pt x="194799" y="182232"/>
                </a:cubicBezTo>
                <a:cubicBezTo>
                  <a:pt x="194799" y="203055"/>
                  <a:pt x="177920" y="219935"/>
                  <a:pt x="157096" y="219935"/>
                </a:cubicBezTo>
                <a:close/>
              </a:path>
            </a:pathLst>
          </a:custGeom>
          <a:solidFill>
            <a:srgbClr val="1766B9"/>
          </a:solidFill>
          <a:ln w="1230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51525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5F5A6-FAA9-1B8D-3F37-7815F8EA0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F667F-5872-6F52-087A-E21CF877B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Knowledge retrieval from Azure AI Search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212B76-EA98-BECA-AFAF-643883EA1EE4}"/>
              </a:ext>
            </a:extLst>
          </p:cNvPr>
          <p:cNvSpPr txBox="1"/>
          <p:nvPr/>
        </p:nvSpPr>
        <p:spPr>
          <a:xfrm>
            <a:off x="1132793" y="1629691"/>
            <a:ext cx="1114258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/>
              <a:t>Use the built-in </a:t>
            </a:r>
            <a:r>
              <a:rPr lang="en-US" sz="2200">
                <a:latin typeface="Consolas" panose="020B0609020204030204" pitchFamily="49" charset="0"/>
                <a:cs typeface="Consolas" panose="020B0609020204030204" pitchFamily="49" charset="0"/>
              </a:rPr>
              <a:t>AzureAISearchContextProvider</a:t>
            </a:r>
            <a:r>
              <a:rPr lang="en-US" sz="2200"/>
              <a:t> to retrieve from a knowledge base: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FC0F5E-B341-D5F1-2E9B-AB905760C9A7}"/>
              </a:ext>
            </a:extLst>
          </p:cNvPr>
          <p:cNvSpPr txBox="1"/>
          <p:nvPr/>
        </p:nvSpPr>
        <p:spPr>
          <a:xfrm>
            <a:off x="1132793" y="227425"/>
            <a:ext cx="3168620" cy="461665"/>
          </a:xfrm>
          <a:prstGeom prst="rect">
            <a:avLst/>
          </a:prstGeom>
          <a:solidFill>
            <a:schemeClr val="accent3"/>
          </a:solidFill>
          <a:effectLst>
            <a:softEdge rad="31750"/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agent-framework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90E917-D5F6-D837-54ED-F109820063F2}"/>
              </a:ext>
            </a:extLst>
          </p:cNvPr>
          <p:cNvSpPr txBox="1"/>
          <p:nvPr/>
        </p:nvSpPr>
        <p:spPr>
          <a:xfrm>
            <a:off x="1132793" y="6399742"/>
            <a:ext cx="65281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0" i="0" u="sng">
                <a:solidFill>
                  <a:srgbClr val="00008B"/>
                </a:solidFill>
                <a:effectLst/>
                <a:latin typeface="Aptos" panose="020B0004020202020204" pitchFamily="34" charset="0"/>
                <a:hlinkClick r:id="rId2"/>
              </a:rPr>
              <a:t>Full example: agent_knowledge_aisearch.py</a:t>
            </a:r>
            <a:endParaRPr lang="en-US" sz="2200"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E3BCF1-4724-90BF-2527-1F92EAD1CE0D}"/>
              </a:ext>
            </a:extLst>
          </p:cNvPr>
          <p:cNvSpPr txBox="1"/>
          <p:nvPr/>
        </p:nvSpPr>
        <p:spPr>
          <a:xfrm>
            <a:off x="1132793" y="2014654"/>
            <a:ext cx="10872294" cy="44609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sz="2200" b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agent_framework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2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azure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AzureAISearchContextProvider</a:t>
            </a:r>
            <a:endParaRPr lang="en-US" sz="2200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b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search_provider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2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AzureAISearchContextProvider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>
              <a:lnSpc>
                <a:spcPts val="2025"/>
              </a:lnSpc>
              <a:buNone/>
            </a:pPr>
            <a:r>
              <a:rPr lang="en-US" sz="22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endpoint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0070C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SEARCH_ENDPOINT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2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credential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DefaultAzureCredential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(),</a:t>
            </a:r>
          </a:p>
          <a:p>
            <a:pPr>
              <a:lnSpc>
                <a:spcPts val="2025"/>
              </a:lnSpc>
              <a:buNone/>
            </a:pP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knowledge_base_name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0070C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KNOWLEDGE_BASE_NAME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2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mode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"agentic"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025"/>
              </a:lnSpc>
              <a:buNone/>
            </a:pPr>
            <a:endParaRPr lang="en-US" sz="2200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sz="22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agent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2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Agent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>
              <a:lnSpc>
                <a:spcPts val="2025"/>
              </a:lnSpc>
              <a:buNone/>
            </a:pP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client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client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ts val="2025"/>
              </a:lnSpc>
              <a:buNone/>
            </a:pPr>
            <a:r>
              <a:rPr lang="en-US" sz="22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instructions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"You are a helpful shopping assistant."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ts val="2025"/>
              </a:lnSpc>
              <a:buNone/>
            </a:pPr>
            <a:r>
              <a:rPr lang="en-US" sz="22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context_providers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=[</a:t>
            </a:r>
            <a:r>
              <a:rPr lang="en-US" sz="22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search_provider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])</a:t>
            </a:r>
            <a:b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US" sz="2200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sz="2200" b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async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with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search_provider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ts val="2025"/>
              </a:lnSpc>
              <a:buNone/>
            </a:pPr>
            <a:r>
              <a:rPr lang="en-US" sz="22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session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2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agent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200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create_session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>
              <a:lnSpc>
                <a:spcPts val="2025"/>
              </a:lnSpc>
              <a:buNone/>
            </a:pPr>
            <a:r>
              <a:rPr lang="en-US" sz="22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response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200" b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await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agent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200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run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"What interior paint do you have?"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ts val="2025"/>
              </a:lnSpc>
              <a:buNone/>
            </a:pP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2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session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session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025"/>
              </a:lnSpc>
              <a:buNone/>
            </a:pPr>
            <a:r>
              <a:rPr lang="en-US" sz="22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response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200" b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await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agent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200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run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"What supplies do I need to apply it?"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ts val="2025"/>
              </a:lnSpc>
              <a:buNone/>
            </a:pP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2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session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2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session</a:t>
            </a:r>
            <a:r>
              <a:rPr lang="en-US" sz="22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534921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1EF12-E338-705F-A5D6-4F0CEC262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93FB3-6349-0267-D831-8A673E67B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Context management</a:t>
            </a:r>
          </a:p>
        </p:txBody>
      </p:sp>
    </p:spTree>
    <p:extLst>
      <p:ext uri="{BB962C8B-B14F-4D97-AF65-F5344CB8AC3E}">
        <p14:creationId xmlns:p14="http://schemas.microsoft.com/office/powerpoint/2010/main" val="2287141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3AB37-B17F-5C3B-E76E-0EED68E4C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2DF3F-6482-743C-6A89-9A64609A8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Context window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7FD14-E583-EBC8-E231-2A47A6D9F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416" y="1633732"/>
            <a:ext cx="10728056" cy="20030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The </a:t>
            </a:r>
            <a:r>
              <a:rPr lang="en-US" b="1"/>
              <a:t>context window </a:t>
            </a:r>
            <a:r>
              <a:rPr lang="en-US"/>
              <a:t>of an LLM is the amount of input tokens that an LLM can process at a given time.</a:t>
            </a:r>
          </a:p>
          <a:p>
            <a:pPr marL="0" indent="0">
              <a:spcBef>
                <a:spcPts val="1600"/>
              </a:spcBef>
              <a:buNone/>
            </a:pPr>
            <a:r>
              <a:rPr lang="en-US"/>
              <a:t>Context windows have been steadily increasing over time:</a:t>
            </a:r>
          </a:p>
          <a:p>
            <a:pPr marL="0" indent="0">
              <a:buNone/>
            </a:pPr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C9FAF55-2D7C-585D-8907-450472500D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2319386"/>
              </p:ext>
            </p:extLst>
          </p:nvPr>
        </p:nvGraphicFramePr>
        <p:xfrm>
          <a:off x="1127357" y="3200399"/>
          <a:ext cx="10364355" cy="337704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3506355">
                  <a:extLst>
                    <a:ext uri="{9D8B030D-6E8A-4147-A177-3AD203B41FA5}">
                      <a16:colId xmlns:a16="http://schemas.microsoft.com/office/drawing/2014/main" val="3814906489"/>
                    </a:ext>
                  </a:extLst>
                </a:gridCol>
                <a:gridCol w="3403215">
                  <a:extLst>
                    <a:ext uri="{9D8B030D-6E8A-4147-A177-3AD203B41FA5}">
                      <a16:colId xmlns:a16="http://schemas.microsoft.com/office/drawing/2014/main" val="3845545658"/>
                    </a:ext>
                  </a:extLst>
                </a:gridCol>
                <a:gridCol w="3454785">
                  <a:extLst>
                    <a:ext uri="{9D8B030D-6E8A-4147-A177-3AD203B41FA5}">
                      <a16:colId xmlns:a16="http://schemas.microsoft.com/office/drawing/2014/main" val="2513290208"/>
                    </a:ext>
                  </a:extLst>
                </a:gridCol>
              </a:tblGrid>
              <a:tr h="521507">
                <a:tc>
                  <a:txBody>
                    <a:bodyPr/>
                    <a:lstStyle/>
                    <a:p>
                      <a:r>
                        <a:rPr lang="en-US" sz="220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Release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Context window (tokens)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6795146"/>
                  </a:ext>
                </a:extLst>
              </a:tr>
              <a:tr h="4759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effectLst/>
                        </a:rPr>
                        <a:t>GPT‑3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effectLst/>
                        </a:rPr>
                        <a:t>2020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effectLst/>
                        </a:rPr>
                        <a:t>2K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5088048"/>
                  </a:ext>
                </a:extLst>
              </a:tr>
              <a:tr h="4759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effectLst/>
                        </a:rPr>
                        <a:t>GPT‑3.5 Turbo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effectLst/>
                        </a:rPr>
                        <a:t>Feb 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b="0"/>
                        <a:t>4K-16K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275995"/>
                  </a:ext>
                </a:extLst>
              </a:tr>
              <a:tr h="4759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effectLst/>
                        </a:rPr>
                        <a:t>GPT‑4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effectLst/>
                        </a:rPr>
                        <a:t>Mar 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effectLst/>
                        </a:rPr>
                        <a:t>8K-32K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805509"/>
                  </a:ext>
                </a:extLst>
              </a:tr>
              <a:tr h="4759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effectLst/>
                        </a:rPr>
                        <a:t>GPT‑4 Turbo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effectLst/>
                        </a:rPr>
                        <a:t>Dec 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effectLst/>
                        </a:rPr>
                        <a:t>128K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7324172"/>
                  </a:ext>
                </a:extLst>
              </a:tr>
              <a:tr h="4759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effectLst/>
                        </a:rPr>
                        <a:t>Claude 3 (Sonnet/Opus)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effectLst/>
                        </a:rPr>
                        <a:t>Feb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effectLst/>
                        </a:rPr>
                        <a:t>200K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9066554"/>
                  </a:ext>
                </a:extLst>
              </a:tr>
              <a:tr h="4759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effectLst/>
                        </a:rPr>
                        <a:t>Claude Opus 4.6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effectLst/>
                        </a:rPr>
                        <a:t>Feb 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effectLst/>
                        </a:rPr>
                        <a:t>1M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15397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31871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668F9-E1AB-E4AF-BE6E-B0A2E6516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ADA0589-E361-916F-96F4-72EFB7E0F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 we still need to worry about context size?</a:t>
            </a:r>
          </a:p>
        </p:txBody>
      </p:sp>
      <p:sp>
        <p:nvSpPr>
          <p:cNvPr id="23" name="Rectangle: Rounded Corners 7">
            <a:extLst>
              <a:ext uri="{FF2B5EF4-FFF2-40B4-BE49-F238E27FC236}">
                <a16:creationId xmlns:a16="http://schemas.microsoft.com/office/drawing/2014/main" id="{12A58A5B-5A65-4B7A-CC5D-C089EBCADBF1}"/>
              </a:ext>
            </a:extLst>
          </p:cNvPr>
          <p:cNvSpPr/>
          <p:nvPr/>
        </p:nvSpPr>
        <p:spPr>
          <a:xfrm>
            <a:off x="1149041" y="2441365"/>
            <a:ext cx="360000" cy="360000"/>
          </a:xfrm>
          <a:prstGeom prst="ellipse">
            <a:avLst/>
          </a:prstGeom>
          <a:gradFill>
            <a:gsLst>
              <a:gs pos="32000">
                <a:srgbClr val="C03BC4"/>
              </a:gs>
              <a:gs pos="100000">
                <a:srgbClr val="399A91"/>
              </a:gs>
              <a:gs pos="68000">
                <a:srgbClr val="0078D4"/>
              </a:gs>
              <a:gs pos="0">
                <a:srgbClr val="FF5C39"/>
              </a:gs>
            </a:gsLst>
            <a:path path="circle">
              <a:fillToRect l="100000" t="100000"/>
            </a:path>
          </a:gradFill>
          <a:ln w="25400">
            <a:noFill/>
          </a:ln>
          <a:effectLst>
            <a:outerShdw blurRad="63500" dist="63500" dir="2700000" algn="tl" rotWithShape="0">
              <a:srgbClr val="454142">
                <a:alpha val="20000"/>
              </a:srgb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tIns="36000" bIns="36000" rtlCol="0" anchor="ctr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1</a:t>
            </a:r>
          </a:p>
        </p:txBody>
      </p:sp>
      <p:sp>
        <p:nvSpPr>
          <p:cNvPr id="26" name="Content Placeholder 4">
            <a:extLst>
              <a:ext uri="{FF2B5EF4-FFF2-40B4-BE49-F238E27FC236}">
                <a16:creationId xmlns:a16="http://schemas.microsoft.com/office/drawing/2014/main" id="{15FD6945-91C0-0A13-8AB8-7801736D7F69}"/>
              </a:ext>
            </a:extLst>
          </p:cNvPr>
          <p:cNvSpPr txBox="1">
            <a:spLocks/>
          </p:cNvSpPr>
          <p:nvPr/>
        </p:nvSpPr>
        <p:spPr>
          <a:xfrm>
            <a:off x="1643414" y="2452459"/>
            <a:ext cx="3698719" cy="734330"/>
          </a:xfrm>
        </p:spPr>
        <p:txBody>
          <a:bodyPr wrap="none" tIns="0" bIns="0" anchor="t">
            <a:noAutofit/>
          </a:bodyPr>
          <a:lstStyle>
            <a:defPPr>
              <a:defRPr lang="en-US"/>
            </a:defPPr>
            <a:lvl1pPr marL="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r>
              <a:rPr lang="en-US" sz="2400">
                <a:latin typeface="Segoe UI" panose="020B0502040204020203" pitchFamily="34" charset="0"/>
                <a:cs typeface="Segoe UI" panose="020B0502040204020203" pitchFamily="34" charset="0"/>
              </a:rPr>
              <a:t>The context windows are</a:t>
            </a:r>
          </a:p>
          <a:p>
            <a:pPr marL="0" lvl="1"/>
            <a:r>
              <a:rPr lang="en-US" sz="2400">
                <a:latin typeface="Segoe UI" panose="020B0502040204020203" pitchFamily="34" charset="0"/>
                <a:cs typeface="Segoe UI" panose="020B0502040204020203" pitchFamily="34" charset="0"/>
              </a:rPr>
              <a:t>finite (128K-2M)</a:t>
            </a:r>
          </a:p>
        </p:txBody>
      </p:sp>
      <p:sp>
        <p:nvSpPr>
          <p:cNvPr id="27" name="Rectangle: Rounded Corners 7">
            <a:extLst>
              <a:ext uri="{FF2B5EF4-FFF2-40B4-BE49-F238E27FC236}">
                <a16:creationId xmlns:a16="http://schemas.microsoft.com/office/drawing/2014/main" id="{9936F1D0-9F1B-670B-7F3F-1759A3F5B2F8}"/>
              </a:ext>
            </a:extLst>
          </p:cNvPr>
          <p:cNvSpPr/>
          <p:nvPr/>
        </p:nvSpPr>
        <p:spPr>
          <a:xfrm>
            <a:off x="1149041" y="3570165"/>
            <a:ext cx="360000" cy="361910"/>
          </a:xfrm>
          <a:prstGeom prst="ellipse">
            <a:avLst/>
          </a:prstGeom>
          <a:gradFill>
            <a:gsLst>
              <a:gs pos="32000">
                <a:srgbClr val="C03BC4"/>
              </a:gs>
              <a:gs pos="100000">
                <a:srgbClr val="399A91"/>
              </a:gs>
              <a:gs pos="68000">
                <a:srgbClr val="0078D4"/>
              </a:gs>
              <a:gs pos="0">
                <a:srgbClr val="FF5C39"/>
              </a:gs>
            </a:gsLst>
            <a:path path="circle">
              <a:fillToRect l="100000" t="100000"/>
            </a:path>
          </a:gradFill>
          <a:ln w="25400">
            <a:noFill/>
          </a:ln>
          <a:effectLst>
            <a:outerShdw blurRad="63500" dist="63500" dir="2700000" algn="tl" rotWithShape="0">
              <a:srgbClr val="454142">
                <a:alpha val="20000"/>
              </a:srgb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tIns="36000" bIns="36000" rtlCol="0" anchor="ctr">
            <a:spAutoFit/>
          </a:bodyPr>
          <a:lstStyle/>
          <a:p>
            <a:r>
              <a:rPr lang="en-US" sz="1200">
                <a:solidFill>
                  <a:schemeClr val="bg1"/>
                </a:solidFill>
                <a:latin typeface="+mj-lt"/>
              </a:rPr>
              <a:t>2</a:t>
            </a:r>
          </a:p>
        </p:txBody>
      </p:sp>
      <p:sp>
        <p:nvSpPr>
          <p:cNvPr id="29" name="Content Placeholder 4">
            <a:extLst>
              <a:ext uri="{FF2B5EF4-FFF2-40B4-BE49-F238E27FC236}">
                <a16:creationId xmlns:a16="http://schemas.microsoft.com/office/drawing/2014/main" id="{F5FD6B45-FA57-FFE6-2F4B-F2D2585546D5}"/>
              </a:ext>
            </a:extLst>
          </p:cNvPr>
          <p:cNvSpPr txBox="1">
            <a:spLocks/>
          </p:cNvSpPr>
          <p:nvPr/>
        </p:nvSpPr>
        <p:spPr>
          <a:xfrm>
            <a:off x="1643413" y="3570352"/>
            <a:ext cx="3691247" cy="15198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0"/>
              </a:spcBef>
              <a:buNone/>
            </a:pPr>
            <a:r>
              <a:rPr lang="en-US" sz="2400">
                <a:latin typeface="Segoe UI" panose="020B0502040204020203" pitchFamily="34" charset="0"/>
                <a:cs typeface="Segoe UI" panose="020B0502040204020203" pitchFamily="34" charset="0"/>
              </a:rPr>
              <a:t>When an LLM receives too much information, it can get easily distracted by irrelevant details.</a:t>
            </a:r>
            <a:endParaRPr lang="en-US" sz="16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B6F030D-AE97-89FD-6345-487506E175E9}"/>
              </a:ext>
            </a:extLst>
          </p:cNvPr>
          <p:cNvSpPr txBox="1"/>
          <p:nvPr/>
        </p:nvSpPr>
        <p:spPr>
          <a:xfrm rot="16200000">
            <a:off x="4604935" y="3228944"/>
            <a:ext cx="2771481" cy="400111"/>
          </a:xfrm>
          <a:prstGeom prst="rect">
            <a:avLst/>
          </a:prstGeom>
          <a:noFill/>
        </p:spPr>
        <p:txBody>
          <a:bodyPr wrap="square" lIns="0" tIns="182880" rIns="0" bIns="0" rtlCol="0">
            <a:spAutoFit/>
          </a:bodyPr>
          <a:lstStyle/>
          <a:p>
            <a:pPr algn="ctr">
              <a:defRPr/>
            </a:pPr>
            <a:r>
              <a:rPr lang="en-US" sz="14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Accuracy</a:t>
            </a:r>
          </a:p>
        </p:txBody>
      </p:sp>
      <p:graphicFrame>
        <p:nvGraphicFramePr>
          <p:cNvPr id="35" name="Chart 34" descr="Chart showing Accuracy in relation to Number of documents in input context.">
            <a:extLst>
              <a:ext uri="{FF2B5EF4-FFF2-40B4-BE49-F238E27FC236}">
                <a16:creationId xmlns:a16="http://schemas.microsoft.com/office/drawing/2014/main" id="{53E0082F-73F1-3E4C-23A3-AE45734775C0}"/>
              </a:ext>
            </a:extLst>
          </p:cNvPr>
          <p:cNvGraphicFramePr/>
          <p:nvPr/>
        </p:nvGraphicFramePr>
        <p:xfrm>
          <a:off x="6201325" y="1915460"/>
          <a:ext cx="5344142" cy="3273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02DD78B2-9515-C5DE-EE2B-2CDFF9121979}"/>
              </a:ext>
            </a:extLst>
          </p:cNvPr>
          <p:cNvSpPr txBox="1"/>
          <p:nvPr/>
        </p:nvSpPr>
        <p:spPr>
          <a:xfrm>
            <a:off x="6582682" y="5189380"/>
            <a:ext cx="458142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defRPr/>
            </a:pPr>
            <a:r>
              <a:rPr lang="en-US" sz="1400">
                <a:solidFill>
                  <a:srgbClr val="000000"/>
                </a:solidFill>
                <a:latin typeface="+mj-lt"/>
              </a:rPr>
              <a:t>Number </a:t>
            </a:r>
            <a:r>
              <a:rPr lang="en-US" sz="14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</a:t>
            </a:r>
            <a:r>
              <a:rPr lang="en-US" sz="1400">
                <a:solidFill>
                  <a:srgbClr val="000000"/>
                </a:solidFill>
                <a:latin typeface="+mj-lt"/>
              </a:rPr>
              <a:t> documents in input context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35BEC12-C20D-B154-12DE-83783831EA95}"/>
              </a:ext>
            </a:extLst>
          </p:cNvPr>
          <p:cNvSpPr txBox="1"/>
          <p:nvPr/>
        </p:nvSpPr>
        <p:spPr>
          <a:xfrm>
            <a:off x="5990675" y="5594506"/>
            <a:ext cx="6223126" cy="461665"/>
          </a:xfrm>
          <a:prstGeom prst="rect">
            <a:avLst/>
          </a:prstGeom>
          <a:noFill/>
        </p:spPr>
        <p:txBody>
          <a:bodyPr wrap="square" lIns="91440" tIns="91440" rIns="91440" bIns="91440" rtlCol="0">
            <a:spAutoFit/>
          </a:bodyPr>
          <a:lstStyle/>
          <a:p>
            <a:pPr lvl="0">
              <a:defRPr/>
            </a:pPr>
            <a:r>
              <a:rPr lang="en-US" kern="0">
                <a:solidFill>
                  <a:srgbClr val="000000"/>
                </a:solidFill>
                <a:latin typeface="Aptos" panose="020B0004020202020204" pitchFamily="34" charset="0"/>
                <a:cs typeface="Segoe UI" panose="020B0502040204020203" pitchFamily="34" charset="0"/>
              </a:rPr>
              <a:t>Source: </a:t>
            </a: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cs typeface="Segoe UI" panose="020B0502040204020203" pitchFamily="34" charset="0"/>
                <a:hlinkClick r:id="rId3"/>
              </a:rPr>
              <a:t>Lost in the Middle</a:t>
            </a:r>
            <a:endParaRPr kumimoji="0" lang="en-US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cs typeface="Segoe UI" panose="020B0502040204020203" pitchFamily="34" charset="0"/>
            </a:endParaRPr>
          </a:p>
        </p:txBody>
      </p:sp>
      <p:sp>
        <p:nvSpPr>
          <p:cNvPr id="43" name="Rectangle: Rounded Corners 7">
            <a:extLst>
              <a:ext uri="{FF2B5EF4-FFF2-40B4-BE49-F238E27FC236}">
                <a16:creationId xmlns:a16="http://schemas.microsoft.com/office/drawing/2014/main" id="{CE0156B1-DF6F-20A7-BC5D-E52E9F82A99E}"/>
              </a:ext>
            </a:extLst>
          </p:cNvPr>
          <p:cNvSpPr/>
          <p:nvPr/>
        </p:nvSpPr>
        <p:spPr>
          <a:xfrm>
            <a:off x="1156514" y="5293918"/>
            <a:ext cx="360000" cy="361910"/>
          </a:xfrm>
          <a:prstGeom prst="ellipse">
            <a:avLst/>
          </a:prstGeom>
          <a:gradFill>
            <a:gsLst>
              <a:gs pos="32000">
                <a:srgbClr val="C03BC4"/>
              </a:gs>
              <a:gs pos="100000">
                <a:srgbClr val="399A91"/>
              </a:gs>
              <a:gs pos="68000">
                <a:srgbClr val="0078D4"/>
              </a:gs>
              <a:gs pos="0">
                <a:srgbClr val="FF5C39"/>
              </a:gs>
            </a:gsLst>
            <a:path path="circle">
              <a:fillToRect l="100000" t="100000"/>
            </a:path>
          </a:gradFill>
          <a:ln w="25400">
            <a:noFill/>
          </a:ln>
          <a:effectLst>
            <a:outerShdw blurRad="63500" dist="63500" dir="2700000" algn="tl" rotWithShape="0">
              <a:srgbClr val="454142">
                <a:alpha val="20000"/>
              </a:srgb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tIns="36000" bIns="36000" rtlCol="0" anchor="ctr">
            <a:spAutoFit/>
          </a:bodyPr>
          <a:lstStyle/>
          <a:p>
            <a:r>
              <a:rPr lang="en-US" sz="1200">
                <a:solidFill>
                  <a:schemeClr val="bg1"/>
                </a:solidFill>
                <a:latin typeface="+mj-lt"/>
              </a:rPr>
              <a:t>3</a:t>
            </a:r>
          </a:p>
        </p:txBody>
      </p:sp>
      <p:sp>
        <p:nvSpPr>
          <p:cNvPr id="44" name="Content Placeholder 4">
            <a:extLst>
              <a:ext uri="{FF2B5EF4-FFF2-40B4-BE49-F238E27FC236}">
                <a16:creationId xmlns:a16="http://schemas.microsoft.com/office/drawing/2014/main" id="{2E9063B1-366A-100E-CF84-FB132B7673CD}"/>
              </a:ext>
            </a:extLst>
          </p:cNvPr>
          <p:cNvSpPr txBox="1">
            <a:spLocks/>
          </p:cNvSpPr>
          <p:nvPr/>
        </p:nvSpPr>
        <p:spPr>
          <a:xfrm>
            <a:off x="1650886" y="5294106"/>
            <a:ext cx="3691247" cy="110563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0"/>
              </a:spcBef>
              <a:buNone/>
            </a:pPr>
            <a:r>
              <a:rPr lang="en-US" sz="2400">
                <a:latin typeface="Segoe UI" panose="020B0502040204020203" pitchFamily="34" charset="0"/>
                <a:cs typeface="Segoe UI" panose="020B0502040204020203" pitchFamily="34" charset="0"/>
              </a:rPr>
              <a:t>The more tokens you send, the higher the cost, the slower the response.</a:t>
            </a:r>
            <a:endParaRPr lang="en-US" sz="16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79E267-D66A-04BC-6601-D7E1EA427DD7}"/>
              </a:ext>
            </a:extLst>
          </p:cNvPr>
          <p:cNvSpPr txBox="1"/>
          <p:nvPr/>
        </p:nvSpPr>
        <p:spPr>
          <a:xfrm>
            <a:off x="5990675" y="6245853"/>
            <a:ext cx="47470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kern="0">
                <a:solidFill>
                  <a:srgbClr val="000000"/>
                </a:solidFill>
                <a:latin typeface="Aptos" panose="020B0004020202020204" pitchFamily="34" charset="0"/>
                <a:cs typeface="Segoe UI" panose="020B0502040204020203" pitchFamily="34" charset="0"/>
              </a:rPr>
              <a:t>See also: </a:t>
            </a:r>
            <a:r>
              <a:rPr lang="en-US">
                <a:latin typeface="Aptos" panose="020B0004020202020204" pitchFamily="34" charset="0"/>
                <a:hlinkClick r:id="rId4"/>
              </a:rPr>
              <a:t>Context rot research from Chroma</a:t>
            </a:r>
            <a:endParaRPr lang="en-US">
              <a:latin typeface="Aptos" panose="020B00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24B22D2-869E-ACA9-4031-52F89078913D}"/>
              </a:ext>
            </a:extLst>
          </p:cNvPr>
          <p:cNvSpPr txBox="1">
            <a:spLocks/>
          </p:cNvSpPr>
          <p:nvPr/>
        </p:nvSpPr>
        <p:spPr>
          <a:xfrm>
            <a:off x="1149042" y="1818291"/>
            <a:ext cx="3454132" cy="519664"/>
          </a:xfrm>
        </p:spPr>
        <p:txBody>
          <a:bodyPr wrap="none" tIns="0" bIns="0" anchor="t">
            <a:noAutofit/>
          </a:bodyPr>
          <a:lstStyle>
            <a:defPPr>
              <a:defRPr lang="en-US"/>
            </a:defPPr>
            <a:lvl1pPr marL="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r>
              <a:rPr lang="en-US" sz="3000" b="1" i="1">
                <a:latin typeface="Aptos" panose="020B0004020202020204" pitchFamily="34" charset="0"/>
                <a:cs typeface="Segoe UI" panose="020B0502040204020203" pitchFamily="34" charset="0"/>
              </a:rPr>
              <a:t>Absolutely!</a:t>
            </a:r>
          </a:p>
        </p:txBody>
      </p:sp>
    </p:spTree>
    <p:extLst>
      <p:ext uri="{BB962C8B-B14F-4D97-AF65-F5344CB8AC3E}">
        <p14:creationId xmlns:p14="http://schemas.microsoft.com/office/powerpoint/2010/main" val="4773808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7311C-D05E-4AE6-020E-36B1A7173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961204D4-AC34-F276-1704-8E5271B2B536}"/>
              </a:ext>
            </a:extLst>
          </p:cNvPr>
          <p:cNvSpPr/>
          <p:nvPr/>
        </p:nvSpPr>
        <p:spPr>
          <a:xfrm>
            <a:off x="1246906" y="2199460"/>
            <a:ext cx="2696356" cy="4397712"/>
          </a:xfrm>
          <a:prstGeom prst="roundRect">
            <a:avLst>
              <a:gd name="adj" fmla="val 239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E338D-E6E8-82D7-ECDB-CA770C173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Context compaction with summarization</a:t>
            </a:r>
          </a:p>
        </p:txBody>
      </p:sp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8B2CC7EA-5128-214B-BA63-B0341D4B24D8}"/>
              </a:ext>
            </a:extLst>
          </p:cNvPr>
          <p:cNvSpPr/>
          <p:nvPr/>
        </p:nvSpPr>
        <p:spPr>
          <a:xfrm>
            <a:off x="1445791" y="2691258"/>
            <a:ext cx="1848126" cy="214344"/>
          </a:xfrm>
          <a:prstGeom prst="wedgeRoundRectCallout">
            <a:avLst>
              <a:gd name="adj1" fmla="val -55152"/>
              <a:gd name="adj2" fmla="val -21083"/>
              <a:gd name="adj3" fmla="val 16667"/>
            </a:avLst>
          </a:prstGeom>
          <a:solidFill>
            <a:srgbClr val="4569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/>
          </a:p>
        </p:txBody>
      </p:sp>
      <p:sp>
        <p:nvSpPr>
          <p:cNvPr id="10" name="Rounded Rectangular Callout 9">
            <a:extLst>
              <a:ext uri="{FF2B5EF4-FFF2-40B4-BE49-F238E27FC236}">
                <a16:creationId xmlns:a16="http://schemas.microsoft.com/office/drawing/2014/main" id="{3BBCA3E2-2A2D-9097-6385-A4C85050EDC3}"/>
              </a:ext>
            </a:extLst>
          </p:cNvPr>
          <p:cNvSpPr/>
          <p:nvPr/>
        </p:nvSpPr>
        <p:spPr>
          <a:xfrm>
            <a:off x="1457232" y="2367522"/>
            <a:ext cx="1841648" cy="214344"/>
          </a:xfrm>
          <a:prstGeom prst="wedgeRoundRectCallout">
            <a:avLst>
              <a:gd name="adj1" fmla="val -55152"/>
              <a:gd name="adj2" fmla="val -21083"/>
              <a:gd name="adj3" fmla="val 16667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/>
          </a:p>
        </p:txBody>
      </p:sp>
      <p:sp>
        <p:nvSpPr>
          <p:cNvPr id="11" name="Rounded Rectangular Callout 10">
            <a:extLst>
              <a:ext uri="{FF2B5EF4-FFF2-40B4-BE49-F238E27FC236}">
                <a16:creationId xmlns:a16="http://schemas.microsoft.com/office/drawing/2014/main" id="{857E2D6C-F39E-14EF-2B05-B1D6C11729CB}"/>
              </a:ext>
            </a:extLst>
          </p:cNvPr>
          <p:cNvSpPr/>
          <p:nvPr/>
        </p:nvSpPr>
        <p:spPr>
          <a:xfrm>
            <a:off x="1445792" y="3014994"/>
            <a:ext cx="1848126" cy="214344"/>
          </a:xfrm>
          <a:prstGeom prst="wedgeRoundRectCallout">
            <a:avLst>
              <a:gd name="adj1" fmla="val -55152"/>
              <a:gd name="adj2" fmla="val -21083"/>
              <a:gd name="adj3" fmla="val 166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12" name="Rounded Rectangular Callout 11">
            <a:extLst>
              <a:ext uri="{FF2B5EF4-FFF2-40B4-BE49-F238E27FC236}">
                <a16:creationId xmlns:a16="http://schemas.microsoft.com/office/drawing/2014/main" id="{C21DCAAB-7C3B-5EEC-FEF7-2DC03581722A}"/>
              </a:ext>
            </a:extLst>
          </p:cNvPr>
          <p:cNvSpPr/>
          <p:nvPr/>
        </p:nvSpPr>
        <p:spPr>
          <a:xfrm>
            <a:off x="1445792" y="3338730"/>
            <a:ext cx="1848126" cy="214344"/>
          </a:xfrm>
          <a:prstGeom prst="wedgeRoundRectCallout">
            <a:avLst>
              <a:gd name="adj1" fmla="val -55152"/>
              <a:gd name="adj2" fmla="val -21083"/>
              <a:gd name="adj3" fmla="val 16667"/>
            </a:avLst>
          </a:prstGeom>
          <a:solidFill>
            <a:srgbClr val="CAE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13" name="Rounded Rectangular Callout 12">
            <a:extLst>
              <a:ext uri="{FF2B5EF4-FFF2-40B4-BE49-F238E27FC236}">
                <a16:creationId xmlns:a16="http://schemas.microsoft.com/office/drawing/2014/main" id="{52CA4B7A-6B16-356C-806B-CD05752FC738}"/>
              </a:ext>
            </a:extLst>
          </p:cNvPr>
          <p:cNvSpPr/>
          <p:nvPr/>
        </p:nvSpPr>
        <p:spPr>
          <a:xfrm>
            <a:off x="1457232" y="3662466"/>
            <a:ext cx="1841648" cy="214344"/>
          </a:xfrm>
          <a:prstGeom prst="wedgeRoundRectCallout">
            <a:avLst>
              <a:gd name="adj1" fmla="val -55152"/>
              <a:gd name="adj2" fmla="val -21083"/>
              <a:gd name="adj3" fmla="val 166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14" name="Rounded Rectangular Callout 13">
            <a:extLst>
              <a:ext uri="{FF2B5EF4-FFF2-40B4-BE49-F238E27FC236}">
                <a16:creationId xmlns:a16="http://schemas.microsoft.com/office/drawing/2014/main" id="{C2F286C3-20C7-BF3C-C23F-B9020FD2863C}"/>
              </a:ext>
            </a:extLst>
          </p:cNvPr>
          <p:cNvSpPr/>
          <p:nvPr/>
        </p:nvSpPr>
        <p:spPr>
          <a:xfrm>
            <a:off x="1457232" y="3986202"/>
            <a:ext cx="1841648" cy="214344"/>
          </a:xfrm>
          <a:prstGeom prst="wedgeRoundRectCallout">
            <a:avLst>
              <a:gd name="adj1" fmla="val -55152"/>
              <a:gd name="adj2" fmla="val -21083"/>
              <a:gd name="adj3" fmla="val 16667"/>
            </a:avLst>
          </a:prstGeom>
          <a:solidFill>
            <a:srgbClr val="4569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/>
          </a:p>
        </p:txBody>
      </p:sp>
      <p:sp>
        <p:nvSpPr>
          <p:cNvPr id="16" name="Rounded Rectangular Callout 15">
            <a:extLst>
              <a:ext uri="{FF2B5EF4-FFF2-40B4-BE49-F238E27FC236}">
                <a16:creationId xmlns:a16="http://schemas.microsoft.com/office/drawing/2014/main" id="{3D77D185-B48B-7C29-2EFE-625AA3CB16BF}"/>
              </a:ext>
            </a:extLst>
          </p:cNvPr>
          <p:cNvSpPr/>
          <p:nvPr/>
        </p:nvSpPr>
        <p:spPr>
          <a:xfrm>
            <a:off x="1457232" y="4309938"/>
            <a:ext cx="1841648" cy="214344"/>
          </a:xfrm>
          <a:prstGeom prst="wedgeRoundRectCallout">
            <a:avLst>
              <a:gd name="adj1" fmla="val -55152"/>
              <a:gd name="adj2" fmla="val -21083"/>
              <a:gd name="adj3" fmla="val 166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18" name="Rounded Rectangular Callout 17">
            <a:extLst>
              <a:ext uri="{FF2B5EF4-FFF2-40B4-BE49-F238E27FC236}">
                <a16:creationId xmlns:a16="http://schemas.microsoft.com/office/drawing/2014/main" id="{0F95F166-2064-5DAD-2056-0A85CFE59100}"/>
              </a:ext>
            </a:extLst>
          </p:cNvPr>
          <p:cNvSpPr/>
          <p:nvPr/>
        </p:nvSpPr>
        <p:spPr>
          <a:xfrm>
            <a:off x="1457232" y="4633674"/>
            <a:ext cx="1841648" cy="214344"/>
          </a:xfrm>
          <a:prstGeom prst="wedgeRoundRectCallout">
            <a:avLst>
              <a:gd name="adj1" fmla="val -55152"/>
              <a:gd name="adj2" fmla="val -21083"/>
              <a:gd name="adj3" fmla="val 16667"/>
            </a:avLst>
          </a:prstGeom>
          <a:solidFill>
            <a:srgbClr val="CAE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19" name="Rounded Rectangular Callout 18">
            <a:extLst>
              <a:ext uri="{FF2B5EF4-FFF2-40B4-BE49-F238E27FC236}">
                <a16:creationId xmlns:a16="http://schemas.microsoft.com/office/drawing/2014/main" id="{76E47FA8-9F13-1AF9-57F5-FDDBF48EEE85}"/>
              </a:ext>
            </a:extLst>
          </p:cNvPr>
          <p:cNvSpPr/>
          <p:nvPr/>
        </p:nvSpPr>
        <p:spPr>
          <a:xfrm>
            <a:off x="1457233" y="4957411"/>
            <a:ext cx="1838728" cy="209036"/>
          </a:xfrm>
          <a:prstGeom prst="wedgeRoundRectCallout">
            <a:avLst>
              <a:gd name="adj1" fmla="val -55152"/>
              <a:gd name="adj2" fmla="val -21083"/>
              <a:gd name="adj3" fmla="val 166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D96B8920-0DD0-66DC-84CF-10984A0CC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2696" y="1840031"/>
            <a:ext cx="2621568" cy="4945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/>
              <a:t>Context window: 200K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0D3B78C-0279-31D2-A9F2-BD8AB2FEC6DE}"/>
              </a:ext>
            </a:extLst>
          </p:cNvPr>
          <p:cNvCxnSpPr>
            <a:cxnSpLocks/>
            <a:endCxn id="24" idx="3"/>
          </p:cNvCxnSpPr>
          <p:nvPr/>
        </p:nvCxnSpPr>
        <p:spPr>
          <a:xfrm>
            <a:off x="3447770" y="4398316"/>
            <a:ext cx="4954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D6C4C0DF-FB8E-2996-4B7B-F43169EC87AF}"/>
              </a:ext>
            </a:extLst>
          </p:cNvPr>
          <p:cNvSpPr txBox="1">
            <a:spLocks/>
          </p:cNvSpPr>
          <p:nvPr/>
        </p:nvSpPr>
        <p:spPr>
          <a:xfrm>
            <a:off x="3327726" y="4066458"/>
            <a:ext cx="675241" cy="3693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sz="2000"/>
              <a:t>50%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13F80FD-061A-38CD-5FD3-CF73D6BEB295}"/>
              </a:ext>
            </a:extLst>
          </p:cNvPr>
          <p:cNvCxnSpPr>
            <a:cxnSpLocks/>
          </p:cNvCxnSpPr>
          <p:nvPr/>
        </p:nvCxnSpPr>
        <p:spPr>
          <a:xfrm>
            <a:off x="3447770" y="5517071"/>
            <a:ext cx="4954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9D1F53BF-C5CC-5337-6EBE-6FD66510D18A}"/>
              </a:ext>
            </a:extLst>
          </p:cNvPr>
          <p:cNvSpPr txBox="1">
            <a:spLocks/>
          </p:cNvSpPr>
          <p:nvPr/>
        </p:nvSpPr>
        <p:spPr>
          <a:xfrm>
            <a:off x="3357895" y="5172233"/>
            <a:ext cx="675241" cy="3693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sz="2000"/>
              <a:t>75%</a:t>
            </a:r>
          </a:p>
        </p:txBody>
      </p:sp>
      <p:sp>
        <p:nvSpPr>
          <p:cNvPr id="41" name="Rounded Rectangular Callout 40">
            <a:extLst>
              <a:ext uri="{FF2B5EF4-FFF2-40B4-BE49-F238E27FC236}">
                <a16:creationId xmlns:a16="http://schemas.microsoft.com/office/drawing/2014/main" id="{588820AC-C446-3911-AC4B-EE5674846A69}"/>
              </a:ext>
            </a:extLst>
          </p:cNvPr>
          <p:cNvSpPr/>
          <p:nvPr/>
        </p:nvSpPr>
        <p:spPr>
          <a:xfrm>
            <a:off x="1457233" y="5281146"/>
            <a:ext cx="1848126" cy="214344"/>
          </a:xfrm>
          <a:prstGeom prst="wedgeRoundRectCallout">
            <a:avLst>
              <a:gd name="adj1" fmla="val -55152"/>
              <a:gd name="adj2" fmla="val -21083"/>
              <a:gd name="adj3" fmla="val 16667"/>
            </a:avLst>
          </a:prstGeom>
          <a:solidFill>
            <a:srgbClr val="CAE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>
              <a:solidFill>
                <a:schemeClr val="tx1"/>
              </a:solidFill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31BDF18-EF4D-C3A5-4F5A-17435DDE2404}"/>
              </a:ext>
            </a:extLst>
          </p:cNvPr>
          <p:cNvCxnSpPr>
            <a:cxnSpLocks/>
          </p:cNvCxnSpPr>
          <p:nvPr/>
        </p:nvCxnSpPr>
        <p:spPr>
          <a:xfrm>
            <a:off x="3436329" y="3288165"/>
            <a:ext cx="4954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9A5A38F3-2B63-6C4B-2372-E6D98D9C6E5C}"/>
              </a:ext>
            </a:extLst>
          </p:cNvPr>
          <p:cNvSpPr txBox="1">
            <a:spLocks/>
          </p:cNvSpPr>
          <p:nvPr/>
        </p:nvSpPr>
        <p:spPr>
          <a:xfrm>
            <a:off x="3316285" y="2956307"/>
            <a:ext cx="675241" cy="3693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sz="2000"/>
              <a:t>25%</a:t>
            </a:r>
          </a:p>
        </p:txBody>
      </p:sp>
      <p:sp>
        <p:nvSpPr>
          <p:cNvPr id="46" name="Content Placeholder 2">
            <a:extLst>
              <a:ext uri="{FF2B5EF4-FFF2-40B4-BE49-F238E27FC236}">
                <a16:creationId xmlns:a16="http://schemas.microsoft.com/office/drawing/2014/main" id="{BDB12695-D595-8DA9-423B-9A59BD15F9BA}"/>
              </a:ext>
            </a:extLst>
          </p:cNvPr>
          <p:cNvSpPr txBox="1">
            <a:spLocks/>
          </p:cNvSpPr>
          <p:nvPr/>
        </p:nvSpPr>
        <p:spPr>
          <a:xfrm>
            <a:off x="2996245" y="6227839"/>
            <a:ext cx="971150" cy="3693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sz="2000"/>
              <a:t>100%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0059576-8869-94EB-D1E0-AC4B0DBD2E97}"/>
              </a:ext>
            </a:extLst>
          </p:cNvPr>
          <p:cNvCxnSpPr>
            <a:cxnSpLocks/>
          </p:cNvCxnSpPr>
          <p:nvPr/>
        </p:nvCxnSpPr>
        <p:spPr>
          <a:xfrm flipH="1">
            <a:off x="3926943" y="3539530"/>
            <a:ext cx="649517" cy="0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Content Placeholder 2">
            <a:extLst>
              <a:ext uri="{FF2B5EF4-FFF2-40B4-BE49-F238E27FC236}">
                <a16:creationId xmlns:a16="http://schemas.microsoft.com/office/drawing/2014/main" id="{0BCC5ECE-7938-4B8B-30B5-1E86A3A79774}"/>
              </a:ext>
            </a:extLst>
          </p:cNvPr>
          <p:cNvSpPr txBox="1">
            <a:spLocks/>
          </p:cNvSpPr>
          <p:nvPr/>
        </p:nvSpPr>
        <p:spPr>
          <a:xfrm>
            <a:off x="4202079" y="2917381"/>
            <a:ext cx="1879417" cy="402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/>
              <a:t>"Summarize..."</a:t>
            </a:r>
          </a:p>
        </p:txBody>
      </p:sp>
      <p:sp>
        <p:nvSpPr>
          <p:cNvPr id="50" name="Content Placeholder 2">
            <a:extLst>
              <a:ext uri="{FF2B5EF4-FFF2-40B4-BE49-F238E27FC236}">
                <a16:creationId xmlns:a16="http://schemas.microsoft.com/office/drawing/2014/main" id="{B1611665-E806-9ACD-7DCF-237E6BDBE75A}"/>
              </a:ext>
            </a:extLst>
          </p:cNvPr>
          <p:cNvSpPr txBox="1">
            <a:spLocks/>
          </p:cNvSpPr>
          <p:nvPr/>
        </p:nvSpPr>
        <p:spPr>
          <a:xfrm>
            <a:off x="9137058" y="2900500"/>
            <a:ext cx="3001937" cy="25949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/>
              <a:t>Implementation details:</a:t>
            </a:r>
          </a:p>
          <a:p>
            <a:r>
              <a:rPr lang="en-US" sz="2000"/>
              <a:t>How often to summarize?</a:t>
            </a:r>
          </a:p>
          <a:p>
            <a:r>
              <a:rPr lang="en-US" sz="2000"/>
              <a:t>What's most important to summarize?</a:t>
            </a:r>
          </a:p>
          <a:p>
            <a:r>
              <a:rPr lang="en-US" sz="2000"/>
              <a:t>Do you store original messages for later?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B718BF3-0020-CBBF-88DC-959092DA2EEF}"/>
              </a:ext>
            </a:extLst>
          </p:cNvPr>
          <p:cNvSpPr/>
          <p:nvPr/>
        </p:nvSpPr>
        <p:spPr bwMode="auto">
          <a:xfrm>
            <a:off x="4636165" y="3299773"/>
            <a:ext cx="929764" cy="686429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LLM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75FF1EDA-6AD5-3400-D489-0B836CCFA156}"/>
              </a:ext>
            </a:extLst>
          </p:cNvPr>
          <p:cNvCxnSpPr>
            <a:cxnSpLocks/>
          </p:cNvCxnSpPr>
          <p:nvPr/>
        </p:nvCxnSpPr>
        <p:spPr>
          <a:xfrm flipH="1">
            <a:off x="5627050" y="3555008"/>
            <a:ext cx="649517" cy="0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A48F7753-3793-780A-FA96-0E08EF33D936}"/>
              </a:ext>
            </a:extLst>
          </p:cNvPr>
          <p:cNvSpPr/>
          <p:nvPr/>
        </p:nvSpPr>
        <p:spPr>
          <a:xfrm>
            <a:off x="6313958" y="2216152"/>
            <a:ext cx="2696356" cy="4397712"/>
          </a:xfrm>
          <a:prstGeom prst="roundRect">
            <a:avLst>
              <a:gd name="adj" fmla="val 239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ounded Rectangular Callout 62">
            <a:extLst>
              <a:ext uri="{FF2B5EF4-FFF2-40B4-BE49-F238E27FC236}">
                <a16:creationId xmlns:a16="http://schemas.microsoft.com/office/drawing/2014/main" id="{3178622D-AD7C-6F95-4570-2B646E879981}"/>
              </a:ext>
            </a:extLst>
          </p:cNvPr>
          <p:cNvSpPr/>
          <p:nvPr/>
        </p:nvSpPr>
        <p:spPr>
          <a:xfrm>
            <a:off x="6524284" y="2384214"/>
            <a:ext cx="1841648" cy="935919"/>
          </a:xfrm>
          <a:prstGeom prst="wedgeRoundRectCallout">
            <a:avLst>
              <a:gd name="adj1" fmla="val -55152"/>
              <a:gd name="adj2" fmla="val -21083"/>
              <a:gd name="adj3" fmla="val 16667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Summary of past messages</a:t>
            </a:r>
          </a:p>
        </p:txBody>
      </p:sp>
      <p:sp>
        <p:nvSpPr>
          <p:cNvPr id="71" name="Content Placeholder 2">
            <a:extLst>
              <a:ext uri="{FF2B5EF4-FFF2-40B4-BE49-F238E27FC236}">
                <a16:creationId xmlns:a16="http://schemas.microsoft.com/office/drawing/2014/main" id="{1ECEE8F1-9EA9-9174-B3A3-D83F00C4FC0D}"/>
              </a:ext>
            </a:extLst>
          </p:cNvPr>
          <p:cNvSpPr txBox="1">
            <a:spLocks/>
          </p:cNvSpPr>
          <p:nvPr/>
        </p:nvSpPr>
        <p:spPr>
          <a:xfrm>
            <a:off x="6279748" y="1856723"/>
            <a:ext cx="2621568" cy="4945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/>
              <a:t>Context window: 200K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07238632-BEE5-C942-BD6A-96CCC3F0129E}"/>
              </a:ext>
            </a:extLst>
          </p:cNvPr>
          <p:cNvCxnSpPr>
            <a:cxnSpLocks/>
            <a:endCxn id="61" idx="3"/>
          </p:cNvCxnSpPr>
          <p:nvPr/>
        </p:nvCxnSpPr>
        <p:spPr>
          <a:xfrm>
            <a:off x="8514822" y="4415008"/>
            <a:ext cx="4954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3" name="Content Placeholder 2">
            <a:extLst>
              <a:ext uri="{FF2B5EF4-FFF2-40B4-BE49-F238E27FC236}">
                <a16:creationId xmlns:a16="http://schemas.microsoft.com/office/drawing/2014/main" id="{AD1BEDE5-2D2C-51F7-F92D-A1128520E14E}"/>
              </a:ext>
            </a:extLst>
          </p:cNvPr>
          <p:cNvSpPr txBox="1">
            <a:spLocks/>
          </p:cNvSpPr>
          <p:nvPr/>
        </p:nvSpPr>
        <p:spPr>
          <a:xfrm>
            <a:off x="8394778" y="4083150"/>
            <a:ext cx="675241" cy="3693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sz="2000"/>
              <a:t>50%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E4CA555D-CEDF-B4AD-403F-450C886C9B64}"/>
              </a:ext>
            </a:extLst>
          </p:cNvPr>
          <p:cNvCxnSpPr>
            <a:cxnSpLocks/>
          </p:cNvCxnSpPr>
          <p:nvPr/>
        </p:nvCxnSpPr>
        <p:spPr>
          <a:xfrm>
            <a:off x="8514822" y="5533763"/>
            <a:ext cx="4954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5" name="Content Placeholder 2">
            <a:extLst>
              <a:ext uri="{FF2B5EF4-FFF2-40B4-BE49-F238E27FC236}">
                <a16:creationId xmlns:a16="http://schemas.microsoft.com/office/drawing/2014/main" id="{B0751D51-90BD-045B-EEB1-5FDA7CAB956A}"/>
              </a:ext>
            </a:extLst>
          </p:cNvPr>
          <p:cNvSpPr txBox="1">
            <a:spLocks/>
          </p:cNvSpPr>
          <p:nvPr/>
        </p:nvSpPr>
        <p:spPr>
          <a:xfrm>
            <a:off x="8424947" y="5188925"/>
            <a:ext cx="675241" cy="3693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sz="2000"/>
              <a:t>75%</a:t>
            </a: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8370F08D-1BB5-27DB-A0F3-F1DBFB90FEB6}"/>
              </a:ext>
            </a:extLst>
          </p:cNvPr>
          <p:cNvCxnSpPr>
            <a:cxnSpLocks/>
          </p:cNvCxnSpPr>
          <p:nvPr/>
        </p:nvCxnSpPr>
        <p:spPr>
          <a:xfrm>
            <a:off x="8503381" y="3304857"/>
            <a:ext cx="4954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Content Placeholder 2">
            <a:extLst>
              <a:ext uri="{FF2B5EF4-FFF2-40B4-BE49-F238E27FC236}">
                <a16:creationId xmlns:a16="http://schemas.microsoft.com/office/drawing/2014/main" id="{9E17F4B7-32E3-02D6-E1AA-8798F42870FA}"/>
              </a:ext>
            </a:extLst>
          </p:cNvPr>
          <p:cNvSpPr txBox="1">
            <a:spLocks/>
          </p:cNvSpPr>
          <p:nvPr/>
        </p:nvSpPr>
        <p:spPr>
          <a:xfrm>
            <a:off x="8383337" y="2972999"/>
            <a:ext cx="675241" cy="3693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sz="2000"/>
              <a:t>25%</a:t>
            </a:r>
          </a:p>
        </p:txBody>
      </p:sp>
      <p:sp>
        <p:nvSpPr>
          <p:cNvPr id="79" name="Content Placeholder 2">
            <a:extLst>
              <a:ext uri="{FF2B5EF4-FFF2-40B4-BE49-F238E27FC236}">
                <a16:creationId xmlns:a16="http://schemas.microsoft.com/office/drawing/2014/main" id="{23F30864-BC42-8F43-EE83-6A057AF00C1E}"/>
              </a:ext>
            </a:extLst>
          </p:cNvPr>
          <p:cNvSpPr txBox="1">
            <a:spLocks/>
          </p:cNvSpPr>
          <p:nvPr/>
        </p:nvSpPr>
        <p:spPr>
          <a:xfrm>
            <a:off x="8063297" y="6244531"/>
            <a:ext cx="971150" cy="3693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sz="2000"/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15195488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E7C38-D83F-3558-7EE7-D51069D4B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3FB9B747-0ABE-61D4-2C58-0678AE64A500}"/>
              </a:ext>
            </a:extLst>
          </p:cNvPr>
          <p:cNvSpPr/>
          <p:nvPr/>
        </p:nvSpPr>
        <p:spPr>
          <a:xfrm>
            <a:off x="1218077" y="3215945"/>
            <a:ext cx="10700296" cy="3112128"/>
          </a:xfrm>
          <a:prstGeom prst="roundRect">
            <a:avLst>
              <a:gd name="adj" fmla="val 239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8F7301A-994A-6D90-2147-B3382EBFF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415" y="458258"/>
            <a:ext cx="11916571" cy="1325563"/>
          </a:xfrm>
        </p:spPr>
        <p:txBody>
          <a:bodyPr/>
          <a:lstStyle/>
          <a:p>
            <a:r>
              <a:rPr lang="en-US"/>
              <a:t>Summarization middleware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0DD680-E5A7-807E-EAD3-1E7A065F339E}"/>
              </a:ext>
            </a:extLst>
          </p:cNvPr>
          <p:cNvSpPr/>
          <p:nvPr/>
        </p:nvSpPr>
        <p:spPr bwMode="auto">
          <a:xfrm>
            <a:off x="1397721" y="3001675"/>
            <a:ext cx="4238742" cy="66421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err="1">
                <a:solidFill>
                  <a:schemeClr val="bg1"/>
                </a:solidFill>
                <a:latin typeface="Consolas" panose="020B0609020204030204" pitchFamily="49" charset="0"/>
                <a:ea typeface="Segoe UI" pitchFamily="34" charset="0"/>
                <a:cs typeface="Consolas" panose="020B0609020204030204" pitchFamily="49" charset="0"/>
              </a:rPr>
              <a:t>SummarizationMiddleware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6667103-97C4-B720-71BF-47D71DD00859}"/>
              </a:ext>
            </a:extLst>
          </p:cNvPr>
          <p:cNvCxnSpPr>
            <a:cxnSpLocks/>
          </p:cNvCxnSpPr>
          <p:nvPr/>
        </p:nvCxnSpPr>
        <p:spPr>
          <a:xfrm flipV="1">
            <a:off x="2389068" y="2612110"/>
            <a:ext cx="0" cy="389564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3AAB31C7-F2ED-0AF1-1120-120D78724278}"/>
              </a:ext>
            </a:extLst>
          </p:cNvPr>
          <p:cNvSpPr txBox="1"/>
          <p:nvPr/>
        </p:nvSpPr>
        <p:spPr>
          <a:xfrm>
            <a:off x="1153004" y="1669100"/>
            <a:ext cx="106198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400" err="1"/>
              <a:t>We can subclass </a:t>
            </a:r>
            <a:r>
              <a:rPr lang="en-US" sz="2400" err="1">
                <a:latin typeface="Consolas" panose="020B0609020204030204" pitchFamily="49" charset="0"/>
                <a:cs typeface="Consolas" panose="020B0609020204030204" pitchFamily="49" charset="0"/>
              </a:rPr>
              <a:t>AgentMiddleware</a:t>
            </a:r>
            <a:r>
              <a:rPr lang="en-US" sz="2400" err="1"/>
              <a:t> to summarize messages and replace them.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60E1CD-6442-09C5-8F94-5F4FC3D25B5F}"/>
              </a:ext>
            </a:extLst>
          </p:cNvPr>
          <p:cNvSpPr txBox="1"/>
          <p:nvPr/>
        </p:nvSpPr>
        <p:spPr>
          <a:xfrm>
            <a:off x="1132793" y="227425"/>
            <a:ext cx="3168620" cy="461665"/>
          </a:xfrm>
          <a:prstGeom prst="rect">
            <a:avLst/>
          </a:prstGeom>
          <a:solidFill>
            <a:schemeClr val="accent3"/>
          </a:solidFill>
          <a:effectLst>
            <a:softEdge rad="31750"/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agent-framework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F533EB-1B5C-7852-2BBC-2BEB0857684A}"/>
              </a:ext>
            </a:extLst>
          </p:cNvPr>
          <p:cNvSpPr/>
          <p:nvPr/>
        </p:nvSpPr>
        <p:spPr bwMode="auto">
          <a:xfrm>
            <a:off x="8275264" y="3829505"/>
            <a:ext cx="929764" cy="686429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LLM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E7B339-A759-0FA2-9A0B-D830E83954C4}"/>
              </a:ext>
            </a:extLst>
          </p:cNvPr>
          <p:cNvSpPr txBox="1"/>
          <p:nvPr/>
        </p:nvSpPr>
        <p:spPr>
          <a:xfrm>
            <a:off x="1490064" y="2243950"/>
            <a:ext cx="355070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000" err="1">
                <a:latin typeface="Consolas" panose="020B0609020204030204" pitchFamily="49" charset="0"/>
                <a:cs typeface="Consolas" panose="020B0609020204030204" pitchFamily="49" charset="0"/>
              </a:rPr>
              <a:t>agent.run("user message")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68B1F3-3FBC-4310-F8F9-A6A5E3A920B8}"/>
              </a:ext>
            </a:extLst>
          </p:cNvPr>
          <p:cNvSpPr txBox="1"/>
          <p:nvPr/>
        </p:nvSpPr>
        <p:spPr>
          <a:xfrm>
            <a:off x="3904849" y="3962183"/>
            <a:ext cx="344324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context tokens &gt; threshold?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4F9752-CE59-4194-4324-5185777EBAED}"/>
              </a:ext>
            </a:extLst>
          </p:cNvPr>
          <p:cNvSpPr txBox="1"/>
          <p:nvPr/>
        </p:nvSpPr>
        <p:spPr>
          <a:xfrm>
            <a:off x="1715920" y="3999406"/>
            <a:ext cx="188806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2400" err="1"/>
              <a:t>BEFORE RUN: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E1561D-D94B-2138-329E-AAB75206A288}"/>
              </a:ext>
            </a:extLst>
          </p:cNvPr>
          <p:cNvSpPr txBox="1"/>
          <p:nvPr/>
        </p:nvSpPr>
        <p:spPr>
          <a:xfrm>
            <a:off x="1643181" y="5816417"/>
            <a:ext cx="196080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2400" err="1"/>
              <a:t>AFTER RUN: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4AD353-0ACE-080F-B268-2C4516A8DF93}"/>
              </a:ext>
            </a:extLst>
          </p:cNvPr>
          <p:cNvSpPr txBox="1"/>
          <p:nvPr/>
        </p:nvSpPr>
        <p:spPr>
          <a:xfrm>
            <a:off x="3835306" y="5816417"/>
            <a:ext cx="4383901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context tokens += response tokens 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D42BB6D-5C30-B1BB-7104-D242C57642E5}"/>
              </a:ext>
            </a:extLst>
          </p:cNvPr>
          <p:cNvCxnSpPr>
            <a:cxnSpLocks/>
          </p:cNvCxnSpPr>
          <p:nvPr/>
        </p:nvCxnSpPr>
        <p:spPr>
          <a:xfrm flipH="1">
            <a:off x="7227768" y="4172719"/>
            <a:ext cx="887532" cy="1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F0DD42A3-AF35-7F56-3DE6-DC8C685F41AE}"/>
              </a:ext>
            </a:extLst>
          </p:cNvPr>
          <p:cNvSpPr txBox="1"/>
          <p:nvPr/>
        </p:nvSpPr>
        <p:spPr>
          <a:xfrm>
            <a:off x="8115300" y="3479513"/>
            <a:ext cx="2908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err="1"/>
              <a:t>"Summarize..."</a:t>
            </a:r>
            <a:endParaRPr lang="en-US"/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404250C-E2F4-B76D-6275-1B5660D1A959}"/>
              </a:ext>
            </a:extLst>
          </p:cNvPr>
          <p:cNvCxnSpPr>
            <a:cxnSpLocks/>
          </p:cNvCxnSpPr>
          <p:nvPr/>
        </p:nvCxnSpPr>
        <p:spPr>
          <a:xfrm flipV="1">
            <a:off x="8647858" y="4548200"/>
            <a:ext cx="0" cy="462800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63A61742-E96A-6D5D-CF41-AC17E43C272E}"/>
              </a:ext>
            </a:extLst>
          </p:cNvPr>
          <p:cNvSpPr txBox="1"/>
          <p:nvPr/>
        </p:nvSpPr>
        <p:spPr>
          <a:xfrm>
            <a:off x="7969832" y="5042995"/>
            <a:ext cx="2826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messages = [summary]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7F147C9-D745-98B0-DBBB-4E9EC30583E1}"/>
              </a:ext>
            </a:extLst>
          </p:cNvPr>
          <p:cNvSpPr txBox="1"/>
          <p:nvPr/>
        </p:nvSpPr>
        <p:spPr>
          <a:xfrm>
            <a:off x="3904849" y="4921111"/>
            <a:ext cx="355070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000" err="1">
                <a:latin typeface="Consolas" panose="020B0609020204030204" pitchFamily="49" charset="0"/>
                <a:cs typeface="Consolas" panose="020B0609020204030204" pitchFamily="49" charset="0"/>
              </a:rPr>
              <a:t>call_next()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1C68E1D-B80E-7D82-903F-737995EBCA91}"/>
              </a:ext>
            </a:extLst>
          </p:cNvPr>
          <p:cNvSpPr txBox="1"/>
          <p:nvPr/>
        </p:nvSpPr>
        <p:spPr>
          <a:xfrm>
            <a:off x="1715920" y="4858329"/>
            <a:ext cx="188806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2400" err="1"/>
              <a:t>AGENT RUN:</a:t>
            </a:r>
          </a:p>
        </p:txBody>
      </p:sp>
    </p:spTree>
    <p:extLst>
      <p:ext uri="{BB962C8B-B14F-4D97-AF65-F5344CB8AC3E}">
        <p14:creationId xmlns:p14="http://schemas.microsoft.com/office/powerpoint/2010/main" val="31379143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09E63-4BC4-533C-05A3-9979C28EC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5F23F-0D30-FA83-68F0-070B90F51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Summarization middleware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B13654-5FB9-AC64-DEE0-A09AB2840391}"/>
              </a:ext>
            </a:extLst>
          </p:cNvPr>
          <p:cNvSpPr txBox="1"/>
          <p:nvPr/>
        </p:nvSpPr>
        <p:spPr>
          <a:xfrm>
            <a:off x="1132793" y="227425"/>
            <a:ext cx="3168620" cy="461665"/>
          </a:xfrm>
          <a:prstGeom prst="rect">
            <a:avLst/>
          </a:prstGeom>
          <a:solidFill>
            <a:schemeClr val="accent3"/>
          </a:solidFill>
          <a:effectLst>
            <a:softEdge rad="31750"/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agent-framework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D6D850-1A40-7CCD-B7A1-080C71E1FA71}"/>
              </a:ext>
            </a:extLst>
          </p:cNvPr>
          <p:cNvSpPr txBox="1"/>
          <p:nvPr/>
        </p:nvSpPr>
        <p:spPr>
          <a:xfrm>
            <a:off x="1132792" y="6199688"/>
            <a:ext cx="65281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0" i="0" u="sng">
                <a:solidFill>
                  <a:srgbClr val="00008B"/>
                </a:solidFill>
                <a:effectLst/>
                <a:latin typeface="Aptos" panose="020B0004020202020204" pitchFamily="34" charset="0"/>
                <a:hlinkClick r:id="rId2"/>
              </a:rPr>
              <a:t>Full example: agent_summarization.py</a:t>
            </a:r>
            <a:endParaRPr lang="en-US" sz="2200"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A53569-02F5-3D37-6840-EC52D1CBD85A}"/>
              </a:ext>
            </a:extLst>
          </p:cNvPr>
          <p:cNvSpPr txBox="1"/>
          <p:nvPr/>
        </p:nvSpPr>
        <p:spPr>
          <a:xfrm>
            <a:off x="1049416" y="1893744"/>
            <a:ext cx="11014429" cy="41960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SummarizationMiddleware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AgentMiddleware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pPr>
              <a:lnSpc>
                <a:spcPts val="2025"/>
              </a:lnSpc>
              <a:buNone/>
            </a:pP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async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process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context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call_next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pPr>
              <a:lnSpc>
                <a:spcPts val="2025"/>
              </a:lnSpc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Before the agent runs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if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context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session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and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context_tokens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&gt;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token_threshold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history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context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session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state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"memory"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][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"messages"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pPr>
              <a:lnSpc>
                <a:spcPts val="2025"/>
              </a:lnSpc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summary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await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_summarize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history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# LLM call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</a:pP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context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session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state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"memory"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][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"messages"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 = 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Message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role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"assistant"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text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"[Summary]</a:t>
            </a:r>
            <a:r>
              <a:rPr lang="en-US" b="0">
                <a:solidFill>
                  <a:srgbClr val="EE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\n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summary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)]</a:t>
            </a:r>
          </a:p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context_tokens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await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call_next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# Runs the standard agent loop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endParaRPr lang="en-US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After the agent runs</a:t>
            </a:r>
            <a:endParaRPr lang="en-US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if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context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and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context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usage_details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ts val="2025"/>
              </a:lnSpc>
              <a:buNone/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self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context_tokens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+=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context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usage_details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"total_token_count"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10241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F3568-C16E-2504-6EBE-9F51503AE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7EDC9CA3-D2F9-4177-F062-14CB65901D8B}"/>
              </a:ext>
            </a:extLst>
          </p:cNvPr>
          <p:cNvSpPr/>
          <p:nvPr/>
        </p:nvSpPr>
        <p:spPr>
          <a:xfrm>
            <a:off x="6188092" y="2280365"/>
            <a:ext cx="5520233" cy="3782535"/>
          </a:xfrm>
          <a:prstGeom prst="roundRect">
            <a:avLst>
              <a:gd name="adj" fmla="val 336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E922823-FAA7-9405-D1D4-5F3237DC6331}"/>
              </a:ext>
            </a:extLst>
          </p:cNvPr>
          <p:cNvSpPr txBox="1"/>
          <p:nvPr/>
        </p:nvSpPr>
        <p:spPr>
          <a:xfrm>
            <a:off x="6453263" y="2061673"/>
            <a:ext cx="33451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>
                <a:latin typeface="Aptos" panose="020B0004020202020204" pitchFamily="34" charset="0"/>
                <a:cs typeface="Segoe UI" panose="020B0502040204020203" pitchFamily="34" charset="0"/>
              </a:rPr>
              <a:t>Coordinator agent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8201330-68FC-9006-EB5B-4A66A105D728}"/>
              </a:ext>
            </a:extLst>
          </p:cNvPr>
          <p:cNvSpPr txBox="1"/>
          <p:nvPr/>
        </p:nvSpPr>
        <p:spPr>
          <a:xfrm>
            <a:off x="5838361" y="2040473"/>
            <a:ext cx="8043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0" i="0">
                <a:solidFill>
                  <a:srgbClr val="616161"/>
                </a:solidFill>
                <a:effectLst/>
                <a:latin typeface="-apple-system"/>
              </a:rPr>
              <a:t>🤖</a:t>
            </a:r>
            <a:endParaRPr lang="en-US" sz="3600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AC86DA1-3912-3D25-7D2D-87DE9BDC16BB}"/>
              </a:ext>
            </a:extLst>
          </p:cNvPr>
          <p:cNvSpPr/>
          <p:nvPr/>
        </p:nvSpPr>
        <p:spPr>
          <a:xfrm>
            <a:off x="1052026" y="2566555"/>
            <a:ext cx="4735414" cy="3496345"/>
          </a:xfrm>
          <a:prstGeom prst="roundRect">
            <a:avLst>
              <a:gd name="adj" fmla="val 336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D58917-E07D-BBED-6689-5A2B8086D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Context reduction with subagents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24CC3A2-817C-8BB9-1166-B8D73617D0F7}"/>
              </a:ext>
            </a:extLst>
          </p:cNvPr>
          <p:cNvSpPr txBox="1">
            <a:spLocks/>
          </p:cNvSpPr>
          <p:nvPr/>
        </p:nvSpPr>
        <p:spPr>
          <a:xfrm>
            <a:off x="938026" y="1647284"/>
            <a:ext cx="3282582" cy="5950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/>
              <a:t>A single agent is risky...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06E137-342E-D075-BEB6-5C93436322AF}"/>
              </a:ext>
            </a:extLst>
          </p:cNvPr>
          <p:cNvSpPr txBox="1"/>
          <p:nvPr/>
        </p:nvSpPr>
        <p:spPr>
          <a:xfrm>
            <a:off x="1025369" y="6062900"/>
            <a:ext cx="473845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/>
              <a:t>😳  </a:t>
            </a:r>
            <a:r>
              <a:rPr lang="en-US" sz="2200"/>
              <a:t>Context can explode due to large tool call results growing over time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2C7C6C-5875-12F2-1B9B-44F7621AA626}"/>
              </a:ext>
            </a:extLst>
          </p:cNvPr>
          <p:cNvSpPr txBox="1"/>
          <p:nvPr/>
        </p:nvSpPr>
        <p:spPr>
          <a:xfrm>
            <a:off x="3169341" y="2316636"/>
            <a:ext cx="10176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latin typeface="Aptos" panose="020B0004020202020204" pitchFamily="34" charset="0"/>
                <a:cs typeface="Segoe UI" panose="020B0502040204020203" pitchFamily="34" charset="0"/>
              </a:rPr>
              <a:t>Agent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FD9612-92E5-7A04-7500-DC8FC31A9055}"/>
              </a:ext>
            </a:extLst>
          </p:cNvPr>
          <p:cNvSpPr txBox="1"/>
          <p:nvPr/>
        </p:nvSpPr>
        <p:spPr>
          <a:xfrm>
            <a:off x="2554438" y="2295436"/>
            <a:ext cx="8043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0" i="0">
                <a:solidFill>
                  <a:srgbClr val="616161"/>
                </a:solidFill>
                <a:effectLst/>
                <a:latin typeface="-apple-system"/>
              </a:rPr>
              <a:t>🤖</a:t>
            </a:r>
            <a:endParaRPr lang="en-US" sz="360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F8E985DC-28C0-2766-C671-C9140451C62E}"/>
              </a:ext>
            </a:extLst>
          </p:cNvPr>
          <p:cNvSpPr txBox="1">
            <a:spLocks/>
          </p:cNvSpPr>
          <p:nvPr/>
        </p:nvSpPr>
        <p:spPr>
          <a:xfrm>
            <a:off x="5787584" y="1607579"/>
            <a:ext cx="6255326" cy="4119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/>
              <a:t>Better: </a:t>
            </a:r>
            <a:r>
              <a:rPr lang="en-US" sz="2400" b="1"/>
              <a:t>Coordinator agent</a:t>
            </a:r>
            <a:r>
              <a:rPr lang="en-US" sz="2400"/>
              <a:t> calls </a:t>
            </a:r>
            <a:r>
              <a:rPr lang="en-US" sz="2400" b="1"/>
              <a:t>sub-agents</a:t>
            </a:r>
            <a:endParaRPr lang="en-US" sz="2400"/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DD24F796-E160-030F-487A-35AA8A8D5D8A}"/>
              </a:ext>
            </a:extLst>
          </p:cNvPr>
          <p:cNvSpPr/>
          <p:nvPr/>
        </p:nvSpPr>
        <p:spPr>
          <a:xfrm>
            <a:off x="6438452" y="3449672"/>
            <a:ext cx="4947756" cy="2542850"/>
          </a:xfrm>
          <a:prstGeom prst="roundRect">
            <a:avLst>
              <a:gd name="adj" fmla="val 3364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9121F89-7BA6-F616-4578-DE899F1EAF33}"/>
              </a:ext>
            </a:extLst>
          </p:cNvPr>
          <p:cNvSpPr txBox="1"/>
          <p:nvPr/>
        </p:nvSpPr>
        <p:spPr>
          <a:xfrm>
            <a:off x="6313489" y="3176179"/>
            <a:ext cx="8043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0" i="0">
                <a:solidFill>
                  <a:srgbClr val="616161"/>
                </a:solidFill>
                <a:effectLst/>
                <a:latin typeface="-apple-system"/>
              </a:rPr>
              <a:t>🤖</a:t>
            </a:r>
            <a:endParaRPr lang="en-US" sz="360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C9A2AF35-643E-E7AE-20EA-370129510B16}"/>
              </a:ext>
            </a:extLst>
          </p:cNvPr>
          <p:cNvSpPr/>
          <p:nvPr/>
        </p:nvSpPr>
        <p:spPr bwMode="auto">
          <a:xfrm>
            <a:off x="8121209" y="3612274"/>
            <a:ext cx="1320133" cy="686429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LLM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9EC2FD3-2ED5-6579-7899-DA84C105B4D4}"/>
              </a:ext>
            </a:extLst>
          </p:cNvPr>
          <p:cNvCxnSpPr>
            <a:cxnSpLocks/>
          </p:cNvCxnSpPr>
          <p:nvPr/>
        </p:nvCxnSpPr>
        <p:spPr>
          <a:xfrm flipH="1">
            <a:off x="7474830" y="4288098"/>
            <a:ext cx="860647" cy="910368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>
            <a:extLst>
              <a:ext uri="{FF2B5EF4-FFF2-40B4-BE49-F238E27FC236}">
                <a16:creationId xmlns:a16="http://schemas.microsoft.com/office/drawing/2014/main" id="{0481710F-6915-F06F-4664-8161FB6D2B07}"/>
              </a:ext>
            </a:extLst>
          </p:cNvPr>
          <p:cNvSpPr/>
          <p:nvPr/>
        </p:nvSpPr>
        <p:spPr bwMode="auto">
          <a:xfrm>
            <a:off x="6529292" y="5168554"/>
            <a:ext cx="1490515" cy="68642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list_files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016C48A7-94EC-1BA4-BBF6-BB3194424821}"/>
              </a:ext>
            </a:extLst>
          </p:cNvPr>
          <p:cNvSpPr/>
          <p:nvPr/>
        </p:nvSpPr>
        <p:spPr bwMode="auto">
          <a:xfrm>
            <a:off x="8116799" y="5168554"/>
            <a:ext cx="1565911" cy="68642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read_file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4CE5187A-5195-35C3-37BB-F12313126B6D}"/>
              </a:ext>
            </a:extLst>
          </p:cNvPr>
          <p:cNvSpPr/>
          <p:nvPr/>
        </p:nvSpPr>
        <p:spPr bwMode="auto">
          <a:xfrm>
            <a:off x="9789948" y="5168554"/>
            <a:ext cx="1342949" cy="68642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search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9412733E-412B-D013-AB73-6F273718CA5E}"/>
              </a:ext>
            </a:extLst>
          </p:cNvPr>
          <p:cNvCxnSpPr>
            <a:cxnSpLocks/>
          </p:cNvCxnSpPr>
          <p:nvPr/>
        </p:nvCxnSpPr>
        <p:spPr>
          <a:xfrm flipH="1">
            <a:off x="7659694" y="4296214"/>
            <a:ext cx="803691" cy="896992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E4C308B7-B5A5-ACBD-FCE4-A32949D5E1C4}"/>
              </a:ext>
            </a:extLst>
          </p:cNvPr>
          <p:cNvCxnSpPr>
            <a:cxnSpLocks/>
          </p:cNvCxnSpPr>
          <p:nvPr/>
        </p:nvCxnSpPr>
        <p:spPr>
          <a:xfrm>
            <a:off x="8738606" y="4295793"/>
            <a:ext cx="8587" cy="897413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63A2CBEE-49CC-1F1B-4654-56D4DECD5BA0}"/>
              </a:ext>
            </a:extLst>
          </p:cNvPr>
          <p:cNvCxnSpPr>
            <a:cxnSpLocks/>
            <a:endCxn id="64" idx="0"/>
          </p:cNvCxnSpPr>
          <p:nvPr/>
        </p:nvCxnSpPr>
        <p:spPr>
          <a:xfrm>
            <a:off x="8896484" y="4295793"/>
            <a:ext cx="3271" cy="872761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98A0730-5756-12B2-A1FB-C2CA31D932A5}"/>
              </a:ext>
            </a:extLst>
          </p:cNvPr>
          <p:cNvCxnSpPr>
            <a:cxnSpLocks/>
          </p:cNvCxnSpPr>
          <p:nvPr/>
        </p:nvCxnSpPr>
        <p:spPr>
          <a:xfrm>
            <a:off x="9148199" y="4304506"/>
            <a:ext cx="1040968" cy="887863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2622CF32-4316-5B85-0587-5657671E1504}"/>
              </a:ext>
            </a:extLst>
          </p:cNvPr>
          <p:cNvCxnSpPr>
            <a:cxnSpLocks/>
          </p:cNvCxnSpPr>
          <p:nvPr/>
        </p:nvCxnSpPr>
        <p:spPr>
          <a:xfrm>
            <a:off x="9303080" y="4274888"/>
            <a:ext cx="1024498" cy="887863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C98BE0B1-6A2E-7FCF-74D9-96D996E4CDCA}"/>
              </a:ext>
            </a:extLst>
          </p:cNvPr>
          <p:cNvSpPr txBox="1"/>
          <p:nvPr/>
        </p:nvSpPr>
        <p:spPr>
          <a:xfrm rot="18712420">
            <a:off x="7802915" y="4653079"/>
            <a:ext cx="6925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/>
              <a:t>20K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24D0397-F571-58AF-9C87-90B440136E38}"/>
              </a:ext>
            </a:extLst>
          </p:cNvPr>
          <p:cNvSpPr txBox="1"/>
          <p:nvPr/>
        </p:nvSpPr>
        <p:spPr>
          <a:xfrm rot="2509894">
            <a:off x="9764660" y="4642186"/>
            <a:ext cx="6925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/>
              <a:t>60K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2430D96-0646-B183-5AB2-5C16DC34EC4B}"/>
              </a:ext>
            </a:extLst>
          </p:cNvPr>
          <p:cNvSpPr txBox="1"/>
          <p:nvPr/>
        </p:nvSpPr>
        <p:spPr>
          <a:xfrm>
            <a:off x="8863128" y="4628013"/>
            <a:ext cx="6925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/>
              <a:t>40K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4730724-8C70-ADF1-0090-2444958A1A5E}"/>
              </a:ext>
            </a:extLst>
          </p:cNvPr>
          <p:cNvSpPr txBox="1"/>
          <p:nvPr/>
        </p:nvSpPr>
        <p:spPr>
          <a:xfrm>
            <a:off x="6928391" y="3197379"/>
            <a:ext cx="33451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>
                <a:latin typeface="Aptos" panose="020B0004020202020204" pitchFamily="34" charset="0"/>
                <a:cs typeface="Segoe UI" panose="020B0502040204020203" pitchFamily="34" charset="0"/>
              </a:rPr>
              <a:t>Sub-agent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A64C09C1-107B-9822-6B1E-D667254920C8}"/>
              </a:ext>
            </a:extLst>
          </p:cNvPr>
          <p:cNvSpPr/>
          <p:nvPr/>
        </p:nvSpPr>
        <p:spPr bwMode="auto">
          <a:xfrm>
            <a:off x="8144015" y="2492011"/>
            <a:ext cx="1297327" cy="566371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LLM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43DCD2F0-AC4B-73B8-AA30-30EFCA7032F7}"/>
              </a:ext>
            </a:extLst>
          </p:cNvPr>
          <p:cNvCxnSpPr>
            <a:cxnSpLocks/>
          </p:cNvCxnSpPr>
          <p:nvPr/>
        </p:nvCxnSpPr>
        <p:spPr>
          <a:xfrm>
            <a:off x="8808511" y="3043198"/>
            <a:ext cx="0" cy="615846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B6940A7E-EB57-B5CD-9678-095BF6D91015}"/>
              </a:ext>
            </a:extLst>
          </p:cNvPr>
          <p:cNvSpPr txBox="1"/>
          <p:nvPr/>
        </p:nvSpPr>
        <p:spPr>
          <a:xfrm>
            <a:off x="8748747" y="3143649"/>
            <a:ext cx="20147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/>
              <a:t>10K summary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40FCCA12-0F36-1057-2597-9308DE48F0C5}"/>
              </a:ext>
            </a:extLst>
          </p:cNvPr>
          <p:cNvSpPr txBox="1"/>
          <p:nvPr/>
        </p:nvSpPr>
        <p:spPr>
          <a:xfrm>
            <a:off x="6096000" y="6228242"/>
            <a:ext cx="636202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/>
              <a:t>Sub-agent returns a </a:t>
            </a:r>
            <a:r>
              <a:rPr lang="en-US" sz="2200" i="1"/>
              <a:t>summary</a:t>
            </a:r>
            <a:r>
              <a:rPr lang="en-US" sz="2200"/>
              <a:t> of tool call results. 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B822544E-C9A9-3600-40AF-995834E4BA0A}"/>
              </a:ext>
            </a:extLst>
          </p:cNvPr>
          <p:cNvSpPr/>
          <p:nvPr/>
        </p:nvSpPr>
        <p:spPr bwMode="auto">
          <a:xfrm>
            <a:off x="2660012" y="2901165"/>
            <a:ext cx="1320133" cy="686429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LLM</a:t>
            </a: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07875F9E-3588-AFC9-267D-1145A9C41C21}"/>
              </a:ext>
            </a:extLst>
          </p:cNvPr>
          <p:cNvCxnSpPr>
            <a:cxnSpLocks/>
          </p:cNvCxnSpPr>
          <p:nvPr/>
        </p:nvCxnSpPr>
        <p:spPr>
          <a:xfrm flipH="1">
            <a:off x="2013633" y="3576989"/>
            <a:ext cx="860647" cy="910368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Oval 114">
            <a:extLst>
              <a:ext uri="{FF2B5EF4-FFF2-40B4-BE49-F238E27FC236}">
                <a16:creationId xmlns:a16="http://schemas.microsoft.com/office/drawing/2014/main" id="{13AB6AAB-E286-EF3C-878F-A4A9946AF51A}"/>
              </a:ext>
            </a:extLst>
          </p:cNvPr>
          <p:cNvSpPr/>
          <p:nvPr/>
        </p:nvSpPr>
        <p:spPr bwMode="auto">
          <a:xfrm>
            <a:off x="1068095" y="4457445"/>
            <a:ext cx="1530187" cy="68642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list_files</a:t>
            </a: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1A022736-2D06-EAAD-20D3-3F961848DE1C}"/>
              </a:ext>
            </a:extLst>
          </p:cNvPr>
          <p:cNvSpPr/>
          <p:nvPr/>
        </p:nvSpPr>
        <p:spPr bwMode="auto">
          <a:xfrm>
            <a:off x="2655602" y="4457445"/>
            <a:ext cx="1565911" cy="68642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read_file</a:t>
            </a: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DB2BACDC-E015-8F66-3231-431FDC3DE33F}"/>
              </a:ext>
            </a:extLst>
          </p:cNvPr>
          <p:cNvSpPr/>
          <p:nvPr/>
        </p:nvSpPr>
        <p:spPr bwMode="auto">
          <a:xfrm>
            <a:off x="4328751" y="4457445"/>
            <a:ext cx="1342949" cy="68642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search</a:t>
            </a:r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80DF636B-6B46-674A-5765-4CD4164936F5}"/>
              </a:ext>
            </a:extLst>
          </p:cNvPr>
          <p:cNvCxnSpPr>
            <a:cxnSpLocks/>
          </p:cNvCxnSpPr>
          <p:nvPr/>
        </p:nvCxnSpPr>
        <p:spPr>
          <a:xfrm flipH="1">
            <a:off x="2198497" y="3585105"/>
            <a:ext cx="803691" cy="896992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DDF6F478-B63A-8C4A-72B6-21AF867A288D}"/>
              </a:ext>
            </a:extLst>
          </p:cNvPr>
          <p:cNvCxnSpPr>
            <a:cxnSpLocks/>
          </p:cNvCxnSpPr>
          <p:nvPr/>
        </p:nvCxnSpPr>
        <p:spPr>
          <a:xfrm>
            <a:off x="3277409" y="3584684"/>
            <a:ext cx="8587" cy="897413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34B6C0E1-F17D-3EE4-205A-560B7E4119F8}"/>
              </a:ext>
            </a:extLst>
          </p:cNvPr>
          <p:cNvCxnSpPr>
            <a:cxnSpLocks/>
            <a:endCxn id="116" idx="0"/>
          </p:cNvCxnSpPr>
          <p:nvPr/>
        </p:nvCxnSpPr>
        <p:spPr>
          <a:xfrm>
            <a:off x="3435287" y="3584684"/>
            <a:ext cx="3271" cy="872761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ECC6F06F-7357-ED38-084C-59E3C494A2A5}"/>
              </a:ext>
            </a:extLst>
          </p:cNvPr>
          <p:cNvCxnSpPr>
            <a:cxnSpLocks/>
          </p:cNvCxnSpPr>
          <p:nvPr/>
        </p:nvCxnSpPr>
        <p:spPr>
          <a:xfrm>
            <a:off x="3687002" y="3593397"/>
            <a:ext cx="1040968" cy="887863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2BA5A308-3D4B-54DF-2A88-0F3A3ACEC556}"/>
              </a:ext>
            </a:extLst>
          </p:cNvPr>
          <p:cNvCxnSpPr>
            <a:cxnSpLocks/>
          </p:cNvCxnSpPr>
          <p:nvPr/>
        </p:nvCxnSpPr>
        <p:spPr>
          <a:xfrm>
            <a:off x="3841883" y="3563779"/>
            <a:ext cx="1024498" cy="887863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675EAEB3-508C-2F37-AD35-BD82180DEB37}"/>
              </a:ext>
            </a:extLst>
          </p:cNvPr>
          <p:cNvSpPr txBox="1"/>
          <p:nvPr/>
        </p:nvSpPr>
        <p:spPr>
          <a:xfrm rot="18712420">
            <a:off x="2341718" y="3941970"/>
            <a:ext cx="6925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/>
              <a:t>20K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837AD0FB-A6C3-A9A5-E16F-4D097EEAC9D6}"/>
              </a:ext>
            </a:extLst>
          </p:cNvPr>
          <p:cNvSpPr txBox="1"/>
          <p:nvPr/>
        </p:nvSpPr>
        <p:spPr>
          <a:xfrm rot="2509894">
            <a:off x="4303463" y="3931077"/>
            <a:ext cx="6925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/>
              <a:t>60K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8B3F544A-BDC4-175C-9D0F-C8F112E4FE8B}"/>
              </a:ext>
            </a:extLst>
          </p:cNvPr>
          <p:cNvSpPr txBox="1"/>
          <p:nvPr/>
        </p:nvSpPr>
        <p:spPr>
          <a:xfrm>
            <a:off x="3401931" y="3916904"/>
            <a:ext cx="6925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/>
              <a:t>40K</a:t>
            </a:r>
          </a:p>
        </p:txBody>
      </p:sp>
    </p:spTree>
    <p:extLst>
      <p:ext uri="{BB962C8B-B14F-4D97-AF65-F5344CB8AC3E}">
        <p14:creationId xmlns:p14="http://schemas.microsoft.com/office/powerpoint/2010/main" val="90860168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B7797-AAE8-2773-E237-497776B98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78D2A-BA26-BF75-35C4-E0E2FA65B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Coordinator agent with sub-agents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5B0ADC-3EA6-975A-BD79-C68FB7E7E56B}"/>
              </a:ext>
            </a:extLst>
          </p:cNvPr>
          <p:cNvSpPr txBox="1"/>
          <p:nvPr/>
        </p:nvSpPr>
        <p:spPr>
          <a:xfrm>
            <a:off x="1132793" y="227425"/>
            <a:ext cx="3168620" cy="461665"/>
          </a:xfrm>
          <a:prstGeom prst="rect">
            <a:avLst/>
          </a:prstGeom>
          <a:solidFill>
            <a:schemeClr val="accent3"/>
          </a:solidFill>
          <a:effectLst>
            <a:softEdge rad="31750"/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</a:rPr>
              <a:t>agent-framework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0CEF79-1D77-487E-DF06-06FFC84797F6}"/>
              </a:ext>
            </a:extLst>
          </p:cNvPr>
          <p:cNvSpPr txBox="1"/>
          <p:nvPr/>
        </p:nvSpPr>
        <p:spPr>
          <a:xfrm>
            <a:off x="1132792" y="6199688"/>
            <a:ext cx="65281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0" i="0" u="sng">
                <a:solidFill>
                  <a:srgbClr val="00008B"/>
                </a:solidFill>
                <a:effectLst/>
                <a:latin typeface="Aptos" panose="020B0004020202020204" pitchFamily="34" charset="0"/>
                <a:hlinkClick r:id="rId2"/>
              </a:rPr>
              <a:t>Full example: agent_with_subagent.py</a:t>
            </a:r>
            <a:endParaRPr lang="en-US" sz="2200"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FBAEE2-4C9A-1680-B034-5C4A7116E061}"/>
              </a:ext>
            </a:extLst>
          </p:cNvPr>
          <p:cNvSpPr txBox="1"/>
          <p:nvPr/>
        </p:nvSpPr>
        <p:spPr>
          <a:xfrm>
            <a:off x="1132792" y="1685098"/>
            <a:ext cx="10830606" cy="41960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# Sub-agent: researches codebase in its own isolated context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research_agent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Agent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client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client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ts val="2025"/>
              </a:lnSpc>
              <a:buNone/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instructions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"Read and search files, return a concise summary under 200 words."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ts val="2025"/>
              </a:lnSpc>
              <a:buNone/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tools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=[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list_project_files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read_project_file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search_project_files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],</a:t>
            </a:r>
          </a:p>
          <a:p>
            <a:pPr>
              <a:lnSpc>
                <a:spcPts val="202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025"/>
              </a:lnSpc>
              <a:buNone/>
            </a:pP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@tool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async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research_codebase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question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 -&gt;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ts val="2025"/>
              </a:lnSpc>
              <a:buNone/>
            </a:pP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"""Delegate research to the sub-agent. Returns only a summary."""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response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await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research_agent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run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question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025"/>
              </a:lnSpc>
              <a:buNone/>
            </a:pP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return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response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text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# Coordinator agent: only sees summaries, never raw file contents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coordinator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Agent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client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client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ts val="2025"/>
              </a:lnSpc>
              <a:buNone/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instructions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"Answer questions about code. Use research_codebase to investigate."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ts val="2025"/>
              </a:lnSpc>
              <a:buNone/>
            </a:pP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tools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=[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research_codebase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18421372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96E4F-1F0A-2A5B-AC51-3BC93F166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0C8B7-E9C1-9BB9-BD7E-814805754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Context reduction with subagents: Token usage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F31B0DE-C22C-ED53-FB5C-902A457498B8}"/>
              </a:ext>
            </a:extLst>
          </p:cNvPr>
          <p:cNvSpPr txBox="1"/>
          <p:nvPr/>
        </p:nvSpPr>
        <p:spPr>
          <a:xfrm>
            <a:off x="1049416" y="1803103"/>
            <a:ext cx="10993649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300"/>
              <a:t>The coordinator's context window stays small, despite sub-agent using more tokens. In multi-turn conversations, this difference would compound with each turn.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920117B-68CD-2B7B-8327-23A8A75206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2718193"/>
              </p:ext>
            </p:extLst>
          </p:nvPr>
        </p:nvGraphicFramePr>
        <p:xfrm>
          <a:off x="1148774" y="3556193"/>
          <a:ext cx="2041236" cy="2161656"/>
        </p:xfrm>
        <a:graphic>
          <a:graphicData uri="http://schemas.openxmlformats.org/drawingml/2006/table">
            <a:tbl>
              <a:tblPr bandRow="1">
                <a:tableStyleId>{93296810-A885-4BE3-A3E7-6D5BEEA58F35}</a:tableStyleId>
              </a:tblPr>
              <a:tblGrid>
                <a:gridCol w="2041236">
                  <a:extLst>
                    <a:ext uri="{9D8B030D-6E8A-4147-A177-3AD203B41FA5}">
                      <a16:colId xmlns:a16="http://schemas.microsoft.com/office/drawing/2014/main" val="4206796984"/>
                    </a:ext>
                  </a:extLst>
                </a:gridCol>
              </a:tblGrid>
              <a:tr h="7205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effectLst/>
                        </a:rPr>
                        <a:t>Input tokens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391774779"/>
                  </a:ext>
                </a:extLst>
              </a:tr>
              <a:tr h="7205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effectLst/>
                        </a:rPr>
                        <a:t>Output tokens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077236703"/>
                  </a:ext>
                </a:extLst>
              </a:tr>
              <a:tr h="7205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effectLst/>
                        </a:rPr>
                        <a:t>Total tokens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073855425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CD3CCE5-2E0B-03EA-0D53-57DA177E8A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6303083"/>
              </p:ext>
            </p:extLst>
          </p:nvPr>
        </p:nvGraphicFramePr>
        <p:xfrm>
          <a:off x="7180117" y="2832792"/>
          <a:ext cx="4471555" cy="288220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514601">
                  <a:extLst>
                    <a:ext uri="{9D8B030D-6E8A-4147-A177-3AD203B41FA5}">
                      <a16:colId xmlns:a16="http://schemas.microsoft.com/office/drawing/2014/main" val="63375801"/>
                    </a:ext>
                  </a:extLst>
                </a:gridCol>
                <a:gridCol w="1956954">
                  <a:extLst>
                    <a:ext uri="{9D8B030D-6E8A-4147-A177-3AD203B41FA5}">
                      <a16:colId xmlns:a16="http://schemas.microsoft.com/office/drawing/2014/main" val="3636944021"/>
                    </a:ext>
                  </a:extLst>
                </a:gridCol>
              </a:tblGrid>
              <a:tr h="7205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>
                          <a:effectLst/>
                        </a:rPr>
                        <a:t>Coordinator agent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>
                          <a:effectLst/>
                        </a:rPr>
                        <a:t>Sub-agent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714554009"/>
                  </a:ext>
                </a:extLst>
              </a:tr>
              <a:tr h="7205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0">
                          <a:effectLst/>
                        </a:rPr>
                        <a:t>623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0">
                          <a:effectLst/>
                        </a:rPr>
                        <a:t>8,494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4229029880"/>
                  </a:ext>
                </a:extLst>
              </a:tr>
              <a:tr h="7205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0">
                          <a:effectLst/>
                        </a:rPr>
                        <a:t>514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0">
                          <a:effectLst/>
                        </a:rPr>
                        <a:t>580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350432523"/>
                  </a:ext>
                </a:extLst>
              </a:tr>
              <a:tr h="7205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0">
                          <a:effectLst/>
                        </a:rPr>
                        <a:t>1,137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0">
                          <a:effectLst/>
                        </a:rPr>
                        <a:t> 9,074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02586489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DC91889-8257-62A5-81E0-1AF9BCE135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091008"/>
              </p:ext>
            </p:extLst>
          </p:nvPr>
        </p:nvGraphicFramePr>
        <p:xfrm>
          <a:off x="3993574" y="2915919"/>
          <a:ext cx="1960418" cy="288220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960418">
                  <a:extLst>
                    <a:ext uri="{9D8B030D-6E8A-4147-A177-3AD203B41FA5}">
                      <a16:colId xmlns:a16="http://schemas.microsoft.com/office/drawing/2014/main" val="1084680272"/>
                    </a:ext>
                  </a:extLst>
                </a:gridCol>
              </a:tblGrid>
              <a:tr h="7205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>
                          <a:effectLst/>
                        </a:rPr>
                        <a:t>Single agent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126524208"/>
                  </a:ext>
                </a:extLst>
              </a:tr>
              <a:tr h="7205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0">
                          <a:effectLst/>
                        </a:rPr>
                        <a:t>6,714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319703365"/>
                  </a:ext>
                </a:extLst>
              </a:tr>
              <a:tr h="7205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0">
                          <a:effectLst/>
                        </a:rPr>
                        <a:t>1,598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741941973"/>
                  </a:ext>
                </a:extLst>
              </a:tr>
              <a:tr h="7205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0">
                          <a:effectLst/>
                        </a:rPr>
                        <a:t>8,312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60877907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0E6D753-80F4-7254-0C60-2DB403C7E7B5}"/>
              </a:ext>
            </a:extLst>
          </p:cNvPr>
          <p:cNvSpPr txBox="1"/>
          <p:nvPr/>
        </p:nvSpPr>
        <p:spPr>
          <a:xfrm>
            <a:off x="6270879" y="3022312"/>
            <a:ext cx="80363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/>
              <a:t>vs.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9CFDBD-A518-EEE5-5DB5-DA2911A8F61B}"/>
              </a:ext>
            </a:extLst>
          </p:cNvPr>
          <p:cNvSpPr txBox="1"/>
          <p:nvPr/>
        </p:nvSpPr>
        <p:spPr>
          <a:xfrm>
            <a:off x="1009582" y="5986284"/>
            <a:ext cx="109936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/>
              <a:t>The final answer returned was a high-quality answer in </a:t>
            </a:r>
            <a:r>
              <a:rPr lang="en-US" sz="2400" i="1"/>
              <a:t>both</a:t>
            </a:r>
            <a:r>
              <a:rPr lang="en-US" sz="2400"/>
              <a:t> scenarios.</a:t>
            </a:r>
          </a:p>
        </p:txBody>
      </p:sp>
    </p:spTree>
    <p:extLst>
      <p:ext uri="{BB962C8B-B14F-4D97-AF65-F5344CB8AC3E}">
        <p14:creationId xmlns:p14="http://schemas.microsoft.com/office/powerpoint/2010/main" val="41019707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0C88A-6381-2D22-A870-57597EAE6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6C240-31EC-90F0-FDF8-B418D4741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When to use sub-agents?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3D122E-3AFC-3356-2F6E-118F7D759FC3}"/>
              </a:ext>
            </a:extLst>
          </p:cNvPr>
          <p:cNvSpPr txBox="1"/>
          <p:nvPr/>
        </p:nvSpPr>
        <p:spPr>
          <a:xfrm>
            <a:off x="1231257" y="1929294"/>
            <a:ext cx="9667042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US" sz="2400" b="1" i="0">
                <a:effectLst/>
                <a:latin typeface="Aptos" panose="020B0004020202020204" pitchFamily="34" charset="0"/>
              </a:rPr>
              <a:t>✅ Use sub-agents when...</a:t>
            </a:r>
            <a:endParaRPr lang="en-US" sz="2400" b="0" i="0">
              <a:effectLst/>
              <a:latin typeface="Aptos" panose="020B00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>
                <a:effectLst/>
                <a:latin typeface="Aptos" panose="020B0004020202020204" pitchFamily="34" charset="0"/>
              </a:rPr>
              <a:t>Tools return large outputs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>
                <a:effectLst/>
                <a:latin typeface="Aptos" panose="020B0004020202020204" pitchFamily="34" charset="0"/>
              </a:rPr>
              <a:t>Task requires multiple chained tool calls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>
                <a:effectLst/>
                <a:latin typeface="Aptos" panose="020B0004020202020204" pitchFamily="34" charset="0"/>
              </a:rPr>
              <a:t>Main agent has multiple responsibilities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>
                <a:effectLst/>
                <a:latin typeface="Aptos" panose="020B0004020202020204" pitchFamily="34" charset="0"/>
              </a:rPr>
              <a:t>Long-running, multi-turn conversations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>
                <a:effectLst/>
                <a:latin typeface="Aptos" panose="020B0004020202020204" pitchFamily="34" charset="0"/>
              </a:rPr>
              <a:t>Sub-tasks need specialized instructions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DE1B49-EA43-DCF0-C16A-B609A92CA8EB}"/>
              </a:ext>
            </a:extLst>
          </p:cNvPr>
          <p:cNvSpPr txBox="1"/>
          <p:nvPr/>
        </p:nvSpPr>
        <p:spPr>
          <a:xfrm>
            <a:off x="1231257" y="4536980"/>
            <a:ext cx="9667042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US" sz="2400" b="1" i="0">
                <a:effectLst/>
                <a:latin typeface="Aptos" panose="020B0004020202020204" pitchFamily="34" charset="0"/>
              </a:rPr>
              <a:t>❌ Skip sub-agents when...</a:t>
            </a:r>
            <a:endParaRPr lang="en-US" sz="2400" b="0" i="0">
              <a:effectLst/>
              <a:latin typeface="Aptos" panose="020B00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>
                <a:effectLst/>
                <a:latin typeface="Aptos" panose="020B0004020202020204" pitchFamily="34" charset="0"/>
              </a:rPr>
              <a:t>Tool responses are small and simple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>
                <a:effectLst/>
                <a:latin typeface="Aptos" panose="020B0004020202020204" pitchFamily="34" charset="0"/>
              </a:rPr>
              <a:t>Single tool call gets the answer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>
                <a:effectLst/>
                <a:latin typeface="Aptos" panose="020B0004020202020204" pitchFamily="34" charset="0"/>
              </a:rPr>
              <a:t>Main agent needs to see raw tool output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>
                <a:effectLst/>
                <a:latin typeface="Aptos" panose="020B0004020202020204" pitchFamily="34" charset="0"/>
              </a:rPr>
              <a:t>Low latency is critical (extra LLM round-trip)</a:t>
            </a:r>
          </a:p>
        </p:txBody>
      </p:sp>
    </p:spTree>
    <p:extLst>
      <p:ext uri="{BB962C8B-B14F-4D97-AF65-F5344CB8AC3E}">
        <p14:creationId xmlns:p14="http://schemas.microsoft.com/office/powerpoint/2010/main" val="36159883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6D43C-BE2A-3BA3-FE47-062467C16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F2F0939-562C-8F34-F9BD-79E6E27E01E4}"/>
              </a:ext>
            </a:extLst>
          </p:cNvPr>
          <p:cNvSpPr/>
          <p:nvPr/>
        </p:nvSpPr>
        <p:spPr>
          <a:xfrm>
            <a:off x="859194" y="3050530"/>
            <a:ext cx="10477500" cy="3014367"/>
          </a:xfrm>
          <a:prstGeom prst="roundRect">
            <a:avLst>
              <a:gd name="adj" fmla="val 212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D348BA-C92C-087A-935B-72F151B2AC4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59194" y="2111864"/>
            <a:ext cx="4505909" cy="89151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200">
                <a:latin typeface="Aptos" panose="020B0004020202020204" pitchFamily="34" charset="0"/>
              </a:rPr>
              <a:t>Watch past recordings: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200">
                <a:latin typeface="Aptos" panose="020B0004020202020204" pitchFamily="34" charset="0"/>
                <a:hlinkClick r:id="rId2"/>
              </a:rPr>
              <a:t>aka.ms/</a:t>
            </a:r>
            <a:r>
              <a:rPr lang="es-MX" sz="2200">
                <a:latin typeface="Aptos" panose="020B0004020202020204" pitchFamily="34" charset="0"/>
                <a:hlinkClick r:id="rId3"/>
              </a:rPr>
              <a:t>pythonagents/resources</a:t>
            </a:r>
            <a:endParaRPr lang="es-MX" sz="2200">
              <a:latin typeface="Aptos" panose="020B00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233D843-40EC-E1C7-3A23-A590A3011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148" y="1026203"/>
            <a:ext cx="3705612" cy="806488"/>
          </a:xfrm>
        </p:spPr>
        <p:txBody>
          <a:bodyPr/>
          <a:lstStyle/>
          <a:p>
            <a:r>
              <a:rPr lang="es-MX"/>
              <a:t>Next steps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34022E3-6896-5817-EE1A-D33D2F048642}"/>
              </a:ext>
            </a:extLst>
          </p:cNvPr>
          <p:cNvSpPr txBox="1">
            <a:spLocks/>
          </p:cNvSpPr>
          <p:nvPr/>
        </p:nvSpPr>
        <p:spPr>
          <a:xfrm>
            <a:off x="978148" y="3172607"/>
            <a:ext cx="9708903" cy="269795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🛠️ Feb 24: Building your first agent in Python</a:t>
            </a:r>
          </a:p>
          <a:p>
            <a:pPr marL="0" indent="0">
              <a:buNone/>
            </a:pPr>
            <a:r>
              <a:rPr lang="en-US" sz="2600">
                <a:latin typeface="Quire Sans" panose="020B0502040400020003" pitchFamily="34" charset="0"/>
                <a:cs typeface="Quire Sans" panose="020B0502040400020003" pitchFamily="34" charset="0"/>
              </a:rPr>
              <a:t>🧠 </a:t>
            </a:r>
            <a:r>
              <a:rPr lang="en-US" sz="26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Feb 25: Adding context and memory to agents</a:t>
            </a:r>
          </a:p>
          <a:p>
            <a:pPr marL="0" indent="0">
              <a:buNone/>
            </a:pPr>
            <a:r>
              <a:rPr lang="en-US" sz="2600">
                <a:latin typeface="Quire Sans" panose="020B0502040400020003" pitchFamily="34" charset="0"/>
                <a:cs typeface="Quire Sans" panose="020B0502040400020003" pitchFamily="34" charset="0"/>
              </a:rPr>
              <a:t>📊 </a:t>
            </a:r>
            <a:r>
              <a:rPr lang="en-US" sz="26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Feb 26: Monitoring and evaluating agents</a:t>
            </a:r>
          </a:p>
          <a:p>
            <a:pPr marL="0" indent="0">
              <a:buNone/>
            </a:pPr>
            <a:r>
              <a:rPr lang="en-US" sz="2600">
                <a:latin typeface="Quire Sans" panose="020B0502040400020003" pitchFamily="34" charset="0"/>
                <a:cs typeface="Quire Sans" panose="020B0502040400020003" pitchFamily="34" charset="0"/>
              </a:rPr>
              <a:t>🔀 </a:t>
            </a:r>
            <a:r>
              <a:rPr lang="en-US" sz="26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Mar 3: Building your first AI-driven workflows</a:t>
            </a:r>
          </a:p>
          <a:p>
            <a:pPr marL="0" indent="0">
              <a:buNone/>
            </a:pPr>
            <a:r>
              <a:rPr lang="en-US" sz="2600">
                <a:latin typeface="Quire Sans" panose="020B0502040400020003" pitchFamily="34" charset="0"/>
                <a:cs typeface="Quire Sans" panose="020B0502040400020003" pitchFamily="34" charset="0"/>
              </a:rPr>
              <a:t>🕸️ </a:t>
            </a:r>
            <a:r>
              <a:rPr lang="en-US" sz="26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Mar 4: Orchestrating advanced multi-agent workflows</a:t>
            </a:r>
          </a:p>
          <a:p>
            <a:pPr marL="0" indent="0">
              <a:buNone/>
            </a:pPr>
            <a:r>
              <a:rPr lang="en-US" sz="2600">
                <a:latin typeface="Quire Sans" panose="020B0502040400020003" pitchFamily="34" charset="0"/>
                <a:cs typeface="Quire Sans" panose="020B0502040400020003" pitchFamily="34" charset="0"/>
              </a:rPr>
              <a:t>🙋🏽 </a:t>
            </a:r>
            <a:r>
              <a:rPr lang="en-US" sz="26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Mar 5: Adding a human-in-the-loop to workflows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FE34F6-E56A-2597-B0BA-8E585D74B6AC}"/>
              </a:ext>
            </a:extLst>
          </p:cNvPr>
          <p:cNvSpPr txBox="1"/>
          <p:nvPr/>
        </p:nvSpPr>
        <p:spPr>
          <a:xfrm>
            <a:off x="5531304" y="2111864"/>
            <a:ext cx="588936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s-MX" sz="2200">
                <a:latin typeface="Aptos" panose="020B0004020202020204" pitchFamily="34" charset="0"/>
              </a:rPr>
              <a:t>Join office hours after each session in Discord:</a:t>
            </a:r>
          </a:p>
          <a:p>
            <a:pPr marL="0" indent="0">
              <a:buNone/>
            </a:pPr>
            <a:r>
              <a:rPr lang="es-MX" sz="2200">
                <a:latin typeface="Aptos" panose="020B0004020202020204" pitchFamily="34" charset="0"/>
                <a:hlinkClick r:id="rId4"/>
              </a:rPr>
              <a:t>aka.ms/pythonai/oh</a:t>
            </a:r>
            <a:endParaRPr lang="en-US" sz="2200"/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A49413D5-C7CA-8BE7-3714-C61ACE6FA5FB}"/>
              </a:ext>
            </a:extLst>
          </p:cNvPr>
          <p:cNvSpPr txBox="1">
            <a:spLocks/>
          </p:cNvSpPr>
          <p:nvPr/>
        </p:nvSpPr>
        <p:spPr>
          <a:xfrm>
            <a:off x="5531304" y="1051121"/>
            <a:ext cx="5194041" cy="8915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s-MX" sz="2200">
                <a:latin typeface="Aptos" panose="020B0004020202020204" pitchFamily="34" charset="0"/>
              </a:rPr>
              <a:t>Register: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200">
                <a:latin typeface="Aptos" panose="020B0004020202020204" pitchFamily="34" charset="0"/>
                <a:hlinkClick r:id="rId5"/>
              </a:rPr>
              <a:t>https://aka.ms/PythonAgents/series</a:t>
            </a:r>
            <a:endParaRPr lang="es-MX" sz="220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82985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Custom 151">
    <a:dk1>
      <a:srgbClr val="000000"/>
    </a:dk1>
    <a:lt1>
      <a:srgbClr val="FFFFFF"/>
    </a:lt1>
    <a:dk2>
      <a:srgbClr val="463668"/>
    </a:dk2>
    <a:lt2>
      <a:srgbClr val="E8E6DF"/>
    </a:lt2>
    <a:accent1>
      <a:srgbClr val="463668"/>
    </a:accent1>
    <a:accent2>
      <a:srgbClr val="D59ED7"/>
    </a:accent2>
    <a:accent3>
      <a:srgbClr val="C03BC4"/>
    </a:accent3>
    <a:accent4>
      <a:srgbClr val="8C8279"/>
    </a:accent4>
    <a:accent5>
      <a:srgbClr val="FFA38B"/>
    </a:accent5>
    <a:accent6>
      <a:srgbClr val="D7D2CB"/>
    </a:accent6>
    <a:hlink>
      <a:srgbClr val="C03BC4"/>
    </a:hlink>
    <a:folHlink>
      <a:srgbClr val="C03BC4"/>
    </a:folHlink>
  </a:clrScheme>
  <a:fontScheme name="Microsoft 2019 Brand Templates">
    <a:majorFont>
      <a:latin typeface="Segoe UI Semibold"/>
      <a:ea typeface=""/>
      <a:cs typeface=""/>
    </a:majorFont>
    <a:minorFont>
      <a:latin typeface="Segoe UI"/>
      <a:ea typeface=""/>
      <a:cs typeface=""/>
    </a:minorFont>
  </a:fontScheme>
  <a:fmtScheme name="Couture">
    <a:fillStyleLst>
      <a:solidFill>
        <a:schemeClr val="phClr"/>
      </a:solidFill>
      <a:solidFill>
        <a:schemeClr val="phClr">
          <a:tint val="65000"/>
        </a:schemeClr>
      </a:solidFill>
      <a:solidFill>
        <a:schemeClr val="phClr">
          <a:shade val="80000"/>
          <a:satMod val="180000"/>
        </a:schemeClr>
      </a:solidFill>
    </a:fillStyleLst>
    <a:lnStyleLst>
      <a:ln w="9525" cap="flat" cmpd="sng" algn="ctr">
        <a:solidFill>
          <a:schemeClr val="phClr"/>
        </a:solidFill>
        <a:prstDash val="solid"/>
      </a:ln>
      <a:ln w="10795" cap="flat" cmpd="sng" algn="ctr">
        <a:solidFill>
          <a:schemeClr val="phClr"/>
        </a:solidFill>
        <a:prstDash val="solid"/>
      </a:ln>
      <a:ln w="17145" cap="flat" cmpd="sng" algn="ctr">
        <a:solidFill>
          <a:schemeClr val="phClr">
            <a:shade val="95000"/>
            <a:alpha val="50000"/>
            <a:satMod val="150000"/>
          </a:schemeClr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outerShdw blurRad="44450" dist="13970" dir="5400000" algn="ctr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twoPt" dir="tl"/>
        </a:scene3d>
        <a:sp3d prstMaterial="flat">
          <a:bevelT w="19050" h="31750" prst="coolSlant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D4B4487B57D443AED9979943B92646" ma:contentTypeVersion="15" ma:contentTypeDescription="Create a new document." ma:contentTypeScope="" ma:versionID="11635a662f4c9a657eae7bf4dc620629">
  <xsd:schema xmlns:xsd="http://www.w3.org/2001/XMLSchema" xmlns:xs="http://www.w3.org/2001/XMLSchema" xmlns:p="http://schemas.microsoft.com/office/2006/metadata/properties" xmlns:ns1="http://schemas.microsoft.com/sharepoint/v3" xmlns:ns2="a29421e1-74d8-4915-bb0d-c72892872ba0" xmlns:ns3="230e9df3-be65-4c73-a93b-d1236ebd677e" targetNamespace="http://schemas.microsoft.com/office/2006/metadata/properties" ma:root="true" ma:fieldsID="dff1dd5af459cf9d2efcc6111ef93463" ns1:_="" ns2:_="" ns3:_="">
    <xsd:import namespace="http://schemas.microsoft.com/sharepoint/v3"/>
    <xsd:import namespace="a29421e1-74d8-4915-bb0d-c72892872ba0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BillingMetadata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ocTag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9421e1-74d8-4915-bb0d-c72892872ba0" elementFormDefault="qualified">
    <xsd:import namespace="http://schemas.microsoft.com/office/2006/documentManagement/types"/>
    <xsd:import namespace="http://schemas.microsoft.com/office/infopath/2007/PartnerControls"/>
    <xsd:element name="MediaServiceBillingMetadata" ma:index="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ocTags" ma:index="18" nillable="true" ma:displayName="MediaServiceDocTags" ma:hidden="true" ma:internalName="MediaServiceDocTags" ma:readOnly="true">
      <xsd:simpleType>
        <xsd:restriction base="dms:Note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512b3914-fd28-4b53-a746-fcfd87edfe12}" ma:internalName="TaxCatchAll" ma:showField="CatchAllData" ma:web="c2fe79a6-8abe-455d-ad41-5c60efd42c2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Properties xmlns="http://schemas.microsoft.com/sharepoint/v3" xsi:nil="true"/>
    <_ip_UnifiedCompliancePolicyUIAction xmlns="http://schemas.microsoft.com/sharepoint/v3" xsi:nil="true"/>
    <lcf76f155ced4ddcb4097134ff3c332f xmlns="a29421e1-74d8-4915-bb0d-c72892872ba0">
      <Terms xmlns="http://schemas.microsoft.com/office/infopath/2007/PartnerControls"/>
    </lcf76f155ced4ddcb4097134ff3c332f>
    <TaxCatchAll xmlns="230e9df3-be65-4c73-a93b-d1236ebd677e" xsi:nil="true"/>
  </documentManagement>
</p:properties>
</file>

<file path=customXml/itemProps1.xml><?xml version="1.0" encoding="utf-8"?>
<ds:datastoreItem xmlns:ds="http://schemas.openxmlformats.org/officeDocument/2006/customXml" ds:itemID="{0B3390A4-EB81-4EDD-9EA1-D4D1BA7CABC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ECC142C-1A4E-4FC8-8D4D-79AA66C2BD4E}"/>
</file>

<file path=customXml/itemProps3.xml><?xml version="1.0" encoding="utf-8"?>
<ds:datastoreItem xmlns:ds="http://schemas.openxmlformats.org/officeDocument/2006/customXml" ds:itemID="{09898A2C-BE4D-4D93-AD47-903F380990E0}">
  <ds:schemaRefs>
    <ds:schemaRef ds:uri="http://schemas.microsoft.com/office/2006/metadata/properties"/>
    <ds:schemaRef ds:uri="http://purl.org/dc/elements/1.1/"/>
    <ds:schemaRef ds:uri="http://www.w3.org/XML/1998/namespace"/>
    <ds:schemaRef ds:uri="http://schemas.microsoft.com/sharepoint/v3"/>
    <ds:schemaRef ds:uri="230e9df3-be65-4c73-a93b-d1236ebd677e"/>
    <ds:schemaRef ds:uri="4d763a3d-abd4-45ac-ad35-6c0fa32d5be4"/>
    <ds:schemaRef ds:uri="http://purl.org/dc/dcmitype/"/>
    <ds:schemaRef ds:uri="http://schemas.microsoft.com/office/2006/documentManagement/types"/>
    <ds:schemaRef ds:uri="http://purl.org/dc/terms/"/>
    <ds:schemaRef ds:uri="496da845-320a-4090-a8c1-9d38d24895f3"/>
    <ds:schemaRef ds:uri="http://schemas.microsoft.com/office/infopath/2007/PartnerControls"/>
    <ds:schemaRef ds:uri="http://schemas.openxmlformats.org/package/2006/metadata/core-properties"/>
  </ds:schemaRefs>
</ds:datastoreItem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9925</TotalTime>
  <Words>4252</Words>
  <Application>Microsoft Macintosh PowerPoint</Application>
  <PresentationFormat>Widescreen</PresentationFormat>
  <Paragraphs>789</Paragraphs>
  <Slides>45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45</vt:i4>
      </vt:variant>
    </vt:vector>
  </HeadingPairs>
  <TitlesOfParts>
    <vt:vector size="57" baseType="lpstr">
      <vt:lpstr>-apple-system</vt:lpstr>
      <vt:lpstr>Aptos</vt:lpstr>
      <vt:lpstr>Aptos Display</vt:lpstr>
      <vt:lpstr>Aptos Display (Headings)</vt:lpstr>
      <vt:lpstr>Arial</vt:lpstr>
      <vt:lpstr>Calibri</vt:lpstr>
      <vt:lpstr>Consolas</vt:lpstr>
      <vt:lpstr>Menlo</vt:lpstr>
      <vt:lpstr>Quire Sans</vt:lpstr>
      <vt:lpstr>Segoe UI</vt:lpstr>
      <vt:lpstr>Office Theme</vt:lpstr>
      <vt:lpstr>1_Office Theme</vt:lpstr>
      <vt:lpstr>PowerPoint Presentation</vt:lpstr>
      <vt:lpstr>Python + Agents</vt:lpstr>
      <vt:lpstr>Today we'll cover different kinds of context...</vt:lpstr>
      <vt:lpstr>Want to follow along?</vt:lpstr>
      <vt:lpstr>Recap: What's an agent?</vt:lpstr>
      <vt:lpstr>Context is everything</vt:lpstr>
      <vt:lpstr>🧠 Memory</vt:lpstr>
      <vt:lpstr>Memory</vt:lpstr>
      <vt:lpstr>💬 Conversation sessions</vt:lpstr>
      <vt:lpstr>Conversation sessions</vt:lpstr>
      <vt:lpstr>Conversation session (In-memory)</vt:lpstr>
      <vt:lpstr>Persistent chat history</vt:lpstr>
      <vt:lpstr>Persistent chat history</vt:lpstr>
      <vt:lpstr>Persistent chat history in Redis</vt:lpstr>
      <vt:lpstr>Persistent chat history</vt:lpstr>
      <vt:lpstr>Persistent chat history in SQLite</vt:lpstr>
      <vt:lpstr>Persistent chat history with custom storage</vt:lpstr>
      <vt:lpstr>Dynamic memory</vt:lpstr>
      <vt:lpstr>Dynamic memory</vt:lpstr>
      <vt:lpstr>Dynamic memory with Redis</vt:lpstr>
      <vt:lpstr>Dynamic memory with Redis</vt:lpstr>
      <vt:lpstr>Dynamic memory with Mem0</vt:lpstr>
      <vt:lpstr>Mem0Provider: Memory update process</vt:lpstr>
      <vt:lpstr>Dynamic memory with Mem0</vt:lpstr>
      <vt:lpstr>Memory in production: GitHub Copilot</vt:lpstr>
      <vt:lpstr>📚 Knowledge</vt:lpstr>
      <vt:lpstr>Knowledge retrieval</vt:lpstr>
      <vt:lpstr>Knowledge retrieval from SQLite database</vt:lpstr>
      <vt:lpstr>Improve retrieval with hybrid search</vt:lpstr>
      <vt:lpstr>Knowledge retrieval from PostgreSQL</vt:lpstr>
      <vt:lpstr>Improve retrieval for multi-turn conversations</vt:lpstr>
      <vt:lpstr>Query rewriting in a context provider </vt:lpstr>
      <vt:lpstr>Knowledge retrieval with Azure AI Search</vt:lpstr>
      <vt:lpstr>Knowledge retrieval from Azure AI Search</vt:lpstr>
      <vt:lpstr>Context management</vt:lpstr>
      <vt:lpstr>Context window</vt:lpstr>
      <vt:lpstr>Do we still need to worry about context size?</vt:lpstr>
      <vt:lpstr>Context compaction with summarization</vt:lpstr>
      <vt:lpstr>Summarization middleware</vt:lpstr>
      <vt:lpstr>Summarization middleware</vt:lpstr>
      <vt:lpstr>Context reduction with subagents</vt:lpstr>
      <vt:lpstr>Coordinator agent with sub-agents</vt:lpstr>
      <vt:lpstr>Context reduction with subagents: Token usage</vt:lpstr>
      <vt:lpstr>When to use sub-agents?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Abril Ureña</dc:creator>
  <cp:lastModifiedBy>Pamela Fox</cp:lastModifiedBy>
  <cp:revision>4</cp:revision>
  <dcterms:created xsi:type="dcterms:W3CDTF">2025-02-24T19:33:09Z</dcterms:created>
  <dcterms:modified xsi:type="dcterms:W3CDTF">2026-02-25T17:53:27Z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0x0101001BD4B4487B57D443AED9979943B92646</vt:lpwstr>
  </property>
  <property fmtid="{D5CDD505-2E9C-101B-9397-08002B2CF9AE}" pid="3" name="_SourceUrl">
    <vt:lpwstr/>
  </property>
  <property fmtid="{D5CDD505-2E9C-101B-9397-08002B2CF9AE}" pid="4" name="_SharedFileIndex">
    <vt:lpwstr/>
  </property>
  <property fmtid="{D5CDD505-2E9C-101B-9397-08002B2CF9AE}" pid="5" name="ComplianceAsset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MediaServiceImageTags">
    <vt:lpwstr/>
  </property>
  <property fmtid="{D5CDD505-2E9C-101B-9397-08002B2CF9AE}" pid="9" name="Order">
    <vt:lpwstr>26550600.0000000</vt:lpwstr>
  </property>
  <property fmtid="{D5CDD505-2E9C-101B-9397-08002B2CF9AE}" pid="10" name="xd_ProgID">
    <vt:lpwstr/>
  </property>
  <property fmtid="{D5CDD505-2E9C-101B-9397-08002B2CF9AE}" pid="11" name="TemplateUrl">
    <vt:lpwstr/>
  </property>
  <property fmtid="{D5CDD505-2E9C-101B-9397-08002B2CF9AE}" pid="12" name="xd_Signature">
    <vt:lpwstr/>
  </property>
</Properties>
</file>