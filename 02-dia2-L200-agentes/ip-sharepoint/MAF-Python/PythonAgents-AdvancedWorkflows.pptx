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7" Type="http://schemas.microsoft.com/office/2020/02/relationships/classificationlabels" Target="docMetadata/LabelInfo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61" r:id="rId5"/>
  </p:sldMasterIdLst>
  <p:notesMasterIdLst>
    <p:notesMasterId r:id="rId45"/>
  </p:notesMasterIdLst>
  <p:handoutMasterIdLst>
    <p:handoutMasterId r:id="rId46"/>
  </p:handoutMasterIdLst>
  <p:sldIdLst>
    <p:sldId id="2147482949" r:id="rId6"/>
    <p:sldId id="258" r:id="rId7"/>
    <p:sldId id="269" r:id="rId8"/>
    <p:sldId id="2147482952" r:id="rId9"/>
    <p:sldId id="2147482995" r:id="rId10"/>
    <p:sldId id="2147482920" r:id="rId11"/>
    <p:sldId id="2147483038" r:id="rId12"/>
    <p:sldId id="2147483039" r:id="rId13"/>
    <p:sldId id="2147483009" r:id="rId14"/>
    <p:sldId id="2147483041" r:id="rId15"/>
    <p:sldId id="2147483042" r:id="rId16"/>
    <p:sldId id="2147483043" r:id="rId17"/>
    <p:sldId id="2147483047" r:id="rId18"/>
    <p:sldId id="2147483045" r:id="rId19"/>
    <p:sldId id="2147483048" r:id="rId20"/>
    <p:sldId id="2147483046" r:id="rId21"/>
    <p:sldId id="2147483044" r:id="rId22"/>
    <p:sldId id="2147483051" r:id="rId23"/>
    <p:sldId id="2147483050" r:id="rId24"/>
    <p:sldId id="2147483034" r:id="rId25"/>
    <p:sldId id="2147483052" r:id="rId26"/>
    <p:sldId id="2147483049" r:id="rId27"/>
    <p:sldId id="2147483062" r:id="rId28"/>
    <p:sldId id="2147483064" r:id="rId29"/>
    <p:sldId id="2147483065" r:id="rId30"/>
    <p:sldId id="2147483069" r:id="rId31"/>
    <p:sldId id="2147483067" r:id="rId32"/>
    <p:sldId id="2147483068" r:id="rId33"/>
    <p:sldId id="2147483066" r:id="rId34"/>
    <p:sldId id="2147483053" r:id="rId35"/>
    <p:sldId id="2147483056" r:id="rId36"/>
    <p:sldId id="2147483057" r:id="rId37"/>
    <p:sldId id="2147483058" r:id="rId38"/>
    <p:sldId id="2147483059" r:id="rId39"/>
    <p:sldId id="2147483070" r:id="rId40"/>
    <p:sldId id="2147483071" r:id="rId41"/>
    <p:sldId id="2147483072" r:id="rId42"/>
    <p:sldId id="2147483073" r:id="rId43"/>
    <p:sldId id="284" r:id="rId44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Live-Session-ENG" id="{B55AA1A6-1AEB-42C7-A277-7C712E3B5BC2}">
          <p14:sldIdLst>
            <p14:sldId id="2147482949"/>
          </p14:sldIdLst>
        </p14:section>
        <p14:section name="Live-Session-SPA" id="{B9C86BE3-CCD5-495F-8E27-EB498F132A85}">
          <p14:sldIdLst/>
        </p14:section>
        <p14:section name="Overview" id="{3CAE196B-5A6C-4D22-A2AD-1CDB052C40B7}">
          <p14:sldIdLst>
            <p14:sldId id="258"/>
            <p14:sldId id="269"/>
            <p14:sldId id="2147482952"/>
            <p14:sldId id="2147482995"/>
          </p14:sldIdLst>
        </p14:section>
        <p14:section name="Main content" id="{660B4914-61C5-4613-82D6-881ED96EA14E}">
          <p14:sldIdLst>
            <p14:sldId id="2147482920"/>
            <p14:sldId id="2147483038"/>
            <p14:sldId id="2147483039"/>
            <p14:sldId id="2147483009"/>
            <p14:sldId id="2147483041"/>
            <p14:sldId id="2147483042"/>
            <p14:sldId id="2147483043"/>
            <p14:sldId id="2147483047"/>
            <p14:sldId id="2147483045"/>
            <p14:sldId id="2147483048"/>
            <p14:sldId id="2147483046"/>
            <p14:sldId id="2147483044"/>
            <p14:sldId id="2147483051"/>
            <p14:sldId id="2147483050"/>
            <p14:sldId id="2147483034"/>
            <p14:sldId id="2147483052"/>
            <p14:sldId id="2147483049"/>
            <p14:sldId id="2147483062"/>
            <p14:sldId id="2147483064"/>
            <p14:sldId id="2147483065"/>
            <p14:sldId id="2147483069"/>
            <p14:sldId id="2147483067"/>
            <p14:sldId id="2147483068"/>
            <p14:sldId id="2147483066"/>
            <p14:sldId id="2147483053"/>
            <p14:sldId id="2147483056"/>
            <p14:sldId id="2147483057"/>
            <p14:sldId id="2147483058"/>
            <p14:sldId id="2147483059"/>
            <p14:sldId id="2147483070"/>
            <p14:sldId id="2147483071"/>
            <p14:sldId id="2147483072"/>
            <p14:sldId id="2147483073"/>
          </p14:sldIdLst>
        </p14:section>
        <p14:section name="Thank you" id="{18039BEC-4E63-4173-80E5-4B32294302B2}">
          <p14:sldIdLst>
            <p14:sldId id="28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35B73632-6CE1-F5AC-1EEB-9FB25C076E5B}" name="Matt Gotteiner" initials="MG" userId="S::magottei@microsoft.com::44e5f686-35a1-4e2c-9ff3-7b6adafcd3c3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7D142"/>
    <a:srgbClr val="32C337"/>
    <a:srgbClr val="0062A9"/>
    <a:srgbClr val="267F99"/>
    <a:srgbClr val="795E26"/>
    <a:srgbClr val="D764D4"/>
    <a:srgbClr val="46A5ED"/>
    <a:srgbClr val="5982DC"/>
    <a:srgbClr val="45698B"/>
    <a:srgbClr val="F0838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A3BDC09-38ED-9D42-925E-8C2EAAD72A06}" v="269" dt="2026-03-04T17:59:36.648"/>
    <p1510:client id="{FFA6A7BC-1883-E811-B13F-6DFCB509E07A}" v="114" dt="2026-03-04T12:18:46.915"/>
  </p1510:revLst>
</p1510:revInfo>
</file>

<file path=ppt/tableStyles.xml><?xml version="1.0" encoding="utf-8"?>
<a:tblStyleLst xmlns:a="http://schemas.openxmlformats.org/drawingml/2006/main" def="{00A15C55-8517-42AA-B614-E9B94910E393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5901"/>
    <p:restoredTop sz="91647"/>
  </p:normalViewPr>
  <p:slideViewPr>
    <p:cSldViewPr snapToGrid="0">
      <p:cViewPr>
        <p:scale>
          <a:sx n="130" d="100"/>
          <a:sy n="130" d="100"/>
        </p:scale>
        <p:origin x="1120" y="2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slide" Target="slides/slide34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slide" Target="slides/slide37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slide" Target="slides/slide35.xml"/><Relationship Id="rId45" Type="http://schemas.openxmlformats.org/officeDocument/2006/relationships/notesMaster" Target="notesMasters/notesMaster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49" Type="http://schemas.openxmlformats.org/officeDocument/2006/relationships/theme" Target="theme/theme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4" Type="http://schemas.openxmlformats.org/officeDocument/2006/relationships/slide" Target="slides/slide39.xml"/><Relationship Id="rId52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slide" Target="slides/slide38.xml"/><Relationship Id="rId48" Type="http://schemas.openxmlformats.org/officeDocument/2006/relationships/viewProps" Target="viewProps.xml"/><Relationship Id="rId8" Type="http://schemas.openxmlformats.org/officeDocument/2006/relationships/slide" Target="slides/slide3.xml"/><Relationship Id="rId51" Type="http://schemas.microsoft.com/office/2015/10/relationships/revisionInfo" Target="revisionInfo.xml"/><Relationship Id="rId3" Type="http://schemas.openxmlformats.org/officeDocument/2006/relationships/customXml" Target="../customXml/item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handoutMaster" Target="handoutMasters/handoutMaster1.xml"/><Relationship Id="rId20" Type="http://schemas.openxmlformats.org/officeDocument/2006/relationships/slide" Target="slides/slide15.xml"/><Relationship Id="rId41" Type="http://schemas.openxmlformats.org/officeDocument/2006/relationships/slide" Target="slides/slide36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023C7EB-5B7F-EC35-C47A-3E71DEC2AD3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E9F19CB-5D50-8F75-DC84-99B30658E15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088F21-FC08-4265-A0EA-7DCAAA8A0386}" type="datetimeFigureOut">
              <a:rPr lang="es-MX" smtClean="0"/>
              <a:t>03/03/26</a:t>
            </a:fld>
            <a:endParaRPr lang="es-MX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2D974DA-6BA0-F689-ED4C-B26987C81F9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1571DD-CE34-DB8F-9E07-DC1DF621732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A85052-7AF3-4E33-B760-A67F7CF62719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99637144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4429A59-3B4E-43BA-8563-6D5BDB7C83C0}" type="datetimeFigureOut">
              <a:rPr lang="es-MX" smtClean="0"/>
              <a:t>03/03/26</a:t>
            </a:fld>
            <a:endParaRPr lang="es-MX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6777DB-9E19-4DE0-B5FC-477F0E7FE6A0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224871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learn.microsoft.com/agent-framework/workflows/events" TargetMode="External"/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learn.microsoft.com/agent-framework/workflows/events" TargetMode="External"/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learn.microsoft.com/agent-framework/workflows/events" TargetMode="External"/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22DA24-D3BD-2D45-8B74-68363DFB76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F8238FC-4A17-61C8-FF99-7A82DB84B5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6997EDF-59CA-7CF0-12C4-12D917A70C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hlinkClick r:id="rId3"/>
              </a:rPr>
              <a:t>https://learn.microsoft.com/agent-framework/workflows/events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F74102-F1E8-8D53-3276-0C42146AD3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822E6C-A02C-4BB1-90E8-FA24A474D4B7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71026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EF504C-6F2A-D651-9A6F-D15F1DE753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D9C40B1-E0FA-1663-567F-DD7D4FCAD5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D551357-11EB-BAEE-16A4-0E8D83066C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hlinkClick r:id="rId3"/>
              </a:rPr>
              <a:t>https://learn.microsoft.com/agent-framework/workflows/events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00DFB1-D536-DE67-51AB-9509F189A7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822E6C-A02C-4BB1-90E8-FA24A474D4B7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84606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E8FCB5-7DF5-260F-8BA2-D12A1F6D1D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3634AB2-7448-4260-B3B2-0A3ACFA2F7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00C5858-6236-C811-A73E-B6A1865CBD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We already saw concatenation with previous example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C2135A-A389-C847-6283-C133B207A8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822E6C-A02C-4BB1-90E8-FA24A474D4B7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401601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"Everything we've built so far — sequential, conditional, fan-out — the developer decides the topology. Now we let the agents decide."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6777DB-9E19-4DE0-B5FC-477F0E7FE6A0}" type="slidenum">
              <a:rPr lang="es-MX" smtClean="0"/>
              <a:t>20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46286739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4AFC05-BB7F-E07B-8EC1-1C2146D596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0446402-88A8-E8E8-C0BF-060C1A7CA6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3FC30A4-10D0-4F94-8C4B-68D1A139DD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hlinkClick r:id="rId3"/>
              </a:rPr>
              <a:t>https://learn.microsoft.com/agent-framework/workflows/events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BBC101-B8BB-2686-6856-257FC89F67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822E6C-A02C-4BB1-90E8-FA24A474D4B7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3302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4E8266-1F9F-D29A-F035-9FE1350356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BC0C5C-C8AF-F985-73BF-FE42739622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DD16BEA-96C4-A298-AB6F-D382AB4408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"Everything we've built so far — sequential, conditional, fan-out — the developer decides the topology. Now we let the agents decide."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7222E5-7C95-8E80-2C08-83D156EF5A4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6777DB-9E19-4DE0-B5FC-477F0E7FE6A0}" type="slidenum">
              <a:rPr lang="es-MX" smtClean="0"/>
              <a:t>23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4182929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6777DB-9E19-4DE0-B5FC-477F0E7FE6A0}" type="slidenum">
              <a:rPr lang="es-MX" smtClean="0"/>
              <a:t>27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69852459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ECB2CD-E72F-2C8B-207F-5C1C95AB7B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055E7E6-660C-B16C-2B01-AA60331A7F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82A89A6-4272-3481-E881-5CFB6A20CF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sz="1200" err="1"/>
              <a:t>Each sub-agent is a tool called by the supervisor.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E22C7E-F25B-A203-EBCA-CF8AA50166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822E6C-A02C-4BB1-90E8-FA24A474D4B7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267364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ED218E-D9D1-897E-B0CF-620D017E7A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C55A6DE-2DA3-E1BB-F1B3-71EFA53752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2FD31F3-E42B-3B0E-1C54-52EF87D0C7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"Everything we've built so far — sequential, conditional, fan-out — the developer decides the topology. Now we let the agents decide."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C4532E-1377-49E7-1831-05F048DC77F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6777DB-9E19-4DE0-B5FC-477F0E7FE6A0}" type="slidenum">
              <a:rPr lang="es-MX" smtClean="0"/>
              <a:t>29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57526349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077CAA-420E-EA84-C801-A259F00D08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3ED737D-B2F5-F55D-4FE3-498CBD59B9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9422613-D0B8-38D8-9CF9-4FD8F680D9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We already saw concatenation with previous example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AC5CD5-0308-1C31-BA6D-CBDEA3F474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822E6C-A02C-4BB1-90E8-FA24A474D4B7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68550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71B11C-D9B5-C227-D699-1867FC887E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CD55FAC-4759-A495-0C0B-1715DA8B96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C5E260C-0CCC-9D44-1E13-108B1F66A1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We already saw concatenation with previous example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96A590-14DF-5B57-E867-0D85C1EE6F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822E6C-A02C-4BB1-90E8-FA24A474D4B7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046192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B37F3F-C704-68B7-7EDE-0F58420840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64235FC-044E-A33D-8800-9288D4B91C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B4EB504-7335-EFE5-E6CE-F894198341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sz="1200" err="1"/>
              <a:t>Each sub-agent is a tool called by the supervisor.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8DC68E-0AA6-89FA-B751-02BFB9A13C7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822E6C-A02C-4BB1-90E8-FA24A474D4B7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480962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FB43B5-D9C2-F703-0D02-56ED0DCFE3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32E5349-E965-E283-2CA0-C8B9565765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F2EED1A-D281-8C4B-4925-E6C4D3C310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sz="1200" err="1"/>
              <a:t>https://aiinvest-web-dev.blueground-1750adc3.westus2.azurecontainerapps.io/</a:t>
            </a:r>
          </a:p>
          <a:p>
            <a:pPr algn="l"/>
            <a:endParaRPr lang="en-US" sz="1200" err="1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5CC7AE-CD0D-DD8A-72F7-47F550504C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822E6C-A02C-4BB1-90E8-FA24A474D4B7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792266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2F572B-8E8E-17E7-9F71-8815CA9FEA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897A733-9491-0F3E-8822-B6BF51192E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92ECEDC-307F-CFD4-9011-6FEEEBFE83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sz="1200" err="1"/>
              <a:t>Each sub-agent is a tool called by the supervisor.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731C96-C746-AB82-CF78-7E6A4B66A69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822E6C-A02C-4BB1-90E8-FA24A474D4B7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865414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16D98C-D2DB-DF00-017E-7BD64A5FFE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82F250-539D-E269-0B50-75136F95D7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2A8ED2-1ACC-F77E-E862-57FA3A4788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sz="1200" err="1"/>
              <a:t>Each sub-agent is a tool called by the supervisor.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C9347E-F768-5216-AE3A-DBC0A93A785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822E6C-A02C-4BB1-90E8-FA24A474D4B7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91028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ction Header - op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2">
            <a:extLst>
              <a:ext uri="{FF2B5EF4-FFF2-40B4-BE49-F238E27FC236}">
                <a16:creationId xmlns:a16="http://schemas.microsoft.com/office/drawing/2014/main" id="{329202D2-7400-B85C-E27C-1C43F148CDD2}"/>
              </a:ext>
            </a:extLst>
          </p:cNvPr>
          <p:cNvSpPr>
            <a:spLocks/>
          </p:cNvSpPr>
          <p:nvPr userDrawn="1"/>
        </p:nvSpPr>
        <p:spPr>
          <a:xfrm>
            <a:off x="0" y="0"/>
            <a:ext cx="12198350" cy="686972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>
              <a:lumMod val="20000"/>
              <a:lumOff val="80000"/>
            </a:schemeClr>
          </a:solidFill>
        </p:spPr>
        <p:txBody>
          <a:bodyPr/>
          <a:lstStyle/>
          <a:p>
            <a:endParaRPr lang="es-MX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6A6E44D-AF4D-B0D0-2D38-17BF590B43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9"/>
            <a:ext cx="10515600" cy="1141154"/>
          </a:xfrm>
        </p:spPr>
        <p:txBody>
          <a:bodyPr anchor="ctr">
            <a:normAutofit/>
          </a:bodyPr>
          <a:lstStyle>
            <a:lvl1pPr>
              <a:defRPr sz="4400">
                <a:solidFill>
                  <a:schemeClr val="accent6">
                    <a:lumMod val="5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73F104-8DDE-A1E6-0719-100ACF2087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2850893"/>
            <a:ext cx="10515600" cy="1594358"/>
          </a:xfrm>
        </p:spPr>
        <p:txBody>
          <a:bodyPr>
            <a:normAutofit/>
          </a:bodyPr>
          <a:lstStyle>
            <a:lvl1pPr marL="0" indent="0">
              <a:buNone/>
              <a:defRPr sz="4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F69DBC-2956-8F47-4E6B-2E507E2D94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94684-00AF-422F-9E70-484377D91052}" type="datetimeFigureOut">
              <a:rPr lang="es-MX" smtClean="0"/>
              <a:t>03/03/26</a:t>
            </a:fld>
            <a:endParaRPr lang="es-MX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B8C4A3-03C4-5E35-EE53-3E35A3DCB1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BA0968-75D8-3240-3B7B-524F6AC960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C30F42-2E61-4F47-872B-F268A27A1A27}" type="slidenum">
              <a:rPr lang="es-MX" smtClean="0"/>
              <a:t>‹#›</a:t>
            </a:fld>
            <a:endParaRPr lang="es-MX"/>
          </a:p>
        </p:txBody>
      </p:sp>
      <p:sp>
        <p:nvSpPr>
          <p:cNvPr id="15" name="Freeform 8">
            <a:extLst>
              <a:ext uri="{FF2B5EF4-FFF2-40B4-BE49-F238E27FC236}">
                <a16:creationId xmlns:a16="http://schemas.microsoft.com/office/drawing/2014/main" id="{4ABE5541-45AA-5D0D-8169-D76F16EACDA3}"/>
              </a:ext>
            </a:extLst>
          </p:cNvPr>
          <p:cNvSpPr/>
          <p:nvPr userDrawn="1"/>
        </p:nvSpPr>
        <p:spPr>
          <a:xfrm>
            <a:off x="739972" y="471669"/>
            <a:ext cx="1860550" cy="525189"/>
          </a:xfrm>
          <a:custGeom>
            <a:avLst/>
            <a:gdLst/>
            <a:ahLst/>
            <a:cxnLst/>
            <a:rect l="l" t="t" r="r" b="b"/>
            <a:pathLst>
              <a:path w="3040582" h="862772">
                <a:moveTo>
                  <a:pt x="0" y="0"/>
                </a:moveTo>
                <a:lnTo>
                  <a:pt x="3040582" y="0"/>
                </a:lnTo>
                <a:lnTo>
                  <a:pt x="3040582" y="862771"/>
                </a:lnTo>
                <a:lnTo>
                  <a:pt x="0" y="86277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8542" t="-57395" r="-18192" b="-58446"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0C6718F5-4CB2-A424-FD1A-5CC53BB88C2C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791633" y="4550797"/>
            <a:ext cx="5156494" cy="1594358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accent6">
                    <a:lumMod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Speaker Name</a:t>
            </a:r>
          </a:p>
          <a:p>
            <a:pPr lvl="0"/>
            <a:r>
              <a:rPr lang="en-US"/>
              <a:t>Title</a:t>
            </a:r>
          </a:p>
          <a:p>
            <a:pPr lvl="0"/>
            <a:r>
              <a:rPr lang="en-US"/>
              <a:t>Role</a:t>
            </a:r>
          </a:p>
          <a:p>
            <a:pPr lvl="0"/>
            <a:endParaRPr lang="en-US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B28653AB-9915-A1B3-34BF-C7AA9C6808D9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6096000" y="4550797"/>
            <a:ext cx="5249941" cy="1594358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accent6">
                    <a:lumMod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Speaker Name</a:t>
            </a:r>
          </a:p>
          <a:p>
            <a:pPr lvl="0"/>
            <a:r>
              <a:rPr lang="en-US"/>
              <a:t>Title</a:t>
            </a:r>
          </a:p>
          <a:p>
            <a:pPr lvl="0"/>
            <a:r>
              <a:rPr lang="en-US"/>
              <a:t>Role</a:t>
            </a:r>
          </a:p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98329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ection Header - op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2">
            <a:extLst>
              <a:ext uri="{FF2B5EF4-FFF2-40B4-BE49-F238E27FC236}">
                <a16:creationId xmlns:a16="http://schemas.microsoft.com/office/drawing/2014/main" id="{329202D2-7400-B85C-E27C-1C43F148CDD2}"/>
              </a:ext>
            </a:extLst>
          </p:cNvPr>
          <p:cNvSpPr>
            <a:spLocks/>
          </p:cNvSpPr>
          <p:nvPr userDrawn="1"/>
        </p:nvSpPr>
        <p:spPr>
          <a:xfrm>
            <a:off x="0" y="0"/>
            <a:ext cx="12198350" cy="686972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>
              <a:lumMod val="20000"/>
              <a:lumOff val="80000"/>
            </a:schemeClr>
          </a:solidFill>
        </p:spPr>
        <p:txBody>
          <a:bodyPr/>
          <a:lstStyle/>
          <a:p>
            <a:endParaRPr lang="es-MX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6A6E44D-AF4D-B0D0-2D38-17BF590B43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32343"/>
            <a:ext cx="10515600" cy="2852737"/>
          </a:xfrm>
        </p:spPr>
        <p:txBody>
          <a:bodyPr anchor="ctr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73F104-8DDE-A1E6-0719-100ACF2087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423110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F69DBC-2956-8F47-4E6B-2E507E2D94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94684-00AF-422F-9E70-484377D91052}" type="datetimeFigureOut">
              <a:rPr lang="es-MX" smtClean="0"/>
              <a:t>03/03/26</a:t>
            </a:fld>
            <a:endParaRPr lang="es-MX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B8C4A3-03C4-5E35-EE53-3E35A3DCB1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BA0968-75D8-3240-3B7B-524F6AC960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C30F42-2E61-4F47-872B-F268A27A1A27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7131617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eak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2">
            <a:extLst>
              <a:ext uri="{FF2B5EF4-FFF2-40B4-BE49-F238E27FC236}">
                <a16:creationId xmlns:a16="http://schemas.microsoft.com/office/drawing/2014/main" id="{0295FCD2-FBD5-1EFB-6B99-A5A5A405356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60115F-7367-9831-CC7F-5F32AB3CDF6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About you</a:t>
            </a:r>
            <a:endParaRPr lang="es-MX"/>
          </a:p>
        </p:txBody>
      </p:sp>
      <p:grpSp>
        <p:nvGrpSpPr>
          <p:cNvPr id="5" name="Group 6">
            <a:extLst>
              <a:ext uri="{FF2B5EF4-FFF2-40B4-BE49-F238E27FC236}">
                <a16:creationId xmlns:a16="http://schemas.microsoft.com/office/drawing/2014/main" id="{38C10DA9-B70C-145C-3BF4-E96609F6562A}"/>
              </a:ext>
            </a:extLst>
          </p:cNvPr>
          <p:cNvGrpSpPr/>
          <p:nvPr userDrawn="1"/>
        </p:nvGrpSpPr>
        <p:grpSpPr>
          <a:xfrm>
            <a:off x="838200" y="1690688"/>
            <a:ext cx="10515602" cy="5167313"/>
            <a:chOff x="0" y="-234844"/>
            <a:chExt cx="4396591" cy="2457932"/>
          </a:xfrm>
        </p:grpSpPr>
        <p:sp>
          <p:nvSpPr>
            <p:cNvPr id="6" name="Freeform 7">
              <a:extLst>
                <a:ext uri="{FF2B5EF4-FFF2-40B4-BE49-F238E27FC236}">
                  <a16:creationId xmlns:a16="http://schemas.microsoft.com/office/drawing/2014/main" id="{670F8A61-A63F-DE51-BC1C-81A4C91CE8F3}"/>
                </a:ext>
              </a:extLst>
            </p:cNvPr>
            <p:cNvSpPr/>
            <p:nvPr/>
          </p:nvSpPr>
          <p:spPr>
            <a:xfrm>
              <a:off x="0" y="-234844"/>
              <a:ext cx="4396591" cy="2457932"/>
            </a:xfrm>
            <a:custGeom>
              <a:avLst/>
              <a:gdLst/>
              <a:ahLst/>
              <a:cxnLst/>
              <a:rect l="l" t="t" r="r" b="b"/>
              <a:pathLst>
                <a:path w="4396591" h="2223088">
                  <a:moveTo>
                    <a:pt x="13449" y="0"/>
                  </a:moveTo>
                  <a:lnTo>
                    <a:pt x="4383141" y="0"/>
                  </a:lnTo>
                  <a:cubicBezTo>
                    <a:pt x="4390569" y="0"/>
                    <a:pt x="4396591" y="6022"/>
                    <a:pt x="4396591" y="13449"/>
                  </a:cubicBezTo>
                  <a:lnTo>
                    <a:pt x="4396591" y="2209638"/>
                  </a:lnTo>
                  <a:cubicBezTo>
                    <a:pt x="4396591" y="2213205"/>
                    <a:pt x="4395174" y="2216626"/>
                    <a:pt x="4392651" y="2219148"/>
                  </a:cubicBezTo>
                  <a:cubicBezTo>
                    <a:pt x="4390129" y="2221671"/>
                    <a:pt x="4386708" y="2223088"/>
                    <a:pt x="4383141" y="2223088"/>
                  </a:cubicBezTo>
                  <a:lnTo>
                    <a:pt x="13449" y="2223088"/>
                  </a:lnTo>
                  <a:cubicBezTo>
                    <a:pt x="6022" y="2223088"/>
                    <a:pt x="0" y="2217066"/>
                    <a:pt x="0" y="2209638"/>
                  </a:cubicBezTo>
                  <a:lnTo>
                    <a:pt x="0" y="13449"/>
                  </a:lnTo>
                  <a:cubicBezTo>
                    <a:pt x="0" y="6022"/>
                    <a:pt x="6022" y="0"/>
                    <a:pt x="13449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7" name="TextBox 8">
              <a:extLst>
                <a:ext uri="{FF2B5EF4-FFF2-40B4-BE49-F238E27FC236}">
                  <a16:creationId xmlns:a16="http://schemas.microsoft.com/office/drawing/2014/main" id="{6AD497AD-1ADB-DF0F-B24D-811410E7D65A}"/>
                </a:ext>
              </a:extLst>
            </p:cNvPr>
            <p:cNvSpPr txBox="1"/>
            <p:nvPr/>
          </p:nvSpPr>
          <p:spPr>
            <a:xfrm>
              <a:off x="0" y="-38100"/>
              <a:ext cx="4396590" cy="22611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98A29B-4D9A-F0BE-9E0B-F630846942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5267" y="1837854"/>
            <a:ext cx="9863666" cy="433911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431621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eak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2">
            <a:extLst>
              <a:ext uri="{FF2B5EF4-FFF2-40B4-BE49-F238E27FC236}">
                <a16:creationId xmlns:a16="http://schemas.microsoft.com/office/drawing/2014/main" id="{0295FCD2-FBD5-1EFB-6B99-A5A5A405356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60115F-7367-9831-CC7F-5F32AB3CDF6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About the speakers</a:t>
            </a:r>
            <a:endParaRPr lang="es-MX"/>
          </a:p>
        </p:txBody>
      </p:sp>
      <p:grpSp>
        <p:nvGrpSpPr>
          <p:cNvPr id="12" name="Group 8">
            <a:extLst>
              <a:ext uri="{FF2B5EF4-FFF2-40B4-BE49-F238E27FC236}">
                <a16:creationId xmlns:a16="http://schemas.microsoft.com/office/drawing/2014/main" id="{84CD342C-E2D3-353F-8B33-2ACD3A1BE8B3}"/>
              </a:ext>
            </a:extLst>
          </p:cNvPr>
          <p:cNvGrpSpPr/>
          <p:nvPr userDrawn="1"/>
        </p:nvGrpSpPr>
        <p:grpSpPr>
          <a:xfrm>
            <a:off x="6891020" y="3537719"/>
            <a:ext cx="4064848" cy="3320281"/>
            <a:chOff x="0" y="0"/>
            <a:chExt cx="1513731" cy="2223088"/>
          </a:xfrm>
        </p:grpSpPr>
        <p:sp>
          <p:nvSpPr>
            <p:cNvPr id="13" name="Freeform 9">
              <a:extLst>
                <a:ext uri="{FF2B5EF4-FFF2-40B4-BE49-F238E27FC236}">
                  <a16:creationId xmlns:a16="http://schemas.microsoft.com/office/drawing/2014/main" id="{4F86E2AA-C4BD-82FC-82EE-004E6D1D47E9}"/>
                </a:ext>
              </a:extLst>
            </p:cNvPr>
            <p:cNvSpPr/>
            <p:nvPr/>
          </p:nvSpPr>
          <p:spPr>
            <a:xfrm>
              <a:off x="0" y="0"/>
              <a:ext cx="1513731" cy="2223088"/>
            </a:xfrm>
            <a:custGeom>
              <a:avLst/>
              <a:gdLst/>
              <a:ahLst/>
              <a:cxnLst/>
              <a:rect l="l" t="t" r="r" b="b"/>
              <a:pathLst>
                <a:path w="1513731" h="2223088">
                  <a:moveTo>
                    <a:pt x="39064" y="0"/>
                  </a:moveTo>
                  <a:lnTo>
                    <a:pt x="1474668" y="0"/>
                  </a:lnTo>
                  <a:cubicBezTo>
                    <a:pt x="1485028" y="0"/>
                    <a:pt x="1494964" y="4116"/>
                    <a:pt x="1502290" y="11441"/>
                  </a:cubicBezTo>
                  <a:cubicBezTo>
                    <a:pt x="1509616" y="18767"/>
                    <a:pt x="1513731" y="28703"/>
                    <a:pt x="1513731" y="39064"/>
                  </a:cubicBezTo>
                  <a:lnTo>
                    <a:pt x="1513731" y="2184024"/>
                  </a:lnTo>
                  <a:cubicBezTo>
                    <a:pt x="1513731" y="2205598"/>
                    <a:pt x="1496242" y="2223088"/>
                    <a:pt x="1474668" y="2223088"/>
                  </a:cubicBezTo>
                  <a:lnTo>
                    <a:pt x="39064" y="2223088"/>
                  </a:lnTo>
                  <a:cubicBezTo>
                    <a:pt x="17489" y="2223088"/>
                    <a:pt x="0" y="2205598"/>
                    <a:pt x="0" y="2184024"/>
                  </a:cubicBezTo>
                  <a:lnTo>
                    <a:pt x="0" y="39064"/>
                  </a:lnTo>
                  <a:cubicBezTo>
                    <a:pt x="0" y="17489"/>
                    <a:pt x="17489" y="0"/>
                    <a:pt x="39064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0EA62988-03A8-2DE6-E763-D7FD9D803333}"/>
                </a:ext>
              </a:extLst>
            </p:cNvPr>
            <p:cNvSpPr txBox="1"/>
            <p:nvPr/>
          </p:nvSpPr>
          <p:spPr>
            <a:xfrm>
              <a:off x="0" y="-47625"/>
              <a:ext cx="1513731" cy="227071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5" name="Group 8">
            <a:extLst>
              <a:ext uri="{FF2B5EF4-FFF2-40B4-BE49-F238E27FC236}">
                <a16:creationId xmlns:a16="http://schemas.microsoft.com/office/drawing/2014/main" id="{CA45EA46-89E2-2C45-FAE0-708611EC9957}"/>
              </a:ext>
            </a:extLst>
          </p:cNvPr>
          <p:cNvGrpSpPr/>
          <p:nvPr userDrawn="1"/>
        </p:nvGrpSpPr>
        <p:grpSpPr>
          <a:xfrm>
            <a:off x="1075267" y="3537719"/>
            <a:ext cx="4064848" cy="3320281"/>
            <a:chOff x="0" y="0"/>
            <a:chExt cx="1513731" cy="2223088"/>
          </a:xfrm>
        </p:grpSpPr>
        <p:sp>
          <p:nvSpPr>
            <p:cNvPr id="16" name="Freeform 9">
              <a:extLst>
                <a:ext uri="{FF2B5EF4-FFF2-40B4-BE49-F238E27FC236}">
                  <a16:creationId xmlns:a16="http://schemas.microsoft.com/office/drawing/2014/main" id="{321B8092-5047-EEF5-E13B-09FC7334CE51}"/>
                </a:ext>
              </a:extLst>
            </p:cNvPr>
            <p:cNvSpPr/>
            <p:nvPr/>
          </p:nvSpPr>
          <p:spPr>
            <a:xfrm>
              <a:off x="0" y="0"/>
              <a:ext cx="1513731" cy="2223088"/>
            </a:xfrm>
            <a:custGeom>
              <a:avLst/>
              <a:gdLst/>
              <a:ahLst/>
              <a:cxnLst/>
              <a:rect l="l" t="t" r="r" b="b"/>
              <a:pathLst>
                <a:path w="1513731" h="2223088">
                  <a:moveTo>
                    <a:pt x="39064" y="0"/>
                  </a:moveTo>
                  <a:lnTo>
                    <a:pt x="1474668" y="0"/>
                  </a:lnTo>
                  <a:cubicBezTo>
                    <a:pt x="1485028" y="0"/>
                    <a:pt x="1494964" y="4116"/>
                    <a:pt x="1502290" y="11441"/>
                  </a:cubicBezTo>
                  <a:cubicBezTo>
                    <a:pt x="1509616" y="18767"/>
                    <a:pt x="1513731" y="28703"/>
                    <a:pt x="1513731" y="39064"/>
                  </a:cubicBezTo>
                  <a:lnTo>
                    <a:pt x="1513731" y="2184024"/>
                  </a:lnTo>
                  <a:cubicBezTo>
                    <a:pt x="1513731" y="2205598"/>
                    <a:pt x="1496242" y="2223088"/>
                    <a:pt x="1474668" y="2223088"/>
                  </a:cubicBezTo>
                  <a:lnTo>
                    <a:pt x="39064" y="2223088"/>
                  </a:lnTo>
                  <a:cubicBezTo>
                    <a:pt x="17489" y="2223088"/>
                    <a:pt x="0" y="2205598"/>
                    <a:pt x="0" y="2184024"/>
                  </a:cubicBezTo>
                  <a:lnTo>
                    <a:pt x="0" y="39064"/>
                  </a:lnTo>
                  <a:cubicBezTo>
                    <a:pt x="0" y="17489"/>
                    <a:pt x="17489" y="0"/>
                    <a:pt x="39064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037CCC31-8AF4-47FA-8DCA-1BD5C1B435BC}"/>
                </a:ext>
              </a:extLst>
            </p:cNvPr>
            <p:cNvSpPr txBox="1"/>
            <p:nvPr/>
          </p:nvSpPr>
          <p:spPr>
            <a:xfrm>
              <a:off x="0" y="-47625"/>
              <a:ext cx="1513731" cy="227071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31EDC61F-BE19-72DD-112C-956072532F5D}"/>
              </a:ext>
            </a:extLst>
          </p:cNvPr>
          <p:cNvSpPr>
            <a:spLocks noGrp="1"/>
          </p:cNvSpPr>
          <p:nvPr>
            <p:ph type="pic" idx="10"/>
          </p:nvPr>
        </p:nvSpPr>
        <p:spPr>
          <a:xfrm>
            <a:off x="7458710" y="2055813"/>
            <a:ext cx="2929468" cy="2778654"/>
          </a:xfrm>
        </p:spPr>
        <p:txBody>
          <a:bodyPr/>
          <a:lstStyle>
            <a:lvl1pPr marL="0" indent="0">
              <a:buNone/>
              <a:defRPr sz="2133"/>
            </a:lvl1pPr>
            <a:lvl2pPr marL="304815" indent="0">
              <a:buNone/>
              <a:defRPr sz="1867"/>
            </a:lvl2pPr>
            <a:lvl3pPr marL="609630" indent="0">
              <a:buNone/>
              <a:defRPr sz="1600"/>
            </a:lvl3pPr>
            <a:lvl4pPr marL="914446" indent="0">
              <a:buNone/>
              <a:defRPr sz="1333"/>
            </a:lvl4pPr>
            <a:lvl5pPr marL="1219261" indent="0">
              <a:buNone/>
              <a:defRPr sz="1333"/>
            </a:lvl5pPr>
            <a:lvl6pPr marL="1524076" indent="0">
              <a:buNone/>
              <a:defRPr sz="1333"/>
            </a:lvl6pPr>
            <a:lvl7pPr marL="1828891" indent="0">
              <a:buNone/>
              <a:defRPr sz="1333"/>
            </a:lvl7pPr>
            <a:lvl8pPr marL="2133707" indent="0">
              <a:buNone/>
              <a:defRPr sz="1333"/>
            </a:lvl8pPr>
            <a:lvl9pPr marL="2438522" indent="0">
              <a:buNone/>
              <a:defRPr sz="1333"/>
            </a:lvl9pPr>
          </a:lstStyle>
          <a:p>
            <a:endParaRPr lang="en-US"/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867F8969-FF6A-9BCC-AAAE-F6E9D06627D3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7458711" y="5162293"/>
            <a:ext cx="2929468" cy="1502393"/>
          </a:xfr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</a:lstStyle>
          <a:p>
            <a:pPr lvl="0"/>
            <a:r>
              <a:rPr lang="en-US"/>
              <a:t>Your Name</a:t>
            </a:r>
          </a:p>
          <a:p>
            <a:pPr lvl="0"/>
            <a:r>
              <a:rPr lang="en-US"/>
              <a:t>Title</a:t>
            </a:r>
          </a:p>
          <a:p>
            <a:pPr lvl="0"/>
            <a:r>
              <a:rPr lang="en-US"/>
              <a:t>Social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D64A18B6-AE97-E15D-EB56-EA636756AB0A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1642957" y="5162293"/>
            <a:ext cx="2929468" cy="1502393"/>
          </a:xfr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</a:lstStyle>
          <a:p>
            <a:pPr lvl="0"/>
            <a:r>
              <a:rPr lang="en-US"/>
              <a:t>Your Name</a:t>
            </a:r>
          </a:p>
          <a:p>
            <a:pPr lvl="0"/>
            <a:r>
              <a:rPr lang="en-US"/>
              <a:t>Title</a:t>
            </a:r>
          </a:p>
          <a:p>
            <a:pPr lvl="0"/>
            <a:r>
              <a:rPr lang="en-US"/>
              <a:t>Social</a:t>
            </a:r>
          </a:p>
        </p:txBody>
      </p:sp>
      <p:sp>
        <p:nvSpPr>
          <p:cNvPr id="22" name="Picture Placeholder 2">
            <a:extLst>
              <a:ext uri="{FF2B5EF4-FFF2-40B4-BE49-F238E27FC236}">
                <a16:creationId xmlns:a16="http://schemas.microsoft.com/office/drawing/2014/main" id="{A49CB7E8-945A-668B-6849-ED0A7A9C6C14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1642957" y="2039673"/>
            <a:ext cx="2929468" cy="2778654"/>
          </a:xfrm>
        </p:spPr>
        <p:txBody>
          <a:bodyPr/>
          <a:lstStyle>
            <a:lvl1pPr marL="0" indent="0">
              <a:buNone/>
              <a:defRPr sz="2133"/>
            </a:lvl1pPr>
            <a:lvl2pPr marL="304815" indent="0">
              <a:buNone/>
              <a:defRPr sz="1867"/>
            </a:lvl2pPr>
            <a:lvl3pPr marL="609630" indent="0">
              <a:buNone/>
              <a:defRPr sz="1600"/>
            </a:lvl3pPr>
            <a:lvl4pPr marL="914446" indent="0">
              <a:buNone/>
              <a:defRPr sz="1333"/>
            </a:lvl4pPr>
            <a:lvl5pPr marL="1219261" indent="0">
              <a:buNone/>
              <a:defRPr sz="1333"/>
            </a:lvl5pPr>
            <a:lvl6pPr marL="1524076" indent="0">
              <a:buNone/>
              <a:defRPr sz="1333"/>
            </a:lvl6pPr>
            <a:lvl7pPr marL="1828891" indent="0">
              <a:buNone/>
              <a:defRPr sz="1333"/>
            </a:lvl7pPr>
            <a:lvl8pPr marL="2133707" indent="0">
              <a:buNone/>
              <a:defRPr sz="1333"/>
            </a:lvl8pPr>
            <a:lvl9pPr marL="2438522" indent="0">
              <a:buNone/>
              <a:defRPr sz="1333"/>
            </a:lvl9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96201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Main -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2">
            <a:extLst>
              <a:ext uri="{FF2B5EF4-FFF2-40B4-BE49-F238E27FC236}">
                <a16:creationId xmlns:a16="http://schemas.microsoft.com/office/drawing/2014/main" id="{0295FCD2-FBD5-1EFB-6B99-A5A5A405356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60115F-7367-9831-CC7F-5F32AB3CDF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MX"/>
          </a:p>
        </p:txBody>
      </p:sp>
      <p:grpSp>
        <p:nvGrpSpPr>
          <p:cNvPr id="5" name="Group 6">
            <a:extLst>
              <a:ext uri="{FF2B5EF4-FFF2-40B4-BE49-F238E27FC236}">
                <a16:creationId xmlns:a16="http://schemas.microsoft.com/office/drawing/2014/main" id="{38C10DA9-B70C-145C-3BF4-E96609F6562A}"/>
              </a:ext>
            </a:extLst>
          </p:cNvPr>
          <p:cNvGrpSpPr/>
          <p:nvPr userDrawn="1"/>
        </p:nvGrpSpPr>
        <p:grpSpPr>
          <a:xfrm>
            <a:off x="838200" y="2184401"/>
            <a:ext cx="10515600" cy="4673600"/>
            <a:chOff x="0" y="0"/>
            <a:chExt cx="4396590" cy="2223088"/>
          </a:xfrm>
        </p:grpSpPr>
        <p:sp>
          <p:nvSpPr>
            <p:cNvPr id="6" name="Freeform 7">
              <a:extLst>
                <a:ext uri="{FF2B5EF4-FFF2-40B4-BE49-F238E27FC236}">
                  <a16:creationId xmlns:a16="http://schemas.microsoft.com/office/drawing/2014/main" id="{670F8A61-A63F-DE51-BC1C-81A4C91CE8F3}"/>
                </a:ext>
              </a:extLst>
            </p:cNvPr>
            <p:cNvSpPr/>
            <p:nvPr/>
          </p:nvSpPr>
          <p:spPr>
            <a:xfrm>
              <a:off x="0" y="0"/>
              <a:ext cx="4396591" cy="2223088"/>
            </a:xfrm>
            <a:custGeom>
              <a:avLst/>
              <a:gdLst/>
              <a:ahLst/>
              <a:cxnLst/>
              <a:rect l="l" t="t" r="r" b="b"/>
              <a:pathLst>
                <a:path w="4396591" h="2223088">
                  <a:moveTo>
                    <a:pt x="13449" y="0"/>
                  </a:moveTo>
                  <a:lnTo>
                    <a:pt x="4383141" y="0"/>
                  </a:lnTo>
                  <a:cubicBezTo>
                    <a:pt x="4390569" y="0"/>
                    <a:pt x="4396591" y="6022"/>
                    <a:pt x="4396591" y="13449"/>
                  </a:cubicBezTo>
                  <a:lnTo>
                    <a:pt x="4396591" y="2209638"/>
                  </a:lnTo>
                  <a:cubicBezTo>
                    <a:pt x="4396591" y="2213205"/>
                    <a:pt x="4395174" y="2216626"/>
                    <a:pt x="4392651" y="2219148"/>
                  </a:cubicBezTo>
                  <a:cubicBezTo>
                    <a:pt x="4390129" y="2221671"/>
                    <a:pt x="4386708" y="2223088"/>
                    <a:pt x="4383141" y="2223088"/>
                  </a:cubicBezTo>
                  <a:lnTo>
                    <a:pt x="13449" y="2223088"/>
                  </a:lnTo>
                  <a:cubicBezTo>
                    <a:pt x="6022" y="2223088"/>
                    <a:pt x="0" y="2217066"/>
                    <a:pt x="0" y="2209638"/>
                  </a:cubicBezTo>
                  <a:lnTo>
                    <a:pt x="0" y="13449"/>
                  </a:lnTo>
                  <a:cubicBezTo>
                    <a:pt x="0" y="6022"/>
                    <a:pt x="6022" y="0"/>
                    <a:pt x="13449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7" name="TextBox 8">
              <a:extLst>
                <a:ext uri="{FF2B5EF4-FFF2-40B4-BE49-F238E27FC236}">
                  <a16:creationId xmlns:a16="http://schemas.microsoft.com/office/drawing/2014/main" id="{6AD497AD-1ADB-DF0F-B24D-811410E7D65A}"/>
                </a:ext>
              </a:extLst>
            </p:cNvPr>
            <p:cNvSpPr txBox="1"/>
            <p:nvPr/>
          </p:nvSpPr>
          <p:spPr>
            <a:xfrm>
              <a:off x="0" y="-38100"/>
              <a:ext cx="4396590" cy="22611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98A29B-4D9A-F0BE-9E0B-F630846942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5267" y="2590800"/>
            <a:ext cx="9863666" cy="35861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0448782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op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2">
            <a:extLst>
              <a:ext uri="{FF2B5EF4-FFF2-40B4-BE49-F238E27FC236}">
                <a16:creationId xmlns:a16="http://schemas.microsoft.com/office/drawing/2014/main" id="{0295FCD2-FBD5-1EFB-6B99-A5A5A405356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60115F-7367-9831-CC7F-5F32AB3CDF6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6307667" cy="1325563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Topic 2</a:t>
            </a:r>
            <a:endParaRPr lang="es-MX"/>
          </a:p>
        </p:txBody>
      </p:sp>
      <p:grpSp>
        <p:nvGrpSpPr>
          <p:cNvPr id="5" name="Group 6">
            <a:extLst>
              <a:ext uri="{FF2B5EF4-FFF2-40B4-BE49-F238E27FC236}">
                <a16:creationId xmlns:a16="http://schemas.microsoft.com/office/drawing/2014/main" id="{38C10DA9-B70C-145C-3BF4-E96609F6562A}"/>
              </a:ext>
            </a:extLst>
          </p:cNvPr>
          <p:cNvGrpSpPr/>
          <p:nvPr userDrawn="1"/>
        </p:nvGrpSpPr>
        <p:grpSpPr>
          <a:xfrm>
            <a:off x="838200" y="2184401"/>
            <a:ext cx="10515600" cy="4673600"/>
            <a:chOff x="0" y="0"/>
            <a:chExt cx="4396590" cy="2223088"/>
          </a:xfrm>
        </p:grpSpPr>
        <p:sp>
          <p:nvSpPr>
            <p:cNvPr id="6" name="Freeform 7">
              <a:extLst>
                <a:ext uri="{FF2B5EF4-FFF2-40B4-BE49-F238E27FC236}">
                  <a16:creationId xmlns:a16="http://schemas.microsoft.com/office/drawing/2014/main" id="{670F8A61-A63F-DE51-BC1C-81A4C91CE8F3}"/>
                </a:ext>
              </a:extLst>
            </p:cNvPr>
            <p:cNvSpPr/>
            <p:nvPr/>
          </p:nvSpPr>
          <p:spPr>
            <a:xfrm>
              <a:off x="0" y="0"/>
              <a:ext cx="4396591" cy="2223088"/>
            </a:xfrm>
            <a:custGeom>
              <a:avLst/>
              <a:gdLst/>
              <a:ahLst/>
              <a:cxnLst/>
              <a:rect l="l" t="t" r="r" b="b"/>
              <a:pathLst>
                <a:path w="4396591" h="2223088">
                  <a:moveTo>
                    <a:pt x="13449" y="0"/>
                  </a:moveTo>
                  <a:lnTo>
                    <a:pt x="4383141" y="0"/>
                  </a:lnTo>
                  <a:cubicBezTo>
                    <a:pt x="4390569" y="0"/>
                    <a:pt x="4396591" y="6022"/>
                    <a:pt x="4396591" y="13449"/>
                  </a:cubicBezTo>
                  <a:lnTo>
                    <a:pt x="4396591" y="2209638"/>
                  </a:lnTo>
                  <a:cubicBezTo>
                    <a:pt x="4396591" y="2213205"/>
                    <a:pt x="4395174" y="2216626"/>
                    <a:pt x="4392651" y="2219148"/>
                  </a:cubicBezTo>
                  <a:cubicBezTo>
                    <a:pt x="4390129" y="2221671"/>
                    <a:pt x="4386708" y="2223088"/>
                    <a:pt x="4383141" y="2223088"/>
                  </a:cubicBezTo>
                  <a:lnTo>
                    <a:pt x="13449" y="2223088"/>
                  </a:lnTo>
                  <a:cubicBezTo>
                    <a:pt x="6022" y="2223088"/>
                    <a:pt x="0" y="2217066"/>
                    <a:pt x="0" y="2209638"/>
                  </a:cubicBezTo>
                  <a:lnTo>
                    <a:pt x="0" y="13449"/>
                  </a:lnTo>
                  <a:cubicBezTo>
                    <a:pt x="0" y="6022"/>
                    <a:pt x="6022" y="0"/>
                    <a:pt x="13449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7" name="TextBox 8">
              <a:extLst>
                <a:ext uri="{FF2B5EF4-FFF2-40B4-BE49-F238E27FC236}">
                  <a16:creationId xmlns:a16="http://schemas.microsoft.com/office/drawing/2014/main" id="{6AD497AD-1ADB-DF0F-B24D-811410E7D65A}"/>
                </a:ext>
              </a:extLst>
            </p:cNvPr>
            <p:cNvSpPr txBox="1"/>
            <p:nvPr/>
          </p:nvSpPr>
          <p:spPr>
            <a:xfrm>
              <a:off x="0" y="-38100"/>
              <a:ext cx="4396590" cy="22611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98A29B-4D9A-F0BE-9E0B-F630846942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5267" y="2590800"/>
            <a:ext cx="9863666" cy="35861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8" name="Freeform 5">
            <a:extLst>
              <a:ext uri="{FF2B5EF4-FFF2-40B4-BE49-F238E27FC236}">
                <a16:creationId xmlns:a16="http://schemas.microsoft.com/office/drawing/2014/main" id="{3DAB7B18-2172-6B5E-E96C-86A5E2B0D6A1}"/>
              </a:ext>
            </a:extLst>
          </p:cNvPr>
          <p:cNvSpPr/>
          <p:nvPr userDrawn="1"/>
        </p:nvSpPr>
        <p:spPr>
          <a:xfrm>
            <a:off x="6096000" y="-5658646"/>
            <a:ext cx="15523832" cy="14165497"/>
          </a:xfrm>
          <a:custGeom>
            <a:avLst/>
            <a:gdLst/>
            <a:ahLst/>
            <a:cxnLst/>
            <a:rect l="l" t="t" r="r" b="b"/>
            <a:pathLst>
              <a:path w="15523832" h="14165497">
                <a:moveTo>
                  <a:pt x="0" y="0"/>
                </a:moveTo>
                <a:lnTo>
                  <a:pt x="15523832" y="0"/>
                </a:lnTo>
                <a:lnTo>
                  <a:pt x="15523832" y="14165497"/>
                </a:lnTo>
                <a:lnTo>
                  <a:pt x="0" y="1416549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31EDC61F-BE19-72DD-112C-956072532F5D}"/>
              </a:ext>
            </a:extLst>
          </p:cNvPr>
          <p:cNvSpPr>
            <a:spLocks noGrp="1"/>
          </p:cNvSpPr>
          <p:nvPr>
            <p:ph type="pic" idx="10"/>
          </p:nvPr>
        </p:nvSpPr>
        <p:spPr>
          <a:xfrm>
            <a:off x="7696201" y="1146176"/>
            <a:ext cx="3657600" cy="2743200"/>
          </a:xfrm>
        </p:spPr>
        <p:txBody>
          <a:bodyPr/>
          <a:lstStyle>
            <a:lvl1pPr marL="0" indent="0">
              <a:buNone/>
              <a:defRPr sz="2133"/>
            </a:lvl1pPr>
            <a:lvl2pPr marL="304815" indent="0">
              <a:buNone/>
              <a:defRPr sz="1867"/>
            </a:lvl2pPr>
            <a:lvl3pPr marL="609630" indent="0">
              <a:buNone/>
              <a:defRPr sz="1600"/>
            </a:lvl3pPr>
            <a:lvl4pPr marL="914446" indent="0">
              <a:buNone/>
              <a:defRPr sz="1333"/>
            </a:lvl4pPr>
            <a:lvl5pPr marL="1219261" indent="0">
              <a:buNone/>
              <a:defRPr sz="1333"/>
            </a:lvl5pPr>
            <a:lvl6pPr marL="1524076" indent="0">
              <a:buNone/>
              <a:defRPr sz="1333"/>
            </a:lvl6pPr>
            <a:lvl7pPr marL="1828891" indent="0">
              <a:buNone/>
              <a:defRPr sz="1333"/>
            </a:lvl7pPr>
            <a:lvl8pPr marL="2133707" indent="0">
              <a:buNone/>
              <a:defRPr sz="1333"/>
            </a:lvl8pPr>
            <a:lvl9pPr marL="2438522" indent="0">
              <a:buNone/>
              <a:defRPr sz="1333"/>
            </a:lvl9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72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optio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B8C4A3-03C4-5E35-EE53-3E35A3DCB1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BA0968-75D8-3240-3B7B-524F6AC960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C30F42-2E61-4F47-872B-F268A27A1A27}" type="slidenum">
              <a:rPr lang="es-MX" smtClean="0"/>
              <a:t>‹#›</a:t>
            </a:fld>
            <a:endParaRPr lang="es-MX"/>
          </a:p>
        </p:txBody>
      </p:sp>
      <p:sp>
        <p:nvSpPr>
          <p:cNvPr id="7" name="Freeform 2">
            <a:extLst>
              <a:ext uri="{FF2B5EF4-FFF2-40B4-BE49-F238E27FC236}">
                <a16:creationId xmlns:a16="http://schemas.microsoft.com/office/drawing/2014/main" id="{329202D2-7400-B85C-E27C-1C43F148CDD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-17887"/>
            <a:ext cx="12192000" cy="6875887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5">
                  <a:lumMod val="20000"/>
                  <a:lumOff val="80000"/>
                </a:schemeClr>
              </a:gs>
            </a:gsLst>
            <a:lin ang="16200000" scaled="1"/>
            <a:tileRect/>
          </a:gradFill>
        </p:spPr>
        <p:txBody>
          <a:bodyPr/>
          <a:lstStyle/>
          <a:p>
            <a:endParaRPr lang="es-MX"/>
          </a:p>
        </p:txBody>
      </p:sp>
      <p:grpSp>
        <p:nvGrpSpPr>
          <p:cNvPr id="15" name="Group 8">
            <a:extLst>
              <a:ext uri="{FF2B5EF4-FFF2-40B4-BE49-F238E27FC236}">
                <a16:creationId xmlns:a16="http://schemas.microsoft.com/office/drawing/2014/main" id="{D19A47D0-0386-C2EB-3688-D5D1F7A0FD96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681027" y="677183"/>
            <a:ext cx="10829946" cy="5485745"/>
            <a:chOff x="0" y="-47625"/>
            <a:chExt cx="4197679" cy="2032576"/>
          </a:xfrm>
        </p:grpSpPr>
        <p:sp>
          <p:nvSpPr>
            <p:cNvPr id="16" name="Freeform 9">
              <a:extLst>
                <a:ext uri="{FF2B5EF4-FFF2-40B4-BE49-F238E27FC236}">
                  <a16:creationId xmlns:a16="http://schemas.microsoft.com/office/drawing/2014/main" id="{0C78AA4D-280D-040C-30AF-540254FEE34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0" y="0"/>
              <a:ext cx="4197679" cy="1984951"/>
            </a:xfrm>
            <a:custGeom>
              <a:avLst/>
              <a:gdLst/>
              <a:ahLst/>
              <a:cxnLst/>
              <a:rect l="l" t="t" r="r" b="b"/>
              <a:pathLst>
                <a:path w="4197679" h="1984951">
                  <a:moveTo>
                    <a:pt x="14087" y="0"/>
                  </a:moveTo>
                  <a:lnTo>
                    <a:pt x="4183592" y="0"/>
                  </a:lnTo>
                  <a:cubicBezTo>
                    <a:pt x="4191372" y="0"/>
                    <a:pt x="4197679" y="6307"/>
                    <a:pt x="4197679" y="14087"/>
                  </a:cubicBezTo>
                  <a:lnTo>
                    <a:pt x="4197679" y="1970864"/>
                  </a:lnTo>
                  <a:cubicBezTo>
                    <a:pt x="4197679" y="1978644"/>
                    <a:pt x="4191372" y="1984951"/>
                    <a:pt x="4183592" y="1984951"/>
                  </a:cubicBezTo>
                  <a:lnTo>
                    <a:pt x="14087" y="1984951"/>
                  </a:lnTo>
                  <a:cubicBezTo>
                    <a:pt x="6307" y="1984951"/>
                    <a:pt x="0" y="1978644"/>
                    <a:pt x="0" y="1970864"/>
                  </a:cubicBezTo>
                  <a:lnTo>
                    <a:pt x="0" y="14087"/>
                  </a:lnTo>
                  <a:cubicBezTo>
                    <a:pt x="0" y="6307"/>
                    <a:pt x="6307" y="0"/>
                    <a:pt x="14087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17" name="TextBox 10">
              <a:extLst>
                <a:ext uri="{FF2B5EF4-FFF2-40B4-BE49-F238E27FC236}">
                  <a16:creationId xmlns:a16="http://schemas.microsoft.com/office/drawing/2014/main" id="{AACC4D65-72F3-882E-0C74-29085F7FAA33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-47625"/>
              <a:ext cx="4197679" cy="203257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8" name="Title 1">
            <a:extLst>
              <a:ext uri="{FF2B5EF4-FFF2-40B4-BE49-F238E27FC236}">
                <a16:creationId xmlns:a16="http://schemas.microsoft.com/office/drawing/2014/main" id="{B81E6FA9-5712-682C-A5FA-B06C89763C5B}"/>
              </a:ext>
            </a:extLst>
          </p:cNvPr>
          <p:cNvSpPr txBox="1">
            <a:spLocks/>
          </p:cNvSpPr>
          <p:nvPr userDrawn="1"/>
        </p:nvSpPr>
        <p:spPr>
          <a:xfrm>
            <a:off x="978147" y="1008156"/>
            <a:ext cx="10235705" cy="7652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s-MX"/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E200846C-D6C9-853D-DB75-4B0B6DF6E2F0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978147" y="1964047"/>
            <a:ext cx="10235705" cy="385255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987ACA83-8A24-CEEC-CFF9-272221E05D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8147" y="1026203"/>
            <a:ext cx="10235705" cy="80648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3532897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- option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8">
            <a:extLst>
              <a:ext uri="{FF2B5EF4-FFF2-40B4-BE49-F238E27FC236}">
                <a16:creationId xmlns:a16="http://schemas.microsoft.com/office/drawing/2014/main" id="{DA6A76C6-C0A4-6790-3061-968E4DAC09D7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838200" y="0"/>
            <a:ext cx="11353800" cy="6858000"/>
            <a:chOff x="0" y="0"/>
            <a:chExt cx="4197679" cy="1984951"/>
          </a:xfrm>
        </p:grpSpPr>
        <p:sp>
          <p:nvSpPr>
            <p:cNvPr id="5" name="Freeform 9">
              <a:extLst>
                <a:ext uri="{FF2B5EF4-FFF2-40B4-BE49-F238E27FC236}">
                  <a16:creationId xmlns:a16="http://schemas.microsoft.com/office/drawing/2014/main" id="{CC5A72BB-BDAC-3A05-54EA-1285727BD27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0"/>
              <a:ext cx="4197679" cy="1984951"/>
            </a:xfrm>
            <a:custGeom>
              <a:avLst/>
              <a:gdLst/>
              <a:ahLst/>
              <a:cxnLst/>
              <a:rect l="l" t="t" r="r" b="b"/>
              <a:pathLst>
                <a:path w="4197679" h="1984951">
                  <a:moveTo>
                    <a:pt x="14087" y="0"/>
                  </a:moveTo>
                  <a:lnTo>
                    <a:pt x="4183592" y="0"/>
                  </a:lnTo>
                  <a:cubicBezTo>
                    <a:pt x="4191372" y="0"/>
                    <a:pt x="4197679" y="6307"/>
                    <a:pt x="4197679" y="14087"/>
                  </a:cubicBezTo>
                  <a:lnTo>
                    <a:pt x="4197679" y="1970864"/>
                  </a:lnTo>
                  <a:cubicBezTo>
                    <a:pt x="4197679" y="1978644"/>
                    <a:pt x="4191372" y="1984951"/>
                    <a:pt x="4183592" y="1984951"/>
                  </a:cubicBezTo>
                  <a:lnTo>
                    <a:pt x="14087" y="1984951"/>
                  </a:lnTo>
                  <a:cubicBezTo>
                    <a:pt x="6307" y="1984951"/>
                    <a:pt x="0" y="1978644"/>
                    <a:pt x="0" y="1970864"/>
                  </a:cubicBezTo>
                  <a:lnTo>
                    <a:pt x="0" y="14087"/>
                  </a:lnTo>
                  <a:cubicBezTo>
                    <a:pt x="0" y="6307"/>
                    <a:pt x="6307" y="0"/>
                    <a:pt x="14087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6" name="TextBox 10">
              <a:extLst>
                <a:ext uri="{FF2B5EF4-FFF2-40B4-BE49-F238E27FC236}">
                  <a16:creationId xmlns:a16="http://schemas.microsoft.com/office/drawing/2014/main" id="{28219582-B644-88FC-10E4-1824D5EB8D02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-47625"/>
              <a:ext cx="4197679" cy="203257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060115F-7367-9831-CC7F-5F32AB3CDF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9416" y="458258"/>
            <a:ext cx="1091398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98A29B-4D9A-F0BE-9E0B-F630846942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9416" y="1918758"/>
            <a:ext cx="1091398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10" name="Freeform 4">
            <a:extLst>
              <a:ext uri="{FF2B5EF4-FFF2-40B4-BE49-F238E27FC236}">
                <a16:creationId xmlns:a16="http://schemas.microsoft.com/office/drawing/2014/main" id="{60832C5C-8902-D453-4845-67C132625F5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-77002" y="-29333"/>
            <a:ext cx="915202" cy="6887333"/>
          </a:xfrm>
          <a:custGeom>
            <a:avLst/>
            <a:gdLst/>
            <a:ahLst/>
            <a:cxnLst/>
            <a:rect l="l" t="t" r="r" b="b"/>
            <a:pathLst>
              <a:path w="1028700" h="10287000">
                <a:moveTo>
                  <a:pt x="0" y="0"/>
                </a:moveTo>
                <a:lnTo>
                  <a:pt x="1028700" y="0"/>
                </a:lnTo>
                <a:lnTo>
                  <a:pt x="10287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6">
                  <a:lumMod val="67000"/>
                </a:schemeClr>
              </a:gs>
              <a:gs pos="47000">
                <a:schemeClr val="accent6">
                  <a:lumMod val="97000"/>
                  <a:lumOff val="3000"/>
                </a:schemeClr>
              </a:gs>
              <a:gs pos="100000">
                <a:schemeClr val="accent5">
                  <a:lumMod val="20000"/>
                  <a:lumOff val="80000"/>
                </a:schemeClr>
              </a:gs>
            </a:gsLst>
            <a:lin ang="16200000" scaled="1"/>
          </a:gradFill>
        </p:spPr>
        <p:txBody>
          <a:bodyPr/>
          <a:lstStyle/>
          <a:p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9508623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option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8">
            <a:extLst>
              <a:ext uri="{FF2B5EF4-FFF2-40B4-BE49-F238E27FC236}">
                <a16:creationId xmlns:a16="http://schemas.microsoft.com/office/drawing/2014/main" id="{DA6A76C6-C0A4-6790-3061-968E4DAC09D7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838200" y="0"/>
            <a:ext cx="11353800" cy="6858000"/>
            <a:chOff x="0" y="0"/>
            <a:chExt cx="4197679" cy="1984951"/>
          </a:xfrm>
        </p:grpSpPr>
        <p:sp>
          <p:nvSpPr>
            <p:cNvPr id="5" name="Freeform 9">
              <a:extLst>
                <a:ext uri="{FF2B5EF4-FFF2-40B4-BE49-F238E27FC236}">
                  <a16:creationId xmlns:a16="http://schemas.microsoft.com/office/drawing/2014/main" id="{CC5A72BB-BDAC-3A05-54EA-1285727BD27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0"/>
              <a:ext cx="4197679" cy="1984951"/>
            </a:xfrm>
            <a:custGeom>
              <a:avLst/>
              <a:gdLst/>
              <a:ahLst/>
              <a:cxnLst/>
              <a:rect l="l" t="t" r="r" b="b"/>
              <a:pathLst>
                <a:path w="4197679" h="1984951">
                  <a:moveTo>
                    <a:pt x="14087" y="0"/>
                  </a:moveTo>
                  <a:lnTo>
                    <a:pt x="4183592" y="0"/>
                  </a:lnTo>
                  <a:cubicBezTo>
                    <a:pt x="4191372" y="0"/>
                    <a:pt x="4197679" y="6307"/>
                    <a:pt x="4197679" y="14087"/>
                  </a:cubicBezTo>
                  <a:lnTo>
                    <a:pt x="4197679" y="1970864"/>
                  </a:lnTo>
                  <a:cubicBezTo>
                    <a:pt x="4197679" y="1978644"/>
                    <a:pt x="4191372" y="1984951"/>
                    <a:pt x="4183592" y="1984951"/>
                  </a:cubicBezTo>
                  <a:lnTo>
                    <a:pt x="14087" y="1984951"/>
                  </a:lnTo>
                  <a:cubicBezTo>
                    <a:pt x="6307" y="1984951"/>
                    <a:pt x="0" y="1978644"/>
                    <a:pt x="0" y="1970864"/>
                  </a:cubicBezTo>
                  <a:lnTo>
                    <a:pt x="0" y="14087"/>
                  </a:lnTo>
                  <a:cubicBezTo>
                    <a:pt x="0" y="6307"/>
                    <a:pt x="6307" y="0"/>
                    <a:pt x="14087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6" name="TextBox 10">
              <a:extLst>
                <a:ext uri="{FF2B5EF4-FFF2-40B4-BE49-F238E27FC236}">
                  <a16:creationId xmlns:a16="http://schemas.microsoft.com/office/drawing/2014/main" id="{28219582-B644-88FC-10E4-1824D5EB8D02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-47625"/>
              <a:ext cx="4197679" cy="203257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060115F-7367-9831-CC7F-5F32AB3CDF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8109" y="3877577"/>
            <a:ext cx="10913982" cy="7635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98A29B-4D9A-F0BE-9E0B-F630846942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9416" y="4766731"/>
            <a:ext cx="10913980" cy="16388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0" name="Freeform 4">
            <a:extLst>
              <a:ext uri="{FF2B5EF4-FFF2-40B4-BE49-F238E27FC236}">
                <a16:creationId xmlns:a16="http://schemas.microsoft.com/office/drawing/2014/main" id="{60832C5C-8902-D453-4845-67C132625F5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-77002" y="-29333"/>
            <a:ext cx="915202" cy="6887333"/>
          </a:xfrm>
          <a:custGeom>
            <a:avLst/>
            <a:gdLst/>
            <a:ahLst/>
            <a:cxnLst/>
            <a:rect l="l" t="t" r="r" b="b"/>
            <a:pathLst>
              <a:path w="1028700" h="10287000">
                <a:moveTo>
                  <a:pt x="0" y="0"/>
                </a:moveTo>
                <a:lnTo>
                  <a:pt x="1028700" y="0"/>
                </a:lnTo>
                <a:lnTo>
                  <a:pt x="10287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64285" r="-664285"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14" name="Group 5">
            <a:extLst>
              <a:ext uri="{FF2B5EF4-FFF2-40B4-BE49-F238E27FC236}">
                <a16:creationId xmlns:a16="http://schemas.microsoft.com/office/drawing/2014/main" id="{96685936-0169-34D6-D524-77DA27F95E5C}"/>
              </a:ext>
            </a:extLst>
          </p:cNvPr>
          <p:cNvGrpSpPr/>
          <p:nvPr userDrawn="1"/>
        </p:nvGrpSpPr>
        <p:grpSpPr>
          <a:xfrm>
            <a:off x="276434" y="-29334"/>
            <a:ext cx="576580" cy="6858001"/>
            <a:chOff x="0" y="0"/>
            <a:chExt cx="923323" cy="13716000"/>
          </a:xfrm>
        </p:grpSpPr>
        <p:sp>
          <p:nvSpPr>
            <p:cNvPr id="15" name="AutoShape 6">
              <a:extLst>
                <a:ext uri="{FF2B5EF4-FFF2-40B4-BE49-F238E27FC236}">
                  <a16:creationId xmlns:a16="http://schemas.microsoft.com/office/drawing/2014/main" id="{4BBEC499-967A-9B2E-663D-537ACDDA5F8D}"/>
                </a:ext>
              </a:extLst>
            </p:cNvPr>
            <p:cNvSpPr/>
            <p:nvPr/>
          </p:nvSpPr>
          <p:spPr>
            <a:xfrm rot="-5400000">
              <a:off x="-5941027" y="6851650"/>
              <a:ext cx="13716000" cy="0"/>
            </a:xfrm>
            <a:prstGeom prst="line">
              <a:avLst/>
            </a:prstGeom>
            <a:ln w="12700" cap="rnd">
              <a:solidFill>
                <a:srgbClr val="121212">
                  <a:alpha val="26667"/>
                </a:srgb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16" name="Freeform 7">
              <a:extLst>
                <a:ext uri="{FF2B5EF4-FFF2-40B4-BE49-F238E27FC236}">
                  <a16:creationId xmlns:a16="http://schemas.microsoft.com/office/drawing/2014/main" id="{AC43B49D-943A-E1AC-A2BF-FB8BA8DA7140}"/>
                </a:ext>
              </a:extLst>
            </p:cNvPr>
            <p:cNvSpPr/>
            <p:nvPr/>
          </p:nvSpPr>
          <p:spPr>
            <a:xfrm>
              <a:off x="0" y="6724554"/>
              <a:ext cx="400588" cy="266892"/>
            </a:xfrm>
            <a:custGeom>
              <a:avLst/>
              <a:gdLst/>
              <a:ahLst/>
              <a:cxnLst/>
              <a:rect l="l" t="t" r="r" b="b"/>
              <a:pathLst>
                <a:path w="400588" h="266892">
                  <a:moveTo>
                    <a:pt x="0" y="0"/>
                  </a:moveTo>
                  <a:lnTo>
                    <a:pt x="400588" y="0"/>
                  </a:lnTo>
                  <a:lnTo>
                    <a:pt x="400588" y="266892"/>
                  </a:lnTo>
                  <a:lnTo>
                    <a:pt x="0" y="2668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MX"/>
            </a:p>
          </p:txBody>
        </p:sp>
      </p:grpSp>
      <p:sp>
        <p:nvSpPr>
          <p:cNvPr id="7" name="AutoShape 8">
            <a:extLst>
              <a:ext uri="{FF2B5EF4-FFF2-40B4-BE49-F238E27FC236}">
                <a16:creationId xmlns:a16="http://schemas.microsoft.com/office/drawing/2014/main" id="{5B0F7F05-AE44-780B-B6D3-1C7601CBDAFE}"/>
              </a:ext>
            </a:extLst>
          </p:cNvPr>
          <p:cNvSpPr/>
          <p:nvPr userDrawn="1"/>
        </p:nvSpPr>
        <p:spPr>
          <a:xfrm>
            <a:off x="861483" y="3455987"/>
            <a:ext cx="11330517" cy="4763"/>
          </a:xfrm>
          <a:prstGeom prst="line">
            <a:avLst/>
          </a:prstGeom>
          <a:ln w="9525" cap="rnd">
            <a:solidFill>
              <a:srgbClr val="121212">
                <a:alpha val="26667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MX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0ABC146F-477C-6739-48C0-131FE8CF8B74}"/>
              </a:ext>
            </a:extLst>
          </p:cNvPr>
          <p:cNvSpPr txBox="1">
            <a:spLocks/>
          </p:cNvSpPr>
          <p:nvPr userDrawn="1"/>
        </p:nvSpPr>
        <p:spPr>
          <a:xfrm>
            <a:off x="1066804" y="495445"/>
            <a:ext cx="10913982" cy="7635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s-MX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B9CD599-72CC-2EDA-9D9B-CA67650500D9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1058111" y="1462165"/>
            <a:ext cx="10913980" cy="16388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BC9B0F46-90AA-AF3A-87DF-2BCBB2898C3E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1066806" y="389568"/>
            <a:ext cx="10913980" cy="936770"/>
          </a:xfrm>
        </p:spPr>
        <p:txBody>
          <a:bodyPr>
            <a:normAutofit/>
          </a:bodyPr>
          <a:lstStyle>
            <a:lvl1pPr>
              <a:defRPr sz="4400">
                <a:latin typeface="Aptos Display (Headings)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33888349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!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CFAE02A-0F3D-772B-AE13-4C3242EB02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94684-00AF-422F-9E70-484377D91052}" type="datetimeFigureOut">
              <a:rPr lang="es-MX" smtClean="0"/>
              <a:t>03/03/26</a:t>
            </a:fld>
            <a:endParaRPr lang="es-MX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F842665-4ED8-5551-CD4E-445F4C4D9A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AEBB6C-0AEE-790B-DA43-889582BD0C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C30F42-2E61-4F47-872B-F268A27A1A27}" type="slidenum">
              <a:rPr lang="es-MX" smtClean="0"/>
              <a:t>‹#›</a:t>
            </a:fld>
            <a:endParaRPr lang="es-MX"/>
          </a:p>
        </p:txBody>
      </p:sp>
      <p:sp>
        <p:nvSpPr>
          <p:cNvPr id="5" name="Freeform 2">
            <a:extLst>
              <a:ext uri="{FF2B5EF4-FFF2-40B4-BE49-F238E27FC236}">
                <a16:creationId xmlns:a16="http://schemas.microsoft.com/office/drawing/2014/main" id="{74405D5D-B20D-5EDC-B7DF-DA29FEB96AA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-1" y="0"/>
            <a:ext cx="12276667" cy="6858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75638" b="-75638"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8A1B2258-EEDF-F0FE-1595-6FF5A9003C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2766218"/>
            <a:ext cx="10515600" cy="1325563"/>
          </a:xfrm>
        </p:spPr>
        <p:txBody>
          <a:bodyPr>
            <a:normAutofit/>
          </a:bodyPr>
          <a:lstStyle>
            <a:lvl1pPr>
              <a:defRPr sz="7200">
                <a:solidFill>
                  <a:schemeClr val="bg1"/>
                </a:solidFill>
              </a:defRPr>
            </a:lvl1pPr>
          </a:lstStyle>
          <a:p>
            <a:r>
              <a:rPr lang="en-US"/>
              <a:t>Thank you!</a:t>
            </a:r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8380861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60115F-7367-9831-CC7F-5F32AB3CDF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98A29B-4D9A-F0BE-9E0B-F630846942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8302472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A6E44D-AF4D-B0D0-2D38-17BF590B43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73F104-8DDE-A1E6-0719-100ACF2087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F69DBC-2956-8F47-4E6B-2E507E2D94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94684-00AF-422F-9E70-484377D91052}" type="datetimeFigureOut">
              <a:rPr lang="es-MX" smtClean="0"/>
              <a:t>03/03/26</a:t>
            </a:fld>
            <a:endParaRPr lang="es-MX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B8C4A3-03C4-5E35-EE53-3E35A3DCB1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BA0968-75D8-3240-3B7B-524F6AC960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C30F42-2E61-4F47-872B-F268A27A1A27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9699020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A52D45-3A83-AEA7-3C98-A922D9D6F5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48A29E-D909-EBD3-F645-D91D5C2795C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2DD2051-1577-C401-CF83-F5F6F0F171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602E4E-CF91-9091-E3E4-1849EDA110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94684-00AF-422F-9E70-484377D91052}" type="datetimeFigureOut">
              <a:rPr lang="es-MX" smtClean="0"/>
              <a:t>03/03/26</a:t>
            </a:fld>
            <a:endParaRPr lang="es-MX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E6E776-C01B-C144-3A80-F16152D5D1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D032A7-C620-28FF-7E02-0504302A83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C30F42-2E61-4F47-872B-F268A27A1A27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43954933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36243B-4CE5-2C2B-3D4A-4310222E38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CAB730-BF81-A82B-31EA-B887DDDB3D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F1F2ED-813E-436A-FA87-DF185BDDCD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2EA6617-C184-23FC-1604-80399909F97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32FA727-B2C2-C624-CD3A-67F966E3E5C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7406E74-28DE-A028-1DF0-5CA3D35F8E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94684-00AF-422F-9E70-484377D91052}" type="datetimeFigureOut">
              <a:rPr lang="es-MX" smtClean="0"/>
              <a:t>03/03/26</a:t>
            </a:fld>
            <a:endParaRPr lang="es-MX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69A0C9B-9D47-2AC8-32D1-29D486BB45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6D3F9C2-F47A-949C-50EB-A6E0CCCBA9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C30F42-2E61-4F47-872B-F268A27A1A27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55477257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EACA44-E74A-143E-0F9D-CF483D8B31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95C20D3-4F4E-8DC2-34B5-EFF7681D47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94684-00AF-422F-9E70-484377D91052}" type="datetimeFigureOut">
              <a:rPr lang="es-MX" smtClean="0"/>
              <a:t>03/03/26</a:t>
            </a:fld>
            <a:endParaRPr lang="es-MX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DFBE658-2B11-6008-C727-3F41C4B904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5909BDF-639D-E898-ED35-F9155D5B39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C30F42-2E61-4F47-872B-F268A27A1A27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5092851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9890D4-0A29-C023-D79F-0EB1869358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A370AF-B029-62A6-6D49-5CC9FBFF76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91DC73-01B7-2007-BF88-0F021A28E4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4DF19B-1A42-1962-C23A-450FDDF67C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94684-00AF-422F-9E70-484377D91052}" type="datetimeFigureOut">
              <a:rPr lang="es-MX" smtClean="0"/>
              <a:t>03/03/26</a:t>
            </a:fld>
            <a:endParaRPr lang="es-MX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6EAFA9-490E-0AAA-E440-69610B8AC9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D818C8-0054-0E70-D43A-429F259C79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C30F42-2E61-4F47-872B-F268A27A1A27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3622892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3F2F8C-D5D9-76D4-64EA-223A757BB0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E73DEF9-6A1B-863A-2C3A-AC7C336563F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62EE354-7F91-C959-7DEB-A6D1172E58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424381-4A22-1980-7BA8-6E4052F1EA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94684-00AF-422F-9E70-484377D91052}" type="datetimeFigureOut">
              <a:rPr lang="es-MX" smtClean="0"/>
              <a:t>03/03/26</a:t>
            </a:fld>
            <a:endParaRPr lang="es-MX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704551-DD7B-01B9-0EBE-60F2387CF1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8959E7-B985-AF19-1695-41D3383E30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C30F42-2E61-4F47-872B-F268A27A1A27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18780288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E741D8-C192-BE6C-99B4-FD11C0C111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542917-210D-567F-2CB7-C194B4504A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D45793-45A5-5204-0F61-DD574294D6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94684-00AF-422F-9E70-484377D91052}" type="datetimeFigureOut">
              <a:rPr lang="es-MX" smtClean="0"/>
              <a:t>03/03/26</a:t>
            </a:fld>
            <a:endParaRPr lang="es-MX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F61B22-5D74-A27A-395B-C4746AF5EF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39BF5D-DD6D-6E5B-A417-DD07F5D81A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C30F42-2E61-4F47-872B-F268A27A1A27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47062907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99B1E22-1FE5-FEA0-ABED-031BE49EA29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92F47FB-61AC-82AB-54E7-E333D1BABA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D4106A-9714-F515-A1EF-BAE67E2E03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94684-00AF-422F-9E70-484377D91052}" type="datetimeFigureOut">
              <a:rPr lang="es-MX" smtClean="0"/>
              <a:t>03/03/26</a:t>
            </a:fld>
            <a:endParaRPr lang="es-MX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4850FC-F9C7-4384-87D7-4CE6498E8A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8133DE-7937-C763-59A1-AC55CDAD41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C30F42-2E61-4F47-872B-F268A27A1A27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88895055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420283"/>
            <a:ext cx="5181600" cy="98001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2590800"/>
            <a:ext cx="4267200" cy="11684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048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096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91444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2192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5240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8288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13370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43852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768484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78380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1542" y="2937934"/>
            <a:ext cx="5181600" cy="908050"/>
          </a:xfrm>
        </p:spPr>
        <p:txBody>
          <a:bodyPr anchor="t"/>
          <a:lstStyle>
            <a:lvl1pPr algn="l">
              <a:defRPr sz="2667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1542" y="1937809"/>
            <a:ext cx="5181600" cy="1000125"/>
          </a:xfrm>
        </p:spPr>
        <p:txBody>
          <a:bodyPr anchor="b"/>
          <a:lstStyle>
            <a:lvl1pPr marL="0" indent="0">
              <a:buNone/>
              <a:defRPr sz="1333">
                <a:solidFill>
                  <a:schemeClr val="tx1">
                    <a:tint val="75000"/>
                  </a:schemeClr>
                </a:solidFill>
              </a:defRPr>
            </a:lvl1pPr>
            <a:lvl2pPr marL="30481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2pPr>
            <a:lvl3pPr marL="609630" indent="0">
              <a:buNone/>
              <a:defRPr sz="1067">
                <a:solidFill>
                  <a:schemeClr val="tx1">
                    <a:tint val="75000"/>
                  </a:schemeClr>
                </a:solidFill>
              </a:defRPr>
            </a:lvl3pPr>
            <a:lvl4pPr marL="914446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4pPr>
            <a:lvl5pPr marL="1219261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5pPr>
            <a:lvl6pPr marL="1524076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6pPr>
            <a:lvl7pPr marL="1828891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7pPr>
            <a:lvl8pPr marL="2133707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8pPr>
            <a:lvl9pPr marL="2438522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31635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4800" y="1066800"/>
            <a:ext cx="2692400" cy="3017309"/>
          </a:xfrm>
        </p:spPr>
        <p:txBody>
          <a:bodyPr/>
          <a:lstStyle>
            <a:lvl1pPr>
              <a:defRPr sz="1867"/>
            </a:lvl1pPr>
            <a:lvl2pPr>
              <a:defRPr sz="1600"/>
            </a:lvl2pPr>
            <a:lvl3pPr>
              <a:defRPr sz="1333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98800" y="1066800"/>
            <a:ext cx="2692400" cy="3017309"/>
          </a:xfrm>
        </p:spPr>
        <p:txBody>
          <a:bodyPr/>
          <a:lstStyle>
            <a:lvl1pPr>
              <a:defRPr sz="1867"/>
            </a:lvl1pPr>
            <a:lvl2pPr>
              <a:defRPr sz="1600"/>
            </a:lvl2pPr>
            <a:lvl3pPr>
              <a:defRPr sz="1333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388614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023409"/>
            <a:ext cx="2693459" cy="426508"/>
          </a:xfrm>
        </p:spPr>
        <p:txBody>
          <a:bodyPr anchor="b"/>
          <a:lstStyle>
            <a:lvl1pPr marL="0" indent="0">
              <a:buNone/>
              <a:defRPr sz="1600" b="1"/>
            </a:lvl1pPr>
            <a:lvl2pPr marL="304815" indent="0">
              <a:buNone/>
              <a:defRPr sz="1333" b="1"/>
            </a:lvl2pPr>
            <a:lvl3pPr marL="609630" indent="0">
              <a:buNone/>
              <a:defRPr sz="1200" b="1"/>
            </a:lvl3pPr>
            <a:lvl4pPr marL="914446" indent="0">
              <a:buNone/>
              <a:defRPr sz="1067" b="1"/>
            </a:lvl4pPr>
            <a:lvl5pPr marL="1219261" indent="0">
              <a:buNone/>
              <a:defRPr sz="1067" b="1"/>
            </a:lvl5pPr>
            <a:lvl6pPr marL="1524076" indent="0">
              <a:buNone/>
              <a:defRPr sz="1067" b="1"/>
            </a:lvl6pPr>
            <a:lvl7pPr marL="1828891" indent="0">
              <a:buNone/>
              <a:defRPr sz="1067" b="1"/>
            </a:lvl7pPr>
            <a:lvl8pPr marL="2133707" indent="0">
              <a:buNone/>
              <a:defRPr sz="1067" b="1"/>
            </a:lvl8pPr>
            <a:lvl9pPr marL="2438522" indent="0">
              <a:buNone/>
              <a:defRPr sz="106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4800" y="1449917"/>
            <a:ext cx="2693459" cy="2634192"/>
          </a:xfrm>
        </p:spPr>
        <p:txBody>
          <a:bodyPr/>
          <a:lstStyle>
            <a:lvl1pPr>
              <a:defRPr sz="1600"/>
            </a:lvl1pPr>
            <a:lvl2pPr>
              <a:defRPr sz="1333"/>
            </a:lvl2pPr>
            <a:lvl3pPr>
              <a:defRPr sz="1200"/>
            </a:lvl3pPr>
            <a:lvl4pPr>
              <a:defRPr sz="1067"/>
            </a:lvl4pPr>
            <a:lvl5pPr>
              <a:defRPr sz="1067"/>
            </a:lvl5pPr>
            <a:lvl6pPr>
              <a:defRPr sz="1067"/>
            </a:lvl6pPr>
            <a:lvl7pPr>
              <a:defRPr sz="1067"/>
            </a:lvl7pPr>
            <a:lvl8pPr>
              <a:defRPr sz="1067"/>
            </a:lvl8pPr>
            <a:lvl9pPr>
              <a:defRPr sz="10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096684" y="1023409"/>
            <a:ext cx="2694517" cy="426508"/>
          </a:xfrm>
        </p:spPr>
        <p:txBody>
          <a:bodyPr anchor="b"/>
          <a:lstStyle>
            <a:lvl1pPr marL="0" indent="0">
              <a:buNone/>
              <a:defRPr sz="1600" b="1"/>
            </a:lvl1pPr>
            <a:lvl2pPr marL="304815" indent="0">
              <a:buNone/>
              <a:defRPr sz="1333" b="1"/>
            </a:lvl2pPr>
            <a:lvl3pPr marL="609630" indent="0">
              <a:buNone/>
              <a:defRPr sz="1200" b="1"/>
            </a:lvl3pPr>
            <a:lvl4pPr marL="914446" indent="0">
              <a:buNone/>
              <a:defRPr sz="1067" b="1"/>
            </a:lvl4pPr>
            <a:lvl5pPr marL="1219261" indent="0">
              <a:buNone/>
              <a:defRPr sz="1067" b="1"/>
            </a:lvl5pPr>
            <a:lvl6pPr marL="1524076" indent="0">
              <a:buNone/>
              <a:defRPr sz="1067" b="1"/>
            </a:lvl6pPr>
            <a:lvl7pPr marL="1828891" indent="0">
              <a:buNone/>
              <a:defRPr sz="1067" b="1"/>
            </a:lvl7pPr>
            <a:lvl8pPr marL="2133707" indent="0">
              <a:buNone/>
              <a:defRPr sz="1067" b="1"/>
            </a:lvl8pPr>
            <a:lvl9pPr marL="2438522" indent="0">
              <a:buNone/>
              <a:defRPr sz="106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096684" y="1449917"/>
            <a:ext cx="2694517" cy="2634192"/>
          </a:xfrm>
        </p:spPr>
        <p:txBody>
          <a:bodyPr/>
          <a:lstStyle>
            <a:lvl1pPr>
              <a:defRPr sz="1600"/>
            </a:lvl1pPr>
            <a:lvl2pPr>
              <a:defRPr sz="1333"/>
            </a:lvl2pPr>
            <a:lvl3pPr>
              <a:defRPr sz="1200"/>
            </a:lvl3pPr>
            <a:lvl4pPr>
              <a:defRPr sz="1067"/>
            </a:lvl4pPr>
            <a:lvl5pPr>
              <a:defRPr sz="1067"/>
            </a:lvl5pPr>
            <a:lvl6pPr>
              <a:defRPr sz="1067"/>
            </a:lvl6pPr>
            <a:lvl7pPr>
              <a:defRPr sz="1067"/>
            </a:lvl7pPr>
            <a:lvl8pPr>
              <a:defRPr sz="1067"/>
            </a:lvl8pPr>
            <a:lvl9pPr>
              <a:defRPr sz="10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472004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321034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70746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182033"/>
            <a:ext cx="2005542" cy="774700"/>
          </a:xfrm>
        </p:spPr>
        <p:txBody>
          <a:bodyPr anchor="b"/>
          <a:lstStyle>
            <a:lvl1pPr algn="l">
              <a:defRPr sz="1333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83367" y="182034"/>
            <a:ext cx="3407833" cy="3902075"/>
          </a:xfrm>
        </p:spPr>
        <p:txBody>
          <a:bodyPr/>
          <a:lstStyle>
            <a:lvl1pPr>
              <a:defRPr sz="2133"/>
            </a:lvl1pPr>
            <a:lvl2pPr>
              <a:defRPr sz="1867"/>
            </a:lvl2pPr>
            <a:lvl3pPr>
              <a:defRPr sz="1600"/>
            </a:lvl3pPr>
            <a:lvl4pPr>
              <a:defRPr sz="1333"/>
            </a:lvl4pPr>
            <a:lvl5pPr>
              <a:defRPr sz="1333"/>
            </a:lvl5pPr>
            <a:lvl6pPr>
              <a:defRPr sz="1333"/>
            </a:lvl6pPr>
            <a:lvl7pPr>
              <a:defRPr sz="1333"/>
            </a:lvl7pPr>
            <a:lvl8pPr>
              <a:defRPr sz="1333"/>
            </a:lvl8pPr>
            <a:lvl9pPr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4800" y="956734"/>
            <a:ext cx="2005542" cy="3127375"/>
          </a:xfrm>
        </p:spPr>
        <p:txBody>
          <a:bodyPr/>
          <a:lstStyle>
            <a:lvl1pPr marL="0" indent="0">
              <a:buNone/>
              <a:defRPr sz="933"/>
            </a:lvl1pPr>
            <a:lvl2pPr marL="304815" indent="0">
              <a:buNone/>
              <a:defRPr sz="800"/>
            </a:lvl2pPr>
            <a:lvl3pPr marL="609630" indent="0">
              <a:buNone/>
              <a:defRPr sz="667"/>
            </a:lvl3pPr>
            <a:lvl4pPr marL="914446" indent="0">
              <a:buNone/>
              <a:defRPr sz="600"/>
            </a:lvl4pPr>
            <a:lvl5pPr marL="1219261" indent="0">
              <a:buNone/>
              <a:defRPr sz="600"/>
            </a:lvl5pPr>
            <a:lvl6pPr marL="1524076" indent="0">
              <a:buNone/>
              <a:defRPr sz="600"/>
            </a:lvl6pPr>
            <a:lvl7pPr marL="1828891" indent="0">
              <a:buNone/>
              <a:defRPr sz="600"/>
            </a:lvl7pPr>
            <a:lvl8pPr marL="2133707" indent="0">
              <a:buNone/>
              <a:defRPr sz="600"/>
            </a:lvl8pPr>
            <a:lvl9pPr marL="2438522" indent="0">
              <a:buNone/>
              <a:defRPr sz="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754271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4859" y="3200400"/>
            <a:ext cx="3657600" cy="377825"/>
          </a:xfrm>
        </p:spPr>
        <p:txBody>
          <a:bodyPr anchor="b"/>
          <a:lstStyle>
            <a:lvl1pPr algn="l">
              <a:defRPr sz="1333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194859" y="408517"/>
            <a:ext cx="3657600" cy="2743200"/>
          </a:xfrm>
        </p:spPr>
        <p:txBody>
          <a:bodyPr/>
          <a:lstStyle>
            <a:lvl1pPr marL="0" indent="0">
              <a:buNone/>
              <a:defRPr sz="2133"/>
            </a:lvl1pPr>
            <a:lvl2pPr marL="304815" indent="0">
              <a:buNone/>
              <a:defRPr sz="1867"/>
            </a:lvl2pPr>
            <a:lvl3pPr marL="609630" indent="0">
              <a:buNone/>
              <a:defRPr sz="1600"/>
            </a:lvl3pPr>
            <a:lvl4pPr marL="914446" indent="0">
              <a:buNone/>
              <a:defRPr sz="1333"/>
            </a:lvl4pPr>
            <a:lvl5pPr marL="1219261" indent="0">
              <a:buNone/>
              <a:defRPr sz="1333"/>
            </a:lvl5pPr>
            <a:lvl6pPr marL="1524076" indent="0">
              <a:buNone/>
              <a:defRPr sz="1333"/>
            </a:lvl6pPr>
            <a:lvl7pPr marL="1828891" indent="0">
              <a:buNone/>
              <a:defRPr sz="1333"/>
            </a:lvl7pPr>
            <a:lvl8pPr marL="2133707" indent="0">
              <a:buNone/>
              <a:defRPr sz="1333"/>
            </a:lvl8pPr>
            <a:lvl9pPr marL="2438522" indent="0">
              <a:buNone/>
              <a:defRPr sz="1333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94859" y="3578225"/>
            <a:ext cx="3657600" cy="536575"/>
          </a:xfrm>
        </p:spPr>
        <p:txBody>
          <a:bodyPr/>
          <a:lstStyle>
            <a:lvl1pPr marL="0" indent="0">
              <a:buNone/>
              <a:defRPr sz="933"/>
            </a:lvl1pPr>
            <a:lvl2pPr marL="304815" indent="0">
              <a:buNone/>
              <a:defRPr sz="800"/>
            </a:lvl2pPr>
            <a:lvl3pPr marL="609630" indent="0">
              <a:buNone/>
              <a:defRPr sz="667"/>
            </a:lvl3pPr>
            <a:lvl4pPr marL="914446" indent="0">
              <a:buNone/>
              <a:defRPr sz="600"/>
            </a:lvl4pPr>
            <a:lvl5pPr marL="1219261" indent="0">
              <a:buNone/>
              <a:defRPr sz="600"/>
            </a:lvl5pPr>
            <a:lvl6pPr marL="1524076" indent="0">
              <a:buNone/>
              <a:defRPr sz="600"/>
            </a:lvl6pPr>
            <a:lvl7pPr marL="1828891" indent="0">
              <a:buNone/>
              <a:defRPr sz="600"/>
            </a:lvl7pPr>
            <a:lvl8pPr marL="2133707" indent="0">
              <a:buNone/>
              <a:defRPr sz="600"/>
            </a:lvl8pPr>
            <a:lvl9pPr marL="2438522" indent="0">
              <a:buNone/>
              <a:defRPr sz="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227317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38825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419600" y="183092"/>
            <a:ext cx="1371600" cy="390101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4800" y="183092"/>
            <a:ext cx="4013200" cy="39010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44129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7.xml"/><Relationship Id="rId3" Type="http://schemas.openxmlformats.org/officeDocument/2006/relationships/slideLayout" Target="../slideLayouts/slideLayout22.xml"/><Relationship Id="rId7" Type="http://schemas.openxmlformats.org/officeDocument/2006/relationships/slideLayout" Target="../slideLayouts/slideLayout26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21.xml"/><Relationship Id="rId1" Type="http://schemas.openxmlformats.org/officeDocument/2006/relationships/slideLayout" Target="../slideLayouts/slideLayout20.xml"/><Relationship Id="rId6" Type="http://schemas.openxmlformats.org/officeDocument/2006/relationships/slideLayout" Target="../slideLayouts/slideLayout25.xml"/><Relationship Id="rId11" Type="http://schemas.openxmlformats.org/officeDocument/2006/relationships/slideLayout" Target="../slideLayouts/slideLayout30.xml"/><Relationship Id="rId5" Type="http://schemas.openxmlformats.org/officeDocument/2006/relationships/slideLayout" Target="../slideLayouts/slideLayout24.xml"/><Relationship Id="rId10" Type="http://schemas.openxmlformats.org/officeDocument/2006/relationships/slideLayout" Target="../slideLayouts/slideLayout29.xml"/><Relationship Id="rId4" Type="http://schemas.openxmlformats.org/officeDocument/2006/relationships/slideLayout" Target="../slideLayouts/slideLayout23.xml"/><Relationship Id="rId9" Type="http://schemas.openxmlformats.org/officeDocument/2006/relationships/slideLayout" Target="../slideLayouts/slideLayout2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C011B5D-82C1-6F6D-D8BA-6C10531954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09B62F-7E8A-D6CF-D5AB-E82D2B53D1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E53780-EE84-6AB5-4311-157708D6A5F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6894684-00AF-422F-9E70-484377D91052}" type="datetimeFigureOut">
              <a:rPr lang="es-MX" smtClean="0"/>
              <a:t>03/03/26</a:t>
            </a:fld>
            <a:endParaRPr lang="es-MX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0A6702-23AF-355E-E6EF-D39091A582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22D74D-5BAE-5E6C-D834-ABB626BE9E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FC30F42-2E61-4F47-872B-F268A27A1A27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7903758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84" r:id="rId2"/>
    <p:sldLayoutId id="2147483674" r:id="rId3"/>
    <p:sldLayoutId id="2147483675" r:id="rId4"/>
    <p:sldLayoutId id="2147483673" r:id="rId5"/>
    <p:sldLayoutId id="2147483676" r:id="rId6"/>
    <p:sldLayoutId id="2147483679" r:id="rId7"/>
    <p:sldLayoutId id="2147483680" r:id="rId8"/>
    <p:sldLayoutId id="2147483681" r:id="rId9"/>
    <p:sldLayoutId id="2147483655" r:id="rId10"/>
    <p:sldLayoutId id="2147483650" r:id="rId11"/>
    <p:sldLayoutId id="2147483651" r:id="rId12"/>
    <p:sldLayoutId id="2147483652" r:id="rId13"/>
    <p:sldLayoutId id="2147483653" r:id="rId14"/>
    <p:sldLayoutId id="2147483654" r:id="rId15"/>
    <p:sldLayoutId id="2147483656" r:id="rId16"/>
    <p:sldLayoutId id="2147483657" r:id="rId17"/>
    <p:sldLayoutId id="2147483658" r:id="rId18"/>
    <p:sldLayoutId id="2147483659" r:id="rId1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4800" y="183092"/>
            <a:ext cx="5486400" cy="762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066800"/>
            <a:ext cx="5486400" cy="30173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04800" y="4237567"/>
            <a:ext cx="14224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82800" y="4237567"/>
            <a:ext cx="19304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368800" y="4237567"/>
            <a:ext cx="14224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94571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txStyles>
    <p:titleStyle>
      <a:lvl1pPr algn="ctr" defTabSz="609630" rtl="0" eaLnBrk="1" latinLnBrk="0" hangingPunct="1">
        <a:spcBef>
          <a:spcPct val="0"/>
        </a:spcBef>
        <a:buNone/>
        <a:defRPr sz="293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11" indent="-228611" algn="l" defTabSz="609630" rtl="0" eaLnBrk="1" latinLnBrk="0" hangingPunct="1">
        <a:spcBef>
          <a:spcPct val="20000"/>
        </a:spcBef>
        <a:buFont typeface="Arial" pitchFamily="34" charset="0"/>
        <a:buChar char="•"/>
        <a:defRPr sz="2133" kern="1200">
          <a:solidFill>
            <a:schemeClr val="tx1"/>
          </a:solidFill>
          <a:latin typeface="+mn-lt"/>
          <a:ea typeface="+mn-ea"/>
          <a:cs typeface="+mn-cs"/>
        </a:defRPr>
      </a:lvl1pPr>
      <a:lvl2pPr marL="495325" indent="-190510" algn="l" defTabSz="609630" rtl="0" eaLnBrk="1" latinLnBrk="0" hangingPunct="1">
        <a:spcBef>
          <a:spcPct val="20000"/>
        </a:spcBef>
        <a:buFont typeface="Arial" pitchFamily="34" charset="0"/>
        <a:buChar char="–"/>
        <a:defRPr sz="1867" kern="1200">
          <a:solidFill>
            <a:schemeClr val="tx1"/>
          </a:solidFill>
          <a:latin typeface="+mn-lt"/>
          <a:ea typeface="+mn-ea"/>
          <a:cs typeface="+mn-cs"/>
        </a:defRPr>
      </a:lvl2pPr>
      <a:lvl3pPr marL="762038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66853" indent="-152408" algn="l" defTabSz="609630" rtl="0" eaLnBrk="1" latinLnBrk="0" hangingPunct="1">
        <a:spcBef>
          <a:spcPct val="20000"/>
        </a:spcBef>
        <a:buFont typeface="Arial" pitchFamily="34" charset="0"/>
        <a:buChar char="–"/>
        <a:defRPr sz="1333" kern="1200">
          <a:solidFill>
            <a:schemeClr val="tx1"/>
          </a:solidFill>
          <a:latin typeface="+mn-lt"/>
          <a:ea typeface="+mn-ea"/>
          <a:cs typeface="+mn-cs"/>
        </a:defRPr>
      </a:lvl4pPr>
      <a:lvl5pPr marL="1371669" indent="-152408" algn="l" defTabSz="609630" rtl="0" eaLnBrk="1" latinLnBrk="0" hangingPunct="1">
        <a:spcBef>
          <a:spcPct val="20000"/>
        </a:spcBef>
        <a:buFont typeface="Arial" pitchFamily="34" charset="0"/>
        <a:buChar char="»"/>
        <a:defRPr sz="1333" kern="1200">
          <a:solidFill>
            <a:schemeClr val="tx1"/>
          </a:solidFill>
          <a:latin typeface="+mn-lt"/>
          <a:ea typeface="+mn-ea"/>
          <a:cs typeface="+mn-cs"/>
        </a:defRPr>
      </a:lvl5pPr>
      <a:lvl6pPr marL="1676484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6pPr>
      <a:lvl7pPr marL="1981299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7pPr>
      <a:lvl8pPr marL="2286114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8pPr>
      <a:lvl9pPr marL="2590930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304815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609630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46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219261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524076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91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2133707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2438522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aka.ms/PythonAgents/series" TargetMode="Externa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8.png"/><Relationship Id="rId4" Type="http://schemas.openxmlformats.org/officeDocument/2006/relationships/hyperlink" Target="https://aka.ms/pythonmcp/series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aka.ms/pythonagents/slides/advancedworkflows" TargetMode="External"/><Relationship Id="rId2" Type="http://schemas.openxmlformats.org/officeDocument/2006/relationships/hyperlink" Target="https://www.pamelafox.org/" TargetMode="Externa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hyperlink" Target="https://aka.ms/python-agentframework-demos" TargetMode="Externa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hyperlink" Target="https://github.com/Azure-Samples/python-agentframework-demos/blob/main/examples/workflow_fan_out_fan_in_edges.py" TargetMode="Externa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zure-Samples/python-agentframework-demos/blob/main/examples/workflow_fan_out_fan_in_edges.py" TargetMode="Externa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zure-Samples/python-agentframework-demos/blob/main/examples/workflow_aggregator_summary.py" TargetMode="Externa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hyperlink" Target="https://github.com/Azure-Samples/python-agentframework-demos/blob/main/examples/workflow_aggregator_structured.py" TargetMode="External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zure-Samples/python-agentframework-demos/blob/main/examples/workflow_aggregator_ranked.py" TargetMode="External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hyperlink" Target="https://github.com/Azure-Samples/python-agentframework-demos/blob/main/examples/workflow_aggregator_voting.py" TargetMode="External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hyperlink" Target="https://github.com/Azure-Samples/python-agentframework-demos/blob/main/examples/workflow_multi_selection_edge_group.py" TargetMode="External"/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learn.microsoft.com/en-us/agent-framework/workflows/orchestrations/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learn.microsoft.com/agent-framework/workflows/orchestrations/" TargetMode="Externa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hyperlink" Target="https://learn.microsoft.com/agent-framework/workflows/orchestrations/concurrent" TargetMode="Externa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zure-Samples/python-agentframework-demos/blob/main/examples/workflow_agents_concurrent.py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learn.microsoft.com/en-us/agent-framework/workflows/orchestrations/magentic?pivots=programming-language-python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hyperlink" Target="https://arxiv.org/abs/2411.04468" TargetMode="External"/><Relationship Id="rId1" Type="http://schemas.openxmlformats.org/officeDocument/2006/relationships/slideLayout" Target="../slideLayouts/slideLayout8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zure-Samples/python-agentframework-demos/blob/main/examples/workflow_magenticone.py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7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hyperlink" Target="https://github.com/Azure-Samples/python-agentframework-demos/blob/main/examples/workflow_handoffbuilder.py" TargetMode="External"/><Relationship Id="rId1" Type="http://schemas.openxmlformats.org/officeDocument/2006/relationships/slideLayout" Target="../slideLayouts/slideLayout8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zure-Samples/python-agentframework-demos/blob/main/examples/workflow_handoffbuilder_rules.py" TargetMode="External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8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Relationship Id="rId4" Type="http://schemas.openxmlformats.org/officeDocument/2006/relationships/hyperlink" Target="https://github.com/Azure-Samples/Agentic-AI-Investment-Analysis-Sample" TargetMode="Externa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zure-Samples/Agentic-AI-Investment-Analysis-Sample/blob/main/api-app/app/workflow/investment_workflow.py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zure-Samples/Agentic-AI-Investment-Analysis-Sample/blob/main/api-app/app/what_if_chat/what_if_workflow.py" TargetMode="External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hyperlink" Target="https://aka.ms/pythonagents/resources" TargetMode="External"/><Relationship Id="rId2" Type="http://schemas.openxmlformats.org/officeDocument/2006/relationships/hyperlink" Target="https://aka.ms/pythonai/resources" TargetMode="External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aka.ms/PythonAgents/series" TargetMode="External"/><Relationship Id="rId4" Type="http://schemas.openxmlformats.org/officeDocument/2006/relationships/hyperlink" Target="https://aka.ms/pythonai/oh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2A75E4-B0C1-D5B9-4F77-859CD22F2D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blue and yellow snake logo&#10;&#10;AI-generated content may be incorrect.">
            <a:extLst>
              <a:ext uri="{FF2B5EF4-FFF2-40B4-BE49-F238E27FC236}">
                <a16:creationId xmlns:a16="http://schemas.microsoft.com/office/drawing/2014/main" id="{92C9A098-1140-208F-86A8-E0D0F0B90E8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-39" r="-221" b="11498"/>
          <a:stretch>
            <a:fillRect/>
          </a:stretch>
        </p:blipFill>
        <p:spPr>
          <a:xfrm>
            <a:off x="269009" y="376213"/>
            <a:ext cx="1721697" cy="1840238"/>
          </a:xfrm>
          <a:prstGeom prst="rect">
            <a:avLst/>
          </a:prstGeom>
          <a:ln>
            <a:noFill/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005A3F4-14C3-A8EA-A87D-F7FC6B897E89}"/>
              </a:ext>
            </a:extLst>
          </p:cNvPr>
          <p:cNvSpPr txBox="1"/>
          <p:nvPr/>
        </p:nvSpPr>
        <p:spPr>
          <a:xfrm>
            <a:off x="432984" y="2449816"/>
            <a:ext cx="11326031" cy="33239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500">
                <a:solidFill>
                  <a:srgbClr val="000000"/>
                </a:solidFill>
                <a:latin typeface="Quire Sans" panose="020B0502040400020003" pitchFamily="34" charset="0"/>
                <a:ea typeface="Segoe UI"/>
                <a:cs typeface="Quire Sans" panose="020B0502040400020003" pitchFamily="34" charset="0"/>
              </a:rPr>
              <a:t>🛠️ Feb 24:</a:t>
            </a:r>
            <a:r>
              <a:rPr lang="en-US" sz="3500" b="0" i="0" u="none" strike="noStrike" baseline="0">
                <a:solidFill>
                  <a:srgbClr val="000000"/>
                </a:solidFill>
                <a:latin typeface="Quire Sans" panose="020B0502040400020003" pitchFamily="34" charset="0"/>
                <a:ea typeface="Segoe UI"/>
                <a:cs typeface="Quire Sans" panose="020B0502040400020003" pitchFamily="34" charset="0"/>
              </a:rPr>
              <a:t> </a:t>
            </a:r>
            <a:r>
              <a:rPr lang="en-US" sz="3500">
                <a:solidFill>
                  <a:srgbClr val="000000"/>
                </a:solidFill>
                <a:latin typeface="Quire Sans" panose="020B0502040400020003" pitchFamily="34" charset="0"/>
                <a:ea typeface="Segoe UI"/>
                <a:cs typeface="Quire Sans" panose="020B0502040400020003" pitchFamily="34" charset="0"/>
              </a:rPr>
              <a:t>Building your first agent in Python</a:t>
            </a:r>
          </a:p>
          <a:p>
            <a:r>
              <a:rPr lang="en-US" sz="3500">
                <a:latin typeface="Quire Sans" panose="020B0502040400020003" pitchFamily="34" charset="0"/>
                <a:cs typeface="Quire Sans" panose="020B0502040400020003" pitchFamily="34" charset="0"/>
              </a:rPr>
              <a:t>🧠 </a:t>
            </a:r>
            <a:r>
              <a:rPr lang="en-US" sz="3500" b="0" i="0">
                <a:solidFill>
                  <a:srgbClr val="000000"/>
                </a:solidFill>
                <a:latin typeface="Quire Sans" panose="020B0502040400020003" pitchFamily="34" charset="0"/>
                <a:ea typeface="Segoe UI"/>
                <a:cs typeface="Quire Sans" panose="020B0502040400020003" pitchFamily="34" charset="0"/>
              </a:rPr>
              <a:t>Feb 25: Adding context and memory to agents</a:t>
            </a:r>
          </a:p>
          <a:p>
            <a:r>
              <a:rPr lang="en-US" sz="3500">
                <a:latin typeface="Quire Sans" panose="020B0502040400020003" pitchFamily="34" charset="0"/>
                <a:cs typeface="Quire Sans" panose="020B0502040400020003" pitchFamily="34" charset="0"/>
              </a:rPr>
              <a:t>📊 </a:t>
            </a:r>
            <a:r>
              <a:rPr lang="en-US" sz="3500">
                <a:solidFill>
                  <a:srgbClr val="000000"/>
                </a:solidFill>
                <a:latin typeface="Quire Sans" panose="020B0502040400020003" pitchFamily="34" charset="0"/>
                <a:ea typeface="Segoe UI"/>
                <a:cs typeface="Quire Sans" panose="020B0502040400020003" pitchFamily="34" charset="0"/>
              </a:rPr>
              <a:t>Feb 26: Monitoring and evaluating agents</a:t>
            </a:r>
          </a:p>
          <a:p>
            <a:r>
              <a:rPr lang="en-US" sz="3500">
                <a:latin typeface="Quire Sans" panose="020B0502040400020003" pitchFamily="34" charset="0"/>
                <a:cs typeface="Quire Sans" panose="020B0502040400020003" pitchFamily="34" charset="0"/>
              </a:rPr>
              <a:t>🔀 </a:t>
            </a:r>
            <a:r>
              <a:rPr lang="en-US" sz="3500">
                <a:solidFill>
                  <a:srgbClr val="000000"/>
                </a:solidFill>
                <a:latin typeface="Quire Sans" panose="020B0502040400020003" pitchFamily="34" charset="0"/>
                <a:ea typeface="Segoe UI"/>
                <a:cs typeface="Quire Sans" panose="020B0502040400020003" pitchFamily="34" charset="0"/>
              </a:rPr>
              <a:t>Mar 3: Building your first AI-driven workflows</a:t>
            </a:r>
          </a:p>
          <a:p>
            <a:r>
              <a:rPr lang="en-US" sz="3500">
                <a:latin typeface="Quire Sans" panose="020B0502040400020003" pitchFamily="34" charset="0"/>
                <a:cs typeface="Quire Sans" panose="020B0502040400020003" pitchFamily="34" charset="0"/>
              </a:rPr>
              <a:t>🕸️ </a:t>
            </a:r>
            <a:r>
              <a:rPr lang="en-US" sz="3500" b="0" i="0">
                <a:solidFill>
                  <a:srgbClr val="000000"/>
                </a:solidFill>
                <a:latin typeface="Quire Sans" panose="020B0502040400020003" pitchFamily="34" charset="0"/>
                <a:ea typeface="Segoe UI"/>
                <a:cs typeface="Quire Sans" panose="020B0502040400020003" pitchFamily="34" charset="0"/>
              </a:rPr>
              <a:t>Mar 4: Orchestrating advanced multi-agent workflows</a:t>
            </a:r>
          </a:p>
          <a:p>
            <a:r>
              <a:rPr lang="en-US" sz="3500">
                <a:latin typeface="Quire Sans" panose="020B0502040400020003" pitchFamily="34" charset="0"/>
                <a:cs typeface="Quire Sans" panose="020B0502040400020003" pitchFamily="34" charset="0"/>
              </a:rPr>
              <a:t>🙋🏽 </a:t>
            </a:r>
            <a:r>
              <a:rPr lang="en-US" sz="3500">
                <a:solidFill>
                  <a:srgbClr val="000000"/>
                </a:solidFill>
                <a:latin typeface="Quire Sans" panose="020B0502040400020003" pitchFamily="34" charset="0"/>
                <a:ea typeface="Segoe UI"/>
                <a:cs typeface="Quire Sans" panose="020B0502040400020003" pitchFamily="34" charset="0"/>
              </a:rPr>
              <a:t>Mar 5: Adding a human-in-the-loop to workflows</a:t>
            </a:r>
            <a:endParaRPr lang="en-US" sz="3500" b="0" i="0">
              <a:solidFill>
                <a:srgbClr val="000000"/>
              </a:solidFill>
              <a:latin typeface="Quire Sans" panose="020B0502040400020003" pitchFamily="34" charset="0"/>
              <a:ea typeface="Segoe UI"/>
              <a:cs typeface="Quire Sans" panose="020B0502040400020003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BD3A62F-AD7C-5560-5319-1B085F20C1AC}"/>
              </a:ext>
            </a:extLst>
          </p:cNvPr>
          <p:cNvSpPr txBox="1"/>
          <p:nvPr/>
        </p:nvSpPr>
        <p:spPr>
          <a:xfrm>
            <a:off x="360923" y="5909261"/>
            <a:ext cx="11945463" cy="7694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500" b="1" dirty="0">
                <a:solidFill>
                  <a:srgbClr val="000000"/>
                </a:solidFill>
                <a:latin typeface="Quire Sans"/>
                <a:ea typeface="Segoe UI"/>
                <a:cs typeface="Segoe UI"/>
              </a:rPr>
              <a:t>🔗</a:t>
            </a:r>
            <a:r>
              <a:rPr lang="en-US" sz="4400" b="1" dirty="0">
                <a:solidFill>
                  <a:srgbClr val="000000"/>
                </a:solidFill>
                <a:latin typeface="Quire Sans"/>
                <a:ea typeface="Segoe UI"/>
                <a:cs typeface="Segoe UI"/>
              </a:rPr>
              <a:t> Register at </a:t>
            </a:r>
            <a:r>
              <a:rPr lang="en-US" sz="4400" b="1" dirty="0">
                <a:solidFill>
                  <a:srgbClr val="306998"/>
                </a:solidFill>
                <a:latin typeface="Quire Sans"/>
                <a:ea typeface="Segoe UI"/>
                <a:cs typeface="Segoe U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aka.ms/PythonAgents/series</a:t>
            </a:r>
            <a:endParaRPr lang="en-US" sz="4400" b="1" i="0" dirty="0">
              <a:solidFill>
                <a:srgbClr val="306998"/>
              </a:solidFill>
              <a:latin typeface="Quire Sans"/>
              <a:ea typeface="Segoe UI"/>
              <a:cs typeface="Segoe UI"/>
              <a:hlinkClick r:id="rId4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pic>
        <p:nvPicPr>
          <p:cNvPr id="13" name="Picture 12" descr="A diagram of a network&#10;&#10;AI-generated content may be incorrect.">
            <a:extLst>
              <a:ext uri="{FF2B5EF4-FFF2-40B4-BE49-F238E27FC236}">
                <a16:creationId xmlns:a16="http://schemas.microsoft.com/office/drawing/2014/main" id="{BB1C877B-1502-7B46-5E1D-99B6815B4F7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20434" y="184871"/>
            <a:ext cx="3074063" cy="2129487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3A727494-82B4-69DA-D3F9-CE82888691C7}"/>
              </a:ext>
            </a:extLst>
          </p:cNvPr>
          <p:cNvSpPr txBox="1">
            <a:spLocks/>
          </p:cNvSpPr>
          <p:nvPr/>
        </p:nvSpPr>
        <p:spPr>
          <a:xfrm>
            <a:off x="1990706" y="740896"/>
            <a:ext cx="6931223" cy="1141154"/>
          </a:xfrm>
          <a:prstGeom prst="rect">
            <a:avLst/>
          </a:prstGeom>
        </p:spPr>
        <p:txBody>
          <a:bodyPr lIns="91440" tIns="45720" rIns="91440" bIns="4572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MX" sz="7000" b="1" dirty="0">
                <a:latin typeface="Quire Sans"/>
                <a:cs typeface="Quire Sans"/>
              </a:rPr>
              <a:t>Python + Agents</a:t>
            </a:r>
            <a:endParaRPr lang="en-US" sz="7000" dirty="0"/>
          </a:p>
        </p:txBody>
      </p:sp>
    </p:spTree>
    <p:extLst>
      <p:ext uri="{BB962C8B-B14F-4D97-AF65-F5344CB8AC3E}">
        <p14:creationId xmlns:p14="http://schemas.microsoft.com/office/powerpoint/2010/main" val="36168370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16F498-58FB-A77B-B566-A60C28CCAD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_tradnl" noProof="0"/>
              <a:t>Python + Agents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04B708-5475-3713-E181-48E985434F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2850893"/>
            <a:ext cx="11512550" cy="873780"/>
          </a:xfrm>
        </p:spPr>
        <p:txBody>
          <a:bodyPr>
            <a:noAutofit/>
          </a:bodyPr>
          <a:lstStyle/>
          <a:p>
            <a:r>
              <a:rPr lang="en-US" sz="4100">
                <a:latin typeface="Quire Sans" panose="020B0502040400020003" pitchFamily="34" charset="0"/>
                <a:cs typeface="Quire Sans" panose="020B0502040400020003" pitchFamily="34" charset="0"/>
              </a:rPr>
              <a:t>🕸️</a:t>
            </a:r>
            <a:r>
              <a:rPr lang="en-US" sz="4100">
                <a:solidFill>
                  <a:srgbClr val="000000"/>
                </a:solidFill>
                <a:latin typeface="Quire Sans" panose="020B0502040400020003" pitchFamily="34" charset="0"/>
                <a:ea typeface="Segoe UI"/>
                <a:cs typeface="Quire Sans" panose="020B0502040400020003" pitchFamily="34" charset="0"/>
              </a:rPr>
              <a:t> </a:t>
            </a:r>
            <a:r>
              <a:rPr lang="en-US" sz="4100">
                <a:solidFill>
                  <a:srgbClr val="000000"/>
                </a:solidFill>
                <a:ea typeface="Segoe UI"/>
                <a:cs typeface="Segoe UI"/>
              </a:rPr>
              <a:t>Orchestrating advanced multi-agent workflows</a:t>
            </a:r>
            <a:endParaRPr lang="es-ES_tradnl" sz="4100" noProof="0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3F3F6DCF-3603-19EC-9B34-2D2871DE85F7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791633" y="4550797"/>
            <a:ext cx="5156494" cy="1594358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sz="2400">
                <a:solidFill>
                  <a:schemeClr val="accent6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>
                <a:solidFill>
                  <a:schemeClr val="tx1"/>
                </a:solidFill>
              </a:rPr>
              <a:t>Pamela Fox</a:t>
            </a:r>
          </a:p>
          <a:p>
            <a:pPr lvl="0"/>
            <a:r>
              <a:rPr lang="en-US">
                <a:solidFill>
                  <a:schemeClr val="tx1"/>
                </a:solidFill>
              </a:rPr>
              <a:t>Python Cloud Advocate</a:t>
            </a:r>
          </a:p>
          <a:p>
            <a:pPr lvl="0"/>
            <a:r>
              <a:rPr lang="en-US" err="1">
                <a:solidFill>
                  <a:schemeClr val="tx1"/>
                </a:solidFill>
                <a:hlinkClick r:id="rId2"/>
              </a:rPr>
              <a:t>www.pamelafox.org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FACB71E-6545-DC1C-8325-BF2AE36EB32D}"/>
              </a:ext>
            </a:extLst>
          </p:cNvPr>
          <p:cNvSpPr txBox="1"/>
          <p:nvPr/>
        </p:nvSpPr>
        <p:spPr>
          <a:xfrm>
            <a:off x="844550" y="3724673"/>
            <a:ext cx="9136848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>
                <a:hlinkClick r:id="rId3"/>
              </a:rPr>
              <a:t>aka.ms/pythonagents/slides/advancedworkflows</a:t>
            </a:r>
            <a:endParaRPr lang="en-US" sz="3000"/>
          </a:p>
        </p:txBody>
      </p:sp>
    </p:spTree>
    <p:extLst>
      <p:ext uri="{BB962C8B-B14F-4D97-AF65-F5344CB8AC3E}">
        <p14:creationId xmlns:p14="http://schemas.microsoft.com/office/powerpoint/2010/main" val="23663466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89586F9-19CA-2B06-D6D7-5EAA9D3145BC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978147" y="1964047"/>
            <a:ext cx="10235705" cy="3714858"/>
          </a:xfrm>
        </p:spPr>
        <p:txBody>
          <a:bodyPr>
            <a:normAutofit/>
          </a:bodyPr>
          <a:lstStyle/>
          <a:p>
            <a:r>
              <a:rPr lang="en-US" sz="2400"/>
              <a:t>Concurrent workflows with fan-out and fan-in edges</a:t>
            </a:r>
          </a:p>
          <a:p>
            <a:r>
              <a:rPr lang="en-US" sz="2400"/>
              <a:t>Aggregation patterns: summary, ranking, voting, extraction</a:t>
            </a:r>
          </a:p>
          <a:p>
            <a:r>
              <a:rPr lang="en-US" sz="2400"/>
              <a:t>Conditional routing with concurrent execution</a:t>
            </a:r>
          </a:p>
          <a:p>
            <a:r>
              <a:rPr lang="en-US" sz="2400"/>
              <a:t>Built-in orchestrations:</a:t>
            </a:r>
          </a:p>
          <a:p>
            <a:pPr lvl="1"/>
            <a:r>
              <a:rPr lang="en-US"/>
              <a:t>ConcurrentBuilder</a:t>
            </a:r>
          </a:p>
          <a:p>
            <a:pPr lvl="1"/>
            <a:r>
              <a:rPr lang="en-US"/>
              <a:t>MagenticBuilder for dynamic planning</a:t>
            </a:r>
          </a:p>
          <a:p>
            <a:pPr lvl="1"/>
            <a:r>
              <a:rPr lang="en-US"/>
              <a:t>HandoffBuilder for dynamic routing</a:t>
            </a:r>
          </a:p>
          <a:p>
            <a:r>
              <a:rPr lang="en-US" sz="2400"/>
              <a:t>E2E application with workflows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436A72E-589A-553F-B8A5-68C184391B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Today we'll cover...</a:t>
            </a:r>
          </a:p>
        </p:txBody>
      </p:sp>
    </p:spTree>
    <p:extLst>
      <p:ext uri="{BB962C8B-B14F-4D97-AF65-F5344CB8AC3E}">
        <p14:creationId xmlns:p14="http://schemas.microsoft.com/office/powerpoint/2010/main" val="6803103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D18DDE-236F-D621-D2CF-E8D6BFAC0D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9A9201-91CF-15A7-B97F-AC574BCD1A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Want to follow along?</a:t>
            </a:r>
          </a:p>
        </p:txBody>
      </p:sp>
      <p:sp>
        <p:nvSpPr>
          <p:cNvPr id="3" name="Content Placeholder 4">
            <a:extLst>
              <a:ext uri="{FF2B5EF4-FFF2-40B4-BE49-F238E27FC236}">
                <a16:creationId xmlns:a16="http://schemas.microsoft.com/office/drawing/2014/main" id="{6C953F69-9891-6E6F-1713-D0ECB9B3F072}"/>
              </a:ext>
            </a:extLst>
          </p:cNvPr>
          <p:cNvSpPr txBox="1">
            <a:spLocks/>
          </p:cNvSpPr>
          <p:nvPr/>
        </p:nvSpPr>
        <p:spPr>
          <a:xfrm>
            <a:off x="1049416" y="1676453"/>
            <a:ext cx="11375044" cy="175254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1. Open this GitHub repository:</a:t>
            </a:r>
          </a:p>
          <a:p>
            <a:pPr marL="0" indent="0">
              <a:buNone/>
            </a:pPr>
            <a:r>
              <a:rPr lang="en-US">
                <a:hlinkClick r:id="rId2"/>
              </a:rPr>
              <a:t>aka.ms/python-agentframework-demos</a:t>
            </a:r>
            <a:endParaRPr lang="en-US"/>
          </a:p>
          <a:p>
            <a:pPr marL="0" indent="0">
              <a:buNone/>
            </a:pPr>
            <a:r>
              <a:rPr lang="en-US"/>
              <a:t>2. Use "Code" button to create a GitHub Codespace:</a:t>
            </a: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2ED7F0D-8B94-C781-25B3-5ABE00B91DD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42" r="1572" b="24106"/>
          <a:stretch/>
        </p:blipFill>
        <p:spPr>
          <a:xfrm>
            <a:off x="1425566" y="3228854"/>
            <a:ext cx="2591629" cy="217461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F38C7C91-426D-F5D9-F045-A61914C6AB3D}"/>
              </a:ext>
            </a:extLst>
          </p:cNvPr>
          <p:cNvSpPr txBox="1">
            <a:spLocks/>
          </p:cNvSpPr>
          <p:nvPr/>
        </p:nvSpPr>
        <p:spPr>
          <a:xfrm>
            <a:off x="1049416" y="5577385"/>
            <a:ext cx="10567146" cy="940846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3. Wait a few minutes for Codespace to start up ⏱️</a:t>
            </a:r>
          </a:p>
          <a:p>
            <a:pPr marL="0" indent="0">
              <a:buNone/>
            </a:pPr>
            <a:r>
              <a:rPr lang="en-US"/>
              <a:t>4. Run </a:t>
            </a:r>
            <a:r>
              <a:rPr lang="en-US">
                <a:highlight>
                  <a:srgbClr val="C0C0C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git pull</a:t>
            </a: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/>
              <a:t>to ensure you have the latest changes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3A531D7-4395-6A4B-157E-7FA70642C1C9}"/>
              </a:ext>
            </a:extLst>
          </p:cNvPr>
          <p:cNvCxnSpPr/>
          <p:nvPr/>
        </p:nvCxnSpPr>
        <p:spPr>
          <a:xfrm flipH="1">
            <a:off x="4178709" y="5181547"/>
            <a:ext cx="1809136" cy="0"/>
          </a:xfrm>
          <a:prstGeom prst="line">
            <a:avLst/>
          </a:prstGeom>
          <a:ln w="76200">
            <a:solidFill>
              <a:srgbClr val="00B050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04469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66DF9A-7967-09E2-5BFC-E28CE2FB20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95F4FA-F55F-A1FB-41FD-1CD5613DAB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Recap: What's an agentic workflow?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860DFC8-82CF-4281-5835-8B4EA07FB50B}"/>
              </a:ext>
            </a:extLst>
          </p:cNvPr>
          <p:cNvSpPr/>
          <p:nvPr/>
        </p:nvSpPr>
        <p:spPr bwMode="auto">
          <a:xfrm>
            <a:off x="5622062" y="3303020"/>
            <a:ext cx="1422583" cy="686429"/>
          </a:xfrm>
          <a:prstGeom prst="rect">
            <a:avLst/>
          </a:prstGeom>
          <a:solidFill>
            <a:schemeClr val="accent4"/>
          </a:solidFill>
          <a:ln>
            <a:noFill/>
            <a:headEnd type="none" w="med" len="med"/>
            <a:tailEnd type="none" w="med" len="med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r>
              <a:rPr lang="en-US" sz="2200" b="1" err="1">
                <a:solidFill>
                  <a:schemeClr val="bg1"/>
                </a:solidFill>
                <a:ea typeface="Segoe UI" pitchFamily="34" charset="0"/>
                <a:cs typeface="Segoe UI" pitchFamily="34" charset="0"/>
              </a:rPr>
              <a:t>LLM</a:t>
            </a:r>
          </a:p>
        </p:txBody>
      </p:sp>
      <p:sp>
        <p:nvSpPr>
          <p:cNvPr id="5" name="Rounded Rectangular Callout 4">
            <a:extLst>
              <a:ext uri="{FF2B5EF4-FFF2-40B4-BE49-F238E27FC236}">
                <a16:creationId xmlns:a16="http://schemas.microsoft.com/office/drawing/2014/main" id="{0434B538-21F4-E340-C162-44C7993B1BFB}"/>
              </a:ext>
            </a:extLst>
          </p:cNvPr>
          <p:cNvSpPr/>
          <p:nvPr/>
        </p:nvSpPr>
        <p:spPr>
          <a:xfrm>
            <a:off x="1194373" y="3174373"/>
            <a:ext cx="1151664" cy="943722"/>
          </a:xfrm>
          <a:prstGeom prst="wedgeRoundRectCallou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/>
              <a:t>Input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D8F54FA0-07B5-D2AA-7E42-E7AB691BD6D1}"/>
              </a:ext>
            </a:extLst>
          </p:cNvPr>
          <p:cNvCxnSpPr>
            <a:cxnSpLocks/>
            <a:stCxn id="5" idx="3"/>
            <a:endCxn id="7" idx="1"/>
          </p:cNvCxnSpPr>
          <p:nvPr/>
        </p:nvCxnSpPr>
        <p:spPr>
          <a:xfrm>
            <a:off x="2346037" y="3646234"/>
            <a:ext cx="637308" cy="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5D7ABAD2-17C0-F129-7A9A-868F3B97385F}"/>
              </a:ext>
            </a:extLst>
          </p:cNvPr>
          <p:cNvSpPr/>
          <p:nvPr/>
        </p:nvSpPr>
        <p:spPr bwMode="auto">
          <a:xfrm>
            <a:off x="2983345" y="2999007"/>
            <a:ext cx="2041419" cy="1294455"/>
          </a:xfrm>
          <a:prstGeom prst="rect">
            <a:avLst/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r>
              <a:rPr lang="en-US" sz="2200" b="1" err="1">
                <a:solidFill>
                  <a:schemeClr val="bg1"/>
                </a:solidFill>
                <a:ea typeface="Segoe UI" pitchFamily="34" charset="0"/>
                <a:cs typeface="Segoe UI" pitchFamily="34" charset="0"/>
              </a:rPr>
              <a:t>Processing</a:t>
            </a:r>
          </a:p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r>
              <a:rPr lang="en-US" sz="2200" b="1" err="1">
                <a:solidFill>
                  <a:schemeClr val="bg1"/>
                </a:solidFill>
                <a:ea typeface="Segoe UI" pitchFamily="34" charset="0"/>
                <a:cs typeface="Segoe UI" pitchFamily="34" charset="0"/>
              </a:rPr>
              <a:t>or</a:t>
            </a:r>
          </a:p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r>
              <a:rPr lang="en-US" sz="2200" b="1" err="1">
                <a:solidFill>
                  <a:schemeClr val="bg1"/>
                </a:solidFill>
                <a:ea typeface="Segoe UI" pitchFamily="34" charset="0"/>
                <a:cs typeface="Segoe UI" pitchFamily="34" charset="0"/>
              </a:rPr>
              <a:t>Data Lookup</a:t>
            </a:r>
          </a:p>
        </p:txBody>
      </p:sp>
      <p:sp>
        <p:nvSpPr>
          <p:cNvPr id="8" name="Rounded Rectangular Callout 7">
            <a:extLst>
              <a:ext uri="{FF2B5EF4-FFF2-40B4-BE49-F238E27FC236}">
                <a16:creationId xmlns:a16="http://schemas.microsoft.com/office/drawing/2014/main" id="{159F714B-5F65-BFE5-841E-02630CA3D806}"/>
              </a:ext>
            </a:extLst>
          </p:cNvPr>
          <p:cNvSpPr/>
          <p:nvPr/>
        </p:nvSpPr>
        <p:spPr>
          <a:xfrm>
            <a:off x="10302198" y="3219749"/>
            <a:ext cx="1576537" cy="852970"/>
          </a:xfrm>
          <a:prstGeom prst="wedgeRoundRectCallout">
            <a:avLst>
              <a:gd name="adj1" fmla="val -22005"/>
              <a:gd name="adj2" fmla="val 46429"/>
              <a:gd name="adj3" fmla="val 16667"/>
            </a:avLst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/>
              <a:t>Output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1524E44A-D110-C3C8-CFF1-BD85E6B05983}"/>
              </a:ext>
            </a:extLst>
          </p:cNvPr>
          <p:cNvCxnSpPr>
            <a:cxnSpLocks/>
          </p:cNvCxnSpPr>
          <p:nvPr/>
        </p:nvCxnSpPr>
        <p:spPr>
          <a:xfrm>
            <a:off x="9683362" y="3653341"/>
            <a:ext cx="618836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DA07D7B-5431-A7B4-32F0-5220200BBAAA}"/>
              </a:ext>
            </a:extLst>
          </p:cNvPr>
          <p:cNvCxnSpPr>
            <a:cxnSpLocks/>
          </p:cNvCxnSpPr>
          <p:nvPr/>
        </p:nvCxnSpPr>
        <p:spPr>
          <a:xfrm>
            <a:off x="5024764" y="3642494"/>
            <a:ext cx="618836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2DDBA388-690F-6F7E-1A67-6E7C15FBF43C}"/>
              </a:ext>
            </a:extLst>
          </p:cNvPr>
          <p:cNvSpPr/>
          <p:nvPr/>
        </p:nvSpPr>
        <p:spPr bwMode="auto">
          <a:xfrm>
            <a:off x="7641943" y="2999007"/>
            <a:ext cx="2041419" cy="1294455"/>
          </a:xfrm>
          <a:prstGeom prst="rect">
            <a:avLst/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r>
              <a:rPr lang="en-US" sz="2200" b="1" err="1">
                <a:solidFill>
                  <a:schemeClr val="bg1"/>
                </a:solidFill>
                <a:ea typeface="Segoe UI" pitchFamily="34" charset="0"/>
                <a:cs typeface="Segoe UI" pitchFamily="34" charset="0"/>
              </a:rPr>
              <a:t>Processing</a:t>
            </a:r>
          </a:p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r>
              <a:rPr lang="en-US" sz="2200" b="1" err="1">
                <a:solidFill>
                  <a:schemeClr val="bg1"/>
                </a:solidFill>
                <a:ea typeface="Segoe UI" pitchFamily="34" charset="0"/>
                <a:cs typeface="Segoe UI" pitchFamily="34" charset="0"/>
              </a:rPr>
              <a:t> or</a:t>
            </a:r>
          </a:p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r>
              <a:rPr lang="en-US" sz="2200" b="1" err="1">
                <a:solidFill>
                  <a:schemeClr val="bg1"/>
                </a:solidFill>
                <a:ea typeface="Segoe UI" pitchFamily="34" charset="0"/>
                <a:cs typeface="Segoe UI" pitchFamily="34" charset="0"/>
              </a:rPr>
              <a:t>Data Lookup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279D5E5E-A0CA-69E4-4445-C6424ECD1333}"/>
              </a:ext>
            </a:extLst>
          </p:cNvPr>
          <p:cNvCxnSpPr>
            <a:cxnSpLocks/>
          </p:cNvCxnSpPr>
          <p:nvPr/>
        </p:nvCxnSpPr>
        <p:spPr>
          <a:xfrm>
            <a:off x="7038051" y="3645860"/>
            <a:ext cx="618836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>
            <a:extLst>
              <a:ext uri="{FF2B5EF4-FFF2-40B4-BE49-F238E27FC236}">
                <a16:creationId xmlns:a16="http://schemas.microsoft.com/office/drawing/2014/main" id="{4308172A-C133-2031-6CD5-B0F89E1FC267}"/>
              </a:ext>
            </a:extLst>
          </p:cNvPr>
          <p:cNvSpPr/>
          <p:nvPr/>
        </p:nvSpPr>
        <p:spPr bwMode="auto">
          <a:xfrm>
            <a:off x="5252516" y="4175481"/>
            <a:ext cx="1096731" cy="62205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r>
              <a:rPr lang="en-US" sz="1400" b="1" err="1">
                <a:solidFill>
                  <a:schemeClr val="bg1"/>
                </a:solidFill>
                <a:ea typeface="Segoe UI" pitchFamily="34" charset="0"/>
                <a:cs typeface="Segoe UI" pitchFamily="34" charset="0"/>
              </a:rPr>
              <a:t>Tool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3455CA07-40D1-0AED-006F-3F82431FAB31}"/>
              </a:ext>
            </a:extLst>
          </p:cNvPr>
          <p:cNvCxnSpPr>
            <a:cxnSpLocks/>
          </p:cNvCxnSpPr>
          <p:nvPr/>
        </p:nvCxnSpPr>
        <p:spPr>
          <a:xfrm flipH="1">
            <a:off x="5634941" y="3978558"/>
            <a:ext cx="281376" cy="216847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D116B140-0FFD-D4AF-3DC5-6BDD4B1C368F}"/>
              </a:ext>
            </a:extLst>
          </p:cNvPr>
          <p:cNvCxnSpPr>
            <a:cxnSpLocks/>
          </p:cNvCxnSpPr>
          <p:nvPr/>
        </p:nvCxnSpPr>
        <p:spPr>
          <a:xfrm flipH="1">
            <a:off x="5832576" y="3981903"/>
            <a:ext cx="222125" cy="193577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D80D5313-CC5E-4D04-4805-D5A0EAFBF1D8}"/>
              </a:ext>
            </a:extLst>
          </p:cNvPr>
          <p:cNvCxnSpPr>
            <a:cxnSpLocks/>
          </p:cNvCxnSpPr>
          <p:nvPr/>
        </p:nvCxnSpPr>
        <p:spPr>
          <a:xfrm>
            <a:off x="6662744" y="3998483"/>
            <a:ext cx="281376" cy="216847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47CBA22A-25DE-4FF9-D733-A754C193EDBD}"/>
              </a:ext>
            </a:extLst>
          </p:cNvPr>
          <p:cNvCxnSpPr>
            <a:cxnSpLocks/>
          </p:cNvCxnSpPr>
          <p:nvPr/>
        </p:nvCxnSpPr>
        <p:spPr>
          <a:xfrm>
            <a:off x="6860379" y="3992592"/>
            <a:ext cx="222125" cy="193577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 17">
            <a:extLst>
              <a:ext uri="{FF2B5EF4-FFF2-40B4-BE49-F238E27FC236}">
                <a16:creationId xmlns:a16="http://schemas.microsoft.com/office/drawing/2014/main" id="{C43F9F4C-D23B-6229-0BE7-197EEA327850}"/>
              </a:ext>
            </a:extLst>
          </p:cNvPr>
          <p:cNvSpPr/>
          <p:nvPr/>
        </p:nvSpPr>
        <p:spPr bwMode="auto">
          <a:xfrm>
            <a:off x="6489685" y="4202952"/>
            <a:ext cx="1096731" cy="62205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r>
              <a:rPr lang="en-US" sz="1400" b="1" err="1">
                <a:solidFill>
                  <a:schemeClr val="bg1"/>
                </a:solidFill>
                <a:ea typeface="Segoe UI" pitchFamily="34" charset="0"/>
                <a:cs typeface="Segoe UI" pitchFamily="34" charset="0"/>
              </a:rPr>
              <a:t>Tool</a:t>
            </a:r>
          </a:p>
        </p:txBody>
      </p:sp>
      <p:sp>
        <p:nvSpPr>
          <p:cNvPr id="20" name="Content Placeholder 19">
            <a:extLst>
              <a:ext uri="{FF2B5EF4-FFF2-40B4-BE49-F238E27FC236}">
                <a16:creationId xmlns:a16="http://schemas.microsoft.com/office/drawing/2014/main" id="{F2C37EC7-165E-F2C3-ABE2-8BBF858866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9416" y="1918758"/>
            <a:ext cx="10913980" cy="851276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err="1"/>
              <a:t>An agentic workflow is a flow that involves an agent at some point, typically to handle decision making or answer synthesis.</a:t>
            </a:r>
          </a:p>
          <a:p>
            <a:pPr marL="0" indent="0">
              <a:buNone/>
            </a:pPr>
            <a:endParaRPr lang="en-US"/>
          </a:p>
        </p:txBody>
      </p:sp>
      <p:sp>
        <p:nvSpPr>
          <p:cNvPr id="21" name="Rounded Rectangular Callout 20">
            <a:extLst>
              <a:ext uri="{FF2B5EF4-FFF2-40B4-BE49-F238E27FC236}">
                <a16:creationId xmlns:a16="http://schemas.microsoft.com/office/drawing/2014/main" id="{9519670D-B554-DC41-686B-397F247D2660}"/>
              </a:ext>
            </a:extLst>
          </p:cNvPr>
          <p:cNvSpPr/>
          <p:nvPr/>
        </p:nvSpPr>
        <p:spPr>
          <a:xfrm>
            <a:off x="1369564" y="5923624"/>
            <a:ext cx="1151664" cy="632132"/>
          </a:xfrm>
          <a:prstGeom prst="wedgeRoundRectCallout">
            <a:avLst>
              <a:gd name="adj1" fmla="val -77665"/>
              <a:gd name="adj2" fmla="val -23174"/>
              <a:gd name="adj3" fmla="val 16667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/>
              <a:t>Input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94B3888-A76E-061D-934F-529DDF7867F5}"/>
              </a:ext>
            </a:extLst>
          </p:cNvPr>
          <p:cNvSpPr/>
          <p:nvPr/>
        </p:nvSpPr>
        <p:spPr bwMode="auto">
          <a:xfrm>
            <a:off x="2983345" y="5857151"/>
            <a:ext cx="1524469" cy="765078"/>
          </a:xfrm>
          <a:prstGeom prst="rect">
            <a:avLst/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r>
              <a:rPr lang="en-US" sz="2200" b="1" err="1">
                <a:solidFill>
                  <a:schemeClr val="bg1"/>
                </a:solidFill>
                <a:ea typeface="Segoe UI" pitchFamily="34" charset="0"/>
                <a:cs typeface="Segoe UI" pitchFamily="34" charset="0"/>
              </a:rPr>
              <a:t>Executor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788A3B62-A25D-AE43-E070-AEA01BC2EF81}"/>
              </a:ext>
            </a:extLst>
          </p:cNvPr>
          <p:cNvCxnSpPr>
            <a:cxnSpLocks/>
          </p:cNvCxnSpPr>
          <p:nvPr/>
        </p:nvCxnSpPr>
        <p:spPr>
          <a:xfrm>
            <a:off x="2521228" y="6239690"/>
            <a:ext cx="462117" cy="0"/>
          </a:xfrm>
          <a:prstGeom prst="straightConnector1">
            <a:avLst/>
          </a:prstGeom>
          <a:ln w="38100">
            <a:solidFill>
              <a:srgbClr val="46A5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ular Callout 23">
            <a:extLst>
              <a:ext uri="{FF2B5EF4-FFF2-40B4-BE49-F238E27FC236}">
                <a16:creationId xmlns:a16="http://schemas.microsoft.com/office/drawing/2014/main" id="{789CACF8-7778-4D03-90CD-FECD32E75EB9}"/>
              </a:ext>
            </a:extLst>
          </p:cNvPr>
          <p:cNvSpPr/>
          <p:nvPr/>
        </p:nvSpPr>
        <p:spPr>
          <a:xfrm>
            <a:off x="10191064" y="6013433"/>
            <a:ext cx="1576537" cy="530524"/>
          </a:xfrm>
          <a:prstGeom prst="wedgeRoundRectCallout">
            <a:avLst>
              <a:gd name="adj1" fmla="val -22005"/>
              <a:gd name="adj2" fmla="val 46429"/>
              <a:gd name="adj3" fmla="val 16667"/>
            </a:avLst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/>
              <a:t>Output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DCFA94B-B174-3A82-6C53-02BF84CE7160}"/>
              </a:ext>
            </a:extLst>
          </p:cNvPr>
          <p:cNvSpPr/>
          <p:nvPr/>
        </p:nvSpPr>
        <p:spPr bwMode="auto">
          <a:xfrm>
            <a:off x="5597145" y="5857151"/>
            <a:ext cx="1524469" cy="765078"/>
          </a:xfrm>
          <a:prstGeom prst="rect">
            <a:avLst/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r>
              <a:rPr lang="en-US" sz="2200" b="1" err="1">
                <a:solidFill>
                  <a:schemeClr val="bg1"/>
                </a:solidFill>
                <a:ea typeface="Segoe UI" pitchFamily="34" charset="0"/>
                <a:cs typeface="Segoe UI" pitchFamily="34" charset="0"/>
              </a:rPr>
              <a:t>Executor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F152F356-803F-10C6-7D1A-E2A83DFB41CF}"/>
              </a:ext>
            </a:extLst>
          </p:cNvPr>
          <p:cNvCxnSpPr>
            <a:cxnSpLocks/>
            <a:stCxn id="25" idx="3"/>
            <a:endCxn id="27" idx="1"/>
          </p:cNvCxnSpPr>
          <p:nvPr/>
        </p:nvCxnSpPr>
        <p:spPr>
          <a:xfrm>
            <a:off x="7121614" y="6239690"/>
            <a:ext cx="1089331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BC66D0B4-C6C8-BB63-8270-105217EE8360}"/>
              </a:ext>
            </a:extLst>
          </p:cNvPr>
          <p:cNvSpPr/>
          <p:nvPr/>
        </p:nvSpPr>
        <p:spPr bwMode="auto">
          <a:xfrm>
            <a:off x="8210945" y="5857151"/>
            <a:ext cx="1524469" cy="765078"/>
          </a:xfrm>
          <a:prstGeom prst="rect">
            <a:avLst/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r>
              <a:rPr lang="en-US" sz="2200" b="1" err="1">
                <a:solidFill>
                  <a:schemeClr val="bg1"/>
                </a:solidFill>
                <a:ea typeface="Segoe UI" pitchFamily="34" charset="0"/>
                <a:cs typeface="Segoe UI" pitchFamily="34" charset="0"/>
              </a:rPr>
              <a:t>Executor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7AAFF808-0AD6-7DF3-0F5E-B8581ED7F103}"/>
              </a:ext>
            </a:extLst>
          </p:cNvPr>
          <p:cNvCxnSpPr>
            <a:cxnSpLocks/>
          </p:cNvCxnSpPr>
          <p:nvPr/>
        </p:nvCxnSpPr>
        <p:spPr>
          <a:xfrm>
            <a:off x="9735414" y="6278695"/>
            <a:ext cx="462117" cy="0"/>
          </a:xfrm>
          <a:prstGeom prst="straightConnector1">
            <a:avLst/>
          </a:prstGeom>
          <a:ln w="38100">
            <a:solidFill>
              <a:srgbClr val="D764D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Content Placeholder 2">
            <a:extLst>
              <a:ext uri="{FF2B5EF4-FFF2-40B4-BE49-F238E27FC236}">
                <a16:creationId xmlns:a16="http://schemas.microsoft.com/office/drawing/2014/main" id="{16C08A4A-DA33-6A74-6816-73E0E8F852C6}"/>
              </a:ext>
            </a:extLst>
          </p:cNvPr>
          <p:cNvSpPr txBox="1">
            <a:spLocks/>
          </p:cNvSpPr>
          <p:nvPr/>
        </p:nvSpPr>
        <p:spPr>
          <a:xfrm>
            <a:off x="1088821" y="5169527"/>
            <a:ext cx="11543116" cy="47141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200"/>
              <a:t>In agent-framework, a  workflow is a graph with </a:t>
            </a:r>
            <a:r>
              <a:rPr lang="en-US" sz="2200">
                <a:latin typeface="Consolas" panose="020B0609020204030204" pitchFamily="49" charset="0"/>
                <a:cs typeface="Consolas" panose="020B0609020204030204" pitchFamily="49" charset="0"/>
              </a:rPr>
              <a:t>Executor</a:t>
            </a:r>
            <a:r>
              <a:rPr lang="en-US" sz="2200"/>
              <a:t> nodes and edges between:</a:t>
            </a:r>
          </a:p>
        </p:txBody>
      </p:sp>
      <p:sp>
        <p:nvSpPr>
          <p:cNvPr id="31" name="Content Placeholder 2">
            <a:extLst>
              <a:ext uri="{FF2B5EF4-FFF2-40B4-BE49-F238E27FC236}">
                <a16:creationId xmlns:a16="http://schemas.microsoft.com/office/drawing/2014/main" id="{6DF446F5-494C-39D1-00CE-B0554D35EE3A}"/>
              </a:ext>
            </a:extLst>
          </p:cNvPr>
          <p:cNvSpPr txBox="1">
            <a:spLocks/>
          </p:cNvSpPr>
          <p:nvPr/>
        </p:nvSpPr>
        <p:spPr>
          <a:xfrm>
            <a:off x="4507814" y="5896156"/>
            <a:ext cx="1089330" cy="47141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2000" b="1"/>
              <a:t>edge</a:t>
            </a:r>
          </a:p>
        </p:txBody>
      </p:sp>
      <p:sp>
        <p:nvSpPr>
          <p:cNvPr id="32" name="Content Placeholder 2">
            <a:extLst>
              <a:ext uri="{FF2B5EF4-FFF2-40B4-BE49-F238E27FC236}">
                <a16:creationId xmlns:a16="http://schemas.microsoft.com/office/drawing/2014/main" id="{4E81B095-DE6F-A2AE-4A1E-7E19307ADD27}"/>
              </a:ext>
            </a:extLst>
          </p:cNvPr>
          <p:cNvSpPr txBox="1">
            <a:spLocks/>
          </p:cNvSpPr>
          <p:nvPr/>
        </p:nvSpPr>
        <p:spPr>
          <a:xfrm>
            <a:off x="7121613" y="5881296"/>
            <a:ext cx="1089332" cy="47141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2000" b="1"/>
              <a:t>edge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F452C9E9-16DA-8118-200D-DBD0B07D238C}"/>
              </a:ext>
            </a:extLst>
          </p:cNvPr>
          <p:cNvCxnSpPr>
            <a:cxnSpLocks/>
          </p:cNvCxnSpPr>
          <p:nvPr/>
        </p:nvCxnSpPr>
        <p:spPr>
          <a:xfrm>
            <a:off x="4507814" y="6239690"/>
            <a:ext cx="1089331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25ECCE70-5AAB-D120-7B2E-CE7451B2CFEE}"/>
              </a:ext>
            </a:extLst>
          </p:cNvPr>
          <p:cNvSpPr txBox="1"/>
          <p:nvPr/>
        </p:nvSpPr>
        <p:spPr>
          <a:xfrm>
            <a:off x="5479442" y="2759625"/>
            <a:ext cx="80312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0" i="0">
                <a:solidFill>
                  <a:srgbClr val="616161"/>
                </a:solidFill>
                <a:effectLst/>
                <a:latin typeface="-apple-system"/>
              </a:rPr>
              <a:t>🤖</a:t>
            </a:r>
            <a:endParaRPr lang="en-US" sz="240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DE47649-4D89-2D7E-D76A-E5A3807F48F4}"/>
              </a:ext>
            </a:extLst>
          </p:cNvPr>
          <p:cNvSpPr txBox="1"/>
          <p:nvPr/>
        </p:nvSpPr>
        <p:spPr>
          <a:xfrm>
            <a:off x="6090534" y="2845260"/>
            <a:ext cx="109673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err="1">
                <a:ea typeface="Segoe UI" pitchFamily="34" charset="0"/>
                <a:cs typeface="Segoe UI" pitchFamily="34" charset="0"/>
              </a:rPr>
              <a:t>Agent</a:t>
            </a:r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31004562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92FA51-9EE7-9057-2B99-BA9D21010A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F8902C-0436-B84D-A435-C532946367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Concurrent execution</a:t>
            </a:r>
          </a:p>
        </p:txBody>
      </p:sp>
    </p:spTree>
    <p:extLst>
      <p:ext uri="{BB962C8B-B14F-4D97-AF65-F5344CB8AC3E}">
        <p14:creationId xmlns:p14="http://schemas.microsoft.com/office/powerpoint/2010/main" val="36039648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7A2B9C-1B31-4501-6C86-F163C29186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9E282B-E4C2-E5FE-1FBC-25736DBEE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Sequential execution vs. Concurrent execution</a:t>
            </a:r>
          </a:p>
        </p:txBody>
      </p:sp>
      <p:sp>
        <p:nvSpPr>
          <p:cNvPr id="3" name="Rounded Rectangular Callout 2">
            <a:extLst>
              <a:ext uri="{FF2B5EF4-FFF2-40B4-BE49-F238E27FC236}">
                <a16:creationId xmlns:a16="http://schemas.microsoft.com/office/drawing/2014/main" id="{4EB6265F-6DC3-1623-BC49-B568A610C7B6}"/>
              </a:ext>
            </a:extLst>
          </p:cNvPr>
          <p:cNvSpPr/>
          <p:nvPr/>
        </p:nvSpPr>
        <p:spPr>
          <a:xfrm>
            <a:off x="2829392" y="1920430"/>
            <a:ext cx="1151664" cy="632132"/>
          </a:xfrm>
          <a:prstGeom prst="wedgeRoundRectCallout">
            <a:avLst>
              <a:gd name="adj1" fmla="val -77665"/>
              <a:gd name="adj2" fmla="val -23174"/>
              <a:gd name="adj3" fmla="val 16667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/>
              <a:t>Input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97EE468-7D72-46E0-36A6-20808AAD86CC}"/>
              </a:ext>
            </a:extLst>
          </p:cNvPr>
          <p:cNvSpPr/>
          <p:nvPr/>
        </p:nvSpPr>
        <p:spPr bwMode="auto">
          <a:xfrm>
            <a:off x="2657176" y="2942822"/>
            <a:ext cx="1524469" cy="765078"/>
          </a:xfrm>
          <a:prstGeom prst="rect">
            <a:avLst/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r>
              <a:rPr lang="en-US" sz="2200" b="1" err="1">
                <a:solidFill>
                  <a:schemeClr val="bg1"/>
                </a:solidFill>
                <a:ea typeface="Segoe UI" pitchFamily="34" charset="0"/>
                <a:cs typeface="Segoe UI" pitchFamily="34" charset="0"/>
              </a:rPr>
              <a:t>Executor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9A6D6B93-C3D3-A9BD-C3BE-A57C0BF2641C}"/>
              </a:ext>
            </a:extLst>
          </p:cNvPr>
          <p:cNvCxnSpPr>
            <a:cxnSpLocks/>
          </p:cNvCxnSpPr>
          <p:nvPr/>
        </p:nvCxnSpPr>
        <p:spPr>
          <a:xfrm>
            <a:off x="3419411" y="2552562"/>
            <a:ext cx="0" cy="390260"/>
          </a:xfrm>
          <a:prstGeom prst="straightConnector1">
            <a:avLst/>
          </a:prstGeom>
          <a:ln w="38100">
            <a:solidFill>
              <a:srgbClr val="46A5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ular Callout 6">
            <a:extLst>
              <a:ext uri="{FF2B5EF4-FFF2-40B4-BE49-F238E27FC236}">
                <a16:creationId xmlns:a16="http://schemas.microsoft.com/office/drawing/2014/main" id="{795F1F2D-A561-7EE1-6668-38F6865AF3A9}"/>
              </a:ext>
            </a:extLst>
          </p:cNvPr>
          <p:cNvSpPr/>
          <p:nvPr/>
        </p:nvSpPr>
        <p:spPr>
          <a:xfrm>
            <a:off x="2631141" y="5407053"/>
            <a:ext cx="1576537" cy="530524"/>
          </a:xfrm>
          <a:prstGeom prst="wedgeRoundRectCallout">
            <a:avLst>
              <a:gd name="adj1" fmla="val -22005"/>
              <a:gd name="adj2" fmla="val 46429"/>
              <a:gd name="adj3" fmla="val 16667"/>
            </a:avLst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/>
              <a:t>Output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E1A3968-9359-D789-36AB-FA898395871D}"/>
              </a:ext>
            </a:extLst>
          </p:cNvPr>
          <p:cNvSpPr/>
          <p:nvPr/>
        </p:nvSpPr>
        <p:spPr bwMode="auto">
          <a:xfrm>
            <a:off x="2657176" y="4238761"/>
            <a:ext cx="1524469" cy="765078"/>
          </a:xfrm>
          <a:prstGeom prst="rect">
            <a:avLst/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r>
              <a:rPr lang="en-US" sz="2200" b="1" err="1">
                <a:solidFill>
                  <a:schemeClr val="bg1"/>
                </a:solidFill>
                <a:ea typeface="Segoe UI" pitchFamily="34" charset="0"/>
                <a:cs typeface="Segoe UI" pitchFamily="34" charset="0"/>
              </a:rPr>
              <a:t>Executor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F464E39B-F07D-FC57-C2C2-E02449CC35B0}"/>
              </a:ext>
            </a:extLst>
          </p:cNvPr>
          <p:cNvCxnSpPr>
            <a:cxnSpLocks/>
          </p:cNvCxnSpPr>
          <p:nvPr/>
        </p:nvCxnSpPr>
        <p:spPr>
          <a:xfrm>
            <a:off x="3419410" y="5003839"/>
            <a:ext cx="0" cy="403214"/>
          </a:xfrm>
          <a:prstGeom prst="straightConnector1">
            <a:avLst/>
          </a:prstGeom>
          <a:ln w="38100">
            <a:solidFill>
              <a:srgbClr val="D764D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DC8351F1-F7F3-C4C6-7CB8-C946B66884CC}"/>
              </a:ext>
            </a:extLst>
          </p:cNvPr>
          <p:cNvCxnSpPr>
            <a:cxnSpLocks/>
          </p:cNvCxnSpPr>
          <p:nvPr/>
        </p:nvCxnSpPr>
        <p:spPr>
          <a:xfrm>
            <a:off x="3419410" y="3707900"/>
            <a:ext cx="0" cy="53086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ular Callout 26">
            <a:extLst>
              <a:ext uri="{FF2B5EF4-FFF2-40B4-BE49-F238E27FC236}">
                <a16:creationId xmlns:a16="http://schemas.microsoft.com/office/drawing/2014/main" id="{45B9930F-A863-A117-3701-2BA8D3E3CE67}"/>
              </a:ext>
            </a:extLst>
          </p:cNvPr>
          <p:cNvSpPr/>
          <p:nvPr/>
        </p:nvSpPr>
        <p:spPr>
          <a:xfrm>
            <a:off x="8423384" y="1920430"/>
            <a:ext cx="1151664" cy="632132"/>
          </a:xfrm>
          <a:prstGeom prst="wedgeRoundRectCallout">
            <a:avLst>
              <a:gd name="adj1" fmla="val -77665"/>
              <a:gd name="adj2" fmla="val -23174"/>
              <a:gd name="adj3" fmla="val 16667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/>
              <a:t>Input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46E7BDC-2D62-119F-D4DB-72D1E40EE358}"/>
              </a:ext>
            </a:extLst>
          </p:cNvPr>
          <p:cNvSpPr/>
          <p:nvPr/>
        </p:nvSpPr>
        <p:spPr bwMode="auto">
          <a:xfrm>
            <a:off x="7176868" y="3380687"/>
            <a:ext cx="1524469" cy="765078"/>
          </a:xfrm>
          <a:prstGeom prst="rect">
            <a:avLst/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r>
              <a:rPr lang="en-US" sz="2200" b="1" err="1">
                <a:solidFill>
                  <a:schemeClr val="bg1"/>
                </a:solidFill>
                <a:ea typeface="Segoe UI" pitchFamily="34" charset="0"/>
                <a:cs typeface="Segoe UI" pitchFamily="34" charset="0"/>
              </a:rPr>
              <a:t>Executor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91F44A6D-18DF-75F1-9A0A-15B068092290}"/>
              </a:ext>
            </a:extLst>
          </p:cNvPr>
          <p:cNvCxnSpPr>
            <a:cxnSpLocks/>
            <a:stCxn id="27" idx="2"/>
            <a:endCxn id="28" idx="0"/>
          </p:cNvCxnSpPr>
          <p:nvPr/>
        </p:nvCxnSpPr>
        <p:spPr>
          <a:xfrm flipH="1">
            <a:off x="7939103" y="2552562"/>
            <a:ext cx="1060113" cy="828125"/>
          </a:xfrm>
          <a:prstGeom prst="straightConnector1">
            <a:avLst/>
          </a:prstGeom>
          <a:ln w="38100">
            <a:solidFill>
              <a:srgbClr val="46A5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ular Callout 29">
            <a:extLst>
              <a:ext uri="{FF2B5EF4-FFF2-40B4-BE49-F238E27FC236}">
                <a16:creationId xmlns:a16="http://schemas.microsoft.com/office/drawing/2014/main" id="{A1A998CD-9AD0-E975-8F92-709E52C409BB}"/>
              </a:ext>
            </a:extLst>
          </p:cNvPr>
          <p:cNvSpPr/>
          <p:nvPr/>
        </p:nvSpPr>
        <p:spPr>
          <a:xfrm>
            <a:off x="8210946" y="5003839"/>
            <a:ext cx="1576537" cy="530524"/>
          </a:xfrm>
          <a:prstGeom prst="wedgeRoundRectCallout">
            <a:avLst>
              <a:gd name="adj1" fmla="val -22005"/>
              <a:gd name="adj2" fmla="val 46429"/>
              <a:gd name="adj3" fmla="val 16667"/>
            </a:avLst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/>
              <a:t>Output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75BF67C-B3D6-1955-8E08-4C6BC9FEE909}"/>
              </a:ext>
            </a:extLst>
          </p:cNvPr>
          <p:cNvSpPr/>
          <p:nvPr/>
        </p:nvSpPr>
        <p:spPr bwMode="auto">
          <a:xfrm>
            <a:off x="9297094" y="3402446"/>
            <a:ext cx="1524469" cy="765078"/>
          </a:xfrm>
          <a:prstGeom prst="rect">
            <a:avLst/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r>
              <a:rPr lang="en-US" sz="2200" b="1" err="1">
                <a:solidFill>
                  <a:schemeClr val="bg1"/>
                </a:solidFill>
                <a:ea typeface="Segoe UI" pitchFamily="34" charset="0"/>
                <a:cs typeface="Segoe UI" pitchFamily="34" charset="0"/>
              </a:rPr>
              <a:t>Executor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75EE8C06-EEE7-FE6D-858D-343FD50AEEE1}"/>
              </a:ext>
            </a:extLst>
          </p:cNvPr>
          <p:cNvCxnSpPr>
            <a:cxnSpLocks/>
          </p:cNvCxnSpPr>
          <p:nvPr/>
        </p:nvCxnSpPr>
        <p:spPr>
          <a:xfrm>
            <a:off x="8999216" y="2566907"/>
            <a:ext cx="1060113" cy="828125"/>
          </a:xfrm>
          <a:prstGeom prst="straightConnector1">
            <a:avLst/>
          </a:prstGeom>
          <a:ln w="38100">
            <a:solidFill>
              <a:srgbClr val="46A5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BE5E8EAB-DE0B-8649-9CB3-E4709E5431BB}"/>
              </a:ext>
            </a:extLst>
          </p:cNvPr>
          <p:cNvCxnSpPr>
            <a:cxnSpLocks/>
            <a:stCxn id="30" idx="0"/>
          </p:cNvCxnSpPr>
          <p:nvPr/>
        </p:nvCxnSpPr>
        <p:spPr>
          <a:xfrm flipH="1" flipV="1">
            <a:off x="7939102" y="4167524"/>
            <a:ext cx="1060113" cy="836315"/>
          </a:xfrm>
          <a:prstGeom prst="straightConnector1">
            <a:avLst/>
          </a:prstGeom>
          <a:ln w="38100">
            <a:solidFill>
              <a:srgbClr val="D764D4"/>
            </a:solidFill>
            <a:headEnd type="triangl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E55BB61A-9E5C-E17A-89E4-7735EB676C17}"/>
              </a:ext>
            </a:extLst>
          </p:cNvPr>
          <p:cNvCxnSpPr>
            <a:cxnSpLocks/>
          </p:cNvCxnSpPr>
          <p:nvPr/>
        </p:nvCxnSpPr>
        <p:spPr>
          <a:xfrm flipV="1">
            <a:off x="8999215" y="4181869"/>
            <a:ext cx="1060113" cy="828125"/>
          </a:xfrm>
          <a:prstGeom prst="straightConnector1">
            <a:avLst/>
          </a:prstGeom>
          <a:ln w="38100">
            <a:solidFill>
              <a:srgbClr val="D764D4"/>
            </a:solidFill>
            <a:headEnd type="triangl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A2E30209-219B-981F-EB8A-839A7E158C91}"/>
              </a:ext>
            </a:extLst>
          </p:cNvPr>
          <p:cNvSpPr txBox="1"/>
          <p:nvPr/>
        </p:nvSpPr>
        <p:spPr>
          <a:xfrm>
            <a:off x="1049416" y="6196722"/>
            <a:ext cx="5302681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2400" err="1"/>
              <a:t>Only one executor runs at a given time.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5CD4520-E852-B6A3-C586-32F082A96326}"/>
              </a:ext>
            </a:extLst>
          </p:cNvPr>
          <p:cNvSpPr txBox="1"/>
          <p:nvPr/>
        </p:nvSpPr>
        <p:spPr>
          <a:xfrm>
            <a:off x="6506408" y="5937577"/>
            <a:ext cx="5034284" cy="73866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2400" err="1"/>
              <a:t>Executors run in parallel</a:t>
            </a:r>
          </a:p>
          <a:p>
            <a:pPr algn="ctr"/>
            <a:r>
              <a:rPr lang="en-US" sz="2400" err="1"/>
              <a:t>and outputs are aggregated.</a:t>
            </a:r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CBCF7574-F458-1446-F628-06AD5E2EA2DB}"/>
              </a:ext>
            </a:extLst>
          </p:cNvPr>
          <p:cNvCxnSpPr/>
          <p:nvPr/>
        </p:nvCxnSpPr>
        <p:spPr>
          <a:xfrm>
            <a:off x="6506408" y="1920430"/>
            <a:ext cx="0" cy="4645624"/>
          </a:xfrm>
          <a:prstGeom prst="line">
            <a:avLst/>
          </a:prstGeom>
          <a:ln w="28575" cap="rnd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86991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6082D5-5235-1880-B5B9-9BECEFCC3B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530A54-6B10-5804-A37F-1B8B7A6B51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Anatomy of a concurrent workflow</a:t>
            </a:r>
          </a:p>
        </p:txBody>
      </p:sp>
      <p:sp>
        <p:nvSpPr>
          <p:cNvPr id="27" name="Rounded Rectangular Callout 26">
            <a:extLst>
              <a:ext uri="{FF2B5EF4-FFF2-40B4-BE49-F238E27FC236}">
                <a16:creationId xmlns:a16="http://schemas.microsoft.com/office/drawing/2014/main" id="{B6B0D328-BDFA-5D93-AA9E-DE258C21606A}"/>
              </a:ext>
            </a:extLst>
          </p:cNvPr>
          <p:cNvSpPr/>
          <p:nvPr/>
        </p:nvSpPr>
        <p:spPr>
          <a:xfrm>
            <a:off x="1531695" y="3273030"/>
            <a:ext cx="1151664" cy="632132"/>
          </a:xfrm>
          <a:prstGeom prst="wedgeRoundRectCallout">
            <a:avLst>
              <a:gd name="adj1" fmla="val -77665"/>
              <a:gd name="adj2" fmla="val -23174"/>
              <a:gd name="adj3" fmla="val 16667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/>
              <a:t>Input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1318E80-849F-357B-9053-12F60C12F3FE}"/>
              </a:ext>
            </a:extLst>
          </p:cNvPr>
          <p:cNvSpPr/>
          <p:nvPr/>
        </p:nvSpPr>
        <p:spPr bwMode="auto">
          <a:xfrm>
            <a:off x="4708592" y="2852666"/>
            <a:ext cx="1524469" cy="632132"/>
          </a:xfrm>
          <a:prstGeom prst="rect">
            <a:avLst/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r>
              <a:rPr lang="en-US" sz="2200" b="1" err="1">
                <a:solidFill>
                  <a:schemeClr val="bg1"/>
                </a:solidFill>
                <a:ea typeface="Segoe UI" pitchFamily="34" charset="0"/>
                <a:cs typeface="Segoe UI" pitchFamily="34" charset="0"/>
              </a:rPr>
              <a:t>Executor</a:t>
            </a:r>
          </a:p>
        </p:txBody>
      </p:sp>
      <p:sp>
        <p:nvSpPr>
          <p:cNvPr id="30" name="Rounded Rectangular Callout 29">
            <a:extLst>
              <a:ext uri="{FF2B5EF4-FFF2-40B4-BE49-F238E27FC236}">
                <a16:creationId xmlns:a16="http://schemas.microsoft.com/office/drawing/2014/main" id="{741B41AA-BC18-15FD-5D46-E07B4FC53BCD}"/>
              </a:ext>
            </a:extLst>
          </p:cNvPr>
          <p:cNvSpPr/>
          <p:nvPr/>
        </p:nvSpPr>
        <p:spPr>
          <a:xfrm>
            <a:off x="10386861" y="3273030"/>
            <a:ext cx="1576537" cy="530524"/>
          </a:xfrm>
          <a:prstGeom prst="wedgeRoundRectCallout">
            <a:avLst>
              <a:gd name="adj1" fmla="val -22005"/>
              <a:gd name="adj2" fmla="val 46429"/>
              <a:gd name="adj3" fmla="val 16667"/>
            </a:avLst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/>
              <a:t>Output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B9102953-A166-FEF0-449A-9FF38A68EBBA}"/>
              </a:ext>
            </a:extLst>
          </p:cNvPr>
          <p:cNvCxnSpPr>
            <a:cxnSpLocks/>
            <a:stCxn id="27" idx="3"/>
            <a:endCxn id="28" idx="1"/>
          </p:cNvCxnSpPr>
          <p:nvPr/>
        </p:nvCxnSpPr>
        <p:spPr>
          <a:xfrm flipV="1">
            <a:off x="2683359" y="3168732"/>
            <a:ext cx="2025233" cy="420364"/>
          </a:xfrm>
          <a:prstGeom prst="straightConnector1">
            <a:avLst/>
          </a:prstGeom>
          <a:ln w="38100">
            <a:solidFill>
              <a:srgbClr val="46A5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B7C5133B-70E4-B7F8-80AA-56A9298FFAC3}"/>
              </a:ext>
            </a:extLst>
          </p:cNvPr>
          <p:cNvSpPr/>
          <p:nvPr/>
        </p:nvSpPr>
        <p:spPr bwMode="auto">
          <a:xfrm>
            <a:off x="4708591" y="3714139"/>
            <a:ext cx="1524469" cy="632132"/>
          </a:xfrm>
          <a:prstGeom prst="rect">
            <a:avLst/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r>
              <a:rPr lang="en-US" sz="2200" b="1" err="1">
                <a:solidFill>
                  <a:schemeClr val="bg1"/>
                </a:solidFill>
                <a:ea typeface="Segoe UI" pitchFamily="34" charset="0"/>
                <a:cs typeface="Segoe UI" pitchFamily="34" charset="0"/>
              </a:rPr>
              <a:t>Executor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1184AC42-5D71-0CB6-B347-B55207C16F3D}"/>
              </a:ext>
            </a:extLst>
          </p:cNvPr>
          <p:cNvCxnSpPr>
            <a:cxnSpLocks/>
            <a:endCxn id="18" idx="1"/>
          </p:cNvCxnSpPr>
          <p:nvPr/>
        </p:nvCxnSpPr>
        <p:spPr>
          <a:xfrm>
            <a:off x="2683358" y="3617014"/>
            <a:ext cx="2025233" cy="413191"/>
          </a:xfrm>
          <a:prstGeom prst="straightConnector1">
            <a:avLst/>
          </a:prstGeom>
          <a:ln w="38100">
            <a:solidFill>
              <a:srgbClr val="46A5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697479D4-AB80-E764-DDF4-345DE1C66AC1}"/>
              </a:ext>
            </a:extLst>
          </p:cNvPr>
          <p:cNvSpPr txBox="1">
            <a:spLocks/>
          </p:cNvSpPr>
          <p:nvPr/>
        </p:nvSpPr>
        <p:spPr>
          <a:xfrm rot="20890948">
            <a:off x="2769985" y="2956474"/>
            <a:ext cx="1851978" cy="47141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b="1"/>
              <a:t>fan-out edges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8E4974F6-1484-6389-D524-1F10651C0EF6}"/>
              </a:ext>
            </a:extLst>
          </p:cNvPr>
          <p:cNvCxnSpPr>
            <a:cxnSpLocks/>
          </p:cNvCxnSpPr>
          <p:nvPr/>
        </p:nvCxnSpPr>
        <p:spPr>
          <a:xfrm flipH="1" flipV="1">
            <a:off x="6220536" y="3140814"/>
            <a:ext cx="2025233" cy="420364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2E8E6E0C-981E-57F9-4A22-D9FF4970B301}"/>
              </a:ext>
            </a:extLst>
          </p:cNvPr>
          <p:cNvCxnSpPr>
            <a:cxnSpLocks/>
          </p:cNvCxnSpPr>
          <p:nvPr/>
        </p:nvCxnSpPr>
        <p:spPr>
          <a:xfrm flipH="1">
            <a:off x="6220535" y="3589096"/>
            <a:ext cx="2025233" cy="413191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id="{A8825403-CD6B-B062-6798-21D8DC43B5A6}"/>
              </a:ext>
            </a:extLst>
          </p:cNvPr>
          <p:cNvSpPr/>
          <p:nvPr/>
        </p:nvSpPr>
        <p:spPr bwMode="auto">
          <a:xfrm>
            <a:off x="8187785" y="3226811"/>
            <a:ext cx="1524469" cy="632132"/>
          </a:xfrm>
          <a:prstGeom prst="rect">
            <a:avLst/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r>
              <a:rPr lang="en-US" sz="2200" b="1" err="1">
                <a:solidFill>
                  <a:schemeClr val="bg1"/>
                </a:solidFill>
                <a:ea typeface="Segoe UI" pitchFamily="34" charset="0"/>
                <a:cs typeface="Segoe UI" pitchFamily="34" charset="0"/>
              </a:rPr>
              <a:t>Executor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50050670-55B7-DD00-4C8E-B65F11F12285}"/>
              </a:ext>
            </a:extLst>
          </p:cNvPr>
          <p:cNvCxnSpPr>
            <a:cxnSpLocks/>
            <a:stCxn id="30" idx="1"/>
            <a:endCxn id="25" idx="3"/>
          </p:cNvCxnSpPr>
          <p:nvPr/>
        </p:nvCxnSpPr>
        <p:spPr>
          <a:xfrm flipH="1">
            <a:off x="9712254" y="3538292"/>
            <a:ext cx="674607" cy="4585"/>
          </a:xfrm>
          <a:prstGeom prst="straightConnector1">
            <a:avLst/>
          </a:prstGeom>
          <a:ln w="38100">
            <a:solidFill>
              <a:srgbClr val="D764D4"/>
            </a:solidFill>
            <a:headEnd type="triangl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Content Placeholder 2">
            <a:extLst>
              <a:ext uri="{FF2B5EF4-FFF2-40B4-BE49-F238E27FC236}">
                <a16:creationId xmlns:a16="http://schemas.microsoft.com/office/drawing/2014/main" id="{32EFCDD6-C167-D49F-4A41-C1FA918F48F4}"/>
              </a:ext>
            </a:extLst>
          </p:cNvPr>
          <p:cNvSpPr txBox="1">
            <a:spLocks/>
          </p:cNvSpPr>
          <p:nvPr/>
        </p:nvSpPr>
        <p:spPr>
          <a:xfrm rot="713965">
            <a:off x="6278172" y="2963331"/>
            <a:ext cx="1851978" cy="47141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b="1"/>
              <a:t>fan-in edges</a:t>
            </a:r>
          </a:p>
        </p:txBody>
      </p:sp>
      <p:sp>
        <p:nvSpPr>
          <p:cNvPr id="36" name="Content Placeholder 2">
            <a:extLst>
              <a:ext uri="{FF2B5EF4-FFF2-40B4-BE49-F238E27FC236}">
                <a16:creationId xmlns:a16="http://schemas.microsoft.com/office/drawing/2014/main" id="{B9E26E84-DCC6-230D-C532-AF4C4389EAC8}"/>
              </a:ext>
            </a:extLst>
          </p:cNvPr>
          <p:cNvSpPr txBox="1">
            <a:spLocks/>
          </p:cNvSpPr>
          <p:nvPr/>
        </p:nvSpPr>
        <p:spPr>
          <a:xfrm>
            <a:off x="7992650" y="2846305"/>
            <a:ext cx="1851978" cy="47141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b="1"/>
              <a:t>aggregator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7D645C3-008D-A849-AD3A-2F9D456D4A2B}"/>
              </a:ext>
            </a:extLst>
          </p:cNvPr>
          <p:cNvSpPr txBox="1"/>
          <p:nvPr/>
        </p:nvSpPr>
        <p:spPr>
          <a:xfrm>
            <a:off x="1145669" y="2013162"/>
            <a:ext cx="11328672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2400" err="1"/>
              <a:t>This is a common topology, where inputs </a:t>
            </a:r>
            <a:r>
              <a:rPr lang="en-US" sz="2400" b="1" err="1"/>
              <a:t>fan-out</a:t>
            </a:r>
            <a:r>
              <a:rPr lang="en-US" sz="2400" err="1"/>
              <a:t> and outputs </a:t>
            </a:r>
            <a:r>
              <a:rPr lang="en-US" sz="2400" b="1" err="1"/>
              <a:t>fan-in</a:t>
            </a:r>
            <a:r>
              <a:rPr lang="en-US" sz="2400" err="1"/>
              <a:t> to </a:t>
            </a:r>
            <a:r>
              <a:rPr lang="en-US" sz="2400" b="1" err="1"/>
              <a:t>aggregator</a:t>
            </a:r>
            <a:r>
              <a:rPr lang="en-US" sz="2400" err="1"/>
              <a:t>: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479F6D6-B69F-CB63-A66D-B5CCD8B10C3F}"/>
              </a:ext>
            </a:extLst>
          </p:cNvPr>
          <p:cNvSpPr txBox="1"/>
          <p:nvPr/>
        </p:nvSpPr>
        <p:spPr>
          <a:xfrm>
            <a:off x="1309566" y="4882350"/>
            <a:ext cx="10817729" cy="11079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2400" err="1"/>
              <a:t>Also possible: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err="1"/>
              <a:t> workflows with dynamic fan-out (optional executors)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err="1"/>
              <a:t>workflows without an explicit aggregator</a:t>
            </a:r>
          </a:p>
        </p:txBody>
      </p:sp>
    </p:spTree>
    <p:extLst>
      <p:ext uri="{BB962C8B-B14F-4D97-AF65-F5344CB8AC3E}">
        <p14:creationId xmlns:p14="http://schemas.microsoft.com/office/powerpoint/2010/main" val="3957622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E03E88-E963-E7C7-97FA-4FECAB550B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617D8C-D840-530C-E007-20633F3BB2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Using fan-in/fan-out edges in workflows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8CED59-3565-6FE5-B30F-000FEA50E6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9416" y="3749313"/>
            <a:ext cx="10985100" cy="53104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/>
              <a:t>Use  </a:t>
            </a:r>
            <a:r>
              <a:rPr lang="en-US" sz="2400">
                <a:solidFill>
                  <a:srgbClr val="267F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WorkflowBuilder </a:t>
            </a:r>
            <a:r>
              <a:rPr lang="en-US" sz="2400"/>
              <a:t>with </a:t>
            </a:r>
            <a:r>
              <a:rPr lang="en-US" sz="2400">
                <a:solidFill>
                  <a:srgbClr val="795E2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add_fan_out_edges </a:t>
            </a:r>
            <a:r>
              <a:rPr lang="en-US" sz="2400"/>
              <a:t>and </a:t>
            </a:r>
            <a:r>
              <a:rPr lang="en-US" sz="2400">
                <a:solidFill>
                  <a:srgbClr val="795E2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add_fan_in_edges</a:t>
            </a:r>
            <a:r>
              <a:rPr lang="en-US" sz="2400"/>
              <a:t>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C0F48A3-2C41-0F56-31D3-3981A4B4B238}"/>
              </a:ext>
            </a:extLst>
          </p:cNvPr>
          <p:cNvSpPr txBox="1"/>
          <p:nvPr/>
        </p:nvSpPr>
        <p:spPr>
          <a:xfrm>
            <a:off x="1132793" y="4243263"/>
            <a:ext cx="10263519" cy="214597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ts val="2025"/>
              </a:lnSpc>
              <a:buNone/>
            </a:pP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workflow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(</a:t>
            </a:r>
            <a:r>
              <a:rPr lang="en-US" sz="2000">
                <a:solidFill>
                  <a:srgbClr val="267F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WorkflowBuilder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</a:p>
          <a:p>
            <a:pPr>
              <a:lnSpc>
                <a:spcPts val="2025"/>
              </a:lnSpc>
              <a:buNone/>
            </a:pP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name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US" sz="200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"FanOutFanInEdges"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</a:p>
          <a:p>
            <a:pPr>
              <a:lnSpc>
                <a:spcPts val="2025"/>
              </a:lnSpc>
              <a:buNone/>
            </a:pP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description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US" sz="200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"Explicit fan-out/fan-in using edge groups."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</a:p>
          <a:p>
            <a:pPr>
              <a:lnSpc>
                <a:spcPts val="2025"/>
              </a:lnSpc>
            </a:pP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start_executor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dispatcher,</a:t>
            </a:r>
          </a:p>
          <a:p>
            <a:pPr>
              <a:lnSpc>
                <a:spcPts val="2025"/>
              </a:lnSpc>
            </a:pP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output_executors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=[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aggregator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])</a:t>
            </a:r>
          </a:p>
          <a:p>
            <a:pPr>
              <a:lnSpc>
                <a:spcPts val="2025"/>
              </a:lnSpc>
              <a:buNone/>
            </a:pP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.</a:t>
            </a:r>
            <a:r>
              <a:rPr lang="en-US" sz="2000">
                <a:solidFill>
                  <a:srgbClr val="795E2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add_fan_out_edges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dispatcher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[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researcher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marketer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legal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])</a:t>
            </a:r>
          </a:p>
          <a:p>
            <a:pPr>
              <a:lnSpc>
                <a:spcPts val="2025"/>
              </a:lnSpc>
              <a:buNone/>
            </a:pP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.</a:t>
            </a:r>
            <a:r>
              <a:rPr lang="en-US" sz="2000">
                <a:solidFill>
                  <a:srgbClr val="795E2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add_fan_in_edges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([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researcher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marketer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legal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], 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aggregator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>
              <a:lnSpc>
                <a:spcPts val="2025"/>
              </a:lnSpc>
              <a:buNone/>
            </a:pP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.</a:t>
            </a:r>
            <a:r>
              <a:rPr lang="en-US" sz="2000">
                <a:solidFill>
                  <a:srgbClr val="795E2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build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4A03BBE-590C-A83D-FA70-D5648D5E7160}"/>
              </a:ext>
            </a:extLst>
          </p:cNvPr>
          <p:cNvSpPr txBox="1"/>
          <p:nvPr/>
        </p:nvSpPr>
        <p:spPr>
          <a:xfrm>
            <a:off x="1132793" y="227425"/>
            <a:ext cx="3168620" cy="461665"/>
          </a:xfrm>
          <a:prstGeom prst="rect">
            <a:avLst/>
          </a:prstGeom>
          <a:solidFill>
            <a:schemeClr val="accent3"/>
          </a:solidFill>
          <a:effectLst>
            <a:softEdge rad="31750"/>
          </a:effectLst>
        </p:spPr>
        <p:txBody>
          <a:bodyPr wrap="square">
            <a:spAutoFit/>
          </a:bodyPr>
          <a:lstStyle/>
          <a:p>
            <a:pPr algn="ctr"/>
            <a:r>
              <a:rPr lang="en-US" sz="2400" b="1">
                <a:solidFill>
                  <a:schemeClr val="bg1"/>
                </a:solidFill>
              </a:rPr>
              <a:t>agent-framework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845DBD9-C562-9ABC-248D-6A13003371FC}"/>
              </a:ext>
            </a:extLst>
          </p:cNvPr>
          <p:cNvSpPr txBox="1"/>
          <p:nvPr/>
        </p:nvSpPr>
        <p:spPr>
          <a:xfrm>
            <a:off x="1126729" y="6399742"/>
            <a:ext cx="5379678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2000" err="1"/>
              <a:t>Full example: </a:t>
            </a:r>
            <a:r>
              <a:rPr lang="en-US" sz="2000" err="1">
                <a:hlinkClick r:id="rId2"/>
              </a:rPr>
              <a:t>workflow_fan_out_fan_in_edges.py</a:t>
            </a:r>
            <a:endParaRPr lang="en-US" sz="2000" err="1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F32DC32-C807-9312-0CCC-40E77B7BDA9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2793" y="1680480"/>
            <a:ext cx="7772400" cy="2006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47070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4C0594-4F69-0B54-47D2-8AF23349AD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0911FE-69FF-4644-CC60-D3376C802D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Aggregating results from fan-out edges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A072B23-EEA2-6802-C1F8-4CD63A4D1563}"/>
              </a:ext>
            </a:extLst>
          </p:cNvPr>
          <p:cNvSpPr txBox="1"/>
          <p:nvPr/>
        </p:nvSpPr>
        <p:spPr>
          <a:xfrm>
            <a:off x="1132793" y="3675074"/>
            <a:ext cx="10263519" cy="265893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ts val="2025"/>
              </a:lnSpc>
              <a:buNone/>
            </a:pPr>
            <a:r>
              <a:rPr lang="en-US" sz="20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class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000">
                <a:solidFill>
                  <a:srgbClr val="267F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AggregateInsights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2000">
                <a:solidFill>
                  <a:srgbClr val="267F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Executor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):</a:t>
            </a:r>
          </a:p>
          <a:p>
            <a:pPr>
              <a:lnSpc>
                <a:spcPts val="2025"/>
              </a:lnSpc>
              <a:buNone/>
            </a:pPr>
            <a:endParaRPr lang="en-US" sz="200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ts val="2025"/>
              </a:lnSpc>
              <a:buNone/>
            </a:pPr>
            <a:r>
              <a:rPr lang="en-US" sz="2000">
                <a:solidFill>
                  <a:srgbClr val="795E2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@handler</a:t>
            </a:r>
            <a:endParaRPr lang="en-US" sz="200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ts val="2025"/>
              </a:lnSpc>
              <a:buNone/>
            </a:pPr>
            <a:r>
              <a:rPr lang="en-US" sz="20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async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0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def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000">
                <a:solidFill>
                  <a:srgbClr val="795E2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aggregate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</a:p>
          <a:p>
            <a:pPr>
              <a:lnSpc>
                <a:spcPts val="2025"/>
              </a:lnSpc>
              <a:buNone/>
            </a:pP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self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</a:p>
          <a:p>
            <a:pPr>
              <a:lnSpc>
                <a:spcPts val="2025"/>
              </a:lnSpc>
              <a:buNone/>
            </a:pP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results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lang="en-US" sz="2000">
                <a:solidFill>
                  <a:srgbClr val="267F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list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</a:t>
            </a:r>
            <a:r>
              <a:rPr lang="en-US" sz="2000">
                <a:solidFill>
                  <a:srgbClr val="267F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AgentExecutorResponse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],</a:t>
            </a:r>
          </a:p>
          <a:p>
            <a:pPr>
              <a:lnSpc>
                <a:spcPts val="2025"/>
              </a:lnSpc>
              <a:buNone/>
            </a:pP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ctx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lang="en-US" sz="2000">
                <a:solidFill>
                  <a:srgbClr val="267F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WorkflowContext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</a:t>
            </a:r>
            <a:r>
              <a:rPr lang="en-US" sz="2000">
                <a:solidFill>
                  <a:srgbClr val="267F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Never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2000">
                <a:solidFill>
                  <a:srgbClr val="267F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str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]):</a:t>
            </a:r>
          </a:p>
          <a:p>
            <a:pPr>
              <a:lnSpc>
                <a:spcPts val="2025"/>
              </a:lnSpc>
              <a:buNone/>
            </a:pPr>
            <a:r>
              <a:rPr lang="en-US" sz="2000">
                <a:solidFill>
                  <a:srgbClr val="AF00D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for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result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000">
                <a:solidFill>
                  <a:srgbClr val="AF00D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results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</a:p>
          <a:p>
            <a:pPr>
              <a:lnSpc>
                <a:spcPts val="2025"/>
              </a:lnSpc>
              <a:buNone/>
            </a:pP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</a:t>
            </a:r>
            <a:r>
              <a:rPr lang="en-US" sz="200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Process result.executor_id and result.agent_response.text</a:t>
            </a:r>
            <a:endParaRPr lang="en-US" sz="200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ts val="2025"/>
              </a:lnSpc>
              <a:buNone/>
            </a:pPr>
            <a:r>
              <a:rPr lang="en-US" sz="2000">
                <a:solidFill>
                  <a:srgbClr val="AF00D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await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ctx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sz="2000">
                <a:solidFill>
                  <a:srgbClr val="795E2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yield_output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consolidated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231FBD0-ED23-3276-E39F-2FFB040841F9}"/>
              </a:ext>
            </a:extLst>
          </p:cNvPr>
          <p:cNvSpPr txBox="1"/>
          <p:nvPr/>
        </p:nvSpPr>
        <p:spPr>
          <a:xfrm>
            <a:off x="1132793" y="227425"/>
            <a:ext cx="3168620" cy="461665"/>
          </a:xfrm>
          <a:prstGeom prst="rect">
            <a:avLst/>
          </a:prstGeom>
          <a:solidFill>
            <a:schemeClr val="accent3"/>
          </a:solidFill>
          <a:effectLst>
            <a:softEdge rad="31750"/>
          </a:effectLst>
        </p:spPr>
        <p:txBody>
          <a:bodyPr wrap="square">
            <a:spAutoFit/>
          </a:bodyPr>
          <a:lstStyle/>
          <a:p>
            <a:pPr algn="ctr"/>
            <a:r>
              <a:rPr lang="en-US" sz="2400" b="1">
                <a:solidFill>
                  <a:schemeClr val="bg1"/>
                </a:solidFill>
              </a:rPr>
              <a:t>agent-framework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042D5C1-E08C-556C-E8FB-ABFAE351B9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2793" y="1680480"/>
            <a:ext cx="7772400" cy="200600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54833FD3-9FB0-7946-EC30-178A7F9B487F}"/>
              </a:ext>
            </a:extLst>
          </p:cNvPr>
          <p:cNvSpPr txBox="1"/>
          <p:nvPr/>
        </p:nvSpPr>
        <p:spPr>
          <a:xfrm>
            <a:off x="2991051" y="1829349"/>
            <a:ext cx="6136104" cy="3488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025"/>
              </a:lnSpc>
              <a:buNone/>
            </a:pPr>
            <a:endParaRPr lang="en-US" b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A3CA9DD-85CC-02B9-E5B7-C59322A05A0C}"/>
              </a:ext>
            </a:extLst>
          </p:cNvPr>
          <p:cNvSpPr txBox="1"/>
          <p:nvPr/>
        </p:nvSpPr>
        <p:spPr>
          <a:xfrm>
            <a:off x="1132793" y="6343623"/>
            <a:ext cx="5379678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2000" err="1"/>
              <a:t>Full example: </a:t>
            </a:r>
            <a:r>
              <a:rPr lang="en-US" sz="2000" err="1">
                <a:hlinkClick r:id="rId3"/>
              </a:rPr>
              <a:t>workflow_fan_out_fan_in_edges.py</a:t>
            </a:r>
            <a:endParaRPr lang="en-US" sz="2000" err="1"/>
          </a:p>
        </p:txBody>
      </p:sp>
    </p:spTree>
    <p:extLst>
      <p:ext uri="{BB962C8B-B14F-4D97-AF65-F5344CB8AC3E}">
        <p14:creationId xmlns:p14="http://schemas.microsoft.com/office/powerpoint/2010/main" val="40630915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4E1B3B-89B1-BB23-B46B-A44DF505F1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548B0F-6BEA-88FD-FA1D-A720BBBEE7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Aggregation</a:t>
            </a:r>
          </a:p>
        </p:txBody>
      </p:sp>
    </p:spTree>
    <p:extLst>
      <p:ext uri="{BB962C8B-B14F-4D97-AF65-F5344CB8AC3E}">
        <p14:creationId xmlns:p14="http://schemas.microsoft.com/office/powerpoint/2010/main" val="22663051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1840D5-9217-89A4-85B1-561B584753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C2341A-83C4-2D59-7489-902E2A4EFE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Aggregation patterns for fan-in agents</a:t>
            </a:r>
          </a:p>
        </p:txBody>
      </p:sp>
      <p:sp>
        <p:nvSpPr>
          <p:cNvPr id="27" name="Rounded Rectangular Callout 26">
            <a:extLst>
              <a:ext uri="{FF2B5EF4-FFF2-40B4-BE49-F238E27FC236}">
                <a16:creationId xmlns:a16="http://schemas.microsoft.com/office/drawing/2014/main" id="{761B7413-95FB-0049-4C86-D243C95411E0}"/>
              </a:ext>
            </a:extLst>
          </p:cNvPr>
          <p:cNvSpPr/>
          <p:nvPr/>
        </p:nvSpPr>
        <p:spPr>
          <a:xfrm>
            <a:off x="1473944" y="2035385"/>
            <a:ext cx="1151664" cy="632132"/>
          </a:xfrm>
          <a:prstGeom prst="wedgeRoundRectCallout">
            <a:avLst>
              <a:gd name="adj1" fmla="val -77665"/>
              <a:gd name="adj2" fmla="val -23174"/>
              <a:gd name="adj3" fmla="val 16667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/>
              <a:t>Input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216EEA6-901B-B8A3-C6B7-3BC11BF4A6CA}"/>
              </a:ext>
            </a:extLst>
          </p:cNvPr>
          <p:cNvSpPr/>
          <p:nvPr/>
        </p:nvSpPr>
        <p:spPr bwMode="auto">
          <a:xfrm>
            <a:off x="4650841" y="1615021"/>
            <a:ext cx="1524469" cy="632132"/>
          </a:xfrm>
          <a:prstGeom prst="rect">
            <a:avLst/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r>
              <a:rPr lang="en-US" sz="2200" b="1" err="1">
                <a:solidFill>
                  <a:schemeClr val="bg1"/>
                </a:solidFill>
                <a:ea typeface="Segoe UI" pitchFamily="34" charset="0"/>
                <a:cs typeface="Segoe UI" pitchFamily="34" charset="0"/>
              </a:rPr>
              <a:t>Agent A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FDAEFEB4-441C-5791-6C78-D663342AB6E4}"/>
              </a:ext>
            </a:extLst>
          </p:cNvPr>
          <p:cNvCxnSpPr>
            <a:cxnSpLocks/>
            <a:stCxn id="27" idx="3"/>
            <a:endCxn id="28" idx="1"/>
          </p:cNvCxnSpPr>
          <p:nvPr/>
        </p:nvCxnSpPr>
        <p:spPr>
          <a:xfrm flipV="1">
            <a:off x="2625608" y="1931087"/>
            <a:ext cx="2025233" cy="420364"/>
          </a:xfrm>
          <a:prstGeom prst="straightConnector1">
            <a:avLst/>
          </a:prstGeom>
          <a:ln w="38100">
            <a:solidFill>
              <a:srgbClr val="46A5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6C193A13-B791-8BB5-6240-2BE6A834AE61}"/>
              </a:ext>
            </a:extLst>
          </p:cNvPr>
          <p:cNvSpPr/>
          <p:nvPr/>
        </p:nvSpPr>
        <p:spPr bwMode="auto">
          <a:xfrm>
            <a:off x="4650840" y="2476494"/>
            <a:ext cx="1524469" cy="632132"/>
          </a:xfrm>
          <a:prstGeom prst="rect">
            <a:avLst/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r>
              <a:rPr lang="en-US" sz="2200" b="1" err="1">
                <a:solidFill>
                  <a:schemeClr val="bg1"/>
                </a:solidFill>
                <a:ea typeface="Segoe UI" pitchFamily="34" charset="0"/>
                <a:cs typeface="Segoe UI" pitchFamily="34" charset="0"/>
              </a:rPr>
              <a:t>Agent B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2EF72112-FA68-A791-D421-CD73284236FF}"/>
              </a:ext>
            </a:extLst>
          </p:cNvPr>
          <p:cNvCxnSpPr>
            <a:cxnSpLocks/>
            <a:endCxn id="18" idx="1"/>
          </p:cNvCxnSpPr>
          <p:nvPr/>
        </p:nvCxnSpPr>
        <p:spPr>
          <a:xfrm>
            <a:off x="2625607" y="2379369"/>
            <a:ext cx="2025233" cy="413191"/>
          </a:xfrm>
          <a:prstGeom prst="straightConnector1">
            <a:avLst/>
          </a:prstGeom>
          <a:ln w="38100">
            <a:solidFill>
              <a:srgbClr val="46A5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91821057-313A-AE90-C8B5-0D990D2A203A}"/>
              </a:ext>
            </a:extLst>
          </p:cNvPr>
          <p:cNvCxnSpPr>
            <a:cxnSpLocks/>
          </p:cNvCxnSpPr>
          <p:nvPr/>
        </p:nvCxnSpPr>
        <p:spPr>
          <a:xfrm flipH="1" flipV="1">
            <a:off x="6162785" y="1903169"/>
            <a:ext cx="2025233" cy="420364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2C04919B-E7AE-19B3-58DA-8DD999569D00}"/>
              </a:ext>
            </a:extLst>
          </p:cNvPr>
          <p:cNvCxnSpPr>
            <a:cxnSpLocks/>
          </p:cNvCxnSpPr>
          <p:nvPr/>
        </p:nvCxnSpPr>
        <p:spPr>
          <a:xfrm flipH="1">
            <a:off x="6162784" y="2351451"/>
            <a:ext cx="2025233" cy="413191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id="{2BA3F170-9286-8B6C-11E0-ECB71B2D74F8}"/>
              </a:ext>
            </a:extLst>
          </p:cNvPr>
          <p:cNvSpPr/>
          <p:nvPr/>
        </p:nvSpPr>
        <p:spPr bwMode="auto">
          <a:xfrm>
            <a:off x="8130034" y="1989166"/>
            <a:ext cx="1801165" cy="632132"/>
          </a:xfrm>
          <a:prstGeom prst="rect">
            <a:avLst/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r>
              <a:rPr lang="en-US" sz="2200" b="1" err="1">
                <a:solidFill>
                  <a:schemeClr val="bg1"/>
                </a:solidFill>
                <a:ea typeface="Segoe UI" pitchFamily="34" charset="0"/>
                <a:cs typeface="Segoe UI" pitchFamily="34" charset="0"/>
              </a:rPr>
              <a:t>Aggregator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A815729-FBB0-AB63-A1F2-AD8B5C9DCD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133648"/>
              </p:ext>
            </p:extLst>
          </p:nvPr>
        </p:nvGraphicFramePr>
        <p:xfrm>
          <a:off x="1049415" y="3337967"/>
          <a:ext cx="10837060" cy="3164884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2242503">
                  <a:extLst>
                    <a:ext uri="{9D8B030D-6E8A-4147-A177-3AD203B41FA5}">
                      <a16:colId xmlns:a16="http://schemas.microsoft.com/office/drawing/2014/main" val="2330092596"/>
                    </a:ext>
                  </a:extLst>
                </a:gridCol>
                <a:gridCol w="3763400">
                  <a:extLst>
                    <a:ext uri="{9D8B030D-6E8A-4147-A177-3AD203B41FA5}">
                      <a16:colId xmlns:a16="http://schemas.microsoft.com/office/drawing/2014/main" val="2192046218"/>
                    </a:ext>
                  </a:extLst>
                </a:gridCol>
                <a:gridCol w="1530495">
                  <a:extLst>
                    <a:ext uri="{9D8B030D-6E8A-4147-A177-3AD203B41FA5}">
                      <a16:colId xmlns:a16="http://schemas.microsoft.com/office/drawing/2014/main" val="255590305"/>
                    </a:ext>
                  </a:extLst>
                </a:gridCol>
                <a:gridCol w="3300662">
                  <a:extLst>
                    <a:ext uri="{9D8B030D-6E8A-4147-A177-3AD203B41FA5}">
                      <a16:colId xmlns:a16="http://schemas.microsoft.com/office/drawing/2014/main" val="135432281"/>
                    </a:ext>
                  </a:extLst>
                </a:gridCol>
              </a:tblGrid>
              <a:tr h="3248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Pattern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Aggregator implementation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Final output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When to use?</a:t>
                      </a:r>
                    </a:p>
                  </a:txBody>
                  <a:tcPr marL="57150" marR="57150" marT="38100" marB="38100" anchor="ctr"/>
                </a:tc>
                <a:extLst>
                  <a:ext uri="{0D108BD9-81ED-4DB2-BD59-A6C34878D82A}">
                    <a16:rowId xmlns:a16="http://schemas.microsoft.com/office/drawing/2014/main" val="2796185975"/>
                  </a:ext>
                </a:extLst>
              </a:tr>
              <a:tr h="5473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Concatenation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String operations or template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Formatted str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>
                          <a:effectLst/>
                        </a:rPr>
                        <a:t>You control the layout exactly</a:t>
                      </a:r>
                    </a:p>
                  </a:txBody>
                  <a:tcPr marL="57150" marR="57150" marT="38100" marB="38100" anchor="ctr"/>
                </a:tc>
                <a:extLst>
                  <a:ext uri="{0D108BD9-81ED-4DB2-BD59-A6C34878D82A}">
                    <a16:rowId xmlns:a16="http://schemas.microsoft.com/office/drawing/2014/main" val="3060793383"/>
                  </a:ext>
                </a:extLst>
              </a:tr>
              <a:tr h="5473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Output synthesis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LLM call to summarize outputs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Natural prose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>
                          <a:effectLst/>
                        </a:rPr>
                        <a:t>You want a human-readable summary</a:t>
                      </a:r>
                    </a:p>
                  </a:txBody>
                  <a:tcPr marL="57150" marR="57150" marT="38100" marB="38100" anchor="ctr"/>
                </a:tc>
                <a:extLst>
                  <a:ext uri="{0D108BD9-81ED-4DB2-BD59-A6C34878D82A}">
                    <a16:rowId xmlns:a16="http://schemas.microsoft.com/office/drawing/2014/main" val="573999546"/>
                  </a:ext>
                </a:extLst>
              </a:tr>
              <a:tr h="5473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Majority vote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Count most common output label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Winner label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>
                          <a:effectLst/>
                        </a:rPr>
                        <a:t>Multiple judges classify same input</a:t>
                      </a:r>
                    </a:p>
                  </a:txBody>
                  <a:tcPr marL="57150" marR="57150" marT="38100" marB="38100" anchor="ctr"/>
                </a:tc>
                <a:extLst>
                  <a:ext uri="{0D108BD9-81ED-4DB2-BD59-A6C34878D82A}">
                    <a16:rowId xmlns:a16="http://schemas.microsoft.com/office/drawing/2014/main" val="38128343"/>
                  </a:ext>
                </a:extLst>
              </a:tr>
              <a:tr h="5473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Structured extraction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LLM call with structured outputs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Pydantic model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>
                          <a:effectLst/>
                        </a:rPr>
                        <a:t>Downstream code needs typed data</a:t>
                      </a:r>
                    </a:p>
                  </a:txBody>
                  <a:tcPr marL="57150" marR="57150" marT="38100" marB="38100" anchor="ctr"/>
                </a:tc>
                <a:extLst>
                  <a:ext uri="{0D108BD9-81ED-4DB2-BD59-A6C34878D82A}">
                    <a16:rowId xmlns:a16="http://schemas.microsoft.com/office/drawing/2014/main" val="3485414697"/>
                  </a:ext>
                </a:extLst>
              </a:tr>
              <a:tr h="5473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Score &amp; rank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LLM-as-a-judge call to score outputs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Ranked list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>
                          <a:effectLst/>
                        </a:rPr>
                        <a:t>Generate N options, pick the best</a:t>
                      </a:r>
                    </a:p>
                  </a:txBody>
                  <a:tcPr marL="57150" marR="57150" marT="38100" marB="38100" anchor="ctr"/>
                </a:tc>
                <a:extLst>
                  <a:ext uri="{0D108BD9-81ED-4DB2-BD59-A6C34878D82A}">
                    <a16:rowId xmlns:a16="http://schemas.microsoft.com/office/drawing/2014/main" val="1490101632"/>
                  </a:ext>
                </a:extLst>
              </a:tr>
            </a:tbl>
          </a:graphicData>
        </a:graphic>
      </p:graphicFrame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127D7575-518D-01C7-B924-C3DA12A2FB7F}"/>
              </a:ext>
            </a:extLst>
          </p:cNvPr>
          <p:cNvSpPr txBox="1">
            <a:spLocks/>
          </p:cNvSpPr>
          <p:nvPr/>
        </p:nvSpPr>
        <p:spPr>
          <a:xfrm rot="713965">
            <a:off x="6133504" y="1722084"/>
            <a:ext cx="1851978" cy="47141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b="1"/>
              <a:t>output A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B9E234CA-4D4D-C151-A55F-80E7914CF036}"/>
              </a:ext>
            </a:extLst>
          </p:cNvPr>
          <p:cNvSpPr txBox="1">
            <a:spLocks/>
          </p:cNvSpPr>
          <p:nvPr/>
        </p:nvSpPr>
        <p:spPr>
          <a:xfrm rot="20867071">
            <a:off x="6133707" y="2633473"/>
            <a:ext cx="1851978" cy="47141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b="1"/>
              <a:t>output B</a:t>
            </a:r>
          </a:p>
        </p:txBody>
      </p:sp>
      <p:sp>
        <p:nvSpPr>
          <p:cNvPr id="9" name="Rounded Rectangular Callout 8">
            <a:extLst>
              <a:ext uri="{FF2B5EF4-FFF2-40B4-BE49-F238E27FC236}">
                <a16:creationId xmlns:a16="http://schemas.microsoft.com/office/drawing/2014/main" id="{C9835CA9-C626-AF10-6DFC-CF4C588A2BA6}"/>
              </a:ext>
            </a:extLst>
          </p:cNvPr>
          <p:cNvSpPr/>
          <p:nvPr/>
        </p:nvSpPr>
        <p:spPr>
          <a:xfrm>
            <a:off x="10386861" y="1926644"/>
            <a:ext cx="1192331" cy="740873"/>
          </a:xfrm>
          <a:prstGeom prst="wedgeRoundRectCallout">
            <a:avLst>
              <a:gd name="adj1" fmla="val -22005"/>
              <a:gd name="adj2" fmla="val 46429"/>
              <a:gd name="adj3" fmla="val 16667"/>
            </a:avLst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/>
              <a:t>Final output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ED75E70B-71B5-A206-BF3D-8CD6ECD39B52}"/>
              </a:ext>
            </a:extLst>
          </p:cNvPr>
          <p:cNvCxnSpPr>
            <a:cxnSpLocks/>
            <a:stCxn id="9" idx="1"/>
            <a:endCxn id="25" idx="3"/>
          </p:cNvCxnSpPr>
          <p:nvPr/>
        </p:nvCxnSpPr>
        <p:spPr>
          <a:xfrm flipH="1">
            <a:off x="9931199" y="2297081"/>
            <a:ext cx="455662" cy="8151"/>
          </a:xfrm>
          <a:prstGeom prst="straightConnector1">
            <a:avLst/>
          </a:prstGeom>
          <a:ln w="38100">
            <a:solidFill>
              <a:srgbClr val="D764D4"/>
            </a:solidFill>
            <a:headEnd type="triangl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50559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7E394A-85B4-89EC-D4D3-F3B26E3D2B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0BCBC9F-E513-D5F9-E97A-23E475229D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2033" y="1466637"/>
            <a:ext cx="6564430" cy="213590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8B812EE-1232-151D-33BD-FF757A7A5D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Aggregation with LLM summary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BA50971-3633-0371-3499-7CF7CF916244}"/>
              </a:ext>
            </a:extLst>
          </p:cNvPr>
          <p:cNvSpPr txBox="1"/>
          <p:nvPr/>
        </p:nvSpPr>
        <p:spPr>
          <a:xfrm>
            <a:off x="1049416" y="3788643"/>
            <a:ext cx="11068608" cy="273587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ts val="2025"/>
              </a:lnSpc>
              <a:buNone/>
            </a:pPr>
            <a:r>
              <a:rPr lang="en-US" sz="20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class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000">
                <a:solidFill>
                  <a:srgbClr val="267F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SummarizerExecutor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2000">
                <a:solidFill>
                  <a:srgbClr val="267F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Executor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):</a:t>
            </a:r>
          </a:p>
          <a:p>
            <a:pPr>
              <a:lnSpc>
                <a:spcPts val="2025"/>
              </a:lnSpc>
              <a:buNone/>
            </a:pPr>
            <a:r>
              <a:rPr lang="en-US" sz="20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def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000">
                <a:solidFill>
                  <a:srgbClr val="795E2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__init__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self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client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lang="en-US" sz="2000">
                <a:solidFill>
                  <a:srgbClr val="267F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OpenAIChatClient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id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lang="en-US" sz="2000">
                <a:solidFill>
                  <a:srgbClr val="267F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str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):</a:t>
            </a:r>
          </a:p>
          <a:p>
            <a:pPr>
              <a:lnSpc>
                <a:spcPts val="2025"/>
              </a:lnSpc>
              <a:buNone/>
            </a:pPr>
            <a:r>
              <a:rPr lang="en-US" sz="2000">
                <a:solidFill>
                  <a:srgbClr val="267F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super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().</a:t>
            </a:r>
            <a:r>
              <a:rPr lang="en-US" sz="2000">
                <a:solidFill>
                  <a:srgbClr val="795E2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__init__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id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id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>
              <a:lnSpc>
                <a:spcPts val="2025"/>
              </a:lnSpc>
              <a:buNone/>
            </a:pP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self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agent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sz="2000">
                <a:solidFill>
                  <a:srgbClr val="267F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Agent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client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client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name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id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instructions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US" sz="200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"Summarize..."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>
              <a:lnSpc>
                <a:spcPts val="2025"/>
              </a:lnSpc>
              <a:spcBef>
                <a:spcPts val="600"/>
              </a:spcBef>
              <a:buNone/>
            </a:pPr>
            <a:r>
              <a:rPr lang="en-US" sz="2000">
                <a:solidFill>
                  <a:srgbClr val="795E2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@handler</a:t>
            </a:r>
            <a:endParaRPr lang="en-US" sz="200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ts val="2025"/>
              </a:lnSpc>
              <a:buNone/>
            </a:pPr>
            <a:r>
              <a:rPr lang="en-US" sz="20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async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0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def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000">
                <a:solidFill>
                  <a:srgbClr val="795E2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run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self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results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ctx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):</a:t>
            </a:r>
          </a:p>
          <a:p>
            <a:pPr>
              <a:lnSpc>
                <a:spcPts val="2025"/>
              </a:lnSpc>
              <a:buNone/>
            </a:pP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sections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[</a:t>
            </a:r>
            <a:r>
              <a:rPr lang="en-US" sz="20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</a:t>
            </a:r>
            <a:r>
              <a:rPr lang="en-US" sz="200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"[</a:t>
            </a:r>
            <a:r>
              <a:rPr lang="en-US" sz="20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executor_id</a:t>
            </a:r>
            <a:r>
              <a:rPr lang="en-US" sz="20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r>
              <a:rPr lang="en-US" sz="200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</a:t>
            </a:r>
            <a:r>
              <a:rPr lang="en-US" sz="2000">
                <a:solidFill>
                  <a:srgbClr val="EE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\n</a:t>
            </a:r>
            <a:r>
              <a:rPr lang="en-US" sz="20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agent_response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text</a:t>
            </a:r>
            <a:r>
              <a:rPr lang="en-US" sz="20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r>
              <a:rPr lang="en-US" sz="200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endParaRPr lang="en-US" sz="200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ts val="2025"/>
              </a:lnSpc>
              <a:buNone/>
            </a:pP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    </a:t>
            </a:r>
            <a:r>
              <a:rPr lang="en-US" sz="2000">
                <a:solidFill>
                  <a:srgbClr val="AF00D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for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000">
                <a:solidFill>
                  <a:srgbClr val="AF00D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results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</a:t>
            </a:r>
          </a:p>
          <a:p>
            <a:pPr>
              <a:lnSpc>
                <a:spcPts val="2025"/>
              </a:lnSpc>
              <a:buNone/>
            </a:pP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response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sz="2000">
                <a:solidFill>
                  <a:srgbClr val="AF00D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await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self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agent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sz="2000">
                <a:solidFill>
                  <a:srgbClr val="795E2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run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200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en-US" sz="2000">
                <a:solidFill>
                  <a:srgbClr val="EE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\n</a:t>
            </a:r>
            <a:r>
              <a:rPr lang="en-US" sz="200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sz="2000">
                <a:solidFill>
                  <a:srgbClr val="795E2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join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sections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))</a:t>
            </a:r>
          </a:p>
          <a:p>
            <a:pPr>
              <a:lnSpc>
                <a:spcPts val="2025"/>
              </a:lnSpc>
              <a:buNone/>
            </a:pPr>
            <a:r>
              <a:rPr lang="en-US" sz="2000">
                <a:solidFill>
                  <a:srgbClr val="AF00D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await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ctx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sz="2000">
                <a:solidFill>
                  <a:srgbClr val="795E2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yield_output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response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text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994F2DB-8826-7C8B-C256-F7726C97D74E}"/>
              </a:ext>
            </a:extLst>
          </p:cNvPr>
          <p:cNvSpPr txBox="1"/>
          <p:nvPr/>
        </p:nvSpPr>
        <p:spPr>
          <a:xfrm>
            <a:off x="1132793" y="227425"/>
            <a:ext cx="3168620" cy="461665"/>
          </a:xfrm>
          <a:prstGeom prst="rect">
            <a:avLst/>
          </a:prstGeom>
          <a:solidFill>
            <a:schemeClr val="accent3"/>
          </a:solidFill>
          <a:effectLst>
            <a:softEdge rad="31750"/>
          </a:effectLst>
        </p:spPr>
        <p:txBody>
          <a:bodyPr wrap="square">
            <a:spAutoFit/>
          </a:bodyPr>
          <a:lstStyle/>
          <a:p>
            <a:pPr algn="ctr"/>
            <a:r>
              <a:rPr lang="en-US" sz="2400" b="1">
                <a:solidFill>
                  <a:schemeClr val="bg1"/>
                </a:solidFill>
              </a:rPr>
              <a:t>agent-framework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61F7D47-914E-C58C-856F-35F6AF96A4EE}"/>
              </a:ext>
            </a:extLst>
          </p:cNvPr>
          <p:cNvSpPr txBox="1"/>
          <p:nvPr/>
        </p:nvSpPr>
        <p:spPr>
          <a:xfrm>
            <a:off x="1126729" y="6524520"/>
            <a:ext cx="5301772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2000" err="1"/>
              <a:t>Full example: </a:t>
            </a:r>
            <a:r>
              <a:rPr lang="en-US" sz="2000" err="1">
                <a:hlinkClick r:id="rId3"/>
              </a:rPr>
              <a:t>workflow_aggregator_summary.py</a:t>
            </a:r>
            <a:endParaRPr lang="en-US" sz="2000" err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31DB5D-8AA6-97A4-BCC9-9CB00EBE50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40504" y="2011898"/>
            <a:ext cx="1796183" cy="32428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200">
                <a:solidFill>
                  <a:srgbClr val="0062A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"Research shows.."</a:t>
            </a:r>
          </a:p>
        </p:txBody>
      </p:sp>
      <p:sp>
        <p:nvSpPr>
          <p:cNvPr id="35" name="Content Placeholder 2">
            <a:extLst>
              <a:ext uri="{FF2B5EF4-FFF2-40B4-BE49-F238E27FC236}">
                <a16:creationId xmlns:a16="http://schemas.microsoft.com/office/drawing/2014/main" id="{50B1A3D2-B4D4-DFDB-54CE-25C25FC14BB2}"/>
              </a:ext>
            </a:extLst>
          </p:cNvPr>
          <p:cNvSpPr txBox="1">
            <a:spLocks/>
          </p:cNvSpPr>
          <p:nvPr/>
        </p:nvSpPr>
        <p:spPr>
          <a:xfrm>
            <a:off x="3640504" y="2778985"/>
            <a:ext cx="2664041" cy="32428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200">
                <a:solidFill>
                  <a:srgbClr val="0062A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"The competitors..."</a:t>
            </a:r>
          </a:p>
        </p:txBody>
      </p:sp>
      <p:sp>
        <p:nvSpPr>
          <p:cNvPr id="36" name="Content Placeholder 2">
            <a:extLst>
              <a:ext uri="{FF2B5EF4-FFF2-40B4-BE49-F238E27FC236}">
                <a16:creationId xmlns:a16="http://schemas.microsoft.com/office/drawing/2014/main" id="{B1B39F62-5FB9-AD5F-5CD2-E52F3222A05E}"/>
              </a:ext>
            </a:extLst>
          </p:cNvPr>
          <p:cNvSpPr txBox="1">
            <a:spLocks/>
          </p:cNvSpPr>
          <p:nvPr/>
        </p:nvSpPr>
        <p:spPr>
          <a:xfrm>
            <a:off x="3640505" y="3509087"/>
            <a:ext cx="2664041" cy="32428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200">
                <a:solidFill>
                  <a:srgbClr val="0062A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"According to laws,"</a:t>
            </a:r>
          </a:p>
        </p:txBody>
      </p:sp>
      <p:sp>
        <p:nvSpPr>
          <p:cNvPr id="37" name="Content Placeholder 2">
            <a:extLst>
              <a:ext uri="{FF2B5EF4-FFF2-40B4-BE49-F238E27FC236}">
                <a16:creationId xmlns:a16="http://schemas.microsoft.com/office/drawing/2014/main" id="{8235D98E-7F37-F9D5-A6DA-A102902391F1}"/>
              </a:ext>
            </a:extLst>
          </p:cNvPr>
          <p:cNvSpPr txBox="1">
            <a:spLocks/>
          </p:cNvSpPr>
          <p:nvPr/>
        </p:nvSpPr>
        <p:spPr>
          <a:xfrm>
            <a:off x="6065645" y="2805142"/>
            <a:ext cx="1884822" cy="32428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200">
                <a:solidFill>
                  <a:srgbClr val="0062A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"In summary,..."</a:t>
            </a:r>
          </a:p>
        </p:txBody>
      </p:sp>
      <p:sp>
        <p:nvSpPr>
          <p:cNvPr id="38" name="Content Placeholder 2">
            <a:extLst>
              <a:ext uri="{FF2B5EF4-FFF2-40B4-BE49-F238E27FC236}">
                <a16:creationId xmlns:a16="http://schemas.microsoft.com/office/drawing/2014/main" id="{95287829-1E0F-303C-2311-D8C08F6AD634}"/>
              </a:ext>
            </a:extLst>
          </p:cNvPr>
          <p:cNvSpPr txBox="1">
            <a:spLocks/>
          </p:cNvSpPr>
          <p:nvPr/>
        </p:nvSpPr>
        <p:spPr>
          <a:xfrm>
            <a:off x="8027780" y="2097173"/>
            <a:ext cx="4090244" cy="105447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200"/>
              <a:t>The aggregator node uses an LLM call to aggregate the combined outputs from agents.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D7F94A1-3BEA-6E25-5CD8-CF7272BDB246}"/>
              </a:ext>
            </a:extLst>
          </p:cNvPr>
          <p:cNvSpPr/>
          <p:nvPr/>
        </p:nvSpPr>
        <p:spPr bwMode="auto">
          <a:xfrm>
            <a:off x="6428501" y="1774177"/>
            <a:ext cx="941337" cy="475441"/>
          </a:xfrm>
          <a:prstGeom prst="rect">
            <a:avLst/>
          </a:prstGeom>
          <a:solidFill>
            <a:schemeClr val="accent4"/>
          </a:solidFill>
          <a:ln>
            <a:noFill/>
            <a:headEnd type="none" w="med" len="med"/>
            <a:tailEnd type="none" w="med" len="med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91440" rIns="91440" bIns="9144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r>
              <a:rPr lang="en-US" sz="2200" b="1" err="1">
                <a:solidFill>
                  <a:schemeClr val="bg1"/>
                </a:solidFill>
                <a:ea typeface="Segoe UI" pitchFamily="34" charset="0"/>
                <a:cs typeface="Segoe UI" pitchFamily="34" charset="0"/>
              </a:rPr>
              <a:t>LLM</a:t>
            </a:r>
          </a:p>
        </p:txBody>
      </p:sp>
    </p:spTree>
    <p:extLst>
      <p:ext uri="{BB962C8B-B14F-4D97-AF65-F5344CB8AC3E}">
        <p14:creationId xmlns:p14="http://schemas.microsoft.com/office/powerpoint/2010/main" val="25208485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64EC54-EFE1-DB46-5853-D920F1F1A5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BA4DE1-7F17-699D-9398-8F88A84C7D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Aggregation with structured extraction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D17A589-A78F-FBE7-1E4D-2473F81C45BA}"/>
              </a:ext>
            </a:extLst>
          </p:cNvPr>
          <p:cNvSpPr txBox="1"/>
          <p:nvPr/>
        </p:nvSpPr>
        <p:spPr>
          <a:xfrm>
            <a:off x="1132793" y="3939561"/>
            <a:ext cx="10830605" cy="258532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buNone/>
            </a:pPr>
            <a:r>
              <a:rPr lang="en-US" sz="20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class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000">
                <a:solidFill>
                  <a:srgbClr val="267F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ExtractReview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2000">
                <a:solidFill>
                  <a:srgbClr val="267F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Executor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):</a:t>
            </a:r>
          </a:p>
          <a:p>
            <a:pPr>
              <a:lnSpc>
                <a:spcPct val="90000"/>
              </a:lnSpc>
              <a:buNone/>
            </a:pPr>
            <a:r>
              <a:rPr lang="en-US" sz="2000">
                <a:solidFill>
                  <a:srgbClr val="795E2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@handler</a:t>
            </a:r>
            <a:endParaRPr lang="en-US" sz="200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ct val="90000"/>
              </a:lnSpc>
              <a:buNone/>
            </a:pP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20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async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0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def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000">
                <a:solidFill>
                  <a:srgbClr val="795E2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extract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self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results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ctx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):</a:t>
            </a:r>
          </a:p>
          <a:p>
            <a:pPr>
              <a:lnSpc>
                <a:spcPct val="90000"/>
              </a:lnSpc>
              <a:buNone/>
            </a:pP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combined = </a:t>
            </a:r>
            <a:r>
              <a:rPr lang="en-US" sz="200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en-US" sz="2000">
                <a:solidFill>
                  <a:srgbClr val="EE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\n</a:t>
            </a:r>
            <a:r>
              <a:rPr lang="en-US" sz="200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.join(r.agent_response.text </a:t>
            </a:r>
            <a:r>
              <a:rPr lang="en-US" sz="2000">
                <a:solidFill>
                  <a:srgbClr val="AF00D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for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r </a:t>
            </a:r>
            <a:r>
              <a:rPr lang="en-US" sz="2000">
                <a:solidFill>
                  <a:srgbClr val="AF00D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results)</a:t>
            </a:r>
          </a:p>
          <a:p>
            <a:pPr>
              <a:lnSpc>
                <a:spcPct val="90000"/>
              </a:lnSpc>
              <a:buNone/>
            </a:pP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messages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[</a:t>
            </a:r>
            <a:r>
              <a:rPr lang="en-US" sz="2000">
                <a:solidFill>
                  <a:srgbClr val="267F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Message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role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US" sz="200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"system"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text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US" sz="200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"Review candidate."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),</a:t>
            </a:r>
          </a:p>
          <a:p>
            <a:pPr>
              <a:lnSpc>
                <a:spcPct val="90000"/>
              </a:lnSpc>
              <a:buNone/>
            </a:pP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    </a:t>
            </a:r>
            <a:r>
              <a:rPr lang="en-US" sz="2000">
                <a:solidFill>
                  <a:srgbClr val="267F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Message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role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US" sz="200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"user"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text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combined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)]</a:t>
            </a:r>
          </a:p>
          <a:p>
            <a:pPr>
              <a:lnSpc>
                <a:spcPct val="90000"/>
              </a:lnSpc>
              <a:buNone/>
            </a:pP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response = </a:t>
            </a:r>
            <a:r>
              <a:rPr lang="en-US" sz="2000">
                <a:solidFill>
                  <a:srgbClr val="AF00D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await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0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self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._client.get_response(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messages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</a:p>
          <a:p>
            <a:pPr>
              <a:lnSpc>
                <a:spcPct val="90000"/>
              </a:lnSpc>
              <a:buNone/>
            </a:pP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             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options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={</a:t>
            </a:r>
            <a:r>
              <a:rPr lang="en-US" sz="200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"response_format"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 CandidateReview})</a:t>
            </a:r>
          </a:p>
          <a:p>
            <a:pPr>
              <a:lnSpc>
                <a:spcPct val="90000"/>
              </a:lnSpc>
              <a:buNone/>
            </a:pPr>
            <a:r>
              <a:rPr lang="en-US" sz="2000">
                <a:solidFill>
                  <a:srgbClr val="AF00D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await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ctx.yield_output(response.value)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18B39FD-5527-54EF-9208-07060A2EDE74}"/>
              </a:ext>
            </a:extLst>
          </p:cNvPr>
          <p:cNvSpPr txBox="1"/>
          <p:nvPr/>
        </p:nvSpPr>
        <p:spPr>
          <a:xfrm>
            <a:off x="1132793" y="227425"/>
            <a:ext cx="3168620" cy="461665"/>
          </a:xfrm>
          <a:prstGeom prst="rect">
            <a:avLst/>
          </a:prstGeom>
          <a:solidFill>
            <a:schemeClr val="accent3"/>
          </a:solidFill>
          <a:effectLst>
            <a:softEdge rad="31750"/>
          </a:effectLst>
        </p:spPr>
        <p:txBody>
          <a:bodyPr wrap="square">
            <a:spAutoFit/>
          </a:bodyPr>
          <a:lstStyle/>
          <a:p>
            <a:pPr algn="ctr"/>
            <a:r>
              <a:rPr lang="en-US" sz="2400" b="1">
                <a:solidFill>
                  <a:schemeClr val="bg1"/>
                </a:solidFill>
              </a:rPr>
              <a:t>agent-framework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282ED62-E2AA-1299-4197-6FCCF2A3CE74}"/>
              </a:ext>
            </a:extLst>
          </p:cNvPr>
          <p:cNvSpPr txBox="1"/>
          <p:nvPr/>
        </p:nvSpPr>
        <p:spPr>
          <a:xfrm>
            <a:off x="1126729" y="6526903"/>
            <a:ext cx="5379678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2000" err="1"/>
              <a:t>Full example: </a:t>
            </a:r>
            <a:r>
              <a:rPr lang="en-US" sz="2000" err="1">
                <a:hlinkClick r:id="rId2"/>
              </a:rPr>
              <a:t>workflow_aggregator_structured.py</a:t>
            </a:r>
            <a:endParaRPr lang="en-US" sz="2000" err="1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720E317-F29E-DA77-64DF-8605A0910B6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0517" y="1432614"/>
            <a:ext cx="6809032" cy="2364246"/>
          </a:xfrm>
          <a:prstGeom prst="rect">
            <a:avLst/>
          </a:prstGeom>
        </p:spPr>
      </p:pic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F2DC1427-89C0-F997-FC3A-DED3BEBCAE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90217" y="2014654"/>
            <a:ext cx="1796183" cy="32428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200">
                <a:solidFill>
                  <a:srgbClr val="0062A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"Strong coding..."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6D8B9573-CA65-3C2A-65D1-20B40C3B262A}"/>
              </a:ext>
            </a:extLst>
          </p:cNvPr>
          <p:cNvSpPr txBox="1">
            <a:spLocks/>
          </p:cNvSpPr>
          <p:nvPr/>
        </p:nvSpPr>
        <p:spPr>
          <a:xfrm>
            <a:off x="3686941" y="2851399"/>
            <a:ext cx="2068400" cy="32428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200">
                <a:solidFill>
                  <a:srgbClr val="0062A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"Lacked leadership.."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C450FFE3-183E-5BAF-B7B3-6C9F024D00ED}"/>
              </a:ext>
            </a:extLst>
          </p:cNvPr>
          <p:cNvSpPr txBox="1">
            <a:spLocks/>
          </p:cNvSpPr>
          <p:nvPr/>
        </p:nvSpPr>
        <p:spPr>
          <a:xfrm>
            <a:off x="3686940" y="3639971"/>
            <a:ext cx="1796183" cy="32428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200">
                <a:solidFill>
                  <a:srgbClr val="0062A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"A bit snarky..."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1E1CD109-CBFC-EA60-7C85-D067A9470D9B}"/>
              </a:ext>
            </a:extLst>
          </p:cNvPr>
          <p:cNvSpPr txBox="1">
            <a:spLocks/>
          </p:cNvSpPr>
          <p:nvPr/>
        </p:nvSpPr>
        <p:spPr>
          <a:xfrm>
            <a:off x="6096000" y="2935097"/>
            <a:ext cx="2457575" cy="9454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50000"/>
              </a:lnSpc>
              <a:buFont typeface="Arial" panose="020B0604020202020204" pitchFamily="34" charset="0"/>
              <a:buNone/>
            </a:pPr>
            <a:r>
              <a:rPr lang="en-US" sz="1200">
                <a:solidFill>
                  <a:srgbClr val="0062A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"recommendation": "no hire"</a:t>
            </a:r>
          </a:p>
          <a:p>
            <a:pPr marL="0" indent="0">
              <a:lnSpc>
                <a:spcPct val="50000"/>
              </a:lnSpc>
              <a:buFont typeface="Arial" panose="020B0604020202020204" pitchFamily="34" charset="0"/>
              <a:buNone/>
            </a:pPr>
            <a:r>
              <a:rPr lang="en-US" sz="1200">
                <a:solidFill>
                  <a:srgbClr val="0062A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"technical_score": 9</a:t>
            </a:r>
          </a:p>
          <a:p>
            <a:pPr marL="0" indent="0">
              <a:lnSpc>
                <a:spcPct val="50000"/>
              </a:lnSpc>
              <a:buFont typeface="Arial" panose="020B0604020202020204" pitchFamily="34" charset="0"/>
              <a:buNone/>
            </a:pPr>
            <a:r>
              <a:rPr lang="en-US" sz="1200">
                <a:solidFill>
                  <a:srgbClr val="0062A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"behavioral_score": 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133B8E1-8F97-ED56-CC56-681F67FEB617}"/>
              </a:ext>
            </a:extLst>
          </p:cNvPr>
          <p:cNvSpPr txBox="1"/>
          <p:nvPr/>
        </p:nvSpPr>
        <p:spPr>
          <a:xfrm>
            <a:off x="8720585" y="1475109"/>
            <a:ext cx="3242814" cy="212288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ts val="2025"/>
              </a:lnSpc>
              <a:buNone/>
            </a:pPr>
            <a:r>
              <a:rPr lang="en-US" sz="1300" b="0">
                <a:solidFill>
                  <a:srgbClr val="00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class</a:t>
            </a:r>
            <a:r>
              <a:rPr lang="en-US" sz="13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300" b="0">
                <a:solidFill>
                  <a:srgbClr val="267F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CandidateReview</a:t>
            </a:r>
            <a:r>
              <a:rPr lang="en-US" sz="13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1300" b="0">
                <a:solidFill>
                  <a:srgbClr val="267F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BaseModel</a:t>
            </a:r>
            <a:r>
              <a:rPr lang="en-US" sz="13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):</a:t>
            </a:r>
          </a:p>
          <a:p>
            <a:pPr>
              <a:lnSpc>
                <a:spcPts val="2025"/>
              </a:lnSpc>
              <a:buNone/>
            </a:pPr>
            <a:r>
              <a:rPr lang="en-US" sz="1300" b="0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technical_score</a:t>
            </a:r>
            <a:r>
              <a:rPr lang="en-US" sz="13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lang="en-US" sz="1300" b="0">
                <a:solidFill>
                  <a:srgbClr val="267F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endParaRPr lang="en-US" sz="130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ts val="2025"/>
              </a:lnSpc>
              <a:buNone/>
            </a:pPr>
            <a:r>
              <a:rPr lang="en-US" sz="1300" b="0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technical_reason</a:t>
            </a:r>
            <a:r>
              <a:rPr lang="en-US" sz="13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lang="en-US" sz="1300" b="0">
                <a:solidFill>
                  <a:srgbClr val="267F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str</a:t>
            </a:r>
            <a:endParaRPr lang="en-US" sz="130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ts val="2025"/>
              </a:lnSpc>
              <a:buNone/>
            </a:pPr>
            <a:r>
              <a:rPr lang="en-US" sz="1300" b="0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behavioral_score</a:t>
            </a:r>
            <a:r>
              <a:rPr lang="en-US" sz="13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lang="en-US" sz="1300" b="0">
                <a:solidFill>
                  <a:srgbClr val="267F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endParaRPr lang="en-US" sz="130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ts val="2025"/>
              </a:lnSpc>
              <a:buNone/>
            </a:pPr>
            <a:r>
              <a:rPr lang="en-US" sz="1300" b="0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behavioral_reason</a:t>
            </a:r>
            <a:r>
              <a:rPr lang="en-US" sz="13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lang="en-US" sz="1300" b="0">
                <a:solidFill>
                  <a:srgbClr val="267F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str</a:t>
            </a:r>
            <a:endParaRPr lang="en-US" sz="130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ts val="2025"/>
              </a:lnSpc>
              <a:buNone/>
            </a:pPr>
            <a:r>
              <a:rPr lang="en-US" sz="13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1300" b="0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recommendation</a:t>
            </a:r>
            <a:r>
              <a:rPr lang="en-US" sz="13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lang="en-US" sz="1300" b="0">
                <a:solidFill>
                  <a:srgbClr val="267F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Literal</a:t>
            </a:r>
            <a:r>
              <a:rPr lang="en-US" sz="13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[</a:t>
            </a:r>
          </a:p>
          <a:p>
            <a:pPr>
              <a:lnSpc>
                <a:spcPts val="2025"/>
              </a:lnSpc>
              <a:buNone/>
            </a:pPr>
            <a:r>
              <a:rPr lang="en-US" sz="13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en-US" sz="1300" b="0">
                <a:solidFill>
                  <a:srgbClr val="A31515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"strong hire"</a:t>
            </a:r>
            <a:r>
              <a:rPr lang="en-US" sz="13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130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"no hire"</a:t>
            </a:r>
            <a:r>
              <a:rPr lang="en-US" sz="13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endParaRPr lang="en-US" sz="1300">
              <a:solidFill>
                <a:srgbClr val="A31515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ts val="2025"/>
              </a:lnSpc>
              <a:buNone/>
            </a:pPr>
            <a:r>
              <a:rPr lang="en-US" sz="130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"hire with reservations"</a:t>
            </a:r>
            <a:r>
              <a:rPr lang="en-US" sz="13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] 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D77038D-64DE-5C38-3C07-B5F6B10C436F}"/>
              </a:ext>
            </a:extLst>
          </p:cNvPr>
          <p:cNvSpPr/>
          <p:nvPr/>
        </p:nvSpPr>
        <p:spPr bwMode="auto">
          <a:xfrm>
            <a:off x="6428501" y="1774177"/>
            <a:ext cx="941337" cy="475441"/>
          </a:xfrm>
          <a:prstGeom prst="rect">
            <a:avLst/>
          </a:prstGeom>
          <a:solidFill>
            <a:schemeClr val="accent4"/>
          </a:solidFill>
          <a:ln>
            <a:noFill/>
            <a:headEnd type="none" w="med" len="med"/>
            <a:tailEnd type="none" w="med" len="med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91440" rIns="91440" bIns="9144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r>
              <a:rPr lang="en-US" sz="2200" b="1" err="1">
                <a:solidFill>
                  <a:schemeClr val="bg1"/>
                </a:solidFill>
                <a:ea typeface="Segoe UI" pitchFamily="34" charset="0"/>
                <a:cs typeface="Segoe UI" pitchFamily="34" charset="0"/>
              </a:rPr>
              <a:t>LLM</a:t>
            </a:r>
          </a:p>
        </p:txBody>
      </p:sp>
    </p:spTree>
    <p:extLst>
      <p:ext uri="{BB962C8B-B14F-4D97-AF65-F5344CB8AC3E}">
        <p14:creationId xmlns:p14="http://schemas.microsoft.com/office/powerpoint/2010/main" val="41840222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DEB8D9-4289-9BC6-AF29-DFC7B82A19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89F4AE6-16CA-62D4-92A2-B212E78751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9635" y="1416771"/>
            <a:ext cx="7421524" cy="223183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829059C-F06A-788E-BBA2-E2029AC06D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Aggregation with LLM-ranking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EBC82E3-EA28-85CB-B170-8E49689C97A0}"/>
              </a:ext>
            </a:extLst>
          </p:cNvPr>
          <p:cNvSpPr txBox="1"/>
          <p:nvPr/>
        </p:nvSpPr>
        <p:spPr>
          <a:xfrm>
            <a:off x="1039635" y="3959027"/>
            <a:ext cx="10991788" cy="240065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ts val="2025"/>
              </a:lnSpc>
              <a:buNone/>
            </a:pPr>
            <a:r>
              <a:rPr lang="en-US" sz="17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class</a:t>
            </a:r>
            <a:r>
              <a:rPr lang="en-US" sz="17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700">
                <a:solidFill>
                  <a:srgbClr val="267F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RankerExecutor</a:t>
            </a:r>
            <a:r>
              <a:rPr lang="en-US" sz="17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1700">
                <a:solidFill>
                  <a:srgbClr val="267F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Executor</a:t>
            </a:r>
            <a:r>
              <a:rPr lang="en-US" sz="17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):</a:t>
            </a:r>
          </a:p>
          <a:p>
            <a:pPr>
              <a:lnSpc>
                <a:spcPts val="2025"/>
              </a:lnSpc>
              <a:buNone/>
            </a:pPr>
            <a:r>
              <a:rPr lang="en-US" sz="1700">
                <a:solidFill>
                  <a:srgbClr val="795E2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@handler</a:t>
            </a:r>
            <a:endParaRPr lang="en-US" sz="170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ts val="2025"/>
              </a:lnSpc>
              <a:buNone/>
            </a:pPr>
            <a:r>
              <a:rPr lang="en-US" sz="17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async</a:t>
            </a:r>
            <a:r>
              <a:rPr lang="en-US" sz="17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7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def</a:t>
            </a:r>
            <a:r>
              <a:rPr lang="en-US" sz="17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700">
                <a:solidFill>
                  <a:srgbClr val="795E2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run</a:t>
            </a:r>
            <a:r>
              <a:rPr lang="en-US" sz="17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17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self</a:t>
            </a:r>
            <a:r>
              <a:rPr lang="en-US" sz="17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17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results</a:t>
            </a:r>
            <a:r>
              <a:rPr lang="en-US" sz="17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17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ctx</a:t>
            </a:r>
            <a:r>
              <a:rPr lang="en-US" sz="17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):</a:t>
            </a:r>
          </a:p>
          <a:p>
            <a:pPr>
              <a:lnSpc>
                <a:spcPts val="2025"/>
              </a:lnSpc>
              <a:buNone/>
            </a:pPr>
            <a:r>
              <a:rPr lang="en-US" sz="17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slogans = [</a:t>
            </a:r>
            <a:r>
              <a:rPr lang="en-US" sz="17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</a:t>
            </a:r>
            <a:r>
              <a:rPr lang="en-US" sz="170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en-US" sz="17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r>
              <a:rPr lang="en-US" sz="17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r.executor_id</a:t>
            </a:r>
            <a:r>
              <a:rPr lang="en-US" sz="17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r>
              <a:rPr lang="en-US" sz="170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lang="en-US" sz="1700">
                <a:solidFill>
                  <a:srgbClr val="EE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\"</a:t>
            </a:r>
            <a:r>
              <a:rPr lang="en-US" sz="17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r>
              <a:rPr lang="en-US" sz="17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r.agent_response.text</a:t>
            </a:r>
            <a:r>
              <a:rPr lang="en-US" sz="17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r>
              <a:rPr lang="en-US" sz="1700">
                <a:solidFill>
                  <a:srgbClr val="EE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\"</a:t>
            </a:r>
            <a:r>
              <a:rPr lang="en-US" sz="170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 </a:t>
            </a:r>
            <a:r>
              <a:rPr lang="en-US" sz="1700">
                <a:solidFill>
                  <a:srgbClr val="AF00D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for</a:t>
            </a:r>
            <a:r>
              <a:rPr lang="en-US" sz="17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r </a:t>
            </a:r>
            <a:r>
              <a:rPr lang="en-US" sz="1700">
                <a:solidFill>
                  <a:srgbClr val="AF00D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</a:t>
            </a:r>
            <a:r>
              <a:rPr lang="en-US" sz="17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results]</a:t>
            </a:r>
          </a:p>
          <a:p>
            <a:pPr>
              <a:lnSpc>
                <a:spcPts val="2025"/>
              </a:lnSpc>
              <a:buNone/>
            </a:pPr>
            <a:r>
              <a:rPr lang="en-US" sz="17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messages = [Message(</a:t>
            </a:r>
            <a:r>
              <a:rPr lang="en-US" sz="17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role</a:t>
            </a:r>
            <a:r>
              <a:rPr lang="en-US" sz="17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US" sz="170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"system"</a:t>
            </a:r>
            <a:r>
              <a:rPr lang="en-US" sz="17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17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text</a:t>
            </a:r>
            <a:r>
              <a:rPr lang="en-US" sz="17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=(</a:t>
            </a:r>
            <a:r>
              <a:rPr lang="en-US" sz="170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"Score each slogan 1-10 with a reason"</a:t>
            </a:r>
            <a:r>
              <a:rPr lang="en-US" sz="17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)),</a:t>
            </a:r>
          </a:p>
          <a:p>
            <a:pPr>
              <a:lnSpc>
                <a:spcPts val="2025"/>
              </a:lnSpc>
              <a:buNone/>
            </a:pPr>
            <a:r>
              <a:rPr lang="en-US" sz="17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    Message(</a:t>
            </a:r>
            <a:r>
              <a:rPr lang="en-US" sz="17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role</a:t>
            </a:r>
            <a:r>
              <a:rPr lang="en-US" sz="17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US" sz="170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"user"</a:t>
            </a:r>
            <a:r>
              <a:rPr lang="en-US" sz="17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17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text</a:t>
            </a:r>
            <a:r>
              <a:rPr lang="en-US" sz="17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US" sz="170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"Candidate slogans:</a:t>
            </a:r>
            <a:r>
              <a:rPr lang="en-US" sz="1700">
                <a:solidFill>
                  <a:srgbClr val="EE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\n</a:t>
            </a:r>
            <a:r>
              <a:rPr lang="en-US" sz="170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en-US" sz="17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+ </a:t>
            </a:r>
            <a:r>
              <a:rPr lang="en-US" sz="170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en-US" sz="1700">
                <a:solidFill>
                  <a:srgbClr val="EE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\n</a:t>
            </a:r>
            <a:r>
              <a:rPr lang="en-US" sz="170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en-US" sz="17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.join(slogans))]</a:t>
            </a:r>
          </a:p>
          <a:p>
            <a:pPr>
              <a:lnSpc>
                <a:spcPts val="2025"/>
              </a:lnSpc>
            </a:pPr>
            <a:r>
              <a:rPr lang="en-US" sz="17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response = </a:t>
            </a:r>
            <a:r>
              <a:rPr lang="en-US" sz="1700">
                <a:solidFill>
                  <a:srgbClr val="AF00D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await</a:t>
            </a:r>
            <a:r>
              <a:rPr lang="en-US" sz="17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7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self</a:t>
            </a:r>
            <a:r>
              <a:rPr lang="en-US" sz="17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._client.get_response(messages,</a:t>
            </a:r>
          </a:p>
          <a:p>
            <a:pPr>
              <a:lnSpc>
                <a:spcPts val="2025"/>
              </a:lnSpc>
            </a:pPr>
            <a:r>
              <a:rPr lang="en-US" sz="17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                                   </a:t>
            </a:r>
            <a:r>
              <a:rPr lang="en-US" sz="17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options</a:t>
            </a:r>
            <a:r>
              <a:rPr lang="en-US" sz="17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={</a:t>
            </a:r>
            <a:r>
              <a:rPr lang="en-US" sz="170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"response_format"</a:t>
            </a:r>
            <a:r>
              <a:rPr lang="en-US" sz="17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lang="en-US" sz="1700">
                <a:solidFill>
                  <a:srgbClr val="267F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RankedSlogans</a:t>
            </a:r>
            <a:r>
              <a:rPr lang="en-US" sz="17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})</a:t>
            </a:r>
          </a:p>
          <a:p>
            <a:pPr>
              <a:lnSpc>
                <a:spcPts val="2025"/>
              </a:lnSpc>
              <a:buNone/>
            </a:pPr>
            <a:r>
              <a:rPr lang="en-US" sz="1700">
                <a:solidFill>
                  <a:srgbClr val="AF00D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await</a:t>
            </a:r>
            <a:r>
              <a:rPr lang="en-US" sz="17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ctx.yield_output(response.value)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7764A5B-90D7-0DED-C640-C239717A51B1}"/>
              </a:ext>
            </a:extLst>
          </p:cNvPr>
          <p:cNvSpPr txBox="1"/>
          <p:nvPr/>
        </p:nvSpPr>
        <p:spPr>
          <a:xfrm>
            <a:off x="1132793" y="227425"/>
            <a:ext cx="3168620" cy="461665"/>
          </a:xfrm>
          <a:prstGeom prst="rect">
            <a:avLst/>
          </a:prstGeom>
          <a:solidFill>
            <a:schemeClr val="accent3"/>
          </a:solidFill>
          <a:effectLst>
            <a:softEdge rad="31750"/>
          </a:effectLst>
        </p:spPr>
        <p:txBody>
          <a:bodyPr wrap="square">
            <a:spAutoFit/>
          </a:bodyPr>
          <a:lstStyle/>
          <a:p>
            <a:pPr algn="ctr"/>
            <a:r>
              <a:rPr lang="en-US" sz="2400" b="1">
                <a:solidFill>
                  <a:schemeClr val="bg1"/>
                </a:solidFill>
              </a:rPr>
              <a:t>agent-framework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00FDC69-5C6F-5215-2063-0957A671C730}"/>
              </a:ext>
            </a:extLst>
          </p:cNvPr>
          <p:cNvSpPr txBox="1"/>
          <p:nvPr/>
        </p:nvSpPr>
        <p:spPr>
          <a:xfrm>
            <a:off x="1126729" y="6524520"/>
            <a:ext cx="5028621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2000" err="1"/>
              <a:t>Full example: </a:t>
            </a:r>
            <a:r>
              <a:rPr lang="en-US" sz="2000" err="1">
                <a:hlinkClick r:id="rId3"/>
              </a:rPr>
              <a:t>workflow_aggregator_ranked.py</a:t>
            </a:r>
            <a:endParaRPr lang="en-US" sz="2000" err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8353FC-07A5-4874-0E76-93BDE9E15F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90216" y="2014654"/>
            <a:ext cx="2267821" cy="32428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200">
                <a:solidFill>
                  <a:srgbClr val="0062A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"Conquer your commute!"</a:t>
            </a:r>
          </a:p>
        </p:txBody>
      </p:sp>
      <p:sp>
        <p:nvSpPr>
          <p:cNvPr id="35" name="Content Placeholder 2">
            <a:extLst>
              <a:ext uri="{FF2B5EF4-FFF2-40B4-BE49-F238E27FC236}">
                <a16:creationId xmlns:a16="http://schemas.microsoft.com/office/drawing/2014/main" id="{746E3877-7FA5-D0F2-94E5-23C8FD77B07C}"/>
              </a:ext>
            </a:extLst>
          </p:cNvPr>
          <p:cNvSpPr txBox="1">
            <a:spLocks/>
          </p:cNvSpPr>
          <p:nvPr/>
        </p:nvSpPr>
        <p:spPr>
          <a:xfrm>
            <a:off x="3690216" y="2783633"/>
            <a:ext cx="2664041" cy="32428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200">
                <a:solidFill>
                  <a:srgbClr val="0062A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"Reliable. Affordable."</a:t>
            </a:r>
          </a:p>
        </p:txBody>
      </p:sp>
      <p:sp>
        <p:nvSpPr>
          <p:cNvPr id="36" name="Content Placeholder 2">
            <a:extLst>
              <a:ext uri="{FF2B5EF4-FFF2-40B4-BE49-F238E27FC236}">
                <a16:creationId xmlns:a16="http://schemas.microsoft.com/office/drawing/2014/main" id="{3AA9A87F-8814-CE6E-598C-B439DE8B790A}"/>
              </a:ext>
            </a:extLst>
          </p:cNvPr>
          <p:cNvSpPr txBox="1">
            <a:spLocks/>
          </p:cNvSpPr>
          <p:nvPr/>
        </p:nvSpPr>
        <p:spPr>
          <a:xfrm>
            <a:off x="3690216" y="3508058"/>
            <a:ext cx="2664041" cy="32428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200">
                <a:solidFill>
                  <a:srgbClr val="0062A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"Affordable electric freedom"</a:t>
            </a:r>
          </a:p>
        </p:txBody>
      </p:sp>
      <p:sp>
        <p:nvSpPr>
          <p:cNvPr id="37" name="Content Placeholder 2">
            <a:extLst>
              <a:ext uri="{FF2B5EF4-FFF2-40B4-BE49-F238E27FC236}">
                <a16:creationId xmlns:a16="http://schemas.microsoft.com/office/drawing/2014/main" id="{EA9A9196-F2BC-6B38-8AE3-EF1569F5C866}"/>
              </a:ext>
            </a:extLst>
          </p:cNvPr>
          <p:cNvSpPr txBox="1">
            <a:spLocks/>
          </p:cNvSpPr>
          <p:nvPr/>
        </p:nvSpPr>
        <p:spPr>
          <a:xfrm>
            <a:off x="6400932" y="2867791"/>
            <a:ext cx="2456447" cy="86497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50000"/>
              </a:lnSpc>
              <a:buNone/>
            </a:pPr>
            <a:r>
              <a:rPr lang="en-US" sz="1600">
                <a:solidFill>
                  <a:srgbClr val="0062A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BoldWriter: 9</a:t>
            </a:r>
          </a:p>
          <a:p>
            <a:pPr marL="0" indent="0">
              <a:lnSpc>
                <a:spcPct val="50000"/>
              </a:lnSpc>
              <a:buNone/>
            </a:pPr>
            <a:r>
              <a:rPr lang="en-US" sz="1600">
                <a:solidFill>
                  <a:srgbClr val="0062A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MinimalistWriter: 7</a:t>
            </a:r>
          </a:p>
          <a:p>
            <a:pPr marL="0" indent="0">
              <a:lnSpc>
                <a:spcPct val="50000"/>
              </a:lnSpc>
              <a:buNone/>
            </a:pPr>
            <a:r>
              <a:rPr lang="en-US" sz="1600">
                <a:solidFill>
                  <a:srgbClr val="0062A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EmotionalWriter: 6</a:t>
            </a:r>
          </a:p>
          <a:p>
            <a:pPr marL="0" indent="0">
              <a:lnSpc>
                <a:spcPct val="50000"/>
              </a:lnSpc>
              <a:buFont typeface="Arial" panose="020B0604020202020204" pitchFamily="34" charset="0"/>
              <a:buNone/>
            </a:pPr>
            <a:endParaRPr lang="en-US" sz="1600">
              <a:solidFill>
                <a:srgbClr val="0062A9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8" name="Content Placeholder 2">
            <a:extLst>
              <a:ext uri="{FF2B5EF4-FFF2-40B4-BE49-F238E27FC236}">
                <a16:creationId xmlns:a16="http://schemas.microsoft.com/office/drawing/2014/main" id="{D6F85339-7F6F-C841-A506-BE35D07B61D6}"/>
              </a:ext>
            </a:extLst>
          </p:cNvPr>
          <p:cNvSpPr txBox="1">
            <a:spLocks/>
          </p:cNvSpPr>
          <p:nvPr/>
        </p:nvSpPr>
        <p:spPr>
          <a:xfrm>
            <a:off x="8336164" y="1836344"/>
            <a:ext cx="4090244" cy="105447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sz="220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94631D0-9F9D-3820-F56A-E4D283FC99B4}"/>
              </a:ext>
            </a:extLst>
          </p:cNvPr>
          <p:cNvSpPr/>
          <p:nvPr/>
        </p:nvSpPr>
        <p:spPr bwMode="auto">
          <a:xfrm>
            <a:off x="6996391" y="1701355"/>
            <a:ext cx="941337" cy="475441"/>
          </a:xfrm>
          <a:prstGeom prst="rect">
            <a:avLst/>
          </a:prstGeom>
          <a:solidFill>
            <a:schemeClr val="accent4"/>
          </a:solidFill>
          <a:ln>
            <a:noFill/>
            <a:headEnd type="none" w="med" len="med"/>
            <a:tailEnd type="none" w="med" len="med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91440" rIns="91440" bIns="9144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r>
              <a:rPr lang="en-US" sz="2200" b="1" err="1">
                <a:solidFill>
                  <a:schemeClr val="bg1"/>
                </a:solidFill>
                <a:ea typeface="Segoe UI" pitchFamily="34" charset="0"/>
                <a:cs typeface="Segoe UI" pitchFamily="34" charset="0"/>
              </a:rPr>
              <a:t>LLM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F169CEF-C4A8-8A0D-0F45-E375DE509533}"/>
              </a:ext>
            </a:extLst>
          </p:cNvPr>
          <p:cNvSpPr txBox="1"/>
          <p:nvPr/>
        </p:nvSpPr>
        <p:spPr>
          <a:xfrm>
            <a:off x="8637381" y="2090647"/>
            <a:ext cx="326763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Font typeface="Arial" panose="020B0604020202020204" pitchFamily="34" charset="0"/>
              <a:buNone/>
            </a:pPr>
            <a:r>
              <a:rPr lang="en-US" sz="1800"/>
              <a:t>The aggregator node uses an LLM call to rank the outputs from the agents.</a:t>
            </a:r>
          </a:p>
        </p:txBody>
      </p:sp>
    </p:spTree>
    <p:extLst>
      <p:ext uri="{BB962C8B-B14F-4D97-AF65-F5344CB8AC3E}">
        <p14:creationId xmlns:p14="http://schemas.microsoft.com/office/powerpoint/2010/main" val="11875310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C4D958-A4E6-927C-8798-9EA9917BCC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6DC16E-B605-6464-F4A3-0F61956D2E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Aggregation with majority vote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EAE925F-ABC6-B9E0-3354-700F41D72DC4}"/>
              </a:ext>
            </a:extLst>
          </p:cNvPr>
          <p:cNvSpPr txBox="1"/>
          <p:nvPr/>
        </p:nvSpPr>
        <p:spPr>
          <a:xfrm>
            <a:off x="1132793" y="227425"/>
            <a:ext cx="3168620" cy="461665"/>
          </a:xfrm>
          <a:prstGeom prst="rect">
            <a:avLst/>
          </a:prstGeom>
          <a:solidFill>
            <a:schemeClr val="accent3"/>
          </a:solidFill>
          <a:effectLst>
            <a:softEdge rad="31750"/>
          </a:effectLst>
        </p:spPr>
        <p:txBody>
          <a:bodyPr wrap="square">
            <a:spAutoFit/>
          </a:bodyPr>
          <a:lstStyle/>
          <a:p>
            <a:pPr algn="ctr"/>
            <a:r>
              <a:rPr lang="en-US" sz="2400" b="1">
                <a:solidFill>
                  <a:schemeClr val="bg1"/>
                </a:solidFill>
              </a:rPr>
              <a:t>agent-framework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7DC7047-377D-9CE5-45C4-8CC18D9F5043}"/>
              </a:ext>
            </a:extLst>
          </p:cNvPr>
          <p:cNvSpPr txBox="1"/>
          <p:nvPr/>
        </p:nvSpPr>
        <p:spPr>
          <a:xfrm>
            <a:off x="1126729" y="6524520"/>
            <a:ext cx="4938916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2000" err="1"/>
              <a:t>Full example: </a:t>
            </a:r>
            <a:r>
              <a:rPr lang="en-US" sz="2000" err="1">
                <a:hlinkClick r:id="rId2"/>
              </a:rPr>
              <a:t>workflow_aggregator_voting.py</a:t>
            </a:r>
            <a:endParaRPr lang="en-US" sz="2000" err="1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2C153E2-C7E3-4A27-87CC-5ECEB7B083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6729" y="1524053"/>
            <a:ext cx="6823738" cy="2116014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F4F27A-EBBE-AF8C-7186-8733F8DDB9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90217" y="2014654"/>
            <a:ext cx="1796183" cy="32428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200">
                <a:solidFill>
                  <a:srgbClr val="0062A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category: "feature"</a:t>
            </a:r>
          </a:p>
        </p:txBody>
      </p:sp>
      <p:sp>
        <p:nvSpPr>
          <p:cNvPr id="35" name="Content Placeholder 2">
            <a:extLst>
              <a:ext uri="{FF2B5EF4-FFF2-40B4-BE49-F238E27FC236}">
                <a16:creationId xmlns:a16="http://schemas.microsoft.com/office/drawing/2014/main" id="{E7FABCD6-C6AE-F5E3-5603-DAEB61D68D9E}"/>
              </a:ext>
            </a:extLst>
          </p:cNvPr>
          <p:cNvSpPr txBox="1">
            <a:spLocks/>
          </p:cNvSpPr>
          <p:nvPr/>
        </p:nvSpPr>
        <p:spPr>
          <a:xfrm>
            <a:off x="3640506" y="2827360"/>
            <a:ext cx="2664041" cy="32428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200">
                <a:solidFill>
                  <a:srgbClr val="0062A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category: "bug"</a:t>
            </a:r>
          </a:p>
        </p:txBody>
      </p:sp>
      <p:sp>
        <p:nvSpPr>
          <p:cNvPr id="36" name="Content Placeholder 2">
            <a:extLst>
              <a:ext uri="{FF2B5EF4-FFF2-40B4-BE49-F238E27FC236}">
                <a16:creationId xmlns:a16="http://schemas.microsoft.com/office/drawing/2014/main" id="{EC87D277-9E24-5F31-2F47-C61249509DEC}"/>
              </a:ext>
            </a:extLst>
          </p:cNvPr>
          <p:cNvSpPr txBox="1">
            <a:spLocks/>
          </p:cNvSpPr>
          <p:nvPr/>
        </p:nvSpPr>
        <p:spPr>
          <a:xfrm>
            <a:off x="3640505" y="3544213"/>
            <a:ext cx="2664041" cy="32428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200">
                <a:solidFill>
                  <a:srgbClr val="0062A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category: "bug"</a:t>
            </a:r>
          </a:p>
        </p:txBody>
      </p:sp>
      <p:sp>
        <p:nvSpPr>
          <p:cNvPr id="37" name="Content Placeholder 2">
            <a:extLst>
              <a:ext uri="{FF2B5EF4-FFF2-40B4-BE49-F238E27FC236}">
                <a16:creationId xmlns:a16="http://schemas.microsoft.com/office/drawing/2014/main" id="{0E36AD4A-23CD-6B38-B24E-EF7746FA6514}"/>
              </a:ext>
            </a:extLst>
          </p:cNvPr>
          <p:cNvSpPr txBox="1">
            <a:spLocks/>
          </p:cNvSpPr>
          <p:nvPr/>
        </p:nvSpPr>
        <p:spPr>
          <a:xfrm>
            <a:off x="6065646" y="2861501"/>
            <a:ext cx="1884822" cy="32428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200">
                <a:solidFill>
                  <a:srgbClr val="0062A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category: "bug"</a:t>
            </a:r>
          </a:p>
        </p:txBody>
      </p:sp>
      <p:sp>
        <p:nvSpPr>
          <p:cNvPr id="38" name="Content Placeholder 2">
            <a:extLst>
              <a:ext uri="{FF2B5EF4-FFF2-40B4-BE49-F238E27FC236}">
                <a16:creationId xmlns:a16="http://schemas.microsoft.com/office/drawing/2014/main" id="{E1E5C648-DA89-382E-356A-B0F7914257F2}"/>
              </a:ext>
            </a:extLst>
          </p:cNvPr>
          <p:cNvSpPr txBox="1">
            <a:spLocks/>
          </p:cNvSpPr>
          <p:nvPr/>
        </p:nvSpPr>
        <p:spPr>
          <a:xfrm>
            <a:off x="8027780" y="2097173"/>
            <a:ext cx="4090244" cy="105447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200"/>
              <a:t>Each agent outputs their vote, and the aggregator calculates the most popular choice.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5831DE2-B411-0E48-5EA3-1F083B535E66}"/>
              </a:ext>
            </a:extLst>
          </p:cNvPr>
          <p:cNvSpPr txBox="1"/>
          <p:nvPr/>
        </p:nvSpPr>
        <p:spPr>
          <a:xfrm>
            <a:off x="1049416" y="3844023"/>
            <a:ext cx="10760782" cy="265713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ts val="2025"/>
              </a:lnSpc>
              <a:buNone/>
            </a:pPr>
            <a:r>
              <a:rPr lang="en-US" sz="20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class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000">
                <a:solidFill>
                  <a:srgbClr val="267F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TallyVotes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2000">
                <a:solidFill>
                  <a:srgbClr val="267F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Executor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):</a:t>
            </a:r>
          </a:p>
          <a:p>
            <a:pPr>
              <a:lnSpc>
                <a:spcPts val="2025"/>
              </a:lnSpc>
              <a:buNone/>
            </a:pPr>
            <a:r>
              <a:rPr lang="en-US" sz="2000">
                <a:solidFill>
                  <a:srgbClr val="795E2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@handler</a:t>
            </a:r>
            <a:endParaRPr lang="en-US" sz="200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ts val="2025"/>
              </a:lnSpc>
              <a:buNone/>
            </a:pPr>
            <a:r>
              <a:rPr lang="en-US" sz="20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async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0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def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000">
                <a:solidFill>
                  <a:srgbClr val="795E2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tally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self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results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lang="en-US" sz="2000">
                <a:solidFill>
                  <a:srgbClr val="267F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list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</a:t>
            </a:r>
            <a:r>
              <a:rPr lang="en-US" sz="2000">
                <a:solidFill>
                  <a:srgbClr val="267F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AgentExecutorResponse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],</a:t>
            </a:r>
          </a:p>
          <a:p>
            <a:pPr>
              <a:lnSpc>
                <a:spcPts val="2025"/>
              </a:lnSpc>
              <a:buNone/>
            </a:pP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            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ctx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lang="en-US" sz="2000">
                <a:solidFill>
                  <a:srgbClr val="267F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WorkflowContext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</a:t>
            </a:r>
            <a:r>
              <a:rPr lang="en-US" sz="2000">
                <a:solidFill>
                  <a:srgbClr val="267F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Never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2000">
                <a:solidFill>
                  <a:srgbClr val="267F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str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]):</a:t>
            </a:r>
          </a:p>
          <a:p>
            <a:pPr>
              <a:lnSpc>
                <a:spcPts val="2025"/>
              </a:lnSpc>
              <a:buNone/>
            </a:pP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votes 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 []</a:t>
            </a:r>
          </a:p>
          <a:p>
            <a:pPr>
              <a:lnSpc>
                <a:spcPts val="2025"/>
              </a:lnSpc>
              <a:buNone/>
            </a:pPr>
            <a:r>
              <a:rPr lang="en-US" sz="2000">
                <a:solidFill>
                  <a:srgbClr val="AF00D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for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result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000">
                <a:solidFill>
                  <a:srgbClr val="AF00D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results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</a:p>
          <a:p>
            <a:pPr>
              <a:lnSpc>
                <a:spcPts val="2025"/>
              </a:lnSpc>
              <a:buNone/>
            </a:pP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classification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lang="en-US" sz="2000">
                <a:solidFill>
                  <a:srgbClr val="267F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Classification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 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result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agent_response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value</a:t>
            </a:r>
            <a:endParaRPr lang="en-US" sz="200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ts val="2025"/>
              </a:lnSpc>
              <a:buNone/>
            </a:pP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votes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sz="2000">
                <a:solidFill>
                  <a:srgbClr val="795E2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append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classification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category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value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>
              <a:lnSpc>
                <a:spcPts val="2025"/>
              </a:lnSpc>
              <a:buNone/>
            </a:pP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winner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count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sz="2000">
                <a:solidFill>
                  <a:srgbClr val="267F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Counter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votes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).</a:t>
            </a:r>
            <a:r>
              <a:rPr lang="en-US" sz="2000">
                <a:solidFill>
                  <a:srgbClr val="795E2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most_common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200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)[</a:t>
            </a:r>
            <a:r>
              <a:rPr lang="en-US" sz="200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</a:t>
            </a:r>
          </a:p>
          <a:p>
            <a:pPr>
              <a:lnSpc>
                <a:spcPts val="2025"/>
              </a:lnSpc>
              <a:buNone/>
            </a:pP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2000">
                <a:solidFill>
                  <a:srgbClr val="AF00D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await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ctx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sz="2000">
                <a:solidFill>
                  <a:srgbClr val="795E2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yield_output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winner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8837787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1A5E98-A080-EC86-8417-9A94A5B9FE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78F47F-A8DB-5DCE-E091-345398BC67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232343"/>
            <a:ext cx="11039375" cy="2852737"/>
          </a:xfrm>
        </p:spPr>
        <p:txBody>
          <a:bodyPr/>
          <a:lstStyle/>
          <a:p>
            <a:r>
              <a:rPr lang="en-US"/>
              <a:t>Conditional routing + concurrency </a:t>
            </a:r>
          </a:p>
        </p:txBody>
      </p:sp>
    </p:spTree>
    <p:extLst>
      <p:ext uri="{BB962C8B-B14F-4D97-AF65-F5344CB8AC3E}">
        <p14:creationId xmlns:p14="http://schemas.microsoft.com/office/powerpoint/2010/main" val="92134697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4AABEC-F77D-662F-C149-76D59A41FC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71F92E-4004-1F5B-D75A-65635C875A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Conditional routing with concurrent execution</a:t>
            </a:r>
          </a:p>
        </p:txBody>
      </p:sp>
      <p:sp>
        <p:nvSpPr>
          <p:cNvPr id="38" name="Content Placeholder 2">
            <a:extLst>
              <a:ext uri="{FF2B5EF4-FFF2-40B4-BE49-F238E27FC236}">
                <a16:creationId xmlns:a16="http://schemas.microsoft.com/office/drawing/2014/main" id="{8D545520-7955-4D16-B54F-18A61A618883}"/>
              </a:ext>
            </a:extLst>
          </p:cNvPr>
          <p:cNvSpPr txBox="1">
            <a:spLocks/>
          </p:cNvSpPr>
          <p:nvPr/>
        </p:nvSpPr>
        <p:spPr>
          <a:xfrm>
            <a:off x="1296919" y="5460774"/>
            <a:ext cx="10769953" cy="105447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200"/>
              <a:t>The input is sent to any number of concurrent executors based off a selection function.</a:t>
            </a:r>
          </a:p>
        </p:txBody>
      </p:sp>
      <p:sp>
        <p:nvSpPr>
          <p:cNvPr id="3" name="Rounded Rectangular Callout 2">
            <a:extLst>
              <a:ext uri="{FF2B5EF4-FFF2-40B4-BE49-F238E27FC236}">
                <a16:creationId xmlns:a16="http://schemas.microsoft.com/office/drawing/2014/main" id="{45ADA266-987F-D128-EB5B-F9FA66030C68}"/>
              </a:ext>
            </a:extLst>
          </p:cNvPr>
          <p:cNvSpPr/>
          <p:nvPr/>
        </p:nvSpPr>
        <p:spPr>
          <a:xfrm>
            <a:off x="1574036" y="3227264"/>
            <a:ext cx="1151664" cy="632132"/>
          </a:xfrm>
          <a:prstGeom prst="wedgeRoundRectCallout">
            <a:avLst>
              <a:gd name="adj1" fmla="val -77665"/>
              <a:gd name="adj2" fmla="val -23174"/>
              <a:gd name="adj3" fmla="val 16667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/>
              <a:t>Input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9CDB2A4-EC63-3F4C-1C23-109418A5F31B}"/>
              </a:ext>
            </a:extLst>
          </p:cNvPr>
          <p:cNvSpPr/>
          <p:nvPr/>
        </p:nvSpPr>
        <p:spPr bwMode="auto">
          <a:xfrm>
            <a:off x="7426250" y="2365791"/>
            <a:ext cx="1524469" cy="632132"/>
          </a:xfrm>
          <a:prstGeom prst="rect">
            <a:avLst/>
          </a:prstGeom>
          <a:solidFill>
            <a:schemeClr val="tx1"/>
          </a:solidFill>
          <a:ln w="57150">
            <a:solidFill>
              <a:srgbClr val="37D142"/>
            </a:solidFill>
            <a:headEnd type="none" w="med" len="med"/>
            <a:tailEnd type="none" w="med" len="med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r>
              <a:rPr lang="en-US" sz="2200" b="1" err="1">
                <a:solidFill>
                  <a:schemeClr val="bg1"/>
                </a:solidFill>
                <a:ea typeface="Segoe UI" pitchFamily="34" charset="0"/>
                <a:cs typeface="Segoe UI" pitchFamily="34" charset="0"/>
              </a:rPr>
              <a:t>Agent A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5F759EBA-AEF2-AF69-A228-56AAA5650D5A}"/>
              </a:ext>
            </a:extLst>
          </p:cNvPr>
          <p:cNvCxnSpPr>
            <a:cxnSpLocks/>
            <a:endCxn id="4" idx="1"/>
          </p:cNvCxnSpPr>
          <p:nvPr/>
        </p:nvCxnSpPr>
        <p:spPr>
          <a:xfrm flipV="1">
            <a:off x="5401016" y="2681857"/>
            <a:ext cx="2025234" cy="87494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2B5B4CBF-0B27-475E-C747-DFDE3DF938BF}"/>
              </a:ext>
            </a:extLst>
          </p:cNvPr>
          <p:cNvSpPr/>
          <p:nvPr/>
        </p:nvSpPr>
        <p:spPr bwMode="auto">
          <a:xfrm>
            <a:off x="7426249" y="3227264"/>
            <a:ext cx="1524469" cy="632132"/>
          </a:xfrm>
          <a:prstGeom prst="rect">
            <a:avLst/>
          </a:prstGeom>
          <a:solidFill>
            <a:schemeClr val="tx1"/>
          </a:solidFill>
          <a:ln w="57150">
            <a:solidFill>
              <a:srgbClr val="37D142"/>
            </a:solidFill>
            <a:headEnd type="none" w="med" len="med"/>
            <a:tailEnd type="none" w="med" len="med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r>
              <a:rPr lang="en-US" sz="2200" b="1" err="1">
                <a:solidFill>
                  <a:schemeClr val="bg1"/>
                </a:solidFill>
                <a:ea typeface="Segoe UI" pitchFamily="34" charset="0"/>
                <a:cs typeface="Segoe UI" pitchFamily="34" charset="0"/>
              </a:rPr>
              <a:t>Agent B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761B149D-BBAA-F99B-EC58-1F08D827FC08}"/>
              </a:ext>
            </a:extLst>
          </p:cNvPr>
          <p:cNvCxnSpPr>
            <a:cxnSpLocks/>
          </p:cNvCxnSpPr>
          <p:nvPr/>
        </p:nvCxnSpPr>
        <p:spPr>
          <a:xfrm flipV="1">
            <a:off x="5401016" y="3543330"/>
            <a:ext cx="2025233" cy="2693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519FB1FF-97C7-F4C7-7CFB-D2BFB5A0BD92}"/>
              </a:ext>
            </a:extLst>
          </p:cNvPr>
          <p:cNvSpPr/>
          <p:nvPr/>
        </p:nvSpPr>
        <p:spPr bwMode="auto">
          <a:xfrm>
            <a:off x="7426248" y="4145569"/>
            <a:ext cx="1524469" cy="632132"/>
          </a:xfrm>
          <a:prstGeom prst="rect">
            <a:avLst/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r>
              <a:rPr lang="en-US" sz="2200" b="1" err="1">
                <a:solidFill>
                  <a:schemeClr val="bg1"/>
                </a:solidFill>
                <a:ea typeface="Segoe UI" pitchFamily="34" charset="0"/>
                <a:cs typeface="Segoe UI" pitchFamily="34" charset="0"/>
              </a:rPr>
              <a:t>Agent C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5C00381B-F70D-EE40-FE7B-F2CD95BE311F}"/>
              </a:ext>
            </a:extLst>
          </p:cNvPr>
          <p:cNvCxnSpPr>
            <a:cxnSpLocks/>
          </p:cNvCxnSpPr>
          <p:nvPr/>
        </p:nvCxnSpPr>
        <p:spPr>
          <a:xfrm>
            <a:off x="5401014" y="3586693"/>
            <a:ext cx="2025234" cy="87494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Diamond 25">
            <a:extLst>
              <a:ext uri="{FF2B5EF4-FFF2-40B4-BE49-F238E27FC236}">
                <a16:creationId xmlns:a16="http://schemas.microsoft.com/office/drawing/2014/main" id="{159FFA20-AA54-D466-FBFC-152C25B3CD32}"/>
              </a:ext>
            </a:extLst>
          </p:cNvPr>
          <p:cNvSpPr/>
          <p:nvPr/>
        </p:nvSpPr>
        <p:spPr>
          <a:xfrm>
            <a:off x="3218928" y="3050413"/>
            <a:ext cx="2286723" cy="1026241"/>
          </a:xfrm>
          <a:prstGeom prst="diamond">
            <a:avLst/>
          </a:prstGeom>
          <a:solidFill>
            <a:srgbClr val="37D14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100" b="1"/>
              <a:t>selection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2228C120-CDF5-2303-9441-8FF37BB2821D}"/>
              </a:ext>
            </a:extLst>
          </p:cNvPr>
          <p:cNvCxnSpPr>
            <a:cxnSpLocks/>
            <a:endCxn id="26" idx="1"/>
          </p:cNvCxnSpPr>
          <p:nvPr/>
        </p:nvCxnSpPr>
        <p:spPr>
          <a:xfrm flipV="1">
            <a:off x="2725700" y="3563534"/>
            <a:ext cx="493228" cy="673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2262570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D43B9A-95A3-2935-85E1-5B10A6CD1B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D19281-2380-D9FB-7C63-162E99EB93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Workflows with multi-selection edge groups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A89FA08-3E4B-8F22-0A12-086B7D0212B6}"/>
              </a:ext>
            </a:extLst>
          </p:cNvPr>
          <p:cNvSpPr txBox="1"/>
          <p:nvPr/>
        </p:nvSpPr>
        <p:spPr>
          <a:xfrm>
            <a:off x="1132793" y="227425"/>
            <a:ext cx="3168620" cy="461665"/>
          </a:xfrm>
          <a:prstGeom prst="rect">
            <a:avLst/>
          </a:prstGeom>
          <a:solidFill>
            <a:schemeClr val="accent3"/>
          </a:solidFill>
          <a:effectLst>
            <a:softEdge rad="31750"/>
          </a:effectLst>
        </p:spPr>
        <p:txBody>
          <a:bodyPr wrap="square">
            <a:spAutoFit/>
          </a:bodyPr>
          <a:lstStyle/>
          <a:p>
            <a:pPr algn="ctr"/>
            <a:r>
              <a:rPr lang="en-US" sz="2400" b="1">
                <a:solidFill>
                  <a:schemeClr val="bg1"/>
                </a:solidFill>
              </a:rPr>
              <a:t>agent-framework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BF154F9-89CE-A771-F35A-06AB8CBD0EB4}"/>
              </a:ext>
            </a:extLst>
          </p:cNvPr>
          <p:cNvSpPr txBox="1"/>
          <p:nvPr/>
        </p:nvSpPr>
        <p:spPr>
          <a:xfrm>
            <a:off x="1126729" y="6476686"/>
            <a:ext cx="6100966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2000" err="1"/>
              <a:t>Full example: </a:t>
            </a:r>
            <a:r>
              <a:rPr lang="en-US" sz="2000" err="1">
                <a:hlinkClick r:id="rId2"/>
              </a:rPr>
              <a:t>workflow_multi_selection_edge_group.py</a:t>
            </a:r>
            <a:endParaRPr lang="en-US" sz="2000" err="1"/>
          </a:p>
        </p:txBody>
      </p:sp>
      <p:sp>
        <p:nvSpPr>
          <p:cNvPr id="38" name="Content Placeholder 2">
            <a:extLst>
              <a:ext uri="{FF2B5EF4-FFF2-40B4-BE49-F238E27FC236}">
                <a16:creationId xmlns:a16="http://schemas.microsoft.com/office/drawing/2014/main" id="{DAAB6BBE-3DAA-52AF-635B-92C008631798}"/>
              </a:ext>
            </a:extLst>
          </p:cNvPr>
          <p:cNvSpPr txBox="1">
            <a:spLocks/>
          </p:cNvSpPr>
          <p:nvPr/>
        </p:nvSpPr>
        <p:spPr>
          <a:xfrm>
            <a:off x="6651366" y="2269971"/>
            <a:ext cx="5069839" cy="132556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200"/>
              <a:t>Based off the </a:t>
            </a:r>
            <a:r>
              <a:rPr lang="en-US" sz="2200">
                <a:solidFill>
                  <a:srgbClr val="267F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selection_func</a:t>
            </a:r>
            <a:r>
              <a:rPr lang="en-US" sz="2200"/>
              <a:t>, the workflow sends the input to the selected executors for concurrent processing.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B7662E9-D4D5-F44B-0B8D-EFD20CEF35C1}"/>
              </a:ext>
            </a:extLst>
          </p:cNvPr>
          <p:cNvSpPr txBox="1"/>
          <p:nvPr/>
        </p:nvSpPr>
        <p:spPr>
          <a:xfrm>
            <a:off x="1126729" y="3980618"/>
            <a:ext cx="10760782" cy="241912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buNone/>
            </a:pPr>
            <a:r>
              <a:rPr lang="en-US" sz="24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workflow</a:t>
            </a:r>
            <a:r>
              <a:rPr lang="en-US" sz="24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(</a:t>
            </a:r>
            <a:r>
              <a:rPr lang="en-US" sz="2400">
                <a:solidFill>
                  <a:srgbClr val="267F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WorkflowBuilder</a:t>
            </a:r>
            <a:r>
              <a:rPr lang="en-US" sz="24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24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name</a:t>
            </a:r>
            <a:r>
              <a:rPr lang="en-US" sz="24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US" sz="240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"MultiSelectionEdgeGroup"</a:t>
            </a:r>
            <a:r>
              <a:rPr lang="en-US" sz="24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</a:p>
          <a:p>
            <a:pPr>
              <a:lnSpc>
                <a:spcPct val="90000"/>
              </a:lnSpc>
              <a:buNone/>
            </a:pPr>
            <a:r>
              <a:rPr lang="en-US" sz="24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                </a:t>
            </a:r>
            <a:r>
              <a:rPr lang="en-US" sz="24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start_executor</a:t>
            </a:r>
            <a:r>
              <a:rPr lang="en-US" sz="24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US" sz="24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parse_ticket</a:t>
            </a:r>
            <a:r>
              <a:rPr lang="en-US" sz="24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>
              <a:lnSpc>
                <a:spcPct val="90000"/>
              </a:lnSpc>
              <a:buNone/>
            </a:pPr>
            <a:r>
              <a:rPr lang="en-US" sz="24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.</a:t>
            </a:r>
            <a:r>
              <a:rPr lang="en-US" sz="2400">
                <a:solidFill>
                  <a:srgbClr val="795E2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add_multi_selection_edge_group</a:t>
            </a:r>
            <a:r>
              <a:rPr lang="en-US" sz="24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</a:p>
          <a:p>
            <a:pPr>
              <a:lnSpc>
                <a:spcPct val="90000"/>
              </a:lnSpc>
              <a:buNone/>
            </a:pPr>
            <a:r>
              <a:rPr lang="en-US" sz="24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   </a:t>
            </a:r>
            <a:r>
              <a:rPr lang="en-US" sz="24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parse_ticket</a:t>
            </a:r>
            <a:r>
              <a:rPr lang="en-US" sz="24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</a:p>
          <a:p>
            <a:pPr>
              <a:lnSpc>
                <a:spcPct val="90000"/>
              </a:lnSpc>
              <a:buNone/>
            </a:pPr>
            <a:r>
              <a:rPr lang="en-US" sz="24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   [</a:t>
            </a:r>
            <a:r>
              <a:rPr lang="en-US" sz="24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support</a:t>
            </a:r>
            <a:r>
              <a:rPr lang="en-US" sz="24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24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engineering</a:t>
            </a:r>
            <a:r>
              <a:rPr lang="en-US" sz="24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24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billing</a:t>
            </a:r>
            <a:r>
              <a:rPr lang="en-US" sz="24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],</a:t>
            </a:r>
          </a:p>
          <a:p>
            <a:pPr>
              <a:lnSpc>
                <a:spcPct val="90000"/>
              </a:lnSpc>
              <a:buNone/>
            </a:pPr>
            <a:r>
              <a:rPr lang="en-US" sz="24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   </a:t>
            </a:r>
            <a:r>
              <a:rPr lang="en-US" sz="24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selection_func</a:t>
            </a:r>
            <a:r>
              <a:rPr lang="en-US" sz="24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US" sz="2400">
                <a:solidFill>
                  <a:srgbClr val="795E2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select_targets</a:t>
            </a:r>
            <a:r>
              <a:rPr lang="en-US" sz="24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>
              <a:lnSpc>
                <a:spcPct val="90000"/>
              </a:lnSpc>
              <a:buNone/>
            </a:pPr>
            <a:r>
              <a:rPr lang="en-US" sz="24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.</a:t>
            </a:r>
            <a:r>
              <a:rPr lang="en-US" sz="2400">
                <a:solidFill>
                  <a:srgbClr val="795E2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build</a:t>
            </a:r>
            <a:r>
              <a:rPr lang="en-US" sz="24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())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B6A2542-BD86-C0BC-954B-07C636BC6D3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6729" y="1531628"/>
            <a:ext cx="5069840" cy="244899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731C95B9-0201-6067-7CDD-6BD16150CA3E}"/>
              </a:ext>
            </a:extLst>
          </p:cNvPr>
          <p:cNvSpPr/>
          <p:nvPr/>
        </p:nvSpPr>
        <p:spPr>
          <a:xfrm>
            <a:off x="3984859" y="1694046"/>
            <a:ext cx="2040556" cy="529390"/>
          </a:xfrm>
          <a:prstGeom prst="rect">
            <a:avLst/>
          </a:prstGeom>
          <a:noFill/>
          <a:ln>
            <a:solidFill>
              <a:srgbClr val="37D14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F2C5DA7-3C8B-9873-D821-7596FCC3C532}"/>
              </a:ext>
            </a:extLst>
          </p:cNvPr>
          <p:cNvSpPr/>
          <p:nvPr/>
        </p:nvSpPr>
        <p:spPr>
          <a:xfrm>
            <a:off x="3984859" y="2491428"/>
            <a:ext cx="2040556" cy="529390"/>
          </a:xfrm>
          <a:prstGeom prst="rect">
            <a:avLst/>
          </a:prstGeom>
          <a:noFill/>
          <a:ln>
            <a:solidFill>
              <a:srgbClr val="37D14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269487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ABA07F-344E-FE97-117B-0FFB4B5F4A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C4C247-35A8-496F-649C-D87960404B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32343"/>
            <a:ext cx="11462886" cy="2852737"/>
          </a:xfrm>
        </p:spPr>
        <p:txBody>
          <a:bodyPr>
            <a:normAutofit/>
          </a:bodyPr>
          <a:lstStyle/>
          <a:p>
            <a:r>
              <a:rPr lang="en-US" sz="5500"/>
              <a:t>Built-in workflow orchestrations</a:t>
            </a:r>
          </a:p>
        </p:txBody>
      </p:sp>
      <p:sp>
        <p:nvSpPr>
          <p:cNvPr id="4" name="TextBox 3">
            <a:hlinkClick r:id="rId3"/>
            <a:extLst>
              <a:ext uri="{FF2B5EF4-FFF2-40B4-BE49-F238E27FC236}">
                <a16:creationId xmlns:a16="http://schemas.microsoft.com/office/drawing/2014/main" id="{84224ABF-79CA-4070-0942-BA1277686911}"/>
              </a:ext>
            </a:extLst>
          </p:cNvPr>
          <p:cNvSpPr txBox="1"/>
          <p:nvPr/>
        </p:nvSpPr>
        <p:spPr>
          <a:xfrm>
            <a:off x="838199" y="3105834"/>
            <a:ext cx="1027897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>
                <a:hlinkClick r:id="rId4"/>
              </a:rPr>
              <a:t>https://learn.microsoft.com/agent-framework/workflows/orchestrations/</a:t>
            </a:r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231932799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EB6701-224E-C4CB-FB6F-247365BE8F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0E2255-F06E-F384-2B12-44D6EAF5DB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232343"/>
            <a:ext cx="11847897" cy="2852737"/>
          </a:xfrm>
        </p:spPr>
        <p:txBody>
          <a:bodyPr>
            <a:normAutofit/>
          </a:bodyPr>
          <a:lstStyle/>
          <a:p>
            <a:r>
              <a:rPr lang="en-US" sz="5500"/>
              <a:t>ConcurrentBuilder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7DC61E1-D57E-98DF-FBE6-7EEC0BB34155}"/>
              </a:ext>
            </a:extLst>
          </p:cNvPr>
          <p:cNvSpPr txBox="1"/>
          <p:nvPr/>
        </p:nvSpPr>
        <p:spPr>
          <a:xfrm>
            <a:off x="838199" y="3161750"/>
            <a:ext cx="1064473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>
                <a:hlinkClick r:id="rId2"/>
              </a:rPr>
              <a:t>https://learn.microsoft.com/agent-framework/workflows/orchestrations/concurrent</a:t>
            </a:r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48893244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5CD650-ABFE-21BE-514B-A501C3FC54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E9D3FB-1EDC-9FCC-501D-571D8AAB8A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9415" y="458258"/>
            <a:ext cx="11530803" cy="1325563"/>
          </a:xfrm>
        </p:spPr>
        <p:txBody>
          <a:bodyPr/>
          <a:lstStyle/>
          <a:p>
            <a:r>
              <a:rPr lang="en-US"/>
              <a:t>Using the built-in ConcurrentBuilder workflow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AA6B045-EE5D-D845-338F-2C170C291EC7}"/>
              </a:ext>
            </a:extLst>
          </p:cNvPr>
          <p:cNvSpPr txBox="1"/>
          <p:nvPr/>
        </p:nvSpPr>
        <p:spPr>
          <a:xfrm>
            <a:off x="1132793" y="1608968"/>
            <a:ext cx="10706015" cy="144655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en-US" sz="2200">
                <a:solidFill>
                  <a:srgbClr val="AF00D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from</a:t>
            </a:r>
            <a:r>
              <a:rPr lang="en-US" sz="22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200">
                <a:solidFill>
                  <a:srgbClr val="267F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agent_framework</a:t>
            </a:r>
            <a:r>
              <a:rPr lang="en-US" sz="22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sz="2200">
                <a:solidFill>
                  <a:srgbClr val="267F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orchestrations</a:t>
            </a:r>
            <a:r>
              <a:rPr lang="en-US" sz="22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200">
                <a:solidFill>
                  <a:srgbClr val="AF00D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import</a:t>
            </a:r>
            <a:r>
              <a:rPr lang="en-US" sz="22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200">
                <a:solidFill>
                  <a:srgbClr val="267F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ConcurrentBuilder</a:t>
            </a:r>
            <a:endParaRPr lang="en-US" sz="220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buNone/>
            </a:pPr>
            <a:endParaRPr lang="en-US" sz="2200">
              <a:solidFill>
                <a:srgbClr val="00108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buNone/>
            </a:pPr>
            <a:r>
              <a:rPr lang="en-US" sz="22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workflow</a:t>
            </a:r>
            <a:r>
              <a:rPr lang="en-US" sz="22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sz="2200">
                <a:solidFill>
                  <a:srgbClr val="267F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ConcurrentBuilder</a:t>
            </a:r>
            <a:r>
              <a:rPr lang="en-US" sz="22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</a:p>
          <a:p>
            <a:pPr>
              <a:buNone/>
            </a:pPr>
            <a:r>
              <a:rPr lang="en-US" sz="22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</a:t>
            </a:r>
            <a:r>
              <a:rPr lang="en-US" sz="22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participants</a:t>
            </a:r>
            <a:r>
              <a:rPr lang="en-US" sz="22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=[</a:t>
            </a:r>
            <a:r>
              <a:rPr lang="en-US" sz="22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researcher</a:t>
            </a:r>
            <a:r>
              <a:rPr lang="en-US" sz="22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22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marketer</a:t>
            </a:r>
            <a:r>
              <a:rPr lang="en-US" sz="22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22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legal</a:t>
            </a:r>
            <a:r>
              <a:rPr lang="en-US" sz="22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]).</a:t>
            </a:r>
            <a:r>
              <a:rPr lang="en-US" sz="2200">
                <a:solidFill>
                  <a:srgbClr val="795E2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build</a:t>
            </a:r>
            <a:r>
              <a:rPr lang="en-US" sz="22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1091097-4EA0-6F70-91CC-12C268F97C9A}"/>
              </a:ext>
            </a:extLst>
          </p:cNvPr>
          <p:cNvSpPr txBox="1"/>
          <p:nvPr/>
        </p:nvSpPr>
        <p:spPr>
          <a:xfrm>
            <a:off x="1132793" y="227425"/>
            <a:ext cx="3168620" cy="461665"/>
          </a:xfrm>
          <a:prstGeom prst="rect">
            <a:avLst/>
          </a:prstGeom>
          <a:solidFill>
            <a:schemeClr val="accent3"/>
          </a:solidFill>
          <a:effectLst>
            <a:softEdge rad="31750"/>
          </a:effectLst>
        </p:spPr>
        <p:txBody>
          <a:bodyPr wrap="square">
            <a:spAutoFit/>
          </a:bodyPr>
          <a:lstStyle/>
          <a:p>
            <a:pPr algn="ctr"/>
            <a:r>
              <a:rPr lang="en-US" sz="2400" b="1">
                <a:solidFill>
                  <a:schemeClr val="bg1"/>
                </a:solidFill>
              </a:rPr>
              <a:t>agent-framework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BB70D42-BD2D-1C99-0E53-1428F8398E6F}"/>
              </a:ext>
            </a:extLst>
          </p:cNvPr>
          <p:cNvSpPr txBox="1"/>
          <p:nvPr/>
        </p:nvSpPr>
        <p:spPr>
          <a:xfrm>
            <a:off x="1132793" y="6280130"/>
            <a:ext cx="5068952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2000" err="1"/>
              <a:t>Full example: </a:t>
            </a:r>
            <a:r>
              <a:rPr lang="en-US" sz="2000" err="1">
                <a:hlinkClick r:id="rId3"/>
              </a:rPr>
              <a:t>workflow_agents_concurrent.py</a:t>
            </a:r>
            <a:endParaRPr lang="en-US" sz="2000" err="1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B895694E-EF29-6077-F689-9742AC57261D}"/>
              </a:ext>
            </a:extLst>
          </p:cNvPr>
          <p:cNvSpPr txBox="1">
            <a:spLocks/>
          </p:cNvSpPr>
          <p:nvPr/>
        </p:nvSpPr>
        <p:spPr>
          <a:xfrm>
            <a:off x="1049416" y="5008433"/>
            <a:ext cx="10985100" cy="13597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300"/>
              <a:t>The workflow assumes that participants accept and emit conversation-shaped data, so executors must be </a:t>
            </a:r>
            <a:r>
              <a:rPr lang="en-US" sz="2300">
                <a:solidFill>
                  <a:srgbClr val="267F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Agent</a:t>
            </a:r>
            <a:r>
              <a:rPr lang="en-US" sz="2300"/>
              <a:t>s or custom </a:t>
            </a:r>
            <a:r>
              <a:rPr lang="en-US" sz="2300">
                <a:solidFill>
                  <a:srgbClr val="267F99"/>
                </a:solidFill>
              </a:rPr>
              <a:t>Executor</a:t>
            </a:r>
            <a:r>
              <a:rPr lang="en-US" sz="2300"/>
              <a:t>s that process conversations.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300"/>
              <a:t>The extra start/end nodes normalize input and output to </a:t>
            </a:r>
            <a:r>
              <a:rPr lang="en-US" sz="2300">
                <a:solidFill>
                  <a:srgbClr val="267F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list[Message]</a:t>
            </a:r>
            <a:r>
              <a:rPr lang="en-US" sz="2300"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1B778BAD-8B94-3A51-D35F-D1AF2E04067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2793" y="3157097"/>
            <a:ext cx="8020832" cy="1805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493467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06EB5E-57EC-704A-8549-2F6F39C3E8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09EAD7-1F96-AF2F-5A24-886271F405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32343"/>
            <a:ext cx="11462886" cy="2852737"/>
          </a:xfrm>
        </p:spPr>
        <p:txBody>
          <a:bodyPr>
            <a:normAutofit/>
          </a:bodyPr>
          <a:lstStyle/>
          <a:p>
            <a:r>
              <a:rPr lang="en-US" sz="5500"/>
              <a:t>MagenticBuilder for dynamic planning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226A5B6-398A-35A8-565F-A0360562A781}"/>
              </a:ext>
            </a:extLst>
          </p:cNvPr>
          <p:cNvSpPr txBox="1"/>
          <p:nvPr/>
        </p:nvSpPr>
        <p:spPr>
          <a:xfrm>
            <a:off x="838200" y="3144335"/>
            <a:ext cx="1142679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>
                <a:hlinkClick r:id="rId3"/>
              </a:rPr>
              <a:t>https://learn.microsoft.com/agent-framework/workflows/orchestrations/magentic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332391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63986A-3F71-A50E-37ED-B3CE8EA694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8494BE-B97F-1F75-0AD0-1DA63E5B34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Magentic-One workflow orchestration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91C3499-9F20-C003-C1C5-935346B12C6A}"/>
              </a:ext>
            </a:extLst>
          </p:cNvPr>
          <p:cNvSpPr/>
          <p:nvPr/>
        </p:nvSpPr>
        <p:spPr bwMode="auto">
          <a:xfrm>
            <a:off x="1221427" y="5808550"/>
            <a:ext cx="2634933" cy="484856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  <a:headEnd type="none" w="med" len="med"/>
            <a:tailEnd type="none" w="med" len="med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91440" rIns="91440" bIns="9144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r>
              <a:rPr lang="en-US" sz="2000" err="1">
                <a:solidFill>
                  <a:schemeClr val="tx1"/>
                </a:solidFill>
                <a:ea typeface="Segoe UI" pitchFamily="34" charset="0"/>
                <a:cs typeface="Segoe UI" pitchFamily="34" charset="0"/>
              </a:rPr>
              <a:t>Agent A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1B623FF-E511-33F0-1817-0627FC25691B}"/>
              </a:ext>
            </a:extLst>
          </p:cNvPr>
          <p:cNvSpPr/>
          <p:nvPr/>
        </p:nvSpPr>
        <p:spPr bwMode="auto">
          <a:xfrm>
            <a:off x="4230239" y="5808548"/>
            <a:ext cx="2634933" cy="484852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  <a:headEnd type="none" w="med" len="med"/>
            <a:tailEnd type="none" w="med" len="med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91440" rIns="91440" bIns="9144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r>
              <a:rPr lang="en-US" sz="2000" err="1">
                <a:solidFill>
                  <a:schemeClr val="tx1"/>
                </a:solidFill>
                <a:ea typeface="Segoe UI" pitchFamily="34" charset="0"/>
                <a:cs typeface="Segoe UI" pitchFamily="34" charset="0"/>
              </a:rPr>
              <a:t>Agent B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4C64862-58DC-77F4-3840-5F33CFD56D18}"/>
              </a:ext>
            </a:extLst>
          </p:cNvPr>
          <p:cNvSpPr/>
          <p:nvPr/>
        </p:nvSpPr>
        <p:spPr bwMode="auto">
          <a:xfrm>
            <a:off x="7178090" y="5808547"/>
            <a:ext cx="2634933" cy="484846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  <a:headEnd type="none" w="med" len="med"/>
            <a:tailEnd type="none" w="med" len="med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82880" tIns="91440" rIns="182880" bIns="9144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r>
              <a:rPr lang="en-US" sz="2000" err="1">
                <a:solidFill>
                  <a:schemeClr val="tx1"/>
                </a:solidFill>
                <a:ea typeface="Segoe UI" pitchFamily="34" charset="0"/>
                <a:cs typeface="Segoe UI" pitchFamily="34" charset="0"/>
              </a:rPr>
              <a:t>Agent C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BCD264A-CE38-EB5F-B154-127AB9BD08FB}"/>
              </a:ext>
            </a:extLst>
          </p:cNvPr>
          <p:cNvSpPr/>
          <p:nvPr/>
        </p:nvSpPr>
        <p:spPr bwMode="auto">
          <a:xfrm>
            <a:off x="1180930" y="1690760"/>
            <a:ext cx="8989146" cy="3451736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  <a:headEnd type="none" w="med" len="med"/>
            <a:tailEnd type="none" w="med" len="med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932472" fontAlgn="base">
              <a:spcBef>
                <a:spcPct val="0"/>
              </a:spcBef>
              <a:spcAft>
                <a:spcPct val="0"/>
              </a:spcAft>
            </a:pPr>
            <a:r>
              <a:rPr lang="en-US" sz="2000" b="1" err="1">
                <a:solidFill>
                  <a:schemeClr val="tx1"/>
                </a:solidFill>
                <a:ea typeface="Segoe UI" pitchFamily="34" charset="0"/>
                <a:cs typeface="Segoe UI" pitchFamily="34" charset="0"/>
              </a:rPr>
              <a:t>Magentic-One orchestrator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F4956581-CE4B-29B2-8E24-9C85276D5BF3}"/>
              </a:ext>
            </a:extLst>
          </p:cNvPr>
          <p:cNvCxnSpPr>
            <a:cxnSpLocks/>
          </p:cNvCxnSpPr>
          <p:nvPr/>
        </p:nvCxnSpPr>
        <p:spPr>
          <a:xfrm flipV="1">
            <a:off x="2848457" y="3113876"/>
            <a:ext cx="0" cy="509295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3A61683-D827-438D-436E-FA4316EBBDEB}"/>
              </a:ext>
            </a:extLst>
          </p:cNvPr>
          <p:cNvCxnSpPr>
            <a:cxnSpLocks/>
          </p:cNvCxnSpPr>
          <p:nvPr/>
        </p:nvCxnSpPr>
        <p:spPr>
          <a:xfrm flipV="1">
            <a:off x="2848457" y="5379186"/>
            <a:ext cx="0" cy="368399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C665C3F9-DA20-5F20-8365-6C95D9C018CC}"/>
              </a:ext>
            </a:extLst>
          </p:cNvPr>
          <p:cNvCxnSpPr>
            <a:cxnSpLocks/>
          </p:cNvCxnSpPr>
          <p:nvPr/>
        </p:nvCxnSpPr>
        <p:spPr>
          <a:xfrm flipV="1">
            <a:off x="5675503" y="5361774"/>
            <a:ext cx="0" cy="368399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F2B39608-3900-185B-E06D-428C51E71D6B}"/>
              </a:ext>
            </a:extLst>
          </p:cNvPr>
          <p:cNvCxnSpPr>
            <a:cxnSpLocks/>
          </p:cNvCxnSpPr>
          <p:nvPr/>
        </p:nvCxnSpPr>
        <p:spPr>
          <a:xfrm flipV="1">
            <a:off x="8392716" y="5397921"/>
            <a:ext cx="0" cy="368399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DF4F36BC-D048-C5B1-0886-228F53EF854D}"/>
              </a:ext>
            </a:extLst>
          </p:cNvPr>
          <p:cNvSpPr/>
          <p:nvPr/>
        </p:nvSpPr>
        <p:spPr bwMode="auto">
          <a:xfrm>
            <a:off x="1530990" y="2340314"/>
            <a:ext cx="2634933" cy="1555250"/>
          </a:xfrm>
          <a:prstGeom prst="rect">
            <a:avLst/>
          </a:prstGeom>
          <a:solidFill>
            <a:schemeClr val="accent4">
              <a:lumMod val="90000"/>
            </a:schemeClr>
          </a:solidFill>
          <a:ln>
            <a:noFill/>
            <a:headEnd type="none" w="med" len="med"/>
            <a:tailEnd type="none" w="med" len="med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932472" fontAlgn="base">
              <a:spcBef>
                <a:spcPct val="0"/>
              </a:spcBef>
              <a:spcAft>
                <a:spcPct val="0"/>
              </a:spcAft>
            </a:pPr>
            <a:r>
              <a:rPr lang="en-US" sz="1400" b="1" err="1">
                <a:solidFill>
                  <a:schemeClr val="bg1"/>
                </a:solidFill>
                <a:ea typeface="Segoe UI" pitchFamily="34" charset="0"/>
                <a:cs typeface="Segoe UI" pitchFamily="34" charset="0"/>
              </a:rPr>
              <a:t>Task ledger</a:t>
            </a:r>
          </a:p>
          <a:p>
            <a:pPr defTabSz="932472" fontAlgn="base">
              <a:spcBef>
                <a:spcPct val="0"/>
              </a:spcBef>
              <a:spcAft>
                <a:spcPct val="0"/>
              </a:spcAft>
            </a:pPr>
            <a:endParaRPr lang="en-US" sz="1400" b="1" err="1">
              <a:solidFill>
                <a:schemeClr val="bg1"/>
              </a:solidFill>
              <a:ea typeface="Segoe UI" pitchFamily="34" charset="0"/>
              <a:cs typeface="Segoe UI" pitchFamily="34" charset="0"/>
            </a:endParaRPr>
          </a:p>
          <a:p>
            <a:pPr marL="342900" indent="-342900" defTabSz="932472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1400" err="1">
                <a:solidFill>
                  <a:schemeClr val="bg1"/>
                </a:solidFill>
                <a:ea typeface="Segoe UI" pitchFamily="34" charset="0"/>
                <a:cs typeface="Segoe UI" pitchFamily="34" charset="0"/>
              </a:rPr>
              <a:t>Given or verified facts</a:t>
            </a:r>
          </a:p>
          <a:p>
            <a:pPr marL="342900" indent="-342900" defTabSz="932472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1400" err="1">
                <a:solidFill>
                  <a:schemeClr val="bg1"/>
                </a:solidFill>
                <a:ea typeface="Segoe UI" pitchFamily="34" charset="0"/>
                <a:cs typeface="Segoe UI" pitchFamily="34" charset="0"/>
              </a:rPr>
              <a:t>Facts to look up</a:t>
            </a:r>
          </a:p>
          <a:p>
            <a:pPr marL="342900" indent="-342900" defTabSz="932472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1400" err="1">
                <a:solidFill>
                  <a:schemeClr val="bg1"/>
                </a:solidFill>
                <a:ea typeface="Segoe UI" pitchFamily="34" charset="0"/>
                <a:cs typeface="Segoe UI" pitchFamily="34" charset="0"/>
              </a:rPr>
              <a:t>Facts to derive</a:t>
            </a:r>
          </a:p>
          <a:p>
            <a:pPr marL="342900" indent="-342900" defTabSz="932472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1400" err="1">
                <a:solidFill>
                  <a:schemeClr val="bg1"/>
                </a:solidFill>
                <a:ea typeface="Segoe UI" pitchFamily="34" charset="0"/>
                <a:cs typeface="Segoe UI" pitchFamily="34" charset="0"/>
              </a:rPr>
              <a:t>Task plan</a:t>
            </a:r>
          </a:p>
          <a:p>
            <a:pPr defTabSz="932472" fontAlgn="base">
              <a:spcBef>
                <a:spcPct val="0"/>
              </a:spcBef>
              <a:spcAft>
                <a:spcPct val="0"/>
              </a:spcAft>
            </a:pPr>
            <a:endParaRPr lang="en-US" sz="1400" err="1">
              <a:solidFill>
                <a:schemeClr val="bg1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09F6AA2-0332-CA92-92A4-E601C7423A87}"/>
              </a:ext>
            </a:extLst>
          </p:cNvPr>
          <p:cNvSpPr/>
          <p:nvPr/>
        </p:nvSpPr>
        <p:spPr bwMode="auto">
          <a:xfrm>
            <a:off x="4985566" y="2340314"/>
            <a:ext cx="2987513" cy="1580706"/>
          </a:xfrm>
          <a:prstGeom prst="rect">
            <a:avLst/>
          </a:prstGeom>
          <a:solidFill>
            <a:schemeClr val="accent4">
              <a:lumMod val="90000"/>
            </a:schemeClr>
          </a:solidFill>
          <a:ln>
            <a:noFill/>
            <a:headEnd type="none" w="med" len="med"/>
            <a:tailEnd type="none" w="med" len="med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932472" fontAlgn="base">
              <a:spcBef>
                <a:spcPct val="0"/>
              </a:spcBef>
              <a:spcAft>
                <a:spcPct val="0"/>
              </a:spcAft>
            </a:pPr>
            <a:r>
              <a:rPr lang="en-US" sz="1400" b="1" err="1">
                <a:solidFill>
                  <a:schemeClr val="bg1"/>
                </a:solidFill>
                <a:ea typeface="Segoe UI" pitchFamily="34" charset="0"/>
                <a:cs typeface="Segoe UI" pitchFamily="34" charset="0"/>
              </a:rPr>
              <a:t>Progress ledger</a:t>
            </a:r>
          </a:p>
          <a:p>
            <a:pPr defTabSz="932472" fontAlgn="base">
              <a:spcBef>
                <a:spcPct val="0"/>
              </a:spcBef>
              <a:spcAft>
                <a:spcPct val="0"/>
              </a:spcAft>
            </a:pPr>
            <a:endParaRPr lang="en-US" sz="1400" b="1" err="1">
              <a:solidFill>
                <a:schemeClr val="bg1"/>
              </a:solidFill>
              <a:ea typeface="Segoe UI" pitchFamily="34" charset="0"/>
              <a:cs typeface="Segoe UI" pitchFamily="34" charset="0"/>
            </a:endParaRPr>
          </a:p>
          <a:p>
            <a:pPr marL="285750" indent="-285750" defTabSz="932472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1400" err="1">
                <a:solidFill>
                  <a:schemeClr val="bg1"/>
                </a:solidFill>
                <a:ea typeface="Segoe UI" pitchFamily="34" charset="0"/>
                <a:cs typeface="Segoe UI" pitchFamily="34" charset="0"/>
              </a:rPr>
              <a:t>Task complete? </a:t>
            </a:r>
          </a:p>
          <a:p>
            <a:pPr marL="285750" indent="-285750" defTabSz="932472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1400" err="1">
                <a:solidFill>
                  <a:schemeClr val="bg1"/>
                </a:solidFill>
                <a:ea typeface="Segoe UI" pitchFamily="34" charset="0"/>
                <a:cs typeface="Segoe UI" pitchFamily="34" charset="0"/>
              </a:rPr>
              <a:t>Is progress being made?</a:t>
            </a:r>
          </a:p>
          <a:p>
            <a:pPr marL="285750" indent="-285750" defTabSz="932472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1400" err="1">
                <a:solidFill>
                  <a:schemeClr val="bg1"/>
                </a:solidFill>
                <a:ea typeface="Segoe UI" pitchFamily="34" charset="0"/>
                <a:cs typeface="Segoe UI" pitchFamily="34" charset="0"/>
              </a:rPr>
              <a:t>What's next agent?</a:t>
            </a:r>
          </a:p>
          <a:p>
            <a:pPr marL="285750" indent="-285750" defTabSz="932472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1400" err="1">
                <a:solidFill>
                  <a:schemeClr val="bg1"/>
                </a:solidFill>
                <a:ea typeface="Segoe UI" pitchFamily="34" charset="0"/>
                <a:cs typeface="Segoe UI" pitchFamily="34" charset="0"/>
              </a:rPr>
              <a:t>Next agent instruction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89BE477E-ACBF-4A66-526B-878E4C7D3DA3}"/>
              </a:ext>
            </a:extLst>
          </p:cNvPr>
          <p:cNvCxnSpPr>
            <a:cxnSpLocks/>
          </p:cNvCxnSpPr>
          <p:nvPr/>
        </p:nvCxnSpPr>
        <p:spPr>
          <a:xfrm flipV="1">
            <a:off x="2635097" y="2127186"/>
            <a:ext cx="0" cy="213128"/>
          </a:xfrm>
          <a:prstGeom prst="straightConnector1">
            <a:avLst/>
          </a:prstGeom>
          <a:ln w="28575">
            <a:solidFill>
              <a:schemeClr val="tx1"/>
            </a:solidFill>
            <a:prstDash val="solid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62D92BFE-08BD-5B80-626F-CC06D4CBD5FB}"/>
              </a:ext>
            </a:extLst>
          </p:cNvPr>
          <p:cNvCxnSpPr>
            <a:cxnSpLocks/>
          </p:cNvCxnSpPr>
          <p:nvPr/>
        </p:nvCxnSpPr>
        <p:spPr>
          <a:xfrm flipH="1">
            <a:off x="4172398" y="3011219"/>
            <a:ext cx="806693" cy="0"/>
          </a:xfrm>
          <a:prstGeom prst="straightConnector1">
            <a:avLst/>
          </a:prstGeom>
          <a:ln w="28575">
            <a:solidFill>
              <a:schemeClr val="tx1"/>
            </a:solidFill>
            <a:prstDash val="solid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F4C0B843-02F0-2F8F-0E5B-F66AF4E9DC72}"/>
              </a:ext>
            </a:extLst>
          </p:cNvPr>
          <p:cNvCxnSpPr>
            <a:cxnSpLocks/>
          </p:cNvCxnSpPr>
          <p:nvPr/>
        </p:nvCxnSpPr>
        <p:spPr>
          <a:xfrm flipH="1">
            <a:off x="7973079" y="2523542"/>
            <a:ext cx="806693" cy="0"/>
          </a:xfrm>
          <a:prstGeom prst="straightConnector1">
            <a:avLst/>
          </a:prstGeom>
          <a:ln w="28575">
            <a:solidFill>
              <a:schemeClr val="tx1"/>
            </a:solidFill>
            <a:prstDash val="solid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Diamond 21">
            <a:extLst>
              <a:ext uri="{FF2B5EF4-FFF2-40B4-BE49-F238E27FC236}">
                <a16:creationId xmlns:a16="http://schemas.microsoft.com/office/drawing/2014/main" id="{84BD97DB-6EB2-3CBF-F90D-9649600763B0}"/>
              </a:ext>
            </a:extLst>
          </p:cNvPr>
          <p:cNvSpPr/>
          <p:nvPr/>
        </p:nvSpPr>
        <p:spPr bwMode="auto">
          <a:xfrm>
            <a:off x="8759860" y="2009386"/>
            <a:ext cx="1015415" cy="1046087"/>
          </a:xfrm>
          <a:prstGeom prst="diamond">
            <a:avLst/>
          </a:prstGeom>
          <a:solidFill>
            <a:schemeClr val="accent4">
              <a:lumMod val="9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1200" err="1">
              <a:solidFill>
                <a:schemeClr val="tx1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3" name="Diamond 22">
            <a:extLst>
              <a:ext uri="{FF2B5EF4-FFF2-40B4-BE49-F238E27FC236}">
                <a16:creationId xmlns:a16="http://schemas.microsoft.com/office/drawing/2014/main" id="{76DE319A-CFEF-A58A-D4D3-67D4EBCC448F}"/>
              </a:ext>
            </a:extLst>
          </p:cNvPr>
          <p:cNvSpPr/>
          <p:nvPr/>
        </p:nvSpPr>
        <p:spPr bwMode="auto">
          <a:xfrm>
            <a:off x="8757947" y="3952904"/>
            <a:ext cx="1015415" cy="1046087"/>
          </a:xfrm>
          <a:prstGeom prst="diamond">
            <a:avLst/>
          </a:prstGeom>
          <a:solidFill>
            <a:schemeClr val="accent4">
              <a:lumMod val="9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1200" err="1">
              <a:solidFill>
                <a:schemeClr val="tx1"/>
              </a:solidFill>
              <a:ea typeface="Segoe UI" pitchFamily="34" charset="0"/>
              <a:cs typeface="Segoe UI" pitchFamily="34" charset="0"/>
            </a:endParaRP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5D955C46-ADEE-0E0F-9E6A-CB0928CBE770}"/>
              </a:ext>
            </a:extLst>
          </p:cNvPr>
          <p:cNvCxnSpPr>
            <a:cxnSpLocks/>
          </p:cNvCxnSpPr>
          <p:nvPr/>
        </p:nvCxnSpPr>
        <p:spPr>
          <a:xfrm flipH="1">
            <a:off x="9775275" y="2523542"/>
            <a:ext cx="904421" cy="0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C2001C7F-67DA-B319-DDF0-ACE436D3E643}"/>
              </a:ext>
            </a:extLst>
          </p:cNvPr>
          <p:cNvCxnSpPr>
            <a:cxnSpLocks/>
            <a:stCxn id="23" idx="0"/>
            <a:endCxn id="22" idx="2"/>
          </p:cNvCxnSpPr>
          <p:nvPr/>
        </p:nvCxnSpPr>
        <p:spPr>
          <a:xfrm flipV="1">
            <a:off x="9265655" y="3055473"/>
            <a:ext cx="1913" cy="897431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53D19E0A-EA29-3660-47A4-D45702E1A3BA}"/>
              </a:ext>
            </a:extLst>
          </p:cNvPr>
          <p:cNvCxnSpPr>
            <a:cxnSpLocks/>
          </p:cNvCxnSpPr>
          <p:nvPr/>
        </p:nvCxnSpPr>
        <p:spPr>
          <a:xfrm>
            <a:off x="6786965" y="4485516"/>
            <a:ext cx="1992807" cy="0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B58F0C70-3FD0-D9BA-8551-36A294C1CAEC}"/>
              </a:ext>
            </a:extLst>
          </p:cNvPr>
          <p:cNvCxnSpPr>
            <a:cxnSpLocks/>
            <a:endCxn id="32" idx="3"/>
          </p:cNvCxnSpPr>
          <p:nvPr/>
        </p:nvCxnSpPr>
        <p:spPr>
          <a:xfrm flipH="1" flipV="1">
            <a:off x="9265650" y="4967107"/>
            <a:ext cx="4" cy="342412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94480164-51B7-03EE-61DF-A17A309B0D7D}"/>
              </a:ext>
            </a:extLst>
          </p:cNvPr>
          <p:cNvCxnSpPr>
            <a:cxnSpLocks/>
          </p:cNvCxnSpPr>
          <p:nvPr/>
        </p:nvCxnSpPr>
        <p:spPr>
          <a:xfrm flipH="1">
            <a:off x="2848456" y="5361774"/>
            <a:ext cx="6429067" cy="0"/>
          </a:xfrm>
          <a:prstGeom prst="line">
            <a:avLst/>
          </a:prstGeom>
          <a:ln w="28575">
            <a:solidFill>
              <a:schemeClr val="tx1"/>
            </a:solidFill>
            <a:prstDash val="dash"/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F9DCBECA-132E-6630-7DB2-2CA8E9EA66F8}"/>
              </a:ext>
            </a:extLst>
          </p:cNvPr>
          <p:cNvSpPr txBox="1"/>
          <p:nvPr/>
        </p:nvSpPr>
        <p:spPr>
          <a:xfrm>
            <a:off x="9814401" y="2215765"/>
            <a:ext cx="543078" cy="255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600" err="1"/>
              <a:t>Yes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76D1DF4-0A5A-C70B-25E2-2F650D846670}"/>
              </a:ext>
            </a:extLst>
          </p:cNvPr>
          <p:cNvSpPr txBox="1"/>
          <p:nvPr/>
        </p:nvSpPr>
        <p:spPr>
          <a:xfrm>
            <a:off x="9358697" y="3099103"/>
            <a:ext cx="543078" cy="255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600" err="1"/>
              <a:t>No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DE9874F-7B3A-0354-9AF8-0A108B895F37}"/>
              </a:ext>
            </a:extLst>
          </p:cNvPr>
          <p:cNvSpPr txBox="1"/>
          <p:nvPr/>
        </p:nvSpPr>
        <p:spPr>
          <a:xfrm>
            <a:off x="8422792" y="4190937"/>
            <a:ext cx="543078" cy="255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600" err="1"/>
              <a:t>No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B69EBEF-05B5-4E69-11C4-14118A067F54}"/>
              </a:ext>
            </a:extLst>
          </p:cNvPr>
          <p:cNvSpPr txBox="1"/>
          <p:nvPr/>
        </p:nvSpPr>
        <p:spPr>
          <a:xfrm>
            <a:off x="8852609" y="4839551"/>
            <a:ext cx="413041" cy="255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600" err="1"/>
              <a:t>Yes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C78A5B6-4408-970B-AFAD-B94892E2B84A}"/>
              </a:ext>
            </a:extLst>
          </p:cNvPr>
          <p:cNvSpPr txBox="1"/>
          <p:nvPr/>
        </p:nvSpPr>
        <p:spPr>
          <a:xfrm>
            <a:off x="8881734" y="4207835"/>
            <a:ext cx="748502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200" err="1">
                <a:solidFill>
                  <a:schemeClr val="bg1"/>
                </a:solidFill>
              </a:rPr>
              <a:t>Progress being</a:t>
            </a:r>
          </a:p>
          <a:p>
            <a:pPr algn="ctr"/>
            <a:r>
              <a:rPr lang="en-US" sz="1200" err="1">
                <a:solidFill>
                  <a:schemeClr val="bg1"/>
                </a:solidFill>
              </a:rPr>
              <a:t>made?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30210D4-54D7-69A6-EA60-7453DCBE2882}"/>
              </a:ext>
            </a:extLst>
          </p:cNvPr>
          <p:cNvSpPr txBox="1"/>
          <p:nvPr/>
        </p:nvSpPr>
        <p:spPr>
          <a:xfrm>
            <a:off x="8903272" y="2300890"/>
            <a:ext cx="748502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200" err="1">
                <a:solidFill>
                  <a:schemeClr val="bg1"/>
                </a:solidFill>
              </a:rPr>
              <a:t>Task complete?</a:t>
            </a:r>
          </a:p>
        </p:txBody>
      </p:sp>
      <p:sp>
        <p:nvSpPr>
          <p:cNvPr id="35" name="Diamond 34">
            <a:extLst>
              <a:ext uri="{FF2B5EF4-FFF2-40B4-BE49-F238E27FC236}">
                <a16:creationId xmlns:a16="http://schemas.microsoft.com/office/drawing/2014/main" id="{A11282F0-FF40-B3D7-6C0B-6D138322D5C0}"/>
              </a:ext>
            </a:extLst>
          </p:cNvPr>
          <p:cNvSpPr/>
          <p:nvPr/>
        </p:nvSpPr>
        <p:spPr bwMode="auto">
          <a:xfrm>
            <a:off x="5786327" y="3963519"/>
            <a:ext cx="1015415" cy="1046087"/>
          </a:xfrm>
          <a:prstGeom prst="diamond">
            <a:avLst/>
          </a:prstGeom>
          <a:solidFill>
            <a:schemeClr val="accent4">
              <a:lumMod val="9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1200" err="1">
              <a:solidFill>
                <a:schemeClr val="tx1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649B27C-A656-7BC2-5978-242FEFD4F137}"/>
              </a:ext>
            </a:extLst>
          </p:cNvPr>
          <p:cNvSpPr txBox="1"/>
          <p:nvPr/>
        </p:nvSpPr>
        <p:spPr>
          <a:xfrm>
            <a:off x="5912395" y="4245054"/>
            <a:ext cx="748502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200" err="1">
                <a:solidFill>
                  <a:schemeClr val="bg1"/>
                </a:solidFill>
              </a:rPr>
              <a:t>Stall</a:t>
            </a:r>
          </a:p>
          <a:p>
            <a:pPr algn="ctr"/>
            <a:r>
              <a:rPr lang="en-US" sz="1200" err="1">
                <a:solidFill>
                  <a:schemeClr val="bg1"/>
                </a:solidFill>
              </a:rPr>
              <a:t>count</a:t>
            </a:r>
          </a:p>
          <a:p>
            <a:pPr algn="ctr"/>
            <a:r>
              <a:rPr lang="en-US" sz="1200" err="1">
                <a:solidFill>
                  <a:schemeClr val="bg1"/>
                </a:solidFill>
              </a:rPr>
              <a:t>&gt; 1</a:t>
            </a: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69BFA619-E658-105E-6D40-7213E98D02CA}"/>
              </a:ext>
            </a:extLst>
          </p:cNvPr>
          <p:cNvCxnSpPr>
            <a:cxnSpLocks/>
          </p:cNvCxnSpPr>
          <p:nvPr/>
        </p:nvCxnSpPr>
        <p:spPr>
          <a:xfrm>
            <a:off x="2635097" y="4492500"/>
            <a:ext cx="3180682" cy="0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9C42CA8B-3676-0956-E37E-164FEDA53EEF}"/>
              </a:ext>
            </a:extLst>
          </p:cNvPr>
          <p:cNvCxnSpPr>
            <a:cxnSpLocks/>
          </p:cNvCxnSpPr>
          <p:nvPr/>
        </p:nvCxnSpPr>
        <p:spPr>
          <a:xfrm>
            <a:off x="2635097" y="3895564"/>
            <a:ext cx="0" cy="596936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667EAB33-78C3-348C-9C70-6A126340A5E2}"/>
              </a:ext>
            </a:extLst>
          </p:cNvPr>
          <p:cNvSpPr txBox="1"/>
          <p:nvPr/>
        </p:nvSpPr>
        <p:spPr>
          <a:xfrm>
            <a:off x="5424983" y="4213337"/>
            <a:ext cx="543078" cy="255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600" err="1"/>
              <a:t>Yes</a:t>
            </a: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E2720E8F-161A-CE84-8A27-748C8A1EBB25}"/>
              </a:ext>
            </a:extLst>
          </p:cNvPr>
          <p:cNvCxnSpPr>
            <a:cxnSpLocks/>
          </p:cNvCxnSpPr>
          <p:nvPr/>
        </p:nvCxnSpPr>
        <p:spPr>
          <a:xfrm flipV="1">
            <a:off x="6308271" y="5027055"/>
            <a:ext cx="0" cy="346323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08169B18-B8FF-A162-C585-5B09C8CF7601}"/>
              </a:ext>
            </a:extLst>
          </p:cNvPr>
          <p:cNvSpPr txBox="1"/>
          <p:nvPr/>
        </p:nvSpPr>
        <p:spPr>
          <a:xfrm>
            <a:off x="10803197" y="2340314"/>
            <a:ext cx="543078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600" err="1"/>
              <a:t>Final result</a:t>
            </a:r>
          </a:p>
        </p:txBody>
      </p:sp>
      <p:sp>
        <p:nvSpPr>
          <p:cNvPr id="4" name="TextBox 3">
            <a:hlinkClick r:id="rId2"/>
            <a:extLst>
              <a:ext uri="{FF2B5EF4-FFF2-40B4-BE49-F238E27FC236}">
                <a16:creationId xmlns:a16="http://schemas.microsoft.com/office/drawing/2014/main" id="{9280A862-F704-09A2-53E2-90F0B7B8232A}"/>
              </a:ext>
            </a:extLst>
          </p:cNvPr>
          <p:cNvSpPr txBox="1"/>
          <p:nvPr/>
        </p:nvSpPr>
        <p:spPr>
          <a:xfrm>
            <a:off x="1180930" y="6413636"/>
            <a:ext cx="61361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>
                <a:hlinkClick r:id="rId2"/>
              </a:rPr>
              <a:t>https://arxiv.org/abs/2411.04468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651597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079A9B-5910-FC30-648F-8DDE11889E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DD3FD4-92FA-9F16-C172-AE98A32764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Magentic-One: Initial plan development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0E72B3-F1A1-9E5A-631A-851878774D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33403" y="2194560"/>
            <a:ext cx="10180318" cy="3794760"/>
          </a:xfrm>
          <a:solidFill>
            <a:schemeClr val="bg1">
              <a:lumMod val="95000"/>
            </a:schemeClr>
          </a:solidFill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>
                <a:latin typeface="Consolas" panose="020B0609020204030204" pitchFamily="49" charset="0"/>
                <a:cs typeface="Consolas" panose="020B0609020204030204" pitchFamily="49" charset="0"/>
              </a:rPr>
              <a:t>To address this request we have assembled the following team:</a:t>
            </a:r>
          </a:p>
          <a:p>
            <a:pPr marL="0" indent="0">
              <a:buNone/>
            </a:pPr>
            <a:r>
              <a:rPr lang="en-US" sz="2000" i="1">
                <a:latin typeface="Consolas" panose="020B0609020204030204" pitchFamily="49" charset="0"/>
                <a:cs typeface="Consolas" panose="020B0609020204030204" pitchFamily="49" charset="0"/>
              </a:rPr>
              <a:t>- local_agent: A local assistant that can suggest local activities or places to visit.</a:t>
            </a:r>
          </a:p>
          <a:p>
            <a:pPr marL="0" indent="0">
              <a:buNone/>
            </a:pPr>
            <a:r>
              <a:rPr lang="en-US" sz="2000" i="1">
                <a:latin typeface="Consolas" panose="020B0609020204030204" pitchFamily="49" charset="0"/>
                <a:cs typeface="Consolas" panose="020B0609020204030204" pitchFamily="49" charset="0"/>
              </a:rPr>
              <a:t>- language_agent: A helpful assistant that can provide language tips for a given destination.</a:t>
            </a:r>
          </a:p>
          <a:p>
            <a:pPr marL="0" indent="0">
              <a:buNone/>
            </a:pPr>
            <a:r>
              <a:rPr lang="en-US" sz="2000" i="1">
                <a:latin typeface="Consolas" panose="020B0609020204030204" pitchFamily="49" charset="0"/>
                <a:cs typeface="Consolas" panose="020B0609020204030204" pitchFamily="49" charset="0"/>
              </a:rPr>
              <a:t>- travel_summary_agent: A helpful assistant that can summarize the travel plan.</a:t>
            </a:r>
          </a:p>
          <a:p>
            <a:pPr marL="0" indent="0">
              <a:buNone/>
            </a:pPr>
            <a:r>
              <a:rPr lang="en-US" sz="2000">
                <a:latin typeface="Consolas" panose="020B0609020204030204" pitchFamily="49" charset="0"/>
                <a:cs typeface="Consolas" panose="020B0609020204030204" pitchFamily="49" charset="0"/>
              </a:rPr>
              <a:t>Based on the team composition, and known and unknown facts, please devise a short bullet-point plan for addressing the original request. Remember, there is no requirement to involve all team members. A team member's particular expertise may not be needed for this task.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3FC0BBE-05B8-BE1F-9248-DF7D9EE88AE6}"/>
              </a:ext>
            </a:extLst>
          </p:cNvPr>
          <p:cNvSpPr txBox="1"/>
          <p:nvPr/>
        </p:nvSpPr>
        <p:spPr>
          <a:xfrm>
            <a:off x="980836" y="1622187"/>
            <a:ext cx="11142584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/>
              <a:t>The orchestrator uses this prompt to plan: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7EA9292-7671-B259-DE03-D89610786665}"/>
              </a:ext>
            </a:extLst>
          </p:cNvPr>
          <p:cNvSpPr txBox="1"/>
          <p:nvPr/>
        </p:nvSpPr>
        <p:spPr>
          <a:xfrm rot="16200000">
            <a:off x="293457" y="3429375"/>
            <a:ext cx="2016008" cy="369332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 algn="ctr"/>
            <a:r>
              <a:rPr lang="en-US" b="1"/>
              <a:t>Specialist agents</a:t>
            </a:r>
          </a:p>
        </p:txBody>
      </p:sp>
    </p:spTree>
    <p:extLst>
      <p:ext uri="{BB962C8B-B14F-4D97-AF65-F5344CB8AC3E}">
        <p14:creationId xmlns:p14="http://schemas.microsoft.com/office/powerpoint/2010/main" val="318033416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FAD1F9-C94D-A510-3533-05E18B846E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C7BBAF-0349-F06F-2299-002D943DBC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Magentic-One: Progress ledger updates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388BB0-1833-1E08-AD6A-8F9A7B7135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08870" y="2194559"/>
            <a:ext cx="6470319" cy="4533499"/>
          </a:xfrm>
          <a:solidFill>
            <a:schemeClr val="bg1">
              <a:lumMod val="95000"/>
            </a:schemeClr>
          </a:solidFill>
        </p:spPr>
        <p:txBody>
          <a:bodyPr>
            <a:noAutofit/>
          </a:bodyPr>
          <a:lstStyle/>
          <a:p>
            <a:pPr marL="0" indent="0">
              <a:lnSpc>
                <a:spcPct val="70000"/>
              </a:lnSpc>
              <a:buNone/>
            </a:pPr>
            <a:r>
              <a:rPr lang="en-US" sz="1600">
                <a:latin typeface="Consolas" panose="020B0609020204030204" pitchFamily="49" charset="0"/>
                <a:cs typeface="Consolas" panose="020B0609020204030204" pitchFamily="49" charset="0"/>
              </a:rPr>
              <a:t>{"</a:t>
            </a:r>
            <a:r>
              <a:rPr lang="en-US" sz="1600" b="1"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is_request_satisfied</a:t>
            </a:r>
            <a:r>
              <a:rPr lang="en-US" sz="1600">
                <a:latin typeface="Consolas" panose="020B0609020204030204" pitchFamily="49" charset="0"/>
                <a:cs typeface="Consolas" panose="020B0609020204030204" pitchFamily="49" charset="0"/>
              </a:rPr>
              <a:t>": {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en-US" sz="1600">
                <a:latin typeface="Consolas" panose="020B0609020204030204" pitchFamily="49" charset="0"/>
                <a:cs typeface="Consolas" panose="020B0609020204030204" pitchFamily="49" charset="0"/>
              </a:rPr>
              <a:t>    "answer": "no", "reason": "..."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en-US" sz="1600">
                <a:latin typeface="Consolas" panose="020B0609020204030204" pitchFamily="49" charset="0"/>
                <a:cs typeface="Consolas" panose="020B0609020204030204" pitchFamily="49" charset="0"/>
              </a:rPr>
              <a:t>  },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en-US" sz="1600">
                <a:latin typeface="Consolas" panose="020B0609020204030204" pitchFamily="49" charset="0"/>
                <a:cs typeface="Consolas" panose="020B0609020204030204" pitchFamily="49" charset="0"/>
              </a:rPr>
              <a:t>  "</a:t>
            </a:r>
            <a:r>
              <a:rPr lang="en-US" sz="1600" b="1"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is_in_loop</a:t>
            </a:r>
            <a:r>
              <a:rPr lang="en-US" sz="1600">
                <a:latin typeface="Consolas" panose="020B0609020204030204" pitchFamily="49" charset="0"/>
                <a:cs typeface="Consolas" panose="020B0609020204030204" pitchFamily="49" charset="0"/>
              </a:rPr>
              <a:t>": {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en-US" sz="1600">
                <a:latin typeface="Consolas" panose="020B0609020204030204" pitchFamily="49" charset="0"/>
                <a:cs typeface="Consolas" panose="020B0609020204030204" pitchFamily="49" charset="0"/>
              </a:rPr>
              <a:t>    "answer": "no", "reason": "..."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en-US" sz="1600">
                <a:latin typeface="Consolas" panose="020B0609020204030204" pitchFamily="49" charset="0"/>
                <a:cs typeface="Consolas" panose="020B0609020204030204" pitchFamily="49" charset="0"/>
              </a:rPr>
              <a:t>  },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en-US" sz="1600">
                <a:latin typeface="Consolas" panose="020B0609020204030204" pitchFamily="49" charset="0"/>
                <a:cs typeface="Consolas" panose="020B0609020204030204" pitchFamily="49" charset="0"/>
              </a:rPr>
              <a:t>  "</a:t>
            </a:r>
            <a:r>
              <a:rPr lang="en-US" sz="1600" b="1"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is_progress_being_made</a:t>
            </a:r>
            <a:r>
              <a:rPr lang="en-US" sz="1600">
                <a:latin typeface="Consolas" panose="020B0609020204030204" pitchFamily="49" charset="0"/>
                <a:cs typeface="Consolas" panose="020B0609020204030204" pitchFamily="49" charset="0"/>
              </a:rPr>
              <a:t>": {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en-US" sz="1600">
                <a:latin typeface="Consolas" panose="020B0609020204030204" pitchFamily="49" charset="0"/>
                <a:cs typeface="Consolas" panose="020B0609020204030204" pitchFamily="49" charset="0"/>
              </a:rPr>
              <a:t>    "answer": "yes", "reason": "...",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en-US" sz="1600">
                <a:latin typeface="Consolas" panose="020B0609020204030204" pitchFamily="49" charset="0"/>
                <a:cs typeface="Consolas" panose="020B0609020204030204" pitchFamily="49" charset="0"/>
              </a:rPr>
              <a:t>  },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en-US" sz="1600">
                <a:latin typeface="Consolas" panose="020B0609020204030204" pitchFamily="49" charset="0"/>
                <a:cs typeface="Consolas" panose="020B0609020204030204" pitchFamily="49" charset="0"/>
              </a:rPr>
              <a:t>  "</a:t>
            </a:r>
            <a:r>
              <a:rPr lang="en-US" sz="1600" b="1"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next_speaker</a:t>
            </a:r>
            <a:r>
              <a:rPr lang="en-US" sz="1600">
                <a:latin typeface="Consolas" panose="020B0609020204030204" pitchFamily="49" charset="0"/>
                <a:cs typeface="Consolas" panose="020B0609020204030204" pitchFamily="49" charset="0"/>
              </a:rPr>
              <a:t>": {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en-US" sz="1600">
                <a:latin typeface="Consolas" panose="020B0609020204030204" pitchFamily="49" charset="0"/>
                <a:cs typeface="Consolas" panose="020B0609020204030204" pitchFamily="49" charset="0"/>
              </a:rPr>
              <a:t>    "answer": "travel_summary_agent", "reason": "...",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en-US" sz="1600">
                <a:latin typeface="Consolas" panose="020B0609020204030204" pitchFamily="49" charset="0"/>
                <a:cs typeface="Consolas" panose="020B0609020204030204" pitchFamily="49" charset="0"/>
              </a:rPr>
              <a:t>  },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en-US" sz="1600">
                <a:latin typeface="Consolas" panose="020B0609020204030204" pitchFamily="49" charset="0"/>
                <a:cs typeface="Consolas" panose="020B0609020204030204" pitchFamily="49" charset="0"/>
              </a:rPr>
              <a:t>  "</a:t>
            </a:r>
            <a:r>
              <a:rPr lang="en-US" sz="1600" b="1"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instruction_or_question</a:t>
            </a:r>
            <a:r>
              <a:rPr lang="en-US" sz="1600">
                <a:latin typeface="Consolas" panose="020B0609020204030204" pitchFamily="49" charset="0"/>
                <a:cs typeface="Consolas" panose="020B0609020204030204" pitchFamily="49" charset="0"/>
              </a:rPr>
              <a:t>": {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en-US" sz="1600">
                <a:latin typeface="Consolas" panose="020B0609020204030204" pitchFamily="49" charset="0"/>
                <a:cs typeface="Consolas" panose="020B0609020204030204" pitchFamily="49" charset="0"/>
              </a:rPr>
              <a:t>    "answer": "Summarize the proposal", "reason": "...",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en-US" sz="1600">
                <a:latin typeface="Consolas" panose="020B0609020204030204" pitchFamily="49" charset="0"/>
                <a:cs typeface="Consolas" panose="020B0609020204030204" pitchFamily="49" charset="0"/>
              </a:rPr>
              <a:t>}}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4D52A63-91AA-F5FD-5687-B55CCF90BAC3}"/>
              </a:ext>
            </a:extLst>
          </p:cNvPr>
          <p:cNvSpPr txBox="1"/>
          <p:nvPr/>
        </p:nvSpPr>
        <p:spPr>
          <a:xfrm>
            <a:off x="980836" y="1622187"/>
            <a:ext cx="11142584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100"/>
              <a:t>The orchestrator assesses progress after every turn, picks the next agent and tells it what to do.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8792A2B-50FE-AB50-E32F-3CECA6268254}"/>
              </a:ext>
            </a:extLst>
          </p:cNvPr>
          <p:cNvSpPr txBox="1"/>
          <p:nvPr/>
        </p:nvSpPr>
        <p:spPr>
          <a:xfrm>
            <a:off x="1145667" y="2194559"/>
            <a:ext cx="3724713" cy="369332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 algn="r"/>
            <a:r>
              <a:rPr lang="en-US" b="1"/>
              <a:t>Has the task been done?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A0AD9F0-DBD1-0DE5-BDDE-97BEC0D6094D}"/>
              </a:ext>
            </a:extLst>
          </p:cNvPr>
          <p:cNvSpPr txBox="1"/>
          <p:nvPr/>
        </p:nvSpPr>
        <p:spPr>
          <a:xfrm>
            <a:off x="1145666" y="3066657"/>
            <a:ext cx="3724713" cy="369332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 algn="r"/>
            <a:r>
              <a:rPr lang="en-US" b="1"/>
              <a:t>Are agents repeating themselves?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46C3814-B6D2-EBBD-9A38-B869EB032250}"/>
              </a:ext>
            </a:extLst>
          </p:cNvPr>
          <p:cNvSpPr txBox="1"/>
          <p:nvPr/>
        </p:nvSpPr>
        <p:spPr>
          <a:xfrm>
            <a:off x="1145665" y="3958897"/>
            <a:ext cx="3724713" cy="369332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 algn="r"/>
            <a:r>
              <a:rPr lang="en-US" b="1"/>
              <a:t>Are we moving forward?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0FFB232-E347-6536-F6A3-B6AB652B5987}"/>
              </a:ext>
            </a:extLst>
          </p:cNvPr>
          <p:cNvSpPr txBox="1"/>
          <p:nvPr/>
        </p:nvSpPr>
        <p:spPr>
          <a:xfrm>
            <a:off x="1145666" y="4851137"/>
            <a:ext cx="3724712" cy="369332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 algn="r"/>
            <a:r>
              <a:rPr lang="en-US" b="1"/>
              <a:t>Who should go next?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899513E-E42F-79AB-C099-E247273DD15F}"/>
              </a:ext>
            </a:extLst>
          </p:cNvPr>
          <p:cNvSpPr txBox="1"/>
          <p:nvPr/>
        </p:nvSpPr>
        <p:spPr>
          <a:xfrm>
            <a:off x="1145665" y="5743377"/>
            <a:ext cx="3724712" cy="369332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 algn="r"/>
            <a:r>
              <a:rPr lang="en-US" b="1"/>
              <a:t>What should they do?</a:t>
            </a:r>
          </a:p>
        </p:txBody>
      </p:sp>
    </p:spTree>
    <p:extLst>
      <p:ext uri="{BB962C8B-B14F-4D97-AF65-F5344CB8AC3E}">
        <p14:creationId xmlns:p14="http://schemas.microsoft.com/office/powerpoint/2010/main" val="57426926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BDD816-771C-53E4-708C-D12841A4C0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C97049-3C59-2601-4F16-883E711CE0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Using the built-in MagenticBuilder workflow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9C58F59-3409-7F95-0904-50FD9A612979}"/>
              </a:ext>
            </a:extLst>
          </p:cNvPr>
          <p:cNvSpPr txBox="1"/>
          <p:nvPr/>
        </p:nvSpPr>
        <p:spPr>
          <a:xfrm>
            <a:off x="1132793" y="227425"/>
            <a:ext cx="3168620" cy="461665"/>
          </a:xfrm>
          <a:prstGeom prst="rect">
            <a:avLst/>
          </a:prstGeom>
          <a:solidFill>
            <a:schemeClr val="accent3"/>
          </a:solidFill>
          <a:effectLst>
            <a:softEdge rad="31750"/>
          </a:effectLst>
        </p:spPr>
        <p:txBody>
          <a:bodyPr wrap="square">
            <a:spAutoFit/>
          </a:bodyPr>
          <a:lstStyle/>
          <a:p>
            <a:pPr algn="ctr"/>
            <a:r>
              <a:rPr lang="en-US" sz="2400" b="1">
                <a:solidFill>
                  <a:schemeClr val="bg1"/>
                </a:solidFill>
              </a:rPr>
              <a:t>agent-framework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40C6E47-B670-D26F-9A51-33F10D398474}"/>
              </a:ext>
            </a:extLst>
          </p:cNvPr>
          <p:cNvSpPr txBox="1"/>
          <p:nvPr/>
        </p:nvSpPr>
        <p:spPr>
          <a:xfrm>
            <a:off x="1126729" y="6476686"/>
            <a:ext cx="4421082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2000" err="1"/>
              <a:t>Full example: </a:t>
            </a:r>
            <a:r>
              <a:rPr lang="en-US" sz="2000" err="1">
                <a:hlinkClick r:id="rId3"/>
              </a:rPr>
              <a:t>workflow_magenticone.py</a:t>
            </a:r>
            <a:endParaRPr lang="en-US" sz="2000" err="1"/>
          </a:p>
        </p:txBody>
      </p:sp>
      <p:sp>
        <p:nvSpPr>
          <p:cNvPr id="38" name="Content Placeholder 2">
            <a:extLst>
              <a:ext uri="{FF2B5EF4-FFF2-40B4-BE49-F238E27FC236}">
                <a16:creationId xmlns:a16="http://schemas.microsoft.com/office/drawing/2014/main" id="{2969AF11-B977-D631-F930-340D45034CA2}"/>
              </a:ext>
            </a:extLst>
          </p:cNvPr>
          <p:cNvSpPr txBox="1">
            <a:spLocks/>
          </p:cNvSpPr>
          <p:nvPr/>
        </p:nvSpPr>
        <p:spPr>
          <a:xfrm>
            <a:off x="6651365" y="2269971"/>
            <a:ext cx="5457215" cy="132556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200">
                <a:latin typeface="Aptos" panose="020B0004020202020204" pitchFamily="34" charset="0"/>
              </a:rPr>
              <a:t>The  </a:t>
            </a:r>
            <a:r>
              <a:rPr lang="en-US" sz="2200">
                <a:solidFill>
                  <a:srgbClr val="267F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MagenticOrchestrator</a:t>
            </a:r>
            <a:r>
              <a:rPr lang="en-US" sz="2200">
                <a:latin typeface="Aptos" panose="020B0004020202020204" pitchFamily="34" charset="0"/>
              </a:rPr>
              <a:t> node contains a </a:t>
            </a:r>
            <a:r>
              <a:rPr lang="en-US" sz="2200">
                <a:solidFill>
                  <a:srgbClr val="267F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StandardMagenticManager</a:t>
            </a:r>
            <a:r>
              <a:rPr lang="en-US" sz="2200">
                <a:latin typeface="Aptos" panose="020B0004020202020204" pitchFamily="34" charset="0"/>
              </a:rPr>
              <a:t>, which wraps the provided </a:t>
            </a:r>
            <a:r>
              <a:rPr lang="en-US" sz="2200">
                <a:solidFill>
                  <a:srgbClr val="267F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manager_agent</a:t>
            </a:r>
            <a:r>
              <a:rPr lang="en-US" sz="2200">
                <a:latin typeface="Aptos" panose="020B0004020202020204" pitchFamily="34" charset="0"/>
              </a:rPr>
              <a:t>,</a:t>
            </a:r>
            <a:r>
              <a:rPr lang="en-US" sz="2200">
                <a:solidFill>
                  <a:srgbClr val="267F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200">
                <a:latin typeface="Aptos" panose="020B0004020202020204" pitchFamily="34" charset="0"/>
              </a:rPr>
              <a:t>and plans and delegates tasks.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F7D46E6-08C8-918D-8DCF-88E450242EAF}"/>
              </a:ext>
            </a:extLst>
          </p:cNvPr>
          <p:cNvSpPr txBox="1"/>
          <p:nvPr/>
        </p:nvSpPr>
        <p:spPr>
          <a:xfrm>
            <a:off x="1126016" y="4054219"/>
            <a:ext cx="10760782" cy="222522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buNone/>
            </a:pPr>
            <a:r>
              <a:rPr lang="en-US" sz="22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magentic_workflow</a:t>
            </a:r>
            <a:r>
              <a:rPr lang="en-US" sz="22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sz="2200">
                <a:solidFill>
                  <a:srgbClr val="267F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MagenticBuilder</a:t>
            </a:r>
            <a:r>
              <a:rPr lang="en-US" sz="22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</a:p>
          <a:p>
            <a:pPr>
              <a:lnSpc>
                <a:spcPct val="90000"/>
              </a:lnSpc>
              <a:buNone/>
            </a:pPr>
            <a:r>
              <a:rPr lang="en-US" sz="22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participants</a:t>
            </a:r>
            <a:r>
              <a:rPr lang="en-US" sz="22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=[</a:t>
            </a:r>
            <a:r>
              <a:rPr lang="en-US" sz="22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local_agent</a:t>
            </a:r>
            <a:r>
              <a:rPr lang="en-US" sz="22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22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language_agent</a:t>
            </a:r>
            <a:r>
              <a:rPr lang="en-US" sz="22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22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travel_summary_agent</a:t>
            </a:r>
            <a:r>
              <a:rPr lang="en-US" sz="22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],</a:t>
            </a:r>
          </a:p>
          <a:p>
            <a:pPr>
              <a:lnSpc>
                <a:spcPct val="90000"/>
              </a:lnSpc>
              <a:buNone/>
            </a:pPr>
            <a:r>
              <a:rPr lang="en-US" sz="22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manager_agent</a:t>
            </a:r>
            <a:r>
              <a:rPr lang="en-US" sz="22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US" sz="22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manager_agent</a:t>
            </a:r>
            <a:r>
              <a:rPr lang="en-US" sz="22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</a:p>
          <a:p>
            <a:pPr>
              <a:lnSpc>
                <a:spcPct val="90000"/>
              </a:lnSpc>
              <a:buNone/>
            </a:pPr>
            <a:r>
              <a:rPr lang="en-US" sz="22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max_round_count</a:t>
            </a:r>
            <a:r>
              <a:rPr lang="en-US" sz="22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US" sz="220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10</a:t>
            </a:r>
            <a:r>
              <a:rPr lang="en-US" sz="22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</a:p>
          <a:p>
            <a:pPr>
              <a:lnSpc>
                <a:spcPct val="90000"/>
              </a:lnSpc>
              <a:buNone/>
            </a:pPr>
            <a:r>
              <a:rPr lang="en-US" sz="22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max_stall_count</a:t>
            </a:r>
            <a:r>
              <a:rPr lang="en-US" sz="22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US" sz="220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r>
              <a:rPr lang="en-US" sz="22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</a:p>
          <a:p>
            <a:pPr>
              <a:lnSpc>
                <a:spcPct val="90000"/>
              </a:lnSpc>
              <a:buNone/>
            </a:pPr>
            <a:r>
              <a:rPr lang="en-US" sz="22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max_reset_count</a:t>
            </a:r>
            <a:r>
              <a:rPr lang="en-US" sz="22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US" sz="220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r>
              <a:rPr lang="en-US" sz="22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</a:p>
          <a:p>
            <a:pPr>
              <a:lnSpc>
                <a:spcPct val="90000"/>
              </a:lnSpc>
              <a:buNone/>
            </a:pPr>
            <a:r>
              <a:rPr lang="en-US" sz="22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).</a:t>
            </a:r>
            <a:r>
              <a:rPr lang="en-US" sz="2200">
                <a:solidFill>
                  <a:srgbClr val="795E2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build</a:t>
            </a:r>
            <a:r>
              <a:rPr lang="en-US" sz="22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AB28DBB-1B78-462F-0065-6BA278DEF99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6729" y="1592203"/>
            <a:ext cx="5341448" cy="226477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816A723-9F0B-9CEB-929D-B5A1BBC71671}"/>
              </a:ext>
            </a:extLst>
          </p:cNvPr>
          <p:cNvSpPr txBox="1"/>
          <p:nvPr/>
        </p:nvSpPr>
        <p:spPr>
          <a:xfrm>
            <a:off x="1624262" y="2073229"/>
            <a:ext cx="1371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 i="1">
                <a:solidFill>
                  <a:srgbClr val="107C10"/>
                </a:solidFill>
              </a:defRPr>
            </a:pPr>
            <a:r>
              <a:rPr lang="en-US" sz="1600"/>
              <a:t>orchestrator</a:t>
            </a:r>
            <a:endParaRPr sz="1600"/>
          </a:p>
        </p:txBody>
      </p:sp>
    </p:spTree>
    <p:extLst>
      <p:ext uri="{BB962C8B-B14F-4D97-AF65-F5344CB8AC3E}">
        <p14:creationId xmlns:p14="http://schemas.microsoft.com/office/powerpoint/2010/main" val="109323502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3A04C5-C542-E52E-1CC2-984DBF68E4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8AF045-67AD-ACC5-7DF6-2868B3F75D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  Magentic orchestration vs. Agent-as-tools</a:t>
            </a: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A227B684-20A7-79AB-2FB0-6EAE6591D670}"/>
              </a:ext>
            </a:extLst>
          </p:cNvPr>
          <p:cNvCxnSpPr>
            <a:cxnSpLocks/>
          </p:cNvCxnSpPr>
          <p:nvPr/>
        </p:nvCxnSpPr>
        <p:spPr>
          <a:xfrm flipH="1">
            <a:off x="7661077" y="2269520"/>
            <a:ext cx="1157273" cy="964153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ectangle 35">
            <a:extLst>
              <a:ext uri="{FF2B5EF4-FFF2-40B4-BE49-F238E27FC236}">
                <a16:creationId xmlns:a16="http://schemas.microsoft.com/office/drawing/2014/main" id="{D6F5CF49-05A8-BACD-B0F7-5CE9C71C2A60}"/>
              </a:ext>
            </a:extLst>
          </p:cNvPr>
          <p:cNvSpPr/>
          <p:nvPr/>
        </p:nvSpPr>
        <p:spPr bwMode="auto">
          <a:xfrm>
            <a:off x="7688651" y="1599143"/>
            <a:ext cx="2634933" cy="667749"/>
          </a:xfrm>
          <a:prstGeom prst="rect">
            <a:avLst/>
          </a:prstGeom>
          <a:solidFill>
            <a:schemeClr val="accent4"/>
          </a:solidFill>
          <a:ln>
            <a:noFill/>
            <a:headEnd type="none" w="med" len="med"/>
            <a:tailEnd type="none" w="med" len="med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r>
              <a:rPr lang="en-US" sz="2200" b="1" err="1">
                <a:solidFill>
                  <a:schemeClr val="bg1"/>
                </a:solidFill>
                <a:ea typeface="Segoe UI" pitchFamily="34" charset="0"/>
                <a:cs typeface="Segoe UI" pitchFamily="34" charset="0"/>
              </a:rPr>
              <a:t>Supervisor Agent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A1003570-475C-D042-918D-37A256429B12}"/>
              </a:ext>
            </a:extLst>
          </p:cNvPr>
          <p:cNvCxnSpPr>
            <a:cxnSpLocks/>
            <a:stCxn id="36" idx="2"/>
            <a:endCxn id="41" idx="0"/>
          </p:cNvCxnSpPr>
          <p:nvPr/>
        </p:nvCxnSpPr>
        <p:spPr>
          <a:xfrm flipH="1">
            <a:off x="7860333" y="2266892"/>
            <a:ext cx="1145785" cy="994738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B49AF04D-F870-4DB1-A63F-B5516334FA7C}"/>
              </a:ext>
            </a:extLst>
          </p:cNvPr>
          <p:cNvCxnSpPr>
            <a:cxnSpLocks/>
          </p:cNvCxnSpPr>
          <p:nvPr/>
        </p:nvCxnSpPr>
        <p:spPr>
          <a:xfrm>
            <a:off x="9163719" y="2288288"/>
            <a:ext cx="988027" cy="102927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796960EE-E768-BA3B-2A99-B3911FEC1731}"/>
              </a:ext>
            </a:extLst>
          </p:cNvPr>
          <p:cNvCxnSpPr>
            <a:cxnSpLocks/>
          </p:cNvCxnSpPr>
          <p:nvPr/>
        </p:nvCxnSpPr>
        <p:spPr>
          <a:xfrm>
            <a:off x="9397542" y="2266892"/>
            <a:ext cx="998804" cy="1026762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Rectangle 40">
            <a:extLst>
              <a:ext uri="{FF2B5EF4-FFF2-40B4-BE49-F238E27FC236}">
                <a16:creationId xmlns:a16="http://schemas.microsoft.com/office/drawing/2014/main" id="{C72132CC-5FD8-4766-6EFE-C2E834C2D64C}"/>
              </a:ext>
            </a:extLst>
          </p:cNvPr>
          <p:cNvSpPr/>
          <p:nvPr/>
        </p:nvSpPr>
        <p:spPr bwMode="auto">
          <a:xfrm>
            <a:off x="7150584" y="3261630"/>
            <a:ext cx="1419497" cy="560551"/>
          </a:xfrm>
          <a:prstGeom prst="rect">
            <a:avLst/>
          </a:prstGeom>
          <a:solidFill>
            <a:schemeClr val="accent2"/>
          </a:solidFill>
          <a:ln>
            <a:noFill/>
            <a:headEnd type="none" w="med" len="med"/>
            <a:tailEnd type="none" w="med" len="med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r>
              <a:rPr lang="en-US" sz="2000" b="1" err="1">
                <a:solidFill>
                  <a:schemeClr val="bg1"/>
                </a:solidFill>
                <a:ea typeface="Segoe UI" pitchFamily="34" charset="0"/>
                <a:cs typeface="Segoe UI" pitchFamily="34" charset="0"/>
              </a:rPr>
              <a:t>Agent A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AD98A703-42A6-1D62-1D18-B15C216380C5}"/>
              </a:ext>
            </a:extLst>
          </p:cNvPr>
          <p:cNvSpPr/>
          <p:nvPr/>
        </p:nvSpPr>
        <p:spPr bwMode="auto">
          <a:xfrm>
            <a:off x="9613835" y="3285584"/>
            <a:ext cx="1419497" cy="560551"/>
          </a:xfrm>
          <a:prstGeom prst="rect">
            <a:avLst/>
          </a:prstGeom>
          <a:solidFill>
            <a:schemeClr val="accent2"/>
          </a:solidFill>
          <a:ln>
            <a:noFill/>
            <a:headEnd type="none" w="med" len="med"/>
            <a:tailEnd type="none" w="med" len="med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r>
              <a:rPr lang="en-US" sz="2000" b="1" err="1">
                <a:solidFill>
                  <a:schemeClr val="bg1"/>
                </a:solidFill>
                <a:ea typeface="Segoe UI" pitchFamily="34" charset="0"/>
                <a:cs typeface="Segoe UI" pitchFamily="34" charset="0"/>
              </a:rPr>
              <a:t>Agent B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A438861A-93D0-82D2-D9EA-C740B59912DD}"/>
              </a:ext>
            </a:extLst>
          </p:cNvPr>
          <p:cNvCxnSpPr>
            <a:cxnSpLocks/>
            <a:endCxn id="51" idx="0"/>
          </p:cNvCxnSpPr>
          <p:nvPr/>
        </p:nvCxnSpPr>
        <p:spPr>
          <a:xfrm flipH="1">
            <a:off x="3379594" y="2259564"/>
            <a:ext cx="880718" cy="642649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Rectangle 46">
            <a:extLst>
              <a:ext uri="{FF2B5EF4-FFF2-40B4-BE49-F238E27FC236}">
                <a16:creationId xmlns:a16="http://schemas.microsoft.com/office/drawing/2014/main" id="{64D45071-E95F-D9B7-00AF-73CFC6280D48}"/>
              </a:ext>
            </a:extLst>
          </p:cNvPr>
          <p:cNvSpPr/>
          <p:nvPr/>
        </p:nvSpPr>
        <p:spPr bwMode="auto">
          <a:xfrm>
            <a:off x="3130613" y="1589423"/>
            <a:ext cx="2634933" cy="667513"/>
          </a:xfrm>
          <a:prstGeom prst="rect">
            <a:avLst/>
          </a:prstGeom>
          <a:solidFill>
            <a:srgbClr val="00B050"/>
          </a:solidFill>
          <a:ln>
            <a:noFill/>
            <a:headEnd type="none" w="med" len="med"/>
            <a:tailEnd type="none" w="med" len="med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r>
              <a:rPr lang="en-US" sz="2200" b="1" err="1">
                <a:solidFill>
                  <a:schemeClr val="bg1"/>
                </a:solidFill>
                <a:ea typeface="Segoe UI" pitchFamily="34" charset="0"/>
                <a:cs typeface="Segoe UI" pitchFamily="34" charset="0"/>
              </a:rPr>
              <a:t>Manager</a:t>
            </a: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1F8177B6-2126-6508-CD1C-637A5B5600F7}"/>
              </a:ext>
            </a:extLst>
          </p:cNvPr>
          <p:cNvCxnSpPr>
            <a:cxnSpLocks/>
            <a:stCxn id="4" idx="0"/>
            <a:endCxn id="51" idx="2"/>
          </p:cNvCxnSpPr>
          <p:nvPr/>
        </p:nvCxnSpPr>
        <p:spPr>
          <a:xfrm flipH="1" flipV="1">
            <a:off x="3379594" y="3349889"/>
            <a:ext cx="1071624" cy="568819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1EB13E08-FA88-CA80-4777-FF7F3CF927EA}"/>
              </a:ext>
            </a:extLst>
          </p:cNvPr>
          <p:cNvCxnSpPr>
            <a:cxnSpLocks/>
            <a:endCxn id="52" idx="0"/>
          </p:cNvCxnSpPr>
          <p:nvPr/>
        </p:nvCxnSpPr>
        <p:spPr>
          <a:xfrm>
            <a:off x="4750830" y="2249507"/>
            <a:ext cx="987857" cy="627618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Rectangle 50">
            <a:extLst>
              <a:ext uri="{FF2B5EF4-FFF2-40B4-BE49-F238E27FC236}">
                <a16:creationId xmlns:a16="http://schemas.microsoft.com/office/drawing/2014/main" id="{55B2FE85-96FF-B05F-6309-D71219E25A60}"/>
              </a:ext>
            </a:extLst>
          </p:cNvPr>
          <p:cNvSpPr/>
          <p:nvPr/>
        </p:nvSpPr>
        <p:spPr bwMode="auto">
          <a:xfrm>
            <a:off x="2669845" y="2902213"/>
            <a:ext cx="1419497" cy="447676"/>
          </a:xfrm>
          <a:prstGeom prst="rect">
            <a:avLst/>
          </a:prstGeom>
          <a:solidFill>
            <a:schemeClr val="accent2"/>
          </a:solidFill>
          <a:ln>
            <a:noFill/>
            <a:headEnd type="none" w="med" len="med"/>
            <a:tailEnd type="none" w="med" len="med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91440" rIns="91440" bIns="9144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r>
              <a:rPr lang="en-US" sz="2000" b="1" err="1">
                <a:solidFill>
                  <a:schemeClr val="bg1"/>
                </a:solidFill>
                <a:ea typeface="Segoe UI" pitchFamily="34" charset="0"/>
                <a:cs typeface="Segoe UI" pitchFamily="34" charset="0"/>
              </a:rPr>
              <a:t>Agent A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301494FF-EE68-6FDD-95B1-523CDBC9156B}"/>
              </a:ext>
            </a:extLst>
          </p:cNvPr>
          <p:cNvSpPr/>
          <p:nvPr/>
        </p:nvSpPr>
        <p:spPr bwMode="auto">
          <a:xfrm>
            <a:off x="5028938" y="2877125"/>
            <a:ext cx="1419497" cy="447676"/>
          </a:xfrm>
          <a:prstGeom prst="rect">
            <a:avLst/>
          </a:prstGeom>
          <a:solidFill>
            <a:schemeClr val="accent2"/>
          </a:solidFill>
          <a:ln>
            <a:noFill/>
            <a:headEnd type="none" w="med" len="med"/>
            <a:tailEnd type="none" w="med" len="med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91440" rIns="91440" bIns="9144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r>
              <a:rPr lang="en-US" sz="2000" b="1" err="1">
                <a:solidFill>
                  <a:schemeClr val="bg1"/>
                </a:solidFill>
                <a:ea typeface="Segoe UI" pitchFamily="34" charset="0"/>
                <a:cs typeface="Segoe UI" pitchFamily="34" charset="0"/>
              </a:rPr>
              <a:t>Agent B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31AF12E5-F974-CE40-3898-51122EB75203}"/>
              </a:ext>
            </a:extLst>
          </p:cNvPr>
          <p:cNvSpPr txBox="1"/>
          <p:nvPr/>
        </p:nvSpPr>
        <p:spPr>
          <a:xfrm rot="19423123">
            <a:off x="3004632" y="2378046"/>
            <a:ext cx="1371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 i="1">
                <a:solidFill>
                  <a:srgbClr val="E85500"/>
                </a:solidFill>
              </a:defRPr>
            </a:pPr>
            <a:r>
              <a:rPr lang="en-US" sz="1600"/>
              <a:t>select</a:t>
            </a:r>
            <a:endParaRPr sz="160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6F7FC5B9-8C3B-E78F-AB17-216CFD79E7E5}"/>
              </a:ext>
            </a:extLst>
          </p:cNvPr>
          <p:cNvSpPr txBox="1"/>
          <p:nvPr/>
        </p:nvSpPr>
        <p:spPr>
          <a:xfrm rot="1774472">
            <a:off x="3029546" y="3479186"/>
            <a:ext cx="1371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 i="1">
                <a:solidFill>
                  <a:srgbClr val="E85500"/>
                </a:solidFill>
              </a:defRPr>
            </a:pPr>
            <a:r>
              <a:rPr lang="en-US" sz="1600"/>
              <a:t>store</a:t>
            </a:r>
            <a:endParaRPr sz="160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3B8A34DB-8B06-C126-C3D1-06A30B9512E9}"/>
              </a:ext>
            </a:extLst>
          </p:cNvPr>
          <p:cNvSpPr txBox="1"/>
          <p:nvPr/>
        </p:nvSpPr>
        <p:spPr>
          <a:xfrm rot="19114658">
            <a:off x="7443920" y="2477652"/>
            <a:ext cx="1371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 i="1">
                <a:solidFill>
                  <a:srgbClr val="E85500"/>
                </a:solidFill>
              </a:defRPr>
            </a:pPr>
            <a:r>
              <a:rPr lang="en-US" sz="1600">
                <a:solidFill>
                  <a:srgbClr val="0070C0"/>
                </a:solidFill>
              </a:rPr>
              <a:t>tool call</a:t>
            </a:r>
            <a:endParaRPr sz="1600">
              <a:solidFill>
                <a:srgbClr val="0070C0"/>
              </a:solidFill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E7C06CBB-0DEC-4BED-7826-8C127C3D2721}"/>
              </a:ext>
            </a:extLst>
          </p:cNvPr>
          <p:cNvSpPr txBox="1"/>
          <p:nvPr/>
        </p:nvSpPr>
        <p:spPr>
          <a:xfrm rot="19114658">
            <a:off x="7865031" y="2688511"/>
            <a:ext cx="1371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 i="1">
                <a:solidFill>
                  <a:srgbClr val="E85500"/>
                </a:solidFill>
              </a:defRPr>
            </a:pPr>
            <a:r>
              <a:rPr lang="en-US" sz="1600">
                <a:solidFill>
                  <a:srgbClr val="0070C0"/>
                </a:solidFill>
              </a:rPr>
              <a:t>tool result</a:t>
            </a:r>
            <a:endParaRPr sz="1600">
              <a:solidFill>
                <a:srgbClr val="0070C0"/>
              </a:solidFill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592F0E3E-D429-B4C5-53ED-576A4AED1A11}"/>
              </a:ext>
            </a:extLst>
          </p:cNvPr>
          <p:cNvSpPr txBox="1"/>
          <p:nvPr/>
        </p:nvSpPr>
        <p:spPr>
          <a:xfrm rot="2640982">
            <a:off x="9355114" y="2582319"/>
            <a:ext cx="1371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 i="1">
                <a:solidFill>
                  <a:srgbClr val="E85500"/>
                </a:solidFill>
              </a:defRPr>
            </a:pPr>
            <a:r>
              <a:rPr lang="en-US" sz="1600">
                <a:solidFill>
                  <a:srgbClr val="0070C0"/>
                </a:solidFill>
              </a:rPr>
              <a:t>tool call</a:t>
            </a:r>
            <a:endParaRPr sz="1600">
              <a:solidFill>
                <a:srgbClr val="0070C0"/>
              </a:solidFill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B67EAE4D-2B26-5573-CC1A-99D50E76607E}"/>
              </a:ext>
            </a:extLst>
          </p:cNvPr>
          <p:cNvSpPr txBox="1"/>
          <p:nvPr/>
        </p:nvSpPr>
        <p:spPr>
          <a:xfrm rot="2779437">
            <a:off x="8882488" y="2701154"/>
            <a:ext cx="1371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 i="1">
                <a:solidFill>
                  <a:srgbClr val="E85500"/>
                </a:solidFill>
              </a:defRPr>
            </a:pPr>
            <a:r>
              <a:rPr lang="en-US" sz="1600">
                <a:solidFill>
                  <a:srgbClr val="0070C0"/>
                </a:solidFill>
              </a:rPr>
              <a:t>tool result</a:t>
            </a:r>
            <a:endParaRPr sz="1600">
              <a:solidFill>
                <a:srgbClr val="0070C0"/>
              </a:solidFill>
            </a:endParaRPr>
          </a:p>
        </p:txBody>
      </p:sp>
      <p:graphicFrame>
        <p:nvGraphicFramePr>
          <p:cNvPr id="73" name="Table 72">
            <a:extLst>
              <a:ext uri="{FF2B5EF4-FFF2-40B4-BE49-F238E27FC236}">
                <a16:creationId xmlns:a16="http://schemas.microsoft.com/office/drawing/2014/main" id="{9FFD2C51-AD93-8FB1-284B-1CF7478608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3050475"/>
              </p:ext>
            </p:extLst>
          </p:nvPr>
        </p:nvGraphicFramePr>
        <p:xfrm>
          <a:off x="1010916" y="4506315"/>
          <a:ext cx="10530642" cy="2249758"/>
        </p:xfrm>
        <a:graphic>
          <a:graphicData uri="http://schemas.openxmlformats.org/drawingml/2006/table">
            <a:tbl>
              <a:tblPr bandRow="1">
                <a:tableStyleId>{93296810-A885-4BE3-A3E7-6D5BEEA58F35}</a:tableStyleId>
              </a:tblPr>
              <a:tblGrid>
                <a:gridCol w="1535070">
                  <a:extLst>
                    <a:ext uri="{9D8B030D-6E8A-4147-A177-3AD203B41FA5}">
                      <a16:colId xmlns:a16="http://schemas.microsoft.com/office/drawing/2014/main" val="973572080"/>
                    </a:ext>
                  </a:extLst>
                </a:gridCol>
                <a:gridCol w="4147583">
                  <a:extLst>
                    <a:ext uri="{9D8B030D-6E8A-4147-A177-3AD203B41FA5}">
                      <a16:colId xmlns:a16="http://schemas.microsoft.com/office/drawing/2014/main" val="276136492"/>
                    </a:ext>
                  </a:extLst>
                </a:gridCol>
                <a:gridCol w="4847989">
                  <a:extLst>
                    <a:ext uri="{9D8B030D-6E8A-4147-A177-3AD203B41FA5}">
                      <a16:colId xmlns:a16="http://schemas.microsoft.com/office/drawing/2014/main" val="3985715827"/>
                    </a:ext>
                  </a:extLst>
                </a:gridCol>
              </a:tblGrid>
              <a:tr h="484799">
                <a:tc>
                  <a:txBody>
                    <a:bodyPr/>
                    <a:lstStyle/>
                    <a:p>
                      <a:pPr algn="r"/>
                      <a:r>
                        <a:rPr lang="en-US" b="1"/>
                        <a:t>Planning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Explicit (plan with progress ledger)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Implicit (reactive tool call decisions)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3808745"/>
                  </a:ext>
                </a:extLst>
              </a:tr>
              <a:tr h="484799">
                <a:tc>
                  <a:txBody>
                    <a:bodyPr/>
                    <a:lstStyle/>
                    <a:p>
                      <a:pPr algn="r"/>
                      <a:r>
                        <a:rPr lang="en-US" b="1"/>
                        <a:t>Loop detection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Progress ledger checks is_in_loop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No built-in loop detection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9548056"/>
                  </a:ext>
                </a:extLst>
              </a:tr>
              <a:tr h="484799">
                <a:tc>
                  <a:txBody>
                    <a:bodyPr/>
                    <a:lstStyle/>
                    <a:p>
                      <a:pPr algn="r"/>
                      <a:r>
                        <a:rPr lang="en-US" b="1"/>
                        <a:t>Agent context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Full shared chat history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Isolated per-call context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7611861"/>
                  </a:ext>
                </a:extLst>
              </a:tr>
              <a:tr h="484799">
                <a:tc>
                  <a:txBody>
                    <a:bodyPr/>
                    <a:lstStyle/>
                    <a:p>
                      <a:pPr algn="r"/>
                      <a:r>
                        <a:rPr lang="en-US" b="1"/>
                        <a:t>Token cost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Higher (plan + ledger+ shared history)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Lower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8048801"/>
                  </a:ext>
                </a:extLst>
              </a:tr>
            </a:tbl>
          </a:graphicData>
        </a:graphic>
      </p:graphicFrame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6E26F703-6558-7C50-B3E9-E15D5012B007}"/>
              </a:ext>
            </a:extLst>
          </p:cNvPr>
          <p:cNvCxnSpPr>
            <a:cxnSpLocks/>
          </p:cNvCxnSpPr>
          <p:nvPr/>
        </p:nvCxnSpPr>
        <p:spPr>
          <a:xfrm>
            <a:off x="6691587" y="1612402"/>
            <a:ext cx="0" cy="5122509"/>
          </a:xfrm>
          <a:prstGeom prst="line">
            <a:avLst/>
          </a:prstGeom>
          <a:ln w="38100" cap="rnd">
            <a:solidFill>
              <a:schemeClr val="bg1">
                <a:lumMod val="6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DF5C5D5B-90EB-4FC7-B02B-1D2E0E3E9208}"/>
              </a:ext>
            </a:extLst>
          </p:cNvPr>
          <p:cNvSpPr/>
          <p:nvPr/>
        </p:nvSpPr>
        <p:spPr bwMode="auto">
          <a:xfrm>
            <a:off x="1200931" y="2003393"/>
            <a:ext cx="1574808" cy="368316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  <a:headEnd type="none" w="med" len="med"/>
            <a:tailEnd type="none" w="med" len="med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91440" rIns="91440" bIns="9144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r>
              <a:rPr lang="en-US" sz="1600" b="1" err="1">
                <a:solidFill>
                  <a:schemeClr val="bg1"/>
                </a:solidFill>
                <a:ea typeface="Segoe UI" pitchFamily="34" charset="0"/>
                <a:cs typeface="Segoe UI" pitchFamily="34" charset="0"/>
              </a:rPr>
              <a:t>☑️  ledger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D977A02-CBA0-B832-C1AF-57E662BBFCFB}"/>
              </a:ext>
            </a:extLst>
          </p:cNvPr>
          <p:cNvSpPr/>
          <p:nvPr/>
        </p:nvSpPr>
        <p:spPr bwMode="auto">
          <a:xfrm>
            <a:off x="3663814" y="3918708"/>
            <a:ext cx="1574808" cy="447676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  <a:headEnd type="none" w="med" len="med"/>
            <a:tailEnd type="none" w="med" len="med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91440" rIns="91440" bIns="9144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r>
              <a:rPr lang="en-US" sz="1600" b="1" err="1">
                <a:solidFill>
                  <a:schemeClr val="bg1"/>
                </a:solidFill>
                <a:ea typeface="Segoe UI" pitchFamily="34" charset="0"/>
                <a:cs typeface="Segoe UI" pitchFamily="34" charset="0"/>
              </a:rPr>
              <a:t>💬 chat history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D79B2AA9-3D8E-0579-7AFB-A997F4A3FF0D}"/>
              </a:ext>
            </a:extLst>
          </p:cNvPr>
          <p:cNvCxnSpPr>
            <a:cxnSpLocks/>
          </p:cNvCxnSpPr>
          <p:nvPr/>
        </p:nvCxnSpPr>
        <p:spPr>
          <a:xfrm flipV="1">
            <a:off x="4727860" y="3321188"/>
            <a:ext cx="1071624" cy="568819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3C9E18FC-5D48-5C22-B30F-85DA43B082CF}"/>
              </a:ext>
            </a:extLst>
          </p:cNvPr>
          <p:cNvSpPr txBox="1"/>
          <p:nvPr/>
        </p:nvSpPr>
        <p:spPr>
          <a:xfrm rot="19964218">
            <a:off x="4778292" y="3465023"/>
            <a:ext cx="1371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 i="1">
                <a:solidFill>
                  <a:srgbClr val="E85500"/>
                </a:solidFill>
              </a:defRPr>
            </a:pPr>
            <a:r>
              <a:rPr lang="en-US" sz="1600"/>
              <a:t>store</a:t>
            </a:r>
            <a:endParaRPr sz="160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622CF1E-C064-79D8-71E1-5BC80D5ACCBD}"/>
              </a:ext>
            </a:extLst>
          </p:cNvPr>
          <p:cNvSpPr txBox="1"/>
          <p:nvPr/>
        </p:nvSpPr>
        <p:spPr>
          <a:xfrm rot="1958235">
            <a:off x="4701165" y="2346530"/>
            <a:ext cx="1371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 i="1">
                <a:solidFill>
                  <a:srgbClr val="E85500"/>
                </a:solidFill>
              </a:defRPr>
            </a:pPr>
            <a:r>
              <a:rPr lang="en-US" sz="1600"/>
              <a:t>select</a:t>
            </a:r>
            <a:endParaRPr sz="160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6B3CBAB-39D8-56DD-2802-D64060E27D6E}"/>
              </a:ext>
            </a:extLst>
          </p:cNvPr>
          <p:cNvSpPr/>
          <p:nvPr/>
        </p:nvSpPr>
        <p:spPr bwMode="auto">
          <a:xfrm>
            <a:off x="1200931" y="1564701"/>
            <a:ext cx="1574808" cy="368316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  <a:headEnd type="none" w="med" len="med"/>
            <a:tailEnd type="none" w="med" len="med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91440" rIns="91440" bIns="9144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r>
              <a:rPr lang="en-US" sz="1600" b="1" err="1">
                <a:solidFill>
                  <a:schemeClr val="bg1"/>
                </a:solidFill>
                <a:ea typeface="Segoe UI" pitchFamily="34" charset="0"/>
                <a:cs typeface="Segoe UI" pitchFamily="34" charset="0"/>
              </a:rPr>
              <a:t>📋 plan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EFA9DE4-EA66-F7A5-C5E1-6326CC1EBC11}"/>
              </a:ext>
            </a:extLst>
          </p:cNvPr>
          <p:cNvCxnSpPr>
            <a:endCxn id="18" idx="3"/>
          </p:cNvCxnSpPr>
          <p:nvPr/>
        </p:nvCxnSpPr>
        <p:spPr>
          <a:xfrm flipH="1">
            <a:off x="2775739" y="1748859"/>
            <a:ext cx="354874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CD677385-23F0-1E9B-5796-8FB8E1E7473C}"/>
              </a:ext>
            </a:extLst>
          </p:cNvPr>
          <p:cNvCxnSpPr/>
          <p:nvPr/>
        </p:nvCxnSpPr>
        <p:spPr>
          <a:xfrm flipH="1">
            <a:off x="2775739" y="2153324"/>
            <a:ext cx="354874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3930373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B7125C-D12F-EA18-4184-5987B43854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F4D7AE-8701-F1F0-CED6-80664CD2A8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32343"/>
            <a:ext cx="11462886" cy="2852737"/>
          </a:xfrm>
        </p:spPr>
        <p:txBody>
          <a:bodyPr>
            <a:normAutofit/>
          </a:bodyPr>
          <a:lstStyle/>
          <a:p>
            <a:r>
              <a:rPr lang="en-US" sz="5500"/>
              <a:t>Dynamic routing with HandoffBuilder</a:t>
            </a:r>
          </a:p>
        </p:txBody>
      </p:sp>
    </p:spTree>
    <p:extLst>
      <p:ext uri="{BB962C8B-B14F-4D97-AF65-F5344CB8AC3E}">
        <p14:creationId xmlns:p14="http://schemas.microsoft.com/office/powerpoint/2010/main" val="285194161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7DCA5F-7FE3-3361-0DC1-E6B2CFAEB2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18DBB7-4B9D-E4A2-137B-2207133E86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From fixed graphs to dynamic routing</a:t>
            </a:r>
          </a:p>
        </p:txBody>
      </p:sp>
      <p:sp>
        <p:nvSpPr>
          <p:cNvPr id="55" name="Rounded Rectangle 54">
            <a:extLst>
              <a:ext uri="{FF2B5EF4-FFF2-40B4-BE49-F238E27FC236}">
                <a16:creationId xmlns:a16="http://schemas.microsoft.com/office/drawing/2014/main" id="{D00E0EBC-63A9-D4E4-CDC8-A2C8532112F9}"/>
              </a:ext>
            </a:extLst>
          </p:cNvPr>
          <p:cNvSpPr/>
          <p:nvPr/>
        </p:nvSpPr>
        <p:spPr>
          <a:xfrm>
            <a:off x="1121606" y="1617044"/>
            <a:ext cx="5326380" cy="5029200"/>
          </a:xfrm>
          <a:prstGeom prst="roundRect">
            <a:avLst>
              <a:gd name="adj" fmla="val 4992"/>
            </a:avLst>
          </a:prstGeom>
          <a:solidFill>
            <a:srgbClr val="F8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B0C8E765-726B-CB72-5D9C-D6E45786FE3C}"/>
              </a:ext>
            </a:extLst>
          </p:cNvPr>
          <p:cNvSpPr txBox="1"/>
          <p:nvPr/>
        </p:nvSpPr>
        <p:spPr>
          <a:xfrm>
            <a:off x="1395926" y="1708484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 i="0">
                <a:solidFill>
                  <a:srgbClr val="0078D4"/>
                </a:solidFill>
              </a:defRPr>
            </a:pPr>
            <a:r>
              <a:t>FIXED GRAPH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FF5D2E46-D7D6-8F50-8CFC-EAC9C70B21C3}"/>
              </a:ext>
            </a:extLst>
          </p:cNvPr>
          <p:cNvSpPr txBox="1"/>
          <p:nvPr/>
        </p:nvSpPr>
        <p:spPr>
          <a:xfrm>
            <a:off x="1395926" y="2165684"/>
            <a:ext cx="4572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1">
                <a:solidFill>
                  <a:srgbClr val="606060"/>
                </a:solidFill>
              </a:defRPr>
            </a:pPr>
            <a:r>
              <a:rPr>
                <a:latin typeface="Aptos" panose="020B0004020202020204" pitchFamily="34" charset="0"/>
              </a:rPr>
              <a:t>Developer defines edges. LLM picks a path.</a:t>
            </a:r>
          </a:p>
        </p:txBody>
      </p:sp>
      <p:sp>
        <p:nvSpPr>
          <p:cNvPr id="58" name="Rounded Rectangle 57">
            <a:extLst>
              <a:ext uri="{FF2B5EF4-FFF2-40B4-BE49-F238E27FC236}">
                <a16:creationId xmlns:a16="http://schemas.microsoft.com/office/drawing/2014/main" id="{EE759346-A375-92FE-8E5F-1C5CBF46F766}"/>
              </a:ext>
            </a:extLst>
          </p:cNvPr>
          <p:cNvSpPr/>
          <p:nvPr/>
        </p:nvSpPr>
        <p:spPr>
          <a:xfrm>
            <a:off x="1784546" y="3240104"/>
            <a:ext cx="685800" cy="594360"/>
          </a:xfrm>
          <a:prstGeom prst="round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</a:defRPr>
            </a:pPr>
            <a:r>
              <a:t>A</a:t>
            </a:r>
          </a:p>
        </p:txBody>
      </p:sp>
      <p:sp>
        <p:nvSpPr>
          <p:cNvPr id="59" name="Rounded Rectangle 58">
            <a:extLst>
              <a:ext uri="{FF2B5EF4-FFF2-40B4-BE49-F238E27FC236}">
                <a16:creationId xmlns:a16="http://schemas.microsoft.com/office/drawing/2014/main" id="{F13380AE-9944-6A65-420E-BEAF17D815B6}"/>
              </a:ext>
            </a:extLst>
          </p:cNvPr>
          <p:cNvSpPr/>
          <p:nvPr/>
        </p:nvSpPr>
        <p:spPr>
          <a:xfrm>
            <a:off x="3521906" y="2691464"/>
            <a:ext cx="685800" cy="594360"/>
          </a:xfrm>
          <a:prstGeom prst="round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</a:defRPr>
            </a:pPr>
            <a:r>
              <a:t>B</a:t>
            </a:r>
          </a:p>
        </p:txBody>
      </p:sp>
      <p:sp>
        <p:nvSpPr>
          <p:cNvPr id="60" name="Rounded Rectangle 59">
            <a:extLst>
              <a:ext uri="{FF2B5EF4-FFF2-40B4-BE49-F238E27FC236}">
                <a16:creationId xmlns:a16="http://schemas.microsoft.com/office/drawing/2014/main" id="{E0E564FE-5F39-6A77-ECD8-81A73E8B33A3}"/>
              </a:ext>
            </a:extLst>
          </p:cNvPr>
          <p:cNvSpPr/>
          <p:nvPr/>
        </p:nvSpPr>
        <p:spPr>
          <a:xfrm>
            <a:off x="5259266" y="2691464"/>
            <a:ext cx="685800" cy="594360"/>
          </a:xfrm>
          <a:prstGeom prst="round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</a:defRPr>
            </a:pPr>
            <a:r>
              <a:t>C</a:t>
            </a:r>
          </a:p>
        </p:txBody>
      </p:sp>
      <p:sp>
        <p:nvSpPr>
          <p:cNvPr id="61" name="Rounded Rectangle 60">
            <a:extLst>
              <a:ext uri="{FF2B5EF4-FFF2-40B4-BE49-F238E27FC236}">
                <a16:creationId xmlns:a16="http://schemas.microsoft.com/office/drawing/2014/main" id="{1DC4DB3F-495F-7970-9955-6C2A9C570C35}"/>
              </a:ext>
            </a:extLst>
          </p:cNvPr>
          <p:cNvSpPr/>
          <p:nvPr/>
        </p:nvSpPr>
        <p:spPr>
          <a:xfrm>
            <a:off x="3521906" y="3788744"/>
            <a:ext cx="685800" cy="594360"/>
          </a:xfrm>
          <a:prstGeom prst="round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</a:defRPr>
            </a:pPr>
            <a:r>
              <a:t>D</a:t>
            </a:r>
          </a:p>
        </p:txBody>
      </p:sp>
      <p:cxnSp>
        <p:nvCxnSpPr>
          <p:cNvPr id="62" name="Connector 11">
            <a:extLst>
              <a:ext uri="{FF2B5EF4-FFF2-40B4-BE49-F238E27FC236}">
                <a16:creationId xmlns:a16="http://schemas.microsoft.com/office/drawing/2014/main" id="{84B42300-EF66-9BBB-3321-C4A8C9633FF1}"/>
              </a:ext>
            </a:extLst>
          </p:cNvPr>
          <p:cNvCxnSpPr/>
          <p:nvPr/>
        </p:nvCxnSpPr>
        <p:spPr>
          <a:xfrm flipV="1">
            <a:off x="2470346" y="3014044"/>
            <a:ext cx="1051560" cy="447040"/>
          </a:xfrm>
          <a:prstGeom prst="line">
            <a:avLst/>
          </a:prstGeom>
          <a:ln w="31750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12">
            <a:extLst>
              <a:ext uri="{FF2B5EF4-FFF2-40B4-BE49-F238E27FC236}">
                <a16:creationId xmlns:a16="http://schemas.microsoft.com/office/drawing/2014/main" id="{FC6903A9-B9B1-E312-1CC8-49BFA100693B}"/>
              </a:ext>
            </a:extLst>
          </p:cNvPr>
          <p:cNvCxnSpPr/>
          <p:nvPr/>
        </p:nvCxnSpPr>
        <p:spPr>
          <a:xfrm>
            <a:off x="4207706" y="2988644"/>
            <a:ext cx="1051560" cy="0"/>
          </a:xfrm>
          <a:prstGeom prst="line">
            <a:avLst/>
          </a:prstGeom>
          <a:ln w="31750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13">
            <a:extLst>
              <a:ext uri="{FF2B5EF4-FFF2-40B4-BE49-F238E27FC236}">
                <a16:creationId xmlns:a16="http://schemas.microsoft.com/office/drawing/2014/main" id="{4BA65F9E-EBAE-72CB-3F39-42E95022C5D5}"/>
              </a:ext>
            </a:extLst>
          </p:cNvPr>
          <p:cNvCxnSpPr/>
          <p:nvPr/>
        </p:nvCxnSpPr>
        <p:spPr>
          <a:xfrm>
            <a:off x="2470346" y="3613484"/>
            <a:ext cx="1051560" cy="447040"/>
          </a:xfrm>
          <a:prstGeom prst="line">
            <a:avLst/>
          </a:prstGeom>
          <a:ln w="31750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TextBox 64">
            <a:extLst>
              <a:ext uri="{FF2B5EF4-FFF2-40B4-BE49-F238E27FC236}">
                <a16:creationId xmlns:a16="http://schemas.microsoft.com/office/drawing/2014/main" id="{2ECBE2F4-B7FA-1940-F749-5FB99D617805}"/>
              </a:ext>
            </a:extLst>
          </p:cNvPr>
          <p:cNvSpPr txBox="1"/>
          <p:nvPr/>
        </p:nvSpPr>
        <p:spPr>
          <a:xfrm>
            <a:off x="2618936" y="285943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1">
                <a:solidFill>
                  <a:srgbClr val="A0A0A0"/>
                </a:solidFill>
              </a:defRPr>
            </a:pPr>
            <a:r>
              <a:t>edge(A, B)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F1003AC9-A499-ED3A-A6EF-A687BB61DFB9}"/>
              </a:ext>
            </a:extLst>
          </p:cNvPr>
          <p:cNvSpPr txBox="1"/>
          <p:nvPr/>
        </p:nvSpPr>
        <p:spPr>
          <a:xfrm>
            <a:off x="4333436" y="2645744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1">
                <a:solidFill>
                  <a:srgbClr val="A0A0A0"/>
                </a:solidFill>
              </a:defRPr>
            </a:pPr>
            <a:r>
              <a:t>edge(B, C)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C0A24526-AD9F-38B5-E033-70286872EF34}"/>
              </a:ext>
            </a:extLst>
          </p:cNvPr>
          <p:cNvSpPr txBox="1"/>
          <p:nvPr/>
        </p:nvSpPr>
        <p:spPr>
          <a:xfrm>
            <a:off x="2561786" y="4017344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1">
                <a:solidFill>
                  <a:srgbClr val="A0A0A0"/>
                </a:solidFill>
              </a:defRPr>
            </a:pPr>
            <a:r>
              <a:t>edge(A, D)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FA87CC51-F089-D370-F406-35067D1CF3C8}"/>
              </a:ext>
            </a:extLst>
          </p:cNvPr>
          <p:cNvSpPr txBox="1"/>
          <p:nvPr/>
        </p:nvSpPr>
        <p:spPr>
          <a:xfrm>
            <a:off x="1395926" y="4817444"/>
            <a:ext cx="4754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  <a:defRPr sz="1500" b="0">
                <a:solidFill>
                  <a:srgbClr val="606060"/>
                </a:solidFill>
              </a:defRPr>
            </a:pPr>
            <a:r>
              <a:t>•  All edges declared at build time</a:t>
            </a:r>
          </a:p>
          <a:p>
            <a:pPr algn="l">
              <a:spcAft>
                <a:spcPts val="900"/>
              </a:spcAft>
              <a:defRPr sz="1500" b="0">
                <a:solidFill>
                  <a:srgbClr val="606060"/>
                </a:solidFill>
              </a:defRPr>
            </a:pPr>
            <a:r>
              <a:t>•  LLM selects which branch, not which agent</a:t>
            </a:r>
          </a:p>
          <a:p>
            <a:pPr algn="l">
              <a:spcAft>
                <a:spcPts val="900"/>
              </a:spcAft>
              <a:defRPr sz="1500" b="0">
                <a:solidFill>
                  <a:srgbClr val="606060"/>
                </a:solidFill>
              </a:defRPr>
            </a:pPr>
            <a:r>
              <a:t>•  Topology is static — predictable and testable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217F6EF4-2E2D-F7BF-59D5-708C6E3A81D3}"/>
              </a:ext>
            </a:extLst>
          </p:cNvPr>
          <p:cNvSpPr txBox="1"/>
          <p:nvPr/>
        </p:nvSpPr>
        <p:spPr>
          <a:xfrm>
            <a:off x="1395926" y="6006164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0078D4"/>
                </a:solidFill>
              </a:defRPr>
            </a:pPr>
            <a:r>
              <a:t>WorkflowBuilder  ·  SequentialBuilder  ·  ConcurrentBuilder</a:t>
            </a:r>
          </a:p>
        </p:txBody>
      </p:sp>
      <p:sp>
        <p:nvSpPr>
          <p:cNvPr id="70" name="Rounded Rectangle 69">
            <a:extLst>
              <a:ext uri="{FF2B5EF4-FFF2-40B4-BE49-F238E27FC236}">
                <a16:creationId xmlns:a16="http://schemas.microsoft.com/office/drawing/2014/main" id="{F2E3E8BC-BB05-3FF6-5636-924405CA1B30}"/>
              </a:ext>
            </a:extLst>
          </p:cNvPr>
          <p:cNvSpPr/>
          <p:nvPr/>
        </p:nvSpPr>
        <p:spPr>
          <a:xfrm>
            <a:off x="6722306" y="1617044"/>
            <a:ext cx="5394960" cy="5029200"/>
          </a:xfrm>
          <a:prstGeom prst="roundRect">
            <a:avLst>
              <a:gd name="adj" fmla="val 6332"/>
            </a:avLst>
          </a:prstGeom>
          <a:solidFill>
            <a:srgbClr val="FDF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22D3BDA2-6E3F-7494-F617-48853FC3A82E}"/>
              </a:ext>
            </a:extLst>
          </p:cNvPr>
          <p:cNvSpPr txBox="1"/>
          <p:nvPr/>
        </p:nvSpPr>
        <p:spPr>
          <a:xfrm>
            <a:off x="6905186" y="1708484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 i="0">
                <a:solidFill>
                  <a:srgbClr val="E85500"/>
                </a:solidFill>
              </a:defRPr>
            </a:pPr>
            <a:r>
              <a:t>DYNAMIC ROUTING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21B54C0B-BBA3-0805-FFA6-83D9F8814161}"/>
              </a:ext>
            </a:extLst>
          </p:cNvPr>
          <p:cNvSpPr txBox="1"/>
          <p:nvPr/>
        </p:nvSpPr>
        <p:spPr>
          <a:xfrm>
            <a:off x="6905186" y="2165684"/>
            <a:ext cx="4572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1">
                <a:solidFill>
                  <a:srgbClr val="606060"/>
                </a:solidFill>
              </a:defRPr>
            </a:pPr>
            <a:r>
              <a:rPr>
                <a:latin typeface="Aptos" panose="020B0004020202020204" pitchFamily="34" charset="0"/>
              </a:rPr>
              <a:t>Agents decide the next step at runtime.</a:t>
            </a:r>
          </a:p>
        </p:txBody>
      </p:sp>
      <p:sp>
        <p:nvSpPr>
          <p:cNvPr id="73" name="Rounded Rectangle 72">
            <a:extLst>
              <a:ext uri="{FF2B5EF4-FFF2-40B4-BE49-F238E27FC236}">
                <a16:creationId xmlns:a16="http://schemas.microsoft.com/office/drawing/2014/main" id="{6E92835F-7F52-D25B-3FD1-F410EF8FA8B5}"/>
              </a:ext>
            </a:extLst>
          </p:cNvPr>
          <p:cNvSpPr/>
          <p:nvPr/>
        </p:nvSpPr>
        <p:spPr>
          <a:xfrm>
            <a:off x="7293806" y="3240104"/>
            <a:ext cx="685800" cy="594360"/>
          </a:xfrm>
          <a:prstGeom prst="round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</a:defRPr>
            </a:pPr>
            <a:r>
              <a:t>A</a:t>
            </a:r>
          </a:p>
        </p:txBody>
      </p:sp>
      <p:sp>
        <p:nvSpPr>
          <p:cNvPr id="74" name="Rounded Rectangle 73">
            <a:extLst>
              <a:ext uri="{FF2B5EF4-FFF2-40B4-BE49-F238E27FC236}">
                <a16:creationId xmlns:a16="http://schemas.microsoft.com/office/drawing/2014/main" id="{C8DFABDB-09B8-8CA9-2A66-A204C6B17D0F}"/>
              </a:ext>
            </a:extLst>
          </p:cNvPr>
          <p:cNvSpPr/>
          <p:nvPr/>
        </p:nvSpPr>
        <p:spPr>
          <a:xfrm>
            <a:off x="9008306" y="3217244"/>
            <a:ext cx="731520" cy="640080"/>
          </a:xfrm>
          <a:prstGeom prst="roundRect">
            <a:avLst/>
          </a:prstGeom>
          <a:solidFill>
            <a:srgbClr val="E85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</a:defRPr>
            </a:pPr>
            <a:r>
              <a:t>?</a:t>
            </a:r>
          </a:p>
        </p:txBody>
      </p:sp>
      <p:sp>
        <p:nvSpPr>
          <p:cNvPr id="75" name="Rounded Rectangle 74">
            <a:extLst>
              <a:ext uri="{FF2B5EF4-FFF2-40B4-BE49-F238E27FC236}">
                <a16:creationId xmlns:a16="http://schemas.microsoft.com/office/drawing/2014/main" id="{B66515BD-4002-597B-809E-413C99C7034B}"/>
              </a:ext>
            </a:extLst>
          </p:cNvPr>
          <p:cNvSpPr/>
          <p:nvPr/>
        </p:nvSpPr>
        <p:spPr>
          <a:xfrm>
            <a:off x="10768526" y="2417144"/>
            <a:ext cx="685800" cy="594360"/>
          </a:xfrm>
          <a:prstGeom prst="round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</a:defRPr>
            </a:pPr>
            <a:r>
              <a:t>B</a:t>
            </a:r>
          </a:p>
        </p:txBody>
      </p:sp>
      <p:sp>
        <p:nvSpPr>
          <p:cNvPr id="76" name="Rounded Rectangle 75">
            <a:extLst>
              <a:ext uri="{FF2B5EF4-FFF2-40B4-BE49-F238E27FC236}">
                <a16:creationId xmlns:a16="http://schemas.microsoft.com/office/drawing/2014/main" id="{4180C014-DDE5-E9F5-DC48-15A822235FA6}"/>
              </a:ext>
            </a:extLst>
          </p:cNvPr>
          <p:cNvSpPr/>
          <p:nvPr/>
        </p:nvSpPr>
        <p:spPr>
          <a:xfrm>
            <a:off x="10768526" y="3240104"/>
            <a:ext cx="685800" cy="594360"/>
          </a:xfrm>
          <a:prstGeom prst="round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</a:defRPr>
            </a:pPr>
            <a:r>
              <a:t>C</a:t>
            </a:r>
          </a:p>
        </p:txBody>
      </p:sp>
      <p:sp>
        <p:nvSpPr>
          <p:cNvPr id="77" name="Rounded Rectangle 76">
            <a:extLst>
              <a:ext uri="{FF2B5EF4-FFF2-40B4-BE49-F238E27FC236}">
                <a16:creationId xmlns:a16="http://schemas.microsoft.com/office/drawing/2014/main" id="{3B377C39-09AB-C9F7-5250-0EE4739E880A}"/>
              </a:ext>
            </a:extLst>
          </p:cNvPr>
          <p:cNvSpPr/>
          <p:nvPr/>
        </p:nvSpPr>
        <p:spPr>
          <a:xfrm>
            <a:off x="10768526" y="4063064"/>
            <a:ext cx="685800" cy="594360"/>
          </a:xfrm>
          <a:prstGeom prst="round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</a:defRPr>
            </a:pPr>
            <a:r>
              <a:t>D</a:t>
            </a:r>
          </a:p>
        </p:txBody>
      </p:sp>
      <p:cxnSp>
        <p:nvCxnSpPr>
          <p:cNvPr id="78" name="Connector 27">
            <a:extLst>
              <a:ext uri="{FF2B5EF4-FFF2-40B4-BE49-F238E27FC236}">
                <a16:creationId xmlns:a16="http://schemas.microsoft.com/office/drawing/2014/main" id="{39B043DA-8049-9C08-1604-128FFBED58E2}"/>
              </a:ext>
            </a:extLst>
          </p:cNvPr>
          <p:cNvCxnSpPr/>
          <p:nvPr/>
        </p:nvCxnSpPr>
        <p:spPr>
          <a:xfrm>
            <a:off x="7979606" y="3537284"/>
            <a:ext cx="1028700" cy="0"/>
          </a:xfrm>
          <a:prstGeom prst="line">
            <a:avLst/>
          </a:prstGeom>
          <a:ln w="38100">
            <a:solidFill>
              <a:srgbClr val="E855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28">
            <a:extLst>
              <a:ext uri="{FF2B5EF4-FFF2-40B4-BE49-F238E27FC236}">
                <a16:creationId xmlns:a16="http://schemas.microsoft.com/office/drawing/2014/main" id="{F106423C-372A-AB84-6518-F48ABEE1B3BA}"/>
              </a:ext>
            </a:extLst>
          </p:cNvPr>
          <p:cNvCxnSpPr/>
          <p:nvPr/>
        </p:nvCxnSpPr>
        <p:spPr>
          <a:xfrm flipV="1">
            <a:off x="9739826" y="2765124"/>
            <a:ext cx="1028700" cy="670560"/>
          </a:xfrm>
          <a:prstGeom prst="line">
            <a:avLst/>
          </a:prstGeom>
          <a:ln w="25400">
            <a:solidFill>
              <a:srgbClr val="E855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29">
            <a:extLst>
              <a:ext uri="{FF2B5EF4-FFF2-40B4-BE49-F238E27FC236}">
                <a16:creationId xmlns:a16="http://schemas.microsoft.com/office/drawing/2014/main" id="{80DBB31F-3BD7-BCA4-2C1C-C08CC6D74E87}"/>
              </a:ext>
            </a:extLst>
          </p:cNvPr>
          <p:cNvCxnSpPr/>
          <p:nvPr/>
        </p:nvCxnSpPr>
        <p:spPr>
          <a:xfrm>
            <a:off x="9739826" y="3537284"/>
            <a:ext cx="1028700" cy="0"/>
          </a:xfrm>
          <a:prstGeom prst="line">
            <a:avLst/>
          </a:prstGeom>
          <a:ln w="25400">
            <a:solidFill>
              <a:srgbClr val="E855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30">
            <a:extLst>
              <a:ext uri="{FF2B5EF4-FFF2-40B4-BE49-F238E27FC236}">
                <a16:creationId xmlns:a16="http://schemas.microsoft.com/office/drawing/2014/main" id="{5071872E-FFB4-064B-AF66-30FC5D20446F}"/>
              </a:ext>
            </a:extLst>
          </p:cNvPr>
          <p:cNvCxnSpPr/>
          <p:nvPr/>
        </p:nvCxnSpPr>
        <p:spPr>
          <a:xfrm>
            <a:off x="9739826" y="3638884"/>
            <a:ext cx="1028700" cy="670560"/>
          </a:xfrm>
          <a:prstGeom prst="line">
            <a:avLst/>
          </a:prstGeom>
          <a:ln w="25400">
            <a:solidFill>
              <a:srgbClr val="E855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TextBox 81">
            <a:extLst>
              <a:ext uri="{FF2B5EF4-FFF2-40B4-BE49-F238E27FC236}">
                <a16:creationId xmlns:a16="http://schemas.microsoft.com/office/drawing/2014/main" id="{FA7874E1-8843-D006-1AAD-4AED384DBB09}"/>
              </a:ext>
            </a:extLst>
          </p:cNvPr>
          <p:cNvSpPr txBox="1"/>
          <p:nvPr/>
        </p:nvSpPr>
        <p:spPr>
          <a:xfrm>
            <a:off x="8733986" y="2760044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 i="1">
                <a:solidFill>
                  <a:srgbClr val="E85500"/>
                </a:solidFill>
              </a:defRPr>
            </a:pPr>
            <a:r>
              <a:t>agent decides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9FFFA570-F833-FBD2-562E-6A0A97309A0D}"/>
              </a:ext>
            </a:extLst>
          </p:cNvPr>
          <p:cNvSpPr txBox="1"/>
          <p:nvPr/>
        </p:nvSpPr>
        <p:spPr>
          <a:xfrm>
            <a:off x="6905186" y="4817444"/>
            <a:ext cx="4754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  <a:defRPr sz="1500" b="0">
                <a:solidFill>
                  <a:srgbClr val="606060"/>
                </a:solidFill>
              </a:defRPr>
            </a:pPr>
            <a:r>
              <a:t>•  No predefined edges between agents</a:t>
            </a:r>
          </a:p>
          <a:p>
            <a:pPr algn="l">
              <a:spcAft>
                <a:spcPts val="900"/>
              </a:spcAft>
              <a:defRPr sz="1500" b="0">
                <a:solidFill>
                  <a:srgbClr val="606060"/>
                </a:solidFill>
              </a:defRPr>
            </a:pPr>
            <a:r>
              <a:t>•  Routing emerges from conversation state</a:t>
            </a:r>
          </a:p>
          <a:p>
            <a:pPr algn="l">
              <a:spcAft>
                <a:spcPts val="900"/>
              </a:spcAft>
              <a:defRPr sz="1500" b="0">
                <a:solidFill>
                  <a:srgbClr val="606060"/>
                </a:solidFill>
              </a:defRPr>
            </a:pPr>
            <a:r>
              <a:t>•  Topology is dynamic — flexible and adaptive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54A69D5D-497C-9F3A-3202-0F8A4387D268}"/>
              </a:ext>
            </a:extLst>
          </p:cNvPr>
          <p:cNvSpPr txBox="1"/>
          <p:nvPr/>
        </p:nvSpPr>
        <p:spPr>
          <a:xfrm>
            <a:off x="6905186" y="6006164"/>
            <a:ext cx="475488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E85500"/>
                </a:solidFill>
              </a:defRPr>
            </a:pPr>
            <a:r>
              <a:t>HandoffBuilder  </a:t>
            </a:r>
          </a:p>
        </p:txBody>
      </p:sp>
    </p:spTree>
    <p:extLst>
      <p:ext uri="{BB962C8B-B14F-4D97-AF65-F5344CB8AC3E}">
        <p14:creationId xmlns:p14="http://schemas.microsoft.com/office/powerpoint/2010/main" val="157232404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1BF2FD-8FD3-B547-F0C2-E338C695E9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3D1C91-E448-5622-EB30-0A848DFE93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Handoff orchestration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40BFD0F3-57E5-7263-E6B1-B26E27BD1B42}"/>
              </a:ext>
            </a:extLst>
          </p:cNvPr>
          <p:cNvSpPr/>
          <p:nvPr/>
        </p:nvSpPr>
        <p:spPr>
          <a:xfrm>
            <a:off x="1913021" y="3017203"/>
            <a:ext cx="1371600" cy="640080"/>
          </a:xfrm>
          <a:prstGeom prst="roundRect">
            <a:avLst/>
          </a:prstGeom>
          <a:solidFill>
            <a:srgbClr val="107C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</a:defRPr>
            </a:pPr>
            <a:r>
              <a:t>Agent A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BBDD2FC7-423D-FA44-29E5-1EAD0D46F65C}"/>
              </a:ext>
            </a:extLst>
          </p:cNvPr>
          <p:cNvSpPr/>
          <p:nvPr/>
        </p:nvSpPr>
        <p:spPr>
          <a:xfrm>
            <a:off x="6302141" y="2194243"/>
            <a:ext cx="1371600" cy="640080"/>
          </a:xfrm>
          <a:prstGeom prst="round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</a:defRPr>
            </a:pPr>
            <a:r>
              <a:t>Agent B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D0638BFD-5018-2876-A730-6551E076DEE0}"/>
              </a:ext>
            </a:extLst>
          </p:cNvPr>
          <p:cNvSpPr/>
          <p:nvPr/>
        </p:nvSpPr>
        <p:spPr>
          <a:xfrm>
            <a:off x="6302141" y="3840163"/>
            <a:ext cx="1371600" cy="640080"/>
          </a:xfrm>
          <a:prstGeom prst="round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</a:defRPr>
            </a:pPr>
            <a:r>
              <a:t>Agent C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22C583D-5C48-8FEB-AF30-39D19A572F6E}"/>
              </a:ext>
            </a:extLst>
          </p:cNvPr>
          <p:cNvSpPr txBox="1"/>
          <p:nvPr/>
        </p:nvSpPr>
        <p:spPr>
          <a:xfrm>
            <a:off x="1913021" y="2646081"/>
            <a:ext cx="1371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 i="1">
                <a:solidFill>
                  <a:srgbClr val="107C10"/>
                </a:solidFill>
              </a:defRPr>
            </a:pPr>
            <a:r>
              <a:rPr sz="1600"/>
              <a:t>start agent</a:t>
            </a:r>
          </a:p>
        </p:txBody>
      </p:sp>
      <p:cxnSp>
        <p:nvCxnSpPr>
          <p:cNvPr id="7" name="Connector 7">
            <a:extLst>
              <a:ext uri="{FF2B5EF4-FFF2-40B4-BE49-F238E27FC236}">
                <a16:creationId xmlns:a16="http://schemas.microsoft.com/office/drawing/2014/main" id="{2EC4E54B-4304-12A8-A077-49756475327A}"/>
              </a:ext>
            </a:extLst>
          </p:cNvPr>
          <p:cNvCxnSpPr>
            <a:cxnSpLocks/>
          </p:cNvCxnSpPr>
          <p:nvPr/>
        </p:nvCxnSpPr>
        <p:spPr>
          <a:xfrm flipV="1">
            <a:off x="3284621" y="2603183"/>
            <a:ext cx="3017520" cy="645160"/>
          </a:xfrm>
          <a:prstGeom prst="line">
            <a:avLst/>
          </a:prstGeom>
          <a:ln w="38100">
            <a:solidFill>
              <a:srgbClr val="E855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8">
            <a:extLst>
              <a:ext uri="{FF2B5EF4-FFF2-40B4-BE49-F238E27FC236}">
                <a16:creationId xmlns:a16="http://schemas.microsoft.com/office/drawing/2014/main" id="{10193BEB-A242-D801-A539-6AA789789D40}"/>
              </a:ext>
            </a:extLst>
          </p:cNvPr>
          <p:cNvCxnSpPr>
            <a:cxnSpLocks/>
          </p:cNvCxnSpPr>
          <p:nvPr/>
        </p:nvCxnSpPr>
        <p:spPr>
          <a:xfrm flipH="1">
            <a:off x="3284621" y="2730183"/>
            <a:ext cx="3017520" cy="645160"/>
          </a:xfrm>
          <a:prstGeom prst="line">
            <a:avLst/>
          </a:prstGeom>
          <a:ln w="19050">
            <a:solidFill>
              <a:srgbClr val="C0C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9">
            <a:extLst>
              <a:ext uri="{FF2B5EF4-FFF2-40B4-BE49-F238E27FC236}">
                <a16:creationId xmlns:a16="http://schemas.microsoft.com/office/drawing/2014/main" id="{8B1B5AAA-4090-0DB9-6E15-A016DCA2948A}"/>
              </a:ext>
            </a:extLst>
          </p:cNvPr>
          <p:cNvCxnSpPr>
            <a:cxnSpLocks/>
          </p:cNvCxnSpPr>
          <p:nvPr/>
        </p:nvCxnSpPr>
        <p:spPr>
          <a:xfrm>
            <a:off x="3284621" y="3426143"/>
            <a:ext cx="3017520" cy="645160"/>
          </a:xfrm>
          <a:prstGeom prst="line">
            <a:avLst/>
          </a:prstGeom>
          <a:ln w="38100">
            <a:solidFill>
              <a:srgbClr val="E855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10">
            <a:extLst>
              <a:ext uri="{FF2B5EF4-FFF2-40B4-BE49-F238E27FC236}">
                <a16:creationId xmlns:a16="http://schemas.microsoft.com/office/drawing/2014/main" id="{0CB8E857-0C15-5794-D968-D5DA956A5B80}"/>
              </a:ext>
            </a:extLst>
          </p:cNvPr>
          <p:cNvCxnSpPr>
            <a:cxnSpLocks/>
          </p:cNvCxnSpPr>
          <p:nvPr/>
        </p:nvCxnSpPr>
        <p:spPr>
          <a:xfrm flipH="1" flipV="1">
            <a:off x="3284621" y="3553143"/>
            <a:ext cx="3017520" cy="645160"/>
          </a:xfrm>
          <a:prstGeom prst="line">
            <a:avLst/>
          </a:prstGeom>
          <a:ln w="19050">
            <a:solidFill>
              <a:srgbClr val="C0C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1">
            <a:extLst>
              <a:ext uri="{FF2B5EF4-FFF2-40B4-BE49-F238E27FC236}">
                <a16:creationId xmlns:a16="http://schemas.microsoft.com/office/drawing/2014/main" id="{3B12FF56-3957-518C-10EA-D09E7FF06C73}"/>
              </a:ext>
            </a:extLst>
          </p:cNvPr>
          <p:cNvCxnSpPr>
            <a:cxnSpLocks/>
          </p:cNvCxnSpPr>
          <p:nvPr/>
        </p:nvCxnSpPr>
        <p:spPr>
          <a:xfrm>
            <a:off x="6911741" y="2834323"/>
            <a:ext cx="0" cy="1005840"/>
          </a:xfrm>
          <a:prstGeom prst="line">
            <a:avLst/>
          </a:prstGeom>
          <a:ln w="31750">
            <a:solidFill>
              <a:srgbClr val="E855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2">
            <a:extLst>
              <a:ext uri="{FF2B5EF4-FFF2-40B4-BE49-F238E27FC236}">
                <a16:creationId xmlns:a16="http://schemas.microsoft.com/office/drawing/2014/main" id="{BB2299A5-6C25-EB17-3A1A-C4DF5C5CABF8}"/>
              </a:ext>
            </a:extLst>
          </p:cNvPr>
          <p:cNvCxnSpPr>
            <a:cxnSpLocks/>
          </p:cNvCxnSpPr>
          <p:nvPr/>
        </p:nvCxnSpPr>
        <p:spPr>
          <a:xfrm flipV="1">
            <a:off x="7064141" y="2834323"/>
            <a:ext cx="0" cy="1005840"/>
          </a:xfrm>
          <a:prstGeom prst="line">
            <a:avLst/>
          </a:prstGeom>
          <a:ln w="19050">
            <a:solidFill>
              <a:srgbClr val="C0C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5F7D4A95-4FF2-FEB5-3614-31D6DC0A7DD1}"/>
              </a:ext>
            </a:extLst>
          </p:cNvPr>
          <p:cNvSpPr txBox="1"/>
          <p:nvPr/>
        </p:nvSpPr>
        <p:spPr>
          <a:xfrm rot="20922374">
            <a:off x="4449861" y="2531822"/>
            <a:ext cx="1371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 i="1">
                <a:solidFill>
                  <a:srgbClr val="E85500"/>
                </a:solidFill>
              </a:defRPr>
            </a:pPr>
            <a:r>
              <a:rPr sz="1600"/>
              <a:t>handoff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897FCB3-54F5-5862-F728-23220657BE1D}"/>
              </a:ext>
            </a:extLst>
          </p:cNvPr>
          <p:cNvSpPr txBox="1"/>
          <p:nvPr/>
        </p:nvSpPr>
        <p:spPr>
          <a:xfrm rot="696351">
            <a:off x="4531071" y="3519254"/>
            <a:ext cx="1371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 i="1">
                <a:solidFill>
                  <a:srgbClr val="E85500"/>
                </a:solidFill>
              </a:defRPr>
            </a:pPr>
            <a:r>
              <a:rPr sz="1600"/>
              <a:t>handoff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57ECCED-DD82-0EE6-0EA7-77166BCD7FE3}"/>
              </a:ext>
            </a:extLst>
          </p:cNvPr>
          <p:cNvSpPr txBox="1"/>
          <p:nvPr/>
        </p:nvSpPr>
        <p:spPr>
          <a:xfrm>
            <a:off x="5997341" y="3189189"/>
            <a:ext cx="1371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1">
                <a:solidFill>
                  <a:srgbClr val="E85500"/>
                </a:solidFill>
              </a:defRPr>
            </a:pPr>
            <a:r>
              <a:rPr sz="1600"/>
              <a:t>handoff</a:t>
            </a:r>
          </a:p>
        </p:txBody>
      </p: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23792B0C-DABD-DD1E-099B-8A949D0D88C4}"/>
              </a:ext>
            </a:extLst>
          </p:cNvPr>
          <p:cNvSpPr txBox="1">
            <a:spLocks/>
          </p:cNvSpPr>
          <p:nvPr/>
        </p:nvSpPr>
        <p:spPr>
          <a:xfrm>
            <a:off x="1510921" y="5453589"/>
            <a:ext cx="10154898" cy="107611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/>
              <a:t>No edges are defined up front – routing emerges from conversation state.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1910670-F51B-FCAD-7CA7-80263D5263C9}"/>
              </a:ext>
            </a:extLst>
          </p:cNvPr>
          <p:cNvSpPr txBox="1"/>
          <p:nvPr/>
        </p:nvSpPr>
        <p:spPr>
          <a:xfrm>
            <a:off x="8595357" y="1355517"/>
            <a:ext cx="3368041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/>
              <a:t>The start agent just kicks off the flow.</a:t>
            </a:r>
          </a:p>
          <a:p>
            <a:endParaRPr lang="en-US" sz="2400"/>
          </a:p>
          <a:p>
            <a:r>
              <a:rPr lang="en-US" sz="2400"/>
              <a:t>Any agent can hand off control to any other agent at runtime.</a:t>
            </a:r>
          </a:p>
          <a:p>
            <a:endParaRPr lang="en-US" sz="2400"/>
          </a:p>
          <a:p>
            <a:r>
              <a:rPr lang="en-US" sz="2400"/>
              <a:t>The receiving agent fully owns the conversation until it hands back.</a:t>
            </a:r>
          </a:p>
        </p:txBody>
      </p:sp>
    </p:spTree>
    <p:extLst>
      <p:ext uri="{BB962C8B-B14F-4D97-AF65-F5344CB8AC3E}">
        <p14:creationId xmlns:p14="http://schemas.microsoft.com/office/powerpoint/2010/main" val="335800508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A8E961-5209-11BE-02DA-20270D8DF7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80CCA5-9B48-8941-2947-B108D95AFC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Using the built-in HandoffBuilder workflow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C4D92F0-3AF3-18F4-8BA8-946A5C0C8D75}"/>
              </a:ext>
            </a:extLst>
          </p:cNvPr>
          <p:cNvSpPr txBox="1"/>
          <p:nvPr/>
        </p:nvSpPr>
        <p:spPr>
          <a:xfrm>
            <a:off x="1132793" y="227425"/>
            <a:ext cx="3168620" cy="461665"/>
          </a:xfrm>
          <a:prstGeom prst="rect">
            <a:avLst/>
          </a:prstGeom>
          <a:solidFill>
            <a:schemeClr val="accent3"/>
          </a:solidFill>
          <a:effectLst>
            <a:softEdge rad="31750"/>
          </a:effectLst>
        </p:spPr>
        <p:txBody>
          <a:bodyPr wrap="square">
            <a:spAutoFit/>
          </a:bodyPr>
          <a:lstStyle/>
          <a:p>
            <a:pPr algn="ctr"/>
            <a:r>
              <a:rPr lang="en-US" sz="2400" b="1">
                <a:solidFill>
                  <a:schemeClr val="bg1"/>
                </a:solidFill>
              </a:rPr>
              <a:t>agent-framework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E8CD9E1-54D7-A909-48C7-0F0DC5BB905E}"/>
              </a:ext>
            </a:extLst>
          </p:cNvPr>
          <p:cNvSpPr txBox="1"/>
          <p:nvPr/>
        </p:nvSpPr>
        <p:spPr>
          <a:xfrm>
            <a:off x="1126729" y="6476686"/>
            <a:ext cx="4602798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2000" err="1"/>
              <a:t>Full example: </a:t>
            </a:r>
            <a:r>
              <a:rPr lang="en-US" sz="2000" err="1">
                <a:hlinkClick r:id="rId2"/>
              </a:rPr>
              <a:t>workflow_handoffbuilder.py</a:t>
            </a:r>
            <a:endParaRPr lang="en-US" sz="2000" err="1"/>
          </a:p>
        </p:txBody>
      </p:sp>
      <p:sp>
        <p:nvSpPr>
          <p:cNvPr id="38" name="Content Placeholder 2">
            <a:extLst>
              <a:ext uri="{FF2B5EF4-FFF2-40B4-BE49-F238E27FC236}">
                <a16:creationId xmlns:a16="http://schemas.microsoft.com/office/drawing/2014/main" id="{75656989-8982-7292-C7D7-EE3162814A82}"/>
              </a:ext>
            </a:extLst>
          </p:cNvPr>
          <p:cNvSpPr txBox="1">
            <a:spLocks/>
          </p:cNvSpPr>
          <p:nvPr/>
        </p:nvSpPr>
        <p:spPr>
          <a:xfrm>
            <a:off x="7115675" y="1656695"/>
            <a:ext cx="4117005" cy="195277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200"/>
              <a:t>By default, all agents in a handoff orchestration can handoff to every other agent.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200"/>
              <a:t>In autonomous mode, they will never ask the user for input.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D6D4513-CD4E-A4C2-3AAA-E1FF907057CF}"/>
              </a:ext>
            </a:extLst>
          </p:cNvPr>
          <p:cNvSpPr txBox="1"/>
          <p:nvPr/>
        </p:nvSpPr>
        <p:spPr>
          <a:xfrm>
            <a:off x="1049416" y="3844024"/>
            <a:ext cx="10913982" cy="258532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buNone/>
            </a:pPr>
            <a:r>
              <a:rPr lang="en-US" sz="22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workflow</a:t>
            </a:r>
            <a:r>
              <a:rPr lang="en-US" sz="22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(</a:t>
            </a:r>
            <a:r>
              <a:rPr lang="en-US" sz="2200">
                <a:solidFill>
                  <a:srgbClr val="267F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HandoffBuilder</a:t>
            </a:r>
            <a:r>
              <a:rPr lang="en-US" sz="22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</a:p>
          <a:p>
            <a:pPr>
              <a:lnSpc>
                <a:spcPct val="90000"/>
              </a:lnSpc>
              <a:buNone/>
            </a:pPr>
            <a:r>
              <a:rPr lang="en-US" sz="22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name</a:t>
            </a:r>
            <a:r>
              <a:rPr lang="en-US" sz="22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US" sz="220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"content_pipeline"</a:t>
            </a:r>
            <a:r>
              <a:rPr lang="en-US" sz="22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</a:p>
          <a:p>
            <a:pPr>
              <a:lnSpc>
                <a:spcPct val="90000"/>
              </a:lnSpc>
              <a:buNone/>
            </a:pPr>
            <a:r>
              <a:rPr lang="en-US" sz="22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participants</a:t>
            </a:r>
            <a:r>
              <a:rPr lang="en-US" sz="22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=[</a:t>
            </a:r>
            <a:r>
              <a:rPr lang="en-US" sz="22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triage</a:t>
            </a:r>
            <a:r>
              <a:rPr lang="en-US" sz="22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22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researcher</a:t>
            </a:r>
            <a:r>
              <a:rPr lang="en-US" sz="22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22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writer</a:t>
            </a:r>
            <a:r>
              <a:rPr lang="en-US" sz="22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22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editor</a:t>
            </a:r>
            <a:r>
              <a:rPr lang="en-US" sz="22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],</a:t>
            </a:r>
          </a:p>
          <a:p>
            <a:pPr>
              <a:lnSpc>
                <a:spcPct val="90000"/>
              </a:lnSpc>
              <a:buNone/>
            </a:pPr>
            <a:r>
              <a:rPr lang="en-US" sz="22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termination_condition</a:t>
            </a:r>
            <a:r>
              <a:rPr lang="en-US" sz="22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US" sz="22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lambda</a:t>
            </a:r>
            <a:r>
              <a:rPr lang="en-US" sz="22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2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conversation</a:t>
            </a:r>
            <a:r>
              <a:rPr lang="en-US" sz="22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 (</a:t>
            </a:r>
            <a:r>
              <a:rPr lang="en-US" sz="2200">
                <a:solidFill>
                  <a:srgbClr val="795E2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len</a:t>
            </a:r>
            <a:r>
              <a:rPr lang="en-US" sz="22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22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conversation</a:t>
            </a:r>
            <a:r>
              <a:rPr lang="en-US" sz="22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 &gt; </a:t>
            </a:r>
            <a:r>
              <a:rPr lang="en-US" sz="220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endParaRPr lang="en-US" sz="220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ct val="90000"/>
              </a:lnSpc>
              <a:buNone/>
            </a:pPr>
            <a:r>
              <a:rPr lang="en-US" sz="22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and </a:t>
            </a:r>
            <a:r>
              <a:rPr lang="en-US" sz="22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conversation</a:t>
            </a:r>
            <a:r>
              <a:rPr lang="en-US" sz="22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[-</a:t>
            </a:r>
            <a:r>
              <a:rPr lang="en-US" sz="220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r>
              <a:rPr lang="en-US" sz="22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].</a:t>
            </a:r>
            <a:r>
              <a:rPr lang="en-US" sz="22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text</a:t>
            </a:r>
            <a:r>
              <a:rPr lang="en-US" sz="22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sz="2200">
                <a:solidFill>
                  <a:srgbClr val="795E2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strip</a:t>
            </a:r>
            <a:r>
              <a:rPr lang="en-US" sz="22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().</a:t>
            </a:r>
            <a:r>
              <a:rPr lang="en-US" sz="2200">
                <a:solidFill>
                  <a:srgbClr val="795E2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startswith</a:t>
            </a:r>
            <a:r>
              <a:rPr lang="en-US" sz="22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220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"FINAL:"</a:t>
            </a:r>
            <a:r>
              <a:rPr lang="en-US" sz="22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)))</a:t>
            </a:r>
          </a:p>
          <a:p>
            <a:pPr>
              <a:lnSpc>
                <a:spcPct val="90000"/>
              </a:lnSpc>
              <a:buNone/>
            </a:pPr>
            <a:r>
              <a:rPr lang="en-US" sz="22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.</a:t>
            </a:r>
            <a:r>
              <a:rPr lang="en-US" sz="2200">
                <a:solidFill>
                  <a:srgbClr val="795E2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with_start_agent</a:t>
            </a:r>
            <a:r>
              <a:rPr lang="en-US" sz="22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22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triage</a:t>
            </a:r>
            <a:r>
              <a:rPr lang="en-US" sz="22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>
              <a:lnSpc>
                <a:spcPct val="90000"/>
              </a:lnSpc>
              <a:buNone/>
            </a:pPr>
            <a:r>
              <a:rPr lang="en-US" sz="22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.</a:t>
            </a:r>
            <a:r>
              <a:rPr lang="en-US" sz="2200">
                <a:solidFill>
                  <a:srgbClr val="795E2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with_autonomous_mode</a:t>
            </a:r>
            <a:r>
              <a:rPr lang="en-US" sz="22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</a:p>
          <a:p>
            <a:pPr>
              <a:lnSpc>
                <a:spcPct val="90000"/>
              </a:lnSpc>
              <a:buNone/>
            </a:pPr>
            <a:r>
              <a:rPr lang="en-US" sz="22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.</a:t>
            </a:r>
            <a:r>
              <a:rPr lang="en-US" sz="2200">
                <a:solidFill>
                  <a:srgbClr val="795E2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build</a:t>
            </a:r>
            <a:r>
              <a:rPr lang="en-US" sz="22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FE387A5-E4C7-E282-61CE-1FA25AE54E8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6729" y="1426306"/>
            <a:ext cx="5622877" cy="238779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E7174E63-35CF-F7E7-CD9B-2D221921D4B5}"/>
              </a:ext>
            </a:extLst>
          </p:cNvPr>
          <p:cNvSpPr txBox="1"/>
          <p:nvPr/>
        </p:nvSpPr>
        <p:spPr>
          <a:xfrm>
            <a:off x="1277754" y="2014654"/>
            <a:ext cx="1371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 i="1">
                <a:solidFill>
                  <a:srgbClr val="107C10"/>
                </a:solidFill>
              </a:defRPr>
            </a:pPr>
            <a:r>
              <a:rPr sz="1600"/>
              <a:t>start agent</a:t>
            </a:r>
          </a:p>
        </p:txBody>
      </p:sp>
    </p:spTree>
    <p:extLst>
      <p:ext uri="{BB962C8B-B14F-4D97-AF65-F5344CB8AC3E}">
        <p14:creationId xmlns:p14="http://schemas.microsoft.com/office/powerpoint/2010/main" val="129110396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B0360F-7A0E-E20A-34F4-3B8C414E49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93D4BDFC-DBB4-3D61-6C17-5F7FE1074E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416" y="1544108"/>
            <a:ext cx="9289355" cy="189054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2402B53-3EA3-64BD-3C9F-921D1F5DF1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HandoffBuilder with handoff rules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0E54E57-775A-A43B-9E5D-C6A1465E512F}"/>
              </a:ext>
            </a:extLst>
          </p:cNvPr>
          <p:cNvSpPr txBox="1"/>
          <p:nvPr/>
        </p:nvSpPr>
        <p:spPr>
          <a:xfrm>
            <a:off x="1132793" y="227425"/>
            <a:ext cx="3168620" cy="461665"/>
          </a:xfrm>
          <a:prstGeom prst="rect">
            <a:avLst/>
          </a:prstGeom>
          <a:solidFill>
            <a:schemeClr val="accent3"/>
          </a:solidFill>
          <a:effectLst>
            <a:softEdge rad="31750"/>
          </a:effectLst>
        </p:spPr>
        <p:txBody>
          <a:bodyPr wrap="square">
            <a:spAutoFit/>
          </a:bodyPr>
          <a:lstStyle/>
          <a:p>
            <a:pPr algn="ctr"/>
            <a:r>
              <a:rPr lang="en-US" sz="2400" b="1">
                <a:solidFill>
                  <a:schemeClr val="bg1"/>
                </a:solidFill>
              </a:rPr>
              <a:t>agent-framework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BE06AF8-1EF8-0C68-AFAD-157928C5962A}"/>
              </a:ext>
            </a:extLst>
          </p:cNvPr>
          <p:cNvSpPr txBox="1"/>
          <p:nvPr/>
        </p:nvSpPr>
        <p:spPr>
          <a:xfrm>
            <a:off x="1126729" y="6476686"/>
            <a:ext cx="5294655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2000" err="1"/>
              <a:t>Full example: </a:t>
            </a:r>
            <a:r>
              <a:rPr lang="en-US" sz="2000" err="1">
                <a:hlinkClick r:id="rId3"/>
              </a:rPr>
              <a:t>workflow_handoffbuilder_rules.py</a:t>
            </a:r>
            <a:endParaRPr lang="en-US" sz="2000" err="1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13ADBA3-2A8A-B770-C36E-C44114A36C5D}"/>
              </a:ext>
            </a:extLst>
          </p:cNvPr>
          <p:cNvSpPr txBox="1"/>
          <p:nvPr/>
        </p:nvSpPr>
        <p:spPr>
          <a:xfrm>
            <a:off x="1049416" y="3537420"/>
            <a:ext cx="10760782" cy="286232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buNone/>
            </a:pP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workflow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(</a:t>
            </a:r>
            <a:r>
              <a:rPr lang="en-US" sz="2000">
                <a:solidFill>
                  <a:srgbClr val="267F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HandoffBuilder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</a:p>
          <a:p>
            <a:pPr>
              <a:lnSpc>
                <a:spcPct val="90000"/>
              </a:lnSpc>
              <a:buNone/>
            </a:pP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participants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=[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triage_agent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order_agent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return_agent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refund_agent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],</a:t>
            </a:r>
          </a:p>
          <a:p>
            <a:pPr>
              <a:lnSpc>
                <a:spcPct val="90000"/>
              </a:lnSpc>
              <a:buNone/>
            </a:pP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termination_condition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US" sz="20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lambda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conversation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 (</a:t>
            </a:r>
          </a:p>
          <a:p>
            <a:pPr>
              <a:lnSpc>
                <a:spcPct val="90000"/>
              </a:lnSpc>
              <a:buNone/>
            </a:pP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2000">
                <a:solidFill>
                  <a:srgbClr val="795E2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len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conversation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 &gt; </a:t>
            </a:r>
            <a:r>
              <a:rPr lang="en-US" sz="200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0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and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00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"goodbye"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0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conversation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[-</a:t>
            </a:r>
            <a:r>
              <a:rPr lang="en-US" sz="200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].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text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sz="2000">
                <a:solidFill>
                  <a:srgbClr val="795E2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lower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()))</a:t>
            </a:r>
          </a:p>
          <a:p>
            <a:pPr>
              <a:lnSpc>
                <a:spcPct val="90000"/>
              </a:lnSpc>
              <a:buNone/>
            </a:pP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.</a:t>
            </a:r>
            <a:r>
              <a:rPr lang="en-US" sz="2000">
                <a:solidFill>
                  <a:srgbClr val="795E2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with_start_agent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triage_agent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>
              <a:lnSpc>
                <a:spcPct val="90000"/>
              </a:lnSpc>
              <a:buNone/>
            </a:pP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.</a:t>
            </a:r>
            <a:r>
              <a:rPr lang="en-US" sz="2000">
                <a:solidFill>
                  <a:srgbClr val="795E2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add_handoff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triage_agent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[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order_agent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return_agent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])</a:t>
            </a:r>
          </a:p>
          <a:p>
            <a:pPr>
              <a:lnSpc>
                <a:spcPct val="90000"/>
              </a:lnSpc>
              <a:buNone/>
            </a:pP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.</a:t>
            </a:r>
            <a:r>
              <a:rPr lang="en-US" sz="2000">
                <a:solidFill>
                  <a:srgbClr val="795E2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add_handoff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return_agent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[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refund_agent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triage_agent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])</a:t>
            </a:r>
          </a:p>
          <a:p>
            <a:pPr>
              <a:lnSpc>
                <a:spcPct val="90000"/>
              </a:lnSpc>
              <a:buNone/>
            </a:pP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.</a:t>
            </a:r>
            <a:r>
              <a:rPr lang="en-US" sz="2000">
                <a:solidFill>
                  <a:srgbClr val="795E2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add_handoff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order_agent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[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triage_agent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])</a:t>
            </a:r>
          </a:p>
          <a:p>
            <a:pPr>
              <a:lnSpc>
                <a:spcPct val="90000"/>
              </a:lnSpc>
              <a:buNone/>
            </a:pP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.</a:t>
            </a:r>
            <a:r>
              <a:rPr lang="en-US" sz="2000">
                <a:solidFill>
                  <a:srgbClr val="795E2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add_handoff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refund_agent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[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triage_agent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])</a:t>
            </a:r>
          </a:p>
          <a:p>
            <a:pPr>
              <a:lnSpc>
                <a:spcPct val="90000"/>
              </a:lnSpc>
              <a:buNone/>
            </a:pP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.</a:t>
            </a:r>
            <a:r>
              <a:rPr lang="en-US" sz="2000">
                <a:solidFill>
                  <a:srgbClr val="795E2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with_autonomous_mode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().</a:t>
            </a:r>
            <a:r>
              <a:rPr lang="en-US" sz="2000">
                <a:solidFill>
                  <a:srgbClr val="795E2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build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9148F40-A83C-01FF-1B29-37FBEDBE5433}"/>
              </a:ext>
            </a:extLst>
          </p:cNvPr>
          <p:cNvSpPr txBox="1"/>
          <p:nvPr/>
        </p:nvSpPr>
        <p:spPr>
          <a:xfrm>
            <a:off x="1492718" y="1828728"/>
            <a:ext cx="1371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 i="1">
                <a:solidFill>
                  <a:srgbClr val="107C10"/>
                </a:solidFill>
              </a:defRPr>
            </a:pPr>
            <a:r>
              <a:rPr sz="1600"/>
              <a:t>start agent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BE52CE0-D146-8263-9F05-6A49762D2CC1}"/>
              </a:ext>
            </a:extLst>
          </p:cNvPr>
          <p:cNvCxnSpPr>
            <a:cxnSpLocks/>
          </p:cNvCxnSpPr>
          <p:nvPr/>
        </p:nvCxnSpPr>
        <p:spPr>
          <a:xfrm>
            <a:off x="7623208" y="2349100"/>
            <a:ext cx="115504" cy="141758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6259E7E-BEC0-562D-CE64-F55AD8168E6A}"/>
              </a:ext>
            </a:extLst>
          </p:cNvPr>
          <p:cNvCxnSpPr>
            <a:cxnSpLocks/>
          </p:cNvCxnSpPr>
          <p:nvPr/>
        </p:nvCxnSpPr>
        <p:spPr>
          <a:xfrm flipV="1">
            <a:off x="7631228" y="2482250"/>
            <a:ext cx="115504" cy="141758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9100731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24F006-AC35-C9DA-2D82-4F34FA2B67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34E69A-3F95-528E-A2A3-82FE88B7C9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  Handoff orchestration vs. Agent-as-tools</a:t>
            </a: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4D2E87D7-D027-331E-CC73-5545A358F1B8}"/>
              </a:ext>
            </a:extLst>
          </p:cNvPr>
          <p:cNvCxnSpPr>
            <a:cxnSpLocks/>
          </p:cNvCxnSpPr>
          <p:nvPr/>
        </p:nvCxnSpPr>
        <p:spPr>
          <a:xfrm flipH="1">
            <a:off x="7661077" y="2855312"/>
            <a:ext cx="1157273" cy="964153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ectangle 35">
            <a:extLst>
              <a:ext uri="{FF2B5EF4-FFF2-40B4-BE49-F238E27FC236}">
                <a16:creationId xmlns:a16="http://schemas.microsoft.com/office/drawing/2014/main" id="{5C5BE4D5-66C8-CD7F-4B71-646A763E9D62}"/>
              </a:ext>
            </a:extLst>
          </p:cNvPr>
          <p:cNvSpPr/>
          <p:nvPr/>
        </p:nvSpPr>
        <p:spPr bwMode="auto">
          <a:xfrm>
            <a:off x="7688651" y="2184935"/>
            <a:ext cx="2634933" cy="667749"/>
          </a:xfrm>
          <a:prstGeom prst="rect">
            <a:avLst/>
          </a:prstGeom>
          <a:solidFill>
            <a:schemeClr val="accent4"/>
          </a:solidFill>
          <a:ln>
            <a:noFill/>
            <a:headEnd type="none" w="med" len="med"/>
            <a:tailEnd type="none" w="med" len="med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r>
              <a:rPr lang="en-US" sz="2200" b="1" err="1">
                <a:solidFill>
                  <a:schemeClr val="bg1"/>
                </a:solidFill>
                <a:ea typeface="Segoe UI" pitchFamily="34" charset="0"/>
                <a:cs typeface="Segoe UI" pitchFamily="34" charset="0"/>
              </a:rPr>
              <a:t>Supervisor Agent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A7F111DB-CCF4-6AE6-80BC-336750B4052D}"/>
              </a:ext>
            </a:extLst>
          </p:cNvPr>
          <p:cNvCxnSpPr>
            <a:cxnSpLocks/>
            <a:stCxn id="36" idx="2"/>
            <a:endCxn id="41" idx="0"/>
          </p:cNvCxnSpPr>
          <p:nvPr/>
        </p:nvCxnSpPr>
        <p:spPr>
          <a:xfrm flipH="1">
            <a:off x="7860333" y="2852684"/>
            <a:ext cx="1145785" cy="994738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A26D1610-BBFC-F24B-E1B7-E1BDEE3947CF}"/>
              </a:ext>
            </a:extLst>
          </p:cNvPr>
          <p:cNvCxnSpPr>
            <a:cxnSpLocks/>
          </p:cNvCxnSpPr>
          <p:nvPr/>
        </p:nvCxnSpPr>
        <p:spPr>
          <a:xfrm>
            <a:off x="9163719" y="2874080"/>
            <a:ext cx="988027" cy="102927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453FE7C7-581D-485F-9982-440667915C17}"/>
              </a:ext>
            </a:extLst>
          </p:cNvPr>
          <p:cNvCxnSpPr>
            <a:cxnSpLocks/>
          </p:cNvCxnSpPr>
          <p:nvPr/>
        </p:nvCxnSpPr>
        <p:spPr>
          <a:xfrm>
            <a:off x="9397542" y="2852684"/>
            <a:ext cx="998804" cy="1026762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Rectangle 40">
            <a:extLst>
              <a:ext uri="{FF2B5EF4-FFF2-40B4-BE49-F238E27FC236}">
                <a16:creationId xmlns:a16="http://schemas.microsoft.com/office/drawing/2014/main" id="{63CFFFEB-D40F-34F6-F790-DEDD6E04F43E}"/>
              </a:ext>
            </a:extLst>
          </p:cNvPr>
          <p:cNvSpPr/>
          <p:nvPr/>
        </p:nvSpPr>
        <p:spPr bwMode="auto">
          <a:xfrm>
            <a:off x="7150584" y="3847422"/>
            <a:ext cx="1419497" cy="656177"/>
          </a:xfrm>
          <a:prstGeom prst="rect">
            <a:avLst/>
          </a:prstGeom>
          <a:solidFill>
            <a:schemeClr val="accent2"/>
          </a:solidFill>
          <a:ln>
            <a:noFill/>
            <a:headEnd type="none" w="med" len="med"/>
            <a:tailEnd type="none" w="med" len="med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r>
              <a:rPr lang="en-US" sz="2000" b="1" err="1">
                <a:solidFill>
                  <a:schemeClr val="bg1"/>
                </a:solidFill>
                <a:ea typeface="Segoe UI" pitchFamily="34" charset="0"/>
                <a:cs typeface="Segoe UI" pitchFamily="34" charset="0"/>
              </a:rPr>
              <a:t>Agent A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FDFC5713-9622-FFDE-F6F5-CCA6D5C21BD0}"/>
              </a:ext>
            </a:extLst>
          </p:cNvPr>
          <p:cNvSpPr/>
          <p:nvPr/>
        </p:nvSpPr>
        <p:spPr bwMode="auto">
          <a:xfrm>
            <a:off x="9613835" y="3871376"/>
            <a:ext cx="1419497" cy="632223"/>
          </a:xfrm>
          <a:prstGeom prst="rect">
            <a:avLst/>
          </a:prstGeom>
          <a:solidFill>
            <a:schemeClr val="accent2"/>
          </a:solidFill>
          <a:ln>
            <a:noFill/>
            <a:headEnd type="none" w="med" len="med"/>
            <a:tailEnd type="none" w="med" len="med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r>
              <a:rPr lang="en-US" sz="2000" b="1" err="1">
                <a:solidFill>
                  <a:schemeClr val="bg1"/>
                </a:solidFill>
                <a:ea typeface="Segoe UI" pitchFamily="34" charset="0"/>
                <a:cs typeface="Segoe UI" pitchFamily="34" charset="0"/>
              </a:rPr>
              <a:t>Agent B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30B6A3A3-A130-0B91-4BB5-1ABEC2906FBB}"/>
              </a:ext>
            </a:extLst>
          </p:cNvPr>
          <p:cNvCxnSpPr>
            <a:cxnSpLocks/>
          </p:cNvCxnSpPr>
          <p:nvPr/>
        </p:nvCxnSpPr>
        <p:spPr>
          <a:xfrm flipH="1">
            <a:off x="3103039" y="2855076"/>
            <a:ext cx="1157273" cy="964153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Rectangle 46">
            <a:extLst>
              <a:ext uri="{FF2B5EF4-FFF2-40B4-BE49-F238E27FC236}">
                <a16:creationId xmlns:a16="http://schemas.microsoft.com/office/drawing/2014/main" id="{25301265-45F0-C9AA-07E3-7A44D36CFE1C}"/>
              </a:ext>
            </a:extLst>
          </p:cNvPr>
          <p:cNvSpPr/>
          <p:nvPr/>
        </p:nvSpPr>
        <p:spPr bwMode="auto">
          <a:xfrm>
            <a:off x="3130613" y="2184935"/>
            <a:ext cx="2634933" cy="667513"/>
          </a:xfrm>
          <a:prstGeom prst="rect">
            <a:avLst/>
          </a:prstGeom>
          <a:solidFill>
            <a:srgbClr val="00B050"/>
          </a:solidFill>
          <a:ln>
            <a:noFill/>
            <a:headEnd type="none" w="med" len="med"/>
            <a:tailEnd type="none" w="med" len="med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r>
              <a:rPr lang="en-US" sz="2200" b="1" err="1">
                <a:solidFill>
                  <a:schemeClr val="bg1"/>
                </a:solidFill>
                <a:ea typeface="Segoe UI" pitchFamily="34" charset="0"/>
                <a:cs typeface="Segoe UI" pitchFamily="34" charset="0"/>
              </a:rPr>
              <a:t>Start agent</a:t>
            </a: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1D96CD10-E540-BCB2-6856-0D6A05F41A29}"/>
              </a:ext>
            </a:extLst>
          </p:cNvPr>
          <p:cNvCxnSpPr>
            <a:cxnSpLocks/>
            <a:stCxn id="47" idx="2"/>
            <a:endCxn id="51" idx="0"/>
          </p:cNvCxnSpPr>
          <p:nvPr/>
        </p:nvCxnSpPr>
        <p:spPr>
          <a:xfrm flipH="1">
            <a:off x="3302295" y="2852448"/>
            <a:ext cx="1145785" cy="994738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7A5DB7C5-F967-C31B-2478-BA8D899175A0}"/>
              </a:ext>
            </a:extLst>
          </p:cNvPr>
          <p:cNvCxnSpPr>
            <a:cxnSpLocks/>
          </p:cNvCxnSpPr>
          <p:nvPr/>
        </p:nvCxnSpPr>
        <p:spPr>
          <a:xfrm>
            <a:off x="4605681" y="2873844"/>
            <a:ext cx="988027" cy="102927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477FB643-DC25-A89B-F761-0A08B15677A3}"/>
              </a:ext>
            </a:extLst>
          </p:cNvPr>
          <p:cNvCxnSpPr>
            <a:cxnSpLocks/>
          </p:cNvCxnSpPr>
          <p:nvPr/>
        </p:nvCxnSpPr>
        <p:spPr>
          <a:xfrm>
            <a:off x="4802875" y="2854464"/>
            <a:ext cx="1035433" cy="1024746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Rectangle 50">
            <a:extLst>
              <a:ext uri="{FF2B5EF4-FFF2-40B4-BE49-F238E27FC236}">
                <a16:creationId xmlns:a16="http://schemas.microsoft.com/office/drawing/2014/main" id="{9D40B50F-BBAA-6965-766B-DDECE2D44B18}"/>
              </a:ext>
            </a:extLst>
          </p:cNvPr>
          <p:cNvSpPr/>
          <p:nvPr/>
        </p:nvSpPr>
        <p:spPr bwMode="auto">
          <a:xfrm>
            <a:off x="2592546" y="3847186"/>
            <a:ext cx="1419497" cy="656413"/>
          </a:xfrm>
          <a:prstGeom prst="rect">
            <a:avLst/>
          </a:prstGeom>
          <a:solidFill>
            <a:schemeClr val="accent2"/>
          </a:solidFill>
          <a:ln>
            <a:noFill/>
            <a:headEnd type="none" w="med" len="med"/>
            <a:tailEnd type="none" w="med" len="med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r>
              <a:rPr lang="en-US" sz="2000" b="1" err="1">
                <a:solidFill>
                  <a:schemeClr val="bg1"/>
                </a:solidFill>
                <a:ea typeface="Segoe UI" pitchFamily="34" charset="0"/>
                <a:cs typeface="Segoe UI" pitchFamily="34" charset="0"/>
              </a:rPr>
              <a:t>Agent A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C8769B72-1266-288A-20D8-E0F95FCFB406}"/>
              </a:ext>
            </a:extLst>
          </p:cNvPr>
          <p:cNvSpPr/>
          <p:nvPr/>
        </p:nvSpPr>
        <p:spPr bwMode="auto">
          <a:xfrm>
            <a:off x="5055797" y="3871140"/>
            <a:ext cx="1419497" cy="639013"/>
          </a:xfrm>
          <a:prstGeom prst="rect">
            <a:avLst/>
          </a:prstGeom>
          <a:solidFill>
            <a:schemeClr val="accent2"/>
          </a:solidFill>
          <a:ln>
            <a:noFill/>
            <a:headEnd type="none" w="med" len="med"/>
            <a:tailEnd type="none" w="med" len="med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r>
              <a:rPr lang="en-US" sz="2000" b="1" err="1">
                <a:solidFill>
                  <a:schemeClr val="bg1"/>
                </a:solidFill>
                <a:ea typeface="Segoe UI" pitchFamily="34" charset="0"/>
                <a:cs typeface="Segoe UI" pitchFamily="34" charset="0"/>
              </a:rPr>
              <a:t>Agent B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C81CDC01-157F-7347-CA6F-0261E209A341}"/>
              </a:ext>
            </a:extLst>
          </p:cNvPr>
          <p:cNvSpPr txBox="1"/>
          <p:nvPr/>
        </p:nvSpPr>
        <p:spPr>
          <a:xfrm rot="19174453">
            <a:off x="2828872" y="3135997"/>
            <a:ext cx="1371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 i="1">
                <a:solidFill>
                  <a:srgbClr val="E85500"/>
                </a:solidFill>
              </a:defRPr>
            </a:pPr>
            <a:r>
              <a:rPr sz="1600"/>
              <a:t>handoff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3DBDEA23-4983-AF33-F8FB-4E43D8DB9481}"/>
              </a:ext>
            </a:extLst>
          </p:cNvPr>
          <p:cNvSpPr txBox="1"/>
          <p:nvPr/>
        </p:nvSpPr>
        <p:spPr>
          <a:xfrm rot="19174453">
            <a:off x="3291319" y="3286366"/>
            <a:ext cx="1371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 i="1">
                <a:solidFill>
                  <a:srgbClr val="E85500"/>
                </a:solidFill>
              </a:defRPr>
            </a:pPr>
            <a:r>
              <a:rPr lang="en-US" sz="1600"/>
              <a:t>handoff</a:t>
            </a:r>
            <a:endParaRPr sz="1600"/>
          </a:p>
        </p:txBody>
      </p: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032523D2-DED9-7629-5A11-CF2BD1E5C9FE}"/>
              </a:ext>
            </a:extLst>
          </p:cNvPr>
          <p:cNvCxnSpPr>
            <a:cxnSpLocks/>
          </p:cNvCxnSpPr>
          <p:nvPr/>
        </p:nvCxnSpPr>
        <p:spPr>
          <a:xfrm flipV="1">
            <a:off x="4036747" y="4139871"/>
            <a:ext cx="994345" cy="807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572932B6-3E0C-ED53-9AF7-DF93C0B1AA62}"/>
              </a:ext>
            </a:extLst>
          </p:cNvPr>
          <p:cNvCxnSpPr>
            <a:cxnSpLocks/>
          </p:cNvCxnSpPr>
          <p:nvPr/>
        </p:nvCxnSpPr>
        <p:spPr>
          <a:xfrm>
            <a:off x="4021668" y="4302377"/>
            <a:ext cx="1007658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260AD4D5-416D-CE2B-7BC7-E301E9C5CF42}"/>
              </a:ext>
            </a:extLst>
          </p:cNvPr>
          <p:cNvSpPr txBox="1"/>
          <p:nvPr/>
        </p:nvSpPr>
        <p:spPr>
          <a:xfrm rot="2676893">
            <a:off x="4775222" y="3104070"/>
            <a:ext cx="1371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 i="1">
                <a:solidFill>
                  <a:srgbClr val="E85500"/>
                </a:solidFill>
              </a:defRPr>
            </a:pPr>
            <a:r>
              <a:rPr sz="1600"/>
              <a:t>handoff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BFAAB9F1-0B9E-4F10-D3B7-48D1C2A0C3CA}"/>
              </a:ext>
            </a:extLst>
          </p:cNvPr>
          <p:cNvSpPr txBox="1"/>
          <p:nvPr/>
        </p:nvSpPr>
        <p:spPr>
          <a:xfrm rot="2676893">
            <a:off x="4280530" y="3273134"/>
            <a:ext cx="1371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 i="1">
                <a:solidFill>
                  <a:srgbClr val="E85500"/>
                </a:solidFill>
              </a:defRPr>
            </a:pPr>
            <a:r>
              <a:rPr lang="en-US" sz="1600"/>
              <a:t>handoff</a:t>
            </a:r>
            <a:endParaRPr sz="1600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797831E7-9FF3-26BD-049E-89FC171DF4CD}"/>
              </a:ext>
            </a:extLst>
          </p:cNvPr>
          <p:cNvSpPr txBox="1"/>
          <p:nvPr/>
        </p:nvSpPr>
        <p:spPr>
          <a:xfrm>
            <a:off x="3864565" y="3841474"/>
            <a:ext cx="1371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 i="1">
                <a:solidFill>
                  <a:srgbClr val="E85500"/>
                </a:solidFill>
              </a:defRPr>
            </a:pPr>
            <a:r>
              <a:rPr sz="1600"/>
              <a:t>handoff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D96265D4-F732-0C36-02AD-8080DC6EAF59}"/>
              </a:ext>
            </a:extLst>
          </p:cNvPr>
          <p:cNvSpPr txBox="1"/>
          <p:nvPr/>
        </p:nvSpPr>
        <p:spPr>
          <a:xfrm>
            <a:off x="3824775" y="4283046"/>
            <a:ext cx="1371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 i="1">
                <a:solidFill>
                  <a:srgbClr val="E85500"/>
                </a:solidFill>
              </a:defRPr>
            </a:pPr>
            <a:r>
              <a:rPr sz="1600"/>
              <a:t>handoff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B1BEB01C-B50B-552F-0E08-EB6586ED0D18}"/>
              </a:ext>
            </a:extLst>
          </p:cNvPr>
          <p:cNvSpPr txBox="1"/>
          <p:nvPr/>
        </p:nvSpPr>
        <p:spPr>
          <a:xfrm rot="19114658">
            <a:off x="7443920" y="3063444"/>
            <a:ext cx="1371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 i="1">
                <a:solidFill>
                  <a:srgbClr val="E85500"/>
                </a:solidFill>
              </a:defRPr>
            </a:pPr>
            <a:r>
              <a:rPr lang="en-US" sz="1600">
                <a:solidFill>
                  <a:srgbClr val="0070C0"/>
                </a:solidFill>
              </a:rPr>
              <a:t>tool call</a:t>
            </a:r>
            <a:endParaRPr sz="1600">
              <a:solidFill>
                <a:srgbClr val="0070C0"/>
              </a:solidFill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A1E9F968-EFAD-6A73-B936-F5B97D704A51}"/>
              </a:ext>
            </a:extLst>
          </p:cNvPr>
          <p:cNvSpPr txBox="1"/>
          <p:nvPr/>
        </p:nvSpPr>
        <p:spPr>
          <a:xfrm rot="19114658">
            <a:off x="7865031" y="3274303"/>
            <a:ext cx="1371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 i="1">
                <a:solidFill>
                  <a:srgbClr val="E85500"/>
                </a:solidFill>
              </a:defRPr>
            </a:pPr>
            <a:r>
              <a:rPr lang="en-US" sz="1600">
                <a:solidFill>
                  <a:srgbClr val="0070C0"/>
                </a:solidFill>
              </a:rPr>
              <a:t>tool result</a:t>
            </a:r>
            <a:endParaRPr sz="1600">
              <a:solidFill>
                <a:srgbClr val="0070C0"/>
              </a:solidFill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9A4189F0-502A-92F6-6A37-C05A43AEAE8B}"/>
              </a:ext>
            </a:extLst>
          </p:cNvPr>
          <p:cNvSpPr txBox="1"/>
          <p:nvPr/>
        </p:nvSpPr>
        <p:spPr>
          <a:xfrm rot="2640982">
            <a:off x="9355114" y="3168111"/>
            <a:ext cx="1371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 i="1">
                <a:solidFill>
                  <a:srgbClr val="E85500"/>
                </a:solidFill>
              </a:defRPr>
            </a:pPr>
            <a:r>
              <a:rPr lang="en-US" sz="1600">
                <a:solidFill>
                  <a:srgbClr val="0070C0"/>
                </a:solidFill>
              </a:rPr>
              <a:t>tool call</a:t>
            </a:r>
            <a:endParaRPr sz="1600">
              <a:solidFill>
                <a:srgbClr val="0070C0"/>
              </a:solidFill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3927D610-56B9-B3D6-388C-AA9E1C778235}"/>
              </a:ext>
            </a:extLst>
          </p:cNvPr>
          <p:cNvSpPr txBox="1"/>
          <p:nvPr/>
        </p:nvSpPr>
        <p:spPr>
          <a:xfrm rot="2779437">
            <a:off x="8882488" y="3286946"/>
            <a:ext cx="1371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 i="1">
                <a:solidFill>
                  <a:srgbClr val="E85500"/>
                </a:solidFill>
              </a:defRPr>
            </a:pPr>
            <a:r>
              <a:rPr lang="en-US" sz="1600">
                <a:solidFill>
                  <a:srgbClr val="0070C0"/>
                </a:solidFill>
              </a:rPr>
              <a:t>tool result</a:t>
            </a:r>
            <a:endParaRPr sz="1600">
              <a:solidFill>
                <a:srgbClr val="0070C0"/>
              </a:solidFill>
            </a:endParaRPr>
          </a:p>
        </p:txBody>
      </p:sp>
      <p:graphicFrame>
        <p:nvGraphicFramePr>
          <p:cNvPr id="73" name="Table 72">
            <a:extLst>
              <a:ext uri="{FF2B5EF4-FFF2-40B4-BE49-F238E27FC236}">
                <a16:creationId xmlns:a16="http://schemas.microsoft.com/office/drawing/2014/main" id="{91F607BC-6D17-B9FE-B2E6-549E555D85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502263"/>
              </p:ext>
            </p:extLst>
          </p:nvPr>
        </p:nvGraphicFramePr>
        <p:xfrm>
          <a:off x="978995" y="4814671"/>
          <a:ext cx="10600198" cy="1920240"/>
        </p:xfrm>
        <a:graphic>
          <a:graphicData uri="http://schemas.openxmlformats.org/drawingml/2006/table">
            <a:tbl>
              <a:tblPr bandRow="1">
                <a:tableStyleId>{93296810-A885-4BE3-A3E7-6D5BEEA58F35}</a:tableStyleId>
              </a:tblPr>
              <a:tblGrid>
                <a:gridCol w="1545210">
                  <a:extLst>
                    <a:ext uri="{9D8B030D-6E8A-4147-A177-3AD203B41FA5}">
                      <a16:colId xmlns:a16="http://schemas.microsoft.com/office/drawing/2014/main" val="973572080"/>
                    </a:ext>
                  </a:extLst>
                </a:gridCol>
                <a:gridCol w="4174978">
                  <a:extLst>
                    <a:ext uri="{9D8B030D-6E8A-4147-A177-3AD203B41FA5}">
                      <a16:colId xmlns:a16="http://schemas.microsoft.com/office/drawing/2014/main" val="276136492"/>
                    </a:ext>
                  </a:extLst>
                </a:gridCol>
                <a:gridCol w="4880010">
                  <a:extLst>
                    <a:ext uri="{9D8B030D-6E8A-4147-A177-3AD203B41FA5}">
                      <a16:colId xmlns:a16="http://schemas.microsoft.com/office/drawing/2014/main" val="3985715827"/>
                    </a:ext>
                  </a:extLst>
                </a:gridCol>
              </a:tblGrid>
              <a:tr h="484799">
                <a:tc>
                  <a:txBody>
                    <a:bodyPr/>
                    <a:lstStyle/>
                    <a:p>
                      <a:pPr algn="r"/>
                      <a:r>
                        <a:rPr lang="en-US" b="1"/>
                        <a:t>Control</a:t>
                      </a:r>
                    </a:p>
                    <a:p>
                      <a:pPr algn="r"/>
                      <a:r>
                        <a:rPr lang="en-US" b="1"/>
                        <a:t>Flow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Active agent transfers control to another agent (peer-to-peer).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Supervisor calls sub-agent tools, </a:t>
                      </a:r>
                      <a:br>
                        <a:rPr lang="en-US" sz="18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8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control returns to supervisor.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1602588"/>
                  </a:ext>
                </a:extLst>
              </a:tr>
              <a:tr h="484799">
                <a:tc>
                  <a:txBody>
                    <a:bodyPr/>
                    <a:lstStyle/>
                    <a:p>
                      <a:pPr algn="r"/>
                      <a:r>
                        <a:rPr lang="en-US" b="1"/>
                        <a:t>Task</a:t>
                      </a:r>
                    </a:p>
                    <a:p>
                      <a:pPr algn="r"/>
                      <a:r>
                        <a:rPr lang="en-US" b="1"/>
                        <a:t>Ownership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Ownership moves to receiving agent.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Supervisor retains ownership end-to-end.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3808745"/>
                  </a:ext>
                </a:extLst>
              </a:tr>
              <a:tr h="484799">
                <a:tc>
                  <a:txBody>
                    <a:bodyPr/>
                    <a:lstStyle/>
                    <a:p>
                      <a:pPr algn="r"/>
                      <a:r>
                        <a:rPr lang="en-US" b="1"/>
                        <a:t>Context</a:t>
                      </a:r>
                    </a:p>
                    <a:p>
                      <a:pPr algn="r"/>
                      <a:r>
                        <a:rPr lang="en-US" b="1"/>
                        <a:t>Management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Conversation context is handed over.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Supervisor selects what context each tool gets.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9548056"/>
                  </a:ext>
                </a:extLst>
              </a:tr>
            </a:tbl>
          </a:graphicData>
        </a:graphic>
      </p:graphicFrame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54CD91C5-DA48-BCB0-6B2B-4F7A176F4DAA}"/>
              </a:ext>
            </a:extLst>
          </p:cNvPr>
          <p:cNvCxnSpPr>
            <a:cxnSpLocks/>
          </p:cNvCxnSpPr>
          <p:nvPr/>
        </p:nvCxnSpPr>
        <p:spPr>
          <a:xfrm>
            <a:off x="6691587" y="1612402"/>
            <a:ext cx="0" cy="5122509"/>
          </a:xfrm>
          <a:prstGeom prst="line">
            <a:avLst/>
          </a:prstGeom>
          <a:ln w="38100" cap="rnd">
            <a:solidFill>
              <a:schemeClr val="bg1">
                <a:lumMod val="6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8" name="TextBox 77">
            <a:extLst>
              <a:ext uri="{FF2B5EF4-FFF2-40B4-BE49-F238E27FC236}">
                <a16:creationId xmlns:a16="http://schemas.microsoft.com/office/drawing/2014/main" id="{DE7875AE-C707-FF4B-B702-959E69326822}"/>
              </a:ext>
            </a:extLst>
          </p:cNvPr>
          <p:cNvSpPr txBox="1"/>
          <p:nvPr/>
        </p:nvSpPr>
        <p:spPr>
          <a:xfrm>
            <a:off x="3006370" y="1664006"/>
            <a:ext cx="2947236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200" i="0">
                <a:effectLst/>
                <a:latin typeface="Aptos" panose="020B0004020202020204" pitchFamily="34" charset="0"/>
                <a:cs typeface="Consolas" panose="020B0609020204030204" pitchFamily="49" charset="0"/>
              </a:rPr>
              <a:t>Delegated ownership</a:t>
            </a:r>
            <a:endParaRPr lang="en-US" sz="2200">
              <a:latin typeface="Aptos" panose="020B0004020202020204" pitchFamily="34" charset="0"/>
              <a:cs typeface="Consolas" panose="020B0609020204030204" pitchFamily="49" charset="0"/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F765915F-C0D2-394B-0C56-6D1546615626}"/>
              </a:ext>
            </a:extLst>
          </p:cNvPr>
          <p:cNvSpPr txBox="1"/>
          <p:nvPr/>
        </p:nvSpPr>
        <p:spPr>
          <a:xfrm>
            <a:off x="7309625" y="1664006"/>
            <a:ext cx="3413326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200" i="0">
                <a:effectLst/>
                <a:latin typeface="Aptos" panose="020B0004020202020204" pitchFamily="34" charset="0"/>
                <a:cs typeface="Consolas" panose="020B0609020204030204" pitchFamily="49" charset="0"/>
              </a:rPr>
              <a:t>Centralized ownership</a:t>
            </a:r>
            <a:endParaRPr lang="en-US" sz="2200">
              <a:latin typeface="Aptos" panose="020B0004020202020204" pitchFamily="34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679000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3F77CD-1C08-8155-2465-E6AAB04F81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704709-6F55-7AA5-E4CF-4F62871CC7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End-to-end application</a:t>
            </a:r>
          </a:p>
        </p:txBody>
      </p:sp>
    </p:spTree>
    <p:extLst>
      <p:ext uri="{BB962C8B-B14F-4D97-AF65-F5344CB8AC3E}">
        <p14:creationId xmlns:p14="http://schemas.microsoft.com/office/powerpoint/2010/main" val="321990543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C8D27D-7BFB-8FF5-712F-5C6DAEF8AC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B77FBD-26C1-CA3B-7B1F-9F27041EC4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Agentic AI investment analysis </a:t>
            </a:r>
            <a:endParaRPr lang="en-US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6F3D083B-155B-674E-C389-EEA6762EE4D1}"/>
              </a:ext>
            </a:extLst>
          </p:cNvPr>
          <p:cNvSpPr txBox="1"/>
          <p:nvPr/>
        </p:nvSpPr>
        <p:spPr>
          <a:xfrm>
            <a:off x="9097780" y="1519996"/>
            <a:ext cx="3413326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i="0">
                <a:effectLst/>
                <a:latin typeface="Aptos" panose="020B0004020202020204" pitchFamily="34" charset="0"/>
                <a:cs typeface="Consolas" panose="020B0609020204030204" pitchFamily="49" charset="0"/>
              </a:rPr>
              <a:t>Agent Framework*</a:t>
            </a:r>
          </a:p>
          <a:p>
            <a:r>
              <a:rPr lang="en-US" sz="2200" i="0">
                <a:effectLst/>
                <a:latin typeface="Aptos" panose="020B0004020202020204" pitchFamily="34" charset="0"/>
                <a:cs typeface="Consolas" panose="020B0609020204030204" pitchFamily="49" charset="0"/>
              </a:rPr>
              <a:t>FastAPI</a:t>
            </a:r>
            <a:br>
              <a:rPr lang="en-US" sz="2200" i="0">
                <a:effectLst/>
                <a:latin typeface="Aptos" panose="020B0004020202020204" pitchFamily="34" charset="0"/>
                <a:cs typeface="Consolas" panose="020B0609020204030204" pitchFamily="49" charset="0"/>
              </a:rPr>
            </a:br>
            <a:r>
              <a:rPr lang="en-US" sz="2200" i="0">
                <a:effectLst/>
                <a:latin typeface="Aptos" panose="020B0004020202020204" pitchFamily="34" charset="0"/>
                <a:cs typeface="Consolas" panose="020B0609020204030204" pitchFamily="49" charset="0"/>
              </a:rPr>
              <a:t>Azure OpenAI</a:t>
            </a:r>
          </a:p>
          <a:p>
            <a:r>
              <a:rPr lang="en-US" sz="2200" i="0">
                <a:effectLst/>
                <a:latin typeface="Aptos" panose="020B0004020202020204" pitchFamily="34" charset="0"/>
                <a:cs typeface="Consolas" panose="020B0609020204030204" pitchFamily="49" charset="0"/>
              </a:rPr>
              <a:t>Azure Cosmos DB</a:t>
            </a:r>
          </a:p>
          <a:p>
            <a:r>
              <a:rPr lang="en-US" sz="2200">
                <a:latin typeface="Aptos" panose="020B0004020202020204" pitchFamily="34" charset="0"/>
                <a:cs typeface="Consolas" panose="020B0609020204030204" pitchFamily="49" charset="0"/>
              </a:rPr>
              <a:t>Azure Blob Storage</a:t>
            </a:r>
          </a:p>
          <a:p>
            <a:endParaRPr lang="en-US" sz="2200" i="0">
              <a:effectLst/>
              <a:latin typeface="Aptos" panose="020B0004020202020204" pitchFamily="34" charset="0"/>
              <a:cs typeface="Consolas" panose="020B0609020204030204" pitchFamily="49" charset="0"/>
            </a:endParaRPr>
          </a:p>
          <a:p>
            <a:endParaRPr lang="en-US" sz="2200" i="0">
              <a:effectLst/>
              <a:latin typeface="Aptos" panose="020B0004020202020204" pitchFamily="34" charset="0"/>
              <a:cs typeface="Consolas" panose="020B0609020204030204" pitchFamily="49" charset="0"/>
            </a:endParaRPr>
          </a:p>
        </p:txBody>
      </p:sp>
      <p:pic>
        <p:nvPicPr>
          <p:cNvPr id="3" name="Picture 2" descr="InvestAI - Agentic AI Sample">
            <a:extLst>
              <a:ext uri="{FF2B5EF4-FFF2-40B4-BE49-F238E27FC236}">
                <a16:creationId xmlns:a16="http://schemas.microsoft.com/office/drawing/2014/main" id="{05D50A41-7557-FF42-39C2-7686F8D936F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33848" b="41611"/>
          <a:stretch>
            <a:fillRect/>
          </a:stretch>
        </p:blipFill>
        <p:spPr>
          <a:xfrm>
            <a:off x="1154191" y="1663956"/>
            <a:ext cx="7838814" cy="436645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785AE2D-403A-1DDA-0BE7-89CC2CFB9DD4}"/>
              </a:ext>
            </a:extLst>
          </p:cNvPr>
          <p:cNvSpPr txBox="1"/>
          <p:nvPr/>
        </p:nvSpPr>
        <p:spPr>
          <a:xfrm>
            <a:off x="1154191" y="6138876"/>
            <a:ext cx="77135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>
                <a:hlinkClick r:id="rId4"/>
              </a:rPr>
              <a:t>https://github.com/Azure-Samples/Agentic-AI-Investment-Analysis-Sample</a:t>
            </a:r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2CED95D-5CF8-C7CA-09BA-7DD075DDA7BC}"/>
              </a:ext>
            </a:extLst>
          </p:cNvPr>
          <p:cNvSpPr txBox="1"/>
          <p:nvPr/>
        </p:nvSpPr>
        <p:spPr>
          <a:xfrm>
            <a:off x="9097780" y="5240119"/>
            <a:ext cx="3100652" cy="64633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i="1">
                <a:latin typeface="Aptos"/>
                <a:ea typeface="Roboto"/>
                <a:cs typeface="Roboto"/>
              </a:rPr>
              <a:t>*Uses an older MAF version</a:t>
            </a:r>
            <a:r>
              <a:rPr lang="en-US" sz="1800" i="1">
                <a:effectLst/>
                <a:latin typeface="Aptos"/>
                <a:ea typeface="Roboto"/>
                <a:cs typeface="Roboto"/>
              </a:rPr>
              <a:t>,</a:t>
            </a:r>
            <a:br>
              <a:rPr lang="en-US" i="1">
                <a:latin typeface="Aptos"/>
                <a:ea typeface="Roboto"/>
                <a:cs typeface="Roboto"/>
              </a:rPr>
            </a:br>
            <a:r>
              <a:rPr lang="en-US" i="1">
                <a:latin typeface="Aptos"/>
                <a:ea typeface="Roboto"/>
                <a:cs typeface="Roboto"/>
              </a:rPr>
              <a:t>upgrades are pending. 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505577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D3B1AB-6E5A-3ACC-91AB-975939E908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A7E44A-0FDA-B70C-B215-C7A9AB0452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Investment workflow with fan-out/fan-in </a:t>
            </a:r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35CA7FD-AE2D-4DBE-C5E8-F37CC3635025}"/>
              </a:ext>
            </a:extLst>
          </p:cNvPr>
          <p:cNvSpPr txBox="1"/>
          <p:nvPr/>
        </p:nvSpPr>
        <p:spPr>
          <a:xfrm>
            <a:off x="1212174" y="4884764"/>
            <a:ext cx="68840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>
                <a:hlinkClick r:id="rId3"/>
              </a:rPr>
              <a:t>Full file: investment_workflow.py</a:t>
            </a:r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2125153-D8A9-9626-3E52-52D1083E082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5106" y="1698095"/>
            <a:ext cx="3598292" cy="480536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6C82CBB-6FEE-B550-3BBE-A12D0D727244}"/>
              </a:ext>
            </a:extLst>
          </p:cNvPr>
          <p:cNvSpPr txBox="1"/>
          <p:nvPr/>
        </p:nvSpPr>
        <p:spPr>
          <a:xfrm>
            <a:off x="1212174" y="1698095"/>
            <a:ext cx="6992312" cy="317009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ts val="2025"/>
              </a:lnSpc>
              <a:buNone/>
            </a:pPr>
            <a:r>
              <a:rPr lang="en-US" b="0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workflow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b="0">
                <a:solidFill>
                  <a:schemeClr val="tx2">
                    <a:lumMod val="75000"/>
                  </a:schemeClr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WorkflowBuilder</a:t>
            </a:r>
            <a:r>
              <a:rPr lang="en-US" b="0">
                <a:solidFill>
                  <a:srgbClr val="32C337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</a:p>
          <a:p>
            <a:pPr>
              <a:lnSpc>
                <a:spcPts val="2025"/>
              </a:lnSpc>
              <a:buNone/>
            </a:pP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.set_start_executor</a:t>
            </a:r>
            <a:r>
              <a:rPr lang="en-US" b="0">
                <a:solidFill>
                  <a:srgbClr val="37D14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b="0">
                <a:solidFill>
                  <a:srgbClr val="00206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data_prep_executor</a:t>
            </a:r>
            <a:r>
              <a:rPr lang="en-US" b="0">
                <a:solidFill>
                  <a:srgbClr val="37D14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>
              <a:lnSpc>
                <a:spcPts val="2025"/>
              </a:lnSpc>
              <a:buNone/>
            </a:pP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.add_fan_out_edges</a:t>
            </a:r>
            <a:r>
              <a:rPr lang="en-US" b="0">
                <a:solidFill>
                  <a:srgbClr val="37D14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b="0">
                <a:solidFill>
                  <a:srgbClr val="00206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data_prep_executor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</a:p>
          <a:p>
            <a:pPr>
              <a:lnSpc>
                <a:spcPts val="2025"/>
              </a:lnSpc>
              <a:buNone/>
            </a:pP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</a:t>
            </a:r>
            <a:r>
              <a:rPr lang="en-US" b="0">
                <a:solidFill>
                  <a:srgbClr val="C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[</a:t>
            </a:r>
            <a:r>
              <a:rPr lang="en-US" b="0">
                <a:solidFill>
                  <a:srgbClr val="00206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financial_analyst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b="0">
                <a:solidFill>
                  <a:srgbClr val="00206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risk_analyst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</a:p>
          <a:p>
            <a:pPr>
              <a:lnSpc>
                <a:spcPts val="2025"/>
              </a:lnSpc>
              <a:buNone/>
            </a:pP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</a:t>
            </a:r>
            <a:r>
              <a:rPr lang="en-US" b="0">
                <a:solidFill>
                  <a:srgbClr val="00206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market_analyst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b="0">
                <a:solidFill>
                  <a:srgbClr val="00206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compliance_analyst</a:t>
            </a:r>
            <a:r>
              <a:rPr lang="en-US" b="0">
                <a:solidFill>
                  <a:srgbClr val="C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]</a:t>
            </a:r>
            <a:r>
              <a:rPr lang="en-US" b="0">
                <a:solidFill>
                  <a:srgbClr val="37D14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>
              <a:lnSpc>
                <a:spcPts val="2025"/>
              </a:lnSpc>
              <a:buNone/>
            </a:pP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.add_fan_in_edges</a:t>
            </a:r>
            <a:r>
              <a:rPr lang="en-US" b="0">
                <a:solidFill>
                  <a:srgbClr val="37D14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</a:p>
          <a:p>
            <a:pPr>
              <a:lnSpc>
                <a:spcPts val="2025"/>
              </a:lnSpc>
              <a:buNone/>
            </a:pP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</a:t>
            </a:r>
            <a:r>
              <a:rPr lang="en-US" b="0">
                <a:solidFill>
                  <a:srgbClr val="C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[</a:t>
            </a:r>
            <a:r>
              <a:rPr lang="en-US" b="0">
                <a:solidFill>
                  <a:srgbClr val="00206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financial_analyst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b="0">
                <a:solidFill>
                  <a:srgbClr val="00206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risk_analyst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</a:p>
          <a:p>
            <a:pPr>
              <a:lnSpc>
                <a:spcPts val="2025"/>
              </a:lnSpc>
              <a:buNone/>
            </a:pP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</a:t>
            </a:r>
            <a:r>
              <a:rPr lang="en-US" b="0">
                <a:solidFill>
                  <a:srgbClr val="00206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market_analyst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b="0">
                <a:solidFill>
                  <a:srgbClr val="00206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compliance_analyst</a:t>
            </a:r>
            <a:r>
              <a:rPr lang="en-US" b="0">
                <a:solidFill>
                  <a:srgbClr val="C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]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</a:p>
          <a:p>
            <a:pPr>
              <a:lnSpc>
                <a:spcPts val="2025"/>
              </a:lnSpc>
              <a:buNone/>
            </a:pP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</a:t>
            </a:r>
            <a:r>
              <a:rPr lang="en-US" b="0">
                <a:solidFill>
                  <a:srgbClr val="00206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analysis_aggregator</a:t>
            </a:r>
            <a:r>
              <a:rPr lang="en-US" b="0">
                <a:solidFill>
                  <a:srgbClr val="37D14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>
              <a:lnSpc>
                <a:spcPts val="2025"/>
              </a:lnSpc>
              <a:buNone/>
            </a:pP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.add_edge</a:t>
            </a:r>
            <a:r>
              <a:rPr lang="en-US" b="0">
                <a:solidFill>
                  <a:srgbClr val="37D14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b="0">
                <a:solidFill>
                  <a:srgbClr val="00206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analysis_aggregator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b="0">
                <a:solidFill>
                  <a:srgbClr val="00206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debate_executor</a:t>
            </a:r>
            <a:r>
              <a:rPr lang="en-US" b="0">
                <a:solidFill>
                  <a:srgbClr val="37D14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>
              <a:lnSpc>
                <a:spcPts val="2025"/>
              </a:lnSpc>
              <a:buNone/>
            </a:pP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.add_edge</a:t>
            </a:r>
            <a:r>
              <a:rPr lang="en-US" b="0">
                <a:solidFill>
                  <a:srgbClr val="37D14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b="0">
                <a:solidFill>
                  <a:srgbClr val="00206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debate_executor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b="0">
                <a:solidFill>
                  <a:srgbClr val="00206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summary_report_generator</a:t>
            </a:r>
            <a:r>
              <a:rPr lang="en-US" b="0">
                <a:solidFill>
                  <a:srgbClr val="37D14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>
              <a:lnSpc>
                <a:spcPts val="2025"/>
              </a:lnSpc>
              <a:buNone/>
            </a:pP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.build</a:t>
            </a:r>
            <a:r>
              <a:rPr lang="en-US" b="0">
                <a:solidFill>
                  <a:srgbClr val="37D14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4BCCEA4-1DF6-6D7E-79EA-8CD76277014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9460"/>
          <a:stretch>
            <a:fillRect/>
          </a:stretch>
        </p:blipFill>
        <p:spPr>
          <a:xfrm>
            <a:off x="1291779" y="5365916"/>
            <a:ext cx="6083976" cy="1239837"/>
          </a:xfrm>
          <a:prstGeom prst="rect">
            <a:avLst/>
          </a:prstGeom>
          <a:ln>
            <a:solidFill>
              <a:schemeClr val="tx1"/>
            </a:solidFill>
          </a:ln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560B071-11D8-CEF5-43B3-C24F23BEAE25}"/>
              </a:ext>
            </a:extLst>
          </p:cNvPr>
          <p:cNvCxnSpPr>
            <a:cxnSpLocks/>
          </p:cNvCxnSpPr>
          <p:nvPr/>
        </p:nvCxnSpPr>
        <p:spPr>
          <a:xfrm flipH="1">
            <a:off x="7456320" y="6277649"/>
            <a:ext cx="1496332" cy="0"/>
          </a:xfrm>
          <a:prstGeom prst="line">
            <a:avLst/>
          </a:prstGeom>
          <a:ln w="34925" cap="rnd">
            <a:headEnd type="non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6555451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171B04-181C-1ABD-EE74-ED23EFDDCC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BE5BB7-ABE9-0F27-3114-0FB8993897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What-if workflow with fan-in/fan-out </a:t>
            </a:r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BA79942-3934-E5FB-0D02-CDE24CB0E440}"/>
              </a:ext>
            </a:extLst>
          </p:cNvPr>
          <p:cNvSpPr txBox="1"/>
          <p:nvPr/>
        </p:nvSpPr>
        <p:spPr>
          <a:xfrm>
            <a:off x="1049416" y="6527996"/>
            <a:ext cx="68840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>
                <a:hlinkClick r:id="rId3"/>
              </a:rPr>
              <a:t>Full file: what_if_workflow.py</a:t>
            </a:r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4441281-06B0-D4DB-948B-8A69EA84B782}"/>
              </a:ext>
            </a:extLst>
          </p:cNvPr>
          <p:cNvSpPr txBox="1"/>
          <p:nvPr/>
        </p:nvSpPr>
        <p:spPr>
          <a:xfrm>
            <a:off x="1049416" y="3892666"/>
            <a:ext cx="10042294" cy="265713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ts val="2025"/>
              </a:lnSpc>
              <a:buNone/>
            </a:pPr>
            <a:r>
              <a:rPr lang="en-US" b="0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workflow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b="0">
                <a:solidFill>
                  <a:schemeClr val="tx2">
                    <a:lumMod val="75000"/>
                  </a:schemeClr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WorkflowBuilder</a:t>
            </a:r>
            <a:r>
              <a:rPr lang="en-US" b="0">
                <a:solidFill>
                  <a:srgbClr val="32C337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</a:p>
          <a:p>
            <a:pPr>
              <a:lnSpc>
                <a:spcPts val="2025"/>
              </a:lnSpc>
              <a:buNone/>
            </a:pP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.set_start_executor</a:t>
            </a:r>
            <a:r>
              <a:rPr lang="en-US" b="0">
                <a:solidFill>
                  <a:srgbClr val="37D14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b="0">
                <a:solidFill>
                  <a:srgbClr val="00206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planner_agent</a:t>
            </a:r>
            <a:r>
              <a:rPr lang="en-US" b="0">
                <a:solidFill>
                  <a:srgbClr val="37D14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>
              <a:lnSpc>
                <a:spcPts val="2025"/>
              </a:lnSpc>
              <a:buNone/>
            </a:pP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.add_fan_out_edges</a:t>
            </a:r>
            <a:r>
              <a:rPr lang="en-US" b="0">
                <a:solidFill>
                  <a:srgbClr val="37D14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planner_agent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</a:p>
          <a:p>
            <a:pPr>
              <a:lnSpc>
                <a:spcPts val="2025"/>
              </a:lnSpc>
              <a:buNone/>
            </a:pP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</a:t>
            </a:r>
            <a:r>
              <a:rPr lang="en-US" b="0">
                <a:solidFill>
                  <a:srgbClr val="C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[</a:t>
            </a:r>
            <a:r>
              <a:rPr lang="en-US" b="0">
                <a:solidFill>
                  <a:srgbClr val="00206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financial_analyst_agent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b="0">
                <a:solidFill>
                  <a:srgbClr val="00206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risk_analyst_agent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</a:p>
          <a:p>
            <a:pPr>
              <a:lnSpc>
                <a:spcPts val="2025"/>
              </a:lnSpc>
              <a:buNone/>
            </a:pP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</a:t>
            </a:r>
            <a:r>
              <a:rPr lang="en-US" b="0">
                <a:solidFill>
                  <a:srgbClr val="00206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market_analyst_agent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b="0">
                <a:solidFill>
                  <a:srgbClr val="00206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compliance_analyst_agent</a:t>
            </a:r>
            <a:r>
              <a:rPr lang="en-US" b="0">
                <a:solidFill>
                  <a:srgbClr val="C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]</a:t>
            </a:r>
            <a:r>
              <a:rPr lang="en-US" b="0">
                <a:solidFill>
                  <a:srgbClr val="37D14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>
              <a:lnSpc>
                <a:spcPts val="2025"/>
              </a:lnSpc>
              <a:buNone/>
            </a:pP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.add_fan_in_edges</a:t>
            </a:r>
            <a:r>
              <a:rPr lang="en-US" b="0">
                <a:solidFill>
                  <a:srgbClr val="37D14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</a:p>
          <a:p>
            <a:pPr>
              <a:lnSpc>
                <a:spcPts val="2025"/>
              </a:lnSpc>
              <a:buNone/>
            </a:pP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</a:t>
            </a:r>
            <a:r>
              <a:rPr lang="en-US" b="0">
                <a:solidFill>
                  <a:srgbClr val="C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[</a:t>
            </a:r>
            <a:r>
              <a:rPr lang="en-US" b="0">
                <a:solidFill>
                  <a:srgbClr val="00206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financial_analyst_agent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b="0">
                <a:solidFill>
                  <a:srgbClr val="00206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risk_analyst_agent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</a:p>
          <a:p>
            <a:pPr>
              <a:lnSpc>
                <a:spcPts val="2025"/>
              </a:lnSpc>
              <a:buNone/>
            </a:pP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</a:t>
            </a:r>
            <a:r>
              <a:rPr lang="en-US" b="0">
                <a:solidFill>
                  <a:srgbClr val="00206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market_analyst_agent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b="0">
                <a:solidFill>
                  <a:srgbClr val="00206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compliance_analyst_agent</a:t>
            </a:r>
            <a:r>
              <a:rPr lang="en-US" b="0">
                <a:solidFill>
                  <a:srgbClr val="C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]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</a:p>
          <a:p>
            <a:pPr>
              <a:lnSpc>
                <a:spcPts val="2025"/>
              </a:lnSpc>
              <a:buNone/>
            </a:pP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</a:t>
            </a:r>
            <a:r>
              <a:rPr lang="en-US" b="0">
                <a:solidFill>
                  <a:srgbClr val="00206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summarizer_agent</a:t>
            </a:r>
            <a:r>
              <a:rPr lang="en-US" b="0">
                <a:solidFill>
                  <a:srgbClr val="37D14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>
              <a:lnSpc>
                <a:spcPts val="2025"/>
              </a:lnSpc>
              <a:buNone/>
            </a:pP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.build</a:t>
            </a:r>
            <a:r>
              <a:rPr lang="en-US" b="0">
                <a:solidFill>
                  <a:srgbClr val="37D14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C568CD2-3C15-7A86-8534-09D75EE2722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317" b="80018"/>
          <a:stretch>
            <a:fillRect/>
          </a:stretch>
        </p:blipFill>
        <p:spPr>
          <a:xfrm>
            <a:off x="2131808" y="1484701"/>
            <a:ext cx="2757853" cy="48301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F3E73C2-8EFB-3A66-FF65-9C7D5C0F2D0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07" t="20325" r="25309"/>
          <a:stretch>
            <a:fillRect/>
          </a:stretch>
        </p:blipFill>
        <p:spPr>
          <a:xfrm>
            <a:off x="1049416" y="2117299"/>
            <a:ext cx="4947883" cy="1665474"/>
          </a:xfrm>
          <a:prstGeom prst="rect">
            <a:avLst/>
          </a:prstGeom>
          <a:ln>
            <a:solidFill>
              <a:schemeClr val="accent4"/>
            </a:solidFill>
          </a:ln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89E7F19F-9F08-D713-1B95-8CF85B3708B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r="9637" b="88472"/>
          <a:stretch>
            <a:fillRect/>
          </a:stretch>
        </p:blipFill>
        <p:spPr>
          <a:xfrm>
            <a:off x="6539876" y="2056206"/>
            <a:ext cx="2719489" cy="36574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2B0D31ED-3C03-8058-51E1-D3DD19773EB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993" t="46534" r="10631" b="41938"/>
          <a:stretch>
            <a:fillRect/>
          </a:stretch>
        </p:blipFill>
        <p:spPr>
          <a:xfrm>
            <a:off x="6539876" y="2525735"/>
            <a:ext cx="2719490" cy="36574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EB694D71-4E8B-D59C-0B98-DCA7EEF3D1A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993" t="79598" r="10631" b="8874"/>
          <a:stretch>
            <a:fillRect/>
          </a:stretch>
        </p:blipFill>
        <p:spPr>
          <a:xfrm>
            <a:off x="6525587" y="2958962"/>
            <a:ext cx="2719490" cy="365745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9591F0E1-CE3C-0F2C-1381-D746013D210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7864"/>
          <a:stretch>
            <a:fillRect/>
          </a:stretch>
        </p:blipFill>
        <p:spPr>
          <a:xfrm>
            <a:off x="6511300" y="3392190"/>
            <a:ext cx="2748065" cy="381256"/>
          </a:xfrm>
          <a:prstGeom prst="rect">
            <a:avLst/>
          </a:prstGeom>
        </p:spPr>
      </p:pic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2742148-F88F-AAE3-30BA-6E6E9116A0B9}"/>
              </a:ext>
            </a:extLst>
          </p:cNvPr>
          <p:cNvCxnSpPr>
            <a:cxnSpLocks/>
            <a:stCxn id="7" idx="3"/>
          </p:cNvCxnSpPr>
          <p:nvPr/>
        </p:nvCxnSpPr>
        <p:spPr>
          <a:xfrm flipV="1">
            <a:off x="5997299" y="2309397"/>
            <a:ext cx="542577" cy="640639"/>
          </a:xfrm>
          <a:prstGeom prst="line">
            <a:avLst/>
          </a:prstGeom>
          <a:ln w="34925" cap="rnd">
            <a:headEnd type="non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4A25847D-C19B-C7AC-1D73-BB6FC2E401E1}"/>
              </a:ext>
            </a:extLst>
          </p:cNvPr>
          <p:cNvCxnSpPr>
            <a:cxnSpLocks/>
            <a:stCxn id="7" idx="3"/>
            <a:endCxn id="16" idx="1"/>
          </p:cNvCxnSpPr>
          <p:nvPr/>
        </p:nvCxnSpPr>
        <p:spPr>
          <a:xfrm flipV="1">
            <a:off x="5997299" y="2708608"/>
            <a:ext cx="542577" cy="241428"/>
          </a:xfrm>
          <a:prstGeom prst="line">
            <a:avLst/>
          </a:prstGeom>
          <a:ln w="34925" cap="rnd">
            <a:headEnd type="non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8BFFC32F-E80F-2821-A719-8E8C2A9820C4}"/>
              </a:ext>
            </a:extLst>
          </p:cNvPr>
          <p:cNvCxnSpPr>
            <a:cxnSpLocks/>
            <a:stCxn id="7" idx="3"/>
          </p:cNvCxnSpPr>
          <p:nvPr/>
        </p:nvCxnSpPr>
        <p:spPr>
          <a:xfrm>
            <a:off x="5997299" y="2950036"/>
            <a:ext cx="542577" cy="222961"/>
          </a:xfrm>
          <a:prstGeom prst="line">
            <a:avLst/>
          </a:prstGeom>
          <a:ln w="34925" cap="rnd">
            <a:headEnd type="non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984D049E-40A1-12BC-30FD-F3995468C16E}"/>
              </a:ext>
            </a:extLst>
          </p:cNvPr>
          <p:cNvCxnSpPr>
            <a:cxnSpLocks/>
            <a:stCxn id="7" idx="3"/>
          </p:cNvCxnSpPr>
          <p:nvPr/>
        </p:nvCxnSpPr>
        <p:spPr>
          <a:xfrm>
            <a:off x="5997299" y="2950036"/>
            <a:ext cx="615841" cy="656659"/>
          </a:xfrm>
          <a:prstGeom prst="line">
            <a:avLst/>
          </a:prstGeom>
          <a:ln w="34925" cap="rnd">
            <a:headEnd type="non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CEC7ABF3-4D02-945F-57B3-E5049274E8F7}"/>
              </a:ext>
            </a:extLst>
          </p:cNvPr>
          <p:cNvCxnSpPr>
            <a:cxnSpLocks/>
          </p:cNvCxnSpPr>
          <p:nvPr/>
        </p:nvCxnSpPr>
        <p:spPr>
          <a:xfrm flipH="1" flipV="1">
            <a:off x="9245077" y="2318323"/>
            <a:ext cx="542577" cy="640639"/>
          </a:xfrm>
          <a:prstGeom prst="line">
            <a:avLst/>
          </a:prstGeom>
          <a:ln w="34925" cap="rnd">
            <a:headEnd type="non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BD8484A3-2B17-7F8E-D6A5-43FF619881E2}"/>
              </a:ext>
            </a:extLst>
          </p:cNvPr>
          <p:cNvCxnSpPr>
            <a:cxnSpLocks/>
          </p:cNvCxnSpPr>
          <p:nvPr/>
        </p:nvCxnSpPr>
        <p:spPr>
          <a:xfrm flipH="1" flipV="1">
            <a:off x="9245077" y="2717534"/>
            <a:ext cx="542577" cy="241428"/>
          </a:xfrm>
          <a:prstGeom prst="line">
            <a:avLst/>
          </a:prstGeom>
          <a:ln w="34925" cap="rnd">
            <a:headEnd type="non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4914105E-D4EB-EA38-3D50-9A413F195B9A}"/>
              </a:ext>
            </a:extLst>
          </p:cNvPr>
          <p:cNvCxnSpPr>
            <a:cxnSpLocks/>
          </p:cNvCxnSpPr>
          <p:nvPr/>
        </p:nvCxnSpPr>
        <p:spPr>
          <a:xfrm flipH="1">
            <a:off x="9245077" y="2958962"/>
            <a:ext cx="542577" cy="222961"/>
          </a:xfrm>
          <a:prstGeom prst="line">
            <a:avLst/>
          </a:prstGeom>
          <a:ln w="34925" cap="rnd">
            <a:headEnd type="non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2CCE1500-8177-F018-CC20-240C707B211F}"/>
              </a:ext>
            </a:extLst>
          </p:cNvPr>
          <p:cNvCxnSpPr>
            <a:cxnSpLocks/>
            <a:stCxn id="10" idx="1"/>
          </p:cNvCxnSpPr>
          <p:nvPr/>
        </p:nvCxnSpPr>
        <p:spPr>
          <a:xfrm flipH="1">
            <a:off x="9230563" y="2925221"/>
            <a:ext cx="556866" cy="690400"/>
          </a:xfrm>
          <a:prstGeom prst="line">
            <a:avLst/>
          </a:prstGeom>
          <a:ln w="34925" cap="rnd">
            <a:headEnd type="non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4317A904-1137-725C-ACE3-0514DB8AC93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3" t="5407" r="71421" b="49536"/>
          <a:stretch>
            <a:fillRect/>
          </a:stretch>
        </p:blipFill>
        <p:spPr>
          <a:xfrm>
            <a:off x="9787429" y="2658373"/>
            <a:ext cx="2211785" cy="533696"/>
          </a:xfrm>
          <a:prstGeom prst="rect">
            <a:avLst/>
          </a:prstGeom>
        </p:spPr>
      </p:pic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16BF20A2-E497-7163-C761-55FF1A8C38C5}"/>
              </a:ext>
            </a:extLst>
          </p:cNvPr>
          <p:cNvCxnSpPr>
            <a:cxnSpLocks/>
          </p:cNvCxnSpPr>
          <p:nvPr/>
        </p:nvCxnSpPr>
        <p:spPr>
          <a:xfrm>
            <a:off x="3428131" y="1862205"/>
            <a:ext cx="0" cy="255094"/>
          </a:xfrm>
          <a:prstGeom prst="line">
            <a:avLst/>
          </a:prstGeom>
          <a:ln w="34925" cap="rnd">
            <a:headEnd type="non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0772348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16D43C-BE2A-3BA3-FE47-062467C16D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CF2F0939-562C-8F34-F9BD-79E6E27E01E4}"/>
              </a:ext>
            </a:extLst>
          </p:cNvPr>
          <p:cNvSpPr/>
          <p:nvPr/>
        </p:nvSpPr>
        <p:spPr>
          <a:xfrm>
            <a:off x="859194" y="3050530"/>
            <a:ext cx="10477500" cy="3014367"/>
          </a:xfrm>
          <a:prstGeom prst="roundRect">
            <a:avLst>
              <a:gd name="adj" fmla="val 2125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7D348BA-C92C-087A-935B-72F151B2AC44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859194" y="2111864"/>
            <a:ext cx="4505909" cy="891518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s-MX" sz="2200">
                <a:latin typeface="Aptos" panose="020B0004020202020204" pitchFamily="34" charset="0"/>
              </a:rPr>
              <a:t>Watch past recordings: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s-MX" sz="2200">
                <a:latin typeface="Aptos" panose="020B0004020202020204" pitchFamily="34" charset="0"/>
                <a:hlinkClick r:id="rId2"/>
              </a:rPr>
              <a:t>aka.ms/</a:t>
            </a:r>
            <a:r>
              <a:rPr lang="es-MX" sz="2200">
                <a:latin typeface="Aptos" panose="020B0004020202020204" pitchFamily="34" charset="0"/>
                <a:hlinkClick r:id="rId3"/>
              </a:rPr>
              <a:t>pythonagents/resources</a:t>
            </a:r>
            <a:endParaRPr lang="es-MX" sz="2200">
              <a:latin typeface="Aptos" panose="020B0004020202020204" pitchFamily="34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233D843-40EC-E1C7-3A23-A590A30110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8148" y="1026203"/>
            <a:ext cx="3705612" cy="806488"/>
          </a:xfrm>
        </p:spPr>
        <p:txBody>
          <a:bodyPr/>
          <a:lstStyle/>
          <a:p>
            <a:r>
              <a:rPr lang="es-MX"/>
              <a:t>Next steps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34022E3-6896-5817-EE1A-D33D2F048642}"/>
              </a:ext>
            </a:extLst>
          </p:cNvPr>
          <p:cNvSpPr txBox="1">
            <a:spLocks/>
          </p:cNvSpPr>
          <p:nvPr/>
        </p:nvSpPr>
        <p:spPr>
          <a:xfrm>
            <a:off x="978148" y="3172607"/>
            <a:ext cx="9708903" cy="2697956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>
                <a:solidFill>
                  <a:srgbClr val="000000"/>
                </a:solidFill>
                <a:latin typeface="Quire Sans" panose="020B0502040400020003" pitchFamily="34" charset="0"/>
                <a:ea typeface="Segoe UI"/>
                <a:cs typeface="Quire Sans" panose="020B0502040400020003" pitchFamily="34" charset="0"/>
              </a:rPr>
              <a:t>🛠️ Feb 24: Building your first agent in Python</a:t>
            </a:r>
          </a:p>
          <a:p>
            <a:pPr marL="0" indent="0">
              <a:buNone/>
            </a:pPr>
            <a:r>
              <a:rPr lang="en-US" sz="2600">
                <a:latin typeface="Quire Sans" panose="020B0502040400020003" pitchFamily="34" charset="0"/>
                <a:cs typeface="Quire Sans" panose="020B0502040400020003" pitchFamily="34" charset="0"/>
              </a:rPr>
              <a:t>🧠 </a:t>
            </a:r>
            <a:r>
              <a:rPr lang="en-US" sz="2600">
                <a:solidFill>
                  <a:srgbClr val="000000"/>
                </a:solidFill>
                <a:latin typeface="Quire Sans" panose="020B0502040400020003" pitchFamily="34" charset="0"/>
                <a:ea typeface="Segoe UI"/>
                <a:cs typeface="Quire Sans" panose="020B0502040400020003" pitchFamily="34" charset="0"/>
              </a:rPr>
              <a:t>Feb 25: Adding context and memory to agents</a:t>
            </a:r>
          </a:p>
          <a:p>
            <a:pPr marL="0" indent="0">
              <a:buNone/>
            </a:pPr>
            <a:r>
              <a:rPr lang="en-US" sz="2600">
                <a:latin typeface="Quire Sans" panose="020B0502040400020003" pitchFamily="34" charset="0"/>
                <a:cs typeface="Quire Sans" panose="020B0502040400020003" pitchFamily="34" charset="0"/>
              </a:rPr>
              <a:t>📊 </a:t>
            </a:r>
            <a:r>
              <a:rPr lang="en-US" sz="2600">
                <a:solidFill>
                  <a:srgbClr val="000000"/>
                </a:solidFill>
                <a:latin typeface="Quire Sans" panose="020B0502040400020003" pitchFamily="34" charset="0"/>
                <a:ea typeface="Segoe UI"/>
                <a:cs typeface="Quire Sans" panose="020B0502040400020003" pitchFamily="34" charset="0"/>
              </a:rPr>
              <a:t>Feb 26: Monitoring and evaluating agents</a:t>
            </a:r>
          </a:p>
          <a:p>
            <a:pPr marL="0" indent="0">
              <a:buNone/>
            </a:pPr>
            <a:r>
              <a:rPr lang="en-US" sz="2600">
                <a:latin typeface="Quire Sans" panose="020B0502040400020003" pitchFamily="34" charset="0"/>
                <a:cs typeface="Quire Sans" panose="020B0502040400020003" pitchFamily="34" charset="0"/>
              </a:rPr>
              <a:t>🔀 </a:t>
            </a:r>
            <a:r>
              <a:rPr lang="en-US" sz="2600">
                <a:solidFill>
                  <a:srgbClr val="000000"/>
                </a:solidFill>
                <a:latin typeface="Quire Sans" panose="020B0502040400020003" pitchFamily="34" charset="0"/>
                <a:ea typeface="Segoe UI"/>
                <a:cs typeface="Quire Sans" panose="020B0502040400020003" pitchFamily="34" charset="0"/>
              </a:rPr>
              <a:t>Mar 3: Building your first AI-driven workflows</a:t>
            </a:r>
          </a:p>
          <a:p>
            <a:pPr marL="0" indent="0">
              <a:buNone/>
            </a:pPr>
            <a:r>
              <a:rPr lang="en-US" sz="2600">
                <a:latin typeface="Quire Sans" panose="020B0502040400020003" pitchFamily="34" charset="0"/>
                <a:cs typeface="Quire Sans" panose="020B0502040400020003" pitchFamily="34" charset="0"/>
              </a:rPr>
              <a:t>🕸️ </a:t>
            </a:r>
            <a:r>
              <a:rPr lang="en-US" sz="2600">
                <a:solidFill>
                  <a:srgbClr val="000000"/>
                </a:solidFill>
                <a:latin typeface="Quire Sans" panose="020B0502040400020003" pitchFamily="34" charset="0"/>
                <a:ea typeface="Segoe UI"/>
                <a:cs typeface="Quire Sans" panose="020B0502040400020003" pitchFamily="34" charset="0"/>
              </a:rPr>
              <a:t>Mar 4: Orchestrating advanced multi-agent workflows</a:t>
            </a:r>
          </a:p>
          <a:p>
            <a:pPr marL="0" indent="0">
              <a:buNone/>
            </a:pPr>
            <a:r>
              <a:rPr lang="en-US" sz="2600">
                <a:latin typeface="Quire Sans" panose="020B0502040400020003" pitchFamily="34" charset="0"/>
                <a:cs typeface="Quire Sans" panose="020B0502040400020003" pitchFamily="34" charset="0"/>
              </a:rPr>
              <a:t>🙋🏽 </a:t>
            </a:r>
            <a:r>
              <a:rPr lang="en-US" sz="2600">
                <a:solidFill>
                  <a:srgbClr val="000000"/>
                </a:solidFill>
                <a:latin typeface="Quire Sans" panose="020B0502040400020003" pitchFamily="34" charset="0"/>
                <a:ea typeface="Segoe UI"/>
                <a:cs typeface="Quire Sans" panose="020B0502040400020003" pitchFamily="34" charset="0"/>
              </a:rPr>
              <a:t>Mar 5: Adding a human-in-the-loop to workflows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CFE34F6-E56A-2597-B0BA-8E585D74B6AC}"/>
              </a:ext>
            </a:extLst>
          </p:cNvPr>
          <p:cNvSpPr txBox="1"/>
          <p:nvPr/>
        </p:nvSpPr>
        <p:spPr>
          <a:xfrm>
            <a:off x="5531304" y="2111864"/>
            <a:ext cx="5889365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s-MX" sz="2200">
                <a:latin typeface="Aptos" panose="020B0004020202020204" pitchFamily="34" charset="0"/>
              </a:rPr>
              <a:t>Join office hours after each session in Discord:</a:t>
            </a:r>
          </a:p>
          <a:p>
            <a:pPr marL="0" indent="0">
              <a:buNone/>
            </a:pPr>
            <a:r>
              <a:rPr lang="es-MX" sz="2200">
                <a:latin typeface="Aptos" panose="020B0004020202020204" pitchFamily="34" charset="0"/>
                <a:hlinkClick r:id="rId4"/>
              </a:rPr>
              <a:t>aka.ms/pythonai/oh</a:t>
            </a:r>
            <a:endParaRPr lang="en-US" sz="2200"/>
          </a:p>
        </p:txBody>
      </p:sp>
      <p:sp>
        <p:nvSpPr>
          <p:cNvPr id="8" name="Content Placeholder 1">
            <a:extLst>
              <a:ext uri="{FF2B5EF4-FFF2-40B4-BE49-F238E27FC236}">
                <a16:creationId xmlns:a16="http://schemas.microsoft.com/office/drawing/2014/main" id="{A49413D5-C7CA-8BE7-3714-C61ACE6FA5FB}"/>
              </a:ext>
            </a:extLst>
          </p:cNvPr>
          <p:cNvSpPr txBox="1">
            <a:spLocks/>
          </p:cNvSpPr>
          <p:nvPr/>
        </p:nvSpPr>
        <p:spPr>
          <a:xfrm>
            <a:off x="5531304" y="1051121"/>
            <a:ext cx="5194041" cy="89151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s-MX" sz="2200">
                <a:latin typeface="Aptos" panose="020B0004020202020204" pitchFamily="34" charset="0"/>
              </a:rPr>
              <a:t>Register: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s-MX" sz="2200">
                <a:latin typeface="Aptos" panose="020B0004020202020204" pitchFamily="34" charset="0"/>
                <a:hlinkClick r:id="rId5"/>
              </a:rPr>
              <a:t>https://aka.ms/PythonAgents/series</a:t>
            </a:r>
            <a:endParaRPr lang="es-MX" sz="220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82985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Violet II">
      <a:dk1>
        <a:sysClr val="windowText" lastClr="000000"/>
      </a:dk1>
      <a:lt1>
        <a:sysClr val="window" lastClr="FFFFFF"/>
      </a:lt1>
      <a:dk2>
        <a:srgbClr val="632E62"/>
      </a:dk2>
      <a:lt2>
        <a:srgbClr val="EAE5EB"/>
      </a:lt2>
      <a:accent1>
        <a:srgbClr val="92278F"/>
      </a:accent1>
      <a:accent2>
        <a:srgbClr val="9B57D3"/>
      </a:accent2>
      <a:accent3>
        <a:srgbClr val="755DD9"/>
      </a:accent3>
      <a:accent4>
        <a:srgbClr val="665EB8"/>
      </a:accent4>
      <a:accent5>
        <a:srgbClr val="45A5ED"/>
      </a:accent5>
      <a:accent6>
        <a:srgbClr val="5982DB"/>
      </a:accent6>
      <a:hlink>
        <a:srgbClr val="0066FF"/>
      </a:hlink>
      <a:folHlink>
        <a:srgbClr val="666699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0E076FF1-2D73-CC4A-B92F-33AC55051061}">
  <we:reference id="12345678-1234-1234-1234-123456789012" version="1.0.0.0" store="developer" storeType="Registry"/>
  <we:alternateReferences/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Properties xmlns="http://schemas.microsoft.com/sharepoint/v3" xsi:nil="true"/>
    <_ip_UnifiedCompliancePolicyUIAction xmlns="http://schemas.microsoft.com/sharepoint/v3" xsi:nil="true"/>
    <lcf76f155ced4ddcb4097134ff3c332f xmlns="a29421e1-74d8-4915-bb0d-c72892872ba0">
      <Terms xmlns="http://schemas.microsoft.com/office/infopath/2007/PartnerControls"/>
    </lcf76f155ced4ddcb4097134ff3c332f>
    <TaxCatchAll xmlns="230e9df3-be65-4c73-a93b-d1236ebd677e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BD4B4487B57D443AED9979943B92646" ma:contentTypeVersion="15" ma:contentTypeDescription="Create a new document." ma:contentTypeScope="" ma:versionID="11635a662f4c9a657eae7bf4dc620629">
  <xsd:schema xmlns:xsd="http://www.w3.org/2001/XMLSchema" xmlns:xs="http://www.w3.org/2001/XMLSchema" xmlns:p="http://schemas.microsoft.com/office/2006/metadata/properties" xmlns:ns1="http://schemas.microsoft.com/sharepoint/v3" xmlns:ns2="a29421e1-74d8-4915-bb0d-c72892872ba0" xmlns:ns3="230e9df3-be65-4c73-a93b-d1236ebd677e" targetNamespace="http://schemas.microsoft.com/office/2006/metadata/properties" ma:root="true" ma:fieldsID="dff1dd5af459cf9d2efcc6111ef93463" ns1:_="" ns2:_="" ns3:_="">
    <xsd:import namespace="http://schemas.microsoft.com/sharepoint/v3"/>
    <xsd:import namespace="a29421e1-74d8-4915-bb0d-c72892872ba0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MediaServiceBillingMetadata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1:_ip_UnifiedCompliancePolicyProperties" minOccurs="0"/>
                <xsd:element ref="ns1:_ip_UnifiedCompliancePolicyUIAction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DocTag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2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3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29421e1-74d8-4915-bb0d-c72892872ba0" elementFormDefault="qualified">
    <xsd:import namespace="http://schemas.microsoft.com/office/2006/documentManagement/types"/>
    <xsd:import namespace="http://schemas.microsoft.com/office/infopath/2007/PartnerControls"/>
    <xsd:element name="MediaServiceBillingMetadata" ma:index="8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ocTags" ma:index="18" nillable="true" ma:displayName="MediaServiceDocTags" ma:hidden="true" ma:internalName="MediaServiceDocTags" ma:readOnly="true">
      <xsd:simpleType>
        <xsd:restriction base="dms:Note"/>
      </xsd:simpleType>
    </xsd:element>
    <xsd:element name="lcf76f155ced4ddcb4097134ff3c332f" ma:index="20" nillable="true" ma:taxonomy="true" ma:internalName="lcf76f155ced4ddcb4097134ff3c332f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1" nillable="true" ma:displayName="Taxonomy Catch All Column" ma:hidden="true" ma:list="{512b3914-fd28-4b53-a746-fcfd87edfe12}" ma:internalName="TaxCatchAll" ma:showField="CatchAllData" ma:web="c2fe79a6-8abe-455d-ad41-5c60efd42c2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09898A2C-BE4D-4D93-AD47-903F380990E0}">
  <ds:schemaRefs>
    <ds:schemaRef ds:uri="http://schemas.microsoft.com/sharepoint/v3"/>
    <ds:schemaRef ds:uri="4d763a3d-abd4-45ac-ad35-6c0fa32d5be4"/>
    <ds:schemaRef ds:uri="http://purl.org/dc/elements/1.1/"/>
    <ds:schemaRef ds:uri="496da845-320a-4090-a8c1-9d38d24895f3"/>
    <ds:schemaRef ds:uri="http://schemas.microsoft.com/office/2006/metadata/properties"/>
    <ds:schemaRef ds:uri="http://schemas.openxmlformats.org/package/2006/metadata/core-properties"/>
    <ds:schemaRef ds:uri="http://www.w3.org/XML/1998/namespace"/>
    <ds:schemaRef ds:uri="http://purl.org/dc/terms/"/>
    <ds:schemaRef ds:uri="http://schemas.microsoft.com/office/2006/documentManagement/types"/>
    <ds:schemaRef ds:uri="http://schemas.microsoft.com/office/infopath/2007/PartnerControls"/>
    <ds:schemaRef ds:uri="230e9df3-be65-4c73-a93b-d1236ebd677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BE979793-1C7C-48FD-9544-44840BDBC141}"/>
</file>

<file path=customXml/itemProps3.xml><?xml version="1.0" encoding="utf-8"?>
<ds:datastoreItem xmlns:ds="http://schemas.openxmlformats.org/officeDocument/2006/customXml" ds:itemID="{0B3390A4-EB81-4EDD-9EA1-D4D1BA7CABC4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87867195-f2b8-4ac2-b0b6-6bb73cb33afc}" enabled="1" method="Privilege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16962</TotalTime>
  <Words>3256</Words>
  <Application>Microsoft Macintosh PowerPoint</Application>
  <PresentationFormat>Widescreen</PresentationFormat>
  <Paragraphs>532</Paragraphs>
  <Slides>39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39</vt:i4>
      </vt:variant>
    </vt:vector>
  </HeadingPairs>
  <TitlesOfParts>
    <vt:vector size="51" baseType="lpstr">
      <vt:lpstr>-apple-system</vt:lpstr>
      <vt:lpstr>Aptos</vt:lpstr>
      <vt:lpstr>Aptos Display</vt:lpstr>
      <vt:lpstr>Aptos Display (Headings)</vt:lpstr>
      <vt:lpstr>Arial</vt:lpstr>
      <vt:lpstr>Calibri</vt:lpstr>
      <vt:lpstr>Consolas</vt:lpstr>
      <vt:lpstr>Menlo</vt:lpstr>
      <vt:lpstr>Quire Sans</vt:lpstr>
      <vt:lpstr>Segoe UI</vt:lpstr>
      <vt:lpstr>Office Theme</vt:lpstr>
      <vt:lpstr>1_Office Theme</vt:lpstr>
      <vt:lpstr>PowerPoint Presentation</vt:lpstr>
      <vt:lpstr>Python + Agents</vt:lpstr>
      <vt:lpstr>Today we'll cover...</vt:lpstr>
      <vt:lpstr>Want to follow along?</vt:lpstr>
      <vt:lpstr>Recap: What's an agentic workflow?</vt:lpstr>
      <vt:lpstr>Concurrent execution</vt:lpstr>
      <vt:lpstr>Sequential execution vs. Concurrent execution</vt:lpstr>
      <vt:lpstr>Anatomy of a concurrent workflow</vt:lpstr>
      <vt:lpstr>Using fan-in/fan-out edges in workflows</vt:lpstr>
      <vt:lpstr>Aggregating results from fan-out edges</vt:lpstr>
      <vt:lpstr>Aggregation</vt:lpstr>
      <vt:lpstr>Aggregation patterns for fan-in agents</vt:lpstr>
      <vt:lpstr>Aggregation with LLM summary</vt:lpstr>
      <vt:lpstr>Aggregation with structured extraction</vt:lpstr>
      <vt:lpstr>Aggregation with LLM-ranking</vt:lpstr>
      <vt:lpstr>Aggregation with majority vote</vt:lpstr>
      <vt:lpstr>Conditional routing + concurrency </vt:lpstr>
      <vt:lpstr>Conditional routing with concurrent execution</vt:lpstr>
      <vt:lpstr>Workflows with multi-selection edge groups</vt:lpstr>
      <vt:lpstr>Built-in workflow orchestrations</vt:lpstr>
      <vt:lpstr>ConcurrentBuilder</vt:lpstr>
      <vt:lpstr>Using the built-in ConcurrentBuilder workflow</vt:lpstr>
      <vt:lpstr>MagenticBuilder for dynamic planning</vt:lpstr>
      <vt:lpstr>Magentic-One workflow orchestration</vt:lpstr>
      <vt:lpstr>Magentic-One: Initial plan development</vt:lpstr>
      <vt:lpstr>Magentic-One: Progress ledger updates</vt:lpstr>
      <vt:lpstr>Using the built-in MagenticBuilder workflow</vt:lpstr>
      <vt:lpstr>  Magentic orchestration vs. Agent-as-tools</vt:lpstr>
      <vt:lpstr>Dynamic routing with HandoffBuilder</vt:lpstr>
      <vt:lpstr>From fixed graphs to dynamic routing</vt:lpstr>
      <vt:lpstr>Handoff orchestration</vt:lpstr>
      <vt:lpstr>Using the built-in HandoffBuilder workflow</vt:lpstr>
      <vt:lpstr>HandoffBuilder with handoff rules</vt:lpstr>
      <vt:lpstr>  Handoff orchestration vs. Agent-as-tools</vt:lpstr>
      <vt:lpstr>End-to-end application</vt:lpstr>
      <vt:lpstr>Agentic AI investment analysis </vt:lpstr>
      <vt:lpstr>Investment workflow with fan-out/fan-in </vt:lpstr>
      <vt:lpstr>What-if workflow with fan-in/fan-out </vt:lpstr>
      <vt:lpstr>Next steps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Abril Ureña</dc:creator>
  <cp:lastModifiedBy>Pamela Fox</cp:lastModifiedBy>
  <cp:revision>6</cp:revision>
  <dcterms:created xsi:type="dcterms:W3CDTF">2025-02-24T19:33:09Z</dcterms:created>
  <dcterms:modified xsi:type="dcterms:W3CDTF">2026-03-04T17:59:36Z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0x0101001BD4B4487B57D443AED9979943B92646</vt:lpwstr>
  </property>
  <property fmtid="{D5CDD505-2E9C-101B-9397-08002B2CF9AE}" pid="3" name="_SourceUrl">
    <vt:lpwstr/>
  </property>
  <property fmtid="{D5CDD505-2E9C-101B-9397-08002B2CF9AE}" pid="4" name="_SharedFileIndex">
    <vt:lpwstr/>
  </property>
  <property fmtid="{D5CDD505-2E9C-101B-9397-08002B2CF9AE}" pid="5" name="ComplianceAssetId">
    <vt:lpwstr/>
  </property>
  <property fmtid="{D5CDD505-2E9C-101B-9397-08002B2CF9AE}" pid="6" name="_ExtendedDescription">
    <vt:lpwstr/>
  </property>
  <property fmtid="{D5CDD505-2E9C-101B-9397-08002B2CF9AE}" pid="7" name="TriggerFlowInfo">
    <vt:lpwstr/>
  </property>
  <property fmtid="{D5CDD505-2E9C-101B-9397-08002B2CF9AE}" pid="8" name="MediaServiceImageTags">
    <vt:lpwstr/>
  </property>
  <property fmtid="{D5CDD505-2E9C-101B-9397-08002B2CF9AE}" pid="9" name="Order">
    <vt:lpwstr>26550900.0000000</vt:lpwstr>
  </property>
  <property fmtid="{D5CDD505-2E9C-101B-9397-08002B2CF9AE}" pid="10" name="xd_ProgID">
    <vt:lpwstr/>
  </property>
  <property fmtid="{D5CDD505-2E9C-101B-9397-08002B2CF9AE}" pid="11" name="TemplateUrl">
    <vt:lpwstr/>
  </property>
  <property fmtid="{D5CDD505-2E9C-101B-9397-08002B2CF9AE}" pid="12" name="xd_Signature">
    <vt:lpwstr/>
  </property>
</Properties>
</file>