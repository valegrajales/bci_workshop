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45"/>
  </p:notesMasterIdLst>
  <p:handoutMasterIdLst>
    <p:handoutMasterId r:id="rId46"/>
  </p:handoutMasterIdLst>
  <p:sldIdLst>
    <p:sldId id="2147482949" r:id="rId6"/>
    <p:sldId id="258" r:id="rId7"/>
    <p:sldId id="269" r:id="rId8"/>
    <p:sldId id="2147482952" r:id="rId9"/>
    <p:sldId id="2147482995" r:id="rId10"/>
    <p:sldId id="2147482900" r:id="rId11"/>
    <p:sldId id="261" r:id="rId12"/>
    <p:sldId id="262" r:id="rId13"/>
    <p:sldId id="263" r:id="rId14"/>
    <p:sldId id="2147483071" r:id="rId15"/>
    <p:sldId id="2147483072" r:id="rId16"/>
    <p:sldId id="2147483073" r:id="rId17"/>
    <p:sldId id="271" r:id="rId18"/>
    <p:sldId id="2147483070" r:id="rId19"/>
    <p:sldId id="265" r:id="rId20"/>
    <p:sldId id="2147483077" r:id="rId21"/>
    <p:sldId id="2147483074" r:id="rId22"/>
    <p:sldId id="2147483075" r:id="rId23"/>
    <p:sldId id="2147483078" r:id="rId24"/>
    <p:sldId id="2147483080" r:id="rId25"/>
    <p:sldId id="2147483079" r:id="rId26"/>
    <p:sldId id="2147483081" r:id="rId27"/>
    <p:sldId id="2147483083" r:id="rId28"/>
    <p:sldId id="2147483084" r:id="rId29"/>
    <p:sldId id="2147483085" r:id="rId30"/>
    <p:sldId id="2147483086" r:id="rId31"/>
    <p:sldId id="2147483087" r:id="rId32"/>
    <p:sldId id="2147483090" r:id="rId33"/>
    <p:sldId id="2147483088" r:id="rId34"/>
    <p:sldId id="2147483089" r:id="rId35"/>
    <p:sldId id="2147483091" r:id="rId36"/>
    <p:sldId id="2147483056" r:id="rId37"/>
    <p:sldId id="2147483092" r:id="rId38"/>
    <p:sldId id="2147483093" r:id="rId39"/>
    <p:sldId id="2147483094" r:id="rId40"/>
    <p:sldId id="2147483095" r:id="rId41"/>
    <p:sldId id="2147483098" r:id="rId42"/>
    <p:sldId id="2147483096" r:id="rId43"/>
    <p:sldId id="284" r:id="rId4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ive-Session-ENG" id="{B55AA1A6-1AEB-42C7-A277-7C712E3B5BC2}">
          <p14:sldIdLst>
            <p14:sldId id="2147482949"/>
          </p14:sldIdLst>
        </p14:section>
        <p14:section name="Live-Session-SPA" id="{B9C86BE3-CCD5-495F-8E27-EB498F132A85}">
          <p14:sldIdLst/>
        </p14:section>
        <p14:section name="Overview" id="{3CAE196B-5A6C-4D22-A2AD-1CDB052C40B7}">
          <p14:sldIdLst>
            <p14:sldId id="258"/>
            <p14:sldId id="269"/>
            <p14:sldId id="2147482952"/>
            <p14:sldId id="2147482995"/>
            <p14:sldId id="2147482900"/>
          </p14:sldIdLst>
        </p14:section>
        <p14:section name="Main content" id="{660B4914-61C5-4613-82D6-881ED96EA14E}">
          <p14:sldIdLst>
            <p14:sldId id="261"/>
            <p14:sldId id="262"/>
            <p14:sldId id="263"/>
            <p14:sldId id="2147483071"/>
            <p14:sldId id="2147483072"/>
            <p14:sldId id="2147483073"/>
            <p14:sldId id="271"/>
            <p14:sldId id="2147483070"/>
            <p14:sldId id="265"/>
            <p14:sldId id="2147483077"/>
            <p14:sldId id="2147483074"/>
            <p14:sldId id="2147483075"/>
            <p14:sldId id="2147483078"/>
            <p14:sldId id="2147483080"/>
            <p14:sldId id="2147483079"/>
            <p14:sldId id="2147483081"/>
            <p14:sldId id="2147483083"/>
            <p14:sldId id="2147483084"/>
            <p14:sldId id="2147483085"/>
            <p14:sldId id="2147483086"/>
            <p14:sldId id="2147483087"/>
            <p14:sldId id="2147483090"/>
            <p14:sldId id="2147483088"/>
            <p14:sldId id="2147483089"/>
            <p14:sldId id="2147483091"/>
            <p14:sldId id="2147483056"/>
            <p14:sldId id="2147483092"/>
            <p14:sldId id="2147483093"/>
            <p14:sldId id="2147483094"/>
            <p14:sldId id="2147483095"/>
            <p14:sldId id="2147483098"/>
            <p14:sldId id="2147483096"/>
          </p14:sldIdLst>
        </p14:section>
        <p14:section name="Thank you" id="{18039BEC-4E63-4173-80E5-4B32294302B2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5B73632-6CE1-F5AC-1EEB-9FB25C076E5B}" name="Matt Gotteiner" initials="MG" userId="S::magottei@microsoft.com::44e5f686-35a1-4e2c-9ff3-7b6adafcd3c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7F99"/>
    <a:srgbClr val="B1D1C0"/>
    <a:srgbClr val="795E26"/>
    <a:srgbClr val="A31515"/>
    <a:srgbClr val="001080"/>
    <a:srgbClr val="F8BD65"/>
    <a:srgbClr val="C8EEDB"/>
    <a:srgbClr val="37D142"/>
    <a:srgbClr val="F0D2CC"/>
    <a:srgbClr val="F083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7C4A12-8B97-FB45-89D1-C2ADE8350F0C}" v="33" dt="2026-03-05T18:04:40.951"/>
  </p1510:revLst>
</p1510:revInfo>
</file>

<file path=ppt/tableStyles.xml><?xml version="1.0" encoding="utf-8"?>
<a:tblStyleLst xmlns:a="http://schemas.openxmlformats.org/drawingml/2006/main" def="{00A15C55-8517-42AA-B614-E9B94910E39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493"/>
    <p:restoredTop sz="83294"/>
  </p:normalViewPr>
  <p:slideViewPr>
    <p:cSldViewPr snapToGrid="0">
      <p:cViewPr varScale="1">
        <p:scale>
          <a:sx n="121" d="100"/>
          <a:sy n="121" d="100"/>
        </p:scale>
        <p:origin x="1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23C7EB-5B7F-EC35-C47A-3E71DEC2AD3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9F19CB-5D50-8F75-DC84-99B30658E1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088F21-FC08-4265-A0EA-7DCAAA8A0386}" type="datetimeFigureOut">
              <a:rPr lang="es-MX" smtClean="0"/>
              <a:t>05/03/26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D974DA-6BA0-F689-ED4C-B26987C81F9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1571DD-CE34-DB8F-9E07-DC1DF621732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85052-7AF3-4E33-B760-A67F7CF6271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96371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429A59-3B4E-43BA-8563-6D5BDB7C83C0}" type="datetimeFigureOut">
              <a:rPr lang="es-MX" smtClean="0"/>
              <a:t>05/03/26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6777DB-9E19-4DE0-B5FC-477F0E7FE6A0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2487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Which are agents vs workflows?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5031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5D8EC-103C-B392-562F-167F736A3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A57052-0055-8A7B-A8C3-DC10B11A66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DEE103-26AB-FC51-4502-5F2C972F1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Executor A calls ctx.request_info() -&gt; workflow pauses</a:t>
            </a:r>
          </a:p>
          <a:p>
            <a:r>
              <a:t>Human responds -&gt; @response_handler fires -&gt; workflow resumes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896077-2DF0-496B-00F0-714F38C3D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900613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0C47F-6BE1-F54A-5553-69BCBDF88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80FE35-9EF6-50A9-3AC4-84050BFF0E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D72C8B-D9C8-AA42-0B77-D98C686F7B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Full example: workflow_hitl_tool_approval.py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B9F20-563A-6090-98BD-BB47E48B6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78360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Full example: workflow_hitl_tool_approval.py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 sz="1200"/>
              <a:t>The request_info/response cycle is driven by application code:</a:t>
            </a:r>
          </a:p>
          <a:p>
            <a:pPr marL="0" indent="0">
              <a:buNone/>
            </a:pPr>
            <a:r>
              <a:rPr lang="en-US" sz="1200"/>
              <a:t>1. Executor calls ctx.request_info(request_data=..., response_type=str)</a:t>
            </a:r>
          </a:p>
          <a:p>
            <a:pPr marL="0" indent="0">
              <a:buNone/>
            </a:pPr>
            <a:r>
              <a:rPr lang="en-US" sz="1200"/>
              <a:t>2. Workflow emits WorkflowEvent with type="request_info"</a:t>
            </a:r>
          </a:p>
          <a:p>
            <a:pPr marL="0" indent="0">
              <a:buNone/>
            </a:pPr>
            <a:r>
              <a:rPr lang="en-US" sz="1200"/>
              <a:t>3. Application collects event, prompts user, gathers reply</a:t>
            </a:r>
          </a:p>
          <a:p>
            <a:pPr marL="0" indent="0">
              <a:buNone/>
            </a:pPr>
            <a:r>
              <a:rPr lang="en-US" sz="1200"/>
              <a:t>4. Application calls workflow.run(responses={request_id: reply})</a:t>
            </a:r>
          </a:p>
          <a:p>
            <a:pPr marL="0" indent="0">
              <a:buNone/>
            </a:pPr>
            <a:r>
              <a:rPr lang="en-US" sz="1200"/>
              <a:t>5. @response_handler receives the original request + user reply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A8173-F18D-5F9C-E8C9-DDF3AA8DE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CB33EF-F768-B78D-1D79-B09F10412A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5C683-DC15-C648-9F1B-C2212AC672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"This diagram shows the most basic form of HITL routing: an unconditional pause.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Notice the request_info call happens every single turn. More importantly, look at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who makes the decision to stop. The human has two paths, one of which is typing 'done',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triggers yield_output. Because the LLM is just generating raw text, it has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way to reliably signal 'I am finished' to the workflow. So we have to put the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burden of the exit condition on the human."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A4C4F-F9CA-9C94-2FB8-26786F4E6E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935620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6BDE7-5072-6DB5-9E53-D48D93C95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0F6BF-64C7-2F88-3B35-50C1019A75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EDFCAB-A60D-D79D-EB53-66A64F35F0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EF9561-B357-143C-CEB5-DF00DBB606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167035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A1EBC-A1A9-8324-6953-1ADD0B1AC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EFA07A-53A4-FFF6-DA4E-9ED8987494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64FCE7-5E60-776C-3326-A86FCDDCEA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"Why iterate over pending.items()?" — In this simple example there's always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exactly one request per turn. But the loop is the correct general pattern because: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(1) workflow.run(responses=...) expects a dict mapping request IDs to replies,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(2) other HITL patterns can produce multiple requests per turn (e.g., an agent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calling several approval-required tools at once, or concurrent executors each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emitting a request). The loop costs two extra lines and teaches the right idiom.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07252C-486D-3013-F9BA-AFA1521B1D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977885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0D6E8-6F46-56B7-197B-5B2DFB068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FCDA5A-864D-B776-9E7D-2D995C62DC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090FC6-DE0D-D947-2CEC-D198D25D31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"Contrast this with the previous topology. Here, we've moved the routing logic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 the human and given it to the agent. Notice the condition after the coordinator receives the response— the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framework now inspects the agent's structured output status first. The workflow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pauses for a request *only* if the LLM tells it to. And look at the human's role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the left: they just answer questions. The exit branch on the right is now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controlled by the agent deciding it has gathered enough information to stop."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D1294-4228-C8D8-C7A3-3530717497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97785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15D83-775A-020E-D26B-E580142AB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E6395D-872F-125D-0B9D-C2BA6DBF58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608420-74BF-0818-1535-04FC2CBA72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"Now let's look at the agent itself.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define a Pydantic model with two literal statuses: 'need_info' or 'complete'.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passing this as the response_format, we are forcing the LLM to categorize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its own state. It will either ask a question, or provide the final itinerary.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gives us the reliable routing hooks you just saw in the diagram."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534378-BDE7-BD0A-B3CC-6E6E4B0EC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4814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A452E-BE2D-3D77-B259-E0B499882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22A91D-E493-45FE-95D0-3DD1FEE6E5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443BFE-B2D0-8262-C57D-99A39EDA73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B1823-F1CA-8E2C-B3EF-5DEEFCD1C4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575844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0A6A2-AB8A-4D29-5741-04BB8126E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23F6AB-5C5D-33C9-152C-8733069290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545A1D-A7C2-2A6A-E782-C51DDEF703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Executor A calls ctx.request_info() -&gt; workflow pauses</a:t>
            </a:r>
          </a:p>
          <a:p>
            <a:r>
              <a:t>Human responds -&gt; @response_handler fires -&gt; workflow resumes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74657A-34D8-FF0C-952D-348745456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251003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97A8F-8618-0029-DA2E-CBFC4BB54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B552BD-2199-244C-20C2-BEA344CFB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A7462-E425-0939-E845-191AC4E9C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Here's what happens under the hood. Process A runs the workflow until it hits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request_info call. At that point, a checkpoint is saved to disk — that includes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executor states, pending messages, and the pending request itself. Process A can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safely exit. Hours later, Process B starts up, creates a fresh workflow, and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calls run with just the checkpoint ID. The framework restores all the state and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re-emits the pending request_info event. From that point on, it's the same HITL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loop we already saw — collect the request, prompt the user, call run(responses=...).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only new thing is that first call to restore from the checkpoint."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897A4-9491-4FE1-99BD-CB4C827116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167461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CE06A-C2ED-50D7-F569-3A56A65AB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65569A-AC54-237A-3688-80F54C00BE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66534C-384C-BD86-588F-993BA4ACBB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08564-F3FD-916B-7DC1-54AA0E545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629398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8D086-5EB4-DCE9-B022-1F0F342A5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1FD59D-EB58-1A96-F8BA-64F87F2D32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68B5A6-6F7E-4BB6-FB61-1DC8D2976A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don't need any special resume logic in the event loop.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framework re-emits the pending request_info, so your app picks it up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same way it would on the first run. The only new line is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workflow.run(checkpoint_id=...) instead of workflow.run(message=...)."</a:t>
            </a:r>
          </a:p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ED901-D4EB-5572-8A87-C7A6726358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711636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193B6-AC9A-C026-7402-7589C037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F47397-F1AF-AEC1-F0CB-9185E64824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E0DBAF-F5EB-1F12-EBD2-77C47FBF8E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only need to save state that changes during execution. Here, _iteration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starts at zero and increments each time the agent produces a draft. If we don't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checkpoint it, a resumed workflow would think it's on iteration zero again.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notice we don't save writer_id — that's a constructor parameter that never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changes. When you resume, you rebuild the workflow from scratch with the same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constructor args, so those values are already set. on_checkpoint_save and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on_checkpoint_restore are only for runtime-mutated state that the constructor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wouldn't know about.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D8990-451E-F449-4379-EF81129FE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490101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EE0F3-1722-EC51-A09D-F07D51145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9E760C-03B9-9DF6-2945-D8BF0BBC5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3E2AA-D658-C8AD-B5E9-0A48233BA1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framework ships with two built-in backends: FileCheckpointStorage which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writes JSON files to disk, and InMemoryCheckpointStorage which is just a dict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memory — great for tests, but obviously lost when the process exits.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CheckpointStorage is a Protocol, so you can implement these six methods for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 backend you want. Let's see what that looks like with Redis."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397A3-F46F-F440-1D82-76495530B3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28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17431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5375B-5942-2D24-CB12-CA450C781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F6BAF6-5D0C-29B4-0FCB-ED5CA9FF2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3CF64-6807-9129-EC80-665EAFE5C8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 you write code, think about your schema. At minimum you need an ID,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workflow name for filtering, and a timestamp for ordering. The data column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stores the encoded checkpoint as JSON — the framework handles serialization for you.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harder questions are around scoping and lifecycle. In a multi-user app, do you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 the user ID in the workflow name, or add a user_id column? How do you prune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old checkpoints? These are application-level decisions the framework doesn't make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you.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11C9A-B79D-28F8-B3CF-9C38F0E6D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6777DB-9E19-4DE0-B5FC-477F0E7FE6A0}" type="slidenum">
              <a:rPr lang="es-MX" smtClean="0"/>
              <a:t>29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47406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4CEF5-38EE-7E55-357B-2A8AA5086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55971A-B28F-29FB-44A6-35A926670F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9E1CE5-6277-86BF-B301-8C5B447174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PostgreSQL, the implementation is even simpler than Redis. save is a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single INSERT ON CONFLICT. load is a SELECT by ID. list_checkpoints, get_latest,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delete are all one-line SQL queries — no manual indexing needed. The database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handles ordering by timestamp, filtering by workflow name, and atomic updates.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It's a drop-in replacement for FileCheckpointStorage.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7BD2F-4A86-13A9-B7AF-945037342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503676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1B11C-D9B5-C227-D699-1867FC887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D55FAC-4759-A495-0C0B-1715DA8B96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5E260C-0CCC-9D44-1E13-108B1F66A1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already saw concatenation with previous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6A590-14DF-5B57-E867-0D85C1EE6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4619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48057-2CCA-0631-788D-E64B25898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F11F80-1BD9-AECF-1EAA-5CB691C108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C595FC-5298-1D18-015D-B3E45CA280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36DF7-38C4-6C06-788C-188B3146CD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729361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98B1A-D398-A7C0-C179-B9E984EC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4BC6A6-5CA9-BEEB-59F9-3BB4DB2DB4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E21FA5-C8AF-9404-0839-312AF8E11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simplest form of HITL with Handoff. Without autonomous mode,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 time an agent responds without handing off, the framework emits a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HandoffAgentUserRequest. Your app shows the agent's message and prompts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user. You can also call terminate() to end the workflow early.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default behavior — autonomous mode is the opt-in.</a:t>
            </a:r>
          </a:p>
          <a:p>
            <a:endParaRPr lang="en-US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E40103-1334-B64E-22FD-0AC6061F8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760602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B43B5-D9C2-F703-0D02-56ED0DCFE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2E5349-E965-E283-2CA0-C8B9565765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2EED1A-D281-8C4B-4925-E6C4D3C31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err="1"/>
              <a:t>https://aiinvest-web-dev.blueground-1750adc3.westus2.azurecontainerapps.io/</a:t>
            </a:r>
          </a:p>
          <a:p>
            <a:pPr algn="l"/>
            <a:endParaRPr lang="en-US" sz="1200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CC7AE-CD0D-DD8A-72F7-47F550504C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226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FB7BC-9E59-79CE-C061-A1D9417AD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1BCB51-272B-F04F-6692-3125D7C6C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CD03ED-5B72-4118-F947-BE9CC90C7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err="1"/>
              <a:t>Each sub-agent is a tool called by the supervisor.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B528C-2978-4A50-8259-1DBB1598D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30210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F572B-8E8E-17E7-9F71-8815CA9FE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97A733-9491-0F3E-8822-B6BF51192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2ECEDC-307F-CFD4-9011-6FEEEBFE8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sz="1200" err="1"/>
              <a:t>Each sub-agent is a tool called by the supervisor.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31C96-C746-AB82-CF78-7E6A4B66A6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822E6C-A02C-4BB1-90E8-FA24A474D4B7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654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329202D2-7400-B85C-E27C-1C43F148CDD2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6972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6E44D-AF4D-B0D0-2D38-17BF590B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141154"/>
          </a:xfrm>
        </p:spPr>
        <p:txBody>
          <a:bodyPr anchor="ctr">
            <a:normAutofit/>
          </a:bodyPr>
          <a:lstStyle>
            <a:lvl1pPr>
              <a:defRPr sz="4400"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3F104-8DDE-A1E6-0719-100ACF20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50893"/>
            <a:ext cx="10515600" cy="1594358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9DBC-2956-8F47-4E6B-2E507E2D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05/03/26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  <p:sp>
        <p:nvSpPr>
          <p:cNvPr id="15" name="Freeform 8">
            <a:extLst>
              <a:ext uri="{FF2B5EF4-FFF2-40B4-BE49-F238E27FC236}">
                <a16:creationId xmlns:a16="http://schemas.microsoft.com/office/drawing/2014/main" id="{4ABE5541-45AA-5D0D-8169-D76F16EACDA3}"/>
              </a:ext>
            </a:extLst>
          </p:cNvPr>
          <p:cNvSpPr/>
          <p:nvPr userDrawn="1"/>
        </p:nvSpPr>
        <p:spPr>
          <a:xfrm>
            <a:off x="739972" y="471669"/>
            <a:ext cx="1860550" cy="525189"/>
          </a:xfrm>
          <a:custGeom>
            <a:avLst/>
            <a:gdLst/>
            <a:ahLst/>
            <a:cxnLst/>
            <a:rect l="l" t="t" r="r" b="b"/>
            <a:pathLst>
              <a:path w="3040582" h="862772">
                <a:moveTo>
                  <a:pt x="0" y="0"/>
                </a:moveTo>
                <a:lnTo>
                  <a:pt x="3040582" y="0"/>
                </a:lnTo>
                <a:lnTo>
                  <a:pt x="3040582" y="862771"/>
                </a:lnTo>
                <a:lnTo>
                  <a:pt x="0" y="8627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542" t="-57395" r="-18192" b="-58446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C6718F5-4CB2-A424-FD1A-5CC53BB88C2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91633" y="4550797"/>
            <a:ext cx="5156494" cy="159435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Role</a:t>
            </a:r>
          </a:p>
          <a:p>
            <a:pPr lvl="0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B28653AB-9915-A1B3-34BF-C7AA9C6808D9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096000" y="4550797"/>
            <a:ext cx="5249941" cy="159435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Speaker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Role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832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>
            <a:extLst>
              <a:ext uri="{FF2B5EF4-FFF2-40B4-BE49-F238E27FC236}">
                <a16:creationId xmlns:a16="http://schemas.microsoft.com/office/drawing/2014/main" id="{329202D2-7400-B85C-E27C-1C43F148CDD2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6972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6E44D-AF4D-B0D0-2D38-17BF590B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2343"/>
            <a:ext cx="10515600" cy="2852737"/>
          </a:xfrm>
        </p:spPr>
        <p:txBody>
          <a:bodyPr anchor="ctr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3F104-8DDE-A1E6-0719-100ACF20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23110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9DBC-2956-8F47-4E6B-2E507E2D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05/03/26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3161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About you</a:t>
            </a:r>
            <a:endParaRPr lang="es-MX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38C10DA9-B70C-145C-3BF4-E96609F6562A}"/>
              </a:ext>
            </a:extLst>
          </p:cNvPr>
          <p:cNvGrpSpPr/>
          <p:nvPr userDrawn="1"/>
        </p:nvGrpSpPr>
        <p:grpSpPr>
          <a:xfrm>
            <a:off x="838200" y="1690688"/>
            <a:ext cx="10515602" cy="5167313"/>
            <a:chOff x="0" y="-234844"/>
            <a:chExt cx="4396591" cy="2457932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670F8A61-A63F-DE51-BC1C-81A4C91CE8F3}"/>
                </a:ext>
              </a:extLst>
            </p:cNvPr>
            <p:cNvSpPr/>
            <p:nvPr/>
          </p:nvSpPr>
          <p:spPr>
            <a:xfrm>
              <a:off x="0" y="-234844"/>
              <a:ext cx="4396591" cy="2457932"/>
            </a:xfrm>
            <a:custGeom>
              <a:avLst/>
              <a:gdLst/>
              <a:ahLst/>
              <a:cxnLst/>
              <a:rect l="l" t="t" r="r" b="b"/>
              <a:pathLst>
                <a:path w="4396591" h="2223088">
                  <a:moveTo>
                    <a:pt x="13449" y="0"/>
                  </a:moveTo>
                  <a:lnTo>
                    <a:pt x="4383141" y="0"/>
                  </a:lnTo>
                  <a:cubicBezTo>
                    <a:pt x="4390569" y="0"/>
                    <a:pt x="4396591" y="6022"/>
                    <a:pt x="4396591" y="13449"/>
                  </a:cubicBezTo>
                  <a:lnTo>
                    <a:pt x="4396591" y="2209638"/>
                  </a:lnTo>
                  <a:cubicBezTo>
                    <a:pt x="4396591" y="2213205"/>
                    <a:pt x="4395174" y="2216626"/>
                    <a:pt x="4392651" y="2219148"/>
                  </a:cubicBezTo>
                  <a:cubicBezTo>
                    <a:pt x="4390129" y="2221671"/>
                    <a:pt x="4386708" y="2223088"/>
                    <a:pt x="4383141" y="2223088"/>
                  </a:cubicBezTo>
                  <a:lnTo>
                    <a:pt x="13449" y="2223088"/>
                  </a:lnTo>
                  <a:cubicBezTo>
                    <a:pt x="6022" y="2223088"/>
                    <a:pt x="0" y="2217066"/>
                    <a:pt x="0" y="2209638"/>
                  </a:cubicBezTo>
                  <a:lnTo>
                    <a:pt x="0" y="13449"/>
                  </a:lnTo>
                  <a:cubicBezTo>
                    <a:pt x="0" y="6022"/>
                    <a:pt x="6022" y="0"/>
                    <a:pt x="1344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6AD497AD-1ADB-DF0F-B24D-811410E7D65A}"/>
                </a:ext>
              </a:extLst>
            </p:cNvPr>
            <p:cNvSpPr txBox="1"/>
            <p:nvPr/>
          </p:nvSpPr>
          <p:spPr>
            <a:xfrm>
              <a:off x="0" y="-38100"/>
              <a:ext cx="4396590" cy="2261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267" y="1837854"/>
            <a:ext cx="9863666" cy="4339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3162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About the speakers</a:t>
            </a:r>
            <a:endParaRPr lang="es-MX"/>
          </a:p>
        </p:txBody>
      </p:sp>
      <p:grpSp>
        <p:nvGrpSpPr>
          <p:cNvPr id="12" name="Group 8">
            <a:extLst>
              <a:ext uri="{FF2B5EF4-FFF2-40B4-BE49-F238E27FC236}">
                <a16:creationId xmlns:a16="http://schemas.microsoft.com/office/drawing/2014/main" id="{84CD342C-E2D3-353F-8B33-2ACD3A1BE8B3}"/>
              </a:ext>
            </a:extLst>
          </p:cNvPr>
          <p:cNvGrpSpPr/>
          <p:nvPr userDrawn="1"/>
        </p:nvGrpSpPr>
        <p:grpSpPr>
          <a:xfrm>
            <a:off x="6891020" y="3537719"/>
            <a:ext cx="4064848" cy="3320281"/>
            <a:chOff x="0" y="0"/>
            <a:chExt cx="1513731" cy="2223088"/>
          </a:xfrm>
        </p:grpSpPr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4F86E2AA-C4BD-82FC-82EE-004E6D1D47E9}"/>
                </a:ext>
              </a:extLst>
            </p:cNvPr>
            <p:cNvSpPr/>
            <p:nvPr/>
          </p:nvSpPr>
          <p:spPr>
            <a:xfrm>
              <a:off x="0" y="0"/>
              <a:ext cx="1513731" cy="2223088"/>
            </a:xfrm>
            <a:custGeom>
              <a:avLst/>
              <a:gdLst/>
              <a:ahLst/>
              <a:cxnLst/>
              <a:rect l="l" t="t" r="r" b="b"/>
              <a:pathLst>
                <a:path w="1513731" h="2223088">
                  <a:moveTo>
                    <a:pt x="39064" y="0"/>
                  </a:moveTo>
                  <a:lnTo>
                    <a:pt x="1474668" y="0"/>
                  </a:lnTo>
                  <a:cubicBezTo>
                    <a:pt x="1485028" y="0"/>
                    <a:pt x="1494964" y="4116"/>
                    <a:pt x="1502290" y="11441"/>
                  </a:cubicBezTo>
                  <a:cubicBezTo>
                    <a:pt x="1509616" y="18767"/>
                    <a:pt x="1513731" y="28703"/>
                    <a:pt x="1513731" y="39064"/>
                  </a:cubicBezTo>
                  <a:lnTo>
                    <a:pt x="1513731" y="2184024"/>
                  </a:lnTo>
                  <a:cubicBezTo>
                    <a:pt x="1513731" y="2205598"/>
                    <a:pt x="1496242" y="2223088"/>
                    <a:pt x="1474668" y="2223088"/>
                  </a:cubicBezTo>
                  <a:lnTo>
                    <a:pt x="39064" y="2223088"/>
                  </a:lnTo>
                  <a:cubicBezTo>
                    <a:pt x="17489" y="2223088"/>
                    <a:pt x="0" y="2205598"/>
                    <a:pt x="0" y="2184024"/>
                  </a:cubicBezTo>
                  <a:lnTo>
                    <a:pt x="0" y="39064"/>
                  </a:lnTo>
                  <a:cubicBezTo>
                    <a:pt x="0" y="17489"/>
                    <a:pt x="17489" y="0"/>
                    <a:pt x="3906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EA62988-03A8-2DE6-E763-D7FD9D803333}"/>
                </a:ext>
              </a:extLst>
            </p:cNvPr>
            <p:cNvSpPr txBox="1"/>
            <p:nvPr/>
          </p:nvSpPr>
          <p:spPr>
            <a:xfrm>
              <a:off x="0" y="-47625"/>
              <a:ext cx="1513731" cy="2270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8">
            <a:extLst>
              <a:ext uri="{FF2B5EF4-FFF2-40B4-BE49-F238E27FC236}">
                <a16:creationId xmlns:a16="http://schemas.microsoft.com/office/drawing/2014/main" id="{CA45EA46-89E2-2C45-FAE0-708611EC9957}"/>
              </a:ext>
            </a:extLst>
          </p:cNvPr>
          <p:cNvGrpSpPr/>
          <p:nvPr userDrawn="1"/>
        </p:nvGrpSpPr>
        <p:grpSpPr>
          <a:xfrm>
            <a:off x="1075267" y="3537719"/>
            <a:ext cx="4064848" cy="3320281"/>
            <a:chOff x="0" y="0"/>
            <a:chExt cx="1513731" cy="2223088"/>
          </a:xfrm>
        </p:grpSpPr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321B8092-5047-EEF5-E13B-09FC7334CE51}"/>
                </a:ext>
              </a:extLst>
            </p:cNvPr>
            <p:cNvSpPr/>
            <p:nvPr/>
          </p:nvSpPr>
          <p:spPr>
            <a:xfrm>
              <a:off x="0" y="0"/>
              <a:ext cx="1513731" cy="2223088"/>
            </a:xfrm>
            <a:custGeom>
              <a:avLst/>
              <a:gdLst/>
              <a:ahLst/>
              <a:cxnLst/>
              <a:rect l="l" t="t" r="r" b="b"/>
              <a:pathLst>
                <a:path w="1513731" h="2223088">
                  <a:moveTo>
                    <a:pt x="39064" y="0"/>
                  </a:moveTo>
                  <a:lnTo>
                    <a:pt x="1474668" y="0"/>
                  </a:lnTo>
                  <a:cubicBezTo>
                    <a:pt x="1485028" y="0"/>
                    <a:pt x="1494964" y="4116"/>
                    <a:pt x="1502290" y="11441"/>
                  </a:cubicBezTo>
                  <a:cubicBezTo>
                    <a:pt x="1509616" y="18767"/>
                    <a:pt x="1513731" y="28703"/>
                    <a:pt x="1513731" y="39064"/>
                  </a:cubicBezTo>
                  <a:lnTo>
                    <a:pt x="1513731" y="2184024"/>
                  </a:lnTo>
                  <a:cubicBezTo>
                    <a:pt x="1513731" y="2205598"/>
                    <a:pt x="1496242" y="2223088"/>
                    <a:pt x="1474668" y="2223088"/>
                  </a:cubicBezTo>
                  <a:lnTo>
                    <a:pt x="39064" y="2223088"/>
                  </a:lnTo>
                  <a:cubicBezTo>
                    <a:pt x="17489" y="2223088"/>
                    <a:pt x="0" y="2205598"/>
                    <a:pt x="0" y="2184024"/>
                  </a:cubicBezTo>
                  <a:lnTo>
                    <a:pt x="0" y="39064"/>
                  </a:lnTo>
                  <a:cubicBezTo>
                    <a:pt x="0" y="17489"/>
                    <a:pt x="17489" y="0"/>
                    <a:pt x="39064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37CCC31-8AF4-47FA-8DCA-1BD5C1B435BC}"/>
                </a:ext>
              </a:extLst>
            </p:cNvPr>
            <p:cNvSpPr txBox="1"/>
            <p:nvPr/>
          </p:nvSpPr>
          <p:spPr>
            <a:xfrm>
              <a:off x="0" y="-47625"/>
              <a:ext cx="1513731" cy="22707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1EDC61F-BE19-72DD-112C-956072532F5D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458710" y="2055813"/>
            <a:ext cx="2929468" cy="2778654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867F8969-FF6A-9BCC-AAAE-F6E9D06627D3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7458711" y="5162293"/>
            <a:ext cx="2929468" cy="150239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Your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Social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64A18B6-AE97-E15D-EB56-EA636756AB0A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642957" y="5162293"/>
            <a:ext cx="2929468" cy="1502393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US"/>
              <a:t>Your Name</a:t>
            </a:r>
          </a:p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Social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A49CB7E8-945A-668B-6849-ED0A7A9C6C14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1642957" y="2039673"/>
            <a:ext cx="2929468" cy="2778654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20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Main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38C10DA9-B70C-145C-3BF4-E96609F6562A}"/>
              </a:ext>
            </a:extLst>
          </p:cNvPr>
          <p:cNvGrpSpPr/>
          <p:nvPr userDrawn="1"/>
        </p:nvGrpSpPr>
        <p:grpSpPr>
          <a:xfrm>
            <a:off x="838200" y="2184401"/>
            <a:ext cx="10515600" cy="4673600"/>
            <a:chOff x="0" y="0"/>
            <a:chExt cx="4396590" cy="2223088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670F8A61-A63F-DE51-BC1C-81A4C91CE8F3}"/>
                </a:ext>
              </a:extLst>
            </p:cNvPr>
            <p:cNvSpPr/>
            <p:nvPr/>
          </p:nvSpPr>
          <p:spPr>
            <a:xfrm>
              <a:off x="0" y="0"/>
              <a:ext cx="4396591" cy="2223088"/>
            </a:xfrm>
            <a:custGeom>
              <a:avLst/>
              <a:gdLst/>
              <a:ahLst/>
              <a:cxnLst/>
              <a:rect l="l" t="t" r="r" b="b"/>
              <a:pathLst>
                <a:path w="4396591" h="2223088">
                  <a:moveTo>
                    <a:pt x="13449" y="0"/>
                  </a:moveTo>
                  <a:lnTo>
                    <a:pt x="4383141" y="0"/>
                  </a:lnTo>
                  <a:cubicBezTo>
                    <a:pt x="4390569" y="0"/>
                    <a:pt x="4396591" y="6022"/>
                    <a:pt x="4396591" y="13449"/>
                  </a:cubicBezTo>
                  <a:lnTo>
                    <a:pt x="4396591" y="2209638"/>
                  </a:lnTo>
                  <a:cubicBezTo>
                    <a:pt x="4396591" y="2213205"/>
                    <a:pt x="4395174" y="2216626"/>
                    <a:pt x="4392651" y="2219148"/>
                  </a:cubicBezTo>
                  <a:cubicBezTo>
                    <a:pt x="4390129" y="2221671"/>
                    <a:pt x="4386708" y="2223088"/>
                    <a:pt x="4383141" y="2223088"/>
                  </a:cubicBezTo>
                  <a:lnTo>
                    <a:pt x="13449" y="2223088"/>
                  </a:lnTo>
                  <a:cubicBezTo>
                    <a:pt x="6022" y="2223088"/>
                    <a:pt x="0" y="2217066"/>
                    <a:pt x="0" y="2209638"/>
                  </a:cubicBezTo>
                  <a:lnTo>
                    <a:pt x="0" y="13449"/>
                  </a:lnTo>
                  <a:cubicBezTo>
                    <a:pt x="0" y="6022"/>
                    <a:pt x="6022" y="0"/>
                    <a:pt x="1344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6AD497AD-1ADB-DF0F-B24D-811410E7D65A}"/>
                </a:ext>
              </a:extLst>
            </p:cNvPr>
            <p:cNvSpPr txBox="1"/>
            <p:nvPr/>
          </p:nvSpPr>
          <p:spPr>
            <a:xfrm>
              <a:off x="0" y="-38100"/>
              <a:ext cx="4396590" cy="2261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267" y="2590800"/>
            <a:ext cx="9863666" cy="3586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4878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0295FCD2-FBD5-1EFB-6B99-A5A5A40535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6307667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Topic 2</a:t>
            </a:r>
            <a:endParaRPr lang="es-MX"/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38C10DA9-B70C-145C-3BF4-E96609F6562A}"/>
              </a:ext>
            </a:extLst>
          </p:cNvPr>
          <p:cNvGrpSpPr/>
          <p:nvPr userDrawn="1"/>
        </p:nvGrpSpPr>
        <p:grpSpPr>
          <a:xfrm>
            <a:off x="838200" y="2184401"/>
            <a:ext cx="10515600" cy="4673600"/>
            <a:chOff x="0" y="0"/>
            <a:chExt cx="4396590" cy="2223088"/>
          </a:xfrm>
        </p:grpSpPr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670F8A61-A63F-DE51-BC1C-81A4C91CE8F3}"/>
                </a:ext>
              </a:extLst>
            </p:cNvPr>
            <p:cNvSpPr/>
            <p:nvPr/>
          </p:nvSpPr>
          <p:spPr>
            <a:xfrm>
              <a:off x="0" y="0"/>
              <a:ext cx="4396591" cy="2223088"/>
            </a:xfrm>
            <a:custGeom>
              <a:avLst/>
              <a:gdLst/>
              <a:ahLst/>
              <a:cxnLst/>
              <a:rect l="l" t="t" r="r" b="b"/>
              <a:pathLst>
                <a:path w="4396591" h="2223088">
                  <a:moveTo>
                    <a:pt x="13449" y="0"/>
                  </a:moveTo>
                  <a:lnTo>
                    <a:pt x="4383141" y="0"/>
                  </a:lnTo>
                  <a:cubicBezTo>
                    <a:pt x="4390569" y="0"/>
                    <a:pt x="4396591" y="6022"/>
                    <a:pt x="4396591" y="13449"/>
                  </a:cubicBezTo>
                  <a:lnTo>
                    <a:pt x="4396591" y="2209638"/>
                  </a:lnTo>
                  <a:cubicBezTo>
                    <a:pt x="4396591" y="2213205"/>
                    <a:pt x="4395174" y="2216626"/>
                    <a:pt x="4392651" y="2219148"/>
                  </a:cubicBezTo>
                  <a:cubicBezTo>
                    <a:pt x="4390129" y="2221671"/>
                    <a:pt x="4386708" y="2223088"/>
                    <a:pt x="4383141" y="2223088"/>
                  </a:cubicBezTo>
                  <a:lnTo>
                    <a:pt x="13449" y="2223088"/>
                  </a:lnTo>
                  <a:cubicBezTo>
                    <a:pt x="6022" y="2223088"/>
                    <a:pt x="0" y="2217066"/>
                    <a:pt x="0" y="2209638"/>
                  </a:cubicBezTo>
                  <a:lnTo>
                    <a:pt x="0" y="13449"/>
                  </a:lnTo>
                  <a:cubicBezTo>
                    <a:pt x="0" y="6022"/>
                    <a:pt x="6022" y="0"/>
                    <a:pt x="13449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6AD497AD-1ADB-DF0F-B24D-811410E7D65A}"/>
                </a:ext>
              </a:extLst>
            </p:cNvPr>
            <p:cNvSpPr txBox="1"/>
            <p:nvPr/>
          </p:nvSpPr>
          <p:spPr>
            <a:xfrm>
              <a:off x="0" y="-38100"/>
              <a:ext cx="4396590" cy="22611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267" y="2590800"/>
            <a:ext cx="9863666" cy="3586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3DAB7B18-2172-6B5E-E96C-86A5E2B0D6A1}"/>
              </a:ext>
            </a:extLst>
          </p:cNvPr>
          <p:cNvSpPr/>
          <p:nvPr userDrawn="1"/>
        </p:nvSpPr>
        <p:spPr>
          <a:xfrm>
            <a:off x="6096000" y="-5658646"/>
            <a:ext cx="15523832" cy="14165497"/>
          </a:xfrm>
          <a:custGeom>
            <a:avLst/>
            <a:gdLst/>
            <a:ahLst/>
            <a:cxnLst/>
            <a:rect l="l" t="t" r="r" b="b"/>
            <a:pathLst>
              <a:path w="15523832" h="14165497">
                <a:moveTo>
                  <a:pt x="0" y="0"/>
                </a:moveTo>
                <a:lnTo>
                  <a:pt x="15523832" y="0"/>
                </a:lnTo>
                <a:lnTo>
                  <a:pt x="15523832" y="14165497"/>
                </a:lnTo>
                <a:lnTo>
                  <a:pt x="0" y="1416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1EDC61F-BE19-72DD-112C-956072532F5D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696201" y="1146176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329202D2-7400-B85C-E27C-1C43F148CDD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7887"/>
            <a:ext cx="12192000" cy="6875887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/>
          <a:lstStyle/>
          <a:p>
            <a:endParaRPr lang="es-MX"/>
          </a:p>
        </p:txBody>
      </p:sp>
      <p:grpSp>
        <p:nvGrpSpPr>
          <p:cNvPr id="15" name="Group 8">
            <a:extLst>
              <a:ext uri="{FF2B5EF4-FFF2-40B4-BE49-F238E27FC236}">
                <a16:creationId xmlns:a16="http://schemas.microsoft.com/office/drawing/2014/main" id="{D19A47D0-0386-C2EB-3688-D5D1F7A0FD96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81027" y="677183"/>
            <a:ext cx="10829946" cy="5485745"/>
            <a:chOff x="0" y="-47625"/>
            <a:chExt cx="4197679" cy="2032576"/>
          </a:xfrm>
        </p:grpSpPr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0C78AA4D-280D-040C-30AF-540254FEE34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0" y="0"/>
              <a:ext cx="4197679" cy="1984951"/>
            </a:xfrm>
            <a:custGeom>
              <a:avLst/>
              <a:gdLst/>
              <a:ahLst/>
              <a:cxnLst/>
              <a:rect l="l" t="t" r="r" b="b"/>
              <a:pathLst>
                <a:path w="4197679" h="1984951">
                  <a:moveTo>
                    <a:pt x="14087" y="0"/>
                  </a:moveTo>
                  <a:lnTo>
                    <a:pt x="4183592" y="0"/>
                  </a:lnTo>
                  <a:cubicBezTo>
                    <a:pt x="4191372" y="0"/>
                    <a:pt x="4197679" y="6307"/>
                    <a:pt x="4197679" y="14087"/>
                  </a:cubicBezTo>
                  <a:lnTo>
                    <a:pt x="4197679" y="1970864"/>
                  </a:lnTo>
                  <a:cubicBezTo>
                    <a:pt x="4197679" y="1978644"/>
                    <a:pt x="4191372" y="1984951"/>
                    <a:pt x="4183592" y="1984951"/>
                  </a:cubicBezTo>
                  <a:lnTo>
                    <a:pt x="14087" y="1984951"/>
                  </a:lnTo>
                  <a:cubicBezTo>
                    <a:pt x="6307" y="1984951"/>
                    <a:pt x="0" y="1978644"/>
                    <a:pt x="0" y="1970864"/>
                  </a:cubicBezTo>
                  <a:lnTo>
                    <a:pt x="0" y="14087"/>
                  </a:lnTo>
                  <a:cubicBezTo>
                    <a:pt x="0" y="6307"/>
                    <a:pt x="6307" y="0"/>
                    <a:pt x="1408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17" name="TextBox 10">
              <a:extLst>
                <a:ext uri="{FF2B5EF4-FFF2-40B4-BE49-F238E27FC236}">
                  <a16:creationId xmlns:a16="http://schemas.microsoft.com/office/drawing/2014/main" id="{AACC4D65-72F3-882E-0C74-29085F7FAA33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197679" cy="2032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itle 1">
            <a:extLst>
              <a:ext uri="{FF2B5EF4-FFF2-40B4-BE49-F238E27FC236}">
                <a16:creationId xmlns:a16="http://schemas.microsoft.com/office/drawing/2014/main" id="{B81E6FA9-5712-682C-A5FA-B06C89763C5B}"/>
              </a:ext>
            </a:extLst>
          </p:cNvPr>
          <p:cNvSpPr txBox="1">
            <a:spLocks/>
          </p:cNvSpPr>
          <p:nvPr userDrawn="1"/>
        </p:nvSpPr>
        <p:spPr>
          <a:xfrm>
            <a:off x="978147" y="1008156"/>
            <a:ext cx="10235705" cy="7652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200846C-D6C9-853D-DB75-4B0B6DF6E2F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78147" y="1964047"/>
            <a:ext cx="10235705" cy="38525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7ACA83-8A24-CEEC-CFF9-272221E05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47" y="1026203"/>
            <a:ext cx="10235705" cy="8064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53289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- opti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">
            <a:extLst>
              <a:ext uri="{FF2B5EF4-FFF2-40B4-BE49-F238E27FC236}">
                <a16:creationId xmlns:a16="http://schemas.microsoft.com/office/drawing/2014/main" id="{DA6A76C6-C0A4-6790-3061-968E4DAC09D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38200" y="0"/>
            <a:ext cx="11353800" cy="6858000"/>
            <a:chOff x="0" y="0"/>
            <a:chExt cx="4197679" cy="1984951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CC5A72BB-BDAC-3A05-54EA-1285727BD2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197679" cy="1984951"/>
            </a:xfrm>
            <a:custGeom>
              <a:avLst/>
              <a:gdLst/>
              <a:ahLst/>
              <a:cxnLst/>
              <a:rect l="l" t="t" r="r" b="b"/>
              <a:pathLst>
                <a:path w="4197679" h="1984951">
                  <a:moveTo>
                    <a:pt x="14087" y="0"/>
                  </a:moveTo>
                  <a:lnTo>
                    <a:pt x="4183592" y="0"/>
                  </a:lnTo>
                  <a:cubicBezTo>
                    <a:pt x="4191372" y="0"/>
                    <a:pt x="4197679" y="6307"/>
                    <a:pt x="4197679" y="14087"/>
                  </a:cubicBezTo>
                  <a:lnTo>
                    <a:pt x="4197679" y="1970864"/>
                  </a:lnTo>
                  <a:cubicBezTo>
                    <a:pt x="4197679" y="1978644"/>
                    <a:pt x="4191372" y="1984951"/>
                    <a:pt x="4183592" y="1984951"/>
                  </a:cubicBezTo>
                  <a:lnTo>
                    <a:pt x="14087" y="1984951"/>
                  </a:lnTo>
                  <a:cubicBezTo>
                    <a:pt x="6307" y="1984951"/>
                    <a:pt x="0" y="1978644"/>
                    <a:pt x="0" y="1970864"/>
                  </a:cubicBezTo>
                  <a:lnTo>
                    <a:pt x="0" y="14087"/>
                  </a:lnTo>
                  <a:cubicBezTo>
                    <a:pt x="0" y="6307"/>
                    <a:pt x="6307" y="0"/>
                    <a:pt x="1408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28219582-B644-88FC-10E4-1824D5EB8D0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197679" cy="2032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6" y="458258"/>
            <a:ext cx="1091398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6" y="1918758"/>
            <a:ext cx="109139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60832C5C-8902-D453-4845-67C132625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7002" y="-29333"/>
            <a:ext cx="915202" cy="6887333"/>
          </a:xfrm>
          <a:custGeom>
            <a:avLst/>
            <a:gdLst/>
            <a:ahLst/>
            <a:cxnLst/>
            <a:rect l="l" t="t" r="r" b="b"/>
            <a:pathLst>
              <a:path w="1028700" h="10287000">
                <a:moveTo>
                  <a:pt x="0" y="0"/>
                </a:moveTo>
                <a:lnTo>
                  <a:pt x="1028700" y="0"/>
                </a:lnTo>
                <a:lnTo>
                  <a:pt x="10287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6">
                  <a:lumMod val="67000"/>
                </a:schemeClr>
              </a:gs>
              <a:gs pos="47000">
                <a:schemeClr val="accent6">
                  <a:lumMod val="97000"/>
                  <a:lumOff val="3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6200000" scaled="1"/>
          </a:gradFill>
        </p:spPr>
        <p:txBody>
          <a:bodyPr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086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o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">
            <a:extLst>
              <a:ext uri="{FF2B5EF4-FFF2-40B4-BE49-F238E27FC236}">
                <a16:creationId xmlns:a16="http://schemas.microsoft.com/office/drawing/2014/main" id="{DA6A76C6-C0A4-6790-3061-968E4DAC09D7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38200" y="0"/>
            <a:ext cx="11353800" cy="6858000"/>
            <a:chOff x="0" y="0"/>
            <a:chExt cx="4197679" cy="1984951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CC5A72BB-BDAC-3A05-54EA-1285727BD27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197679" cy="1984951"/>
            </a:xfrm>
            <a:custGeom>
              <a:avLst/>
              <a:gdLst/>
              <a:ahLst/>
              <a:cxnLst/>
              <a:rect l="l" t="t" r="r" b="b"/>
              <a:pathLst>
                <a:path w="4197679" h="1984951">
                  <a:moveTo>
                    <a:pt x="14087" y="0"/>
                  </a:moveTo>
                  <a:lnTo>
                    <a:pt x="4183592" y="0"/>
                  </a:lnTo>
                  <a:cubicBezTo>
                    <a:pt x="4191372" y="0"/>
                    <a:pt x="4197679" y="6307"/>
                    <a:pt x="4197679" y="14087"/>
                  </a:cubicBezTo>
                  <a:lnTo>
                    <a:pt x="4197679" y="1970864"/>
                  </a:lnTo>
                  <a:cubicBezTo>
                    <a:pt x="4197679" y="1978644"/>
                    <a:pt x="4191372" y="1984951"/>
                    <a:pt x="4183592" y="1984951"/>
                  </a:cubicBezTo>
                  <a:lnTo>
                    <a:pt x="14087" y="1984951"/>
                  </a:lnTo>
                  <a:cubicBezTo>
                    <a:pt x="6307" y="1984951"/>
                    <a:pt x="0" y="1978644"/>
                    <a:pt x="0" y="1970864"/>
                  </a:cubicBezTo>
                  <a:lnTo>
                    <a:pt x="0" y="14087"/>
                  </a:lnTo>
                  <a:cubicBezTo>
                    <a:pt x="0" y="6307"/>
                    <a:pt x="6307" y="0"/>
                    <a:pt x="14087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TextBox 10">
              <a:extLst>
                <a:ext uri="{FF2B5EF4-FFF2-40B4-BE49-F238E27FC236}">
                  <a16:creationId xmlns:a16="http://schemas.microsoft.com/office/drawing/2014/main" id="{28219582-B644-88FC-10E4-1824D5EB8D0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47625"/>
              <a:ext cx="4197679" cy="20325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8109" y="3877577"/>
            <a:ext cx="10913982" cy="7635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6" y="4766731"/>
            <a:ext cx="10913980" cy="1638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60832C5C-8902-D453-4845-67C132625F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77002" y="-29333"/>
            <a:ext cx="915202" cy="6887333"/>
          </a:xfrm>
          <a:custGeom>
            <a:avLst/>
            <a:gdLst/>
            <a:ahLst/>
            <a:cxnLst/>
            <a:rect l="l" t="t" r="r" b="b"/>
            <a:pathLst>
              <a:path w="1028700" h="10287000">
                <a:moveTo>
                  <a:pt x="0" y="0"/>
                </a:moveTo>
                <a:lnTo>
                  <a:pt x="1028700" y="0"/>
                </a:lnTo>
                <a:lnTo>
                  <a:pt x="10287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64285" r="-664285"/>
            </a:stretch>
          </a:blipFill>
        </p:spPr>
        <p:txBody>
          <a:bodyPr/>
          <a:lstStyle/>
          <a:p>
            <a:endParaRPr lang="es-MX"/>
          </a:p>
        </p:txBody>
      </p:sp>
      <p:grpSp>
        <p:nvGrpSpPr>
          <p:cNvPr id="14" name="Group 5">
            <a:extLst>
              <a:ext uri="{FF2B5EF4-FFF2-40B4-BE49-F238E27FC236}">
                <a16:creationId xmlns:a16="http://schemas.microsoft.com/office/drawing/2014/main" id="{96685936-0169-34D6-D524-77DA27F95E5C}"/>
              </a:ext>
            </a:extLst>
          </p:cNvPr>
          <p:cNvGrpSpPr/>
          <p:nvPr userDrawn="1"/>
        </p:nvGrpSpPr>
        <p:grpSpPr>
          <a:xfrm>
            <a:off x="276434" y="-29334"/>
            <a:ext cx="576580" cy="6858001"/>
            <a:chOff x="0" y="0"/>
            <a:chExt cx="923323" cy="13716000"/>
          </a:xfrm>
        </p:grpSpPr>
        <p:sp>
          <p:nvSpPr>
            <p:cNvPr id="15" name="AutoShape 6">
              <a:extLst>
                <a:ext uri="{FF2B5EF4-FFF2-40B4-BE49-F238E27FC236}">
                  <a16:creationId xmlns:a16="http://schemas.microsoft.com/office/drawing/2014/main" id="{4BBEC499-967A-9B2E-663D-537ACDDA5F8D}"/>
                </a:ext>
              </a:extLst>
            </p:cNvPr>
            <p:cNvSpPr/>
            <p:nvPr/>
          </p:nvSpPr>
          <p:spPr>
            <a:xfrm rot="-5400000">
              <a:off x="-5941027" y="6851650"/>
              <a:ext cx="13716000" cy="0"/>
            </a:xfrm>
            <a:prstGeom prst="line">
              <a:avLst/>
            </a:prstGeom>
            <a:ln w="12700" cap="rnd">
              <a:solidFill>
                <a:srgbClr val="121212">
                  <a:alpha val="26667"/>
                </a:srgbClr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s-MX"/>
            </a:p>
          </p:txBody>
        </p:sp>
        <p:sp>
          <p:nvSpPr>
            <p:cNvPr id="16" name="Freeform 7">
              <a:extLst>
                <a:ext uri="{FF2B5EF4-FFF2-40B4-BE49-F238E27FC236}">
                  <a16:creationId xmlns:a16="http://schemas.microsoft.com/office/drawing/2014/main" id="{AC43B49D-943A-E1AC-A2BF-FB8BA8DA7140}"/>
                </a:ext>
              </a:extLst>
            </p:cNvPr>
            <p:cNvSpPr/>
            <p:nvPr/>
          </p:nvSpPr>
          <p:spPr>
            <a:xfrm>
              <a:off x="0" y="6724554"/>
              <a:ext cx="400588" cy="266892"/>
            </a:xfrm>
            <a:custGeom>
              <a:avLst/>
              <a:gdLst/>
              <a:ahLst/>
              <a:cxnLst/>
              <a:rect l="l" t="t" r="r" b="b"/>
              <a:pathLst>
                <a:path w="400588" h="266892">
                  <a:moveTo>
                    <a:pt x="0" y="0"/>
                  </a:moveTo>
                  <a:lnTo>
                    <a:pt x="400588" y="0"/>
                  </a:lnTo>
                  <a:lnTo>
                    <a:pt x="400588" y="266892"/>
                  </a:lnTo>
                  <a:lnTo>
                    <a:pt x="0" y="266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7" name="AutoShape 8">
            <a:extLst>
              <a:ext uri="{FF2B5EF4-FFF2-40B4-BE49-F238E27FC236}">
                <a16:creationId xmlns:a16="http://schemas.microsoft.com/office/drawing/2014/main" id="{5B0F7F05-AE44-780B-B6D3-1C7601CBDAFE}"/>
              </a:ext>
            </a:extLst>
          </p:cNvPr>
          <p:cNvSpPr/>
          <p:nvPr userDrawn="1"/>
        </p:nvSpPr>
        <p:spPr>
          <a:xfrm>
            <a:off x="861483" y="3455987"/>
            <a:ext cx="11330517" cy="4763"/>
          </a:xfrm>
          <a:prstGeom prst="line">
            <a:avLst/>
          </a:prstGeom>
          <a:ln w="9525" cap="rnd">
            <a:solidFill>
              <a:srgbClr val="121212">
                <a:alpha val="26667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ABC146F-477C-6739-48C0-131FE8CF8B74}"/>
              </a:ext>
            </a:extLst>
          </p:cNvPr>
          <p:cNvSpPr txBox="1">
            <a:spLocks/>
          </p:cNvSpPr>
          <p:nvPr userDrawn="1"/>
        </p:nvSpPr>
        <p:spPr>
          <a:xfrm>
            <a:off x="1066804" y="495445"/>
            <a:ext cx="10913982" cy="7635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MX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B9CD599-72CC-2EDA-9D9B-CA67650500D9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058111" y="1462165"/>
            <a:ext cx="10913980" cy="1638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C9B0F46-90AA-AF3A-87DF-2BCBB2898C3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1066806" y="389568"/>
            <a:ext cx="10913980" cy="936770"/>
          </a:xfrm>
        </p:spPr>
        <p:txBody>
          <a:bodyPr>
            <a:normAutofit/>
          </a:bodyPr>
          <a:lstStyle>
            <a:lvl1pPr>
              <a:defRPr sz="4400">
                <a:latin typeface="Aptos Display (Headings)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38883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!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FAE02A-0F3D-772B-AE13-4C3242EB0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05/03/26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842665-4ED8-5551-CD4E-445F4C4D9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EBB6C-0AEE-790B-DA43-889582BD0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74405D5D-B20D-5EDC-B7DF-DA29FEB96A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1" y="0"/>
            <a:ext cx="12276667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5638" b="-75638"/>
            </a:stretch>
          </a:blipFill>
        </p:spPr>
        <p:txBody>
          <a:bodyPr/>
          <a:lstStyle/>
          <a:p>
            <a:endParaRPr lang="es-MX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A1B2258-EEDF-F0FE-1595-6FF5A9003C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>
            <a:lvl1pPr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you!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8086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0115F-7367-9831-CC7F-5F32AB3CD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8A29B-4D9A-F0BE-9E0B-F63084694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3024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6E44D-AF4D-B0D0-2D38-17BF590B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73F104-8DDE-A1E6-0719-100ACF208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69DBC-2956-8F47-4E6B-2E507E2D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05/03/26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8C4A3-03C4-5E35-EE53-3E35A3DC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BA0968-75D8-3240-3B7B-524F6AC9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9902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52D45-3A83-AEA7-3C98-A922D9D6F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8A29E-D909-EBD3-F645-D91D5C2795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D2051-1577-C401-CF83-F5F6F0F17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02E4E-CF91-9091-E3E4-1849EDA11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05/03/26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E6E776-C01B-C144-3A80-F16152D5D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032A7-C620-28FF-7E02-0504302A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395493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243B-4CE5-2C2B-3D4A-4310222E3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AB730-BF81-A82B-31EA-B887DDDB3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1F2ED-813E-436A-FA87-DF185BDDC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EA6617-C184-23FC-1604-80399909F9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2FA727-B2C2-C624-CD3A-67F966E3E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406E74-28DE-A028-1DF0-5CA3D35F8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05/03/26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9A0C9B-9D47-2AC8-32D1-29D486BB4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D3F9C2-F47A-949C-50EB-A6E0CCCB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47725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ACA44-E74A-143E-0F9D-CF483D8B3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5C20D3-4F4E-8DC2-34B5-EFF7681D4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05/03/26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FBE658-2B11-6008-C727-3F41C4B90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909BDF-639D-E898-ED35-F9155D5B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0928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890D4-0A29-C023-D79F-0EB186935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370AF-B029-62A6-6D49-5CC9FBFF7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91DC73-01B7-2007-BF88-0F021A28E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DF19B-1A42-1962-C23A-450FDDF67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05/03/26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EAFA9-490E-0AAA-E440-69610B8AC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D818C8-0054-0E70-D43A-429F259C7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2289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F2F8C-D5D9-76D4-64EA-223A757BB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73DEF9-6A1B-863A-2C3A-AC7C336563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EE354-7F91-C959-7DEB-A6D1172E58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24381-4A22-1980-7BA8-6E4052F1E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05/03/26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704551-DD7B-01B9-0EBE-60F2387CF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59E7-B985-AF19-1695-41D3383E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878028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741D8-C192-BE6C-99B4-FD11C0C11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42917-210D-567F-2CB7-C194B4504A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45793-45A5-5204-0F61-DD574294D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05/03/26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61B22-5D74-A27A-395B-C4746AF5E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9BF5D-DD6D-6E5B-A417-DD07F5D81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06290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9B1E22-1FE5-FEA0-ABED-031BE49EA2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2F47FB-61AC-82AB-54E7-E333D1BAB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4106A-9714-F515-A1EF-BAE67E2E0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94684-00AF-422F-9E70-484377D91052}" type="datetimeFigureOut">
              <a:rPr lang="es-MX" smtClean="0"/>
              <a:t>05/03/26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850FC-F9C7-4384-87D7-4CE6498E8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133DE-7937-C763-59A1-AC55CDAD4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89505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6848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38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1635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861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7200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2103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074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5427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2731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3882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412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011B5D-82C1-6F6D-D8BA-6C1053195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9B62F-7E8A-D6CF-D5AB-E82D2B53D1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53780-EE84-6AB5-4311-157708D6A5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94684-00AF-422F-9E70-484377D91052}" type="datetimeFigureOut">
              <a:rPr lang="es-MX" smtClean="0"/>
              <a:t>05/03/26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A6702-23AF-355E-E6EF-D39091A582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2D74D-5BAE-5E6C-D834-ABB626BE9E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30F42-2E61-4F47-872B-F268A27A1A27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0375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4" r:id="rId2"/>
    <p:sldLayoutId id="2147483674" r:id="rId3"/>
    <p:sldLayoutId id="2147483675" r:id="rId4"/>
    <p:sldLayoutId id="2147483673" r:id="rId5"/>
    <p:sldLayoutId id="2147483676" r:id="rId6"/>
    <p:sldLayoutId id="2147483679" r:id="rId7"/>
    <p:sldLayoutId id="2147483680" r:id="rId8"/>
    <p:sldLayoutId id="2147483681" r:id="rId9"/>
    <p:sldLayoutId id="2147483655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6" r:id="rId16"/>
    <p:sldLayoutId id="2147483657" r:id="rId17"/>
    <p:sldLayoutId id="2147483658" r:id="rId18"/>
    <p:sldLayoutId id="214748365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457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PythonAgents/serie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8.png"/><Relationship Id="rId4" Type="http://schemas.openxmlformats.org/officeDocument/2006/relationships/hyperlink" Target="https://aka.ms/pythonmcp/serie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pythonagents/slides/advancedworkflows" TargetMode="External"/><Relationship Id="rId2" Type="http://schemas.openxmlformats.org/officeDocument/2006/relationships/hyperlink" Target="https://www.pamelafox.org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ka.ms/pythonagents/slides/hit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aka.ms/python-agentframework-demos" TargetMode="Externa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agent-framework/agents/tools/tool-approva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agent_tool_approval.p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agent_tool_approval.py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agent-framework/workflows/requests-and-responses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svg"/><Relationship Id="rId4" Type="http://schemas.openxmlformats.org/officeDocument/2006/relationships/hyperlink" Target="https://github.com/Azure-Samples/python-agentframework-demos/blob/main/examples/workflow_hitl_requests.py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hitl_requests.p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hitl_requests.py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github.com/Azure-Samples/python-agentframework-demos/blob/main/examples/workflow_hitl_requests_structured.py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hitl_requests_structured.py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hitl_requests_structured.py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agent-framework/workflows/checkpoints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hitl_checkpoint.py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hitl_checkpoint.py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hitl_checkpoint.py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hitl_checkpoint_pg.py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agent-framework/workflows/orchestrations/handoff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hitl_handoff.py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python-agentframework-demos/blob/main/examples/workflow_hitl_handoff.py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agent-openai-python-banking-assistant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zure-Samples/agent-openai-python-banking-assistant/blob/main/app/backend/app/agents/azure_chat/handoff_orchestrator.py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aka.ms/pythonagents/resources" TargetMode="External"/><Relationship Id="rId2" Type="http://schemas.openxmlformats.org/officeDocument/2006/relationships/hyperlink" Target="https://aka.ms/pythonai/resources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ka.ms/PythonAgents/series" TargetMode="External"/><Relationship Id="rId4" Type="http://schemas.openxmlformats.org/officeDocument/2006/relationships/hyperlink" Target="https://aka.ms/pythonai/o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A75E4-B0C1-D5B9-4F77-859CD22F2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yellow snake logo&#10;&#10;AI-generated content may be incorrect.">
            <a:extLst>
              <a:ext uri="{FF2B5EF4-FFF2-40B4-BE49-F238E27FC236}">
                <a16:creationId xmlns:a16="http://schemas.microsoft.com/office/drawing/2014/main" id="{92C9A098-1140-208F-86A8-E0D0F0B90E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39" r="-221" b="11498"/>
          <a:stretch>
            <a:fillRect/>
          </a:stretch>
        </p:blipFill>
        <p:spPr>
          <a:xfrm>
            <a:off x="269009" y="376213"/>
            <a:ext cx="1721697" cy="1840238"/>
          </a:xfrm>
          <a:prstGeom prst="rect">
            <a:avLst/>
          </a:prstGeom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005A3F4-14C3-A8EA-A87D-F7FC6B897E89}"/>
              </a:ext>
            </a:extLst>
          </p:cNvPr>
          <p:cNvSpPr txBox="1"/>
          <p:nvPr/>
        </p:nvSpPr>
        <p:spPr>
          <a:xfrm>
            <a:off x="432984" y="2449816"/>
            <a:ext cx="11326031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🛠️ Feb 24:</a:t>
            </a:r>
            <a:r>
              <a:rPr lang="en-US" sz="3500" b="0" i="0" u="none" strike="noStrike" baseline="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Building your first agent in Python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🧠 </a:t>
            </a:r>
            <a:r>
              <a:rPr lang="en-US" sz="3500" b="0" i="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25: Adding context and memory to agents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📊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26: Monitoring and evaluating agents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🔀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3: Building your first AI-driven workflows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🕸️ </a:t>
            </a:r>
            <a:r>
              <a:rPr lang="en-US" sz="3500" b="0" i="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4: Orchestrating advanced multi-agent workflows</a:t>
            </a:r>
          </a:p>
          <a:p>
            <a:r>
              <a:rPr lang="en-US" sz="3500">
                <a:latin typeface="Quire Sans" panose="020B0502040400020003" pitchFamily="34" charset="0"/>
                <a:cs typeface="Quire Sans" panose="020B0502040400020003" pitchFamily="34" charset="0"/>
              </a:rPr>
              <a:t>🙋🏽 </a:t>
            </a:r>
            <a:r>
              <a:rPr lang="en-US" sz="35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5: Adding a human-in-the-loop to workflows</a:t>
            </a:r>
            <a:endParaRPr lang="en-US" sz="3500" b="0" i="0">
              <a:solidFill>
                <a:srgbClr val="000000"/>
              </a:solidFill>
              <a:latin typeface="Quire Sans" panose="020B0502040400020003" pitchFamily="34" charset="0"/>
              <a:ea typeface="Segoe UI"/>
              <a:cs typeface="Quire Sans" panose="020B05020404000200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D3A62F-AD7C-5560-5319-1B085F20C1AC}"/>
              </a:ext>
            </a:extLst>
          </p:cNvPr>
          <p:cNvSpPr txBox="1"/>
          <p:nvPr/>
        </p:nvSpPr>
        <p:spPr>
          <a:xfrm>
            <a:off x="360923" y="5909261"/>
            <a:ext cx="11945463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500" b="1" dirty="0">
                <a:solidFill>
                  <a:srgbClr val="000000"/>
                </a:solidFill>
                <a:latin typeface="Quire Sans"/>
                <a:ea typeface="Segoe UI"/>
                <a:cs typeface="Segoe UI"/>
              </a:rPr>
              <a:t>🔗</a:t>
            </a:r>
            <a:r>
              <a:rPr lang="en-US" sz="4400" b="1" dirty="0">
                <a:solidFill>
                  <a:srgbClr val="000000"/>
                </a:solidFill>
                <a:latin typeface="Quire Sans"/>
                <a:ea typeface="Segoe UI"/>
                <a:cs typeface="Segoe UI"/>
              </a:rPr>
              <a:t> Register at </a:t>
            </a:r>
            <a:r>
              <a:rPr lang="en-US" sz="4400" b="1" dirty="0">
                <a:solidFill>
                  <a:srgbClr val="306998"/>
                </a:solidFill>
                <a:latin typeface="Quire Sans"/>
                <a:ea typeface="Segoe UI"/>
                <a:cs typeface="Segoe 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aka.ms/PythonAgents/series</a:t>
            </a:r>
            <a:endParaRPr lang="en-US" sz="4400" b="1" i="0" dirty="0">
              <a:solidFill>
                <a:srgbClr val="306998"/>
              </a:solidFill>
              <a:latin typeface="Quire Sans"/>
              <a:ea typeface="Segoe UI"/>
              <a:cs typeface="Segoe UI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3" name="Picture 12" descr="A diagram of a network&#10;&#10;AI-generated content may be incorrect.">
            <a:extLst>
              <a:ext uri="{FF2B5EF4-FFF2-40B4-BE49-F238E27FC236}">
                <a16:creationId xmlns:a16="http://schemas.microsoft.com/office/drawing/2014/main" id="{BB1C877B-1502-7B46-5E1D-99B6815B4F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0434" y="184871"/>
            <a:ext cx="3074063" cy="2129487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3A727494-82B4-69DA-D3F9-CE82888691C7}"/>
              </a:ext>
            </a:extLst>
          </p:cNvPr>
          <p:cNvSpPr txBox="1">
            <a:spLocks/>
          </p:cNvSpPr>
          <p:nvPr/>
        </p:nvSpPr>
        <p:spPr>
          <a:xfrm>
            <a:off x="1990706" y="740896"/>
            <a:ext cx="6931223" cy="1141154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sz="7000" b="1" dirty="0">
                <a:latin typeface="Quire Sans"/>
                <a:cs typeface="Quire Sans"/>
              </a:rPr>
              <a:t>Python + Agents</a:t>
            </a:r>
            <a:endParaRPr lang="en-US" sz="7000" dirty="0"/>
          </a:p>
        </p:txBody>
      </p:sp>
    </p:spTree>
    <p:extLst>
      <p:ext uri="{BB962C8B-B14F-4D97-AF65-F5344CB8AC3E}">
        <p14:creationId xmlns:p14="http://schemas.microsoft.com/office/powerpoint/2010/main" val="3616837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F498-58FB-A77B-B566-A60C28CC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noProof="0"/>
              <a:t>Python + Agents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04B708-5475-3713-E181-48E985434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50893"/>
            <a:ext cx="11512550" cy="873780"/>
          </a:xfrm>
        </p:spPr>
        <p:txBody>
          <a:bodyPr>
            <a:noAutofit/>
          </a:bodyPr>
          <a:lstStyle/>
          <a:p>
            <a:r>
              <a:rPr lang="en-US">
                <a:latin typeface="Quire Sans" panose="020B0502040400020003" pitchFamily="34" charset="0"/>
                <a:cs typeface="Quire Sans" panose="020B0502040400020003" pitchFamily="34" charset="0"/>
              </a:rPr>
              <a:t>🙋🏽</a:t>
            </a:r>
            <a:r>
              <a:rPr lang="en-US" sz="41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 </a:t>
            </a:r>
            <a:r>
              <a:rPr lang="en-US" sz="4100">
                <a:solidFill>
                  <a:srgbClr val="000000"/>
                </a:solidFill>
                <a:ea typeface="Segoe UI"/>
                <a:cs typeface="Segoe UI"/>
              </a:rPr>
              <a:t>Adding a human-in-the loop to workflows</a:t>
            </a:r>
            <a:endParaRPr lang="es-ES_tradnl" sz="4100" noProof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F3F6DCF-3603-19EC-9B34-2D2871DE85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91633" y="4550797"/>
            <a:ext cx="5156494" cy="1594358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>
                <a:solidFill>
                  <a:schemeClr val="tx1"/>
                </a:solidFill>
              </a:rPr>
              <a:t>Pamela Fox</a:t>
            </a:r>
          </a:p>
          <a:p>
            <a:pPr lvl="0"/>
            <a:r>
              <a:rPr lang="en-US">
                <a:solidFill>
                  <a:schemeClr val="tx1"/>
                </a:solidFill>
              </a:rPr>
              <a:t>Python Cloud Advocate</a:t>
            </a:r>
          </a:p>
          <a:p>
            <a:pPr lvl="0"/>
            <a:r>
              <a:rPr lang="en-US" err="1">
                <a:solidFill>
                  <a:schemeClr val="tx1"/>
                </a:solidFill>
                <a:hlinkClick r:id="rId2"/>
              </a:rPr>
              <a:t>www.pamelafox.org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ACB71E-6545-DC1C-8325-BF2AE36EB32D}"/>
              </a:ext>
            </a:extLst>
          </p:cNvPr>
          <p:cNvSpPr txBox="1"/>
          <p:nvPr/>
        </p:nvSpPr>
        <p:spPr>
          <a:xfrm>
            <a:off x="844550" y="3724673"/>
            <a:ext cx="91368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>
                <a:hlinkClick r:id="rId3"/>
              </a:rPr>
              <a:t>aka.ms/pythonagents/slides/</a:t>
            </a:r>
            <a:r>
              <a:rPr lang="en-US" sz="3000">
                <a:hlinkClick r:id="rId4"/>
              </a:rPr>
              <a:t>hitl</a:t>
            </a:r>
            <a:endParaRPr lang="en-US" sz="3000"/>
          </a:p>
        </p:txBody>
      </p:sp>
    </p:spTree>
    <p:extLst>
      <p:ext uri="{BB962C8B-B14F-4D97-AF65-F5344CB8AC3E}">
        <p14:creationId xmlns:p14="http://schemas.microsoft.com/office/powerpoint/2010/main" val="2366346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9586F9-19CA-2B06-D6D7-5EAA9D3145B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78147" y="1964047"/>
            <a:ext cx="10235705" cy="3714858"/>
          </a:xfrm>
        </p:spPr>
        <p:txBody>
          <a:bodyPr>
            <a:normAutofit/>
          </a:bodyPr>
          <a:lstStyle/>
          <a:p>
            <a:r>
              <a:rPr lang="en-US"/>
              <a:t>Why HITL matters for agents and workflows</a:t>
            </a:r>
          </a:p>
          <a:p>
            <a:r>
              <a:rPr lang="en-US"/>
              <a:t>Tool approval: gating sensitive operations</a:t>
            </a:r>
          </a:p>
          <a:p>
            <a:r>
              <a:rPr lang="en-US"/>
              <a:t>Requests and responses: structured human interaction</a:t>
            </a:r>
          </a:p>
          <a:p>
            <a:r>
              <a:rPr lang="en-US"/>
              <a:t>Checkpoints and resuming: durable HITL workflows</a:t>
            </a:r>
          </a:p>
          <a:p>
            <a:r>
              <a:rPr lang="en-US"/>
              <a:t>Handoff with HITL: interactive multi-agent routing</a:t>
            </a:r>
          </a:p>
          <a:p>
            <a:r>
              <a:rPr lang="en-US"/>
              <a:t>E2E application with workflows</a:t>
            </a:r>
          </a:p>
          <a:p>
            <a:pPr lvl="1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36A72E-589A-553F-B8A5-68C184391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Today we'll cover...</a:t>
            </a:r>
          </a:p>
        </p:txBody>
      </p:sp>
    </p:spTree>
    <p:extLst>
      <p:ext uri="{BB962C8B-B14F-4D97-AF65-F5344CB8AC3E}">
        <p14:creationId xmlns:p14="http://schemas.microsoft.com/office/powerpoint/2010/main" val="680310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18DDE-236F-D621-D2CF-E8D6BFAC0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6C953F69-9891-6E6F-1713-D0ECB9B3F072}"/>
              </a:ext>
            </a:extLst>
          </p:cNvPr>
          <p:cNvSpPr txBox="1">
            <a:spLocks/>
          </p:cNvSpPr>
          <p:nvPr/>
        </p:nvSpPr>
        <p:spPr>
          <a:xfrm>
            <a:off x="1049416" y="1676453"/>
            <a:ext cx="11375044" cy="17525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1. Open this GitHub repository:</a:t>
            </a:r>
          </a:p>
          <a:p>
            <a:pPr marL="0" indent="0">
              <a:buNone/>
            </a:pPr>
            <a:r>
              <a:rPr lang="en-US">
                <a:hlinkClick r:id="rId2"/>
              </a:rPr>
              <a:t>aka.ms/python-agentframework-demos</a:t>
            </a:r>
            <a:endParaRPr lang="en-US"/>
          </a:p>
          <a:p>
            <a:pPr marL="0" indent="0">
              <a:buNone/>
            </a:pPr>
            <a:r>
              <a:rPr lang="en-US"/>
              <a:t>2. Use "Code" button to create a GitHub Codespace: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ED7F0D-8B94-C781-25B3-5ABE00B91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2" r="1572" b="24106"/>
          <a:stretch/>
        </p:blipFill>
        <p:spPr>
          <a:xfrm>
            <a:off x="1425566" y="3228854"/>
            <a:ext cx="2591629" cy="21746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F38C7C91-426D-F5D9-F045-A61914C6AB3D}"/>
              </a:ext>
            </a:extLst>
          </p:cNvPr>
          <p:cNvSpPr txBox="1">
            <a:spLocks/>
          </p:cNvSpPr>
          <p:nvPr/>
        </p:nvSpPr>
        <p:spPr>
          <a:xfrm>
            <a:off x="1049416" y="5591624"/>
            <a:ext cx="10567146" cy="94084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 3. Wait a few minutes for Codespace to start up ⏱️</a:t>
            </a:r>
          </a:p>
          <a:p>
            <a:pPr marL="0" indent="0">
              <a:buNone/>
            </a:pPr>
            <a:r>
              <a:rPr lang="en-US"/>
              <a:t>4. Run </a:t>
            </a:r>
            <a:r>
              <a:rPr lang="en-US">
                <a:highlight>
                  <a:srgbClr val="C0C0C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git pull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/>
              <a:t>to ensure you have the latest changes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A531D7-4395-6A4B-157E-7FA70642C1C9}"/>
              </a:ext>
            </a:extLst>
          </p:cNvPr>
          <p:cNvCxnSpPr/>
          <p:nvPr/>
        </p:nvCxnSpPr>
        <p:spPr>
          <a:xfrm flipH="1">
            <a:off x="4178709" y="5181547"/>
            <a:ext cx="1809136" cy="0"/>
          </a:xfrm>
          <a:prstGeom prst="line">
            <a:avLst/>
          </a:prstGeom>
          <a:ln w="762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89C1D26A-A326-A7B5-F0B5-DBF2F8596732}"/>
              </a:ext>
            </a:extLst>
          </p:cNvPr>
          <p:cNvSpPr txBox="1">
            <a:spLocks/>
          </p:cNvSpPr>
          <p:nvPr/>
        </p:nvSpPr>
        <p:spPr>
          <a:xfrm>
            <a:off x="1049416" y="0"/>
            <a:ext cx="10913982" cy="729205"/>
          </a:xfrm>
          <a:prstGeom prst="rect">
            <a:avLst/>
          </a:prstGeom>
        </p:spPr>
        <p:txBody>
          <a:bodyPr vert="horz" lIns="91440" tIns="182880" rIns="9144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Want to follow along?</a:t>
            </a:r>
          </a:p>
        </p:txBody>
      </p:sp>
    </p:spTree>
    <p:extLst>
      <p:ext uri="{BB962C8B-B14F-4D97-AF65-F5344CB8AC3E}">
        <p14:creationId xmlns:p14="http://schemas.microsoft.com/office/powerpoint/2010/main" val="7044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6DF9A-7967-09E2-5BFC-E28CE2FB2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60DFC8-82CF-4281-5835-8B4EA07FB50B}"/>
              </a:ext>
            </a:extLst>
          </p:cNvPr>
          <p:cNvSpPr/>
          <p:nvPr/>
        </p:nvSpPr>
        <p:spPr bwMode="auto">
          <a:xfrm>
            <a:off x="5622062" y="2567297"/>
            <a:ext cx="1422583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0434B538-21F4-E340-C162-44C7993B1BFB}"/>
              </a:ext>
            </a:extLst>
          </p:cNvPr>
          <p:cNvSpPr/>
          <p:nvPr/>
        </p:nvSpPr>
        <p:spPr>
          <a:xfrm>
            <a:off x="1194373" y="2438650"/>
            <a:ext cx="1151664" cy="943722"/>
          </a:xfrm>
          <a:prstGeom prst="wedgeRoundRectCallo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Input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8F54FA0-07B5-D2AA-7E42-E7AB691BD6D1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346037" y="2910511"/>
            <a:ext cx="63730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5D7ABAD2-17C0-F129-7A9A-868F3B97385F}"/>
              </a:ext>
            </a:extLst>
          </p:cNvPr>
          <p:cNvSpPr/>
          <p:nvPr/>
        </p:nvSpPr>
        <p:spPr bwMode="auto">
          <a:xfrm>
            <a:off x="2983345" y="2263284"/>
            <a:ext cx="2041419" cy="1294455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Processing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or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Data Lookup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159F714B-5F65-BFE5-841E-02630CA3D806}"/>
              </a:ext>
            </a:extLst>
          </p:cNvPr>
          <p:cNvSpPr/>
          <p:nvPr/>
        </p:nvSpPr>
        <p:spPr>
          <a:xfrm>
            <a:off x="10302198" y="2484026"/>
            <a:ext cx="1576537" cy="852970"/>
          </a:xfrm>
          <a:prstGeom prst="wedgeRoundRectCallout">
            <a:avLst>
              <a:gd name="adj1" fmla="val -22005"/>
              <a:gd name="adj2" fmla="val 46429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Output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524E44A-D110-C3C8-CFF1-BD85E6B05983}"/>
              </a:ext>
            </a:extLst>
          </p:cNvPr>
          <p:cNvCxnSpPr>
            <a:cxnSpLocks/>
          </p:cNvCxnSpPr>
          <p:nvPr/>
        </p:nvCxnSpPr>
        <p:spPr>
          <a:xfrm>
            <a:off x="9683362" y="2917618"/>
            <a:ext cx="61883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DA07D7B-5431-A7B4-32F0-5220200BBAAA}"/>
              </a:ext>
            </a:extLst>
          </p:cNvPr>
          <p:cNvCxnSpPr>
            <a:cxnSpLocks/>
          </p:cNvCxnSpPr>
          <p:nvPr/>
        </p:nvCxnSpPr>
        <p:spPr>
          <a:xfrm>
            <a:off x="5024764" y="2906771"/>
            <a:ext cx="61883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DDBA388-690F-6F7E-1A67-6E7C15FBF43C}"/>
              </a:ext>
            </a:extLst>
          </p:cNvPr>
          <p:cNvSpPr/>
          <p:nvPr/>
        </p:nvSpPr>
        <p:spPr bwMode="auto">
          <a:xfrm>
            <a:off x="7641943" y="2263284"/>
            <a:ext cx="2041419" cy="1294455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Processing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 or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Data Lookup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79D5E5E-A0CA-69E4-4445-C6424ECD1333}"/>
              </a:ext>
            </a:extLst>
          </p:cNvPr>
          <p:cNvCxnSpPr>
            <a:cxnSpLocks/>
          </p:cNvCxnSpPr>
          <p:nvPr/>
        </p:nvCxnSpPr>
        <p:spPr>
          <a:xfrm>
            <a:off x="7038051" y="2910137"/>
            <a:ext cx="61883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4308172A-C133-2031-6CD5-B0F89E1FC267}"/>
              </a:ext>
            </a:extLst>
          </p:cNvPr>
          <p:cNvSpPr/>
          <p:nvPr/>
        </p:nvSpPr>
        <p:spPr bwMode="auto">
          <a:xfrm>
            <a:off x="5252516" y="3439758"/>
            <a:ext cx="1096731" cy="6220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Tool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55CA07-40D1-0AED-006F-3F82431FAB31}"/>
              </a:ext>
            </a:extLst>
          </p:cNvPr>
          <p:cNvCxnSpPr>
            <a:cxnSpLocks/>
          </p:cNvCxnSpPr>
          <p:nvPr/>
        </p:nvCxnSpPr>
        <p:spPr>
          <a:xfrm flipH="1">
            <a:off x="5634941" y="3242835"/>
            <a:ext cx="281376" cy="21684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116B140-0FFD-D4AF-3DC5-6BDD4B1C368F}"/>
              </a:ext>
            </a:extLst>
          </p:cNvPr>
          <p:cNvCxnSpPr>
            <a:cxnSpLocks/>
          </p:cNvCxnSpPr>
          <p:nvPr/>
        </p:nvCxnSpPr>
        <p:spPr>
          <a:xfrm flipH="1">
            <a:off x="5832576" y="3246180"/>
            <a:ext cx="222125" cy="19357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0D5313-CC5E-4D04-4805-D5A0EAFBF1D8}"/>
              </a:ext>
            </a:extLst>
          </p:cNvPr>
          <p:cNvCxnSpPr>
            <a:cxnSpLocks/>
          </p:cNvCxnSpPr>
          <p:nvPr/>
        </p:nvCxnSpPr>
        <p:spPr>
          <a:xfrm>
            <a:off x="6662744" y="3262760"/>
            <a:ext cx="281376" cy="21684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CBA22A-25DE-4FF9-D733-A754C193EDBD}"/>
              </a:ext>
            </a:extLst>
          </p:cNvPr>
          <p:cNvCxnSpPr>
            <a:cxnSpLocks/>
          </p:cNvCxnSpPr>
          <p:nvPr/>
        </p:nvCxnSpPr>
        <p:spPr>
          <a:xfrm>
            <a:off x="6860379" y="3256869"/>
            <a:ext cx="222125" cy="19357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C43F9F4C-D23B-6229-0BE7-197EEA327850}"/>
              </a:ext>
            </a:extLst>
          </p:cNvPr>
          <p:cNvSpPr/>
          <p:nvPr/>
        </p:nvSpPr>
        <p:spPr bwMode="auto">
          <a:xfrm>
            <a:off x="6489685" y="3467229"/>
            <a:ext cx="1096731" cy="62205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14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Tool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F2C37EC7-165E-F2C3-ABE2-8BBF85886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9416" y="1183035"/>
            <a:ext cx="10913980" cy="8512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err="1"/>
              <a:t>An agentic workflow is a flow that involves an agent at some point, typically to handle decision making or answer synthesis.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21" name="Rounded Rectangular Callout 20">
            <a:extLst>
              <a:ext uri="{FF2B5EF4-FFF2-40B4-BE49-F238E27FC236}">
                <a16:creationId xmlns:a16="http://schemas.microsoft.com/office/drawing/2014/main" id="{9519670D-B554-DC41-686B-397F247D2660}"/>
              </a:ext>
            </a:extLst>
          </p:cNvPr>
          <p:cNvSpPr/>
          <p:nvPr/>
        </p:nvSpPr>
        <p:spPr>
          <a:xfrm>
            <a:off x="1369564" y="5356069"/>
            <a:ext cx="1151664" cy="632132"/>
          </a:xfrm>
          <a:prstGeom prst="wedgeRoundRectCallout">
            <a:avLst>
              <a:gd name="adj1" fmla="val -77665"/>
              <a:gd name="adj2" fmla="val -23174"/>
              <a:gd name="adj3" fmla="val 16667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Input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4B3888-A76E-061D-934F-529DDF7867F5}"/>
              </a:ext>
            </a:extLst>
          </p:cNvPr>
          <p:cNvSpPr/>
          <p:nvPr/>
        </p:nvSpPr>
        <p:spPr bwMode="auto">
          <a:xfrm>
            <a:off x="2983345" y="5289596"/>
            <a:ext cx="1524469" cy="765078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Executor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88A3B62-A25D-AE43-E070-AEA01BC2EF81}"/>
              </a:ext>
            </a:extLst>
          </p:cNvPr>
          <p:cNvCxnSpPr>
            <a:cxnSpLocks/>
          </p:cNvCxnSpPr>
          <p:nvPr/>
        </p:nvCxnSpPr>
        <p:spPr>
          <a:xfrm>
            <a:off x="2521228" y="5672135"/>
            <a:ext cx="462117" cy="0"/>
          </a:xfrm>
          <a:prstGeom prst="straightConnector1">
            <a:avLst/>
          </a:prstGeom>
          <a:ln w="38100">
            <a:solidFill>
              <a:srgbClr val="46A5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789CACF8-7778-4D03-90CD-FECD32E75EB9}"/>
              </a:ext>
            </a:extLst>
          </p:cNvPr>
          <p:cNvSpPr/>
          <p:nvPr/>
        </p:nvSpPr>
        <p:spPr>
          <a:xfrm>
            <a:off x="10191064" y="5445878"/>
            <a:ext cx="1576537" cy="530524"/>
          </a:xfrm>
          <a:prstGeom prst="wedgeRoundRectCallout">
            <a:avLst>
              <a:gd name="adj1" fmla="val -22005"/>
              <a:gd name="adj2" fmla="val 46429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Output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CFA94B-B174-3A82-6C53-02BF84CE7160}"/>
              </a:ext>
            </a:extLst>
          </p:cNvPr>
          <p:cNvSpPr/>
          <p:nvPr/>
        </p:nvSpPr>
        <p:spPr bwMode="auto">
          <a:xfrm>
            <a:off x="5597145" y="5289596"/>
            <a:ext cx="1524469" cy="765078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Executor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152F356-803F-10C6-7D1A-E2A83DFB41CF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>
            <a:off x="7121614" y="5672135"/>
            <a:ext cx="10893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BC66D0B4-C6C8-BB63-8270-105217EE8360}"/>
              </a:ext>
            </a:extLst>
          </p:cNvPr>
          <p:cNvSpPr/>
          <p:nvPr/>
        </p:nvSpPr>
        <p:spPr bwMode="auto">
          <a:xfrm>
            <a:off x="8210945" y="5289596"/>
            <a:ext cx="1524469" cy="765078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Executor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AAFF808-0AD6-7DF3-0F5E-B8581ED7F103}"/>
              </a:ext>
            </a:extLst>
          </p:cNvPr>
          <p:cNvCxnSpPr>
            <a:cxnSpLocks/>
          </p:cNvCxnSpPr>
          <p:nvPr/>
        </p:nvCxnSpPr>
        <p:spPr>
          <a:xfrm>
            <a:off x="9735414" y="5711140"/>
            <a:ext cx="462117" cy="0"/>
          </a:xfrm>
          <a:prstGeom prst="straightConnector1">
            <a:avLst/>
          </a:prstGeom>
          <a:ln w="38100">
            <a:solidFill>
              <a:srgbClr val="D764D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16C08A4A-DA33-6A74-6816-73E0E8F852C6}"/>
              </a:ext>
            </a:extLst>
          </p:cNvPr>
          <p:cNvSpPr txBox="1">
            <a:spLocks/>
          </p:cNvSpPr>
          <p:nvPr/>
        </p:nvSpPr>
        <p:spPr>
          <a:xfrm>
            <a:off x="1088821" y="4601972"/>
            <a:ext cx="11543116" cy="471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200"/>
              <a:t>In agent-framework, a  workflow is a graph with </a:t>
            </a:r>
            <a:r>
              <a:rPr lang="en-US" sz="2200">
                <a:latin typeface="Consolas" panose="020B0609020204030204" pitchFamily="49" charset="0"/>
                <a:cs typeface="Consolas" panose="020B0609020204030204" pitchFamily="49" charset="0"/>
              </a:rPr>
              <a:t>Executor</a:t>
            </a:r>
            <a:r>
              <a:rPr lang="en-US" sz="2200"/>
              <a:t> nodes and edges between: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6DF446F5-494C-39D1-00CE-B0554D35EE3A}"/>
              </a:ext>
            </a:extLst>
          </p:cNvPr>
          <p:cNvSpPr txBox="1">
            <a:spLocks/>
          </p:cNvSpPr>
          <p:nvPr/>
        </p:nvSpPr>
        <p:spPr>
          <a:xfrm>
            <a:off x="4507814" y="5328601"/>
            <a:ext cx="1089330" cy="471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/>
              <a:t>edge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4E81B095-DE6F-A2AE-4A1E-7E19307ADD27}"/>
              </a:ext>
            </a:extLst>
          </p:cNvPr>
          <p:cNvSpPr txBox="1">
            <a:spLocks/>
          </p:cNvSpPr>
          <p:nvPr/>
        </p:nvSpPr>
        <p:spPr>
          <a:xfrm>
            <a:off x="7121613" y="5313741"/>
            <a:ext cx="1089332" cy="4714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000" b="1"/>
              <a:t>edge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452C9E9-16DA-8118-200D-DBD0B07D238C}"/>
              </a:ext>
            </a:extLst>
          </p:cNvPr>
          <p:cNvCxnSpPr>
            <a:cxnSpLocks/>
          </p:cNvCxnSpPr>
          <p:nvPr/>
        </p:nvCxnSpPr>
        <p:spPr>
          <a:xfrm>
            <a:off x="4507814" y="5672135"/>
            <a:ext cx="108933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5ECCE70-5AAB-D120-7B2E-CE7451B2CFEE}"/>
              </a:ext>
            </a:extLst>
          </p:cNvPr>
          <p:cNvSpPr txBox="1"/>
          <p:nvPr/>
        </p:nvSpPr>
        <p:spPr>
          <a:xfrm>
            <a:off x="5479442" y="2023902"/>
            <a:ext cx="8031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0" i="0">
                <a:solidFill>
                  <a:srgbClr val="616161"/>
                </a:solidFill>
                <a:effectLst/>
                <a:latin typeface="-apple-system"/>
              </a:rPr>
              <a:t>🤖</a:t>
            </a:r>
            <a:endParaRPr lang="en-US" sz="2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E47649-4D89-2D7E-D76A-E5A3807F48F4}"/>
              </a:ext>
            </a:extLst>
          </p:cNvPr>
          <p:cNvSpPr txBox="1"/>
          <p:nvPr/>
        </p:nvSpPr>
        <p:spPr>
          <a:xfrm>
            <a:off x="6090534" y="2109537"/>
            <a:ext cx="10967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err="1">
                <a:ea typeface="Segoe UI" pitchFamily="34" charset="0"/>
                <a:cs typeface="Segoe UI" pitchFamily="34" charset="0"/>
              </a:rPr>
              <a:t>Agent</a:t>
            </a:r>
            <a:endParaRPr lang="en-US" sz="2400"/>
          </a:p>
        </p:txBody>
      </p:sp>
      <p:sp>
        <p:nvSpPr>
          <p:cNvPr id="33" name="Title 1">
            <a:extLst>
              <a:ext uri="{FF2B5EF4-FFF2-40B4-BE49-F238E27FC236}">
                <a16:creationId xmlns:a16="http://schemas.microsoft.com/office/drawing/2014/main" id="{56AA9156-7C30-00C5-0CF3-BDF2E0A17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6" y="0"/>
            <a:ext cx="10913982" cy="729205"/>
          </a:xfrm>
        </p:spPr>
        <p:txBody>
          <a:bodyPr tIns="182880" bIns="0" anchor="t" anchorCtr="0">
            <a:noAutofit/>
          </a:bodyPr>
          <a:lstStyle/>
          <a:p>
            <a:r>
              <a:rPr lang="en-US"/>
              <a:t>Recap: What's an agentic workflow?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00456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7B74D-9B54-7874-0B82-536269BF9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8D60F1D0-07CC-2B03-7508-ED84569DE968}"/>
              </a:ext>
            </a:extLst>
          </p:cNvPr>
          <p:cNvSpPr txBox="1"/>
          <p:nvPr/>
        </p:nvSpPr>
        <p:spPr>
          <a:xfrm>
            <a:off x="1194373" y="1437859"/>
            <a:ext cx="1051733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400" err="1"/>
              <a:t>If an agent wants to take an action, a human should often review it first.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C49C27-305C-6069-E465-AE17C39A0241}"/>
              </a:ext>
            </a:extLst>
          </p:cNvPr>
          <p:cNvSpPr/>
          <p:nvPr/>
        </p:nvSpPr>
        <p:spPr bwMode="auto">
          <a:xfrm>
            <a:off x="5622062" y="3784239"/>
            <a:ext cx="1422583" cy="686429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Agent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267A34-C4EF-B9BD-951E-96D3C36752AB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2346037" y="4127453"/>
            <a:ext cx="63730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E46838AF-2BC2-057C-8DB0-86D55BE6B898}"/>
              </a:ext>
            </a:extLst>
          </p:cNvPr>
          <p:cNvSpPr/>
          <p:nvPr/>
        </p:nvSpPr>
        <p:spPr bwMode="auto">
          <a:xfrm>
            <a:off x="2983345" y="3480226"/>
            <a:ext cx="2041419" cy="1294455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Processing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or </a:t>
            </a:r>
          </a:p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Data Lookup</a:t>
            </a:r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34B395A8-3073-4DBD-85C4-BB6629ECCAF6}"/>
              </a:ext>
            </a:extLst>
          </p:cNvPr>
          <p:cNvSpPr/>
          <p:nvPr/>
        </p:nvSpPr>
        <p:spPr>
          <a:xfrm>
            <a:off x="10135173" y="2618518"/>
            <a:ext cx="1576537" cy="852970"/>
          </a:xfrm>
          <a:prstGeom prst="wedgeRoundRectCallout">
            <a:avLst>
              <a:gd name="adj1" fmla="val -22005"/>
              <a:gd name="adj2" fmla="val 46429"/>
              <a:gd name="adj3" fmla="val 16667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Action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370763C-0B82-B95E-D91A-F366D879FC1A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8866598" y="3045003"/>
            <a:ext cx="1268575" cy="8412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6337ADB-CA05-7204-9FCF-0E186C12B44C}"/>
              </a:ext>
            </a:extLst>
          </p:cNvPr>
          <p:cNvCxnSpPr>
            <a:cxnSpLocks/>
          </p:cNvCxnSpPr>
          <p:nvPr/>
        </p:nvCxnSpPr>
        <p:spPr>
          <a:xfrm>
            <a:off x="5024764" y="4123713"/>
            <a:ext cx="61883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8620502-4FAD-A929-A77C-F751F1820185}"/>
              </a:ext>
            </a:extLst>
          </p:cNvPr>
          <p:cNvCxnSpPr>
            <a:cxnSpLocks/>
          </p:cNvCxnSpPr>
          <p:nvPr/>
        </p:nvCxnSpPr>
        <p:spPr>
          <a:xfrm flipV="1">
            <a:off x="7038051" y="4123712"/>
            <a:ext cx="603892" cy="336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xplosion 1 8">
            <a:extLst>
              <a:ext uri="{FF2B5EF4-FFF2-40B4-BE49-F238E27FC236}">
                <a16:creationId xmlns:a16="http://schemas.microsoft.com/office/drawing/2014/main" id="{A102C6AD-6458-43CC-E79E-2D093923228F}"/>
              </a:ext>
            </a:extLst>
          </p:cNvPr>
          <p:cNvSpPr/>
          <p:nvPr/>
        </p:nvSpPr>
        <p:spPr>
          <a:xfrm>
            <a:off x="1049415" y="3360514"/>
            <a:ext cx="1629379" cy="1526397"/>
          </a:xfrm>
          <a:prstGeom prst="irregularSeal1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Event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68EAF4-7453-3376-F3CC-82A298A84BDE}"/>
              </a:ext>
            </a:extLst>
          </p:cNvPr>
          <p:cNvSpPr txBox="1"/>
          <p:nvPr/>
        </p:nvSpPr>
        <p:spPr>
          <a:xfrm>
            <a:off x="7500477" y="3367367"/>
            <a:ext cx="220894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/>
              <a:t>👩🏽‍💻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83ACD3-1C54-E891-96CB-91DB60CA0EF0}"/>
              </a:ext>
            </a:extLst>
          </p:cNvPr>
          <p:cNvSpPr txBox="1"/>
          <p:nvPr/>
        </p:nvSpPr>
        <p:spPr>
          <a:xfrm>
            <a:off x="9050670" y="2735181"/>
            <a:ext cx="78749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/>
              <a:t>👍🏼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0EEB0F4-99BC-4B9C-769E-914094B674F2}"/>
              </a:ext>
            </a:extLst>
          </p:cNvPr>
          <p:cNvCxnSpPr>
            <a:cxnSpLocks/>
          </p:cNvCxnSpPr>
          <p:nvPr/>
        </p:nvCxnSpPr>
        <p:spPr>
          <a:xfrm>
            <a:off x="8866598" y="4100382"/>
            <a:ext cx="1268575" cy="84124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ular Callout 31">
            <a:extLst>
              <a:ext uri="{FF2B5EF4-FFF2-40B4-BE49-F238E27FC236}">
                <a16:creationId xmlns:a16="http://schemas.microsoft.com/office/drawing/2014/main" id="{1A7098B3-1E7F-3022-BCF0-43B9CB740755}"/>
              </a:ext>
            </a:extLst>
          </p:cNvPr>
          <p:cNvSpPr/>
          <p:nvPr/>
        </p:nvSpPr>
        <p:spPr>
          <a:xfrm>
            <a:off x="10135173" y="4491048"/>
            <a:ext cx="1576537" cy="852970"/>
          </a:xfrm>
          <a:prstGeom prst="wedgeRoundRectCallout">
            <a:avLst>
              <a:gd name="adj1" fmla="val -22005"/>
              <a:gd name="adj2" fmla="val 46429"/>
              <a:gd name="adj3" fmla="val 1666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/>
                </a:solidFill>
              </a:rPr>
              <a:t>Discard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671CABA-F0E0-52A0-CDDD-5CF91BA8EA9B}"/>
              </a:ext>
            </a:extLst>
          </p:cNvPr>
          <p:cNvSpPr txBox="1"/>
          <p:nvPr/>
        </p:nvSpPr>
        <p:spPr>
          <a:xfrm>
            <a:off x="9050670" y="4763346"/>
            <a:ext cx="78749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/>
              <a:t>👎🏼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786CC02-04EF-6790-4A36-428FC7519061}"/>
              </a:ext>
            </a:extLst>
          </p:cNvPr>
          <p:cNvSpPr txBox="1">
            <a:spLocks/>
          </p:cNvSpPr>
          <p:nvPr/>
        </p:nvSpPr>
        <p:spPr>
          <a:xfrm>
            <a:off x="1049416" y="0"/>
            <a:ext cx="10913982" cy="729205"/>
          </a:xfrm>
          <a:prstGeom prst="rect">
            <a:avLst/>
          </a:prstGeom>
        </p:spPr>
        <p:txBody>
          <a:bodyPr vert="horz" lIns="91440" tIns="182880" rIns="9144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Human-in-the-loop</a:t>
            </a:r>
          </a:p>
        </p:txBody>
      </p:sp>
    </p:spTree>
    <p:extLst>
      <p:ext uri="{BB962C8B-B14F-4D97-AF65-F5344CB8AC3E}">
        <p14:creationId xmlns:p14="http://schemas.microsoft.com/office/powerpoint/2010/main" val="2247311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add a human in the loop?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38988" y="1277627"/>
            <a:ext cx="10913980" cy="15102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t>LLMs can produce uncertain, inconsistent, or incorrect outputs.</a:t>
            </a:r>
          </a:p>
          <a:p>
            <a:pPr marL="0" indent="0">
              <a:buNone/>
            </a:pPr>
            <a:endParaRPr/>
          </a:p>
          <a:p>
            <a:pPr marL="0" indent="0">
              <a:buNone/>
            </a:pPr>
            <a:r>
              <a:t>Human checkpoints provide: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B82E46-F1D4-6A53-C824-32ADCDFA4F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8394"/>
              </p:ext>
            </p:extLst>
          </p:nvPr>
        </p:nvGraphicFramePr>
        <p:xfrm>
          <a:off x="1180427" y="2933316"/>
          <a:ext cx="10651959" cy="2981240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2245567">
                  <a:extLst>
                    <a:ext uri="{9D8B030D-6E8A-4147-A177-3AD203B41FA5}">
                      <a16:colId xmlns:a16="http://schemas.microsoft.com/office/drawing/2014/main" val="1974847046"/>
                    </a:ext>
                  </a:extLst>
                </a:gridCol>
                <a:gridCol w="8406392">
                  <a:extLst>
                    <a:ext uri="{9D8B030D-6E8A-4147-A177-3AD203B41FA5}">
                      <a16:colId xmlns:a16="http://schemas.microsoft.com/office/drawing/2014/main" val="3523757817"/>
                    </a:ext>
                  </a:extLst>
                </a:gridCol>
              </a:tblGrid>
              <a:tr h="596248">
                <a:tc>
                  <a:txBody>
                    <a:bodyPr/>
                    <a:lstStyle/>
                    <a:p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</a:rPr>
                        <a:t>🎯 </a:t>
                      </a:r>
                      <a:r>
                        <a:rPr lang="en-US" sz="2400" b="1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Verify factual correctness before acting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112649"/>
                  </a:ext>
                </a:extLst>
              </a:tr>
              <a:tr h="596248">
                <a:tc>
                  <a:txBody>
                    <a:bodyPr/>
                    <a:lstStyle/>
                    <a:p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</a:rPr>
                        <a:t>🛡️ </a:t>
                      </a:r>
                      <a:r>
                        <a:rPr lang="en-US" sz="2400" b="1"/>
                        <a:t>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Gate sensitive operations (refunds, emails, deployments)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664514"/>
                  </a:ext>
                </a:extLst>
              </a:tr>
              <a:tr h="596248">
                <a:tc>
                  <a:txBody>
                    <a:bodyPr/>
                    <a:lstStyle/>
                    <a:p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</a:rPr>
                        <a:t>🤝 </a:t>
                      </a:r>
                      <a:r>
                        <a:rPr lang="en-US" sz="2400" b="1"/>
                        <a:t>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Users see what the system will do before it acts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970186"/>
                  </a:ext>
                </a:extLst>
              </a:tr>
              <a:tr h="596248">
                <a:tc>
                  <a:txBody>
                    <a:bodyPr/>
                    <a:lstStyle/>
                    <a:p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</a:rPr>
                        <a:t>📋 </a:t>
                      </a:r>
                      <a:r>
                        <a:rPr lang="en-US" sz="2400" b="1"/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Audit trail of human approvals for regulated workflows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1877"/>
                  </a:ext>
                </a:extLst>
              </a:tr>
              <a:tr h="596248">
                <a:tc>
                  <a:txBody>
                    <a:bodyPr/>
                    <a:lstStyle/>
                    <a:p>
                      <a:r>
                        <a:rPr lang="en-US" sz="2400" b="1"/>
                        <a:t>🚦Control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Humans can redirect, refine, or halt a workflow at any point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770727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9A05FFA-F5AF-3276-EBB4-E9E1F8FB95D5}"/>
              </a:ext>
            </a:extLst>
          </p:cNvPr>
          <p:cNvSpPr txBox="1">
            <a:spLocks/>
          </p:cNvSpPr>
          <p:nvPr/>
        </p:nvSpPr>
        <p:spPr>
          <a:xfrm>
            <a:off x="1049416" y="0"/>
            <a:ext cx="10913982" cy="729205"/>
          </a:xfrm>
          <a:prstGeom prst="rect">
            <a:avLst/>
          </a:prstGeom>
        </p:spPr>
        <p:txBody>
          <a:bodyPr vert="horz" lIns="91440" tIns="182880" rIns="9144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Why add a human in the loop?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C76004-BEF3-2B91-F406-6AF081CDCF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390475"/>
              </p:ext>
            </p:extLst>
          </p:nvPr>
        </p:nvGraphicFramePr>
        <p:xfrm>
          <a:off x="1174142" y="1094735"/>
          <a:ext cx="10664529" cy="5337596"/>
        </p:xfrm>
        <a:graphic>
          <a:graphicData uri="http://schemas.openxmlformats.org/drawingml/2006/table">
            <a:tbl>
              <a:tblPr bandRow="1">
                <a:tableStyleId>{7DF18680-E054-41AD-8BC1-D1AEF772440D}</a:tableStyleId>
              </a:tblPr>
              <a:tblGrid>
                <a:gridCol w="4049499">
                  <a:extLst>
                    <a:ext uri="{9D8B030D-6E8A-4147-A177-3AD203B41FA5}">
                      <a16:colId xmlns:a16="http://schemas.microsoft.com/office/drawing/2014/main" val="1974847046"/>
                    </a:ext>
                  </a:extLst>
                </a:gridCol>
                <a:gridCol w="6615030">
                  <a:extLst>
                    <a:ext uri="{9D8B030D-6E8A-4147-A177-3AD203B41FA5}">
                      <a16:colId xmlns:a16="http://schemas.microsoft.com/office/drawing/2014/main" val="3523757817"/>
                    </a:ext>
                  </a:extLst>
                </a:gridCol>
              </a:tblGrid>
              <a:tr h="1165204">
                <a:tc>
                  <a:txBody>
                    <a:bodyPr/>
                    <a:lstStyle/>
                    <a:p>
                      <a:r>
                        <a:rPr lang="en-US" sz="2400" b="1"/>
                        <a:t>Tool approval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Sensitive tool calls must be approved before execution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931865"/>
                  </a:ext>
                </a:extLst>
              </a:tr>
              <a:tr h="1528742">
                <a:tc>
                  <a:txBody>
                    <a:bodyPr/>
                    <a:lstStyle/>
                    <a:p>
                      <a:r>
                        <a:rPr lang="en-US" sz="2400" b="1" kern="1200">
                          <a:solidFill>
                            <a:schemeClr val="dk1"/>
                          </a:solidFill>
                          <a:effectLst/>
                        </a:rPr>
                        <a:t>Requests and responses</a:t>
                      </a:r>
                      <a:endParaRPr lang="en-US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Workflow needs human input to continue (answers, choices, feedback)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112649"/>
                  </a:ext>
                </a:extLst>
              </a:tr>
              <a:tr h="1528742">
                <a:tc>
                  <a:txBody>
                    <a:bodyPr/>
                    <a:lstStyle/>
                    <a:p>
                      <a:r>
                        <a:rPr lang="en-US" sz="2400" b="1" kern="1200">
                          <a:solidFill>
                            <a:schemeClr val="dk1"/>
                          </a:solidFill>
                          <a:effectLst/>
                        </a:rPr>
                        <a:t>Checkpoints &amp; resuming</a:t>
                      </a:r>
                      <a:endParaRPr lang="en-US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Long-running tasks where human may not be immediately available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970186"/>
                  </a:ext>
                </a:extLst>
              </a:tr>
              <a:tr h="1114908">
                <a:tc>
                  <a:txBody>
                    <a:bodyPr/>
                    <a:lstStyle/>
                    <a:p>
                      <a:r>
                        <a:rPr lang="en-US" sz="2400" b="1" kern="1200">
                          <a:solidFill>
                            <a:schemeClr val="dk1"/>
                          </a:solidFill>
                          <a:effectLst/>
                        </a:rPr>
                        <a:t>Handoff with HITL</a:t>
                      </a:r>
                      <a:endParaRPr lang="en-US" sz="24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Dynamic multi-agent routing with interactive user input between handoffs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1877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58CB7AE1-2B22-2906-87C0-4D0A736FFB13}"/>
              </a:ext>
            </a:extLst>
          </p:cNvPr>
          <p:cNvSpPr txBox="1">
            <a:spLocks/>
          </p:cNvSpPr>
          <p:nvPr/>
        </p:nvSpPr>
        <p:spPr>
          <a:xfrm>
            <a:off x="1049416" y="0"/>
            <a:ext cx="10913982" cy="729205"/>
          </a:xfrm>
          <a:prstGeom prst="rect">
            <a:avLst/>
          </a:prstGeom>
        </p:spPr>
        <p:txBody>
          <a:bodyPr vert="horz" lIns="91440" tIns="182880" rIns="9144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HITL patterns in agent-framework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797D2-1F45-E3D3-392B-2D458B23D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6AA62-47F5-9F88-2283-86B289BD4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Tool approval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B4BDE5-1054-AEC3-82CC-F0CBA4BAE607}"/>
              </a:ext>
            </a:extLst>
          </p:cNvPr>
          <p:cNvSpPr txBox="1"/>
          <p:nvPr/>
        </p:nvSpPr>
        <p:spPr>
          <a:xfrm>
            <a:off x="838199" y="3257433"/>
            <a:ext cx="96244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2"/>
              </a:rPr>
              <a:t>https://learn.microsoft.com/agent-framework/agents/tools/tool-approval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621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978FB-6E2B-096D-5008-6E4E33FB3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0B46A-47C0-CBFF-A4EA-6542638A9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8549" y="1104362"/>
            <a:ext cx="4908622" cy="2677656"/>
          </a:xfrm>
          <a:solidFill>
            <a:srgbClr val="F0D2CC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/>
              <a:t>Without approval:</a:t>
            </a:r>
          </a:p>
          <a:p>
            <a:r>
              <a:rPr lang="en-US" sz="2400"/>
              <a:t> Agent decides to send email</a:t>
            </a:r>
          </a:p>
          <a:p>
            <a:r>
              <a:rPr lang="en-US" sz="2400"/>
              <a:t>Tool executes automatically</a:t>
            </a:r>
          </a:p>
          <a:p>
            <a:r>
              <a:rPr lang="en-US" sz="2400"/>
              <a:t> Email sent (possibly wrong!)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71F7F1-B187-A722-A154-949BB3617880}"/>
              </a:ext>
            </a:extLst>
          </p:cNvPr>
          <p:cNvSpPr txBox="1"/>
          <p:nvPr/>
        </p:nvSpPr>
        <p:spPr>
          <a:xfrm>
            <a:off x="3235023" y="3349768"/>
            <a:ext cx="6920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/>
              <a:t>😬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6174E21-6B28-17C0-8E8E-E3228E3EB588}"/>
              </a:ext>
            </a:extLst>
          </p:cNvPr>
          <p:cNvGrpSpPr/>
          <p:nvPr/>
        </p:nvGrpSpPr>
        <p:grpSpPr>
          <a:xfrm>
            <a:off x="1234572" y="1104362"/>
            <a:ext cx="10728826" cy="5198698"/>
            <a:chOff x="1234572" y="1934677"/>
            <a:chExt cx="10728826" cy="519869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DCBD714-1E6E-EFDD-A5FC-72D22B68B801}"/>
                </a:ext>
              </a:extLst>
            </p:cNvPr>
            <p:cNvSpPr txBox="1"/>
            <p:nvPr/>
          </p:nvSpPr>
          <p:spPr>
            <a:xfrm>
              <a:off x="6474592" y="1934677"/>
              <a:ext cx="5488806" cy="2677656"/>
            </a:xfrm>
            <a:prstGeom prst="rect">
              <a:avLst/>
            </a:prstGeom>
            <a:solidFill>
              <a:srgbClr val="C8EEDB"/>
            </a:solidFill>
          </p:spPr>
          <p:txBody>
            <a:bodyPr wrap="square">
              <a:spAutoFit/>
            </a:bodyPr>
            <a:lstStyle/>
            <a:p>
              <a:r>
                <a:rPr lang="en-US" sz="2400"/>
                <a:t>With approval: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/>
                <a:t>Agent wants to send email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/>
                <a:t>Workflow pauses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/>
                <a:t>Human reviews: "Send email?"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/>
                <a:t>Human approves ✓ or rejects ✗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/>
                <a:t>Tool executes only if approved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240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116BBD9-F931-CCAF-BB86-0B7700502D72}"/>
                </a:ext>
              </a:extLst>
            </p:cNvPr>
            <p:cNvSpPr txBox="1"/>
            <p:nvPr/>
          </p:nvSpPr>
          <p:spPr>
            <a:xfrm>
              <a:off x="1234572" y="5194383"/>
              <a:ext cx="6925376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/>
                <a:t>Consider requiring tool approval for: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/>
                <a:t>Financial operations (refunds, purchases)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/>
                <a:t>Communications (emails, messages)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/>
                <a:t>Destructive operations (deletions, deployments)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/>
                <a:t>Any irreversible action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CBDE162-90FD-71B1-16DC-ED0AA6F14A29}"/>
                </a:ext>
              </a:extLst>
            </p:cNvPr>
            <p:cNvSpPr txBox="1"/>
            <p:nvPr/>
          </p:nvSpPr>
          <p:spPr>
            <a:xfrm>
              <a:off x="8872953" y="4258390"/>
              <a:ext cx="69208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000"/>
                <a:t>😮‍💨</a:t>
              </a: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D8FDD1DF-0420-7446-F4E1-D01555A2F88A}"/>
              </a:ext>
            </a:extLst>
          </p:cNvPr>
          <p:cNvSpPr txBox="1">
            <a:spLocks/>
          </p:cNvSpPr>
          <p:nvPr/>
        </p:nvSpPr>
        <p:spPr>
          <a:xfrm>
            <a:off x="1049416" y="0"/>
            <a:ext cx="10913982" cy="729205"/>
          </a:xfrm>
          <a:prstGeom prst="rect">
            <a:avLst/>
          </a:prstGeom>
        </p:spPr>
        <p:txBody>
          <a:bodyPr vert="horz" lIns="91440" tIns="182880" rIns="9144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When do we need tool approval?</a:t>
            </a:r>
          </a:p>
        </p:txBody>
      </p:sp>
    </p:spTree>
    <p:extLst>
      <p:ext uri="{BB962C8B-B14F-4D97-AF65-F5344CB8AC3E}">
        <p14:creationId xmlns:p14="http://schemas.microsoft.com/office/powerpoint/2010/main" val="2464282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15F77-700F-CBD9-3BD6-FA253EF5A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50B32-C8B5-A27F-378B-C2C0F995D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9416" y="0"/>
            <a:ext cx="10913982" cy="729205"/>
          </a:xfrm>
        </p:spPr>
        <p:txBody>
          <a:bodyPr tIns="182880" bIns="0" anchor="t" anchorCtr="0">
            <a:noAutofit/>
          </a:bodyPr>
          <a:lstStyle/>
          <a:p>
            <a:r>
              <a:rPr lang="en-US"/>
              <a:t>Defining tools that require approval</a:t>
            </a:r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C3C66B-373F-BD83-B508-C414B39CFB3C}"/>
              </a:ext>
            </a:extLst>
          </p:cNvPr>
          <p:cNvSpPr txBox="1"/>
          <p:nvPr/>
        </p:nvSpPr>
        <p:spPr>
          <a:xfrm>
            <a:off x="1049417" y="1711962"/>
            <a:ext cx="10913982" cy="42473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@tool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approval_mode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"never_require"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lookup_receipt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90000"/>
              </a:lnSpc>
              <a:buNone/>
            </a:pP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receipt_id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Annotated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"The receipt ID to look up"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dict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]:</a:t>
            </a:r>
          </a:p>
          <a:p>
            <a:pPr>
              <a:lnSpc>
                <a:spcPct val="90000"/>
              </a:lnSpc>
              <a:buNone/>
            </a:pP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"""Look up a receipt by ID and return its details."""</a:t>
            </a:r>
            <a:endParaRPr lang="en-US" sz="20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pPr>
              <a:lnSpc>
                <a:spcPct val="90000"/>
              </a:lnSpc>
              <a:buNone/>
            </a:pPr>
            <a:endParaRPr lang="en-US" sz="2000" b="0">
              <a:solidFill>
                <a:srgbClr val="795E26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@tool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approval_mode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"always_require"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0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submit_expense_report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90000"/>
              </a:lnSpc>
              <a:buNone/>
            </a:pP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description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Annotated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"Description of the expense report"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  <a:buNone/>
            </a:pP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total_amount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Annotated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"Total amount to reimburse"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  <a:buNone/>
            </a:pPr>
            <a:r>
              <a:rPr lang="en-US" sz="20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receipt_ids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Annotated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"Comma-separated receipt IDs included"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0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20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"""Submit an expense report for reimbursement. Requires approval."""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  <a:endParaRPr lang="en-US" sz="2000" b="0">
              <a:solidFill>
                <a:srgbClr val="00108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0E048-3477-D2D4-A8C7-F4A2DF57B324}"/>
              </a:ext>
            </a:extLst>
          </p:cNvPr>
          <p:cNvSpPr txBox="1"/>
          <p:nvPr/>
        </p:nvSpPr>
        <p:spPr>
          <a:xfrm>
            <a:off x="1117104" y="6123773"/>
            <a:ext cx="411170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agent_tool_approval.py</a:t>
            </a:r>
            <a:endParaRPr lang="en-US" sz="2000" err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86BE38-AD84-6878-909F-94BE80B0EC77}"/>
              </a:ext>
            </a:extLst>
          </p:cNvPr>
          <p:cNvSpPr txBox="1"/>
          <p:nvPr/>
        </p:nvSpPr>
        <p:spPr>
          <a:xfrm>
            <a:off x="1049416" y="1177559"/>
            <a:ext cx="11142584" cy="369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2400" b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Set </a:t>
            </a:r>
            <a:r>
              <a:rPr lang="en-US" sz="24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approval_mode </a:t>
            </a:r>
            <a:r>
              <a:rPr lang="en-US" sz="2400" b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to either </a:t>
            </a:r>
            <a:r>
              <a:rPr lang="en-US" sz="24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"always_require"</a:t>
            </a:r>
            <a:r>
              <a:rPr lang="en-US" sz="2400" b="0">
                <a:solidFill>
                  <a:srgbClr val="A31515"/>
                </a:solidFill>
                <a:effectLst/>
                <a:latin typeface="Aptos" panose="020B0004020202020204" pitchFamily="34" charset="0"/>
                <a:cs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or </a:t>
            </a:r>
            <a:r>
              <a:rPr lang="en-US" sz="2400" b="0">
                <a:solidFill>
                  <a:srgbClr val="A31515"/>
                </a:solidFill>
                <a:effectLst/>
                <a:latin typeface="Aptos" panose="020B0004020202020204" pitchFamily="34" charset="0"/>
              </a:rPr>
              <a:t>"never_require" </a:t>
            </a:r>
            <a:r>
              <a:rPr lang="en-US" sz="2400" b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(default):</a:t>
            </a:r>
          </a:p>
        </p:txBody>
      </p:sp>
    </p:spTree>
    <p:extLst>
      <p:ext uri="{BB962C8B-B14F-4D97-AF65-F5344CB8AC3E}">
        <p14:creationId xmlns:p14="http://schemas.microsoft.com/office/powerpoint/2010/main" val="3450774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416" y="6312"/>
            <a:ext cx="10913982" cy="896513"/>
          </a:xfrm>
        </p:spPr>
        <p:txBody>
          <a:bodyPr tIns="182880" bIns="0" anchor="t" anchorCtr="0"/>
          <a:lstStyle/>
          <a:p>
            <a:r>
              <a:t>Handling tool approval in the event 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18F41F-0DE5-FF58-F1B7-4C30039C9399}"/>
              </a:ext>
            </a:extLst>
          </p:cNvPr>
          <p:cNvSpPr txBox="1"/>
          <p:nvPr/>
        </p:nvSpPr>
        <p:spPr>
          <a:xfrm>
            <a:off x="1049416" y="1613844"/>
            <a:ext cx="10789658" cy="43581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b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2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len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user_input_requests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&gt; </a:t>
            </a:r>
            <a:r>
              <a:rPr lang="en-US" sz="220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new_inputs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list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Any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= [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  <a:buNone/>
            </a:pPr>
            <a:endParaRPr lang="en-US" sz="22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2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user_input_requests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func_call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function_call</a:t>
            </a:r>
            <a:endParaRPr lang="en-US" sz="22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new_inputs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append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"assistant"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[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]))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approval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Approve? (y/n): "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strip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lower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approved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approval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-US" sz="22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"y"</a:t>
            </a:r>
            <a:endParaRPr lang="en-US" sz="22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new_inputs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append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"user"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[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to_function_approval_response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approved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)]))</a:t>
            </a:r>
          </a:p>
          <a:p>
            <a:pPr>
              <a:lnSpc>
                <a:spcPct val="90000"/>
              </a:lnSpc>
              <a:buNone/>
            </a:pPr>
            <a:endParaRPr lang="en-US" sz="22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result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new_inputs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D6A0EA-870A-7E11-D438-AAB08BB411D2}"/>
              </a:ext>
            </a:extLst>
          </p:cNvPr>
          <p:cNvSpPr txBox="1"/>
          <p:nvPr/>
        </p:nvSpPr>
        <p:spPr>
          <a:xfrm>
            <a:off x="1049416" y="6017563"/>
            <a:ext cx="411170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agent_tool_approval.py</a:t>
            </a:r>
            <a:endParaRPr lang="en-US" sz="2000" err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C0D397-8F9B-8900-C13F-313D8EB757C2}"/>
              </a:ext>
            </a:extLst>
          </p:cNvPr>
          <p:cNvSpPr txBox="1"/>
          <p:nvPr/>
        </p:nvSpPr>
        <p:spPr>
          <a:xfrm>
            <a:off x="1049416" y="1152034"/>
            <a:ext cx="11142584" cy="369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2400" b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Check if the agent's result contains any </a:t>
            </a:r>
            <a:r>
              <a:rPr lang="en-US" sz="24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user_input_requests</a:t>
            </a:r>
            <a:r>
              <a:rPr lang="en-US" sz="2400" b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789D7-FD46-B5B7-4BC0-A350407AF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9AD42-553B-C629-99FA-C9B14FC35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Requests and responses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CD8BD-0C02-BE81-B7B8-DA6B44699D3D}"/>
              </a:ext>
            </a:extLst>
          </p:cNvPr>
          <p:cNvSpPr txBox="1"/>
          <p:nvPr/>
        </p:nvSpPr>
        <p:spPr>
          <a:xfrm>
            <a:off x="838199" y="3257433"/>
            <a:ext cx="96244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2"/>
              </a:rPr>
              <a:t>https://learn.microsoft.com/agent-framework/workflows/requests-and-responses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523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9416" y="29244"/>
            <a:ext cx="10913982" cy="909926"/>
          </a:xfrm>
        </p:spPr>
        <p:txBody>
          <a:bodyPr tIns="182880" bIns="0" anchor="t" anchorCtr="0"/>
          <a:lstStyle/>
          <a:p>
            <a:r>
              <a:rPr lang="en-US"/>
              <a:t>Requests and responses in workflows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9416" y="1212077"/>
            <a:ext cx="8071435" cy="6030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400"/>
              <a:t>Executors can pause a workflow and ask for human input: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29BD1F-2DBF-2430-F82F-DD9C567C18D0}"/>
              </a:ext>
            </a:extLst>
          </p:cNvPr>
          <p:cNvSpPr txBox="1">
            <a:spLocks/>
          </p:cNvSpPr>
          <p:nvPr/>
        </p:nvSpPr>
        <p:spPr>
          <a:xfrm>
            <a:off x="5446667" y="1853745"/>
            <a:ext cx="2971564" cy="4193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9144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Workflow Executor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38ADBF3-B91C-7C91-0D40-3C78CDA4A27E}"/>
              </a:ext>
            </a:extLst>
          </p:cNvPr>
          <p:cNvSpPr txBox="1">
            <a:spLocks/>
          </p:cNvSpPr>
          <p:nvPr/>
        </p:nvSpPr>
        <p:spPr>
          <a:xfrm>
            <a:off x="9001056" y="1853745"/>
            <a:ext cx="2504179" cy="419345"/>
          </a:xfrm>
          <a:prstGeom prst="rect">
            <a:avLst/>
          </a:prstGeom>
          <a:solidFill>
            <a:srgbClr val="F8BD65"/>
          </a:solidFill>
        </p:spPr>
        <p:txBody>
          <a:bodyPr vert="horz" lIns="91440" tIns="9144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>
                <a:latin typeface="Segoe Print" panose="02000800000000000000" pitchFamily="2" charset="0"/>
                <a:cs typeface="Consolas" panose="020B0609020204030204" pitchFamily="49" charset="0"/>
              </a:rPr>
              <a:t>    Human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C80C07-FE80-27A8-83D7-969B3646D11A}"/>
              </a:ext>
            </a:extLst>
          </p:cNvPr>
          <p:cNvCxnSpPr>
            <a:cxnSpLocks/>
          </p:cNvCxnSpPr>
          <p:nvPr/>
        </p:nvCxnSpPr>
        <p:spPr>
          <a:xfrm>
            <a:off x="9008575" y="1853745"/>
            <a:ext cx="0" cy="4862015"/>
          </a:xfrm>
          <a:prstGeom prst="line">
            <a:avLst/>
          </a:prstGeom>
          <a:ln w="38100" cap="rnd">
            <a:solidFill>
              <a:srgbClr val="FFC000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21256A99-F0AA-1807-1D8D-7EF3DCD1A631}"/>
              </a:ext>
            </a:extLst>
          </p:cNvPr>
          <p:cNvSpPr txBox="1">
            <a:spLocks/>
          </p:cNvSpPr>
          <p:nvPr/>
        </p:nvSpPr>
        <p:spPr>
          <a:xfrm>
            <a:off x="1192193" y="1853745"/>
            <a:ext cx="2473006" cy="419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9144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Application code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4326029-B688-E196-3D18-EA0AC1030DB0}"/>
              </a:ext>
            </a:extLst>
          </p:cNvPr>
          <p:cNvCxnSpPr>
            <a:cxnSpLocks/>
          </p:cNvCxnSpPr>
          <p:nvPr/>
        </p:nvCxnSpPr>
        <p:spPr>
          <a:xfrm>
            <a:off x="1177534" y="1853745"/>
            <a:ext cx="0" cy="4599497"/>
          </a:xfrm>
          <a:prstGeom prst="line">
            <a:avLst/>
          </a:prstGeom>
          <a:ln w="38100" cap="rnd">
            <a:solidFill>
              <a:schemeClr val="bg1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74" name="Group 73">
            <a:extLst>
              <a:ext uri="{FF2B5EF4-FFF2-40B4-BE49-F238E27FC236}">
                <a16:creationId xmlns:a16="http://schemas.microsoft.com/office/drawing/2014/main" id="{D72D154B-2B46-5FD4-53FF-FF02E61DF9B7}"/>
              </a:ext>
            </a:extLst>
          </p:cNvPr>
          <p:cNvGrpSpPr/>
          <p:nvPr/>
        </p:nvGrpSpPr>
        <p:grpSpPr>
          <a:xfrm>
            <a:off x="1177534" y="2544253"/>
            <a:ext cx="4245983" cy="427523"/>
            <a:chOff x="1177534" y="2544253"/>
            <a:chExt cx="4245983" cy="427523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305855E-FF94-1F21-409C-B8A39863E6A8}"/>
                </a:ext>
              </a:extLst>
            </p:cNvPr>
            <p:cNvSpPr txBox="1"/>
            <p:nvPr/>
          </p:nvSpPr>
          <p:spPr>
            <a:xfrm>
              <a:off x="1217465" y="2544253"/>
              <a:ext cx="232986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1800" b="1">
                  <a:latin typeface="Consolas" panose="020B0609020204030204" pitchFamily="49" charset="0"/>
                  <a:cs typeface="Consolas" panose="020B0609020204030204" pitchFamily="49" charset="0"/>
                </a:rPr>
                <a:t>workflow.run(msg)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FFAE69C3-7444-0105-A74F-C6E8AF5C6D27}"/>
                </a:ext>
              </a:extLst>
            </p:cNvPr>
            <p:cNvCxnSpPr>
              <a:cxnSpLocks/>
            </p:cNvCxnSpPr>
            <p:nvPr/>
          </p:nvCxnSpPr>
          <p:spPr>
            <a:xfrm>
              <a:off x="1177534" y="2971776"/>
              <a:ext cx="4245983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52AFAF0-29C7-ECF6-C89C-81D7D101C313}"/>
              </a:ext>
            </a:extLst>
          </p:cNvPr>
          <p:cNvCxnSpPr>
            <a:cxnSpLocks/>
          </p:cNvCxnSpPr>
          <p:nvPr/>
        </p:nvCxnSpPr>
        <p:spPr>
          <a:xfrm>
            <a:off x="5423517" y="1853745"/>
            <a:ext cx="0" cy="4862015"/>
          </a:xfrm>
          <a:prstGeom prst="line">
            <a:avLst/>
          </a:prstGeom>
          <a:ln w="38100" cap="rnd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6BD3B1D-55CA-9FA8-BD1C-0480B1438A4B}"/>
              </a:ext>
            </a:extLst>
          </p:cNvPr>
          <p:cNvSpPr txBox="1"/>
          <p:nvPr/>
        </p:nvSpPr>
        <p:spPr>
          <a:xfrm>
            <a:off x="5434620" y="3007581"/>
            <a:ext cx="2960461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>
                <a:latin typeface="Consolas" panose="020B0609020204030204" pitchFamily="49" charset="0"/>
                <a:cs typeface="Consolas" panose="020B0609020204030204" pitchFamily="49" charset="0"/>
              </a:rPr>
              <a:t>ctx.request_info(data)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B6D630E-2F0E-47F3-3C03-09AE20F913E2}"/>
              </a:ext>
            </a:extLst>
          </p:cNvPr>
          <p:cNvGrpSpPr/>
          <p:nvPr/>
        </p:nvGrpSpPr>
        <p:grpSpPr>
          <a:xfrm>
            <a:off x="1177534" y="3336836"/>
            <a:ext cx="4245983" cy="834187"/>
            <a:chOff x="1177534" y="3336836"/>
            <a:chExt cx="4245983" cy="83418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79AB7C1-839A-DF40-6BE9-B9EBEC6CCEB0}"/>
                </a:ext>
              </a:extLst>
            </p:cNvPr>
            <p:cNvSpPr txBox="1"/>
            <p:nvPr/>
          </p:nvSpPr>
          <p:spPr>
            <a:xfrm>
              <a:off x="1217465" y="3801691"/>
              <a:ext cx="253450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⏸️ W</a:t>
              </a:r>
              <a:r>
                <a:rPr lang="en-US" sz="1800"/>
                <a:t>orkflow pauses</a:t>
              </a:r>
              <a:endParaRPr lang="en-US"/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F710CD14-D3FE-65B1-B8A2-4BDAA58DB5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7534" y="3724477"/>
              <a:ext cx="4245983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5A393E2-60C6-3CEE-F62F-F4EDE74DCBCF}"/>
                </a:ext>
              </a:extLst>
            </p:cNvPr>
            <p:cNvSpPr txBox="1"/>
            <p:nvPr/>
          </p:nvSpPr>
          <p:spPr>
            <a:xfrm>
              <a:off x="1177534" y="3336836"/>
              <a:ext cx="3535193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1700" b="1">
                  <a:latin typeface="Consolas" panose="020B0609020204030204" pitchFamily="49" charset="0"/>
                  <a:cs typeface="Consolas" panose="020B0609020204030204" pitchFamily="49" charset="0"/>
                </a:rPr>
                <a:t>event.type == "request_info" 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1D88430A-0A14-6E63-3C10-74F7BF5AFE94}"/>
              </a:ext>
            </a:extLst>
          </p:cNvPr>
          <p:cNvGrpSpPr/>
          <p:nvPr/>
        </p:nvGrpSpPr>
        <p:grpSpPr>
          <a:xfrm>
            <a:off x="1173117" y="4236219"/>
            <a:ext cx="10331779" cy="1091781"/>
            <a:chOff x="1173117" y="4236219"/>
            <a:chExt cx="10331779" cy="1091781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7FA948D2-7C20-12A8-BD50-31875ECC9A25}"/>
                </a:ext>
              </a:extLst>
            </p:cNvPr>
            <p:cNvCxnSpPr>
              <a:cxnSpLocks/>
            </p:cNvCxnSpPr>
            <p:nvPr/>
          </p:nvCxnSpPr>
          <p:spPr>
            <a:xfrm>
              <a:off x="1177534" y="4605551"/>
              <a:ext cx="7831041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A703A9C-4CD9-21CA-24F2-DC10F2378316}"/>
                </a:ext>
              </a:extLst>
            </p:cNvPr>
            <p:cNvSpPr txBox="1"/>
            <p:nvPr/>
          </p:nvSpPr>
          <p:spPr>
            <a:xfrm>
              <a:off x="1222060" y="4236219"/>
              <a:ext cx="326891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/>
                <a:t>prompt user</a:t>
              </a:r>
              <a:endParaRPr lang="en-US"/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D63D6D23-CD42-6217-B61F-51D10D4A0B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3117" y="5101878"/>
              <a:ext cx="7827939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A2D29DE-1333-7F87-6A34-73B6E94AB9BF}"/>
                </a:ext>
              </a:extLst>
            </p:cNvPr>
            <p:cNvSpPr txBox="1"/>
            <p:nvPr/>
          </p:nvSpPr>
          <p:spPr>
            <a:xfrm>
              <a:off x="9005921" y="4958668"/>
              <a:ext cx="2498975" cy="369332"/>
            </a:xfrm>
            <a:prstGeom prst="rect">
              <a:avLst/>
            </a:prstGeom>
            <a:solidFill>
              <a:srgbClr val="F8BD65"/>
            </a:solidFill>
          </p:spPr>
          <p:txBody>
            <a:bodyPr wrap="square">
              <a:spAutoFit/>
            </a:bodyPr>
            <a:lstStyle/>
            <a:p>
              <a:r>
                <a:rPr lang="en-US"/>
                <a:t>💬</a:t>
              </a:r>
              <a:r>
                <a:rPr lang="en-US" sz="1800">
                  <a:latin typeface="Segoe Print" panose="02000800000000000000" pitchFamily="2" charset="0"/>
                </a:rPr>
                <a:t> provide input</a:t>
              </a:r>
              <a:endParaRPr lang="en-US">
                <a:latin typeface="Segoe Print" panose="02000800000000000000" pitchFamily="2" charset="0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64313025-C560-2ADC-ADE6-01D89564EEDA}"/>
              </a:ext>
            </a:extLst>
          </p:cNvPr>
          <p:cNvGrpSpPr/>
          <p:nvPr/>
        </p:nvGrpSpPr>
        <p:grpSpPr>
          <a:xfrm>
            <a:off x="1177534" y="5413718"/>
            <a:ext cx="4245983" cy="414075"/>
            <a:chOff x="1177534" y="5413718"/>
            <a:chExt cx="4245983" cy="414075"/>
          </a:xfrm>
        </p:grpSpPr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9B596BC5-7782-F78E-35C1-846E10790039}"/>
                </a:ext>
              </a:extLst>
            </p:cNvPr>
            <p:cNvCxnSpPr>
              <a:cxnSpLocks/>
            </p:cNvCxnSpPr>
            <p:nvPr/>
          </p:nvCxnSpPr>
          <p:spPr>
            <a:xfrm>
              <a:off x="1177534" y="5827793"/>
              <a:ext cx="4245983" cy="0"/>
            </a:xfrm>
            <a:prstGeom prst="straightConnector1">
              <a:avLst/>
            </a:prstGeom>
            <a:ln w="508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8657D47-86CF-8EA4-F6B1-90F162DA0518}"/>
                </a:ext>
              </a:extLst>
            </p:cNvPr>
            <p:cNvSpPr txBox="1"/>
            <p:nvPr/>
          </p:nvSpPr>
          <p:spPr>
            <a:xfrm>
              <a:off x="1228629" y="5413718"/>
              <a:ext cx="32988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1800" b="1">
                  <a:latin typeface="Consolas" panose="020B0609020204030204" pitchFamily="49" charset="0"/>
                  <a:cs typeface="Consolas" panose="020B0609020204030204" pitchFamily="49" charset="0"/>
                </a:rPr>
                <a:t>workflow.run(responses)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E2E1E25-A97F-73D6-937A-8252515FDD92}"/>
              </a:ext>
            </a:extLst>
          </p:cNvPr>
          <p:cNvGrpSpPr/>
          <p:nvPr/>
        </p:nvGrpSpPr>
        <p:grpSpPr>
          <a:xfrm>
            <a:off x="5451399" y="5911479"/>
            <a:ext cx="3041244" cy="791418"/>
            <a:chOff x="5451399" y="5911479"/>
            <a:chExt cx="3041244" cy="791418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C44C5F1-3579-EA28-3245-A6771F96209D}"/>
                </a:ext>
              </a:extLst>
            </p:cNvPr>
            <p:cNvSpPr txBox="1"/>
            <p:nvPr/>
          </p:nvSpPr>
          <p:spPr>
            <a:xfrm>
              <a:off x="5451399" y="5911479"/>
              <a:ext cx="2966832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marL="0" indent="0">
                <a:buNone/>
              </a:pPr>
              <a:r>
                <a:rPr lang="en-US" sz="1800" b="1">
                  <a:latin typeface="Consolas" panose="020B0609020204030204" pitchFamily="49" charset="0"/>
                  <a:cs typeface="Consolas" panose="020B0609020204030204" pitchFamily="49" charset="0"/>
                </a:rPr>
                <a:t>@response_handler()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2D1B22AF-382D-1FA0-3D74-C6FC91F87718}"/>
                </a:ext>
              </a:extLst>
            </p:cNvPr>
            <p:cNvSpPr txBox="1"/>
            <p:nvPr/>
          </p:nvSpPr>
          <p:spPr>
            <a:xfrm>
              <a:off x="5458242" y="6333565"/>
              <a:ext cx="303440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/>
                <a:t>▶️ Workflow resumes</a:t>
              </a:r>
              <a:endParaRPr lang="en-US"/>
            </a:p>
          </p:txBody>
        </p:sp>
      </p:grpSp>
      <p:pic>
        <p:nvPicPr>
          <p:cNvPr id="4" name="Graphic 3" descr="User with solid fill">
            <a:extLst>
              <a:ext uri="{FF2B5EF4-FFF2-40B4-BE49-F238E27FC236}">
                <a16:creationId xmlns:a16="http://schemas.microsoft.com/office/drawing/2014/main" id="{5BF5C939-240D-AA82-D640-A78968178E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0615" y="1815174"/>
            <a:ext cx="424532" cy="42453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1C0B1-8190-FC45-9944-77F42EAB7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79397730-D5D9-ED4F-9D36-BAF8BFBE0AE6}"/>
              </a:ext>
            </a:extLst>
          </p:cNvPr>
          <p:cNvCxnSpPr>
            <a:cxnSpLocks/>
          </p:cNvCxnSpPr>
          <p:nvPr/>
        </p:nvCxnSpPr>
        <p:spPr>
          <a:xfrm>
            <a:off x="3201420" y="4349615"/>
            <a:ext cx="0" cy="1437839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D15B21DC-404A-C004-319B-AF6F94F03C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14"/>
          <a:stretch>
            <a:fillRect/>
          </a:stretch>
        </p:blipFill>
        <p:spPr>
          <a:xfrm>
            <a:off x="8491261" y="1596371"/>
            <a:ext cx="3392272" cy="108624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FB2C3CF-7FAC-A6DB-12E1-52A385D0EF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3768"/>
          <a:stretch>
            <a:fillRect/>
          </a:stretch>
        </p:blipFill>
        <p:spPr>
          <a:xfrm>
            <a:off x="2760209" y="1596371"/>
            <a:ext cx="3350215" cy="108624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5AB123-BDEA-58DB-813F-F916668C9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990" y="1"/>
            <a:ext cx="10913982" cy="844952"/>
          </a:xfrm>
        </p:spPr>
        <p:txBody>
          <a:bodyPr tIns="182880" bIns="0" anchor="t" anchorCtr="0">
            <a:normAutofit/>
          </a:bodyPr>
          <a:lstStyle/>
          <a:p>
            <a:r>
              <a:rPr lang="en-US"/>
              <a:t>Simple chat with HITL: Workflow topology</a:t>
            </a: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0AE142-E144-3DF5-BAB3-CF471B509E83}"/>
              </a:ext>
            </a:extLst>
          </p:cNvPr>
          <p:cNvSpPr txBox="1"/>
          <p:nvPr/>
        </p:nvSpPr>
        <p:spPr>
          <a:xfrm>
            <a:off x="1138133" y="6437126"/>
            <a:ext cx="442300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4"/>
              </a:rPr>
              <a:t>workflow_hitl_requests.py</a:t>
            </a:r>
            <a:endParaRPr lang="en-US" sz="2000" err="1"/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6B741174-05BA-0321-9A00-E0FA5D2863BD}"/>
              </a:ext>
            </a:extLst>
          </p:cNvPr>
          <p:cNvSpPr/>
          <p:nvPr/>
        </p:nvSpPr>
        <p:spPr>
          <a:xfrm>
            <a:off x="1138133" y="1610312"/>
            <a:ext cx="1151664" cy="943722"/>
          </a:xfrm>
          <a:prstGeom prst="wedgeRoundRectCallo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Input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4DA65C-C01C-8AC9-A12E-8B92736D0A75}"/>
              </a:ext>
            </a:extLst>
          </p:cNvPr>
          <p:cNvCxnSpPr>
            <a:cxnSpLocks/>
          </p:cNvCxnSpPr>
          <p:nvPr/>
        </p:nvCxnSpPr>
        <p:spPr>
          <a:xfrm>
            <a:off x="2289797" y="2150573"/>
            <a:ext cx="63730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2AFC4AD-B6F1-09F2-09B8-632F4CC41828}"/>
              </a:ext>
            </a:extLst>
          </p:cNvPr>
          <p:cNvSpPr txBox="1"/>
          <p:nvPr/>
        </p:nvSpPr>
        <p:spPr>
          <a:xfrm>
            <a:off x="6120584" y="2157514"/>
            <a:ext cx="2462117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AgentExecutorRequest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5A29E8C-A95A-BB14-4ADE-3866ECDA70D6}"/>
              </a:ext>
            </a:extLst>
          </p:cNvPr>
          <p:cNvSpPr/>
          <p:nvPr/>
        </p:nvSpPr>
        <p:spPr bwMode="auto">
          <a:xfrm>
            <a:off x="9545880" y="2860019"/>
            <a:ext cx="1218576" cy="522885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04BA064-F667-71C7-1CE8-CCE2A10F53B9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10155168" y="2575913"/>
            <a:ext cx="0" cy="2841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4EDC80B-4A25-F7FF-EBBF-560892011CDE}"/>
              </a:ext>
            </a:extLst>
          </p:cNvPr>
          <p:cNvCxnSpPr>
            <a:cxnSpLocks/>
          </p:cNvCxnSpPr>
          <p:nvPr/>
        </p:nvCxnSpPr>
        <p:spPr>
          <a:xfrm>
            <a:off x="11287220" y="2575913"/>
            <a:ext cx="0" cy="945341"/>
          </a:xfrm>
          <a:prstGeom prst="straightConnector1">
            <a:avLst/>
          </a:prstGeom>
          <a:ln w="38100" cap="rnd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EA8FDE9-6F04-5E5C-4FDE-DDF0461322E9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6110424" y="2139494"/>
            <a:ext cx="247227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59F7461-B3D0-9F5E-2B22-C6F4E4A6DC25}"/>
              </a:ext>
            </a:extLst>
          </p:cNvPr>
          <p:cNvCxnSpPr>
            <a:cxnSpLocks/>
          </p:cNvCxnSpPr>
          <p:nvPr/>
        </p:nvCxnSpPr>
        <p:spPr>
          <a:xfrm flipH="1">
            <a:off x="5433114" y="3521254"/>
            <a:ext cx="5854106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B81295E-74E0-087F-C7B8-C1933E343ED0}"/>
              </a:ext>
            </a:extLst>
          </p:cNvPr>
          <p:cNvCxnSpPr>
            <a:cxnSpLocks/>
          </p:cNvCxnSpPr>
          <p:nvPr/>
        </p:nvCxnSpPr>
        <p:spPr>
          <a:xfrm>
            <a:off x="5433114" y="2591819"/>
            <a:ext cx="0" cy="1420331"/>
          </a:xfrm>
          <a:prstGeom prst="straightConnector1">
            <a:avLst/>
          </a:prstGeom>
          <a:ln w="38100" cap="rnd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7C6AB17A-54AE-23D7-5958-5F6E0F298E6B}"/>
              </a:ext>
            </a:extLst>
          </p:cNvPr>
          <p:cNvSpPr txBox="1"/>
          <p:nvPr/>
        </p:nvSpPr>
        <p:spPr>
          <a:xfrm>
            <a:off x="6191704" y="3566478"/>
            <a:ext cx="3354175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AgentExecutorResponse (str)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D94485AB-9FAE-4FAA-1EA3-961DB6B6B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990" y="1039512"/>
            <a:ext cx="11729035" cy="6030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/>
              <a:t>In this workflow, the coordinator calls </a:t>
            </a:r>
            <a:r>
              <a:rPr lang="en-US" sz="24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request_info </a:t>
            </a:r>
            <a:r>
              <a:rPr lang="en-US" sz="2400"/>
              <a:t>until user replies </a:t>
            </a:r>
            <a:r>
              <a:rPr lang="en-US" sz="24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"done"</a:t>
            </a:r>
            <a:r>
              <a:rPr lang="en-US" sz="2400"/>
              <a:t>:</a:t>
            </a:r>
            <a:endParaRPr sz="240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B2330B6-F289-88FB-1718-0D125CF6D003}"/>
              </a:ext>
            </a:extLst>
          </p:cNvPr>
          <p:cNvSpPr txBox="1"/>
          <p:nvPr/>
        </p:nvSpPr>
        <p:spPr>
          <a:xfrm>
            <a:off x="3920204" y="4012150"/>
            <a:ext cx="1626803" cy="3374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ts val="2025"/>
              </a:lnSpc>
              <a:buNone/>
            </a:pP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request_info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D0D568-8F9E-94B6-0F34-034CD61F0149}"/>
              </a:ext>
            </a:extLst>
          </p:cNvPr>
          <p:cNvSpPr txBox="1"/>
          <p:nvPr/>
        </p:nvSpPr>
        <p:spPr>
          <a:xfrm>
            <a:off x="3034586" y="5103235"/>
            <a:ext cx="1771236" cy="3488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ts val="2025"/>
              </a:lnSpc>
              <a:buNone/>
            </a:pP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yield_output()</a:t>
            </a:r>
          </a:p>
        </p:txBody>
      </p: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D9450378-85CD-3512-56D4-4D9571750CC3}"/>
              </a:ext>
            </a:extLst>
          </p:cNvPr>
          <p:cNvCxnSpPr>
            <a:cxnSpLocks/>
          </p:cNvCxnSpPr>
          <p:nvPr/>
        </p:nvCxnSpPr>
        <p:spPr>
          <a:xfrm flipH="1" flipV="1">
            <a:off x="3471853" y="4192484"/>
            <a:ext cx="448351" cy="26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DAA283DE-424A-7F03-B9A2-49D2F56E70B4}"/>
              </a:ext>
            </a:extLst>
          </p:cNvPr>
          <p:cNvSpPr txBox="1"/>
          <p:nvPr/>
        </p:nvSpPr>
        <p:spPr>
          <a:xfrm>
            <a:off x="3067128" y="4585889"/>
            <a:ext cx="853090" cy="3374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ts val="2025"/>
              </a:lnSpc>
              <a:buNone/>
            </a:pPr>
            <a:r>
              <a:rPr lang="en-US" sz="1600" b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"done"</a:t>
            </a:r>
          </a:p>
        </p:txBody>
      </p:sp>
      <p:sp>
        <p:nvSpPr>
          <p:cNvPr id="80" name="Rounded Rectangular Callout 79">
            <a:extLst>
              <a:ext uri="{FF2B5EF4-FFF2-40B4-BE49-F238E27FC236}">
                <a16:creationId xmlns:a16="http://schemas.microsoft.com/office/drawing/2014/main" id="{761A5BF1-F08D-8882-7D9A-97D4929DD217}"/>
              </a:ext>
            </a:extLst>
          </p:cNvPr>
          <p:cNvSpPr/>
          <p:nvPr/>
        </p:nvSpPr>
        <p:spPr>
          <a:xfrm>
            <a:off x="2901038" y="5771468"/>
            <a:ext cx="1141630" cy="428387"/>
          </a:xfrm>
          <a:prstGeom prst="wedgeRoundRectCallout">
            <a:avLst>
              <a:gd name="adj1" fmla="val -22005"/>
              <a:gd name="adj2" fmla="val 46429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Output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EDAC0500-5EAC-CF12-7152-7495A2F7D6B9}"/>
              </a:ext>
            </a:extLst>
          </p:cNvPr>
          <p:cNvCxnSpPr>
            <a:cxnSpLocks/>
          </p:cNvCxnSpPr>
          <p:nvPr/>
        </p:nvCxnSpPr>
        <p:spPr>
          <a:xfrm flipV="1">
            <a:off x="3201420" y="2565226"/>
            <a:ext cx="0" cy="1629957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Content Placeholder 2">
            <a:extLst>
              <a:ext uri="{FF2B5EF4-FFF2-40B4-BE49-F238E27FC236}">
                <a16:creationId xmlns:a16="http://schemas.microsoft.com/office/drawing/2014/main" id="{944DC5BE-B9F0-B417-8AA9-41A56CF41452}"/>
              </a:ext>
            </a:extLst>
          </p:cNvPr>
          <p:cNvSpPr txBox="1">
            <a:spLocks/>
          </p:cNvSpPr>
          <p:nvPr/>
        </p:nvSpPr>
        <p:spPr>
          <a:xfrm>
            <a:off x="1937123" y="3997427"/>
            <a:ext cx="1556550" cy="419345"/>
          </a:xfrm>
          <a:prstGeom prst="rect">
            <a:avLst/>
          </a:prstGeom>
          <a:solidFill>
            <a:srgbClr val="F8BD65"/>
          </a:solidFill>
        </p:spPr>
        <p:txBody>
          <a:bodyPr vert="horz" lIns="91440" tIns="9144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>
                <a:latin typeface="Segoe Print" panose="02000800000000000000" pitchFamily="2" charset="0"/>
                <a:cs typeface="Consolas" panose="020B0609020204030204" pitchFamily="49" charset="0"/>
              </a:rPr>
              <a:t>    Human</a:t>
            </a:r>
          </a:p>
        </p:txBody>
      </p:sp>
      <p:pic>
        <p:nvPicPr>
          <p:cNvPr id="4" name="Graphic 3" descr="User with solid fill">
            <a:extLst>
              <a:ext uri="{FF2B5EF4-FFF2-40B4-BE49-F238E27FC236}">
                <a16:creationId xmlns:a16="http://schemas.microsoft.com/office/drawing/2014/main" id="{3405C1C8-1ADB-ACF3-9B9F-37F4B8CB8F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87904" y="3980218"/>
            <a:ext cx="424532" cy="42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925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8B8EE-DD82-0C11-901A-DA426687D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F6D8D-1B4D-FDEB-3A70-4F519A24C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990" y="1"/>
            <a:ext cx="10913982" cy="844952"/>
          </a:xfrm>
        </p:spPr>
        <p:txBody>
          <a:bodyPr tIns="182880" bIns="0" anchor="t" anchorCtr="0">
            <a:normAutofit fontScale="90000"/>
          </a:bodyPr>
          <a:lstStyle/>
          <a:p>
            <a:r>
              <a:rPr lang="en-US"/>
              <a:t>Executor code for handling requests and responses</a:t>
            </a: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0531BF-290F-46DB-438A-1E827ACE94C2}"/>
              </a:ext>
            </a:extLst>
          </p:cNvPr>
          <p:cNvSpPr txBox="1"/>
          <p:nvPr/>
        </p:nvSpPr>
        <p:spPr>
          <a:xfrm>
            <a:off x="1117104" y="6353995"/>
            <a:ext cx="442300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workflow_hitl_requests.py</a:t>
            </a:r>
            <a:endParaRPr lang="en-US" sz="200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2B2A1-3B44-55F9-96D4-9D8177F64DCC}"/>
              </a:ext>
            </a:extLst>
          </p:cNvPr>
          <p:cNvSpPr txBox="1"/>
          <p:nvPr/>
        </p:nvSpPr>
        <p:spPr>
          <a:xfrm>
            <a:off x="1060990" y="1500201"/>
            <a:ext cx="10814635" cy="48290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9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ChatCoordinator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Executor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  <a:b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sz="19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19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@handler</a:t>
            </a:r>
            <a:endParaRPr lang="en-US" sz="19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19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async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on_agent_response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AgentExecutorResponse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WorkflowContext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 sz="19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19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await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request_info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900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request_data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UserPrompt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agent_response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>
              <a:lnSpc>
                <a:spcPct val="90000"/>
              </a:lnSpc>
              <a:buNone/>
            </a:pP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response_type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endParaRPr lang="en-US" sz="19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19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@response_handler</a:t>
            </a:r>
            <a:endParaRPr lang="en-US" sz="19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19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async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on_human_reply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original_request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UserPrompt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reply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WorkflowContext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AgentExecutorRequest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]) -&gt; </a:t>
            </a:r>
            <a:r>
              <a:rPr lang="en-US" sz="19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19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if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reply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strip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sz="19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lower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== </a:t>
            </a:r>
            <a:r>
              <a:rPr lang="en-US" sz="19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"done"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19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await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yield_output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"Conversation ended."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19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  return</a:t>
            </a:r>
            <a:endParaRPr lang="en-US" sz="1900" b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19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await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send_message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900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AgentExecutorRequest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messages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sz="19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00" b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"user"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reply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)],</a:t>
            </a:r>
          </a:p>
          <a:p>
            <a:pPr>
              <a:lnSpc>
                <a:spcPct val="900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should_respond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9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), 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target_id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_agent_id</a:t>
            </a:r>
            <a:r>
              <a:rPr lang="en-US" sz="19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BAFB11D-493C-6492-3EBC-A4A167CCB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990" y="1047611"/>
            <a:ext cx="11729035" cy="6030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50"/>
              <a:t>Executor calls </a:t>
            </a:r>
            <a:r>
              <a:rPr lang="en-US" sz="205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request_info </a:t>
            </a:r>
            <a:r>
              <a:rPr lang="en-US" sz="2050"/>
              <a:t>to request HITL and defines </a:t>
            </a:r>
            <a:r>
              <a:rPr lang="en-US" sz="205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@response_handler </a:t>
            </a:r>
            <a:r>
              <a:rPr lang="en-US" sz="2050"/>
              <a:t>to handle reply: </a:t>
            </a:r>
            <a:endParaRPr sz="2050"/>
          </a:p>
        </p:txBody>
      </p:sp>
    </p:spTree>
    <p:extLst>
      <p:ext uri="{BB962C8B-B14F-4D97-AF65-F5344CB8AC3E}">
        <p14:creationId xmlns:p14="http://schemas.microsoft.com/office/powerpoint/2010/main" val="2989144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DB9BC-E4E7-C74A-1E51-731FF5B43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BCF1B-0EEE-1D5E-E818-3AB363340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990" y="1"/>
            <a:ext cx="10913982" cy="844952"/>
          </a:xfrm>
        </p:spPr>
        <p:txBody>
          <a:bodyPr tIns="182880" bIns="0" anchor="t" anchorCtr="0">
            <a:normAutofit/>
          </a:bodyPr>
          <a:lstStyle/>
          <a:p>
            <a:r>
              <a:rPr lang="en-US"/>
              <a:t>App code for handling requests and responses</a:t>
            </a: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B6D70A-D902-3517-239A-39D927D0D021}"/>
              </a:ext>
            </a:extLst>
          </p:cNvPr>
          <p:cNvSpPr txBox="1"/>
          <p:nvPr/>
        </p:nvSpPr>
        <p:spPr>
          <a:xfrm>
            <a:off x="1060990" y="6509865"/>
            <a:ext cx="4423006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workflow_hitl_requests.py</a:t>
            </a:r>
            <a:endParaRPr lang="en-US" sz="200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DF1460-C222-FC27-ADBE-B82A7F182B45}"/>
              </a:ext>
            </a:extLst>
          </p:cNvPr>
          <p:cNvSpPr txBox="1"/>
          <p:nvPr/>
        </p:nvSpPr>
        <p:spPr>
          <a:xfrm>
            <a:off x="1060990" y="1413296"/>
            <a:ext cx="11347071" cy="50783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stream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first_message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stream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pending 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{}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async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stream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"request_info"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pending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request_id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elif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"output"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000">
                <a:solidFill>
                  <a:srgbClr val="EE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\n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pending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</a:p>
          <a:p>
            <a:pPr>
              <a:lnSpc>
                <a:spcPct val="90000"/>
              </a:lnSpc>
              <a:buNone/>
            </a:pP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request_id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pending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items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():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000">
                <a:solidFill>
                  <a:srgbClr val="EE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\n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🤖 Agent: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.message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reply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"💬 You (or 'done'): 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pending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request_id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reply</a:t>
            </a:r>
            <a:b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stream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stream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pending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BA1D222-5871-CD94-6427-5898328DE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990" y="1047611"/>
            <a:ext cx="11729035" cy="6030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50"/>
              <a:t>The app checks for </a:t>
            </a:r>
            <a:r>
              <a:rPr lang="en-US" sz="205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"request_info"</a:t>
            </a:r>
            <a:r>
              <a:rPr lang="en-US" sz="205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50"/>
              <a:t>events, requests </a:t>
            </a:r>
            <a:r>
              <a:rPr lang="en-US" sz="205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input()</a:t>
            </a:r>
            <a:r>
              <a:rPr lang="en-US" sz="2050"/>
              <a:t>, runs workflow with responses:</a:t>
            </a:r>
            <a:endParaRPr sz="2050"/>
          </a:p>
        </p:txBody>
      </p:sp>
    </p:spTree>
    <p:extLst>
      <p:ext uri="{BB962C8B-B14F-4D97-AF65-F5344CB8AC3E}">
        <p14:creationId xmlns:p14="http://schemas.microsoft.com/office/powerpoint/2010/main" val="3514829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FF343-63A0-240F-8569-8AFB8CB55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F8FE1C3-206B-FFE3-B025-93CF4DC7F525}"/>
              </a:ext>
            </a:extLst>
          </p:cNvPr>
          <p:cNvCxnSpPr>
            <a:cxnSpLocks/>
          </p:cNvCxnSpPr>
          <p:nvPr/>
        </p:nvCxnSpPr>
        <p:spPr>
          <a:xfrm>
            <a:off x="5628635" y="4270327"/>
            <a:ext cx="0" cy="828715"/>
          </a:xfrm>
          <a:prstGeom prst="straightConnector1">
            <a:avLst/>
          </a:prstGeom>
          <a:ln w="38100" cap="rnd">
            <a:solidFill>
              <a:schemeClr val="tx1"/>
            </a:solidFill>
            <a:prstDash val="sys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C5F8A52-4468-DD3B-BBD4-DAE2FB38AABE}"/>
              </a:ext>
            </a:extLst>
          </p:cNvPr>
          <p:cNvCxnSpPr>
            <a:cxnSpLocks/>
          </p:cNvCxnSpPr>
          <p:nvPr/>
        </p:nvCxnSpPr>
        <p:spPr>
          <a:xfrm>
            <a:off x="4890384" y="4190925"/>
            <a:ext cx="0" cy="884076"/>
          </a:xfrm>
          <a:prstGeom prst="straightConnector1">
            <a:avLst/>
          </a:prstGeom>
          <a:ln w="38100" cap="rnd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932EFBE2-BD9E-A983-8CE2-151285096C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71" t="-435" r="774" b="15987"/>
          <a:stretch>
            <a:fillRect/>
          </a:stretch>
        </p:blipFill>
        <p:spPr>
          <a:xfrm>
            <a:off x="8506236" y="1441715"/>
            <a:ext cx="3297863" cy="9453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383132-F8A3-D01D-10BA-885FC9816B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1" t="1587" r="57724" b="13965"/>
          <a:stretch>
            <a:fillRect/>
          </a:stretch>
        </p:blipFill>
        <p:spPr>
          <a:xfrm>
            <a:off x="2812561" y="1470134"/>
            <a:ext cx="3297863" cy="9453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B71DF3-CF53-0ADE-B8FC-2B8C72B4C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990" y="1"/>
            <a:ext cx="11131010" cy="963110"/>
          </a:xfrm>
        </p:spPr>
        <p:txBody>
          <a:bodyPr tIns="182880" bIns="0" anchor="t" anchorCtr="0">
            <a:normAutofit/>
          </a:bodyPr>
          <a:lstStyle/>
          <a:p>
            <a:r>
              <a:rPr lang="en-US"/>
              <a:t>HITL with structured outputs: Workflow topology</a:t>
            </a: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18D9AA-C9A1-FA59-ECBA-BCDDD842D533}"/>
              </a:ext>
            </a:extLst>
          </p:cNvPr>
          <p:cNvSpPr txBox="1"/>
          <p:nvPr/>
        </p:nvSpPr>
        <p:spPr>
          <a:xfrm>
            <a:off x="1138133" y="6468629"/>
            <a:ext cx="569547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4"/>
              </a:rPr>
              <a:t>workflow_hitl_requests_structured.py</a:t>
            </a:r>
            <a:endParaRPr lang="en-US" sz="2000" err="1"/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EE44A51E-B7D6-059C-E493-0C4967F69718}"/>
              </a:ext>
            </a:extLst>
          </p:cNvPr>
          <p:cNvSpPr/>
          <p:nvPr/>
        </p:nvSpPr>
        <p:spPr>
          <a:xfrm>
            <a:off x="1138133" y="1417272"/>
            <a:ext cx="1151664" cy="943722"/>
          </a:xfrm>
          <a:prstGeom prst="wedgeRoundRectCallou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Input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25F36DD-8DDB-1262-B880-18407904DD0A}"/>
              </a:ext>
            </a:extLst>
          </p:cNvPr>
          <p:cNvCxnSpPr>
            <a:cxnSpLocks/>
          </p:cNvCxnSpPr>
          <p:nvPr/>
        </p:nvCxnSpPr>
        <p:spPr>
          <a:xfrm>
            <a:off x="2289797" y="1957533"/>
            <a:ext cx="637308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AEA19A8-8CF4-6648-80A2-F85B400097B9}"/>
              </a:ext>
            </a:extLst>
          </p:cNvPr>
          <p:cNvSpPr txBox="1"/>
          <p:nvPr/>
        </p:nvSpPr>
        <p:spPr>
          <a:xfrm>
            <a:off x="6120584" y="1964474"/>
            <a:ext cx="2462117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AgentExecutorRequest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4544A1-52F0-A2BE-D64B-0F0DBD7AF60C}"/>
              </a:ext>
            </a:extLst>
          </p:cNvPr>
          <p:cNvSpPr/>
          <p:nvPr/>
        </p:nvSpPr>
        <p:spPr bwMode="auto">
          <a:xfrm>
            <a:off x="9545880" y="2666980"/>
            <a:ext cx="1218576" cy="328694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spcBef>
                <a:spcPct val="0"/>
              </a:spcBef>
              <a:spcAft>
                <a:spcPct val="0"/>
              </a:spcAft>
            </a:pPr>
            <a:r>
              <a:rPr lang="en-US" sz="2200" b="1" err="1">
                <a:solidFill>
                  <a:schemeClr val="bg1"/>
                </a:solidFill>
                <a:ea typeface="Segoe UI" pitchFamily="34" charset="0"/>
                <a:cs typeface="Segoe UI" pitchFamily="34" charset="0"/>
              </a:rPr>
              <a:t>LLM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9AB140-2D64-166D-EC2D-7480344EDF49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10155168" y="2382873"/>
            <a:ext cx="0" cy="2841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233631C-D83D-CB58-9E39-4A441570C0E9}"/>
              </a:ext>
            </a:extLst>
          </p:cNvPr>
          <p:cNvCxnSpPr>
            <a:cxnSpLocks/>
          </p:cNvCxnSpPr>
          <p:nvPr/>
        </p:nvCxnSpPr>
        <p:spPr>
          <a:xfrm>
            <a:off x="11287220" y="2382873"/>
            <a:ext cx="0" cy="1301565"/>
          </a:xfrm>
          <a:prstGeom prst="straightConnector1">
            <a:avLst/>
          </a:prstGeom>
          <a:ln w="38100" cap="rnd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9673D85-5444-486A-F1CE-575F62B0C32F}"/>
              </a:ext>
            </a:extLst>
          </p:cNvPr>
          <p:cNvCxnSpPr>
            <a:cxnSpLocks/>
          </p:cNvCxnSpPr>
          <p:nvPr/>
        </p:nvCxnSpPr>
        <p:spPr>
          <a:xfrm>
            <a:off x="6110424" y="1946454"/>
            <a:ext cx="247227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DB35070-5498-3654-8EAD-3B579619A3A9}"/>
              </a:ext>
            </a:extLst>
          </p:cNvPr>
          <p:cNvCxnSpPr>
            <a:cxnSpLocks/>
          </p:cNvCxnSpPr>
          <p:nvPr/>
        </p:nvCxnSpPr>
        <p:spPr>
          <a:xfrm flipH="1">
            <a:off x="5176996" y="3684438"/>
            <a:ext cx="6110224" cy="0"/>
          </a:xfrm>
          <a:prstGeom prst="straightConnector1">
            <a:avLst/>
          </a:prstGeom>
          <a:ln w="38100" cap="rnd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7A0764C-C76A-171F-57A8-545972194171}"/>
              </a:ext>
            </a:extLst>
          </p:cNvPr>
          <p:cNvCxnSpPr>
            <a:cxnSpLocks/>
          </p:cNvCxnSpPr>
          <p:nvPr/>
        </p:nvCxnSpPr>
        <p:spPr>
          <a:xfrm>
            <a:off x="5176996" y="2382873"/>
            <a:ext cx="0" cy="1808052"/>
          </a:xfrm>
          <a:prstGeom prst="straightConnector1">
            <a:avLst/>
          </a:prstGeom>
          <a:ln w="38100" cap="rnd">
            <a:solidFill>
              <a:schemeClr val="tx1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3FE5BEE-5B14-E9C7-DF58-F8CA03F3E688}"/>
              </a:ext>
            </a:extLst>
          </p:cNvPr>
          <p:cNvSpPr txBox="1"/>
          <p:nvPr/>
        </p:nvSpPr>
        <p:spPr>
          <a:xfrm>
            <a:off x="6212473" y="3699033"/>
            <a:ext cx="4740455" cy="337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AgentExecutorResponse (</a:t>
            </a:r>
            <a:r>
              <a:rPr lang="en-US" sz="16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PlannerOutput</a:t>
            </a: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00F5E1A-14EE-1CBF-ACD7-D4AE80DD4B2A}"/>
              </a:ext>
            </a:extLst>
          </p:cNvPr>
          <p:cNvSpPr txBox="1"/>
          <p:nvPr/>
        </p:nvSpPr>
        <p:spPr>
          <a:xfrm>
            <a:off x="3466045" y="5061616"/>
            <a:ext cx="1626803" cy="3374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ts val="2025"/>
              </a:lnSpc>
              <a:buNone/>
            </a:pP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request_info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19344F4-9F99-AFC3-625E-6925286B030D}"/>
              </a:ext>
            </a:extLst>
          </p:cNvPr>
          <p:cNvSpPr txBox="1"/>
          <p:nvPr/>
        </p:nvSpPr>
        <p:spPr>
          <a:xfrm>
            <a:off x="5470158" y="5035837"/>
            <a:ext cx="1771236" cy="3488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ts val="2025"/>
              </a:lnSpc>
              <a:buNone/>
            </a:pPr>
            <a:r>
              <a:rPr lang="en-US" sz="16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yield_output()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99B46A3-0F37-2C84-0C12-AEA5AC47D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990" y="942111"/>
            <a:ext cx="11729035" cy="6030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50"/>
              <a:t>In this workflow, the coordinator calls </a:t>
            </a:r>
            <a:r>
              <a:rPr lang="en-US" sz="205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request_info </a:t>
            </a:r>
            <a:r>
              <a:rPr lang="en-US" sz="2050">
                <a:cs typeface="Consolas" panose="020B0609020204030204" pitchFamily="49" charset="0"/>
              </a:rPr>
              <a:t>based on agent's structured output</a:t>
            </a:r>
            <a:r>
              <a:rPr lang="en-US" sz="2050"/>
              <a:t>:</a:t>
            </a:r>
            <a:endParaRPr sz="2050"/>
          </a:p>
        </p:txBody>
      </p:sp>
      <p:sp>
        <p:nvSpPr>
          <p:cNvPr id="57" name="Content Placeholder 2">
            <a:extLst>
              <a:ext uri="{FF2B5EF4-FFF2-40B4-BE49-F238E27FC236}">
                <a16:creationId xmlns:a16="http://schemas.microsoft.com/office/drawing/2014/main" id="{784D6FA1-E974-EC4F-1D44-EE912D045CBC}"/>
              </a:ext>
            </a:extLst>
          </p:cNvPr>
          <p:cNvSpPr txBox="1">
            <a:spLocks/>
          </p:cNvSpPr>
          <p:nvPr/>
        </p:nvSpPr>
        <p:spPr>
          <a:xfrm>
            <a:off x="1583832" y="5054861"/>
            <a:ext cx="1556550" cy="419345"/>
          </a:xfrm>
          <a:prstGeom prst="rect">
            <a:avLst/>
          </a:prstGeom>
          <a:solidFill>
            <a:srgbClr val="F8BD65"/>
          </a:solidFill>
        </p:spPr>
        <p:txBody>
          <a:bodyPr vert="horz" lIns="91440" tIns="9144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>
                <a:latin typeface="Segoe Print" panose="02000800000000000000" pitchFamily="2" charset="0"/>
                <a:cs typeface="Consolas" panose="020B0609020204030204" pitchFamily="49" charset="0"/>
              </a:rPr>
              <a:t>🙋🏽‍♂️ Human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B804F2D-08A6-B06A-D25A-912177827D8A}"/>
              </a:ext>
            </a:extLst>
          </p:cNvPr>
          <p:cNvCxnSpPr>
            <a:cxnSpLocks/>
          </p:cNvCxnSpPr>
          <p:nvPr/>
        </p:nvCxnSpPr>
        <p:spPr>
          <a:xfrm flipH="1">
            <a:off x="3159760" y="5244396"/>
            <a:ext cx="28690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991F5EA-C398-1E26-5F95-728CF172D45E}"/>
              </a:ext>
            </a:extLst>
          </p:cNvPr>
          <p:cNvSpPr txBox="1"/>
          <p:nvPr/>
        </p:nvSpPr>
        <p:spPr>
          <a:xfrm>
            <a:off x="8997324" y="2967085"/>
            <a:ext cx="23513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response_format=</a:t>
            </a:r>
          </a:p>
          <a:p>
            <a:pPr algn="ctr"/>
            <a:r>
              <a:rPr lang="en-US" sz="16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PlannerOutput</a:t>
            </a:r>
          </a:p>
        </p:txBody>
      </p:sp>
      <p:sp>
        <p:nvSpPr>
          <p:cNvPr id="20" name="Diamond 19">
            <a:extLst>
              <a:ext uri="{FF2B5EF4-FFF2-40B4-BE49-F238E27FC236}">
                <a16:creationId xmlns:a16="http://schemas.microsoft.com/office/drawing/2014/main" id="{0D7EB7D9-783A-6D70-6BC4-4021B5680381}"/>
              </a:ext>
            </a:extLst>
          </p:cNvPr>
          <p:cNvSpPr/>
          <p:nvPr/>
        </p:nvSpPr>
        <p:spPr>
          <a:xfrm>
            <a:off x="4166076" y="4023285"/>
            <a:ext cx="2021840" cy="335280"/>
          </a:xfrm>
          <a:prstGeom prst="diamond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.status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5E758B7-51D7-CC84-05AA-BF3D065E4F5E}"/>
              </a:ext>
            </a:extLst>
          </p:cNvPr>
          <p:cNvSpPr txBox="1"/>
          <p:nvPr/>
        </p:nvSpPr>
        <p:spPr>
          <a:xfrm>
            <a:off x="3737121" y="4474800"/>
            <a:ext cx="1412756" cy="3374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ts val="2025"/>
              </a:lnSpc>
              <a:buNone/>
            </a:pPr>
            <a:r>
              <a:rPr lang="en-US" sz="1600" b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"need_info"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54C97D-7256-4AF3-8F2D-41C1AFABFAE9}"/>
              </a:ext>
            </a:extLst>
          </p:cNvPr>
          <p:cNvSpPr txBox="1"/>
          <p:nvPr/>
        </p:nvSpPr>
        <p:spPr>
          <a:xfrm>
            <a:off x="5461633" y="4444186"/>
            <a:ext cx="1339120" cy="3374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ts val="2025"/>
              </a:lnSpc>
              <a:buNone/>
            </a:pPr>
            <a:r>
              <a:rPr lang="en-US" sz="1600" b="0">
                <a:solidFill>
                  <a:srgbClr val="C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"complete"</a:t>
            </a:r>
          </a:p>
        </p:txBody>
      </p:sp>
      <p:sp>
        <p:nvSpPr>
          <p:cNvPr id="42" name="Rounded Rectangular Callout 41">
            <a:extLst>
              <a:ext uri="{FF2B5EF4-FFF2-40B4-BE49-F238E27FC236}">
                <a16:creationId xmlns:a16="http://schemas.microsoft.com/office/drawing/2014/main" id="{895622DC-1F8E-333B-9BF7-D86339318D7F}"/>
              </a:ext>
            </a:extLst>
          </p:cNvPr>
          <p:cNvSpPr/>
          <p:nvPr/>
        </p:nvSpPr>
        <p:spPr>
          <a:xfrm>
            <a:off x="5495038" y="5719662"/>
            <a:ext cx="1141630" cy="428387"/>
          </a:xfrm>
          <a:prstGeom prst="wedgeRoundRectCallout">
            <a:avLst>
              <a:gd name="adj1" fmla="val -22005"/>
              <a:gd name="adj2" fmla="val 46429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/>
              <a:t>Output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6C73B5CD-1772-7836-89F6-BAA8D8A721E7}"/>
              </a:ext>
            </a:extLst>
          </p:cNvPr>
          <p:cNvCxnSpPr>
            <a:cxnSpLocks/>
          </p:cNvCxnSpPr>
          <p:nvPr/>
        </p:nvCxnSpPr>
        <p:spPr>
          <a:xfrm>
            <a:off x="5628635" y="5368101"/>
            <a:ext cx="0" cy="361639"/>
          </a:xfrm>
          <a:prstGeom prst="straightConnector1">
            <a:avLst/>
          </a:prstGeom>
          <a:ln w="381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CFADE3C4-4655-767D-2BEF-7BF80C7CE61A}"/>
              </a:ext>
            </a:extLst>
          </p:cNvPr>
          <p:cNvCxnSpPr>
            <a:cxnSpLocks/>
          </p:cNvCxnSpPr>
          <p:nvPr/>
        </p:nvCxnSpPr>
        <p:spPr>
          <a:xfrm flipV="1">
            <a:off x="3008380" y="2396258"/>
            <a:ext cx="0" cy="267874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4272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0F811-F1DF-0563-D5D0-5BA48E36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1AE03-6A32-22FD-BEA8-800525077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990" y="1"/>
            <a:ext cx="10913982" cy="844952"/>
          </a:xfrm>
        </p:spPr>
        <p:txBody>
          <a:bodyPr tIns="182880" bIns="0" anchor="t" anchorCtr="0">
            <a:normAutofit/>
          </a:bodyPr>
          <a:lstStyle/>
          <a:p>
            <a:r>
              <a:rPr lang="en-US"/>
              <a:t>Agent definition with structured outputs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1C03B1-23F0-2714-C5D2-6665F85AB1F6}"/>
              </a:ext>
            </a:extLst>
          </p:cNvPr>
          <p:cNvSpPr txBox="1"/>
          <p:nvPr/>
        </p:nvSpPr>
        <p:spPr>
          <a:xfrm>
            <a:off x="1117104" y="1551732"/>
            <a:ext cx="10857868" cy="37487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PlannerOutput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BaseModel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status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Literal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4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"need_info"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4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"complete"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</a:t>
            </a: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question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endParaRPr lang="en-US" sz="24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itinerary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</a:p>
          <a:p>
            <a:pPr>
              <a:lnSpc>
                <a:spcPct val="90000"/>
              </a:lnSpc>
              <a:buNone/>
            </a:pPr>
            <a:endParaRPr lang="en-US" sz="24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planner_agent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name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4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"TripPlanner"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instructions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4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"You are a helpful trip planner."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chat_client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client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default_options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={</a:t>
            </a:r>
            <a:r>
              <a:rPr lang="en-US" sz="24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"response_format"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PlannerOutput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},</a:t>
            </a: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8910CED-AB56-CF17-AF08-09A3ECCB4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990" y="1047611"/>
            <a:ext cx="11729035" cy="6030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50"/>
              <a:t>The agent must always respond with a </a:t>
            </a:r>
            <a:r>
              <a:rPr lang="en-US" sz="205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  <a:r>
              <a:rPr lang="en-US" sz="2050"/>
              <a:t> and either a </a:t>
            </a:r>
            <a:r>
              <a:rPr lang="en-US" sz="205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question</a:t>
            </a:r>
            <a:r>
              <a:rPr lang="en-US" sz="2050"/>
              <a:t> or </a:t>
            </a:r>
            <a:r>
              <a:rPr lang="en-US" sz="205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itinerary</a:t>
            </a:r>
            <a:r>
              <a:rPr lang="en-US" sz="2050"/>
              <a:t>:</a:t>
            </a:r>
            <a:endParaRPr sz="205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E47CB4-8964-279B-9A31-1D1E25867BBA}"/>
              </a:ext>
            </a:extLst>
          </p:cNvPr>
          <p:cNvSpPr txBox="1"/>
          <p:nvPr/>
        </p:nvSpPr>
        <p:spPr>
          <a:xfrm>
            <a:off x="1138133" y="5425675"/>
            <a:ext cx="569547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workflow_hitl_requests_structured.py</a:t>
            </a:r>
            <a:endParaRPr lang="en-US" sz="2000" err="1"/>
          </a:p>
        </p:txBody>
      </p:sp>
    </p:spTree>
    <p:extLst>
      <p:ext uri="{BB962C8B-B14F-4D97-AF65-F5344CB8AC3E}">
        <p14:creationId xmlns:p14="http://schemas.microsoft.com/office/powerpoint/2010/main" val="3594783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11234-663B-5FD9-5F29-C6794D2F9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CE3C6-20DA-475D-2BB6-87A62C7A0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990" y="1"/>
            <a:ext cx="10913982" cy="844952"/>
          </a:xfrm>
        </p:spPr>
        <p:txBody>
          <a:bodyPr tIns="182880" bIns="0" anchor="t" anchorCtr="0">
            <a:normAutofit/>
          </a:bodyPr>
          <a:lstStyle/>
          <a:p>
            <a:r>
              <a:rPr lang="en-US"/>
              <a:t>Executor code for handling structured response 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B8FBF2-F173-232C-2F49-AC723BDD1C6B}"/>
              </a:ext>
            </a:extLst>
          </p:cNvPr>
          <p:cNvSpPr txBox="1"/>
          <p:nvPr/>
        </p:nvSpPr>
        <p:spPr>
          <a:xfrm>
            <a:off x="1117104" y="1568850"/>
            <a:ext cx="10857868" cy="45658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19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TripCoordinator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Executor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ct val="900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9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@handler</a:t>
            </a:r>
            <a:endParaRPr lang="en-US" sz="19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19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async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on_agent_response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AgentExecutorResponse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WorkflowContext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ct val="90000"/>
              </a:lnSpc>
              <a:buNone/>
            </a:pP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output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PlannerOutput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agent_response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endParaRPr lang="en-US" sz="19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19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if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-US" sz="19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"need_info"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19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await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request_info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900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request_data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UserPrompt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question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 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response_type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19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else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19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yield_output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output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itinerary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endParaRPr lang="en-US" sz="19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19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@response_handler</a:t>
            </a:r>
            <a:endParaRPr lang="en-US" sz="19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19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async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on_human_answer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original_request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UserPrompt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answer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WorkflowContext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AgentExecutorRequest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]):</a:t>
            </a:r>
          </a:p>
          <a:p>
            <a:pPr>
              <a:lnSpc>
                <a:spcPct val="90000"/>
              </a:lnSpc>
              <a:buNone/>
            </a:pP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user_msg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19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ctx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send_message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900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AgentExecutorRequest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sz="19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"user"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answer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)],</a:t>
            </a:r>
          </a:p>
          <a:p>
            <a:pPr>
              <a:lnSpc>
                <a:spcPct val="90000"/>
              </a:lnSpc>
              <a:buNone/>
            </a:pP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should_respond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9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 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target_id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_agent_id</a:t>
            </a:r>
            <a:r>
              <a:rPr lang="en-US" sz="19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46509B0-1CA6-74C6-AC52-18C98D2C8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990" y="1047611"/>
            <a:ext cx="11729035" cy="6030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50"/>
              <a:t>Executor calls </a:t>
            </a:r>
            <a:r>
              <a:rPr lang="en-US" sz="205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request_info </a:t>
            </a:r>
            <a:r>
              <a:rPr lang="en-US" sz="2050"/>
              <a:t>to request HITL based on the agent's structured response: </a:t>
            </a:r>
            <a:endParaRPr sz="20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858DA1-A619-5E8F-B1E9-6647B4126BE5}"/>
              </a:ext>
            </a:extLst>
          </p:cNvPr>
          <p:cNvSpPr txBox="1"/>
          <p:nvPr/>
        </p:nvSpPr>
        <p:spPr>
          <a:xfrm>
            <a:off x="1117104" y="6207995"/>
            <a:ext cx="569547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workflow_hitl_requests_structured.py</a:t>
            </a:r>
            <a:endParaRPr lang="en-US" sz="2000" err="1"/>
          </a:p>
        </p:txBody>
      </p:sp>
    </p:spTree>
    <p:extLst>
      <p:ext uri="{BB962C8B-B14F-4D97-AF65-F5344CB8AC3E}">
        <p14:creationId xmlns:p14="http://schemas.microsoft.com/office/powerpoint/2010/main" val="5858100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A97DA-A67A-F734-B25B-A80286E6B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8323C-71ED-E35B-ED14-803EA8F41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Checkpoints and resuming</a:t>
            </a: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CC34CF-513B-42FF-B185-AF396A4DCA19}"/>
              </a:ext>
            </a:extLst>
          </p:cNvPr>
          <p:cNvSpPr txBox="1"/>
          <p:nvPr/>
        </p:nvSpPr>
        <p:spPr>
          <a:xfrm>
            <a:off x="838199" y="3257433"/>
            <a:ext cx="96244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2"/>
              </a:rPr>
              <a:t>https://learn.microsoft.com/agent-framework/workflows/checkpoints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4003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5E04D-EAF6-0D6F-D48A-1BFDA6558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D9DB4-CBC0-8735-B444-D261285ED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8549" y="1351508"/>
            <a:ext cx="4908622" cy="4154984"/>
          </a:xfrm>
          <a:solidFill>
            <a:srgbClr val="F0D2CC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/>
              <a:t>Without checkpoints:</a:t>
            </a:r>
          </a:p>
          <a:p>
            <a:r>
              <a:rPr lang="en-US" sz="2400"/>
              <a:t>Workflow pauses for human input</a:t>
            </a:r>
          </a:p>
          <a:p>
            <a:r>
              <a:rPr lang="en-US" sz="2400"/>
              <a:t>Human is offline</a:t>
            </a:r>
          </a:p>
          <a:p>
            <a:r>
              <a:rPr lang="en-US" sz="2400"/>
              <a:t>Process crashes or restarts</a:t>
            </a:r>
          </a:p>
          <a:p>
            <a:r>
              <a:rPr lang="en-US" sz="2400"/>
              <a:t>All progress lost!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411BAE-563F-E8A3-060A-B7F8DD586AA1}"/>
              </a:ext>
            </a:extLst>
          </p:cNvPr>
          <p:cNvSpPr txBox="1"/>
          <p:nvPr/>
        </p:nvSpPr>
        <p:spPr>
          <a:xfrm>
            <a:off x="3298728" y="5152549"/>
            <a:ext cx="6920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/>
              <a:t>😬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8E0CBA4-2072-C224-D0F9-51C43CDDFFD6}"/>
              </a:ext>
            </a:extLst>
          </p:cNvPr>
          <p:cNvGrpSpPr/>
          <p:nvPr/>
        </p:nvGrpSpPr>
        <p:grpSpPr>
          <a:xfrm>
            <a:off x="6474592" y="1351509"/>
            <a:ext cx="5488806" cy="4465065"/>
            <a:chOff x="6474592" y="1934677"/>
            <a:chExt cx="5488806" cy="4465065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900DA45-B25D-C623-CB1F-F48A00AE00B9}"/>
                </a:ext>
              </a:extLst>
            </p:cNvPr>
            <p:cNvSpPr txBox="1"/>
            <p:nvPr/>
          </p:nvSpPr>
          <p:spPr>
            <a:xfrm>
              <a:off x="6474592" y="1934677"/>
              <a:ext cx="5488806" cy="4154984"/>
            </a:xfrm>
            <a:prstGeom prst="rect">
              <a:avLst/>
            </a:prstGeom>
            <a:solidFill>
              <a:srgbClr val="C8EEDB"/>
            </a:solidFill>
          </p:spPr>
          <p:txBody>
            <a:bodyPr wrap="square">
              <a:spAutoFit/>
            </a:bodyPr>
            <a:lstStyle/>
            <a:p>
              <a:r>
                <a:rPr lang="en-US" sz="2400"/>
                <a:t>With checkpoints: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/>
                <a:t>Workflow pauses for human input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/>
                <a:t>Human is offline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/>
                <a:t>Checkpoint saved to disk 💾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/>
                <a:t>Process exits</a:t>
              </a:r>
            </a:p>
            <a:p>
              <a:r>
                <a:rPr lang="en-US" sz="2400"/>
                <a:t>...hours later...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/>
                <a:t>New process starts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/>
                <a:t>Loads checkpoint from disk 📂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/>
                <a:t>Human provides input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/>
                <a:t>Workflow resumes where it left off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240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051D493-6382-AD77-12D4-01596DCBB8EA}"/>
                </a:ext>
              </a:extLst>
            </p:cNvPr>
            <p:cNvSpPr txBox="1"/>
            <p:nvPr/>
          </p:nvSpPr>
          <p:spPr>
            <a:xfrm>
              <a:off x="8872953" y="5691856"/>
              <a:ext cx="692084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000"/>
                <a:t>😮‍💨</a:t>
              </a:r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023EEB14-AAE2-54DC-1221-673B167E5A4F}"/>
              </a:ext>
            </a:extLst>
          </p:cNvPr>
          <p:cNvSpPr txBox="1">
            <a:spLocks/>
          </p:cNvSpPr>
          <p:nvPr/>
        </p:nvSpPr>
        <p:spPr>
          <a:xfrm>
            <a:off x="1049416" y="0"/>
            <a:ext cx="10913982" cy="729205"/>
          </a:xfrm>
          <a:prstGeom prst="rect">
            <a:avLst/>
          </a:prstGeom>
        </p:spPr>
        <p:txBody>
          <a:bodyPr vert="horz" lIns="91440" tIns="182880" rIns="9144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The need for checkpoints in HITL workflows</a:t>
            </a:r>
          </a:p>
        </p:txBody>
      </p:sp>
    </p:spTree>
    <p:extLst>
      <p:ext uri="{BB962C8B-B14F-4D97-AF65-F5344CB8AC3E}">
        <p14:creationId xmlns:p14="http://schemas.microsoft.com/office/powerpoint/2010/main" val="1975847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AB7C7-1838-29FD-D66A-4918053E1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FD060E05-EAA5-3272-54EE-B65F0C45A71E}"/>
              </a:ext>
            </a:extLst>
          </p:cNvPr>
          <p:cNvSpPr txBox="1">
            <a:spLocks/>
          </p:cNvSpPr>
          <p:nvPr/>
        </p:nvSpPr>
        <p:spPr>
          <a:xfrm>
            <a:off x="8463456" y="2728681"/>
            <a:ext cx="1990491" cy="4513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Process B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C5A6406-8B2B-3DB5-DF35-46E50F373422}"/>
              </a:ext>
            </a:extLst>
          </p:cNvPr>
          <p:cNvCxnSpPr>
            <a:cxnSpLocks/>
          </p:cNvCxnSpPr>
          <p:nvPr/>
        </p:nvCxnSpPr>
        <p:spPr>
          <a:xfrm>
            <a:off x="7406813" y="3639802"/>
            <a:ext cx="67564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1FA7F8A-EE52-4ED8-1607-7C54A518507E}"/>
              </a:ext>
            </a:extLst>
          </p:cNvPr>
          <p:cNvCxnSpPr>
            <a:cxnSpLocks/>
          </p:cNvCxnSpPr>
          <p:nvPr/>
        </p:nvCxnSpPr>
        <p:spPr>
          <a:xfrm>
            <a:off x="9458702" y="3182698"/>
            <a:ext cx="0" cy="25861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ntent Placeholder 6">
            <a:extLst>
              <a:ext uri="{FF2B5EF4-FFF2-40B4-BE49-F238E27FC236}">
                <a16:creationId xmlns:a16="http://schemas.microsoft.com/office/drawing/2014/main" id="{8218FAF0-F1BD-7694-24D5-F32AD1485766}"/>
              </a:ext>
            </a:extLst>
          </p:cNvPr>
          <p:cNvSpPr txBox="1">
            <a:spLocks/>
          </p:cNvSpPr>
          <p:nvPr/>
        </p:nvSpPr>
        <p:spPr>
          <a:xfrm>
            <a:off x="8082459" y="3439044"/>
            <a:ext cx="3250323" cy="7012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9144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new_workflow.run(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>
                <a:latin typeface="Consolas" panose="020B0609020204030204" pitchFamily="49" charset="0"/>
                <a:cs typeface="Consolas" panose="020B0609020204030204" pitchFamily="49" charset="0"/>
              </a:rPr>
              <a:t>  checkpoint_id="chk1")</a:t>
            </a:r>
          </a:p>
        </p:txBody>
      </p:sp>
      <p:sp>
        <p:nvSpPr>
          <p:cNvPr id="30" name="Content Placeholder 6">
            <a:extLst>
              <a:ext uri="{FF2B5EF4-FFF2-40B4-BE49-F238E27FC236}">
                <a16:creationId xmlns:a16="http://schemas.microsoft.com/office/drawing/2014/main" id="{CF121C6A-23C7-FEB5-2710-F3F76F7E01B9}"/>
              </a:ext>
            </a:extLst>
          </p:cNvPr>
          <p:cNvSpPr txBox="1">
            <a:spLocks/>
          </p:cNvSpPr>
          <p:nvPr/>
        </p:nvSpPr>
        <p:spPr>
          <a:xfrm>
            <a:off x="8082456" y="4444659"/>
            <a:ext cx="3250327" cy="3577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9144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latin typeface="Aptos" panose="020B0004020202020204" pitchFamily="34" charset="0"/>
                <a:cs typeface="Consolas" panose="020B0609020204030204" pitchFamily="49" charset="0"/>
              </a:rPr>
              <a:t>💾 Checkpoint restored</a:t>
            </a:r>
          </a:p>
        </p:txBody>
      </p:sp>
      <p:sp>
        <p:nvSpPr>
          <p:cNvPr id="31" name="Content Placeholder 6">
            <a:extLst>
              <a:ext uri="{FF2B5EF4-FFF2-40B4-BE49-F238E27FC236}">
                <a16:creationId xmlns:a16="http://schemas.microsoft.com/office/drawing/2014/main" id="{DDDFEA55-8286-73F1-15B4-A9711571E559}"/>
              </a:ext>
            </a:extLst>
          </p:cNvPr>
          <p:cNvSpPr txBox="1">
            <a:spLocks/>
          </p:cNvSpPr>
          <p:nvPr/>
        </p:nvSpPr>
        <p:spPr>
          <a:xfrm>
            <a:off x="8063006" y="5768843"/>
            <a:ext cx="3250328" cy="3577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9144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latin typeface="Aptos" panose="020B0004020202020204" pitchFamily="34" charset="0"/>
                <a:cs typeface="Consolas" panose="020B0609020204030204" pitchFamily="49" charset="0"/>
              </a:rPr>
              <a:t>Workflow resumes</a:t>
            </a:r>
          </a:p>
        </p:txBody>
      </p:sp>
      <p:sp>
        <p:nvSpPr>
          <p:cNvPr id="34" name="Content Placeholder 6">
            <a:extLst>
              <a:ext uri="{FF2B5EF4-FFF2-40B4-BE49-F238E27FC236}">
                <a16:creationId xmlns:a16="http://schemas.microsoft.com/office/drawing/2014/main" id="{BC8761FD-C63C-CEBF-2744-D55361B7CBF0}"/>
              </a:ext>
            </a:extLst>
          </p:cNvPr>
          <p:cNvSpPr txBox="1">
            <a:spLocks/>
          </p:cNvSpPr>
          <p:nvPr/>
        </p:nvSpPr>
        <p:spPr>
          <a:xfrm>
            <a:off x="8063006" y="5106751"/>
            <a:ext cx="3250328" cy="3577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9144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/>
              <a:t>🔄 </a:t>
            </a:r>
            <a:r>
              <a:rPr lang="en-US" sz="1700">
                <a:latin typeface="Aptos" panose="020B0004020202020204" pitchFamily="34" charset="0"/>
                <a:cs typeface="Consolas" panose="020B0609020204030204" pitchFamily="49" charset="0"/>
              </a:rPr>
              <a:t>request_info event re-emitted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392D4D8-BFEA-DE41-FE82-94C72026E28A}"/>
              </a:ext>
            </a:extLst>
          </p:cNvPr>
          <p:cNvCxnSpPr>
            <a:cxnSpLocks/>
          </p:cNvCxnSpPr>
          <p:nvPr/>
        </p:nvCxnSpPr>
        <p:spPr>
          <a:xfrm>
            <a:off x="2774285" y="1813772"/>
            <a:ext cx="0" cy="232667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2F96967-1096-2BCE-2AA8-EC15DB2FB2AA}"/>
              </a:ext>
            </a:extLst>
          </p:cNvPr>
          <p:cNvCxnSpPr>
            <a:cxnSpLocks/>
          </p:cNvCxnSpPr>
          <p:nvPr/>
        </p:nvCxnSpPr>
        <p:spPr>
          <a:xfrm>
            <a:off x="3845730" y="3624312"/>
            <a:ext cx="67564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83E77BC-8CD1-95B4-CEFE-ED9C40F8EB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3159" y="1362394"/>
            <a:ext cx="1797452" cy="45137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Process A</a:t>
            </a:r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A1E7E4DA-A43F-5E50-375D-D1A7B5FBAE85}"/>
              </a:ext>
            </a:extLst>
          </p:cNvPr>
          <p:cNvSpPr txBox="1">
            <a:spLocks/>
          </p:cNvSpPr>
          <p:nvPr/>
        </p:nvSpPr>
        <p:spPr>
          <a:xfrm>
            <a:off x="1398043" y="2167167"/>
            <a:ext cx="2447692" cy="3577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9144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workflow.run(input)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5186A0F9-9D8C-B015-FA5C-791EC77A3C86}"/>
              </a:ext>
            </a:extLst>
          </p:cNvPr>
          <p:cNvSpPr txBox="1">
            <a:spLocks/>
          </p:cNvSpPr>
          <p:nvPr/>
        </p:nvSpPr>
        <p:spPr>
          <a:xfrm>
            <a:off x="1398043" y="2824928"/>
            <a:ext cx="2447692" cy="3577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9144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latin typeface="Consolas" panose="020B0609020204030204" pitchFamily="49" charset="0"/>
                <a:cs typeface="Consolas" panose="020B0609020204030204" pitchFamily="49" charset="0"/>
              </a:rPr>
              <a:t>ctx.request_info()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1AB61791-98D2-5266-B35A-3F584CEF131E}"/>
              </a:ext>
            </a:extLst>
          </p:cNvPr>
          <p:cNvSpPr txBox="1">
            <a:spLocks/>
          </p:cNvSpPr>
          <p:nvPr/>
        </p:nvSpPr>
        <p:spPr>
          <a:xfrm>
            <a:off x="1398043" y="3482689"/>
            <a:ext cx="2447691" cy="3577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9144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latin typeface="Aptos" panose="020B0004020202020204" pitchFamily="34" charset="0"/>
                <a:cs typeface="Consolas" panose="020B0609020204030204" pitchFamily="49" charset="0"/>
              </a:rPr>
              <a:t>💾 Checkpoint saved</a:t>
            </a:r>
          </a:p>
        </p:txBody>
      </p:sp>
      <p:sp>
        <p:nvSpPr>
          <p:cNvPr id="16" name="Content Placeholder 6">
            <a:extLst>
              <a:ext uri="{FF2B5EF4-FFF2-40B4-BE49-F238E27FC236}">
                <a16:creationId xmlns:a16="http://schemas.microsoft.com/office/drawing/2014/main" id="{02926E9D-9850-EEE6-586D-C7F9C5AD2E80}"/>
              </a:ext>
            </a:extLst>
          </p:cNvPr>
          <p:cNvSpPr txBox="1">
            <a:spLocks/>
          </p:cNvSpPr>
          <p:nvPr/>
        </p:nvSpPr>
        <p:spPr>
          <a:xfrm>
            <a:off x="1398041" y="4140451"/>
            <a:ext cx="2447689" cy="3577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9144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800">
                <a:latin typeface="Aptos" panose="020B0004020202020204" pitchFamily="34" charset="0"/>
                <a:cs typeface="Consolas" panose="020B0609020204030204" pitchFamily="49" charset="0"/>
              </a:rPr>
              <a:t>Process exits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6306E28-9B37-77AB-C8C4-C4CA9B517456}"/>
              </a:ext>
            </a:extLst>
          </p:cNvPr>
          <p:cNvSpPr/>
          <p:nvPr/>
        </p:nvSpPr>
        <p:spPr>
          <a:xfrm>
            <a:off x="4521371" y="3390414"/>
            <a:ext cx="2885442" cy="2215614"/>
          </a:xfrm>
          <a:prstGeom prst="roundRect">
            <a:avLst>
              <a:gd name="adj" fmla="val 4677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A72E0DA1-B639-7656-8747-5262DCB8AC08}"/>
              </a:ext>
            </a:extLst>
          </p:cNvPr>
          <p:cNvSpPr txBox="1">
            <a:spLocks/>
          </p:cNvSpPr>
          <p:nvPr/>
        </p:nvSpPr>
        <p:spPr>
          <a:xfrm>
            <a:off x="4598006" y="3460917"/>
            <a:ext cx="2808807" cy="357770"/>
          </a:xfrm>
          <a:prstGeom prst="rect">
            <a:avLst/>
          </a:prstGeom>
          <a:noFill/>
        </p:spPr>
        <p:txBody>
          <a:bodyPr vert="horz" lIns="91440" tIns="9144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latin typeface="Aptos" panose="020B0004020202020204" pitchFamily="34" charset="0"/>
                <a:cs typeface="Consolas" panose="020B0609020204030204" pitchFamily="49" charset="0"/>
              </a:rPr>
              <a:t>💾  </a:t>
            </a:r>
            <a:r>
              <a:rPr lang="en-US" sz="2000" b="1">
                <a:solidFill>
                  <a:schemeClr val="bg1"/>
                </a:solidFill>
                <a:latin typeface="Aptos" panose="020B0004020202020204" pitchFamily="34" charset="0"/>
                <a:cs typeface="Consolas" panose="020B0609020204030204" pitchFamily="49" charset="0"/>
              </a:rPr>
              <a:t>checkpoints/</a:t>
            </a: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181EFD93-A6AA-D2DB-E4A2-0D19C1E93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051240"/>
              </p:ext>
            </p:extLst>
          </p:nvPr>
        </p:nvGraphicFramePr>
        <p:xfrm>
          <a:off x="4649750" y="3894073"/>
          <a:ext cx="2628683" cy="155956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673428">
                  <a:extLst>
                    <a:ext uri="{9D8B030D-6E8A-4147-A177-3AD203B41FA5}">
                      <a16:colId xmlns:a16="http://schemas.microsoft.com/office/drawing/2014/main" val="4118836833"/>
                    </a:ext>
                  </a:extLst>
                </a:gridCol>
                <a:gridCol w="1955255">
                  <a:extLst>
                    <a:ext uri="{9D8B030D-6E8A-4147-A177-3AD203B41FA5}">
                      <a16:colId xmlns:a16="http://schemas.microsoft.com/office/drawing/2014/main" val="28887372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559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chk1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executor states</a:t>
                      </a:r>
                    </a:p>
                    <a:p>
                      <a:r>
                        <a:rPr lang="en-US"/>
                        <a:t>pending requests</a:t>
                      </a:r>
                    </a:p>
                    <a:p>
                      <a:r>
                        <a:rPr lang="en-US"/>
                        <a:t>messages</a:t>
                      </a:r>
                    </a:p>
                    <a:p>
                      <a:r>
                        <a:rPr lang="en-US"/>
                        <a:t>shared state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7186249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2D0FD8E-941D-12AC-E0A6-AA03B53AED56}"/>
              </a:ext>
            </a:extLst>
          </p:cNvPr>
          <p:cNvSpPr txBox="1">
            <a:spLocks/>
          </p:cNvSpPr>
          <p:nvPr/>
        </p:nvSpPr>
        <p:spPr>
          <a:xfrm>
            <a:off x="1049416" y="0"/>
            <a:ext cx="10913982" cy="729205"/>
          </a:xfrm>
          <a:prstGeom prst="rect">
            <a:avLst/>
          </a:prstGeom>
        </p:spPr>
        <p:txBody>
          <a:bodyPr vert="horz" lIns="91440" tIns="182880" rIns="9144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500"/>
              <a:t>Workflow lifecycle with checkpoints</a:t>
            </a:r>
          </a:p>
        </p:txBody>
      </p:sp>
    </p:spTree>
    <p:extLst>
      <p:ext uri="{BB962C8B-B14F-4D97-AF65-F5344CB8AC3E}">
        <p14:creationId xmlns:p14="http://schemas.microsoft.com/office/powerpoint/2010/main" val="2531738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7701E-827D-E95D-E738-0A5810FB2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FDE79-D4EE-20C1-3B0D-92AB908A1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990" y="1"/>
            <a:ext cx="10913982" cy="844952"/>
          </a:xfrm>
        </p:spPr>
        <p:txBody>
          <a:bodyPr tIns="182880" bIns="0" anchor="t" anchorCtr="0">
            <a:normAutofit/>
          </a:bodyPr>
          <a:lstStyle/>
          <a:p>
            <a:r>
              <a:rPr lang="en-US"/>
              <a:t>Configuring checkpoint storage for workflows</a:t>
            </a: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378E53-AB7C-7B15-0534-8A948E95F3AB}"/>
              </a:ext>
            </a:extLst>
          </p:cNvPr>
          <p:cNvSpPr txBox="1"/>
          <p:nvPr/>
        </p:nvSpPr>
        <p:spPr>
          <a:xfrm>
            <a:off x="1117104" y="5957755"/>
            <a:ext cx="469359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workflow_hitl_checkpoint.py</a:t>
            </a:r>
            <a:endParaRPr lang="en-US" sz="200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074EF7-6BA9-7767-699D-B2F8A3F65564}"/>
              </a:ext>
            </a:extLst>
          </p:cNvPr>
          <p:cNvSpPr txBox="1"/>
          <p:nvPr/>
        </p:nvSpPr>
        <p:spPr>
          <a:xfrm>
            <a:off x="1089047" y="2132546"/>
            <a:ext cx="10857868" cy="37487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agent_framework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FileCheckpointStorage</a:t>
            </a:r>
          </a:p>
          <a:p>
            <a:pPr>
              <a:lnSpc>
                <a:spcPct val="90000"/>
              </a:lnSpc>
              <a:buNone/>
            </a:pPr>
            <a:endParaRPr lang="en-US" sz="24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storage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FileCheckpointStorage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storage_path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400">
                <a:solidFill>
                  <a:srgbClr val="0070C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CHECKPOINT_DIR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endParaRPr lang="en-US" sz="2400">
              <a:solidFill>
                <a:srgbClr val="001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WorkflowBuilder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start_executor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prepare_brief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checkpoint_storage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storage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.</a:t>
            </a:r>
            <a:r>
              <a:rPr lang="en-US" sz="24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prepare_brief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writer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.</a:t>
            </a:r>
            <a:r>
              <a:rPr lang="en-US" sz="24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writer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review_gateway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.</a:t>
            </a:r>
            <a:r>
              <a:rPr lang="en-US" sz="24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add_edge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review_gateway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writer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.</a:t>
            </a:r>
            <a:r>
              <a:rPr lang="en-US" sz="24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</a:t>
            </a: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5036B6-0903-2164-EE14-F3E56573F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990" y="1287594"/>
            <a:ext cx="11729035" cy="8449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200"/>
              <a:t>Agent framework provides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InMemoryCheckpointStorage</a:t>
            </a:r>
            <a:r>
              <a:rPr lang="en-US" sz="2200"/>
              <a:t> or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FileCheckpointStorage</a:t>
            </a:r>
          </a:p>
          <a:p>
            <a:pPr marL="0" indent="0">
              <a:buNone/>
            </a:pPr>
            <a:r>
              <a:rPr lang="en-US" sz="2200"/>
              <a:t>Set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checkpoint_storage </a:t>
            </a:r>
            <a:r>
              <a:rPr lang="en-US" sz="2200"/>
              <a:t>to a built-in storage or a custom storage class:</a:t>
            </a:r>
            <a:endParaRPr sz="2200"/>
          </a:p>
        </p:txBody>
      </p:sp>
    </p:spTree>
    <p:extLst>
      <p:ext uri="{BB962C8B-B14F-4D97-AF65-F5344CB8AC3E}">
        <p14:creationId xmlns:p14="http://schemas.microsoft.com/office/powerpoint/2010/main" val="3658530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5069F-1158-8629-F2F6-63FB9EFBF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77E94-F219-40A7-2565-7895F3FC9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990" y="1"/>
            <a:ext cx="10913982" cy="844952"/>
          </a:xfrm>
        </p:spPr>
        <p:txBody>
          <a:bodyPr tIns="182880" bIns="0" anchor="t" anchorCtr="0">
            <a:normAutofit/>
          </a:bodyPr>
          <a:lstStyle/>
          <a:p>
            <a:r>
              <a:rPr lang="en-US"/>
              <a:t>Resuming a workflow from checkpoint</a:t>
            </a: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A63F43-A4D6-AC14-30A8-CBE3684D8D2D}"/>
              </a:ext>
            </a:extLst>
          </p:cNvPr>
          <p:cNvSpPr txBox="1"/>
          <p:nvPr/>
        </p:nvSpPr>
        <p:spPr>
          <a:xfrm>
            <a:off x="1117104" y="5423026"/>
            <a:ext cx="469359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workflow_hitl_checkpoint.py</a:t>
            </a:r>
            <a:endParaRPr lang="en-US" sz="200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4E2C66-B0BA-9A62-6903-C7E2C14F7A03}"/>
              </a:ext>
            </a:extLst>
          </p:cNvPr>
          <p:cNvSpPr txBox="1"/>
          <p:nvPr/>
        </p:nvSpPr>
        <p:spPr>
          <a:xfrm>
            <a:off x="1117104" y="2062472"/>
            <a:ext cx="10970873" cy="32805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3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checkpoint_id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stream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3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checkpoint_id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checkpoint_id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stream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3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3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stream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3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brief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stream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3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endParaRPr lang="en-US" sz="23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3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async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3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3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stream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23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if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-US" sz="23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"request_info"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pending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request_id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endParaRPr lang="en-US" sz="23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3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elif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 </a:t>
            </a:r>
            <a:r>
              <a:rPr lang="en-US" sz="23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"output"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23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print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3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sz="23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300">
                <a:solidFill>
                  <a:srgbClr val="EE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\n</a:t>
            </a:r>
            <a:r>
              <a:rPr lang="en-US" sz="23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✅ Workflow completed:</a:t>
            </a:r>
            <a:r>
              <a:rPr lang="en-US" sz="2300">
                <a:solidFill>
                  <a:srgbClr val="EE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\n</a:t>
            </a:r>
            <a:r>
              <a:rPr lang="en-US" sz="23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3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</a:t>
            </a:r>
            <a:r>
              <a:rPr lang="en-US" sz="23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3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3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33A3C33-1158-882C-F0F2-682A1AB3B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989" y="1127197"/>
            <a:ext cx="11729035" cy="8449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/>
              <a:t>When starting the process, check if there is a saved checkpoint for the workflow.</a:t>
            </a:r>
            <a:br>
              <a:rPr lang="en-US" sz="2400"/>
            </a:br>
            <a:r>
              <a:rPr lang="en-US" sz="2400"/>
              <a:t>If so, pass the </a:t>
            </a:r>
            <a:r>
              <a:rPr lang="en-US" sz="24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checkpoint_id </a:t>
            </a:r>
            <a:r>
              <a:rPr lang="en-US" sz="2400"/>
              <a:t>in when running the workflow:</a:t>
            </a:r>
            <a:endParaRPr sz="24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74B4353-9246-E657-E514-41729A0AE101}"/>
              </a:ext>
            </a:extLst>
          </p:cNvPr>
          <p:cNvSpPr txBox="1">
            <a:spLocks/>
          </p:cNvSpPr>
          <p:nvPr/>
        </p:nvSpPr>
        <p:spPr>
          <a:xfrm>
            <a:off x="1060988" y="5883203"/>
            <a:ext cx="11729035" cy="84495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Your event processing loop does </a:t>
            </a:r>
            <a:r>
              <a:rPr lang="en-US" sz="2400" i="1"/>
              <a:t>not</a:t>
            </a:r>
            <a:r>
              <a:rPr lang="en-US" sz="2400"/>
              <a:t> change.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/>
              <a:t>Any </a:t>
            </a:r>
            <a:r>
              <a:rPr lang="en-US" sz="24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"request_info" </a:t>
            </a:r>
            <a:r>
              <a:rPr lang="en-US" sz="2400"/>
              <a:t>events are re-emitted upon workflow restoration.</a:t>
            </a:r>
          </a:p>
        </p:txBody>
      </p:sp>
    </p:spTree>
    <p:extLst>
      <p:ext uri="{BB962C8B-B14F-4D97-AF65-F5344CB8AC3E}">
        <p14:creationId xmlns:p14="http://schemas.microsoft.com/office/powerpoint/2010/main" val="5752953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D11D5-5B8C-7FA1-DA87-7C3094785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3AD0F-4E4B-6915-55E3-B0E329913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990" y="1"/>
            <a:ext cx="10913982" cy="844952"/>
          </a:xfrm>
        </p:spPr>
        <p:txBody>
          <a:bodyPr tIns="182880" bIns="0" anchor="t" anchorCtr="0">
            <a:normAutofit/>
          </a:bodyPr>
          <a:lstStyle/>
          <a:p>
            <a:r>
              <a:rPr lang="en-US"/>
              <a:t>Resuming a workflow from checkpoint</a:t>
            </a: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B6C40F-8CF7-E4B8-83C4-E3A412911FC5}"/>
              </a:ext>
            </a:extLst>
          </p:cNvPr>
          <p:cNvSpPr txBox="1"/>
          <p:nvPr/>
        </p:nvSpPr>
        <p:spPr>
          <a:xfrm>
            <a:off x="1117105" y="5815135"/>
            <a:ext cx="469359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workflow_hitl_checkpoint.py</a:t>
            </a:r>
            <a:endParaRPr lang="en-US" sz="200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97FFAD-B4F6-4D9D-EEB3-427C72E78CD5}"/>
              </a:ext>
            </a:extLst>
          </p:cNvPr>
          <p:cNvSpPr txBox="1"/>
          <p:nvPr/>
        </p:nvSpPr>
        <p:spPr>
          <a:xfrm>
            <a:off x="1117105" y="2143760"/>
            <a:ext cx="10678656" cy="34440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ReviewGateway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Executor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def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__init__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writer_id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 sz="22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None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super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__init__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self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_writer_id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writer_id</a:t>
            </a:r>
            <a:endParaRPr lang="en-US" sz="22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self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_iteration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b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sz="22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async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on_checkpoint_save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dict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Any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]: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r>
              <a:rPr lang="en-US" sz="22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"iteration"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_iteration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90000"/>
              </a:lnSpc>
              <a:buNone/>
            </a:pPr>
            <a:endParaRPr lang="en-US" sz="22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async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on_checkpoint_restore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state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dict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Any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]):</a:t>
            </a:r>
          </a:p>
          <a:p>
            <a:pPr>
              <a:lnSpc>
                <a:spcPct val="90000"/>
              </a:lnSpc>
              <a:buNone/>
            </a:pP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self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_iteration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2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state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2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2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"iteration"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20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2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728B27F-057C-726B-3C6D-01475894F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989" y="1127197"/>
            <a:ext cx="11729035" cy="1016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/>
              <a:t>Implement </a:t>
            </a:r>
            <a:r>
              <a:rPr lang="en-US" sz="24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on_checkpoint_save </a:t>
            </a:r>
            <a:r>
              <a:rPr lang="en-US" sz="2400"/>
              <a:t>and </a:t>
            </a:r>
            <a:r>
              <a:rPr lang="en-US" sz="24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on_checkpoint_restore </a:t>
            </a:r>
            <a:r>
              <a:rPr lang="en-US" sz="2400"/>
              <a:t>on Executors,</a:t>
            </a:r>
          </a:p>
          <a:p>
            <a:pPr marL="0" indent="0">
              <a:buNone/>
            </a:pPr>
            <a:r>
              <a:rPr lang="en-US" sz="2400"/>
              <a:t>to serialize any state specific to each instance.</a:t>
            </a:r>
          </a:p>
          <a:p>
            <a:pPr marL="0" indent="0"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576055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D4A8D-FB90-806D-A9FE-532DB06DCB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E619601-B074-9634-98F5-3638F4146D1B}"/>
              </a:ext>
            </a:extLst>
          </p:cNvPr>
          <p:cNvGraphicFramePr>
            <a:graphicFrameLocks noGrp="1"/>
          </p:cNvGraphicFramePr>
          <p:nvPr/>
        </p:nvGraphicFramePr>
        <p:xfrm>
          <a:off x="1185716" y="1478323"/>
          <a:ext cx="10664529" cy="378996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4402284">
                  <a:extLst>
                    <a:ext uri="{9D8B030D-6E8A-4147-A177-3AD203B41FA5}">
                      <a16:colId xmlns:a16="http://schemas.microsoft.com/office/drawing/2014/main" val="1974847046"/>
                    </a:ext>
                  </a:extLst>
                </a:gridCol>
                <a:gridCol w="6262245">
                  <a:extLst>
                    <a:ext uri="{9D8B030D-6E8A-4147-A177-3AD203B41FA5}">
                      <a16:colId xmlns:a16="http://schemas.microsoft.com/office/drawing/2014/main" val="3523757817"/>
                    </a:ext>
                  </a:extLst>
                </a:gridCol>
              </a:tblGrid>
              <a:tr h="541423">
                <a:tc>
                  <a:txBody>
                    <a:bodyPr/>
                    <a:lstStyle/>
                    <a:p>
                      <a:r>
                        <a:rPr lang="en-US" sz="2400" b="1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931865"/>
                  </a:ext>
                </a:extLst>
              </a:tr>
              <a:tr h="541423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save(checkpoint)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Persist a snapshot, return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112649"/>
                  </a:ext>
                </a:extLst>
              </a:tr>
              <a:tr h="541423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load(checkpoint_id)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Restore a snapshot by 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970186"/>
                  </a:ext>
                </a:extLst>
              </a:tr>
              <a:tr h="541423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delete(checkpoint_id)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Remove a snapshot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1877"/>
                  </a:ext>
                </a:extLst>
              </a:tr>
              <a:tr h="541423"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list_checkpoints(name)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Retrieve all snapshots for a workflow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5770727"/>
                  </a:ext>
                </a:extLst>
              </a:tr>
              <a:tr h="5414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list_checkpoint_ids(name)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Retrieve only snapshot IDs for a workflow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042416"/>
                  </a:ext>
                </a:extLst>
              </a:tr>
              <a:tr h="54142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get_latest(name)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Retrieve most recent snapshot for a workflow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190379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CA78A7B4-82E1-812C-ABCC-9F8A610B8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990" y="1"/>
            <a:ext cx="10913982" cy="844952"/>
          </a:xfrm>
        </p:spPr>
        <p:txBody>
          <a:bodyPr tIns="182880" bIns="0" anchor="t" anchorCtr="0">
            <a:normAutofit/>
          </a:bodyPr>
          <a:lstStyle/>
          <a:p>
            <a:r>
              <a:rPr lang="en-US"/>
              <a:t>Designing your custom checkpoint storage</a:t>
            </a:r>
            <a:endParaRPr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F8B1638-0870-49C3-97CD-57A09EA79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989" y="970042"/>
            <a:ext cx="11729035" cy="1016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300"/>
              <a:t>To store the checkpoints in any backend, implement </a:t>
            </a:r>
            <a:r>
              <a:rPr lang="en-US" sz="23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CheckpointStorage</a:t>
            </a:r>
            <a:r>
              <a:rPr lang="en-US" sz="2300"/>
              <a:t> protocol:</a:t>
            </a:r>
            <a:endParaRPr sz="23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402F71-3819-F45E-C8B8-84D63DD1C766}"/>
              </a:ext>
            </a:extLst>
          </p:cNvPr>
          <p:cNvSpPr txBox="1"/>
          <p:nvPr/>
        </p:nvSpPr>
        <p:spPr>
          <a:xfrm>
            <a:off x="1185716" y="5438684"/>
            <a:ext cx="6820364" cy="951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200" b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Built-in backends:</a:t>
            </a:r>
          </a:p>
          <a:p>
            <a:pPr>
              <a:lnSpc>
                <a:spcPct val="90000"/>
              </a:lnSpc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• 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FileCheckpointStorage</a:t>
            </a:r>
            <a:r>
              <a:rPr lang="en-US" sz="2000" b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JSON files on disk</a:t>
            </a:r>
          </a:p>
          <a:p>
            <a:pPr>
              <a:lnSpc>
                <a:spcPct val="90000"/>
              </a:lnSpc>
              <a:buNone/>
            </a:pPr>
            <a:r>
              <a:rPr lang="en-US" sz="2000" b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• </a:t>
            </a:r>
            <a:r>
              <a:rPr lang="en-US" sz="20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InMemoryCheckpointStorage</a:t>
            </a:r>
            <a:r>
              <a:rPr lang="en-US" sz="2000" b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: In-process dict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5DE4F0-9596-CF0A-D7C9-0F097749809F}"/>
              </a:ext>
            </a:extLst>
          </p:cNvPr>
          <p:cNvSpPr txBox="1"/>
          <p:nvPr/>
        </p:nvSpPr>
        <p:spPr>
          <a:xfrm>
            <a:off x="7280785" y="5438684"/>
            <a:ext cx="4569460" cy="952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200" b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Custom backends: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Aptos" panose="020B0004020202020204" pitchFamily="34" charset="0"/>
              </a:rPr>
              <a:t>Redis, PostgreSQL, Cosmos DB, ...anything!</a:t>
            </a:r>
            <a:endParaRPr lang="en-US" sz="2000" b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9246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7641C-914C-B761-8B12-C2E4847AA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2573B5D-C812-BD64-A4FF-EEE4398B68BA}"/>
              </a:ext>
            </a:extLst>
          </p:cNvPr>
          <p:cNvSpPr/>
          <p:nvPr/>
        </p:nvSpPr>
        <p:spPr>
          <a:xfrm>
            <a:off x="1185715" y="1439226"/>
            <a:ext cx="10664529" cy="2248854"/>
          </a:xfrm>
          <a:prstGeom prst="roundRect">
            <a:avLst>
              <a:gd name="adj" fmla="val 4677"/>
            </a:avLst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13F293-9B35-FCBD-F8A3-CA1CBD1F6F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7497216"/>
              </p:ext>
            </p:extLst>
          </p:nvPr>
        </p:nvGraphicFramePr>
        <p:xfrm>
          <a:off x="1290320" y="1617657"/>
          <a:ext cx="10403839" cy="1854162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178560">
                  <a:extLst>
                    <a:ext uri="{9D8B030D-6E8A-4147-A177-3AD203B41FA5}">
                      <a16:colId xmlns:a16="http://schemas.microsoft.com/office/drawing/2014/main" val="1974847046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3523757817"/>
                    </a:ext>
                  </a:extLst>
                </a:gridCol>
                <a:gridCol w="3281680">
                  <a:extLst>
                    <a:ext uri="{9D8B030D-6E8A-4147-A177-3AD203B41FA5}">
                      <a16:colId xmlns:a16="http://schemas.microsoft.com/office/drawing/2014/main" val="1046442490"/>
                    </a:ext>
                  </a:extLst>
                </a:gridCol>
                <a:gridCol w="3992879">
                  <a:extLst>
                    <a:ext uri="{9D8B030D-6E8A-4147-A177-3AD203B41FA5}">
                      <a16:colId xmlns:a16="http://schemas.microsoft.com/office/drawing/2014/main" val="3236333897"/>
                    </a:ext>
                  </a:extLst>
                </a:gridCol>
              </a:tblGrid>
              <a:tr h="404694">
                <a:tc>
                  <a:txBody>
                    <a:bodyPr/>
                    <a:lstStyle/>
                    <a:p>
                      <a:r>
                        <a:rPr lang="en-US" sz="1800" b="1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workflow_name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timestamp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5931865"/>
                  </a:ext>
                </a:extLst>
              </a:tr>
              <a:tr h="404694">
                <a:tc>
                  <a:txBody>
                    <a:bodyPr/>
                    <a:lstStyle/>
                    <a:p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abc123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content_review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2026-03-03T00:38:15.893871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{"state": {"brief": "Introduce our new..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112649"/>
                  </a:ext>
                </a:extLst>
              </a:tr>
              <a:tr h="404694">
                <a:tc>
                  <a:txBody>
                    <a:bodyPr/>
                    <a:lstStyle/>
                    <a:p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def456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content_review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2026-03-03T00:38:28.940753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{"state": {"brief": "Introduce our new..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970186"/>
                  </a:ext>
                </a:extLst>
              </a:tr>
              <a:tr h="404694">
                <a:tc>
                  <a:txBody>
                    <a:bodyPr/>
                    <a:lstStyle/>
                    <a:p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Consolas" panose="020B0609020204030204" pitchFamily="49" charset="0"/>
                        </a:rPr>
                        <a:t>ghi789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content_review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2026-03-03T00:38:29.207847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{"pending_request_info_events": ...</a:t>
                      </a:r>
                    </a:p>
                    <a:p>
                      <a:endParaRPr lang="en-US" sz="1800" b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1877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68B13D2D-72D0-3583-BE66-6E530C999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990" y="1"/>
            <a:ext cx="10913982" cy="844952"/>
          </a:xfrm>
        </p:spPr>
        <p:txBody>
          <a:bodyPr tIns="182880" bIns="0" anchor="t" anchorCtr="0">
            <a:normAutofit/>
          </a:bodyPr>
          <a:lstStyle/>
          <a:p>
            <a:r>
              <a:rPr lang="en-US"/>
              <a:t>Custom checkpoint storage for workflows</a:t>
            </a:r>
            <a:endParaRPr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D59DE90-9EE5-0698-ED3D-8B3343AB5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989" y="970042"/>
            <a:ext cx="11729035" cy="10165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300"/>
              <a:t>To store the checkpoints in any backend, implement </a:t>
            </a:r>
            <a:r>
              <a:rPr lang="en-US" sz="23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CheckpointStorage</a:t>
            </a:r>
            <a:r>
              <a:rPr lang="en-US" sz="2300"/>
              <a:t> protocol:</a:t>
            </a:r>
            <a:endParaRPr sz="23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D507D2-1EA3-B086-946A-99F1D6BE9C88}"/>
              </a:ext>
            </a:extLst>
          </p:cNvPr>
          <p:cNvSpPr txBox="1"/>
          <p:nvPr/>
        </p:nvSpPr>
        <p:spPr>
          <a:xfrm>
            <a:off x="1185715" y="3943840"/>
            <a:ext cx="8385005" cy="426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Design decisions to consider: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9103178-734F-B413-E8E1-4501E12057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2773438"/>
              </p:ext>
            </p:extLst>
          </p:nvPr>
        </p:nvGraphicFramePr>
        <p:xfrm>
          <a:off x="1238016" y="4380350"/>
          <a:ext cx="10508445" cy="2198916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960801">
                  <a:extLst>
                    <a:ext uri="{9D8B030D-6E8A-4147-A177-3AD203B41FA5}">
                      <a16:colId xmlns:a16="http://schemas.microsoft.com/office/drawing/2014/main" val="101761765"/>
                    </a:ext>
                  </a:extLst>
                </a:gridCol>
                <a:gridCol w="6547644">
                  <a:extLst>
                    <a:ext uri="{9D8B030D-6E8A-4147-A177-3AD203B41FA5}">
                      <a16:colId xmlns:a16="http://schemas.microsoft.com/office/drawing/2014/main" val="35892945"/>
                    </a:ext>
                  </a:extLst>
                </a:gridCol>
              </a:tblGrid>
              <a:tr h="6793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</a:rPr>
                        <a:t>How to scope checkpoints? 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</a:rPr>
                        <a:t>Per workflow name? Per user/session?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</a:rPr>
                        <a:t>e.g. workflow_name = "review:{user_id}"</a:t>
                      </a:r>
                      <a:endParaRPr lang="en-US" sz="1800" b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40556445"/>
                  </a:ext>
                </a:extLst>
              </a:tr>
              <a:tr h="41196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</a:rPr>
                        <a:t>How long to keep checkpoints? 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</a:rPr>
                        <a:t>Prune after completion? TTL? Keep N latest?</a:t>
                      </a:r>
                      <a:endParaRPr lang="en-US" sz="1800" b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72683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</a:rPr>
                        <a:t>How large are checkpoints? 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</a:rPr>
                        <a:t>Checkpoints include full message history.</a:t>
                      </a:r>
                    </a:p>
                    <a:p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</a:rPr>
                        <a:t>Long conversations = large JSONB blobs.</a:t>
                      </a:r>
                      <a:endParaRPr lang="en-US" sz="1800" b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6308149"/>
                  </a:ext>
                </a:extLst>
              </a:tr>
              <a:tr h="4675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>
                          <a:solidFill>
                            <a:srgbClr val="000000"/>
                          </a:solidFill>
                          <a:effectLst/>
                        </a:rPr>
                        <a:t>Who can access checkpoints?</a:t>
                      </a:r>
                      <a:endParaRPr lang="en-US" b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</a:rPr>
                        <a:t>Row-level security? Separate tables per tenant?</a:t>
                      </a:r>
                      <a:endParaRPr lang="en-US" sz="1800" b="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607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19930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1E041-FBF5-C603-212F-E5193440F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74840-EEA0-8311-6229-32F9C9303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990" y="1"/>
            <a:ext cx="10913982" cy="844952"/>
          </a:xfrm>
        </p:spPr>
        <p:txBody>
          <a:bodyPr tIns="182880" bIns="0" anchor="t" anchorCtr="0">
            <a:normAutofit/>
          </a:bodyPr>
          <a:lstStyle/>
          <a:p>
            <a:r>
              <a:rPr lang="en-US"/>
              <a:t>Custom checkpoint storage with PostgreSQL</a:t>
            </a: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80DE18-559B-EF2B-FE50-11339CA920F3}"/>
              </a:ext>
            </a:extLst>
          </p:cNvPr>
          <p:cNvSpPr txBox="1"/>
          <p:nvPr/>
        </p:nvSpPr>
        <p:spPr>
          <a:xfrm>
            <a:off x="1117105" y="6282495"/>
            <a:ext cx="508312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workflow_hitl_checkpoint_pg.py</a:t>
            </a:r>
            <a:endParaRPr lang="en-US" sz="200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50FA6A-2D6F-3340-6CE9-055A6FBA4CB9}"/>
              </a:ext>
            </a:extLst>
          </p:cNvPr>
          <p:cNvSpPr txBox="1"/>
          <p:nvPr/>
        </p:nvSpPr>
        <p:spPr>
          <a:xfrm>
            <a:off x="1117105" y="1516522"/>
            <a:ext cx="10678656" cy="47089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PostgresCheckpointStorage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endParaRPr lang="en-US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async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save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checkpoint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WorkflowCheckpoint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encoded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encode_checkpoint_value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checkpoint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to_dict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async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AsyncConnection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connect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._conninfo) 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await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execute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"""INSERT INTO workflow_checkpoints (id, workflow_name, timestamp, data)</a:t>
            </a:r>
            <a:endParaRPr lang="en-US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VALUES (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%s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%s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%s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%s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)"""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checkpoint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checkpoint_id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checkpoint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workflow_name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checkpoint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timestamp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dumps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encoded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)))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checkpoint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checkpoint_id</a:t>
            </a:r>
            <a:b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async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load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checkpoint_id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-&gt;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WorkflowCheckpoint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async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AsyncConnection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connect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._conninfo) 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as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row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execute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"SELECT data FROM workflow_checkpoints WHERE id = </a:t>
            </a:r>
            <a:r>
              <a:rPr lang="en-US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%s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checkpoint_id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,),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)).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fetchone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ts val="2025"/>
              </a:lnSpc>
              <a:buNone/>
            </a:pPr>
            <a:r>
              <a:rPr lang="en-US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WorkflowCheckpoint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from_dict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decode_checkpoint_value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row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"data"</a:t>
            </a:r>
            <a:r>
              <a:rPr lang="en-US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69551C7-67DC-B6A3-6576-0D5B5866D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990" y="1008241"/>
            <a:ext cx="11750770" cy="5082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/>
              <a:t>Implement all the required methods of 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CheckpointStorage </a:t>
            </a:r>
            <a:r>
              <a:rPr lang="en-US" sz="2400"/>
              <a:t>protocol: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2494866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C742D-CB7C-0BC7-10D7-6AAC859A6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7127D-70AC-1C85-6DB6-3DCA99E00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Handoff orchestration with HITL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CB1574-F4F9-E87E-52B5-6C1108AC6194}"/>
              </a:ext>
            </a:extLst>
          </p:cNvPr>
          <p:cNvSpPr txBox="1"/>
          <p:nvPr/>
        </p:nvSpPr>
        <p:spPr>
          <a:xfrm>
            <a:off x="838200" y="3172073"/>
            <a:ext cx="10784840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>
                <a:solidFill>
                  <a:srgbClr val="000000"/>
                </a:solidFill>
                <a:effectLst/>
                <a:cs typeface="Consolas" panose="020B0609020204030204" pitchFamily="49" charset="0"/>
                <a:hlinkClick r:id="rId2"/>
              </a:rPr>
              <a:t>https://learn.microsoft.com/agent-framework/workflows/orchestrations/handoff</a:t>
            </a:r>
            <a:endParaRPr lang="en-US" b="0">
              <a:solidFill>
                <a:srgbClr val="000000"/>
              </a:solidFill>
              <a:effectLst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9979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BF2FD-8FD3-B547-F0C2-E338C695E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0BFD0F3-57E5-7263-E6B1-B26E27BD1B42}"/>
              </a:ext>
            </a:extLst>
          </p:cNvPr>
          <p:cNvSpPr/>
          <p:nvPr/>
        </p:nvSpPr>
        <p:spPr>
          <a:xfrm>
            <a:off x="1420436" y="2686277"/>
            <a:ext cx="1371600" cy="640080"/>
          </a:xfrm>
          <a:prstGeom prst="roundRect">
            <a:avLst/>
          </a:prstGeom>
          <a:solidFill>
            <a:srgbClr val="107C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Agent A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BDD2FC7-423D-FA44-29E5-1EAD0D46F65C}"/>
              </a:ext>
            </a:extLst>
          </p:cNvPr>
          <p:cNvSpPr/>
          <p:nvPr/>
        </p:nvSpPr>
        <p:spPr>
          <a:xfrm>
            <a:off x="5809556" y="1863317"/>
            <a:ext cx="137160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Agent B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0638BFD-5018-2876-A730-6551E076DEE0}"/>
              </a:ext>
            </a:extLst>
          </p:cNvPr>
          <p:cNvSpPr/>
          <p:nvPr/>
        </p:nvSpPr>
        <p:spPr>
          <a:xfrm>
            <a:off x="5809556" y="3509237"/>
            <a:ext cx="1371600" cy="640080"/>
          </a:xfrm>
          <a:prstGeom prst="roundRect">
            <a:avLst/>
          </a:prstGeom>
          <a:solidFill>
            <a:srgbClr val="007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Agent 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C583D-5C48-8FEB-AF30-39D19A572F6E}"/>
              </a:ext>
            </a:extLst>
          </p:cNvPr>
          <p:cNvSpPr txBox="1"/>
          <p:nvPr/>
        </p:nvSpPr>
        <p:spPr>
          <a:xfrm>
            <a:off x="1420436" y="2315155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107C10"/>
                </a:solidFill>
              </a:defRPr>
            </a:pPr>
            <a:r>
              <a:rPr sz="1600"/>
              <a:t>start agent</a:t>
            </a:r>
          </a:p>
        </p:txBody>
      </p:sp>
      <p:cxnSp>
        <p:nvCxnSpPr>
          <p:cNvPr id="7" name="Connector 7">
            <a:extLst>
              <a:ext uri="{FF2B5EF4-FFF2-40B4-BE49-F238E27FC236}">
                <a16:creationId xmlns:a16="http://schemas.microsoft.com/office/drawing/2014/main" id="{2EC4E54B-4304-12A8-A077-49756475327A}"/>
              </a:ext>
            </a:extLst>
          </p:cNvPr>
          <p:cNvCxnSpPr>
            <a:cxnSpLocks/>
          </p:cNvCxnSpPr>
          <p:nvPr/>
        </p:nvCxnSpPr>
        <p:spPr>
          <a:xfrm flipV="1">
            <a:off x="2792036" y="2272257"/>
            <a:ext cx="3017520" cy="645160"/>
          </a:xfrm>
          <a:prstGeom prst="line">
            <a:avLst/>
          </a:prstGeom>
          <a:ln w="38100">
            <a:solidFill>
              <a:srgbClr val="E85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8">
            <a:extLst>
              <a:ext uri="{FF2B5EF4-FFF2-40B4-BE49-F238E27FC236}">
                <a16:creationId xmlns:a16="http://schemas.microsoft.com/office/drawing/2014/main" id="{10193BEB-A242-D801-A539-6AA789789D40}"/>
              </a:ext>
            </a:extLst>
          </p:cNvPr>
          <p:cNvCxnSpPr>
            <a:cxnSpLocks/>
          </p:cNvCxnSpPr>
          <p:nvPr/>
        </p:nvCxnSpPr>
        <p:spPr>
          <a:xfrm flipH="1">
            <a:off x="2792036" y="2399257"/>
            <a:ext cx="3017520" cy="645160"/>
          </a:xfrm>
          <a:prstGeom prst="line">
            <a:avLst/>
          </a:prstGeom>
          <a:ln w="190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9">
            <a:extLst>
              <a:ext uri="{FF2B5EF4-FFF2-40B4-BE49-F238E27FC236}">
                <a16:creationId xmlns:a16="http://schemas.microsoft.com/office/drawing/2014/main" id="{8B1B5AAA-4090-0DB9-6E15-A016DCA2948A}"/>
              </a:ext>
            </a:extLst>
          </p:cNvPr>
          <p:cNvCxnSpPr>
            <a:cxnSpLocks/>
          </p:cNvCxnSpPr>
          <p:nvPr/>
        </p:nvCxnSpPr>
        <p:spPr>
          <a:xfrm>
            <a:off x="2792036" y="3095217"/>
            <a:ext cx="3017520" cy="645160"/>
          </a:xfrm>
          <a:prstGeom prst="line">
            <a:avLst/>
          </a:prstGeom>
          <a:ln w="38100">
            <a:solidFill>
              <a:srgbClr val="E85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10">
            <a:extLst>
              <a:ext uri="{FF2B5EF4-FFF2-40B4-BE49-F238E27FC236}">
                <a16:creationId xmlns:a16="http://schemas.microsoft.com/office/drawing/2014/main" id="{0CB8E857-0C15-5794-D968-D5DA956A5B80}"/>
              </a:ext>
            </a:extLst>
          </p:cNvPr>
          <p:cNvCxnSpPr>
            <a:cxnSpLocks/>
          </p:cNvCxnSpPr>
          <p:nvPr/>
        </p:nvCxnSpPr>
        <p:spPr>
          <a:xfrm flipH="1" flipV="1">
            <a:off x="2792036" y="3222217"/>
            <a:ext cx="3017520" cy="645160"/>
          </a:xfrm>
          <a:prstGeom prst="line">
            <a:avLst/>
          </a:prstGeom>
          <a:ln w="190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1">
            <a:extLst>
              <a:ext uri="{FF2B5EF4-FFF2-40B4-BE49-F238E27FC236}">
                <a16:creationId xmlns:a16="http://schemas.microsoft.com/office/drawing/2014/main" id="{3B12FF56-3957-518C-10EA-D09E7FF06C73}"/>
              </a:ext>
            </a:extLst>
          </p:cNvPr>
          <p:cNvCxnSpPr>
            <a:cxnSpLocks/>
          </p:cNvCxnSpPr>
          <p:nvPr/>
        </p:nvCxnSpPr>
        <p:spPr>
          <a:xfrm>
            <a:off x="6419156" y="2503397"/>
            <a:ext cx="0" cy="1005840"/>
          </a:xfrm>
          <a:prstGeom prst="line">
            <a:avLst/>
          </a:prstGeom>
          <a:ln w="31750">
            <a:solidFill>
              <a:srgbClr val="E855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2">
            <a:extLst>
              <a:ext uri="{FF2B5EF4-FFF2-40B4-BE49-F238E27FC236}">
                <a16:creationId xmlns:a16="http://schemas.microsoft.com/office/drawing/2014/main" id="{BB2299A5-6C25-EB17-3A1A-C4DF5C5CABF8}"/>
              </a:ext>
            </a:extLst>
          </p:cNvPr>
          <p:cNvCxnSpPr>
            <a:cxnSpLocks/>
          </p:cNvCxnSpPr>
          <p:nvPr/>
        </p:nvCxnSpPr>
        <p:spPr>
          <a:xfrm flipV="1">
            <a:off x="6571556" y="2503397"/>
            <a:ext cx="0" cy="1005840"/>
          </a:xfrm>
          <a:prstGeom prst="line">
            <a:avLst/>
          </a:prstGeom>
          <a:ln w="19050">
            <a:solidFill>
              <a:srgbClr val="C0C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F7D4A95-4FF2-FEB5-3614-31D6DC0A7DD1}"/>
              </a:ext>
            </a:extLst>
          </p:cNvPr>
          <p:cNvSpPr txBox="1"/>
          <p:nvPr/>
        </p:nvSpPr>
        <p:spPr>
          <a:xfrm rot="20922374">
            <a:off x="3957276" y="2200896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sz="1600"/>
              <a:t>handoff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897FCB3-54F5-5862-F728-23220657BE1D}"/>
              </a:ext>
            </a:extLst>
          </p:cNvPr>
          <p:cNvSpPr txBox="1"/>
          <p:nvPr/>
        </p:nvSpPr>
        <p:spPr>
          <a:xfrm rot="696351">
            <a:off x="4038486" y="3188328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1">
                <a:solidFill>
                  <a:srgbClr val="E85500"/>
                </a:solidFill>
              </a:defRPr>
            </a:pPr>
            <a:r>
              <a:rPr sz="1600"/>
              <a:t>handoff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7ECCED-DD82-0EE6-0EA7-77166BCD7FE3}"/>
              </a:ext>
            </a:extLst>
          </p:cNvPr>
          <p:cNvSpPr txBox="1"/>
          <p:nvPr/>
        </p:nvSpPr>
        <p:spPr>
          <a:xfrm>
            <a:off x="5504756" y="2858263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1">
                <a:solidFill>
                  <a:srgbClr val="E85500"/>
                </a:solidFill>
              </a:defRPr>
            </a:pPr>
            <a:r>
              <a:rPr sz="1600"/>
              <a:t>handoff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23792B0C-DABD-DD1E-099B-8A949D0D88C4}"/>
              </a:ext>
            </a:extLst>
          </p:cNvPr>
          <p:cNvSpPr txBox="1">
            <a:spLocks/>
          </p:cNvSpPr>
          <p:nvPr/>
        </p:nvSpPr>
        <p:spPr>
          <a:xfrm>
            <a:off x="7484309" y="2281872"/>
            <a:ext cx="4423538" cy="10761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/>
              <a:t>No edges are defined up front – routing emerges from conversation state.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425B66-7EAD-A615-A638-70A8905A7BF7}"/>
              </a:ext>
            </a:extLst>
          </p:cNvPr>
          <p:cNvSpPr txBox="1"/>
          <p:nvPr/>
        </p:nvSpPr>
        <p:spPr>
          <a:xfrm>
            <a:off x="1208371" y="4643299"/>
            <a:ext cx="10755027" cy="1756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400" b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Handoff is inherently interactive:</a:t>
            </a:r>
          </a:p>
          <a:p>
            <a:pPr>
              <a:lnSpc>
                <a:spcPct val="90000"/>
              </a:lnSpc>
              <a:buNone/>
            </a:pPr>
            <a:endParaRPr lang="en-US" sz="2400" b="0">
              <a:solidFill>
                <a:srgbClr val="000000"/>
              </a:solidFill>
              <a:effectLst/>
              <a:latin typeface="Aptos" panose="020B0004020202020204" pitchFamily="34" charset="0"/>
            </a:endParaRP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When an agent doesn't handoff, it requests user input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Workflow emits HandoffAgentUserRequest events</a:t>
            </a:r>
          </a:p>
          <a:p>
            <a:pPr marL="342900" indent="-3429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400" b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Application must respond for the workflow to continue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0C9CA82D-C16F-BDF9-21D9-DF5DFDA4FB13}"/>
              </a:ext>
            </a:extLst>
          </p:cNvPr>
          <p:cNvSpPr txBox="1">
            <a:spLocks/>
          </p:cNvSpPr>
          <p:nvPr/>
        </p:nvSpPr>
        <p:spPr>
          <a:xfrm>
            <a:off x="1049416" y="0"/>
            <a:ext cx="10913982" cy="729205"/>
          </a:xfrm>
          <a:prstGeom prst="rect">
            <a:avLst/>
          </a:prstGeom>
        </p:spPr>
        <p:txBody>
          <a:bodyPr vert="horz" lIns="91440" tIns="182880" rIns="9144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Review: Handoff orchestration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7590E6B-C4D6-C963-754E-414F074D7DD7}"/>
              </a:ext>
            </a:extLst>
          </p:cNvPr>
          <p:cNvSpPr txBox="1">
            <a:spLocks/>
          </p:cNvSpPr>
          <p:nvPr/>
        </p:nvSpPr>
        <p:spPr>
          <a:xfrm>
            <a:off x="1058908" y="1107240"/>
            <a:ext cx="10913981" cy="10761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HandoffBuilder</a:t>
            </a:r>
            <a:r>
              <a:rPr lang="en-US" sz="2400"/>
              <a:t> is a built-in workflow where agents can handoff to each other. </a:t>
            </a:r>
          </a:p>
        </p:txBody>
      </p:sp>
    </p:spTree>
    <p:extLst>
      <p:ext uri="{BB962C8B-B14F-4D97-AF65-F5344CB8AC3E}">
        <p14:creationId xmlns:p14="http://schemas.microsoft.com/office/powerpoint/2010/main" val="33580050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9B44B-C27D-2E5E-F604-8F235EB3F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09856-056C-C38C-4635-135E4C477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990" y="1"/>
            <a:ext cx="10913982" cy="844952"/>
          </a:xfrm>
        </p:spPr>
        <p:txBody>
          <a:bodyPr tIns="182880" bIns="0" anchor="t" anchorCtr="0">
            <a:normAutofit/>
          </a:bodyPr>
          <a:lstStyle/>
          <a:p>
            <a:r>
              <a:rPr lang="en-US"/>
              <a:t>Configuring HandoffBuilder for interactivity</a:t>
            </a: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16D896-B9E8-FBE0-1D02-1DF6320D7C10}"/>
              </a:ext>
            </a:extLst>
          </p:cNvPr>
          <p:cNvSpPr txBox="1"/>
          <p:nvPr/>
        </p:nvSpPr>
        <p:spPr>
          <a:xfrm>
            <a:off x="1117104" y="6179820"/>
            <a:ext cx="431047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workflow_hitl_handoff.py</a:t>
            </a:r>
            <a:endParaRPr lang="en-US" sz="200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4BAF32-6408-34A9-7967-C34C37E321B8}"/>
              </a:ext>
            </a:extLst>
          </p:cNvPr>
          <p:cNvSpPr txBox="1"/>
          <p:nvPr/>
        </p:nvSpPr>
        <p:spPr>
          <a:xfrm>
            <a:off x="1117104" y="4073574"/>
            <a:ext cx="10942815" cy="203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HandoffBuilder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name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"customer_support"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participants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triage_agent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order_agent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return_agent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termination_condition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conversation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(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len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conversation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&gt; 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"goodbye"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conversation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[-</a:t>
            </a:r>
            <a:r>
              <a:rPr lang="en-US" sz="200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lower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()))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with_start_agent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triage_agent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build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AF059FF-0F87-14FC-8912-61F5DDD90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990" y="3565293"/>
            <a:ext cx="11750770" cy="5082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HandoffBuilder</a:t>
            </a:r>
            <a:r>
              <a:rPr lang="en-US" sz="2400"/>
              <a:t> is interactive as long as you don't set </a:t>
            </a:r>
            <a:r>
              <a:rPr lang="en-US" sz="24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with_autonomous_mode:</a:t>
            </a:r>
            <a:endParaRPr sz="24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C3753BE-707D-4E7E-2BFB-C58DE3D229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20" y="876300"/>
            <a:ext cx="73152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0914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411CD-8DBA-1956-9FD6-91E07744E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D7E31-070F-F111-F7B8-CE445ACA2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990" y="1"/>
            <a:ext cx="10913982" cy="844952"/>
          </a:xfrm>
        </p:spPr>
        <p:txBody>
          <a:bodyPr tIns="182880" bIns="0" anchor="t" anchorCtr="0">
            <a:normAutofit/>
          </a:bodyPr>
          <a:lstStyle/>
          <a:p>
            <a:r>
              <a:rPr lang="en-US"/>
              <a:t>Handling HITL requests in HandoffBuilder </a:t>
            </a:r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355D1E-298D-5F51-6E5C-4847319F3E3E}"/>
              </a:ext>
            </a:extLst>
          </p:cNvPr>
          <p:cNvSpPr txBox="1"/>
          <p:nvPr/>
        </p:nvSpPr>
        <p:spPr>
          <a:xfrm>
            <a:off x="1117104" y="6400050"/>
            <a:ext cx="4310475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2000" err="1"/>
              <a:t>Full example: </a:t>
            </a:r>
            <a:r>
              <a:rPr lang="en-US" sz="2000" err="1">
                <a:hlinkClick r:id="rId3"/>
              </a:rPr>
              <a:t>workflow_hitl_handoff.py</a:t>
            </a:r>
            <a:endParaRPr lang="en-US" sz="2000" err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E96F9C-F672-69B1-9C20-7E9BEBDDF70A}"/>
              </a:ext>
            </a:extLst>
          </p:cNvPr>
          <p:cNvSpPr txBox="1"/>
          <p:nvPr/>
        </p:nvSpPr>
        <p:spPr>
          <a:xfrm>
            <a:off x="1117104" y="1558096"/>
            <a:ext cx="10952976" cy="480131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dict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Any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= {}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request_id = request_event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.request_id</a:t>
            </a:r>
          </a:p>
          <a:p>
            <a:pPr>
              <a:lnSpc>
                <a:spcPct val="90000"/>
              </a:lnSpc>
              <a:buNone/>
            </a:pP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request_event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pending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isinstance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request_event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.data,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HandoffAgentUserRequest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agent_response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request_event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.data.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agent_response</a:t>
            </a: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agent_response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print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"🤖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author_name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endParaRPr lang="en-US" sz="2000">
              <a:solidFill>
                <a:srgbClr val="00108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user_input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en-US" sz="2000">
                <a:solidFill>
                  <a:srgbClr val="EE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\n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👤 You: 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strip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user_input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lower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"exit"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"quit"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responses[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request_id] =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HandoffAgentUserRequest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terminate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responses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[request_id] = </a:t>
            </a:r>
            <a:r>
              <a:rPr lang="en-US" sz="20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HandoffAgentUserRequest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create_response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user_input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b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sz="200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stream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>
                <a:solidFill>
                  <a:srgbClr val="795E26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run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responses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000">
                <a:solidFill>
                  <a:srgbClr val="00108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stream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F98C41D-0B03-9C32-9B9C-40D72A02D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0990" y="1131094"/>
            <a:ext cx="11750770" cy="50828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/>
              <a:t>Handle all </a:t>
            </a:r>
            <a:r>
              <a:rPr lang="en-US" sz="2400">
                <a:solidFill>
                  <a:srgbClr val="26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HandoffAgentUserRequest </a:t>
            </a:r>
            <a:r>
              <a:rPr lang="en-US" sz="2400"/>
              <a:t>events and respond with user input: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961509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F77CD-1C08-8155-2465-E6AAB04F8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04709-6F55-7AA5-E4CF-4F62871CC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End-to-end application</a:t>
            </a:r>
          </a:p>
        </p:txBody>
      </p:sp>
    </p:spTree>
    <p:extLst>
      <p:ext uri="{BB962C8B-B14F-4D97-AF65-F5344CB8AC3E}">
        <p14:creationId xmlns:p14="http://schemas.microsoft.com/office/powerpoint/2010/main" val="32199054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8D27D-7BFB-8FF5-712F-5C6DAEF8A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>
            <a:extLst>
              <a:ext uri="{FF2B5EF4-FFF2-40B4-BE49-F238E27FC236}">
                <a16:creationId xmlns:a16="http://schemas.microsoft.com/office/drawing/2014/main" id="{6F3D083B-155B-674E-C389-EEA6762EE4D1}"/>
              </a:ext>
            </a:extLst>
          </p:cNvPr>
          <p:cNvSpPr txBox="1"/>
          <p:nvPr/>
        </p:nvSpPr>
        <p:spPr>
          <a:xfrm>
            <a:off x="8748903" y="1674248"/>
            <a:ext cx="344309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i="1">
                <a:effectLst/>
                <a:latin typeface="Aptos" panose="020B0004020202020204" pitchFamily="34" charset="0"/>
                <a:cs typeface="Consolas" panose="020B0609020204030204" pitchFamily="49" charset="0"/>
              </a:rPr>
              <a:t>Python frameworks:</a:t>
            </a:r>
          </a:p>
          <a:p>
            <a:r>
              <a:rPr lang="en-US" sz="2200" i="0">
                <a:effectLst/>
                <a:latin typeface="Aptos" panose="020B0004020202020204" pitchFamily="34" charset="0"/>
                <a:cs typeface="Consolas" panose="020B0609020204030204" pitchFamily="49" charset="0"/>
              </a:rPr>
              <a:t>Agent Framework</a:t>
            </a:r>
          </a:p>
          <a:p>
            <a:r>
              <a:rPr lang="en-US" sz="2200">
                <a:latin typeface="Aptos" panose="020B0004020202020204" pitchFamily="34" charset="0"/>
                <a:cs typeface="Consolas" panose="020B0609020204030204" pitchFamily="49" charset="0"/>
              </a:rPr>
              <a:t>FastMCP</a:t>
            </a:r>
          </a:p>
          <a:p>
            <a:endParaRPr lang="en-US" sz="2200" i="0">
              <a:effectLst/>
              <a:latin typeface="Aptos" panose="020B0004020202020204" pitchFamily="34" charset="0"/>
              <a:cs typeface="Consolas" panose="020B0609020204030204" pitchFamily="49" charset="0"/>
            </a:endParaRPr>
          </a:p>
          <a:p>
            <a:r>
              <a:rPr lang="en-US" sz="2200" i="1">
                <a:latin typeface="Aptos" panose="020B0004020202020204" pitchFamily="34" charset="0"/>
                <a:cs typeface="Consolas" panose="020B0609020204030204" pitchFamily="49" charset="0"/>
              </a:rPr>
              <a:t>Azure services:</a:t>
            </a:r>
            <a:br>
              <a:rPr lang="en-US" sz="2200" i="0">
                <a:effectLst/>
                <a:latin typeface="Aptos" panose="020B0004020202020204" pitchFamily="34" charset="0"/>
                <a:cs typeface="Consolas" panose="020B0609020204030204" pitchFamily="49" charset="0"/>
              </a:rPr>
            </a:br>
            <a:r>
              <a:rPr lang="en-US" sz="2200" i="0">
                <a:effectLst/>
                <a:latin typeface="Aptos" panose="020B0004020202020204" pitchFamily="34" charset="0"/>
                <a:cs typeface="Consolas" panose="020B0609020204030204" pitchFamily="49" charset="0"/>
              </a:rPr>
              <a:t>OpenAI</a:t>
            </a:r>
          </a:p>
          <a:p>
            <a:r>
              <a:rPr lang="en-US" sz="2200">
                <a:latin typeface="Aptos" panose="020B0004020202020204" pitchFamily="34" charset="0"/>
                <a:cs typeface="Consolas" panose="020B0609020204030204" pitchFamily="49" charset="0"/>
              </a:rPr>
              <a:t>Document Intelligence</a:t>
            </a:r>
            <a:endParaRPr lang="en-US" sz="2200" i="0">
              <a:effectLst/>
              <a:latin typeface="Aptos" panose="020B0004020202020204" pitchFamily="34" charset="0"/>
              <a:cs typeface="Consolas" panose="020B0609020204030204" pitchFamily="49" charset="0"/>
            </a:endParaRPr>
          </a:p>
          <a:p>
            <a:r>
              <a:rPr lang="en-US" sz="2200">
                <a:latin typeface="Aptos" panose="020B0004020202020204" pitchFamily="34" charset="0"/>
                <a:cs typeface="Consolas" panose="020B0609020204030204" pitchFamily="49" charset="0"/>
              </a:rPr>
              <a:t>Container Apps</a:t>
            </a:r>
          </a:p>
          <a:p>
            <a:endParaRPr lang="en-US" sz="2200" i="0">
              <a:effectLst/>
              <a:latin typeface="Aptos" panose="020B0004020202020204" pitchFamily="34" charset="0"/>
              <a:cs typeface="Consolas" panose="020B0609020204030204" pitchFamily="49" charset="0"/>
            </a:endParaRPr>
          </a:p>
          <a:p>
            <a:endParaRPr lang="en-US" sz="2200" i="0">
              <a:effectLst/>
              <a:latin typeface="Aptos" panose="020B0004020202020204" pitchFamily="34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85AE2D-403A-1DDA-0BE7-89CC2CFB9DD4}"/>
              </a:ext>
            </a:extLst>
          </p:cNvPr>
          <p:cNvSpPr txBox="1"/>
          <p:nvPr/>
        </p:nvSpPr>
        <p:spPr>
          <a:xfrm>
            <a:off x="1049416" y="6218676"/>
            <a:ext cx="77135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https://github.com/Azure-Samples/agent-openai-python-banking-assistant</a:t>
            </a:r>
            <a:endParaRPr lang="en-US" dirty="0"/>
          </a:p>
        </p:txBody>
      </p:sp>
      <p:pic>
        <p:nvPicPr>
          <p:cNvPr id="4" name="Immagine 8" descr="Immagine che contiene testo, schermata, software, Pagina Web&#10;&#10;Il contenuto generato dall'IA potrebbe non essere corretto.">
            <a:extLst>
              <a:ext uri="{FF2B5EF4-FFF2-40B4-BE49-F238E27FC236}">
                <a16:creationId xmlns:a16="http://schemas.microsoft.com/office/drawing/2014/main" id="{824516A4-5362-D240-9E33-0A1A29FB38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75"/>
          <a:stretch>
            <a:fillRect/>
          </a:stretch>
        </p:blipFill>
        <p:spPr>
          <a:xfrm>
            <a:off x="1099717" y="1241034"/>
            <a:ext cx="7612982" cy="48472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5E28EA9-5AA3-C8FB-4737-06CA40EEB771}"/>
              </a:ext>
            </a:extLst>
          </p:cNvPr>
          <p:cNvSpPr txBox="1">
            <a:spLocks/>
          </p:cNvSpPr>
          <p:nvPr/>
        </p:nvSpPr>
        <p:spPr>
          <a:xfrm>
            <a:off x="1060990" y="1"/>
            <a:ext cx="10913982" cy="844952"/>
          </a:xfrm>
          <a:prstGeom prst="rect">
            <a:avLst/>
          </a:prstGeom>
        </p:spPr>
        <p:txBody>
          <a:bodyPr vert="horz" lIns="91440" tIns="182880" rIns="9144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Agentic banking assistant</a:t>
            </a:r>
          </a:p>
        </p:txBody>
      </p:sp>
    </p:spTree>
    <p:extLst>
      <p:ext uri="{BB962C8B-B14F-4D97-AF65-F5344CB8AC3E}">
        <p14:creationId xmlns:p14="http://schemas.microsoft.com/office/powerpoint/2010/main" val="13550557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5DABD-0F3B-6C45-D7AC-98B0C1C59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14">
            <a:extLst>
              <a:ext uri="{FF2B5EF4-FFF2-40B4-BE49-F238E27FC236}">
                <a16:creationId xmlns:a16="http://schemas.microsoft.com/office/drawing/2014/main" id="{AEF56B88-3115-34E9-1DAA-DAC2F323D4E7}"/>
              </a:ext>
            </a:extLst>
          </p:cNvPr>
          <p:cNvGrpSpPr/>
          <p:nvPr/>
        </p:nvGrpSpPr>
        <p:grpSpPr>
          <a:xfrm>
            <a:off x="1322639" y="1436285"/>
            <a:ext cx="1056279" cy="469787"/>
            <a:chOff x="2700759" y="325549"/>
            <a:chExt cx="1056279" cy="469787"/>
          </a:xfrm>
        </p:grpSpPr>
        <p:sp>
          <p:nvSpPr>
            <p:cNvPr id="8" name="Graphic 2">
              <a:extLst>
                <a:ext uri="{FF2B5EF4-FFF2-40B4-BE49-F238E27FC236}">
                  <a16:creationId xmlns:a16="http://schemas.microsoft.com/office/drawing/2014/main" id="{DDA60189-07B4-3D72-3293-2EBF6D2417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2700759" y="325549"/>
              <a:ext cx="339843" cy="469787"/>
            </a:xfrm>
            <a:custGeom>
              <a:avLst/>
              <a:gdLst>
                <a:gd name="connsiteX0" fmla="*/ 1134128 w 1319699"/>
                <a:gd name="connsiteY0" fmla="*/ 989383 h 1649190"/>
                <a:gd name="connsiteX1" fmla="*/ 1319699 w 1319699"/>
                <a:gd name="connsiteY1" fmla="*/ 1174789 h 1649190"/>
                <a:gd name="connsiteX2" fmla="*/ 1319699 w 1319699"/>
                <a:gd name="connsiteY2" fmla="*/ 1174871 h 1649190"/>
                <a:gd name="connsiteX3" fmla="*/ 1319699 w 1319699"/>
                <a:gd name="connsiteY3" fmla="*/ 1250584 h 1649190"/>
                <a:gd name="connsiteX4" fmla="*/ 1277389 w 1319699"/>
                <a:gd name="connsiteY4" fmla="*/ 1382464 h 1649190"/>
                <a:gd name="connsiteX5" fmla="*/ 659561 w 1319699"/>
                <a:gd name="connsiteY5" fmla="*/ 1649191 h 1649190"/>
                <a:gd name="connsiteX6" fmla="*/ 42063 w 1319699"/>
                <a:gd name="connsiteY6" fmla="*/ 1382216 h 1649190"/>
                <a:gd name="connsiteX7" fmla="*/ 0 w 1319699"/>
                <a:gd name="connsiteY7" fmla="*/ 1250667 h 1649190"/>
                <a:gd name="connsiteX8" fmla="*/ 0 w 1319699"/>
                <a:gd name="connsiteY8" fmla="*/ 1174789 h 1649190"/>
                <a:gd name="connsiteX9" fmla="*/ 185406 w 1319699"/>
                <a:gd name="connsiteY9" fmla="*/ 989218 h 1649190"/>
                <a:gd name="connsiteX10" fmla="*/ 185489 w 1319699"/>
                <a:gd name="connsiteY10" fmla="*/ 989218 h 1649190"/>
                <a:gd name="connsiteX11" fmla="*/ 1134046 w 1319699"/>
                <a:gd name="connsiteY11" fmla="*/ 989218 h 1649190"/>
                <a:gd name="connsiteX12" fmla="*/ 659561 w 1319699"/>
                <a:gd name="connsiteY12" fmla="*/ 0 h 1649190"/>
                <a:gd name="connsiteX13" fmla="*/ 1071941 w 1319699"/>
                <a:gd name="connsiteY13" fmla="*/ 412380 h 1649190"/>
                <a:gd name="connsiteX14" fmla="*/ 659561 w 1319699"/>
                <a:gd name="connsiteY14" fmla="*/ 824760 h 1649190"/>
                <a:gd name="connsiteX15" fmla="*/ 247181 w 1319699"/>
                <a:gd name="connsiteY15" fmla="*/ 412380 h 1649190"/>
                <a:gd name="connsiteX16" fmla="*/ 659561 w 1319699"/>
                <a:gd name="connsiteY16" fmla="*/ 0 h 1649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19699" h="1649190">
                  <a:moveTo>
                    <a:pt x="1134128" y="989383"/>
                  </a:moveTo>
                  <a:cubicBezTo>
                    <a:pt x="1236572" y="989333"/>
                    <a:pt x="1319650" y="1072345"/>
                    <a:pt x="1319699" y="1174789"/>
                  </a:cubicBezTo>
                  <a:cubicBezTo>
                    <a:pt x="1319699" y="1174814"/>
                    <a:pt x="1319699" y="1174846"/>
                    <a:pt x="1319699" y="1174871"/>
                  </a:cubicBezTo>
                  <a:lnTo>
                    <a:pt x="1319699" y="1250584"/>
                  </a:lnTo>
                  <a:cubicBezTo>
                    <a:pt x="1319691" y="1297876"/>
                    <a:pt x="1304895" y="1343988"/>
                    <a:pt x="1277389" y="1382464"/>
                  </a:cubicBezTo>
                  <a:cubicBezTo>
                    <a:pt x="1149881" y="1560859"/>
                    <a:pt x="941629" y="1649191"/>
                    <a:pt x="659561" y="1649191"/>
                  </a:cubicBezTo>
                  <a:cubicBezTo>
                    <a:pt x="377328" y="1649191"/>
                    <a:pt x="169241" y="1560777"/>
                    <a:pt x="42063" y="1382216"/>
                  </a:cubicBezTo>
                  <a:cubicBezTo>
                    <a:pt x="14707" y="1343807"/>
                    <a:pt x="5" y="1297827"/>
                    <a:pt x="0" y="1250667"/>
                  </a:cubicBezTo>
                  <a:lnTo>
                    <a:pt x="0" y="1174789"/>
                  </a:lnTo>
                  <a:cubicBezTo>
                    <a:pt x="-45" y="1072345"/>
                    <a:pt x="82964" y="989267"/>
                    <a:pt x="185406" y="989218"/>
                  </a:cubicBezTo>
                  <a:cubicBezTo>
                    <a:pt x="185433" y="989218"/>
                    <a:pt x="185461" y="989218"/>
                    <a:pt x="185489" y="989218"/>
                  </a:cubicBezTo>
                  <a:lnTo>
                    <a:pt x="1134046" y="989218"/>
                  </a:lnTo>
                  <a:close/>
                  <a:moveTo>
                    <a:pt x="659561" y="0"/>
                  </a:moveTo>
                  <a:cubicBezTo>
                    <a:pt x="887310" y="0"/>
                    <a:pt x="1071941" y="184629"/>
                    <a:pt x="1071941" y="412380"/>
                  </a:cubicBezTo>
                  <a:cubicBezTo>
                    <a:pt x="1071941" y="640131"/>
                    <a:pt x="887310" y="824760"/>
                    <a:pt x="659561" y="824760"/>
                  </a:cubicBezTo>
                  <a:cubicBezTo>
                    <a:pt x="431810" y="824760"/>
                    <a:pt x="247181" y="640131"/>
                    <a:pt x="247181" y="412380"/>
                  </a:cubicBezTo>
                  <a:cubicBezTo>
                    <a:pt x="247181" y="184629"/>
                    <a:pt x="431810" y="0"/>
                    <a:pt x="659561" y="0"/>
                  </a:cubicBezTo>
                  <a:close/>
                </a:path>
              </a:pathLst>
            </a:custGeom>
            <a:solidFill>
              <a:sysClr val="window" lastClr="FFFFFF"/>
            </a:solidFill>
            <a:ln w="82153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9" name="TextBox 155">
              <a:extLst>
                <a:ext uri="{FF2B5EF4-FFF2-40B4-BE49-F238E27FC236}">
                  <a16:creationId xmlns:a16="http://schemas.microsoft.com/office/drawing/2014/main" id="{761C36F5-3780-9699-ECA0-6BEE3CC38B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3122248" y="448103"/>
              <a:ext cx="634790" cy="3077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egoe UI Semibold"/>
                  <a:ea typeface="+mn-ea"/>
                  <a:cs typeface="+mn-cs"/>
                </a:rPr>
                <a:t>Users</a:t>
              </a:r>
            </a:p>
          </p:txBody>
        </p:sp>
      </p:grpSp>
      <p:sp>
        <p:nvSpPr>
          <p:cNvPr id="11" name="Rectangle 1">
            <a:extLst>
              <a:ext uri="{FF2B5EF4-FFF2-40B4-BE49-F238E27FC236}">
                <a16:creationId xmlns:a16="http://schemas.microsoft.com/office/drawing/2014/main" id="{8739270B-C015-5C0D-6158-F02236A205F4}"/>
              </a:ext>
            </a:extLst>
          </p:cNvPr>
          <p:cNvSpPr/>
          <p:nvPr/>
        </p:nvSpPr>
        <p:spPr bwMode="auto">
          <a:xfrm>
            <a:off x="1030148" y="1146485"/>
            <a:ext cx="6299474" cy="5367260"/>
          </a:xfrm>
          <a:prstGeom prst="rect">
            <a:avLst/>
          </a:prstGeom>
          <a:noFill/>
          <a:ln>
            <a:solidFill>
              <a:srgbClr val="D9D9D6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FD5CA5D0-FCDA-43F8-CA44-ADC4617E8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517153" y="1218446"/>
            <a:ext cx="130721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it-IT" sz="1400" b="1" dirty="0"/>
              <a:t>Multi-Agent App</a:t>
            </a:r>
            <a:endParaRPr lang="en-US" sz="1400" b="1" dirty="0" err="1"/>
          </a:p>
        </p:txBody>
      </p:sp>
      <p:grpSp>
        <p:nvGrpSpPr>
          <p:cNvPr id="14" name="Group 17">
            <a:extLst>
              <a:ext uri="{FF2B5EF4-FFF2-40B4-BE49-F238E27FC236}">
                <a16:creationId xmlns:a16="http://schemas.microsoft.com/office/drawing/2014/main" id="{2D70AAF6-EEAA-7C41-9F8E-055F76D549A3}"/>
              </a:ext>
            </a:extLst>
          </p:cNvPr>
          <p:cNvGrpSpPr/>
          <p:nvPr/>
        </p:nvGrpSpPr>
        <p:grpSpPr>
          <a:xfrm>
            <a:off x="1092338" y="3493605"/>
            <a:ext cx="2086985" cy="1112825"/>
            <a:chOff x="4173965" y="2721684"/>
            <a:chExt cx="2086985" cy="1112825"/>
          </a:xfrm>
        </p:grpSpPr>
        <p:sp>
          <p:nvSpPr>
            <p:cNvPr id="16" name="Rectangle: Rounded Corners 8">
              <a:extLst>
                <a:ext uri="{FF2B5EF4-FFF2-40B4-BE49-F238E27FC236}">
                  <a16:creationId xmlns:a16="http://schemas.microsoft.com/office/drawing/2014/main" id="{BBA20616-84C6-AA47-432D-967CCDB309D7}"/>
                </a:ext>
              </a:extLst>
            </p:cNvPr>
            <p:cNvSpPr/>
            <p:nvPr/>
          </p:nvSpPr>
          <p:spPr bwMode="auto">
            <a:xfrm>
              <a:off x="4173965" y="2721684"/>
              <a:ext cx="2086985" cy="111282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 err="1">
                <a:solidFill>
                  <a:schemeClr val="bg1"/>
                </a:solidFill>
                <a:cs typeface="Segoe UI" pitchFamily="34" charset="0"/>
              </a:endParaRPr>
            </a:p>
          </p:txBody>
        </p:sp>
        <p:sp>
          <p:nvSpPr>
            <p:cNvPr id="17" name="TextBox 13">
              <a:extLst>
                <a:ext uri="{FF2B5EF4-FFF2-40B4-BE49-F238E27FC236}">
                  <a16:creationId xmlns:a16="http://schemas.microsoft.com/office/drawing/2014/main" id="{8BA7FFBC-3D82-ECDA-5812-6ED6AF62881F}"/>
                </a:ext>
              </a:extLst>
            </p:cNvPr>
            <p:cNvSpPr txBox="1"/>
            <p:nvPr/>
          </p:nvSpPr>
          <p:spPr>
            <a:xfrm>
              <a:off x="4309417" y="3116320"/>
              <a:ext cx="1873597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noProof="0" dirty="0"/>
                <a:t>Act as triage agent understanding the user intent based on chat and route the request to the specific domain agent</a:t>
              </a:r>
            </a:p>
          </p:txBody>
        </p:sp>
      </p:grpSp>
      <p:sp>
        <p:nvSpPr>
          <p:cNvPr id="19" name="Rectangle 14">
            <a:extLst>
              <a:ext uri="{FF2B5EF4-FFF2-40B4-BE49-F238E27FC236}">
                <a16:creationId xmlns:a16="http://schemas.microsoft.com/office/drawing/2014/main" id="{1D737298-BCAD-5C1A-9C9F-A62A2AE05B7C}"/>
              </a:ext>
            </a:extLst>
          </p:cNvPr>
          <p:cNvSpPr/>
          <p:nvPr/>
        </p:nvSpPr>
        <p:spPr bwMode="auto">
          <a:xfrm>
            <a:off x="8360227" y="1147097"/>
            <a:ext cx="3437206" cy="3546954"/>
          </a:xfrm>
          <a:prstGeom prst="rect">
            <a:avLst/>
          </a:prstGeom>
          <a:noFill/>
          <a:ln>
            <a:solidFill>
              <a:srgbClr val="D9D9D6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1" name="Straight Arrow Connector 227">
            <a:extLst>
              <a:ext uri="{FF2B5EF4-FFF2-40B4-BE49-F238E27FC236}">
                <a16:creationId xmlns:a16="http://schemas.microsoft.com/office/drawing/2014/main" id="{3453FB36-7526-C263-1E62-AF802ED86527}"/>
              </a:ext>
            </a:extLst>
          </p:cNvPr>
          <p:cNvCxnSpPr>
            <a:cxnSpLocks/>
          </p:cNvCxnSpPr>
          <p:nvPr/>
        </p:nvCxnSpPr>
        <p:spPr>
          <a:xfrm>
            <a:off x="2211852" y="2871436"/>
            <a:ext cx="0" cy="600189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28">
            <a:extLst>
              <a:ext uri="{FF2B5EF4-FFF2-40B4-BE49-F238E27FC236}">
                <a16:creationId xmlns:a16="http://schemas.microsoft.com/office/drawing/2014/main" id="{31A82221-5C85-314E-687D-97860226138E}"/>
              </a:ext>
            </a:extLst>
          </p:cNvPr>
          <p:cNvSpPr txBox="1"/>
          <p:nvPr/>
        </p:nvSpPr>
        <p:spPr>
          <a:xfrm>
            <a:off x="1299078" y="2141575"/>
            <a:ext cx="2453821" cy="6463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noProof="0" dirty="0"/>
              <a:t>Question or task about personal banking account, </a:t>
            </a:r>
          </a:p>
          <a:p>
            <a:r>
              <a:rPr lang="en-US" sz="1400" noProof="0" dirty="0"/>
              <a:t>transactions, invoice payment</a:t>
            </a:r>
          </a:p>
        </p:txBody>
      </p:sp>
      <p:pic>
        <p:nvPicPr>
          <p:cNvPr id="23" name="Graphic 20">
            <a:extLst>
              <a:ext uri="{FF2B5EF4-FFF2-40B4-BE49-F238E27FC236}">
                <a16:creationId xmlns:a16="http://schemas.microsoft.com/office/drawing/2014/main" id="{BB806C66-0490-6456-2634-E570A5A60A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81196" y="1175053"/>
            <a:ext cx="329902" cy="329902"/>
          </a:xfrm>
          <a:prstGeom prst="rect">
            <a:avLst/>
          </a:prstGeom>
        </p:spPr>
      </p:pic>
      <p:grpSp>
        <p:nvGrpSpPr>
          <p:cNvPr id="24" name="Group 17">
            <a:extLst>
              <a:ext uri="{FF2B5EF4-FFF2-40B4-BE49-F238E27FC236}">
                <a16:creationId xmlns:a16="http://schemas.microsoft.com/office/drawing/2014/main" id="{3076C094-0388-EECD-2C5C-389E0ADDC20F}"/>
              </a:ext>
            </a:extLst>
          </p:cNvPr>
          <p:cNvGrpSpPr/>
          <p:nvPr/>
        </p:nvGrpSpPr>
        <p:grpSpPr>
          <a:xfrm>
            <a:off x="4719446" y="2033418"/>
            <a:ext cx="2086985" cy="1112825"/>
            <a:chOff x="4173965" y="2721684"/>
            <a:chExt cx="2086985" cy="1112825"/>
          </a:xfrm>
        </p:grpSpPr>
        <p:sp>
          <p:nvSpPr>
            <p:cNvPr id="25" name="Rectangle: Rounded Corners 8">
              <a:extLst>
                <a:ext uri="{FF2B5EF4-FFF2-40B4-BE49-F238E27FC236}">
                  <a16:creationId xmlns:a16="http://schemas.microsoft.com/office/drawing/2014/main" id="{EA571568-22F0-4A2C-12C3-5161E2ABDFAA}"/>
                </a:ext>
              </a:extLst>
            </p:cNvPr>
            <p:cNvSpPr/>
            <p:nvPr/>
          </p:nvSpPr>
          <p:spPr bwMode="auto">
            <a:xfrm>
              <a:off x="4173965" y="2721684"/>
              <a:ext cx="2086985" cy="111282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 err="1">
                <a:solidFill>
                  <a:schemeClr val="bg1"/>
                </a:solidFill>
                <a:cs typeface="Segoe UI" pitchFamily="34" charset="0"/>
              </a:endParaRPr>
            </a:p>
          </p:txBody>
        </p:sp>
        <p:sp>
          <p:nvSpPr>
            <p:cNvPr id="26" name="TextBox 13">
              <a:extLst>
                <a:ext uri="{FF2B5EF4-FFF2-40B4-BE49-F238E27FC236}">
                  <a16:creationId xmlns:a16="http://schemas.microsoft.com/office/drawing/2014/main" id="{D83E7DC2-F335-FD39-8596-CFF324A00AEA}"/>
                </a:ext>
              </a:extLst>
            </p:cNvPr>
            <p:cNvSpPr txBox="1"/>
            <p:nvPr/>
          </p:nvSpPr>
          <p:spPr>
            <a:xfrm>
              <a:off x="4309417" y="3116320"/>
              <a:ext cx="1873597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noProof="0" dirty="0"/>
                <a:t>Responsible for all tasks related to banking account info, credit balance, registered payment methods.</a:t>
              </a:r>
            </a:p>
          </p:txBody>
        </p:sp>
      </p:grpSp>
      <p:sp>
        <p:nvSpPr>
          <p:cNvPr id="27" name="TextBox 12">
            <a:extLst>
              <a:ext uri="{FF2B5EF4-FFF2-40B4-BE49-F238E27FC236}">
                <a16:creationId xmlns:a16="http://schemas.microsoft.com/office/drawing/2014/main" id="{475B8443-C92C-974A-74EC-74E6C410260F}"/>
              </a:ext>
            </a:extLst>
          </p:cNvPr>
          <p:cNvSpPr txBox="1"/>
          <p:nvPr/>
        </p:nvSpPr>
        <p:spPr>
          <a:xfrm>
            <a:off x="4407102" y="2896673"/>
            <a:ext cx="122151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1000" b="1" dirty="0"/>
              <a:t>Tools</a:t>
            </a:r>
            <a:endParaRPr lang="en-US" sz="1000" b="1" dirty="0" err="1"/>
          </a:p>
        </p:txBody>
      </p:sp>
      <p:sp>
        <p:nvSpPr>
          <p:cNvPr id="28" name="TextBox 22">
            <a:extLst>
              <a:ext uri="{FF2B5EF4-FFF2-40B4-BE49-F238E27FC236}">
                <a16:creationId xmlns:a16="http://schemas.microsoft.com/office/drawing/2014/main" id="{D1EF2F0F-FA21-64C1-5A9F-2ADC73514284}"/>
              </a:ext>
            </a:extLst>
          </p:cNvPr>
          <p:cNvSpPr txBox="1"/>
          <p:nvPr/>
        </p:nvSpPr>
        <p:spPr>
          <a:xfrm>
            <a:off x="5216823" y="2907884"/>
            <a:ext cx="35745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800" dirty="0"/>
              <a:t>MCP1</a:t>
            </a:r>
            <a:endParaRPr lang="en-US" sz="800" dirty="0" err="1"/>
          </a:p>
        </p:txBody>
      </p:sp>
      <p:grpSp>
        <p:nvGrpSpPr>
          <p:cNvPr id="29" name="Group 17">
            <a:extLst>
              <a:ext uri="{FF2B5EF4-FFF2-40B4-BE49-F238E27FC236}">
                <a16:creationId xmlns:a16="http://schemas.microsoft.com/office/drawing/2014/main" id="{54C5F88A-3DE2-735A-67F5-D52E693EE8DD}"/>
              </a:ext>
            </a:extLst>
          </p:cNvPr>
          <p:cNvGrpSpPr/>
          <p:nvPr/>
        </p:nvGrpSpPr>
        <p:grpSpPr>
          <a:xfrm>
            <a:off x="4719446" y="3517780"/>
            <a:ext cx="2086985" cy="1112825"/>
            <a:chOff x="4173965" y="2721684"/>
            <a:chExt cx="2086985" cy="1112825"/>
          </a:xfrm>
        </p:grpSpPr>
        <p:sp>
          <p:nvSpPr>
            <p:cNvPr id="30" name="Rectangle: Rounded Corners 8">
              <a:extLst>
                <a:ext uri="{FF2B5EF4-FFF2-40B4-BE49-F238E27FC236}">
                  <a16:creationId xmlns:a16="http://schemas.microsoft.com/office/drawing/2014/main" id="{B70B88E9-903F-4BBC-51E0-51DCD6A5F78E}"/>
                </a:ext>
              </a:extLst>
            </p:cNvPr>
            <p:cNvSpPr/>
            <p:nvPr/>
          </p:nvSpPr>
          <p:spPr bwMode="auto">
            <a:xfrm>
              <a:off x="4173965" y="2721684"/>
              <a:ext cx="2086985" cy="111282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 err="1">
                <a:solidFill>
                  <a:schemeClr val="bg1"/>
                </a:solidFill>
                <a:cs typeface="Segoe UI" pitchFamily="34" charset="0"/>
              </a:endParaRPr>
            </a:p>
          </p:txBody>
        </p:sp>
        <p:sp>
          <p:nvSpPr>
            <p:cNvPr id="31" name="TextBox 13">
              <a:extLst>
                <a:ext uri="{FF2B5EF4-FFF2-40B4-BE49-F238E27FC236}">
                  <a16:creationId xmlns:a16="http://schemas.microsoft.com/office/drawing/2014/main" id="{62FD9A8E-BEA8-1273-1AFE-D806E9BE8157}"/>
                </a:ext>
              </a:extLst>
            </p:cNvPr>
            <p:cNvSpPr txBox="1"/>
            <p:nvPr/>
          </p:nvSpPr>
          <p:spPr>
            <a:xfrm>
              <a:off x="4309417" y="3116320"/>
              <a:ext cx="1873597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noProof="0" dirty="0"/>
                <a:t>Responsible for all tasks related to querying user bank movements like income and outcome payments.</a:t>
              </a:r>
            </a:p>
          </p:txBody>
        </p:sp>
      </p:grpSp>
      <p:sp>
        <p:nvSpPr>
          <p:cNvPr id="32" name="TextBox 12">
            <a:extLst>
              <a:ext uri="{FF2B5EF4-FFF2-40B4-BE49-F238E27FC236}">
                <a16:creationId xmlns:a16="http://schemas.microsoft.com/office/drawing/2014/main" id="{2C5DFDD1-7F2F-B762-1C96-FFBF3FA18D60}"/>
              </a:ext>
            </a:extLst>
          </p:cNvPr>
          <p:cNvSpPr txBox="1"/>
          <p:nvPr/>
        </p:nvSpPr>
        <p:spPr>
          <a:xfrm>
            <a:off x="4467220" y="4421467"/>
            <a:ext cx="122151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1000" b="1" dirty="0"/>
              <a:t>Tools</a:t>
            </a:r>
            <a:endParaRPr lang="en-US" sz="1000" b="1" dirty="0" err="1"/>
          </a:p>
        </p:txBody>
      </p:sp>
      <p:sp>
        <p:nvSpPr>
          <p:cNvPr id="33" name="TextBox 22">
            <a:extLst>
              <a:ext uri="{FF2B5EF4-FFF2-40B4-BE49-F238E27FC236}">
                <a16:creationId xmlns:a16="http://schemas.microsoft.com/office/drawing/2014/main" id="{088A63CC-645B-0241-1198-9C0A424374FE}"/>
              </a:ext>
            </a:extLst>
          </p:cNvPr>
          <p:cNvSpPr txBox="1"/>
          <p:nvPr/>
        </p:nvSpPr>
        <p:spPr>
          <a:xfrm>
            <a:off x="5265537" y="4434274"/>
            <a:ext cx="72615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800" dirty="0"/>
              <a:t>MCP1, MCP3</a:t>
            </a:r>
            <a:endParaRPr lang="en-US" sz="800" dirty="0" err="1"/>
          </a:p>
        </p:txBody>
      </p:sp>
      <p:grpSp>
        <p:nvGrpSpPr>
          <p:cNvPr id="34" name="Group 17">
            <a:extLst>
              <a:ext uri="{FF2B5EF4-FFF2-40B4-BE49-F238E27FC236}">
                <a16:creationId xmlns:a16="http://schemas.microsoft.com/office/drawing/2014/main" id="{0C105E0D-04C3-4DD7-DCC7-83FFC154D3A2}"/>
              </a:ext>
            </a:extLst>
          </p:cNvPr>
          <p:cNvGrpSpPr/>
          <p:nvPr/>
        </p:nvGrpSpPr>
        <p:grpSpPr>
          <a:xfrm>
            <a:off x="4719446" y="5127287"/>
            <a:ext cx="2086985" cy="1123587"/>
            <a:chOff x="4173965" y="2721684"/>
            <a:chExt cx="2086985" cy="1060780"/>
          </a:xfrm>
        </p:grpSpPr>
        <p:sp>
          <p:nvSpPr>
            <p:cNvPr id="35" name="Rectangle: Rounded Corners 8">
              <a:extLst>
                <a:ext uri="{FF2B5EF4-FFF2-40B4-BE49-F238E27FC236}">
                  <a16:creationId xmlns:a16="http://schemas.microsoft.com/office/drawing/2014/main" id="{5A4E0932-1106-615E-73AF-633AE3004F4A}"/>
                </a:ext>
              </a:extLst>
            </p:cNvPr>
            <p:cNvSpPr/>
            <p:nvPr/>
          </p:nvSpPr>
          <p:spPr bwMode="auto">
            <a:xfrm>
              <a:off x="4173965" y="2721684"/>
              <a:ext cx="2086985" cy="106078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 err="1">
                <a:solidFill>
                  <a:schemeClr val="bg1"/>
                </a:solidFill>
                <a:cs typeface="Segoe UI" pitchFamily="34" charset="0"/>
              </a:endParaRPr>
            </a:p>
          </p:txBody>
        </p:sp>
        <p:sp>
          <p:nvSpPr>
            <p:cNvPr id="36" name="TextBox 13">
              <a:extLst>
                <a:ext uri="{FF2B5EF4-FFF2-40B4-BE49-F238E27FC236}">
                  <a16:creationId xmlns:a16="http://schemas.microsoft.com/office/drawing/2014/main" id="{C194A24D-308A-5384-A85D-382121193DFF}"/>
                </a:ext>
              </a:extLst>
            </p:cNvPr>
            <p:cNvSpPr txBox="1"/>
            <p:nvPr/>
          </p:nvSpPr>
          <p:spPr>
            <a:xfrm>
              <a:off x="4309417" y="3088323"/>
              <a:ext cx="1873597" cy="23245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800" noProof="0" dirty="0"/>
                <a:t>Responsible for all tasks related to submit a payment.</a:t>
              </a:r>
            </a:p>
          </p:txBody>
        </p:sp>
      </p:grpSp>
      <p:sp>
        <p:nvSpPr>
          <p:cNvPr id="37" name="TextBox 12">
            <a:extLst>
              <a:ext uri="{FF2B5EF4-FFF2-40B4-BE49-F238E27FC236}">
                <a16:creationId xmlns:a16="http://schemas.microsoft.com/office/drawing/2014/main" id="{6BCC5455-36E6-7F36-1F8A-7E039309DE7D}"/>
              </a:ext>
            </a:extLst>
          </p:cNvPr>
          <p:cNvSpPr txBox="1"/>
          <p:nvPr/>
        </p:nvSpPr>
        <p:spPr>
          <a:xfrm>
            <a:off x="4455993" y="5899564"/>
            <a:ext cx="122151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1000" b="1" dirty="0"/>
              <a:t>Tools</a:t>
            </a:r>
            <a:endParaRPr lang="en-US" sz="1000" b="1" dirty="0" err="1"/>
          </a:p>
        </p:txBody>
      </p:sp>
      <p:sp>
        <p:nvSpPr>
          <p:cNvPr id="38" name="TextBox 22">
            <a:extLst>
              <a:ext uri="{FF2B5EF4-FFF2-40B4-BE49-F238E27FC236}">
                <a16:creationId xmlns:a16="http://schemas.microsoft.com/office/drawing/2014/main" id="{EB61D078-24AC-41BD-A41F-C5D97C86AEB4}"/>
              </a:ext>
            </a:extLst>
          </p:cNvPr>
          <p:cNvSpPr txBox="1"/>
          <p:nvPr/>
        </p:nvSpPr>
        <p:spPr>
          <a:xfrm>
            <a:off x="5301668" y="5904813"/>
            <a:ext cx="936799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it-IT" sz="800" dirty="0"/>
              <a:t>MCP1, MCP2, </a:t>
            </a:r>
          </a:p>
          <a:p>
            <a:r>
              <a:rPr lang="en-US" sz="800" noProof="0" dirty="0"/>
              <a:t>MCP3, ScanInvoice</a:t>
            </a:r>
          </a:p>
        </p:txBody>
      </p:sp>
      <p:grpSp>
        <p:nvGrpSpPr>
          <p:cNvPr id="39" name="Gruppo 31">
            <a:extLst>
              <a:ext uri="{FF2B5EF4-FFF2-40B4-BE49-F238E27FC236}">
                <a16:creationId xmlns:a16="http://schemas.microsoft.com/office/drawing/2014/main" id="{6ED620F6-ECC6-ABFC-1D43-6E5478D14CE6}"/>
              </a:ext>
            </a:extLst>
          </p:cNvPr>
          <p:cNvGrpSpPr/>
          <p:nvPr/>
        </p:nvGrpSpPr>
        <p:grpSpPr>
          <a:xfrm>
            <a:off x="8940679" y="1661087"/>
            <a:ext cx="1262936" cy="804100"/>
            <a:chOff x="9713967" y="1709273"/>
            <a:chExt cx="1262936" cy="804100"/>
          </a:xfrm>
        </p:grpSpPr>
        <p:sp>
          <p:nvSpPr>
            <p:cNvPr id="40" name="Esagono 32">
              <a:extLst>
                <a:ext uri="{FF2B5EF4-FFF2-40B4-BE49-F238E27FC236}">
                  <a16:creationId xmlns:a16="http://schemas.microsoft.com/office/drawing/2014/main" id="{C137CD07-4539-F84A-CA33-25CA55D671D7}"/>
                </a:ext>
              </a:extLst>
            </p:cNvPr>
            <p:cNvSpPr/>
            <p:nvPr/>
          </p:nvSpPr>
          <p:spPr bwMode="auto">
            <a:xfrm>
              <a:off x="9860907" y="1709273"/>
              <a:ext cx="919827" cy="804100"/>
            </a:xfrm>
            <a:prstGeom prst="hexagon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 err="1">
                <a:solidFill>
                  <a:schemeClr val="bg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41" name="Gruppo 33">
              <a:extLst>
                <a:ext uri="{FF2B5EF4-FFF2-40B4-BE49-F238E27FC236}">
                  <a16:creationId xmlns:a16="http://schemas.microsoft.com/office/drawing/2014/main" id="{CF4E2DCE-A7AC-B7C1-120E-CF95925C8037}"/>
                </a:ext>
              </a:extLst>
            </p:cNvPr>
            <p:cNvGrpSpPr/>
            <p:nvPr/>
          </p:nvGrpSpPr>
          <p:grpSpPr>
            <a:xfrm>
              <a:off x="9713967" y="1916379"/>
              <a:ext cx="1262936" cy="427264"/>
              <a:chOff x="1187326" y="4052722"/>
              <a:chExt cx="1262936" cy="427264"/>
            </a:xfrm>
          </p:grpSpPr>
          <p:sp>
            <p:nvSpPr>
              <p:cNvPr id="43" name="TextBox 12">
                <a:extLst>
                  <a:ext uri="{FF2B5EF4-FFF2-40B4-BE49-F238E27FC236}">
                    <a16:creationId xmlns:a16="http://schemas.microsoft.com/office/drawing/2014/main" id="{4A8A65D9-4165-6B60-C63E-D1EDF1EF52F0}"/>
                  </a:ext>
                </a:extLst>
              </p:cNvPr>
              <p:cNvSpPr txBox="1"/>
              <p:nvPr/>
            </p:nvSpPr>
            <p:spPr>
              <a:xfrm>
                <a:off x="1228749" y="4052722"/>
                <a:ext cx="122151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endParaRPr lang="en-US" sz="800" dirty="0" err="1"/>
              </a:p>
            </p:txBody>
          </p:sp>
          <p:sp>
            <p:nvSpPr>
              <p:cNvPr id="44" name="TextBox 12">
                <a:extLst>
                  <a:ext uri="{FF2B5EF4-FFF2-40B4-BE49-F238E27FC236}">
                    <a16:creationId xmlns:a16="http://schemas.microsoft.com/office/drawing/2014/main" id="{B2C5360A-A389-A0AD-BA32-61961D24853B}"/>
                  </a:ext>
                </a:extLst>
              </p:cNvPr>
              <p:cNvSpPr txBox="1"/>
              <p:nvPr/>
            </p:nvSpPr>
            <p:spPr>
              <a:xfrm>
                <a:off x="1187326" y="4172209"/>
                <a:ext cx="122151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it-IT" sz="1000" b="1" dirty="0"/>
                  <a:t>Account </a:t>
                </a:r>
              </a:p>
              <a:p>
                <a:pPr algn="ctr"/>
                <a:r>
                  <a:rPr lang="it-IT" sz="1000" b="1" dirty="0"/>
                  <a:t>Service</a:t>
                </a:r>
                <a:endParaRPr lang="en-US" sz="1000" b="1" dirty="0" err="1"/>
              </a:p>
            </p:txBody>
          </p:sp>
        </p:grpSp>
        <p:pic>
          <p:nvPicPr>
            <p:cNvPr id="42" name="Graphic 20">
              <a:extLst>
                <a:ext uri="{FF2B5EF4-FFF2-40B4-BE49-F238E27FC236}">
                  <a16:creationId xmlns:a16="http://schemas.microsoft.com/office/drawing/2014/main" id="{6D4E3125-642E-07E9-08F6-5FFAF053753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11369" y="1770747"/>
              <a:ext cx="218901" cy="218901"/>
            </a:xfrm>
            <a:prstGeom prst="rect">
              <a:avLst/>
            </a:prstGeom>
          </p:spPr>
        </p:pic>
      </p:grpSp>
      <p:grpSp>
        <p:nvGrpSpPr>
          <p:cNvPr id="45" name="Gruppo 37">
            <a:extLst>
              <a:ext uri="{FF2B5EF4-FFF2-40B4-BE49-F238E27FC236}">
                <a16:creationId xmlns:a16="http://schemas.microsoft.com/office/drawing/2014/main" id="{56BA865B-C247-A8DD-4880-01BBD87A54FB}"/>
              </a:ext>
            </a:extLst>
          </p:cNvPr>
          <p:cNvGrpSpPr/>
          <p:nvPr/>
        </p:nvGrpSpPr>
        <p:grpSpPr>
          <a:xfrm>
            <a:off x="8948096" y="2694309"/>
            <a:ext cx="1262936" cy="804100"/>
            <a:chOff x="9713967" y="1709273"/>
            <a:chExt cx="1262936" cy="804100"/>
          </a:xfrm>
        </p:grpSpPr>
        <p:sp>
          <p:nvSpPr>
            <p:cNvPr id="46" name="Esagono 38">
              <a:extLst>
                <a:ext uri="{FF2B5EF4-FFF2-40B4-BE49-F238E27FC236}">
                  <a16:creationId xmlns:a16="http://schemas.microsoft.com/office/drawing/2014/main" id="{ED91F7ED-2750-8E58-CFF2-A2C99362014E}"/>
                </a:ext>
              </a:extLst>
            </p:cNvPr>
            <p:cNvSpPr/>
            <p:nvPr/>
          </p:nvSpPr>
          <p:spPr bwMode="auto">
            <a:xfrm>
              <a:off x="9860907" y="1709273"/>
              <a:ext cx="919827" cy="804100"/>
            </a:xfrm>
            <a:prstGeom prst="hexagon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 err="1">
                <a:solidFill>
                  <a:schemeClr val="bg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47" name="Gruppo 39">
              <a:extLst>
                <a:ext uri="{FF2B5EF4-FFF2-40B4-BE49-F238E27FC236}">
                  <a16:creationId xmlns:a16="http://schemas.microsoft.com/office/drawing/2014/main" id="{25BCCAA7-26D5-1E52-64A6-231A9792706B}"/>
                </a:ext>
              </a:extLst>
            </p:cNvPr>
            <p:cNvGrpSpPr/>
            <p:nvPr/>
          </p:nvGrpSpPr>
          <p:grpSpPr>
            <a:xfrm>
              <a:off x="9713967" y="1916379"/>
              <a:ext cx="1262936" cy="427264"/>
              <a:chOff x="1187326" y="4052722"/>
              <a:chExt cx="1262936" cy="427264"/>
            </a:xfrm>
          </p:grpSpPr>
          <p:sp>
            <p:nvSpPr>
              <p:cNvPr id="49" name="TextBox 12">
                <a:extLst>
                  <a:ext uri="{FF2B5EF4-FFF2-40B4-BE49-F238E27FC236}">
                    <a16:creationId xmlns:a16="http://schemas.microsoft.com/office/drawing/2014/main" id="{4981C2B8-6EEC-5376-4F81-3921FDB5C090}"/>
                  </a:ext>
                </a:extLst>
              </p:cNvPr>
              <p:cNvSpPr txBox="1"/>
              <p:nvPr/>
            </p:nvSpPr>
            <p:spPr>
              <a:xfrm>
                <a:off x="1228749" y="4052722"/>
                <a:ext cx="122151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endParaRPr lang="en-US" sz="800" dirty="0" err="1"/>
              </a:p>
            </p:txBody>
          </p:sp>
          <p:sp>
            <p:nvSpPr>
              <p:cNvPr id="50" name="TextBox 12">
                <a:extLst>
                  <a:ext uri="{FF2B5EF4-FFF2-40B4-BE49-F238E27FC236}">
                    <a16:creationId xmlns:a16="http://schemas.microsoft.com/office/drawing/2014/main" id="{EF68DCB7-1120-B3C2-D3D4-50DF6510EE82}"/>
                  </a:ext>
                </a:extLst>
              </p:cNvPr>
              <p:cNvSpPr txBox="1"/>
              <p:nvPr/>
            </p:nvSpPr>
            <p:spPr>
              <a:xfrm>
                <a:off x="1187326" y="4172209"/>
                <a:ext cx="122151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it-IT" sz="1000" b="1" dirty="0"/>
                  <a:t>Payments</a:t>
                </a:r>
              </a:p>
              <a:p>
                <a:pPr algn="ctr"/>
                <a:r>
                  <a:rPr lang="it-IT" sz="1000" b="1" dirty="0"/>
                  <a:t>Service</a:t>
                </a:r>
                <a:endParaRPr lang="en-US" sz="1000" b="1" dirty="0" err="1"/>
              </a:p>
            </p:txBody>
          </p:sp>
        </p:grpSp>
        <p:pic>
          <p:nvPicPr>
            <p:cNvPr id="48" name="Graphic 20">
              <a:extLst>
                <a:ext uri="{FF2B5EF4-FFF2-40B4-BE49-F238E27FC236}">
                  <a16:creationId xmlns:a16="http://schemas.microsoft.com/office/drawing/2014/main" id="{243940AB-ABC6-5555-6297-D689FB80D5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11369" y="1770747"/>
              <a:ext cx="218901" cy="218901"/>
            </a:xfrm>
            <a:prstGeom prst="rect">
              <a:avLst/>
            </a:prstGeom>
          </p:spPr>
        </p:pic>
      </p:grpSp>
      <p:grpSp>
        <p:nvGrpSpPr>
          <p:cNvPr id="51" name="Gruppo 43">
            <a:extLst>
              <a:ext uri="{FF2B5EF4-FFF2-40B4-BE49-F238E27FC236}">
                <a16:creationId xmlns:a16="http://schemas.microsoft.com/office/drawing/2014/main" id="{8CD5DD3E-2C67-ABEC-94F6-CECCEC00E6C9}"/>
              </a:ext>
            </a:extLst>
          </p:cNvPr>
          <p:cNvGrpSpPr/>
          <p:nvPr/>
        </p:nvGrpSpPr>
        <p:grpSpPr>
          <a:xfrm>
            <a:off x="8940679" y="3708145"/>
            <a:ext cx="1262936" cy="804100"/>
            <a:chOff x="9713967" y="1709273"/>
            <a:chExt cx="1262936" cy="804100"/>
          </a:xfrm>
        </p:grpSpPr>
        <p:sp>
          <p:nvSpPr>
            <p:cNvPr id="52" name="Esagono 44">
              <a:extLst>
                <a:ext uri="{FF2B5EF4-FFF2-40B4-BE49-F238E27FC236}">
                  <a16:creationId xmlns:a16="http://schemas.microsoft.com/office/drawing/2014/main" id="{0BDF7BE2-7A8B-ABCA-633A-5D901979E6DD}"/>
                </a:ext>
              </a:extLst>
            </p:cNvPr>
            <p:cNvSpPr/>
            <p:nvPr/>
          </p:nvSpPr>
          <p:spPr bwMode="auto">
            <a:xfrm>
              <a:off x="9860907" y="1709273"/>
              <a:ext cx="919827" cy="804100"/>
            </a:xfrm>
            <a:prstGeom prst="hexagon">
              <a:avLst/>
            </a:prstGeom>
            <a:solidFill>
              <a:schemeClr val="bg1">
                <a:lumMod val="85000"/>
              </a:schemeClr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 err="1">
                <a:solidFill>
                  <a:schemeClr val="bg1"/>
                </a:solidFill>
                <a:ea typeface="Segoe UI" pitchFamily="34" charset="0"/>
                <a:cs typeface="Segoe UI" pitchFamily="34" charset="0"/>
              </a:endParaRPr>
            </a:p>
          </p:txBody>
        </p:sp>
        <p:grpSp>
          <p:nvGrpSpPr>
            <p:cNvPr id="53" name="Gruppo 45">
              <a:extLst>
                <a:ext uri="{FF2B5EF4-FFF2-40B4-BE49-F238E27FC236}">
                  <a16:creationId xmlns:a16="http://schemas.microsoft.com/office/drawing/2014/main" id="{54733A8B-2859-505E-7FEB-FDBE7DBE97C4}"/>
                </a:ext>
              </a:extLst>
            </p:cNvPr>
            <p:cNvGrpSpPr/>
            <p:nvPr/>
          </p:nvGrpSpPr>
          <p:grpSpPr>
            <a:xfrm>
              <a:off x="9713967" y="1916379"/>
              <a:ext cx="1262936" cy="427264"/>
              <a:chOff x="1187326" y="4052722"/>
              <a:chExt cx="1262936" cy="427264"/>
            </a:xfrm>
          </p:grpSpPr>
          <p:sp>
            <p:nvSpPr>
              <p:cNvPr id="55" name="TextBox 12">
                <a:extLst>
                  <a:ext uri="{FF2B5EF4-FFF2-40B4-BE49-F238E27FC236}">
                    <a16:creationId xmlns:a16="http://schemas.microsoft.com/office/drawing/2014/main" id="{EDC87D1C-D090-9F82-5C37-746B1E7385B0}"/>
                  </a:ext>
                </a:extLst>
              </p:cNvPr>
              <p:cNvSpPr txBox="1"/>
              <p:nvPr/>
            </p:nvSpPr>
            <p:spPr>
              <a:xfrm>
                <a:off x="1228749" y="4052722"/>
                <a:ext cx="1221513" cy="12311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endParaRPr lang="en-US" sz="800" dirty="0" err="1"/>
              </a:p>
            </p:txBody>
          </p:sp>
          <p:sp>
            <p:nvSpPr>
              <p:cNvPr id="56" name="TextBox 12">
                <a:extLst>
                  <a:ext uri="{FF2B5EF4-FFF2-40B4-BE49-F238E27FC236}">
                    <a16:creationId xmlns:a16="http://schemas.microsoft.com/office/drawing/2014/main" id="{3C409907-9877-FC38-32A0-01870C1E7AFE}"/>
                  </a:ext>
                </a:extLst>
              </p:cNvPr>
              <p:cNvSpPr txBox="1"/>
              <p:nvPr/>
            </p:nvSpPr>
            <p:spPr>
              <a:xfrm>
                <a:off x="1187326" y="4172209"/>
                <a:ext cx="1221513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it-IT" sz="1000" b="1" dirty="0"/>
                  <a:t>Reporting</a:t>
                </a:r>
              </a:p>
              <a:p>
                <a:pPr algn="ctr"/>
                <a:r>
                  <a:rPr lang="it-IT" sz="1000" b="1" dirty="0"/>
                  <a:t>Service</a:t>
                </a:r>
                <a:endParaRPr lang="en-US" sz="1000" b="1" dirty="0" err="1"/>
              </a:p>
            </p:txBody>
          </p:sp>
        </p:grpSp>
        <p:pic>
          <p:nvPicPr>
            <p:cNvPr id="54" name="Graphic 20">
              <a:extLst>
                <a:ext uri="{FF2B5EF4-FFF2-40B4-BE49-F238E27FC236}">
                  <a16:creationId xmlns:a16="http://schemas.microsoft.com/office/drawing/2014/main" id="{C15821E9-72B1-EB1E-59BE-CCFDE6F50D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11369" y="1770747"/>
              <a:ext cx="218901" cy="218901"/>
            </a:xfrm>
            <a:prstGeom prst="rect">
              <a:avLst/>
            </a:prstGeom>
          </p:spPr>
        </p:pic>
      </p:grpSp>
      <p:sp>
        <p:nvSpPr>
          <p:cNvPr id="57" name="CasellaDiTesto 49">
            <a:extLst>
              <a:ext uri="{FF2B5EF4-FFF2-40B4-BE49-F238E27FC236}">
                <a16:creationId xmlns:a16="http://schemas.microsoft.com/office/drawing/2014/main" id="{38A37ADC-6EFA-F87A-ECE5-03924B1C374A}"/>
              </a:ext>
            </a:extLst>
          </p:cNvPr>
          <p:cNvSpPr txBox="1"/>
          <p:nvPr/>
        </p:nvSpPr>
        <p:spPr>
          <a:xfrm>
            <a:off x="10130311" y="1776385"/>
            <a:ext cx="185549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i="1" noProof="0" dirty="0"/>
              <a:t>getAccountByUsername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i="1" noProof="0" dirty="0"/>
              <a:t>getAccountDetails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i="1" noProof="0" dirty="0"/>
              <a:t>getPaymentMethods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i="1" noProof="0" dirty="0" err="1"/>
              <a:t>getCreditCards</a:t>
            </a:r>
            <a:endParaRPr lang="en-US" sz="1000" i="1" noProof="0" dirty="0"/>
          </a:p>
        </p:txBody>
      </p:sp>
      <p:sp>
        <p:nvSpPr>
          <p:cNvPr id="58" name="CasellaDiTesto 50">
            <a:extLst>
              <a:ext uri="{FF2B5EF4-FFF2-40B4-BE49-F238E27FC236}">
                <a16:creationId xmlns:a16="http://schemas.microsoft.com/office/drawing/2014/main" id="{EEAC7D2B-C817-D891-533D-3EFDE0DAECF0}"/>
              </a:ext>
            </a:extLst>
          </p:cNvPr>
          <p:cNvSpPr txBox="1"/>
          <p:nvPr/>
        </p:nvSpPr>
        <p:spPr>
          <a:xfrm>
            <a:off x="10078830" y="3964242"/>
            <a:ext cx="1855496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i="1" noProof="0" dirty="0"/>
              <a:t>notifyTransaction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i="1" noProof="0" dirty="0"/>
              <a:t>searchTransactions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i="1" noProof="0" dirty="0"/>
              <a:t>getTransactionByRecipient</a:t>
            </a:r>
          </a:p>
        </p:txBody>
      </p:sp>
      <p:sp>
        <p:nvSpPr>
          <p:cNvPr id="59" name="CasellaDiTesto 51">
            <a:extLst>
              <a:ext uri="{FF2B5EF4-FFF2-40B4-BE49-F238E27FC236}">
                <a16:creationId xmlns:a16="http://schemas.microsoft.com/office/drawing/2014/main" id="{C2A772E9-3E73-2BBD-8834-5BD63AC4AA81}"/>
              </a:ext>
            </a:extLst>
          </p:cNvPr>
          <p:cNvSpPr txBox="1"/>
          <p:nvPr/>
        </p:nvSpPr>
        <p:spPr>
          <a:xfrm>
            <a:off x="10130311" y="2896673"/>
            <a:ext cx="185549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000" i="1" noProof="0" dirty="0"/>
              <a:t>submitPayment</a:t>
            </a:r>
          </a:p>
        </p:txBody>
      </p:sp>
      <p:grpSp>
        <p:nvGrpSpPr>
          <p:cNvPr id="60" name="Gruppo 52">
            <a:extLst>
              <a:ext uri="{FF2B5EF4-FFF2-40B4-BE49-F238E27FC236}">
                <a16:creationId xmlns:a16="http://schemas.microsoft.com/office/drawing/2014/main" id="{3C7E9D05-EB2C-E547-CD81-A4219EC2F0F3}"/>
              </a:ext>
            </a:extLst>
          </p:cNvPr>
          <p:cNvGrpSpPr/>
          <p:nvPr/>
        </p:nvGrpSpPr>
        <p:grpSpPr>
          <a:xfrm>
            <a:off x="8565825" y="1953836"/>
            <a:ext cx="528470" cy="184604"/>
            <a:chOff x="8707408" y="2128216"/>
            <a:chExt cx="528470" cy="184604"/>
          </a:xfrm>
        </p:grpSpPr>
        <p:grpSp>
          <p:nvGrpSpPr>
            <p:cNvPr id="61" name="Gruppo 53">
              <a:extLst>
                <a:ext uri="{FF2B5EF4-FFF2-40B4-BE49-F238E27FC236}">
                  <a16:creationId xmlns:a16="http://schemas.microsoft.com/office/drawing/2014/main" id="{B638D5B5-E512-3F0B-EFCF-C49494299569}"/>
                </a:ext>
              </a:extLst>
            </p:cNvPr>
            <p:cNvGrpSpPr/>
            <p:nvPr/>
          </p:nvGrpSpPr>
          <p:grpSpPr>
            <a:xfrm>
              <a:off x="8707408" y="2128216"/>
              <a:ext cx="528470" cy="184604"/>
              <a:chOff x="8842096" y="2074215"/>
              <a:chExt cx="528470" cy="184604"/>
            </a:xfrm>
          </p:grpSpPr>
          <p:cxnSp>
            <p:nvCxnSpPr>
              <p:cNvPr id="63" name="Connettore diritto 55">
                <a:extLst>
                  <a:ext uri="{FF2B5EF4-FFF2-40B4-BE49-F238E27FC236}">
                    <a16:creationId xmlns:a16="http://schemas.microsoft.com/office/drawing/2014/main" id="{2AE8F5D2-3D4A-DBA7-2C56-DD78DF3108E8}"/>
                  </a:ext>
                </a:extLst>
              </p:cNvPr>
              <p:cNvCxnSpPr/>
              <p:nvPr/>
            </p:nvCxnSpPr>
            <p:spPr>
              <a:xfrm flipH="1">
                <a:off x="9026700" y="2180311"/>
                <a:ext cx="343866" cy="0"/>
              </a:xfrm>
              <a:prstGeom prst="line">
                <a:avLst/>
              </a:prstGeom>
              <a:ln>
                <a:solidFill>
                  <a:schemeClr val="accent3">
                    <a:lumMod val="50000"/>
                  </a:schemeClr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Connettore 56">
                <a:extLst>
                  <a:ext uri="{FF2B5EF4-FFF2-40B4-BE49-F238E27FC236}">
                    <a16:creationId xmlns:a16="http://schemas.microsoft.com/office/drawing/2014/main" id="{E984A32C-AED0-BBD0-7261-C30951513414}"/>
                  </a:ext>
                </a:extLst>
              </p:cNvPr>
              <p:cNvSpPr/>
              <p:nvPr/>
            </p:nvSpPr>
            <p:spPr bwMode="auto">
              <a:xfrm>
                <a:off x="8842096" y="2074215"/>
                <a:ext cx="184604" cy="184604"/>
              </a:xfrm>
              <a:prstGeom prst="flowChartConnector">
                <a:avLst/>
              </a:prstGeom>
              <a:solidFill>
                <a:srgbClr val="0C283A"/>
              </a:solidFill>
              <a:ln>
                <a:solidFill>
                  <a:schemeClr val="accent3">
                    <a:lumMod val="50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it-IT" sz="2000" dirty="0">
                    <a:solidFill>
                      <a:schemeClr val="bg1"/>
                    </a:solidFill>
                    <a:ea typeface="Segoe UI" pitchFamily="34" charset="0"/>
                    <a:cs typeface="Segoe UI" pitchFamily="34" charset="0"/>
                  </a:rPr>
                  <a:t>1</a:t>
                </a:r>
                <a:endParaRPr lang="en-US" sz="2000" dirty="0" err="1">
                  <a:solidFill>
                    <a:schemeClr val="bg1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62" name="CasellaDiTesto 54">
              <a:extLst>
                <a:ext uri="{FF2B5EF4-FFF2-40B4-BE49-F238E27FC236}">
                  <a16:creationId xmlns:a16="http://schemas.microsoft.com/office/drawing/2014/main" id="{89602B52-6972-F14F-DC90-E5B826893140}"/>
                </a:ext>
              </a:extLst>
            </p:cNvPr>
            <p:cNvSpPr txBox="1"/>
            <p:nvPr/>
          </p:nvSpPr>
          <p:spPr>
            <a:xfrm>
              <a:off x="8758342" y="2139643"/>
              <a:ext cx="89989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it-IT" sz="1100" dirty="0">
                  <a:solidFill>
                    <a:schemeClr val="bg1"/>
                  </a:solidFill>
                </a:rPr>
                <a:t>1</a:t>
              </a:r>
              <a:endParaRPr lang="en-US" sz="1100" dirty="0" err="1">
                <a:solidFill>
                  <a:schemeClr val="bg1"/>
                </a:solidFill>
              </a:endParaRPr>
            </a:p>
          </p:txBody>
        </p:sp>
      </p:grpSp>
      <p:grpSp>
        <p:nvGrpSpPr>
          <p:cNvPr id="65" name="Gruppo 57">
            <a:extLst>
              <a:ext uri="{FF2B5EF4-FFF2-40B4-BE49-F238E27FC236}">
                <a16:creationId xmlns:a16="http://schemas.microsoft.com/office/drawing/2014/main" id="{9DE291B4-D17B-AD42-933B-43387C2A8292}"/>
              </a:ext>
            </a:extLst>
          </p:cNvPr>
          <p:cNvGrpSpPr/>
          <p:nvPr/>
        </p:nvGrpSpPr>
        <p:grpSpPr>
          <a:xfrm>
            <a:off x="8566566" y="2986253"/>
            <a:ext cx="528470" cy="184604"/>
            <a:chOff x="8707408" y="2128216"/>
            <a:chExt cx="528470" cy="184604"/>
          </a:xfrm>
        </p:grpSpPr>
        <p:grpSp>
          <p:nvGrpSpPr>
            <p:cNvPr id="66" name="Gruppo 58">
              <a:extLst>
                <a:ext uri="{FF2B5EF4-FFF2-40B4-BE49-F238E27FC236}">
                  <a16:creationId xmlns:a16="http://schemas.microsoft.com/office/drawing/2014/main" id="{9B1DD17D-A0D6-098D-E7EA-FF86C17E6F14}"/>
                </a:ext>
              </a:extLst>
            </p:cNvPr>
            <p:cNvGrpSpPr/>
            <p:nvPr/>
          </p:nvGrpSpPr>
          <p:grpSpPr>
            <a:xfrm>
              <a:off x="8707408" y="2128216"/>
              <a:ext cx="528470" cy="184604"/>
              <a:chOff x="8842096" y="2074215"/>
              <a:chExt cx="528470" cy="184604"/>
            </a:xfrm>
          </p:grpSpPr>
          <p:cxnSp>
            <p:nvCxnSpPr>
              <p:cNvPr id="68" name="Connettore diritto 60">
                <a:extLst>
                  <a:ext uri="{FF2B5EF4-FFF2-40B4-BE49-F238E27FC236}">
                    <a16:creationId xmlns:a16="http://schemas.microsoft.com/office/drawing/2014/main" id="{21F2301E-90B9-DCCE-4816-1979C95DE1F6}"/>
                  </a:ext>
                </a:extLst>
              </p:cNvPr>
              <p:cNvCxnSpPr/>
              <p:nvPr/>
            </p:nvCxnSpPr>
            <p:spPr>
              <a:xfrm flipH="1">
                <a:off x="9026700" y="2180311"/>
                <a:ext cx="343866" cy="0"/>
              </a:xfrm>
              <a:prstGeom prst="line">
                <a:avLst/>
              </a:prstGeom>
              <a:ln>
                <a:solidFill>
                  <a:schemeClr val="accent3">
                    <a:lumMod val="50000"/>
                  </a:schemeClr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9" name="Connettore 61">
                <a:extLst>
                  <a:ext uri="{FF2B5EF4-FFF2-40B4-BE49-F238E27FC236}">
                    <a16:creationId xmlns:a16="http://schemas.microsoft.com/office/drawing/2014/main" id="{87482E17-78A4-7A20-FCD6-8BB7BCCF1AD0}"/>
                  </a:ext>
                </a:extLst>
              </p:cNvPr>
              <p:cNvSpPr/>
              <p:nvPr/>
            </p:nvSpPr>
            <p:spPr bwMode="auto">
              <a:xfrm>
                <a:off x="8842096" y="2074215"/>
                <a:ext cx="184604" cy="184604"/>
              </a:xfrm>
              <a:prstGeom prst="flowChartConnector">
                <a:avLst/>
              </a:prstGeom>
              <a:solidFill>
                <a:srgbClr val="0C283A"/>
              </a:solidFill>
              <a:ln>
                <a:solidFill>
                  <a:schemeClr val="accent3">
                    <a:lumMod val="50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it-IT" sz="2000" dirty="0">
                    <a:solidFill>
                      <a:schemeClr val="bg1"/>
                    </a:solidFill>
                    <a:ea typeface="Segoe UI" pitchFamily="34" charset="0"/>
                    <a:cs typeface="Segoe UI" pitchFamily="34" charset="0"/>
                  </a:rPr>
                  <a:t>1</a:t>
                </a:r>
                <a:endParaRPr lang="en-US" sz="2000" dirty="0" err="1">
                  <a:solidFill>
                    <a:schemeClr val="bg1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67" name="CasellaDiTesto 59">
              <a:extLst>
                <a:ext uri="{FF2B5EF4-FFF2-40B4-BE49-F238E27FC236}">
                  <a16:creationId xmlns:a16="http://schemas.microsoft.com/office/drawing/2014/main" id="{814B2A3A-D296-3160-48A7-B82FE0E99EDA}"/>
                </a:ext>
              </a:extLst>
            </p:cNvPr>
            <p:cNvSpPr txBox="1"/>
            <p:nvPr/>
          </p:nvSpPr>
          <p:spPr>
            <a:xfrm>
              <a:off x="8766584" y="2135764"/>
              <a:ext cx="89989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it-IT" sz="1100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70" name="Gruppo 62">
            <a:extLst>
              <a:ext uri="{FF2B5EF4-FFF2-40B4-BE49-F238E27FC236}">
                <a16:creationId xmlns:a16="http://schemas.microsoft.com/office/drawing/2014/main" id="{DE75A010-8FD7-E493-CA70-7D1682E879CD}"/>
              </a:ext>
            </a:extLst>
          </p:cNvPr>
          <p:cNvGrpSpPr/>
          <p:nvPr/>
        </p:nvGrpSpPr>
        <p:grpSpPr>
          <a:xfrm>
            <a:off x="8567391" y="4005834"/>
            <a:ext cx="528470" cy="184604"/>
            <a:chOff x="8707408" y="2128216"/>
            <a:chExt cx="528470" cy="184604"/>
          </a:xfrm>
        </p:grpSpPr>
        <p:grpSp>
          <p:nvGrpSpPr>
            <p:cNvPr id="71" name="Gruppo 63">
              <a:extLst>
                <a:ext uri="{FF2B5EF4-FFF2-40B4-BE49-F238E27FC236}">
                  <a16:creationId xmlns:a16="http://schemas.microsoft.com/office/drawing/2014/main" id="{A4638D3B-8D94-F5CC-EB4B-4128317A0DBE}"/>
                </a:ext>
              </a:extLst>
            </p:cNvPr>
            <p:cNvGrpSpPr/>
            <p:nvPr/>
          </p:nvGrpSpPr>
          <p:grpSpPr>
            <a:xfrm>
              <a:off x="8707408" y="2128216"/>
              <a:ext cx="528470" cy="184604"/>
              <a:chOff x="8842096" y="2074215"/>
              <a:chExt cx="528470" cy="184604"/>
            </a:xfrm>
          </p:grpSpPr>
          <p:cxnSp>
            <p:nvCxnSpPr>
              <p:cNvPr id="73" name="Connettore diritto 65">
                <a:extLst>
                  <a:ext uri="{FF2B5EF4-FFF2-40B4-BE49-F238E27FC236}">
                    <a16:creationId xmlns:a16="http://schemas.microsoft.com/office/drawing/2014/main" id="{D966CB11-9D8D-5E5A-886C-E432617755A3}"/>
                  </a:ext>
                </a:extLst>
              </p:cNvPr>
              <p:cNvCxnSpPr/>
              <p:nvPr/>
            </p:nvCxnSpPr>
            <p:spPr>
              <a:xfrm flipH="1">
                <a:off x="9026700" y="2180311"/>
                <a:ext cx="343866" cy="0"/>
              </a:xfrm>
              <a:prstGeom prst="line">
                <a:avLst/>
              </a:prstGeom>
              <a:ln>
                <a:solidFill>
                  <a:schemeClr val="accent3">
                    <a:lumMod val="50000"/>
                  </a:schemeClr>
                </a:solidFill>
                <a:headEnd type="none" w="lg" len="med"/>
                <a:tailEnd type="none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Connettore 66">
                <a:extLst>
                  <a:ext uri="{FF2B5EF4-FFF2-40B4-BE49-F238E27FC236}">
                    <a16:creationId xmlns:a16="http://schemas.microsoft.com/office/drawing/2014/main" id="{87FC4053-C46B-AB8D-CD8D-CEF811773B1F}"/>
                  </a:ext>
                </a:extLst>
              </p:cNvPr>
              <p:cNvSpPr/>
              <p:nvPr/>
            </p:nvSpPr>
            <p:spPr bwMode="auto">
              <a:xfrm>
                <a:off x="8842096" y="2074215"/>
                <a:ext cx="184604" cy="184604"/>
              </a:xfrm>
              <a:prstGeom prst="flowChartConnector">
                <a:avLst/>
              </a:prstGeom>
              <a:solidFill>
                <a:srgbClr val="0C283A"/>
              </a:solidFill>
              <a:ln>
                <a:solidFill>
                  <a:schemeClr val="accent3">
                    <a:lumMod val="50000"/>
                  </a:schemeClr>
                </a:solidFill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it-IT" sz="2000" dirty="0">
                    <a:solidFill>
                      <a:schemeClr val="bg1"/>
                    </a:solidFill>
                    <a:ea typeface="Segoe UI" pitchFamily="34" charset="0"/>
                    <a:cs typeface="Segoe UI" pitchFamily="34" charset="0"/>
                  </a:rPr>
                  <a:t>1</a:t>
                </a:r>
                <a:endParaRPr lang="en-US" sz="2000" dirty="0" err="1">
                  <a:solidFill>
                    <a:schemeClr val="bg1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</p:grpSp>
        <p:sp>
          <p:nvSpPr>
            <p:cNvPr id="72" name="CasellaDiTesto 64">
              <a:extLst>
                <a:ext uri="{FF2B5EF4-FFF2-40B4-BE49-F238E27FC236}">
                  <a16:creationId xmlns:a16="http://schemas.microsoft.com/office/drawing/2014/main" id="{F24588E0-5223-A30C-E129-0D77B0F39515}"/>
                </a:ext>
              </a:extLst>
            </p:cNvPr>
            <p:cNvSpPr txBox="1"/>
            <p:nvPr/>
          </p:nvSpPr>
          <p:spPr>
            <a:xfrm>
              <a:off x="8758342" y="2128216"/>
              <a:ext cx="89989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it-IT" sz="1100" dirty="0">
                  <a:solidFill>
                    <a:schemeClr val="bg1"/>
                  </a:solidFill>
                </a:rPr>
                <a:t>3</a:t>
              </a:r>
              <a:endParaRPr lang="en-US" sz="1100" dirty="0" err="1">
                <a:solidFill>
                  <a:schemeClr val="bg1"/>
                </a:solidFill>
              </a:endParaRPr>
            </a:p>
          </p:txBody>
        </p:sp>
      </p:grpSp>
      <p:cxnSp>
        <p:nvCxnSpPr>
          <p:cNvPr id="75" name="Connettore 2 67">
            <a:extLst>
              <a:ext uri="{FF2B5EF4-FFF2-40B4-BE49-F238E27FC236}">
                <a16:creationId xmlns:a16="http://schemas.microsoft.com/office/drawing/2014/main" id="{F3FA9F9E-4FE0-6EE4-6614-BC98C4018A38}"/>
              </a:ext>
            </a:extLst>
          </p:cNvPr>
          <p:cNvCxnSpPr>
            <a:cxnSpLocks/>
            <a:stCxn id="16" idx="3"/>
            <a:endCxn id="25" idx="1"/>
          </p:cNvCxnSpPr>
          <p:nvPr/>
        </p:nvCxnSpPr>
        <p:spPr>
          <a:xfrm flipV="1">
            <a:off x="3179323" y="2589831"/>
            <a:ext cx="1540123" cy="1460187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CasellaDiTesto 68">
            <a:extLst>
              <a:ext uri="{FF2B5EF4-FFF2-40B4-BE49-F238E27FC236}">
                <a16:creationId xmlns:a16="http://schemas.microsoft.com/office/drawing/2014/main" id="{6F9BAA7E-2E6D-DB85-8DDA-A9BBE4380C62}"/>
              </a:ext>
            </a:extLst>
          </p:cNvPr>
          <p:cNvSpPr txBox="1"/>
          <p:nvPr/>
        </p:nvSpPr>
        <p:spPr>
          <a:xfrm rot="18922439">
            <a:off x="3513002" y="3232668"/>
            <a:ext cx="12579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it-IT" sz="1000" dirty="0"/>
              <a:t>Hand-off to Account</a:t>
            </a:r>
            <a:endParaRPr lang="en-US" sz="1000" dirty="0" err="1"/>
          </a:p>
        </p:txBody>
      </p:sp>
      <p:cxnSp>
        <p:nvCxnSpPr>
          <p:cNvPr id="77" name="Connettore 2 69">
            <a:extLst>
              <a:ext uri="{FF2B5EF4-FFF2-40B4-BE49-F238E27FC236}">
                <a16:creationId xmlns:a16="http://schemas.microsoft.com/office/drawing/2014/main" id="{2C68840E-AF16-6D63-BCA0-EFAA46A22CDB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3179323" y="4029393"/>
            <a:ext cx="1461837" cy="20625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CasellaDiTesto 70">
            <a:extLst>
              <a:ext uri="{FF2B5EF4-FFF2-40B4-BE49-F238E27FC236}">
                <a16:creationId xmlns:a16="http://schemas.microsoft.com/office/drawing/2014/main" id="{AA13C49C-0004-734C-3916-7C356746CF4F}"/>
              </a:ext>
            </a:extLst>
          </p:cNvPr>
          <p:cNvSpPr txBox="1"/>
          <p:nvPr/>
        </p:nvSpPr>
        <p:spPr>
          <a:xfrm>
            <a:off x="3441613" y="4096037"/>
            <a:ext cx="134628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it-IT" sz="1000" dirty="0"/>
              <a:t>Hand-off to </a:t>
            </a:r>
            <a:r>
              <a:rPr lang="en-US" sz="1000" noProof="0" dirty="0"/>
              <a:t>Transaction</a:t>
            </a:r>
            <a:endParaRPr lang="en-US" sz="1000" dirty="0" err="1"/>
          </a:p>
        </p:txBody>
      </p:sp>
      <p:cxnSp>
        <p:nvCxnSpPr>
          <p:cNvPr id="79" name="Connettore 2 71">
            <a:extLst>
              <a:ext uri="{FF2B5EF4-FFF2-40B4-BE49-F238E27FC236}">
                <a16:creationId xmlns:a16="http://schemas.microsoft.com/office/drawing/2014/main" id="{46329089-67DA-73CF-29CA-503BA8BBD117}"/>
              </a:ext>
            </a:extLst>
          </p:cNvPr>
          <p:cNvCxnSpPr>
            <a:cxnSpLocks/>
            <a:stCxn id="16" idx="3"/>
            <a:endCxn id="35" idx="1"/>
          </p:cNvCxnSpPr>
          <p:nvPr/>
        </p:nvCxnSpPr>
        <p:spPr>
          <a:xfrm>
            <a:off x="3179323" y="4050018"/>
            <a:ext cx="1540123" cy="1639063"/>
          </a:xfrm>
          <a:prstGeom prst="straightConnector1">
            <a:avLst/>
          </a:prstGeom>
          <a:ln>
            <a:solidFill>
              <a:schemeClr val="tx1"/>
            </a:solidFill>
            <a:headEnd type="none" w="lg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asellaDiTesto 72">
            <a:extLst>
              <a:ext uri="{FF2B5EF4-FFF2-40B4-BE49-F238E27FC236}">
                <a16:creationId xmlns:a16="http://schemas.microsoft.com/office/drawing/2014/main" id="{A585A364-428A-3FF9-51F4-7EBCA31547EF}"/>
              </a:ext>
            </a:extLst>
          </p:cNvPr>
          <p:cNvSpPr txBox="1"/>
          <p:nvPr/>
        </p:nvSpPr>
        <p:spPr>
          <a:xfrm rot="2884117">
            <a:off x="3127985" y="5114610"/>
            <a:ext cx="17945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it-IT" sz="1000" dirty="0"/>
              <a:t>Hand-off to Payment</a:t>
            </a:r>
            <a:endParaRPr lang="en-US" sz="1000" dirty="0" err="1"/>
          </a:p>
        </p:txBody>
      </p:sp>
      <p:sp>
        <p:nvSpPr>
          <p:cNvPr id="92" name="Rectangle 14">
            <a:extLst>
              <a:ext uri="{FF2B5EF4-FFF2-40B4-BE49-F238E27FC236}">
                <a16:creationId xmlns:a16="http://schemas.microsoft.com/office/drawing/2014/main" id="{897E1210-ED90-4386-8212-7857E57BB543}"/>
              </a:ext>
            </a:extLst>
          </p:cNvPr>
          <p:cNvSpPr/>
          <p:nvPr/>
        </p:nvSpPr>
        <p:spPr bwMode="auto">
          <a:xfrm>
            <a:off x="8370684" y="4919468"/>
            <a:ext cx="3437206" cy="1594277"/>
          </a:xfrm>
          <a:prstGeom prst="rect">
            <a:avLst/>
          </a:prstGeom>
          <a:noFill/>
          <a:ln>
            <a:solidFill>
              <a:srgbClr val="D9D9D6"/>
            </a:solidFill>
            <a:prstDash val="sysDash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93" name="TextBox 15">
            <a:extLst>
              <a:ext uri="{FF2B5EF4-FFF2-40B4-BE49-F238E27FC236}">
                <a16:creationId xmlns:a16="http://schemas.microsoft.com/office/drawing/2014/main" id="{3CEA8F63-45EB-A02F-43C6-9B68FBFAE98A}"/>
              </a:ext>
            </a:extLst>
          </p:cNvPr>
          <p:cNvSpPr txBox="1"/>
          <p:nvPr/>
        </p:nvSpPr>
        <p:spPr>
          <a:xfrm>
            <a:off x="9425452" y="4972893"/>
            <a:ext cx="157116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2F807D"/>
                </a:solidFill>
              </a:rPr>
              <a:t>Microsoft Foundry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4" name="TextBox 1026">
            <a:extLst>
              <a:ext uri="{FF2B5EF4-FFF2-40B4-BE49-F238E27FC236}">
                <a16:creationId xmlns:a16="http://schemas.microsoft.com/office/drawing/2014/main" id="{EE6D34C1-46D7-B91F-7F75-6235BFC934FE}"/>
              </a:ext>
            </a:extLst>
          </p:cNvPr>
          <p:cNvSpPr txBox="1"/>
          <p:nvPr/>
        </p:nvSpPr>
        <p:spPr>
          <a:xfrm>
            <a:off x="8601916" y="5818781"/>
            <a:ext cx="109167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800" dirty="0"/>
              <a:t>GPT and embeddings models</a:t>
            </a:r>
            <a:endParaRPr lang="en-US" sz="800" dirty="0" err="1"/>
          </a:p>
        </p:txBody>
      </p:sp>
      <p:sp>
        <p:nvSpPr>
          <p:cNvPr id="95" name="Rectangle: Rounded Corners 40">
            <a:extLst>
              <a:ext uri="{FF2B5EF4-FFF2-40B4-BE49-F238E27FC236}">
                <a16:creationId xmlns:a16="http://schemas.microsoft.com/office/drawing/2014/main" id="{3CC0AD25-87AA-32FA-0D1E-8436B170A17A}"/>
              </a:ext>
            </a:extLst>
          </p:cNvPr>
          <p:cNvSpPr/>
          <p:nvPr/>
        </p:nvSpPr>
        <p:spPr bwMode="auto">
          <a:xfrm>
            <a:off x="8543210" y="5253081"/>
            <a:ext cx="1245426" cy="1092041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chemeClr val="bg1"/>
              </a:solidFill>
              <a:cs typeface="Segoe UI" pitchFamily="34" charset="0"/>
            </a:endParaRPr>
          </a:p>
        </p:txBody>
      </p:sp>
      <p:sp>
        <p:nvSpPr>
          <p:cNvPr id="96" name="TextBox 42">
            <a:extLst>
              <a:ext uri="{FF2B5EF4-FFF2-40B4-BE49-F238E27FC236}">
                <a16:creationId xmlns:a16="http://schemas.microsoft.com/office/drawing/2014/main" id="{53FCE08F-BD4D-B9E0-CB6A-0EF3CC08653E}"/>
              </a:ext>
            </a:extLst>
          </p:cNvPr>
          <p:cNvSpPr txBox="1"/>
          <p:nvPr/>
        </p:nvSpPr>
        <p:spPr>
          <a:xfrm>
            <a:off x="8252423" y="5624238"/>
            <a:ext cx="1858541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1000" b="1" dirty="0"/>
              <a:t>Azure Open AI</a:t>
            </a:r>
            <a:endParaRPr lang="en-US" sz="1000" b="1" dirty="0" err="1"/>
          </a:p>
        </p:txBody>
      </p:sp>
      <p:pic>
        <p:nvPicPr>
          <p:cNvPr id="97" name="Graphic 1082">
            <a:extLst>
              <a:ext uri="{FF2B5EF4-FFF2-40B4-BE49-F238E27FC236}">
                <a16:creationId xmlns:a16="http://schemas.microsoft.com/office/drawing/2014/main" id="{89D81BF1-B51A-A77E-9E48-6DED98D650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91516" y="5263903"/>
            <a:ext cx="354838" cy="354838"/>
          </a:xfrm>
          <a:prstGeom prst="rect">
            <a:avLst/>
          </a:prstGeom>
        </p:spPr>
      </p:pic>
      <p:sp>
        <p:nvSpPr>
          <p:cNvPr id="98" name="TextBox 43">
            <a:extLst>
              <a:ext uri="{FF2B5EF4-FFF2-40B4-BE49-F238E27FC236}">
                <a16:creationId xmlns:a16="http://schemas.microsoft.com/office/drawing/2014/main" id="{61C5B3DF-582C-8C94-402E-80CF2BD4635B}"/>
              </a:ext>
            </a:extLst>
          </p:cNvPr>
          <p:cNvSpPr txBox="1"/>
          <p:nvPr/>
        </p:nvSpPr>
        <p:spPr>
          <a:xfrm>
            <a:off x="8653889" y="5807151"/>
            <a:ext cx="988609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800" dirty="0"/>
              <a:t>GPT models</a:t>
            </a:r>
            <a:endParaRPr lang="en-US" sz="800" dirty="0" err="1"/>
          </a:p>
        </p:txBody>
      </p:sp>
      <p:grpSp>
        <p:nvGrpSpPr>
          <p:cNvPr id="99" name="Group 83">
            <a:extLst>
              <a:ext uri="{FF2B5EF4-FFF2-40B4-BE49-F238E27FC236}">
                <a16:creationId xmlns:a16="http://schemas.microsoft.com/office/drawing/2014/main" id="{74793B5A-642E-3136-085D-7F826CBF6DDC}"/>
              </a:ext>
            </a:extLst>
          </p:cNvPr>
          <p:cNvGrpSpPr/>
          <p:nvPr/>
        </p:nvGrpSpPr>
        <p:grpSpPr>
          <a:xfrm>
            <a:off x="10236942" y="5232298"/>
            <a:ext cx="1317883" cy="1112825"/>
            <a:chOff x="6653313" y="5596174"/>
            <a:chExt cx="1858541" cy="1112825"/>
          </a:xfrm>
        </p:grpSpPr>
        <p:grpSp>
          <p:nvGrpSpPr>
            <p:cNvPr id="100" name="Group 77">
              <a:extLst>
                <a:ext uri="{FF2B5EF4-FFF2-40B4-BE49-F238E27FC236}">
                  <a16:creationId xmlns:a16="http://schemas.microsoft.com/office/drawing/2014/main" id="{152EC540-D495-BA8F-F93D-870234983024}"/>
                </a:ext>
              </a:extLst>
            </p:cNvPr>
            <p:cNvGrpSpPr/>
            <p:nvPr/>
          </p:nvGrpSpPr>
          <p:grpSpPr>
            <a:xfrm>
              <a:off x="6653313" y="5596174"/>
              <a:ext cx="1858541" cy="1112825"/>
              <a:chOff x="4313659" y="2721684"/>
              <a:chExt cx="1858541" cy="1112825"/>
            </a:xfrm>
          </p:grpSpPr>
          <p:sp>
            <p:nvSpPr>
              <p:cNvPr id="102" name="Rectangle: Rounded Corners 79">
                <a:extLst>
                  <a:ext uri="{FF2B5EF4-FFF2-40B4-BE49-F238E27FC236}">
                    <a16:creationId xmlns:a16="http://schemas.microsoft.com/office/drawing/2014/main" id="{E7DA1598-F9CC-2D26-ED6A-71D221E03C0E}"/>
                  </a:ext>
                </a:extLst>
              </p:cNvPr>
              <p:cNvSpPr/>
              <p:nvPr/>
            </p:nvSpPr>
            <p:spPr bwMode="auto">
              <a:xfrm>
                <a:off x="4343090" y="2721684"/>
                <a:ext cx="1768401" cy="1112825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 err="1">
                  <a:solidFill>
                    <a:schemeClr val="bg1"/>
                  </a:solidFill>
                  <a:cs typeface="Segoe UI" pitchFamily="34" charset="0"/>
                </a:endParaRPr>
              </a:p>
            </p:txBody>
          </p:sp>
          <p:sp>
            <p:nvSpPr>
              <p:cNvPr id="103" name="TextBox 81">
                <a:extLst>
                  <a:ext uri="{FF2B5EF4-FFF2-40B4-BE49-F238E27FC236}">
                    <a16:creationId xmlns:a16="http://schemas.microsoft.com/office/drawing/2014/main" id="{88342A9F-78E9-BE14-767C-32302FBE213B}"/>
                  </a:ext>
                </a:extLst>
              </p:cNvPr>
              <p:cNvSpPr txBox="1"/>
              <p:nvPr/>
            </p:nvSpPr>
            <p:spPr>
              <a:xfrm>
                <a:off x="4313659" y="3092841"/>
                <a:ext cx="185854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it-IT" sz="1000" b="1" dirty="0"/>
                  <a:t>Azure Document </a:t>
                </a:r>
              </a:p>
              <a:p>
                <a:pPr algn="ctr"/>
                <a:r>
                  <a:rPr lang="it-IT" sz="1000" b="1" dirty="0"/>
                  <a:t>Intelligence</a:t>
                </a:r>
                <a:endParaRPr lang="en-US" sz="1000" b="1" dirty="0" err="1"/>
              </a:p>
            </p:txBody>
          </p:sp>
          <p:sp>
            <p:nvSpPr>
              <p:cNvPr id="104" name="TextBox 82">
                <a:extLst>
                  <a:ext uri="{FF2B5EF4-FFF2-40B4-BE49-F238E27FC236}">
                    <a16:creationId xmlns:a16="http://schemas.microsoft.com/office/drawing/2014/main" id="{E0C72689-AE00-DA6C-CFD4-9F35F81B2928}"/>
                  </a:ext>
                </a:extLst>
              </p:cNvPr>
              <p:cNvSpPr txBox="1"/>
              <p:nvPr/>
            </p:nvSpPr>
            <p:spPr>
              <a:xfrm>
                <a:off x="4370940" y="3423980"/>
                <a:ext cx="1743975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800" noProof="0" dirty="0"/>
                  <a:t>Extract entities from Invoices</a:t>
                </a:r>
              </a:p>
            </p:txBody>
          </p:sp>
        </p:grpSp>
        <p:pic>
          <p:nvPicPr>
            <p:cNvPr id="101" name="Graphic 64">
              <a:extLst>
                <a:ext uri="{FF2B5EF4-FFF2-40B4-BE49-F238E27FC236}">
                  <a16:creationId xmlns:a16="http://schemas.microsoft.com/office/drawing/2014/main" id="{327BA757-DCB6-5789-24B3-37253CBFA26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84551" y="5667509"/>
              <a:ext cx="396542" cy="270314"/>
            </a:xfrm>
            <a:prstGeom prst="rect">
              <a:avLst/>
            </a:prstGeom>
          </p:spPr>
        </p:pic>
      </p:grpSp>
      <p:sp>
        <p:nvSpPr>
          <p:cNvPr id="105" name="CasellaDiTesto 97">
            <a:extLst>
              <a:ext uri="{FF2B5EF4-FFF2-40B4-BE49-F238E27FC236}">
                <a16:creationId xmlns:a16="http://schemas.microsoft.com/office/drawing/2014/main" id="{A8F7D03B-5FC8-CCE4-9447-A04CAF85C1FA}"/>
              </a:ext>
            </a:extLst>
          </p:cNvPr>
          <p:cNvSpPr txBox="1"/>
          <p:nvPr/>
        </p:nvSpPr>
        <p:spPr>
          <a:xfrm>
            <a:off x="10130311" y="1504955"/>
            <a:ext cx="96879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0" lang="en-US" sz="1600" b="0" i="0" u="none" strike="noStrike" kern="1200" cap="none" spc="0" normalizeH="0" baseline="0" noProof="0" dirty="0">
                <a:ln w="3175">
                  <a:noFill/>
                </a:ln>
                <a:effectLst/>
                <a:uLnTx/>
                <a:uFillTx/>
                <a:latin typeface="Aptos" panose="020B0004020202020204" pitchFamily="34" charset="0"/>
                <a:cs typeface="Segoe UI" panose="020B0502040204020203" pitchFamily="34" charset="0"/>
              </a:rPr>
              <a:t>MCP tools:</a:t>
            </a:r>
            <a:endParaRPr lang="en-US" sz="1600" dirty="0" err="1">
              <a:latin typeface="Aptos" panose="020B0004020202020204" pitchFamily="34" charset="0"/>
            </a:endParaRPr>
          </a:p>
        </p:txBody>
      </p:sp>
      <p:sp>
        <p:nvSpPr>
          <p:cNvPr id="106" name="CasellaDiTesto 98">
            <a:extLst>
              <a:ext uri="{FF2B5EF4-FFF2-40B4-BE49-F238E27FC236}">
                <a16:creationId xmlns:a16="http://schemas.microsoft.com/office/drawing/2014/main" id="{079A102F-9A1E-96A9-B53F-A8198563E3E0}"/>
              </a:ext>
            </a:extLst>
          </p:cNvPr>
          <p:cNvSpPr txBox="1"/>
          <p:nvPr/>
        </p:nvSpPr>
        <p:spPr>
          <a:xfrm>
            <a:off x="10110964" y="2632282"/>
            <a:ext cx="96879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0" lang="en-US" sz="1600" b="0" i="0" u="none" strike="noStrike" kern="1200" cap="none" spc="0" normalizeH="0" baseline="0" noProof="0" dirty="0">
                <a:ln w="3175">
                  <a:noFill/>
                </a:ln>
                <a:effectLst/>
                <a:uLnTx/>
                <a:uFillTx/>
                <a:latin typeface="Aptos" panose="020B0004020202020204" pitchFamily="34" charset="0"/>
                <a:cs typeface="Segoe UI" panose="020B0502040204020203" pitchFamily="34" charset="0"/>
              </a:rPr>
              <a:t>MCP tools:</a:t>
            </a:r>
            <a:endParaRPr lang="en-US" sz="1600" dirty="0" err="1">
              <a:latin typeface="Aptos" panose="020B0004020202020204" pitchFamily="34" charset="0"/>
            </a:endParaRPr>
          </a:p>
        </p:txBody>
      </p:sp>
      <p:sp>
        <p:nvSpPr>
          <p:cNvPr id="107" name="CasellaDiTesto 99">
            <a:extLst>
              <a:ext uri="{FF2B5EF4-FFF2-40B4-BE49-F238E27FC236}">
                <a16:creationId xmlns:a16="http://schemas.microsoft.com/office/drawing/2014/main" id="{1DA64676-A8CC-A55E-5C14-3EB3DD4623AE}"/>
              </a:ext>
            </a:extLst>
          </p:cNvPr>
          <p:cNvSpPr txBox="1"/>
          <p:nvPr/>
        </p:nvSpPr>
        <p:spPr>
          <a:xfrm>
            <a:off x="10070374" y="3685579"/>
            <a:ext cx="96879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kumimoji="0" lang="en-US" sz="1600" b="0" i="0" u="none" strike="noStrike" kern="1200" cap="none" spc="0" normalizeH="0" baseline="0" noProof="0" dirty="0">
                <a:ln w="3175">
                  <a:noFill/>
                </a:ln>
                <a:effectLst/>
                <a:uLnTx/>
                <a:uFillTx/>
                <a:latin typeface="Aptos" panose="020B0004020202020204" pitchFamily="34" charset="0"/>
                <a:cs typeface="Segoe UI" panose="020B0502040204020203" pitchFamily="34" charset="0"/>
              </a:rPr>
              <a:t>MCP tools:</a:t>
            </a:r>
            <a:endParaRPr lang="en-US" sz="1600" dirty="0" err="1">
              <a:latin typeface="Aptos" panose="020B0004020202020204" pitchFamily="34" charset="0"/>
            </a:endParaRPr>
          </a:p>
        </p:txBody>
      </p:sp>
      <p:cxnSp>
        <p:nvCxnSpPr>
          <p:cNvPr id="108" name="Connettore 2 44">
            <a:extLst>
              <a:ext uri="{FF2B5EF4-FFF2-40B4-BE49-F238E27FC236}">
                <a16:creationId xmlns:a16="http://schemas.microsoft.com/office/drawing/2014/main" id="{69E0F400-DDF9-4169-71A4-9853D3862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29622" y="2974684"/>
            <a:ext cx="1010608" cy="0"/>
          </a:xfrm>
          <a:prstGeom prst="straightConnector1">
            <a:avLst/>
          </a:prstGeom>
          <a:ln w="12700" cap="rnd">
            <a:gradFill flip="none" rotWithShape="1">
              <a:gsLst>
                <a:gs pos="0">
                  <a:srgbClr val="F65567"/>
                </a:gs>
                <a:gs pos="32000">
                  <a:srgbClr val="AC35AF"/>
                </a:gs>
                <a:gs pos="68000">
                  <a:srgbClr val="0A6BBA"/>
                </a:gs>
                <a:gs pos="100000">
                  <a:srgbClr val="318581"/>
                </a:gs>
              </a:gsLst>
              <a:path path="circle">
                <a:fillToRect l="100000" t="100000"/>
              </a:path>
              <a:tileRect r="-100000" b="-100000"/>
            </a:gradFill>
            <a:prstDash val="solid"/>
            <a:headEnd type="arrow" w="lg" len="sm"/>
            <a:tailEnd type="arrow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CasellaDiTesto 101">
            <a:extLst>
              <a:ext uri="{FF2B5EF4-FFF2-40B4-BE49-F238E27FC236}">
                <a16:creationId xmlns:a16="http://schemas.microsoft.com/office/drawing/2014/main" id="{854659F3-923A-4D31-AB83-08CCB156F604}"/>
              </a:ext>
            </a:extLst>
          </p:cNvPr>
          <p:cNvSpPr txBox="1"/>
          <p:nvPr/>
        </p:nvSpPr>
        <p:spPr>
          <a:xfrm>
            <a:off x="7458199" y="2790018"/>
            <a:ext cx="71237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0" lang="en-US" sz="1200" b="0" i="0" u="none" strike="noStrike" kern="1200" cap="none" spc="0" normalizeH="0" baseline="0" noProof="0" dirty="0">
                <a:ln w="3175">
                  <a:noFill/>
                </a:ln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HTTP  </a:t>
            </a:r>
          </a:p>
          <a:p>
            <a:pPr algn="ctr"/>
            <a:r>
              <a:rPr kumimoji="0" lang="en-US" sz="1200" b="0" i="0" u="none" strike="noStrike" kern="1200" cap="none" spc="0" normalizeH="0" baseline="0" noProof="0" dirty="0">
                <a:ln w="3175">
                  <a:noFill/>
                </a:ln>
                <a:effectLst/>
                <a:uLnTx/>
                <a:uFillTx/>
                <a:latin typeface="Segoe UI Semibold"/>
                <a:ea typeface="+mn-ea"/>
                <a:cs typeface="Segoe UI" panose="020B0502040204020203" pitchFamily="34" charset="0"/>
              </a:rPr>
              <a:t>Streaming</a:t>
            </a:r>
            <a:endParaRPr lang="en-US" sz="1200" dirty="0" err="1"/>
          </a:p>
        </p:txBody>
      </p:sp>
      <p:sp>
        <p:nvSpPr>
          <p:cNvPr id="112" name="TextBox 12">
            <a:extLst>
              <a:ext uri="{FF2B5EF4-FFF2-40B4-BE49-F238E27FC236}">
                <a16:creationId xmlns:a16="http://schemas.microsoft.com/office/drawing/2014/main" id="{34B74A35-577F-0A17-2F46-5BEF5723F1EC}"/>
              </a:ext>
            </a:extLst>
          </p:cNvPr>
          <p:cNvSpPr txBox="1"/>
          <p:nvPr/>
        </p:nvSpPr>
        <p:spPr>
          <a:xfrm>
            <a:off x="4719446" y="2073521"/>
            <a:ext cx="205639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1400" b="1" dirty="0"/>
              <a:t>Account Agent</a:t>
            </a:r>
            <a:endParaRPr lang="en-US" sz="1400" b="1" dirty="0" err="1"/>
          </a:p>
        </p:txBody>
      </p:sp>
      <p:sp>
        <p:nvSpPr>
          <p:cNvPr id="117" name="TextBox 12">
            <a:extLst>
              <a:ext uri="{FF2B5EF4-FFF2-40B4-BE49-F238E27FC236}">
                <a16:creationId xmlns:a16="http://schemas.microsoft.com/office/drawing/2014/main" id="{FBC2FC71-FC78-D015-E433-804008139861}"/>
              </a:ext>
            </a:extLst>
          </p:cNvPr>
          <p:cNvSpPr txBox="1"/>
          <p:nvPr/>
        </p:nvSpPr>
        <p:spPr>
          <a:xfrm>
            <a:off x="4715070" y="3566739"/>
            <a:ext cx="208698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400" b="1" noProof="0" dirty="0"/>
              <a:t>Transaction Agent</a:t>
            </a:r>
          </a:p>
        </p:txBody>
      </p:sp>
      <p:sp>
        <p:nvSpPr>
          <p:cNvPr id="122" name="TextBox 12">
            <a:extLst>
              <a:ext uri="{FF2B5EF4-FFF2-40B4-BE49-F238E27FC236}">
                <a16:creationId xmlns:a16="http://schemas.microsoft.com/office/drawing/2014/main" id="{B84E7011-4A6C-5E80-28B1-14F82C9F48D3}"/>
              </a:ext>
            </a:extLst>
          </p:cNvPr>
          <p:cNvSpPr txBox="1"/>
          <p:nvPr/>
        </p:nvSpPr>
        <p:spPr>
          <a:xfrm>
            <a:off x="4715070" y="5145103"/>
            <a:ext cx="206076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1400" b="1" dirty="0"/>
              <a:t>Payment Agent</a:t>
            </a:r>
            <a:endParaRPr lang="en-US" sz="1400" b="1" dirty="0" err="1"/>
          </a:p>
        </p:txBody>
      </p:sp>
      <p:sp>
        <p:nvSpPr>
          <p:cNvPr id="125" name="TextBox 15">
            <a:extLst>
              <a:ext uri="{FF2B5EF4-FFF2-40B4-BE49-F238E27FC236}">
                <a16:creationId xmlns:a16="http://schemas.microsoft.com/office/drawing/2014/main" id="{AAEBB3D0-CED2-9D9D-4364-C67F8FC2383C}"/>
              </a:ext>
            </a:extLst>
          </p:cNvPr>
          <p:cNvSpPr txBox="1"/>
          <p:nvPr/>
        </p:nvSpPr>
        <p:spPr>
          <a:xfrm>
            <a:off x="10944455" y="1218446"/>
            <a:ext cx="73384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dirty="0">
                <a:solidFill>
                  <a:srgbClr val="2F807D"/>
                </a:solidFill>
              </a:rPr>
              <a:t>FastMCP</a:t>
            </a:r>
            <a:endParaRPr kumimoji="0" lang="en-US" sz="14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31" name="TextBox 12">
            <a:extLst>
              <a:ext uri="{FF2B5EF4-FFF2-40B4-BE49-F238E27FC236}">
                <a16:creationId xmlns:a16="http://schemas.microsoft.com/office/drawing/2014/main" id="{42C5CCF9-EF32-645C-F527-E973F3D4CC18}"/>
              </a:ext>
            </a:extLst>
          </p:cNvPr>
          <p:cNvSpPr txBox="1"/>
          <p:nvPr/>
        </p:nvSpPr>
        <p:spPr>
          <a:xfrm>
            <a:off x="1342339" y="3581604"/>
            <a:ext cx="154012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1400" b="1" dirty="0"/>
              <a:t>Supervisor Agent</a:t>
            </a:r>
            <a:endParaRPr lang="en-US" sz="1400" b="1" dirty="0" err="1"/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21324C35-1597-B47B-598D-8ADAB18691A1}"/>
              </a:ext>
            </a:extLst>
          </p:cNvPr>
          <p:cNvSpPr txBox="1">
            <a:spLocks/>
          </p:cNvSpPr>
          <p:nvPr/>
        </p:nvSpPr>
        <p:spPr>
          <a:xfrm>
            <a:off x="1060990" y="1"/>
            <a:ext cx="10913982" cy="844952"/>
          </a:xfrm>
          <a:prstGeom prst="rect">
            <a:avLst/>
          </a:prstGeom>
        </p:spPr>
        <p:txBody>
          <a:bodyPr vert="horz" lIns="91440" tIns="182880" rIns="9144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Agents and MCP servers architecture</a:t>
            </a:r>
          </a:p>
        </p:txBody>
      </p:sp>
      <p:sp>
        <p:nvSpPr>
          <p:cNvPr id="139" name="TextBox 12">
            <a:extLst>
              <a:ext uri="{FF2B5EF4-FFF2-40B4-BE49-F238E27FC236}">
                <a16:creationId xmlns:a16="http://schemas.microsoft.com/office/drawing/2014/main" id="{93F9B4C8-916B-7804-55AA-952A4E72A03F}"/>
              </a:ext>
            </a:extLst>
          </p:cNvPr>
          <p:cNvSpPr txBox="1"/>
          <p:nvPr/>
        </p:nvSpPr>
        <p:spPr>
          <a:xfrm>
            <a:off x="5216823" y="1599778"/>
            <a:ext cx="178998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it-IT" sz="1400" b="1" dirty="0"/>
              <a:t>Agent Framework</a:t>
            </a:r>
            <a:endParaRPr lang="en-US" sz="1400" b="1" dirty="0" err="1"/>
          </a:p>
        </p:txBody>
      </p:sp>
      <p:pic>
        <p:nvPicPr>
          <p:cNvPr id="140" name="Picture 9" descr="A purple molecule structure on a black background&#10;&#10;AI-generated content may be incorrect.">
            <a:extLst>
              <a:ext uri="{FF2B5EF4-FFF2-40B4-BE49-F238E27FC236}">
                <a16:creationId xmlns:a16="http://schemas.microsoft.com/office/drawing/2014/main" id="{5D17CC7B-36D5-3A0A-8E68-28666B91CB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6221" y="1531138"/>
            <a:ext cx="383830" cy="38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922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1.66667E-6 3.7037E-6 L -1.66667E-6 0.03541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3B1AB-6E5A-3ACC-91AB-975939E90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5CA7FD-AE2D-4DBE-C5E8-F37CC3635025}"/>
              </a:ext>
            </a:extLst>
          </p:cNvPr>
          <p:cNvSpPr txBox="1"/>
          <p:nvPr/>
        </p:nvSpPr>
        <p:spPr>
          <a:xfrm>
            <a:off x="1218561" y="6223902"/>
            <a:ext cx="68840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hlinkClick r:id="rId3"/>
              </a:rPr>
              <a:t>Full file: handoff_orchestrator.py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FC248B-EA30-2474-2346-539FB8ED2D5B}"/>
              </a:ext>
            </a:extLst>
          </p:cNvPr>
          <p:cNvSpPr txBox="1"/>
          <p:nvPr/>
        </p:nvSpPr>
        <p:spPr>
          <a:xfrm>
            <a:off x="1183851" y="3453309"/>
            <a:ext cx="8475155" cy="275152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None/>
            </a:pPr>
            <a:r>
              <a:rPr lang="en-US" sz="24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workflow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sz="2400" b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HandoffBuilder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90000"/>
              </a:lnSpc>
              <a:buNone/>
            </a:pPr>
            <a:r>
              <a:rPr lang="en-US" sz="24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participants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=[</a:t>
            </a:r>
            <a:r>
              <a:rPr lang="en-US" sz="24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triage_agent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4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.account_agent.build_af_agent(),</a:t>
            </a:r>
          </a:p>
          <a:p>
            <a:pPr>
              <a:lnSpc>
                <a:spcPct val="90000"/>
              </a:lnSpc>
              <a:buNone/>
            </a:pPr>
            <a:r>
              <a:rPr lang="en-US" sz="24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await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.transaction_agent.build_af_agent(),</a:t>
            </a:r>
          </a:p>
          <a:p>
            <a:pPr>
              <a:lnSpc>
                <a:spcPct val="90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400" b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await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400" b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self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.payment_agent.build_af_agent()])</a:t>
            </a:r>
          </a:p>
          <a:p>
            <a:pPr>
              <a:lnSpc>
                <a:spcPct val="90000"/>
              </a:lnSpc>
              <a:buNone/>
            </a:pP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.</a:t>
            </a:r>
            <a:r>
              <a:rPr lang="en-US" sz="24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with_start_agent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400" b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triage_agent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>
              <a:lnSpc>
                <a:spcPct val="90000"/>
              </a:lnSpc>
              <a:buNone/>
            </a:pP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.</a:t>
            </a:r>
            <a:r>
              <a:rPr lang="en-US" sz="24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with_checkpointing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(checkpoint_storage)</a:t>
            </a:r>
          </a:p>
          <a:p>
            <a:pPr>
              <a:lnSpc>
                <a:spcPct val="90000"/>
              </a:lnSpc>
              <a:buNone/>
            </a:pP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.</a:t>
            </a:r>
            <a:r>
              <a:rPr lang="en-US" sz="2400" b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build</a:t>
            </a:r>
            <a:r>
              <a:rPr lang="en-US" sz="2400" b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A5B176-FE9F-AD01-779E-40E6B9F344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132" b="60209"/>
          <a:stretch>
            <a:fillRect/>
          </a:stretch>
        </p:blipFill>
        <p:spPr>
          <a:xfrm>
            <a:off x="1223749" y="2028931"/>
            <a:ext cx="3097973" cy="10613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2D72E3-6F08-3FC9-BAB3-A1089D1293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415"/>
          <a:stretch>
            <a:fillRect/>
          </a:stretch>
        </p:blipFill>
        <p:spPr>
          <a:xfrm>
            <a:off x="4820652" y="2028931"/>
            <a:ext cx="3068920" cy="10365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1A4B74-ACAC-BCDD-265A-2065BDD6B0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" t="704" r="43255" b="88264"/>
          <a:stretch>
            <a:fillRect/>
          </a:stretch>
        </p:blipFill>
        <p:spPr>
          <a:xfrm>
            <a:off x="3704096" y="1205949"/>
            <a:ext cx="1728908" cy="474864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174C801-9BD4-768D-3D65-0F827FA591EE}"/>
              </a:ext>
            </a:extLst>
          </p:cNvPr>
          <p:cNvCxnSpPr>
            <a:cxnSpLocks/>
            <a:stCxn id="12" idx="2"/>
            <a:endCxn id="10" idx="0"/>
          </p:cNvCxnSpPr>
          <p:nvPr/>
        </p:nvCxnSpPr>
        <p:spPr>
          <a:xfrm>
            <a:off x="4568550" y="1680813"/>
            <a:ext cx="1786562" cy="3481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6047B0B-FC97-3580-8A99-3225A0CC54E1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2772736" y="1680813"/>
            <a:ext cx="1795814" cy="3481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itle 1">
            <a:extLst>
              <a:ext uri="{FF2B5EF4-FFF2-40B4-BE49-F238E27FC236}">
                <a16:creationId xmlns:a16="http://schemas.microsoft.com/office/drawing/2014/main" id="{4D6C2870-C616-5FE0-DBB1-776CBE29B5BE}"/>
              </a:ext>
            </a:extLst>
          </p:cNvPr>
          <p:cNvSpPr txBox="1">
            <a:spLocks/>
          </p:cNvSpPr>
          <p:nvPr/>
        </p:nvSpPr>
        <p:spPr>
          <a:xfrm>
            <a:off x="1060990" y="1"/>
            <a:ext cx="10913982" cy="844952"/>
          </a:xfrm>
          <a:prstGeom prst="rect">
            <a:avLst/>
          </a:prstGeom>
        </p:spPr>
        <p:txBody>
          <a:bodyPr vert="horz" lIns="91440" tIns="182880" rIns="9144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Handoff workflow with checkpointing</a:t>
            </a:r>
          </a:p>
        </p:txBody>
      </p:sp>
    </p:spTree>
    <p:extLst>
      <p:ext uri="{BB962C8B-B14F-4D97-AF65-F5344CB8AC3E}">
        <p14:creationId xmlns:p14="http://schemas.microsoft.com/office/powerpoint/2010/main" val="42655545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6D43C-BE2A-3BA3-FE47-062467C16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F2F0939-562C-8F34-F9BD-79E6E27E01E4}"/>
              </a:ext>
            </a:extLst>
          </p:cNvPr>
          <p:cNvSpPr/>
          <p:nvPr/>
        </p:nvSpPr>
        <p:spPr>
          <a:xfrm>
            <a:off x="859194" y="3050530"/>
            <a:ext cx="10477500" cy="3014367"/>
          </a:xfrm>
          <a:prstGeom prst="roundRect">
            <a:avLst>
              <a:gd name="adj" fmla="val 212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D348BA-C92C-087A-935B-72F151B2AC4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59194" y="2111864"/>
            <a:ext cx="4505909" cy="89151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>
                <a:latin typeface="Aptos" panose="020B0004020202020204" pitchFamily="34" charset="0"/>
              </a:rPr>
              <a:t>Watch past recordings: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>
                <a:latin typeface="Aptos" panose="020B0004020202020204" pitchFamily="34" charset="0"/>
                <a:hlinkClick r:id="rId2"/>
              </a:rPr>
              <a:t>aka.ms/</a:t>
            </a:r>
            <a:r>
              <a:rPr lang="es-MX" sz="2200">
                <a:latin typeface="Aptos" panose="020B0004020202020204" pitchFamily="34" charset="0"/>
                <a:hlinkClick r:id="rId3"/>
              </a:rPr>
              <a:t>pythonagents/resources</a:t>
            </a:r>
            <a:endParaRPr lang="es-MX" sz="2200">
              <a:latin typeface="Aptos" panose="020B00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33D843-40EC-E1C7-3A23-A590A3011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148" y="1026203"/>
            <a:ext cx="3705612" cy="806488"/>
          </a:xfrm>
        </p:spPr>
        <p:txBody>
          <a:bodyPr/>
          <a:lstStyle/>
          <a:p>
            <a:r>
              <a:rPr lang="es-MX"/>
              <a:t>Next steps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34022E3-6896-5817-EE1A-D33D2F048642}"/>
              </a:ext>
            </a:extLst>
          </p:cNvPr>
          <p:cNvSpPr txBox="1">
            <a:spLocks/>
          </p:cNvSpPr>
          <p:nvPr/>
        </p:nvSpPr>
        <p:spPr>
          <a:xfrm>
            <a:off x="978148" y="3172607"/>
            <a:ext cx="9708903" cy="269795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🛠️ Feb 24: Building your first agent in Python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🧠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25: Adding context and memory to agents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📊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Feb 26: Monitoring and evaluating agents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🔀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3: Building your first AI-driven workflows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🕸️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4: Orchestrating advanced multi-agent workflows</a:t>
            </a:r>
          </a:p>
          <a:p>
            <a:pPr marL="0" indent="0">
              <a:buNone/>
            </a:pPr>
            <a:r>
              <a:rPr lang="en-US" sz="2600">
                <a:latin typeface="Quire Sans" panose="020B0502040400020003" pitchFamily="34" charset="0"/>
                <a:cs typeface="Quire Sans" panose="020B0502040400020003" pitchFamily="34" charset="0"/>
              </a:rPr>
              <a:t>🙋🏽 </a:t>
            </a:r>
            <a:r>
              <a:rPr lang="en-US" sz="2600">
                <a:solidFill>
                  <a:srgbClr val="000000"/>
                </a:solidFill>
                <a:latin typeface="Quire Sans" panose="020B0502040400020003" pitchFamily="34" charset="0"/>
                <a:ea typeface="Segoe UI"/>
                <a:cs typeface="Quire Sans" panose="020B0502040400020003" pitchFamily="34" charset="0"/>
              </a:rPr>
              <a:t>Mar 5: Adding a human-in-the-loop to workflows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FE34F6-E56A-2597-B0BA-8E585D74B6AC}"/>
              </a:ext>
            </a:extLst>
          </p:cNvPr>
          <p:cNvSpPr txBox="1"/>
          <p:nvPr/>
        </p:nvSpPr>
        <p:spPr>
          <a:xfrm>
            <a:off x="5531304" y="2111864"/>
            <a:ext cx="588936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s-MX" sz="2200">
                <a:latin typeface="Aptos" panose="020B0004020202020204" pitchFamily="34" charset="0"/>
              </a:rPr>
              <a:t>Join office hours after each session in Discord:</a:t>
            </a:r>
          </a:p>
          <a:p>
            <a:pPr marL="0" indent="0">
              <a:buNone/>
            </a:pPr>
            <a:r>
              <a:rPr lang="es-MX" sz="2200">
                <a:latin typeface="Aptos" panose="020B0004020202020204" pitchFamily="34" charset="0"/>
                <a:hlinkClick r:id="rId4"/>
              </a:rPr>
              <a:t>aka.ms/pythonai/oh</a:t>
            </a:r>
            <a:endParaRPr lang="en-US" sz="2200"/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A49413D5-C7CA-8BE7-3714-C61ACE6FA5FB}"/>
              </a:ext>
            </a:extLst>
          </p:cNvPr>
          <p:cNvSpPr txBox="1">
            <a:spLocks/>
          </p:cNvSpPr>
          <p:nvPr/>
        </p:nvSpPr>
        <p:spPr>
          <a:xfrm>
            <a:off x="5531304" y="1051121"/>
            <a:ext cx="5194041" cy="8915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MX" sz="2200">
                <a:latin typeface="Aptos" panose="020B0004020202020204" pitchFamily="34" charset="0"/>
              </a:rPr>
              <a:t>Register: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s-MX" sz="2200">
                <a:latin typeface="Aptos" panose="020B0004020202020204" pitchFamily="34" charset="0"/>
                <a:hlinkClick r:id="rId5"/>
              </a:rPr>
              <a:t>https://aka.ms/PythonAgents/series</a:t>
            </a:r>
            <a:endParaRPr lang="es-MX" sz="22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8298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E076FF1-2D73-CC4A-B92F-33AC55051061}">
  <we:reference id="12345678-1234-1234-1234-123456789012" version="1.0.0.0" store="developer" storeType="Registry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Properties xmlns="http://schemas.microsoft.com/sharepoint/v3" xsi:nil="true"/>
    <_ip_UnifiedCompliancePolicyUIAction xmlns="http://schemas.microsoft.com/sharepoint/v3" xsi:nil="true"/>
    <lcf76f155ced4ddcb4097134ff3c332f xmlns="a29421e1-74d8-4915-bb0d-c72892872ba0">
      <Terms xmlns="http://schemas.microsoft.com/office/infopath/2007/PartnerControls"/>
    </lcf76f155ced4ddcb4097134ff3c332f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D4B4487B57D443AED9979943B92646" ma:contentTypeVersion="15" ma:contentTypeDescription="Create a new document." ma:contentTypeScope="" ma:versionID="11635a662f4c9a657eae7bf4dc620629">
  <xsd:schema xmlns:xsd="http://www.w3.org/2001/XMLSchema" xmlns:xs="http://www.w3.org/2001/XMLSchema" xmlns:p="http://schemas.microsoft.com/office/2006/metadata/properties" xmlns:ns1="http://schemas.microsoft.com/sharepoint/v3" xmlns:ns2="a29421e1-74d8-4915-bb0d-c72892872ba0" xmlns:ns3="230e9df3-be65-4c73-a93b-d1236ebd677e" targetNamespace="http://schemas.microsoft.com/office/2006/metadata/properties" ma:root="true" ma:fieldsID="dff1dd5af459cf9d2efcc6111ef93463" ns1:_="" ns2:_="" ns3:_="">
    <xsd:import namespace="http://schemas.microsoft.com/sharepoint/v3"/>
    <xsd:import namespace="a29421e1-74d8-4915-bb0d-c72892872ba0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BillingMetadata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ocTag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9421e1-74d8-4915-bb0d-c72892872ba0" elementFormDefault="qualified">
    <xsd:import namespace="http://schemas.microsoft.com/office/2006/documentManagement/types"/>
    <xsd:import namespace="http://schemas.microsoft.com/office/infopath/2007/PartnerControls"/>
    <xsd:element name="MediaServiceBillingMetadata" ma:index="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ocTags" ma:index="18" nillable="true" ma:displayName="MediaServiceDocTags" ma:hidden="true" ma:internalName="MediaServiceDocTags" ma:readOnly="true">
      <xsd:simpleType>
        <xsd:restriction base="dms:Note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512b3914-fd28-4b53-a746-fcfd87edfe12}" ma:internalName="TaxCatchAll" ma:showField="CatchAllData" ma:web="c2fe79a6-8abe-455d-ad41-5c60efd42c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898A2C-BE4D-4D93-AD47-903F380990E0}">
  <ds:schemaRefs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dcmitype/"/>
    <ds:schemaRef ds:uri="230e9df3-be65-4c73-a93b-d1236ebd677e"/>
    <ds:schemaRef ds:uri="http://schemas.microsoft.com/office/2006/documentManagement/types"/>
    <ds:schemaRef ds:uri="http://purl.org/dc/elements/1.1/"/>
    <ds:schemaRef ds:uri="http://purl.org/dc/terms/"/>
    <ds:schemaRef ds:uri="http://schemas.microsoft.com/sharepoint/v3"/>
    <ds:schemaRef ds:uri="http://schemas.openxmlformats.org/package/2006/metadata/core-properties"/>
    <ds:schemaRef ds:uri="4d763a3d-abd4-45ac-ad35-6c0fa32d5be4"/>
    <ds:schemaRef ds:uri="496da845-320a-4090-a8c1-9d38d24895f3"/>
  </ds:schemaRefs>
</ds:datastoreItem>
</file>

<file path=customXml/itemProps2.xml><?xml version="1.0" encoding="utf-8"?>
<ds:datastoreItem xmlns:ds="http://schemas.openxmlformats.org/officeDocument/2006/customXml" ds:itemID="{E3FB4653-45F0-4343-8D2E-3BF36BCF14C4}"/>
</file>

<file path=customXml/itemProps3.xml><?xml version="1.0" encoding="utf-8"?>
<ds:datastoreItem xmlns:ds="http://schemas.openxmlformats.org/officeDocument/2006/customXml" ds:itemID="{0B3390A4-EB81-4EDD-9EA1-D4D1BA7CABC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16857</TotalTime>
  <Words>4741</Words>
  <Application>Microsoft Macintosh PowerPoint</Application>
  <PresentationFormat>Widescreen</PresentationFormat>
  <Paragraphs>638</Paragraphs>
  <Slides>39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52" baseType="lpstr">
      <vt:lpstr>-apple-system</vt:lpstr>
      <vt:lpstr>Aptos</vt:lpstr>
      <vt:lpstr>Aptos Display</vt:lpstr>
      <vt:lpstr>Aptos Display (Headings)</vt:lpstr>
      <vt:lpstr>Arial</vt:lpstr>
      <vt:lpstr>Calibri</vt:lpstr>
      <vt:lpstr>Consolas</vt:lpstr>
      <vt:lpstr>Quire Sans</vt:lpstr>
      <vt:lpstr>Segoe Print</vt:lpstr>
      <vt:lpstr>Segoe UI</vt:lpstr>
      <vt:lpstr>Segoe UI Semibold</vt:lpstr>
      <vt:lpstr>Office Theme</vt:lpstr>
      <vt:lpstr>1_Office Theme</vt:lpstr>
      <vt:lpstr>PowerPoint Presentation</vt:lpstr>
      <vt:lpstr>Python + Agents</vt:lpstr>
      <vt:lpstr>Today we'll cover...</vt:lpstr>
      <vt:lpstr>PowerPoint Presentation</vt:lpstr>
      <vt:lpstr>Recap: What's an agentic workflow?</vt:lpstr>
      <vt:lpstr>PowerPoint Presentation</vt:lpstr>
      <vt:lpstr>Why add a human in the loop?</vt:lpstr>
      <vt:lpstr>PowerPoint Presentation</vt:lpstr>
      <vt:lpstr>PowerPoint Presentation</vt:lpstr>
      <vt:lpstr>Tool approval</vt:lpstr>
      <vt:lpstr>PowerPoint Presentation</vt:lpstr>
      <vt:lpstr>Defining tools that require approval</vt:lpstr>
      <vt:lpstr>Handling tool approval in the event loop</vt:lpstr>
      <vt:lpstr>Requests and responses</vt:lpstr>
      <vt:lpstr>Requests and responses in workflows</vt:lpstr>
      <vt:lpstr>Simple chat with HITL: Workflow topology</vt:lpstr>
      <vt:lpstr>Executor code for handling requests and responses</vt:lpstr>
      <vt:lpstr>App code for handling requests and responses</vt:lpstr>
      <vt:lpstr>HITL with structured outputs: Workflow topology</vt:lpstr>
      <vt:lpstr>Agent definition with structured outputs</vt:lpstr>
      <vt:lpstr>Executor code for handling structured response </vt:lpstr>
      <vt:lpstr>Checkpoints and resuming</vt:lpstr>
      <vt:lpstr>PowerPoint Presentation</vt:lpstr>
      <vt:lpstr>PowerPoint Presentation</vt:lpstr>
      <vt:lpstr>Configuring checkpoint storage for workflows</vt:lpstr>
      <vt:lpstr>Resuming a workflow from checkpoint</vt:lpstr>
      <vt:lpstr>Resuming a workflow from checkpoint</vt:lpstr>
      <vt:lpstr>Designing your custom checkpoint storage</vt:lpstr>
      <vt:lpstr>Custom checkpoint storage for workflows</vt:lpstr>
      <vt:lpstr>Custom checkpoint storage with PostgreSQL</vt:lpstr>
      <vt:lpstr>Handoff orchestration with HITL</vt:lpstr>
      <vt:lpstr>PowerPoint Presentation</vt:lpstr>
      <vt:lpstr>Configuring HandoffBuilder for interactivity</vt:lpstr>
      <vt:lpstr>Handling HITL requests in HandoffBuilder </vt:lpstr>
      <vt:lpstr>End-to-end application</vt:lpstr>
      <vt:lpstr>PowerPoint Presentation</vt:lpstr>
      <vt:lpstr>PowerPoint Presentation</vt:lpstr>
      <vt:lpstr>PowerPoint Presentation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Abril Ureña</dc:creator>
  <cp:lastModifiedBy>Pamela Fox</cp:lastModifiedBy>
  <cp:revision>7</cp:revision>
  <dcterms:created xsi:type="dcterms:W3CDTF">2025-02-24T19:33:09Z</dcterms:created>
  <dcterms:modified xsi:type="dcterms:W3CDTF">2026-03-05T18:04:41Z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0x0101001BD4B4487B57D443AED9979943B92646</vt:lpwstr>
  </property>
  <property fmtid="{D5CDD505-2E9C-101B-9397-08002B2CF9AE}" pid="3" name="_SourceUrl">
    <vt:lpwstr/>
  </property>
  <property fmtid="{D5CDD505-2E9C-101B-9397-08002B2CF9AE}" pid="4" name="_SharedFileIndex">
    <vt:lpwstr/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MediaServiceImageTags">
    <vt:lpwstr/>
  </property>
  <property fmtid="{D5CDD505-2E9C-101B-9397-08002B2CF9AE}" pid="9" name="Order">
    <vt:lpwstr>26551000.0000000</vt:lpwstr>
  </property>
  <property fmtid="{D5CDD505-2E9C-101B-9397-08002B2CF9AE}" pid="10" name="xd_ProgID">
    <vt:lpwstr/>
  </property>
  <property fmtid="{D5CDD505-2E9C-101B-9397-08002B2CF9AE}" pid="11" name="TemplateUrl">
    <vt:lpwstr/>
  </property>
  <property fmtid="{D5CDD505-2E9C-101B-9397-08002B2CF9AE}" pid="12" name="xd_Signature">
    <vt:lpwstr/>
  </property>
</Properties>
</file>