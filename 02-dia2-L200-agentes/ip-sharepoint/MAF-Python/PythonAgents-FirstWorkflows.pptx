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42"/>
  </p:notesMasterIdLst>
  <p:handoutMasterIdLst>
    <p:handoutMasterId r:id="rId43"/>
  </p:handoutMasterIdLst>
  <p:sldIdLst>
    <p:sldId id="2147482949" r:id="rId6"/>
    <p:sldId id="258" r:id="rId7"/>
    <p:sldId id="269" r:id="rId8"/>
    <p:sldId id="2147482952" r:id="rId9"/>
    <p:sldId id="2147482995" r:id="rId10"/>
    <p:sldId id="2147482920" r:id="rId11"/>
    <p:sldId id="2147482898" r:id="rId12"/>
    <p:sldId id="2147483016" r:id="rId13"/>
    <p:sldId id="2147483009" r:id="rId14"/>
    <p:sldId id="2147483010" r:id="rId15"/>
    <p:sldId id="2147483019" r:id="rId16"/>
    <p:sldId id="2147483018" r:id="rId17"/>
    <p:sldId id="2147483020" r:id="rId18"/>
    <p:sldId id="2147483026" r:id="rId19"/>
    <p:sldId id="2147483011" r:id="rId20"/>
    <p:sldId id="2147483021" r:id="rId21"/>
    <p:sldId id="2147483023" r:id="rId22"/>
    <p:sldId id="2147483022" r:id="rId23"/>
    <p:sldId id="2147483025" r:id="rId24"/>
    <p:sldId id="2147483024" r:id="rId25"/>
    <p:sldId id="2147483027" r:id="rId26"/>
    <p:sldId id="2147483028" r:id="rId27"/>
    <p:sldId id="2147483030" r:id="rId28"/>
    <p:sldId id="2147483031" r:id="rId29"/>
    <p:sldId id="2147483032" r:id="rId30"/>
    <p:sldId id="2147483033" r:id="rId31"/>
    <p:sldId id="2147483034" r:id="rId32"/>
    <p:sldId id="2147483035" r:id="rId33"/>
    <p:sldId id="2147483037" r:id="rId34"/>
    <p:sldId id="284" r:id="rId35"/>
    <p:sldId id="2147483007" r:id="rId36"/>
    <p:sldId id="2147483017" r:id="rId37"/>
    <p:sldId id="2147482938" r:id="rId38"/>
    <p:sldId id="2147482918" r:id="rId39"/>
    <p:sldId id="2147483038" r:id="rId40"/>
    <p:sldId id="2147482912" r:id="rId4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ve-Session-ENG" id="{B55AA1A6-1AEB-42C7-A277-7C712E3B5BC2}">
          <p14:sldIdLst>
            <p14:sldId id="2147482949"/>
          </p14:sldIdLst>
        </p14:section>
        <p14:section name="Live-Session-SPA" id="{B9C86BE3-CCD5-495F-8E27-EB498F132A85}">
          <p14:sldIdLst/>
        </p14:section>
        <p14:section name="Overview" id="{3CAE196B-5A6C-4D22-A2AD-1CDB052C40B7}">
          <p14:sldIdLst>
            <p14:sldId id="258"/>
            <p14:sldId id="269"/>
            <p14:sldId id="2147482952"/>
            <p14:sldId id="2147482995"/>
          </p14:sldIdLst>
        </p14:section>
        <p14:section name="Main content" id="{660B4914-61C5-4613-82D6-881ED96EA14E}">
          <p14:sldIdLst>
            <p14:sldId id="2147482920"/>
            <p14:sldId id="2147482898"/>
            <p14:sldId id="2147483016"/>
            <p14:sldId id="2147483009"/>
            <p14:sldId id="2147483010"/>
            <p14:sldId id="2147483019"/>
            <p14:sldId id="2147483018"/>
            <p14:sldId id="2147483020"/>
            <p14:sldId id="2147483026"/>
            <p14:sldId id="2147483011"/>
            <p14:sldId id="2147483021"/>
            <p14:sldId id="2147483023"/>
            <p14:sldId id="2147483022"/>
            <p14:sldId id="2147483025"/>
            <p14:sldId id="2147483024"/>
            <p14:sldId id="2147483027"/>
            <p14:sldId id="2147483028"/>
            <p14:sldId id="2147483030"/>
            <p14:sldId id="2147483031"/>
            <p14:sldId id="2147483032"/>
            <p14:sldId id="2147483033"/>
            <p14:sldId id="2147483034"/>
            <p14:sldId id="2147483035"/>
            <p14:sldId id="2147483037"/>
          </p14:sldIdLst>
        </p14:section>
        <p14:section name="Thank you" id="{18039BEC-4E63-4173-80E5-4B32294302B2}">
          <p14:sldIdLst>
            <p14:sldId id="284"/>
            <p14:sldId id="2147483007"/>
            <p14:sldId id="2147483017"/>
            <p14:sldId id="2147482938"/>
            <p14:sldId id="2147482918"/>
            <p14:sldId id="2147483038"/>
            <p14:sldId id="21474829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5B73632-6CE1-F5AC-1EEB-9FB25C076E5B}" name="Matt Gotteiner" initials="MG" userId="S::magottei@microsoft.com::44e5f686-35a1-4e2c-9ff3-7b6adafcd3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7F99"/>
    <a:srgbClr val="D764D4"/>
    <a:srgbClr val="46A5ED"/>
    <a:srgbClr val="5982DC"/>
    <a:srgbClr val="45698B"/>
    <a:srgbClr val="0062A9"/>
    <a:srgbClr val="F08382"/>
    <a:srgbClr val="CAEDFF"/>
    <a:srgbClr val="979FA9"/>
    <a:srgbClr val="CF69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0A15C55-8517-42AA-B614-E9B94910E39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75"/>
    <p:restoredTop sz="91766"/>
  </p:normalViewPr>
  <p:slideViewPr>
    <p:cSldViewPr snapToGrid="0">
      <p:cViewPr varScale="1">
        <p:scale>
          <a:sx n="135" d="100"/>
          <a:sy n="135" d="100"/>
        </p:scale>
        <p:origin x="215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handoutMaster" Target="handoutMasters/handoutMaster1.xml"/><Relationship Id="rId48" Type="http://schemas.microsoft.com/office/2018/10/relationships/authors" Target="author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23C7EB-5B7F-EC35-C47A-3E71DEC2AD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F19CB-5D50-8F75-DC84-99B30658E1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88F21-FC08-4265-A0EA-7DCAAA8A0386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974DA-6BA0-F689-ED4C-B26987C81F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571DD-CE34-DB8F-9E07-DC1DF62173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85052-7AF3-4E33-B760-A67F7CF6271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6371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29A59-3B4E-43BA-8563-6D5BDB7C83C0}" type="datetimeFigureOut">
              <a:rPr lang="es-MX" smtClean="0"/>
              <a:t>02/03/26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777DB-9E19-4DE0-B5FC-477F0E7FE6A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487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agent-framework/workflows/events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agent-framework/workflows/events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F4D8A-ED1A-AE02-8806-789AE24DD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2C637-4772-3332-2EBB-61DF6C5DB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F55FFF-155E-B260-A9DF-97539A83F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Handoffs?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8B2DA-BAB1-DFE3-9794-0A2079B9E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322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26260-7921-99E2-B3C3-6827DB57F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F33CDA-E70F-5A87-BE7A-FFB0F7FC4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35642-6C51-9270-D9DF-E9340AFFB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https://learn.microsoft.com/agent-framework/workflows/events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E938-00BF-5D0B-BE89-956CC0D5B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66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2DA24-D3BD-2D45-8B74-68363DFB7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238FC-4A17-61C8-FF99-7A82DB84B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97EDF-59CA-7CF0-12C4-12D917A70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https://learn.microsoft.com/agent-framework/workflows/events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74102-F1E8-8D53-3276-0C42146AD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02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Handoffs?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841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94039-4DD2-365F-AF89-E4A64F3B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1BB93F-0EB6-F374-9A8A-6A534FB8C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4E0BB-A675-6BEE-F36E-DEA8AE205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Handoffs?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1807E-7F9C-A7C4-B171-B97E9219C3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54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08718-BFCF-B6BF-0756-9C66029F3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6B6B52-98A0-A06E-FA1D-EBE0210FF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68455A-DC6D-CA58-EE1B-FA4945589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Handoffs?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E1CA6-3B30-E258-F683-E214950E5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21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D7475-AE5E-349C-86A6-13E110F42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D83EF-C9C7-1E81-AA17-D33E2DE1C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8A7546-C7A5-A196-B91F-E4E397E67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Handoffs?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33093-4060-5F3B-4FBF-E324F75D5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61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C68D8-ABB2-728B-5383-1CC0E5D8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EB095-BA2E-D97F-F31B-8625BFA38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D69AC-5F52-879D-63F9-0C43F4C41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Handoffs?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39BA0-BB9D-20AA-42E9-62B409F8D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38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DC8F0-B6FF-7F17-91A2-DEDCA082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8B84B-8BD2-13C3-420F-1DB289334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E5278-1C32-71A5-7576-03182DEEA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Handoffs?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953F8-9953-CCC7-BAF5-777701FEA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2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2727B-F837-2646-F034-B4761BA5E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2363D-382E-7B42-6544-81FE2B90D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B8FBE-62B6-29E0-A631-87F37DB10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Handoffs?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22E4C-FEA9-ECD2-A1B2-368C7E481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924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6697D-B15A-56C7-7A18-80FB42B50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12A5C-7037-A1A4-1B9C-83C9443D5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3AB7A-81A7-D735-3950-16068012C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Handoffs?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BA463-FE10-B9EF-29FC-206C4C5AE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01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55DC3-D5AC-5ADA-C0E5-BF3919135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830A1-89A7-0550-D42F-C6C9BD5DA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7D1831-ABCB-E61B-3F7E-2B720940B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Handoffs?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17620-C99A-8A8E-59D9-7E8843D583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35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7B520-B13A-392F-A859-E691E0B11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E470F1-AA3E-6347-4BDA-65C8D9701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8F56F-8C1F-8318-3689-7CACA143F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Handoffs?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2BDAE-A2C1-F7CA-8BE3-E7C5750A3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130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8509E-7563-D82F-1351-C0CDBFF31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D6FD3-4EFC-C39D-0D6C-E507EFFCA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CC018-264B-7BD3-499E-35F465A8E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Handoffs?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EE893-70A9-470D-ADA1-720848FA4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88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0B9DE-82B1-C276-9DA2-70F9D07A0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4C96E-2B11-AF21-F8FB-04DA91077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09B0C-C8C8-6B25-95BB-5E1479611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Handoffs?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4D963-C0D6-032B-7025-2C0EC7CCB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077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FE124-AF08-B339-B5DC-DCCCE36AB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8B734-248D-4D4E-6B44-28EC25FC8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AD790-1E62-D218-EB97-E31BAE977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Handoffs?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04B9E-93B3-E591-CD66-C842060EC5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379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15C99-F63C-D93F-67D4-F4709A338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CC165A-52D8-7AB5-53FB-781562CDD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3EEBE-B2F9-10C1-1604-455C7D6B9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778D1-0F24-54CD-F1A0-2E4C55827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34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09939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31335-3A1A-2AFD-1C70-3126ACDD2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7257B-9A84-2053-6407-3CE033E59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4B5AC-32EE-FA71-D515-86AC65E98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Handoffs?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05DA0-3C21-8267-0F6C-CBACB1C66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5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29202D2-7400-B85C-E27C-1C43F148CDD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6972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6E44D-AF4D-B0D0-2D38-17BF590B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141154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F104-8DDE-A1E6-0719-100ACF20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50893"/>
            <a:ext cx="10515600" cy="1594358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DBC-2956-8F47-4E6B-2E507E2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02/03/26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4ABE5541-45AA-5D0D-8169-D76F16EACDA3}"/>
              </a:ext>
            </a:extLst>
          </p:cNvPr>
          <p:cNvSpPr/>
          <p:nvPr userDrawn="1"/>
        </p:nvSpPr>
        <p:spPr>
          <a:xfrm>
            <a:off x="739972" y="471669"/>
            <a:ext cx="1860550" cy="525189"/>
          </a:xfrm>
          <a:custGeom>
            <a:avLst/>
            <a:gdLst/>
            <a:ahLst/>
            <a:cxnLst/>
            <a:rect l="l" t="t" r="r" b="b"/>
            <a:pathLst>
              <a:path w="3040582" h="862772">
                <a:moveTo>
                  <a:pt x="0" y="0"/>
                </a:moveTo>
                <a:lnTo>
                  <a:pt x="3040582" y="0"/>
                </a:lnTo>
                <a:lnTo>
                  <a:pt x="3040582" y="862771"/>
                </a:lnTo>
                <a:lnTo>
                  <a:pt x="0" y="862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542" t="-57395" r="-18192" b="-5844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C6718F5-4CB2-A424-FD1A-5CC53BB88C2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1633" y="4550797"/>
            <a:ext cx="5156494" cy="159435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Role</a:t>
            </a:r>
          </a:p>
          <a:p>
            <a:pPr lvl="0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28653AB-9915-A1B3-34BF-C7AA9C6808D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96000" y="4550797"/>
            <a:ext cx="5249941" cy="159435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Role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32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29202D2-7400-B85C-E27C-1C43F148CDD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6972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6E44D-AF4D-B0D0-2D38-17BF590B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2343"/>
            <a:ext cx="10515600" cy="2852737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F104-8DDE-A1E6-0719-100ACF20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23110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DBC-2956-8F47-4E6B-2E507E2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02/03/26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3161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About you</a:t>
            </a:r>
            <a:endParaRPr lang="es-MX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8C10DA9-B70C-145C-3BF4-E96609F6562A}"/>
              </a:ext>
            </a:extLst>
          </p:cNvPr>
          <p:cNvGrpSpPr/>
          <p:nvPr userDrawn="1"/>
        </p:nvGrpSpPr>
        <p:grpSpPr>
          <a:xfrm>
            <a:off x="838200" y="1690688"/>
            <a:ext cx="10515602" cy="5167313"/>
            <a:chOff x="0" y="-234844"/>
            <a:chExt cx="4396591" cy="2457932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0F8A61-A63F-DE51-BC1C-81A4C91CE8F3}"/>
                </a:ext>
              </a:extLst>
            </p:cNvPr>
            <p:cNvSpPr/>
            <p:nvPr/>
          </p:nvSpPr>
          <p:spPr>
            <a:xfrm>
              <a:off x="0" y="-234844"/>
              <a:ext cx="4396591" cy="2457932"/>
            </a:xfrm>
            <a:custGeom>
              <a:avLst/>
              <a:gdLst/>
              <a:ahLst/>
              <a:cxnLst/>
              <a:rect l="l" t="t" r="r" b="b"/>
              <a:pathLst>
                <a:path w="4396591" h="2223088">
                  <a:moveTo>
                    <a:pt x="13449" y="0"/>
                  </a:moveTo>
                  <a:lnTo>
                    <a:pt x="4383141" y="0"/>
                  </a:lnTo>
                  <a:cubicBezTo>
                    <a:pt x="4390569" y="0"/>
                    <a:pt x="4396591" y="6022"/>
                    <a:pt x="4396591" y="13449"/>
                  </a:cubicBezTo>
                  <a:lnTo>
                    <a:pt x="4396591" y="2209638"/>
                  </a:lnTo>
                  <a:cubicBezTo>
                    <a:pt x="4396591" y="2213205"/>
                    <a:pt x="4395174" y="2216626"/>
                    <a:pt x="4392651" y="2219148"/>
                  </a:cubicBezTo>
                  <a:cubicBezTo>
                    <a:pt x="4390129" y="2221671"/>
                    <a:pt x="4386708" y="2223088"/>
                    <a:pt x="4383141" y="2223088"/>
                  </a:cubicBezTo>
                  <a:lnTo>
                    <a:pt x="13449" y="2223088"/>
                  </a:lnTo>
                  <a:cubicBezTo>
                    <a:pt x="6022" y="2223088"/>
                    <a:pt x="0" y="2217066"/>
                    <a:pt x="0" y="2209638"/>
                  </a:cubicBezTo>
                  <a:lnTo>
                    <a:pt x="0" y="13449"/>
                  </a:lnTo>
                  <a:cubicBezTo>
                    <a:pt x="0" y="6022"/>
                    <a:pt x="602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6AD497AD-1ADB-DF0F-B24D-811410E7D65A}"/>
                </a:ext>
              </a:extLst>
            </p:cNvPr>
            <p:cNvSpPr txBox="1"/>
            <p:nvPr/>
          </p:nvSpPr>
          <p:spPr>
            <a:xfrm>
              <a:off x="0" y="-38100"/>
              <a:ext cx="4396590" cy="2261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7" y="1837854"/>
            <a:ext cx="9863666" cy="4339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16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About the speakers</a:t>
            </a:r>
            <a:endParaRPr lang="es-MX"/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84CD342C-E2D3-353F-8B33-2ACD3A1BE8B3}"/>
              </a:ext>
            </a:extLst>
          </p:cNvPr>
          <p:cNvGrpSpPr/>
          <p:nvPr userDrawn="1"/>
        </p:nvGrpSpPr>
        <p:grpSpPr>
          <a:xfrm>
            <a:off x="6891020" y="3537719"/>
            <a:ext cx="4064848" cy="3320281"/>
            <a:chOff x="0" y="0"/>
            <a:chExt cx="1513731" cy="2223088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4F86E2AA-C4BD-82FC-82EE-004E6D1D47E9}"/>
                </a:ext>
              </a:extLst>
            </p:cNvPr>
            <p:cNvSpPr/>
            <p:nvPr/>
          </p:nvSpPr>
          <p:spPr>
            <a:xfrm>
              <a:off x="0" y="0"/>
              <a:ext cx="1513731" cy="2223088"/>
            </a:xfrm>
            <a:custGeom>
              <a:avLst/>
              <a:gdLst/>
              <a:ahLst/>
              <a:cxnLst/>
              <a:rect l="l" t="t" r="r" b="b"/>
              <a:pathLst>
                <a:path w="1513731" h="2223088">
                  <a:moveTo>
                    <a:pt x="39064" y="0"/>
                  </a:moveTo>
                  <a:lnTo>
                    <a:pt x="1474668" y="0"/>
                  </a:lnTo>
                  <a:cubicBezTo>
                    <a:pt x="1485028" y="0"/>
                    <a:pt x="1494964" y="4116"/>
                    <a:pt x="1502290" y="11441"/>
                  </a:cubicBezTo>
                  <a:cubicBezTo>
                    <a:pt x="1509616" y="18767"/>
                    <a:pt x="1513731" y="28703"/>
                    <a:pt x="1513731" y="39064"/>
                  </a:cubicBezTo>
                  <a:lnTo>
                    <a:pt x="1513731" y="2184024"/>
                  </a:lnTo>
                  <a:cubicBezTo>
                    <a:pt x="1513731" y="2205598"/>
                    <a:pt x="1496242" y="2223088"/>
                    <a:pt x="1474668" y="2223088"/>
                  </a:cubicBezTo>
                  <a:lnTo>
                    <a:pt x="39064" y="2223088"/>
                  </a:lnTo>
                  <a:cubicBezTo>
                    <a:pt x="17489" y="2223088"/>
                    <a:pt x="0" y="2205598"/>
                    <a:pt x="0" y="2184024"/>
                  </a:cubicBezTo>
                  <a:lnTo>
                    <a:pt x="0" y="39064"/>
                  </a:lnTo>
                  <a:cubicBezTo>
                    <a:pt x="0" y="17489"/>
                    <a:pt x="17489" y="0"/>
                    <a:pt x="3906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EA62988-03A8-2DE6-E763-D7FD9D803333}"/>
                </a:ext>
              </a:extLst>
            </p:cNvPr>
            <p:cNvSpPr txBox="1"/>
            <p:nvPr/>
          </p:nvSpPr>
          <p:spPr>
            <a:xfrm>
              <a:off x="0" y="-47625"/>
              <a:ext cx="1513731" cy="2270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8">
            <a:extLst>
              <a:ext uri="{FF2B5EF4-FFF2-40B4-BE49-F238E27FC236}">
                <a16:creationId xmlns:a16="http://schemas.microsoft.com/office/drawing/2014/main" id="{CA45EA46-89E2-2C45-FAE0-708611EC9957}"/>
              </a:ext>
            </a:extLst>
          </p:cNvPr>
          <p:cNvGrpSpPr/>
          <p:nvPr userDrawn="1"/>
        </p:nvGrpSpPr>
        <p:grpSpPr>
          <a:xfrm>
            <a:off x="1075267" y="3537719"/>
            <a:ext cx="4064848" cy="3320281"/>
            <a:chOff x="0" y="0"/>
            <a:chExt cx="1513731" cy="2223088"/>
          </a:xfrm>
        </p:grpSpPr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21B8092-5047-EEF5-E13B-09FC7334CE51}"/>
                </a:ext>
              </a:extLst>
            </p:cNvPr>
            <p:cNvSpPr/>
            <p:nvPr/>
          </p:nvSpPr>
          <p:spPr>
            <a:xfrm>
              <a:off x="0" y="0"/>
              <a:ext cx="1513731" cy="2223088"/>
            </a:xfrm>
            <a:custGeom>
              <a:avLst/>
              <a:gdLst/>
              <a:ahLst/>
              <a:cxnLst/>
              <a:rect l="l" t="t" r="r" b="b"/>
              <a:pathLst>
                <a:path w="1513731" h="2223088">
                  <a:moveTo>
                    <a:pt x="39064" y="0"/>
                  </a:moveTo>
                  <a:lnTo>
                    <a:pt x="1474668" y="0"/>
                  </a:lnTo>
                  <a:cubicBezTo>
                    <a:pt x="1485028" y="0"/>
                    <a:pt x="1494964" y="4116"/>
                    <a:pt x="1502290" y="11441"/>
                  </a:cubicBezTo>
                  <a:cubicBezTo>
                    <a:pt x="1509616" y="18767"/>
                    <a:pt x="1513731" y="28703"/>
                    <a:pt x="1513731" y="39064"/>
                  </a:cubicBezTo>
                  <a:lnTo>
                    <a:pt x="1513731" y="2184024"/>
                  </a:lnTo>
                  <a:cubicBezTo>
                    <a:pt x="1513731" y="2205598"/>
                    <a:pt x="1496242" y="2223088"/>
                    <a:pt x="1474668" y="2223088"/>
                  </a:cubicBezTo>
                  <a:lnTo>
                    <a:pt x="39064" y="2223088"/>
                  </a:lnTo>
                  <a:cubicBezTo>
                    <a:pt x="17489" y="2223088"/>
                    <a:pt x="0" y="2205598"/>
                    <a:pt x="0" y="2184024"/>
                  </a:cubicBezTo>
                  <a:lnTo>
                    <a:pt x="0" y="39064"/>
                  </a:lnTo>
                  <a:cubicBezTo>
                    <a:pt x="0" y="17489"/>
                    <a:pt x="17489" y="0"/>
                    <a:pt x="3906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37CCC31-8AF4-47FA-8DCA-1BD5C1B435BC}"/>
                </a:ext>
              </a:extLst>
            </p:cNvPr>
            <p:cNvSpPr txBox="1"/>
            <p:nvPr/>
          </p:nvSpPr>
          <p:spPr>
            <a:xfrm>
              <a:off x="0" y="-47625"/>
              <a:ext cx="1513731" cy="2270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1EDC61F-BE19-72DD-112C-956072532F5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458710" y="2055813"/>
            <a:ext cx="2929468" cy="2778654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67F8969-FF6A-9BCC-AAAE-F6E9D06627D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458711" y="5162293"/>
            <a:ext cx="2929468" cy="150239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Social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64A18B6-AE97-E15D-EB56-EA636756AB0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642957" y="5162293"/>
            <a:ext cx="2929468" cy="150239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Social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A49CB7E8-945A-668B-6849-ED0A7A9C6C14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642957" y="2039673"/>
            <a:ext cx="2929468" cy="2778654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20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in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8C10DA9-B70C-145C-3BF4-E96609F6562A}"/>
              </a:ext>
            </a:extLst>
          </p:cNvPr>
          <p:cNvGrpSpPr/>
          <p:nvPr userDrawn="1"/>
        </p:nvGrpSpPr>
        <p:grpSpPr>
          <a:xfrm>
            <a:off x="838200" y="2184401"/>
            <a:ext cx="10515600" cy="4673600"/>
            <a:chOff x="0" y="0"/>
            <a:chExt cx="4396590" cy="2223088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0F8A61-A63F-DE51-BC1C-81A4C91CE8F3}"/>
                </a:ext>
              </a:extLst>
            </p:cNvPr>
            <p:cNvSpPr/>
            <p:nvPr/>
          </p:nvSpPr>
          <p:spPr>
            <a:xfrm>
              <a:off x="0" y="0"/>
              <a:ext cx="4396591" cy="2223088"/>
            </a:xfrm>
            <a:custGeom>
              <a:avLst/>
              <a:gdLst/>
              <a:ahLst/>
              <a:cxnLst/>
              <a:rect l="l" t="t" r="r" b="b"/>
              <a:pathLst>
                <a:path w="4396591" h="2223088">
                  <a:moveTo>
                    <a:pt x="13449" y="0"/>
                  </a:moveTo>
                  <a:lnTo>
                    <a:pt x="4383141" y="0"/>
                  </a:lnTo>
                  <a:cubicBezTo>
                    <a:pt x="4390569" y="0"/>
                    <a:pt x="4396591" y="6022"/>
                    <a:pt x="4396591" y="13449"/>
                  </a:cubicBezTo>
                  <a:lnTo>
                    <a:pt x="4396591" y="2209638"/>
                  </a:lnTo>
                  <a:cubicBezTo>
                    <a:pt x="4396591" y="2213205"/>
                    <a:pt x="4395174" y="2216626"/>
                    <a:pt x="4392651" y="2219148"/>
                  </a:cubicBezTo>
                  <a:cubicBezTo>
                    <a:pt x="4390129" y="2221671"/>
                    <a:pt x="4386708" y="2223088"/>
                    <a:pt x="4383141" y="2223088"/>
                  </a:cubicBezTo>
                  <a:lnTo>
                    <a:pt x="13449" y="2223088"/>
                  </a:lnTo>
                  <a:cubicBezTo>
                    <a:pt x="6022" y="2223088"/>
                    <a:pt x="0" y="2217066"/>
                    <a:pt x="0" y="2209638"/>
                  </a:cubicBezTo>
                  <a:lnTo>
                    <a:pt x="0" y="13449"/>
                  </a:lnTo>
                  <a:cubicBezTo>
                    <a:pt x="0" y="6022"/>
                    <a:pt x="602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6AD497AD-1ADB-DF0F-B24D-811410E7D65A}"/>
                </a:ext>
              </a:extLst>
            </p:cNvPr>
            <p:cNvSpPr txBox="1"/>
            <p:nvPr/>
          </p:nvSpPr>
          <p:spPr>
            <a:xfrm>
              <a:off x="0" y="-38100"/>
              <a:ext cx="4396590" cy="2261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7" y="2590800"/>
            <a:ext cx="9863666" cy="3586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487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6307667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Topic 2</a:t>
            </a:r>
            <a:endParaRPr lang="es-MX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8C10DA9-B70C-145C-3BF4-E96609F6562A}"/>
              </a:ext>
            </a:extLst>
          </p:cNvPr>
          <p:cNvGrpSpPr/>
          <p:nvPr userDrawn="1"/>
        </p:nvGrpSpPr>
        <p:grpSpPr>
          <a:xfrm>
            <a:off x="838200" y="2184401"/>
            <a:ext cx="10515600" cy="4673600"/>
            <a:chOff x="0" y="0"/>
            <a:chExt cx="4396590" cy="2223088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0F8A61-A63F-DE51-BC1C-81A4C91CE8F3}"/>
                </a:ext>
              </a:extLst>
            </p:cNvPr>
            <p:cNvSpPr/>
            <p:nvPr/>
          </p:nvSpPr>
          <p:spPr>
            <a:xfrm>
              <a:off x="0" y="0"/>
              <a:ext cx="4396591" cy="2223088"/>
            </a:xfrm>
            <a:custGeom>
              <a:avLst/>
              <a:gdLst/>
              <a:ahLst/>
              <a:cxnLst/>
              <a:rect l="l" t="t" r="r" b="b"/>
              <a:pathLst>
                <a:path w="4396591" h="2223088">
                  <a:moveTo>
                    <a:pt x="13449" y="0"/>
                  </a:moveTo>
                  <a:lnTo>
                    <a:pt x="4383141" y="0"/>
                  </a:lnTo>
                  <a:cubicBezTo>
                    <a:pt x="4390569" y="0"/>
                    <a:pt x="4396591" y="6022"/>
                    <a:pt x="4396591" y="13449"/>
                  </a:cubicBezTo>
                  <a:lnTo>
                    <a:pt x="4396591" y="2209638"/>
                  </a:lnTo>
                  <a:cubicBezTo>
                    <a:pt x="4396591" y="2213205"/>
                    <a:pt x="4395174" y="2216626"/>
                    <a:pt x="4392651" y="2219148"/>
                  </a:cubicBezTo>
                  <a:cubicBezTo>
                    <a:pt x="4390129" y="2221671"/>
                    <a:pt x="4386708" y="2223088"/>
                    <a:pt x="4383141" y="2223088"/>
                  </a:cubicBezTo>
                  <a:lnTo>
                    <a:pt x="13449" y="2223088"/>
                  </a:lnTo>
                  <a:cubicBezTo>
                    <a:pt x="6022" y="2223088"/>
                    <a:pt x="0" y="2217066"/>
                    <a:pt x="0" y="2209638"/>
                  </a:cubicBezTo>
                  <a:lnTo>
                    <a:pt x="0" y="13449"/>
                  </a:lnTo>
                  <a:cubicBezTo>
                    <a:pt x="0" y="6022"/>
                    <a:pt x="602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6AD497AD-1ADB-DF0F-B24D-811410E7D65A}"/>
                </a:ext>
              </a:extLst>
            </p:cNvPr>
            <p:cNvSpPr txBox="1"/>
            <p:nvPr/>
          </p:nvSpPr>
          <p:spPr>
            <a:xfrm>
              <a:off x="0" y="-38100"/>
              <a:ext cx="4396590" cy="2261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7" y="2590800"/>
            <a:ext cx="9863666" cy="3586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3DAB7B18-2172-6B5E-E96C-86A5E2B0D6A1}"/>
              </a:ext>
            </a:extLst>
          </p:cNvPr>
          <p:cNvSpPr/>
          <p:nvPr userDrawn="1"/>
        </p:nvSpPr>
        <p:spPr>
          <a:xfrm>
            <a:off x="6096000" y="-5658646"/>
            <a:ext cx="15523832" cy="14165497"/>
          </a:xfrm>
          <a:custGeom>
            <a:avLst/>
            <a:gdLst/>
            <a:ahLst/>
            <a:cxnLst/>
            <a:rect l="l" t="t" r="r" b="b"/>
            <a:pathLst>
              <a:path w="15523832" h="14165497">
                <a:moveTo>
                  <a:pt x="0" y="0"/>
                </a:moveTo>
                <a:lnTo>
                  <a:pt x="15523832" y="0"/>
                </a:lnTo>
                <a:lnTo>
                  <a:pt x="15523832" y="14165497"/>
                </a:lnTo>
                <a:lnTo>
                  <a:pt x="0" y="1416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1EDC61F-BE19-72DD-112C-956072532F5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696201" y="1146176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329202D2-7400-B85C-E27C-1C43F148CD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7887"/>
            <a:ext cx="12192000" cy="6875887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/>
          <a:lstStyle/>
          <a:p>
            <a:endParaRPr lang="es-MX"/>
          </a:p>
        </p:txBody>
      </p:sp>
      <p:grpSp>
        <p:nvGrpSpPr>
          <p:cNvPr id="15" name="Group 8">
            <a:extLst>
              <a:ext uri="{FF2B5EF4-FFF2-40B4-BE49-F238E27FC236}">
                <a16:creationId xmlns:a16="http://schemas.microsoft.com/office/drawing/2014/main" id="{D19A47D0-0386-C2EB-3688-D5D1F7A0FD9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81027" y="677183"/>
            <a:ext cx="10829946" cy="5485745"/>
            <a:chOff x="0" y="-47625"/>
            <a:chExt cx="4197679" cy="2032576"/>
          </a:xfrm>
        </p:grpSpPr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0C78AA4D-280D-040C-30AF-540254FEE3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4197679" cy="1984951"/>
            </a:xfrm>
            <a:custGeom>
              <a:avLst/>
              <a:gdLst/>
              <a:ahLst/>
              <a:cxnLst/>
              <a:rect l="l" t="t" r="r" b="b"/>
              <a:pathLst>
                <a:path w="4197679" h="1984951">
                  <a:moveTo>
                    <a:pt x="14087" y="0"/>
                  </a:moveTo>
                  <a:lnTo>
                    <a:pt x="4183592" y="0"/>
                  </a:lnTo>
                  <a:cubicBezTo>
                    <a:pt x="4191372" y="0"/>
                    <a:pt x="4197679" y="6307"/>
                    <a:pt x="4197679" y="14087"/>
                  </a:cubicBezTo>
                  <a:lnTo>
                    <a:pt x="4197679" y="1970864"/>
                  </a:lnTo>
                  <a:cubicBezTo>
                    <a:pt x="4197679" y="1978644"/>
                    <a:pt x="4191372" y="1984951"/>
                    <a:pt x="4183592" y="1984951"/>
                  </a:cubicBezTo>
                  <a:lnTo>
                    <a:pt x="14087" y="1984951"/>
                  </a:lnTo>
                  <a:cubicBezTo>
                    <a:pt x="6307" y="1984951"/>
                    <a:pt x="0" y="1978644"/>
                    <a:pt x="0" y="1970864"/>
                  </a:cubicBezTo>
                  <a:lnTo>
                    <a:pt x="0" y="14087"/>
                  </a:lnTo>
                  <a:cubicBezTo>
                    <a:pt x="0" y="6307"/>
                    <a:pt x="6307" y="0"/>
                    <a:pt x="1408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AACC4D65-72F3-882E-0C74-29085F7FAA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197679" cy="2032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B81E6FA9-5712-682C-A5FA-B06C89763C5B}"/>
              </a:ext>
            </a:extLst>
          </p:cNvPr>
          <p:cNvSpPr txBox="1">
            <a:spLocks/>
          </p:cNvSpPr>
          <p:nvPr userDrawn="1"/>
        </p:nvSpPr>
        <p:spPr>
          <a:xfrm>
            <a:off x="978147" y="1008156"/>
            <a:ext cx="10235705" cy="765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200846C-D6C9-853D-DB75-4B0B6DF6E2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78147" y="1964047"/>
            <a:ext cx="10235705" cy="38525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7ACA83-8A24-CEEC-CFF9-272221E05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47" y="1026203"/>
            <a:ext cx="10235705" cy="8064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3289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-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">
            <a:extLst>
              <a:ext uri="{FF2B5EF4-FFF2-40B4-BE49-F238E27FC236}">
                <a16:creationId xmlns:a16="http://schemas.microsoft.com/office/drawing/2014/main" id="{DA6A76C6-C0A4-6790-3061-968E4DAC09D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38200" y="0"/>
            <a:ext cx="11353800" cy="6858000"/>
            <a:chOff x="0" y="0"/>
            <a:chExt cx="4197679" cy="1984951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CC5A72BB-BDAC-3A05-54EA-1285727BD2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197679" cy="1984951"/>
            </a:xfrm>
            <a:custGeom>
              <a:avLst/>
              <a:gdLst/>
              <a:ahLst/>
              <a:cxnLst/>
              <a:rect l="l" t="t" r="r" b="b"/>
              <a:pathLst>
                <a:path w="4197679" h="1984951">
                  <a:moveTo>
                    <a:pt x="14087" y="0"/>
                  </a:moveTo>
                  <a:lnTo>
                    <a:pt x="4183592" y="0"/>
                  </a:lnTo>
                  <a:cubicBezTo>
                    <a:pt x="4191372" y="0"/>
                    <a:pt x="4197679" y="6307"/>
                    <a:pt x="4197679" y="14087"/>
                  </a:cubicBezTo>
                  <a:lnTo>
                    <a:pt x="4197679" y="1970864"/>
                  </a:lnTo>
                  <a:cubicBezTo>
                    <a:pt x="4197679" y="1978644"/>
                    <a:pt x="4191372" y="1984951"/>
                    <a:pt x="4183592" y="1984951"/>
                  </a:cubicBezTo>
                  <a:lnTo>
                    <a:pt x="14087" y="1984951"/>
                  </a:lnTo>
                  <a:cubicBezTo>
                    <a:pt x="6307" y="1984951"/>
                    <a:pt x="0" y="1978644"/>
                    <a:pt x="0" y="1970864"/>
                  </a:cubicBezTo>
                  <a:lnTo>
                    <a:pt x="0" y="14087"/>
                  </a:lnTo>
                  <a:cubicBezTo>
                    <a:pt x="0" y="6307"/>
                    <a:pt x="6307" y="0"/>
                    <a:pt x="1408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28219582-B644-88FC-10E4-1824D5EB8D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197679" cy="2032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6" y="458258"/>
            <a:ext cx="1091398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1918758"/>
            <a:ext cx="109139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60832C5C-8902-D453-4845-67C132625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7002" y="-29333"/>
            <a:ext cx="915202" cy="6887333"/>
          </a:xfrm>
          <a:custGeom>
            <a:avLst/>
            <a:gdLst/>
            <a:ahLst/>
            <a:cxnLst/>
            <a:rect l="l" t="t" r="r" b="b"/>
            <a:pathLst>
              <a:path w="1028700" h="10287000">
                <a:moveTo>
                  <a:pt x="0" y="0"/>
                </a:moveTo>
                <a:lnTo>
                  <a:pt x="1028700" y="0"/>
                </a:lnTo>
                <a:lnTo>
                  <a:pt x="10287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67000"/>
                </a:schemeClr>
              </a:gs>
              <a:gs pos="47000">
                <a:schemeClr val="accent6">
                  <a:lumMod val="97000"/>
                  <a:lumOff val="3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6200000" scaled="1"/>
          </a:grad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086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">
            <a:extLst>
              <a:ext uri="{FF2B5EF4-FFF2-40B4-BE49-F238E27FC236}">
                <a16:creationId xmlns:a16="http://schemas.microsoft.com/office/drawing/2014/main" id="{DA6A76C6-C0A4-6790-3061-968E4DAC09D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38200" y="0"/>
            <a:ext cx="11353800" cy="6858000"/>
            <a:chOff x="0" y="0"/>
            <a:chExt cx="4197679" cy="1984951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CC5A72BB-BDAC-3A05-54EA-1285727BD2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197679" cy="1984951"/>
            </a:xfrm>
            <a:custGeom>
              <a:avLst/>
              <a:gdLst/>
              <a:ahLst/>
              <a:cxnLst/>
              <a:rect l="l" t="t" r="r" b="b"/>
              <a:pathLst>
                <a:path w="4197679" h="1984951">
                  <a:moveTo>
                    <a:pt x="14087" y="0"/>
                  </a:moveTo>
                  <a:lnTo>
                    <a:pt x="4183592" y="0"/>
                  </a:lnTo>
                  <a:cubicBezTo>
                    <a:pt x="4191372" y="0"/>
                    <a:pt x="4197679" y="6307"/>
                    <a:pt x="4197679" y="14087"/>
                  </a:cubicBezTo>
                  <a:lnTo>
                    <a:pt x="4197679" y="1970864"/>
                  </a:lnTo>
                  <a:cubicBezTo>
                    <a:pt x="4197679" y="1978644"/>
                    <a:pt x="4191372" y="1984951"/>
                    <a:pt x="4183592" y="1984951"/>
                  </a:cubicBezTo>
                  <a:lnTo>
                    <a:pt x="14087" y="1984951"/>
                  </a:lnTo>
                  <a:cubicBezTo>
                    <a:pt x="6307" y="1984951"/>
                    <a:pt x="0" y="1978644"/>
                    <a:pt x="0" y="1970864"/>
                  </a:cubicBezTo>
                  <a:lnTo>
                    <a:pt x="0" y="14087"/>
                  </a:lnTo>
                  <a:cubicBezTo>
                    <a:pt x="0" y="6307"/>
                    <a:pt x="6307" y="0"/>
                    <a:pt x="1408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28219582-B644-88FC-10E4-1824D5EB8D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197679" cy="2032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09" y="3877577"/>
            <a:ext cx="10913982" cy="7635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4766731"/>
            <a:ext cx="10913980" cy="1638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60832C5C-8902-D453-4845-67C132625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7002" y="-29333"/>
            <a:ext cx="915202" cy="6887333"/>
          </a:xfrm>
          <a:custGeom>
            <a:avLst/>
            <a:gdLst/>
            <a:ahLst/>
            <a:cxnLst/>
            <a:rect l="l" t="t" r="r" b="b"/>
            <a:pathLst>
              <a:path w="1028700" h="10287000">
                <a:moveTo>
                  <a:pt x="0" y="0"/>
                </a:moveTo>
                <a:lnTo>
                  <a:pt x="1028700" y="0"/>
                </a:lnTo>
                <a:lnTo>
                  <a:pt x="10287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4285" r="-664285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4" name="Group 5">
            <a:extLst>
              <a:ext uri="{FF2B5EF4-FFF2-40B4-BE49-F238E27FC236}">
                <a16:creationId xmlns:a16="http://schemas.microsoft.com/office/drawing/2014/main" id="{96685936-0169-34D6-D524-77DA27F95E5C}"/>
              </a:ext>
            </a:extLst>
          </p:cNvPr>
          <p:cNvGrpSpPr/>
          <p:nvPr userDrawn="1"/>
        </p:nvGrpSpPr>
        <p:grpSpPr>
          <a:xfrm>
            <a:off x="276434" y="-29334"/>
            <a:ext cx="576580" cy="6858001"/>
            <a:chOff x="0" y="0"/>
            <a:chExt cx="923323" cy="13716000"/>
          </a:xfrm>
        </p:grpSpPr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4BBEC499-967A-9B2E-663D-537ACDDA5F8D}"/>
                </a:ext>
              </a:extLst>
            </p:cNvPr>
            <p:cNvSpPr/>
            <p:nvPr/>
          </p:nvSpPr>
          <p:spPr>
            <a:xfrm rot="-5400000">
              <a:off x="-5941027" y="6851650"/>
              <a:ext cx="13716000" cy="0"/>
            </a:xfrm>
            <a:prstGeom prst="line">
              <a:avLst/>
            </a:prstGeom>
            <a:ln w="12700" cap="rnd">
              <a:solidFill>
                <a:srgbClr val="121212">
                  <a:alpha val="26667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AC43B49D-943A-E1AC-A2BF-FB8BA8DA7140}"/>
                </a:ext>
              </a:extLst>
            </p:cNvPr>
            <p:cNvSpPr/>
            <p:nvPr/>
          </p:nvSpPr>
          <p:spPr>
            <a:xfrm>
              <a:off x="0" y="6724554"/>
              <a:ext cx="400588" cy="266892"/>
            </a:xfrm>
            <a:custGeom>
              <a:avLst/>
              <a:gdLst/>
              <a:ahLst/>
              <a:cxnLst/>
              <a:rect l="l" t="t" r="r" b="b"/>
              <a:pathLst>
                <a:path w="400588" h="266892">
                  <a:moveTo>
                    <a:pt x="0" y="0"/>
                  </a:moveTo>
                  <a:lnTo>
                    <a:pt x="400588" y="0"/>
                  </a:lnTo>
                  <a:lnTo>
                    <a:pt x="400588" y="266892"/>
                  </a:lnTo>
                  <a:lnTo>
                    <a:pt x="0" y="266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7" name="AutoShape 8">
            <a:extLst>
              <a:ext uri="{FF2B5EF4-FFF2-40B4-BE49-F238E27FC236}">
                <a16:creationId xmlns:a16="http://schemas.microsoft.com/office/drawing/2014/main" id="{5B0F7F05-AE44-780B-B6D3-1C7601CBDAFE}"/>
              </a:ext>
            </a:extLst>
          </p:cNvPr>
          <p:cNvSpPr/>
          <p:nvPr userDrawn="1"/>
        </p:nvSpPr>
        <p:spPr>
          <a:xfrm>
            <a:off x="861483" y="3455987"/>
            <a:ext cx="11330517" cy="4763"/>
          </a:xfrm>
          <a:prstGeom prst="line">
            <a:avLst/>
          </a:prstGeom>
          <a:ln w="9525" cap="rnd">
            <a:solidFill>
              <a:srgbClr val="121212">
                <a:alpha val="26667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ABC146F-477C-6739-48C0-131FE8CF8B74}"/>
              </a:ext>
            </a:extLst>
          </p:cNvPr>
          <p:cNvSpPr txBox="1">
            <a:spLocks/>
          </p:cNvSpPr>
          <p:nvPr userDrawn="1"/>
        </p:nvSpPr>
        <p:spPr>
          <a:xfrm>
            <a:off x="1066804" y="495445"/>
            <a:ext cx="10913982" cy="7635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B9CD599-72CC-2EDA-9D9B-CA67650500D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58111" y="1462165"/>
            <a:ext cx="10913980" cy="1638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C9B0F46-90AA-AF3A-87DF-2BCBB2898C3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66806" y="389568"/>
            <a:ext cx="10913980" cy="936770"/>
          </a:xfrm>
        </p:spPr>
        <p:txBody>
          <a:bodyPr>
            <a:normAutofit/>
          </a:bodyPr>
          <a:lstStyle>
            <a:lvl1pPr>
              <a:defRPr sz="4400">
                <a:latin typeface="Aptos Display (Headings)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38883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AE02A-0F3D-772B-AE13-4C3242EB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842665-4ED8-5551-CD4E-445F4C4D9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EBB6C-0AEE-790B-DA43-889582BD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74405D5D-B20D-5EDC-B7DF-DA29FEB96A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276667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5638" b="-75638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1B2258-EEDF-F0FE-1595-6FF5A900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you!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8086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024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E44D-AF4D-B0D0-2D38-17BF590B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F104-8DDE-A1E6-0719-100ACF20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DBC-2956-8F47-4E6B-2E507E2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990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2D45-3A83-AEA7-3C98-A922D9D6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8A29E-D909-EBD3-F645-D91D5C2795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D2051-1577-C401-CF83-F5F6F0F17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02E4E-CF91-9091-E3E4-1849EDA11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6E776-C01B-C144-3A80-F16152D5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032A7-C620-28FF-7E02-0504302A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9549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243B-4CE5-2C2B-3D4A-4310222E3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AB730-BF81-A82B-31EA-B887DDDB3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F2ED-813E-436A-FA87-DF185BDDC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EA6617-C184-23FC-1604-80399909F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2FA727-B2C2-C624-CD3A-67F966E3E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06E74-28DE-A028-1DF0-5CA3D35F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9A0C9B-9D47-2AC8-32D1-29D486BB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D3F9C2-F47A-949C-50EB-A6E0CCCB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4772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CA44-E74A-143E-0F9D-CF483D8B3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C20D3-4F4E-8DC2-34B5-EFF7681D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BE658-2B11-6008-C727-3F41C4B90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09BDF-639D-E898-ED35-F9155D5B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928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890D4-0A29-C023-D79F-0EB186935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370AF-B029-62A6-6D49-5CC9FBFF7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1DC73-01B7-2007-BF88-0F021A28E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DF19B-1A42-1962-C23A-450FDDF67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EAFA9-490E-0AAA-E440-69610B8A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818C8-0054-0E70-D43A-429F259C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2289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2F8C-D5D9-76D4-64EA-223A757BB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73DEF9-6A1B-863A-2C3A-AC7C336563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EE354-7F91-C959-7DEB-A6D1172E5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24381-4A22-1980-7BA8-6E4052F1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04551-DD7B-01B9-0EBE-60F2387CF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59E7-B985-AF19-1695-41D3383E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7802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741D8-C192-BE6C-99B4-FD11C0C1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42917-210D-567F-2CB7-C194B4504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45793-45A5-5204-0F61-DD574294D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61B22-5D74-A27A-395B-C4746AF5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9BF5D-DD6D-6E5B-A417-DD07F5D8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06290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B1E22-1FE5-FEA0-ABED-031BE49EA2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2F47FB-61AC-82AB-54E7-E333D1BAB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4106A-9714-F515-A1EF-BAE67E2E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03/03/26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850FC-F9C7-4384-87D7-4CE6498E8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133DE-7937-C763-59A1-AC55CDAD4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89505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84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38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635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861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200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103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74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427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731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882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1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011B5D-82C1-6F6D-D8BA-6C105319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9B62F-7E8A-D6CF-D5AB-E82D2B53D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53780-EE84-6AB5-4311-157708D6A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94684-00AF-422F-9E70-484377D91052}" type="datetimeFigureOut">
              <a:rPr lang="es-MX" smtClean="0"/>
              <a:t>02/03/26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A6702-23AF-355E-E6EF-D39091A582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2D74D-5BAE-5E6C-D834-ABB626BE9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037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4" r:id="rId2"/>
    <p:sldLayoutId id="2147483674" r:id="rId3"/>
    <p:sldLayoutId id="2147483675" r:id="rId4"/>
    <p:sldLayoutId id="2147483673" r:id="rId5"/>
    <p:sldLayoutId id="2147483676" r:id="rId6"/>
    <p:sldLayoutId id="2147483679" r:id="rId7"/>
    <p:sldLayoutId id="2147483680" r:id="rId8"/>
    <p:sldLayoutId id="2147483681" r:id="rId9"/>
    <p:sldLayoutId id="2147483655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6" r:id="rId16"/>
    <p:sldLayoutId id="2147483657" r:id="rId17"/>
    <p:sldLayoutId id="2147483658" r:id="rId18"/>
    <p:sldLayoutId id="214748365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57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ythonAgents/serie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hyperlink" Target="https://aka.ms/pythonmcp/serie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ythonagents/slides/workflows" TargetMode="External"/><Relationship Id="rId2" Type="http://schemas.openxmlformats.org/officeDocument/2006/relationships/hyperlink" Target="https://www.pamelafox.org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ka.ms/python-agentframework-demos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examples/workflow_rag_ingest.py" TargetMode="Externa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agents.p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agents_streaming.py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agents_sequential.p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ithub.com/Azure-Samples/python-agentframework-demos/blob/main/examples/workflow_conditional.py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conditional_structured.p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switch_case.py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conditional_state.p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conditional_state_isolated.p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ythonagents/resources" TargetMode="External"/><Relationship Id="rId2" Type="http://schemas.openxmlformats.org/officeDocument/2006/relationships/hyperlink" Target="https://aka.ms/pythonai/resources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ka.ms/PythonAgents/series" TargetMode="External"/><Relationship Id="rId4" Type="http://schemas.openxmlformats.org/officeDocument/2006/relationships/hyperlink" Target="https://aka.ms/pythonai/oh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agent-framework/user-guide/workflows" TargetMode="Externa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learn.microsoft.com/agent-framework/user-guide/workflows/visualization" TargetMode="Externa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melafox/ai-quality-safety-demos/blob/main/samples/quality_eval_custom.py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melafox/ai-quality-safety-demos/blob/main/samples/quality_eval_all_builtin_judges.py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A75E4-B0C1-D5B9-4F77-859CD22F2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92C9A098-1140-208F-86A8-E0D0F0B90E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9" r="-221" b="11498"/>
          <a:stretch>
            <a:fillRect/>
          </a:stretch>
        </p:blipFill>
        <p:spPr>
          <a:xfrm>
            <a:off x="269009" y="376213"/>
            <a:ext cx="1721697" cy="1840238"/>
          </a:xfrm>
          <a:prstGeom prst="rect">
            <a:avLst/>
          </a:prstGeom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05A3F4-14C3-A8EA-A87D-F7FC6B897E89}"/>
              </a:ext>
            </a:extLst>
          </p:cNvPr>
          <p:cNvSpPr txBox="1"/>
          <p:nvPr/>
        </p:nvSpPr>
        <p:spPr>
          <a:xfrm>
            <a:off x="432984" y="2449816"/>
            <a:ext cx="11326031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🛠️ Feb 24:</a:t>
            </a:r>
            <a:r>
              <a:rPr lang="en-US" sz="3500" b="0" i="0" u="none" strike="noStrike" baseline="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Building your first agent in Python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🧠 </a:t>
            </a:r>
            <a:r>
              <a:rPr lang="en-US" sz="3500" b="0" i="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25: Adding context and memory to agents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📊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26: Monitoring and evaluating agents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🔀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3: Building your first AI-driven workflows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🕸️ </a:t>
            </a:r>
            <a:r>
              <a:rPr lang="en-US" sz="3500" b="0" i="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4: Orchestrating advanced multi-agent workflows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🙋🏽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5: Adding a human-in-the-loop to workflows</a:t>
            </a:r>
            <a:endParaRPr lang="en-US" sz="3500" b="0" i="0">
              <a:solidFill>
                <a:srgbClr val="000000"/>
              </a:solidFill>
              <a:latin typeface="Quire Sans" panose="020B0502040400020003" pitchFamily="34" charset="0"/>
              <a:ea typeface="Segoe UI"/>
              <a:cs typeface="Quire Sans" panose="020B05020404000200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D3A62F-AD7C-5560-5319-1B085F20C1AC}"/>
              </a:ext>
            </a:extLst>
          </p:cNvPr>
          <p:cNvSpPr txBox="1"/>
          <p:nvPr/>
        </p:nvSpPr>
        <p:spPr>
          <a:xfrm>
            <a:off x="360923" y="5909261"/>
            <a:ext cx="1194546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solidFill>
                  <a:srgbClr val="000000"/>
                </a:solidFill>
                <a:latin typeface="Quire Sans"/>
                <a:ea typeface="Segoe UI"/>
                <a:cs typeface="Segoe UI"/>
              </a:rPr>
              <a:t>🔗</a:t>
            </a:r>
            <a:r>
              <a:rPr lang="en-US" sz="4400" b="1" dirty="0">
                <a:solidFill>
                  <a:srgbClr val="000000"/>
                </a:solidFill>
                <a:latin typeface="Quire Sans"/>
                <a:ea typeface="Segoe UI"/>
                <a:cs typeface="Segoe UI"/>
              </a:rPr>
              <a:t> Register at </a:t>
            </a:r>
            <a:r>
              <a:rPr lang="en-US" sz="4400" b="1" dirty="0">
                <a:solidFill>
                  <a:srgbClr val="306998"/>
                </a:solidFill>
                <a:latin typeface="Quire Sans"/>
                <a:ea typeface="Segoe UI"/>
                <a:cs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aka.ms/PythonAgents/series</a:t>
            </a:r>
            <a:endParaRPr lang="en-US" sz="4400" b="1" i="0" dirty="0">
              <a:solidFill>
                <a:srgbClr val="306998"/>
              </a:solidFill>
              <a:latin typeface="Quire Sans"/>
              <a:ea typeface="Segoe UI"/>
              <a:cs typeface="Segoe UI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3" name="Picture 12" descr="A diagram of a network&#10;&#10;AI-generated content may be incorrect.">
            <a:extLst>
              <a:ext uri="{FF2B5EF4-FFF2-40B4-BE49-F238E27FC236}">
                <a16:creationId xmlns:a16="http://schemas.microsoft.com/office/drawing/2014/main" id="{BB1C877B-1502-7B46-5E1D-99B6815B4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434" y="184871"/>
            <a:ext cx="3074063" cy="212948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A727494-82B4-69DA-D3F9-CE82888691C7}"/>
              </a:ext>
            </a:extLst>
          </p:cNvPr>
          <p:cNvSpPr txBox="1">
            <a:spLocks/>
          </p:cNvSpPr>
          <p:nvPr/>
        </p:nvSpPr>
        <p:spPr>
          <a:xfrm>
            <a:off x="1990706" y="740896"/>
            <a:ext cx="6931223" cy="1141154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7000" b="1" dirty="0">
                <a:latin typeface="Quire Sans"/>
                <a:cs typeface="Quire Sans"/>
              </a:rPr>
              <a:t>Python + Agents</a:t>
            </a:r>
            <a:endParaRPr lang="en-US" sz="7000" dirty="0"/>
          </a:p>
        </p:txBody>
      </p:sp>
    </p:spTree>
    <p:extLst>
      <p:ext uri="{BB962C8B-B14F-4D97-AF65-F5344CB8AC3E}">
        <p14:creationId xmlns:p14="http://schemas.microsoft.com/office/powerpoint/2010/main" val="3616837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F498-58FB-A77B-B566-A60C28CC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noProof="0"/>
              <a:t>Python + Agents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4B708-5475-3713-E181-48E985434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50893"/>
            <a:ext cx="11512550" cy="873780"/>
          </a:xfrm>
        </p:spPr>
        <p:txBody>
          <a:bodyPr>
            <a:normAutofit fontScale="92500"/>
          </a:bodyPr>
          <a:lstStyle/>
          <a:p>
            <a:r>
              <a:rPr lang="en-US" sz="5400">
                <a:latin typeface="Quire Sans" panose="020B0502040400020003" pitchFamily="34" charset="0"/>
                <a:cs typeface="Quire Sans" panose="020B0502040400020003" pitchFamily="34" charset="0"/>
              </a:rPr>
              <a:t>🔀</a:t>
            </a:r>
            <a:r>
              <a:rPr lang="en-US" sz="54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 </a:t>
            </a:r>
            <a:r>
              <a:rPr lang="en-US" sz="5200">
                <a:solidFill>
                  <a:srgbClr val="000000"/>
                </a:solidFill>
                <a:ea typeface="Segoe UI"/>
                <a:cs typeface="Segoe UI"/>
              </a:rPr>
              <a:t>Building your first AI-driven workflows</a:t>
            </a:r>
            <a:endParaRPr lang="es-ES_tradnl" sz="5200" noProof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F3F6DCF-3603-19EC-9B34-2D2871DE85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1633" y="4550797"/>
            <a:ext cx="5156494" cy="159435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Pamela Fox</a:t>
            </a:r>
          </a:p>
          <a:p>
            <a:pPr lvl="0"/>
            <a:r>
              <a:rPr lang="en-US">
                <a:solidFill>
                  <a:schemeClr val="tx1"/>
                </a:solidFill>
              </a:rPr>
              <a:t>Python Cloud Advocate</a:t>
            </a:r>
          </a:p>
          <a:p>
            <a:pPr lvl="0"/>
            <a:r>
              <a:rPr lang="en-US" err="1">
                <a:solidFill>
                  <a:schemeClr val="tx1"/>
                </a:solidFill>
                <a:hlinkClick r:id="rId2"/>
              </a:rPr>
              <a:t>www.pamelafox.org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CB71E-6545-DC1C-8325-BF2AE36EB32D}"/>
              </a:ext>
            </a:extLst>
          </p:cNvPr>
          <p:cNvSpPr txBox="1"/>
          <p:nvPr/>
        </p:nvSpPr>
        <p:spPr>
          <a:xfrm>
            <a:off x="844550" y="3724673"/>
            <a:ext cx="79357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>
                <a:hlinkClick r:id="rId3"/>
              </a:rPr>
              <a:t>aka.ms/pythonagents/slides/workflows</a:t>
            </a:r>
            <a:endParaRPr lang="en-US" sz="3000"/>
          </a:p>
        </p:txBody>
      </p:sp>
    </p:spTree>
    <p:extLst>
      <p:ext uri="{BB962C8B-B14F-4D97-AF65-F5344CB8AC3E}">
        <p14:creationId xmlns:p14="http://schemas.microsoft.com/office/powerpoint/2010/main" val="2366346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9586F9-19CA-2B06-D6D7-5EAA9D3145B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78147" y="1964046"/>
            <a:ext cx="10235705" cy="4176871"/>
          </a:xfrm>
        </p:spPr>
        <p:txBody>
          <a:bodyPr>
            <a:normAutofit/>
          </a:bodyPr>
          <a:lstStyle/>
          <a:p>
            <a:r>
              <a:rPr lang="en-US"/>
              <a:t>Workflows: executors, edges, messages, and outputs</a:t>
            </a:r>
          </a:p>
          <a:p>
            <a:r>
              <a:rPr lang="en-US"/>
              <a:t>Building a basic sequential workflow</a:t>
            </a:r>
          </a:p>
          <a:p>
            <a:r>
              <a:rPr lang="en-US"/>
              <a:t>Using agents as workflow executors</a:t>
            </a:r>
          </a:p>
          <a:p>
            <a:r>
              <a:rPr lang="en-US"/>
              <a:t>Visualizing workflow runs with DevUI</a:t>
            </a:r>
          </a:p>
          <a:p>
            <a:r>
              <a:rPr lang="en-US"/>
              <a:t>Branching with conditional edges and switch-case routing</a:t>
            </a:r>
          </a:p>
          <a:p>
            <a:r>
              <a:rPr lang="en-US"/>
              <a:t>Structured outputs for more reliable workflow routing</a:t>
            </a:r>
          </a:p>
          <a:p>
            <a:r>
              <a:rPr lang="en-US"/>
              <a:t>Workflow state management</a:t>
            </a:r>
          </a:p>
          <a:p>
            <a:r>
              <a:rPr lang="en-US"/>
              <a:t>Full-stack web application with an agentic workflow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36A72E-589A-553F-B8A5-68C184391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Today we'll cover...</a:t>
            </a:r>
          </a:p>
        </p:txBody>
      </p:sp>
    </p:spTree>
    <p:extLst>
      <p:ext uri="{BB962C8B-B14F-4D97-AF65-F5344CB8AC3E}">
        <p14:creationId xmlns:p14="http://schemas.microsoft.com/office/powerpoint/2010/main" val="680310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18DDE-236F-D621-D2CF-E8D6BFAC0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A9201-91CF-15A7-B97F-AC574BCD1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Want to follow along?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C953F69-9891-6E6F-1713-D0ECB9B3F072}"/>
              </a:ext>
            </a:extLst>
          </p:cNvPr>
          <p:cNvSpPr txBox="1">
            <a:spLocks/>
          </p:cNvSpPr>
          <p:nvPr/>
        </p:nvSpPr>
        <p:spPr>
          <a:xfrm>
            <a:off x="1049416" y="1676453"/>
            <a:ext cx="11375044" cy="17525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Open this GitHub repository:</a:t>
            </a:r>
          </a:p>
          <a:p>
            <a:pPr marL="0" indent="0">
              <a:buNone/>
            </a:pPr>
            <a:r>
              <a:rPr lang="en-US">
                <a:hlinkClick r:id="rId2"/>
              </a:rPr>
              <a:t>aka.ms/python-agentframework-demos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2. Use "Code" button to create a GitHub Codespace: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ED7F0D-8B94-C781-25B3-5ABE00B91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" r="1572" b="24106"/>
          <a:stretch/>
        </p:blipFill>
        <p:spPr>
          <a:xfrm>
            <a:off x="1425566" y="3868004"/>
            <a:ext cx="2591629" cy="21746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38C7C91-426D-F5D9-F045-A61914C6AB3D}"/>
              </a:ext>
            </a:extLst>
          </p:cNvPr>
          <p:cNvSpPr txBox="1">
            <a:spLocks/>
          </p:cNvSpPr>
          <p:nvPr/>
        </p:nvSpPr>
        <p:spPr>
          <a:xfrm>
            <a:off x="1049416" y="6285307"/>
            <a:ext cx="10567146" cy="940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 3. Wait a few minutes for Codespace to start up ⏱️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A531D7-4395-6A4B-157E-7FA70642C1C9}"/>
              </a:ext>
            </a:extLst>
          </p:cNvPr>
          <p:cNvCxnSpPr/>
          <p:nvPr/>
        </p:nvCxnSpPr>
        <p:spPr>
          <a:xfrm flipH="1">
            <a:off x="4178709" y="5820697"/>
            <a:ext cx="1809136" cy="0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4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6DF9A-7967-09E2-5BFC-E28CE2FB2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40946690-984E-2C1D-EB8D-6DE891722663}"/>
              </a:ext>
            </a:extLst>
          </p:cNvPr>
          <p:cNvSpPr/>
          <p:nvPr/>
        </p:nvSpPr>
        <p:spPr>
          <a:xfrm>
            <a:off x="1168498" y="2064692"/>
            <a:ext cx="4927502" cy="4433307"/>
          </a:xfrm>
          <a:prstGeom prst="roundRect">
            <a:avLst>
              <a:gd name="adj" fmla="val 463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5F4FA-F55F-A1FB-41FD-1CD5613D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Recap: What's an agent?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68A80A-9538-6485-C7A7-FE7B8CF7B2E7}"/>
              </a:ext>
            </a:extLst>
          </p:cNvPr>
          <p:cNvSpPr txBox="1"/>
          <p:nvPr/>
        </p:nvSpPr>
        <p:spPr>
          <a:xfrm>
            <a:off x="1859250" y="1738095"/>
            <a:ext cx="8031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🤖</a:t>
            </a:r>
            <a:endParaRPr lang="en-US" sz="240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D59458BA-2EA3-3D6A-840A-A724CCD6D48E}"/>
              </a:ext>
            </a:extLst>
          </p:cNvPr>
          <p:cNvSpPr txBox="1">
            <a:spLocks/>
          </p:cNvSpPr>
          <p:nvPr/>
        </p:nvSpPr>
        <p:spPr>
          <a:xfrm>
            <a:off x="4261925" y="3757248"/>
            <a:ext cx="1197254" cy="1038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000"/>
              <a:t>🛠️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/>
              <a:t>Tools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8000"/>
          </a:p>
        </p:txBody>
      </p:sp>
      <p:sp>
        <p:nvSpPr>
          <p:cNvPr id="34" name="Curved Down Arrow 33">
            <a:extLst>
              <a:ext uri="{FF2B5EF4-FFF2-40B4-BE49-F238E27FC236}">
                <a16:creationId xmlns:a16="http://schemas.microsoft.com/office/drawing/2014/main" id="{BBC95842-C100-302D-B570-EAEE0CABD61B}"/>
              </a:ext>
            </a:extLst>
          </p:cNvPr>
          <p:cNvSpPr/>
          <p:nvPr/>
        </p:nvSpPr>
        <p:spPr>
          <a:xfrm>
            <a:off x="3031080" y="3637826"/>
            <a:ext cx="1197254" cy="433264"/>
          </a:xfrm>
          <a:prstGeom prst="curved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urved Down Arrow 34">
            <a:extLst>
              <a:ext uri="{FF2B5EF4-FFF2-40B4-BE49-F238E27FC236}">
                <a16:creationId xmlns:a16="http://schemas.microsoft.com/office/drawing/2014/main" id="{CF52C4B8-0AB5-AF30-DB17-C99450795F09}"/>
              </a:ext>
            </a:extLst>
          </p:cNvPr>
          <p:cNvSpPr/>
          <p:nvPr/>
        </p:nvSpPr>
        <p:spPr>
          <a:xfrm rot="10800000">
            <a:off x="2973759" y="4592672"/>
            <a:ext cx="1197254" cy="433264"/>
          </a:xfrm>
          <a:prstGeom prst="curved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B01F29A9-04F3-191F-AEBE-568A77E40B27}"/>
              </a:ext>
            </a:extLst>
          </p:cNvPr>
          <p:cNvSpPr/>
          <p:nvPr/>
        </p:nvSpPr>
        <p:spPr>
          <a:xfrm>
            <a:off x="2126564" y="4796148"/>
            <a:ext cx="157655" cy="45957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446998-94B9-01CF-1C13-12CD68AE1696}"/>
              </a:ext>
            </a:extLst>
          </p:cNvPr>
          <p:cNvSpPr txBox="1"/>
          <p:nvPr/>
        </p:nvSpPr>
        <p:spPr>
          <a:xfrm>
            <a:off x="1422922" y="5385418"/>
            <a:ext cx="1575899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4400"/>
              </a:lnSpc>
              <a:buFont typeface="Arial" panose="020B0604020202020204" pitchFamily="34" charset="0"/>
              <a:buNone/>
            </a:pPr>
            <a:r>
              <a:rPr lang="en-US" sz="5500"/>
              <a:t>🥅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/>
              <a:t>Goal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6B7186-2F3D-4400-5A93-E5BD9CE5C875}"/>
              </a:ext>
            </a:extLst>
          </p:cNvPr>
          <p:cNvSpPr txBox="1"/>
          <p:nvPr/>
        </p:nvSpPr>
        <p:spPr>
          <a:xfrm>
            <a:off x="1993121" y="2770544"/>
            <a:ext cx="424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👤</a:t>
            </a:r>
            <a:endParaRPr lang="en-US" sz="4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04FE04-0C04-FE26-CFF3-53B80B8BAC9A}"/>
              </a:ext>
            </a:extLst>
          </p:cNvPr>
          <p:cNvSpPr txBox="1"/>
          <p:nvPr/>
        </p:nvSpPr>
        <p:spPr>
          <a:xfrm>
            <a:off x="1676098" y="2330518"/>
            <a:ext cx="1058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/>
              <a:t>Input</a:t>
            </a:r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4E50CAE8-3A8F-8791-C244-33CB89E9F480}"/>
              </a:ext>
            </a:extLst>
          </p:cNvPr>
          <p:cNvSpPr/>
          <p:nvPr/>
        </p:nvSpPr>
        <p:spPr>
          <a:xfrm>
            <a:off x="2126564" y="3371758"/>
            <a:ext cx="157655" cy="45957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E3452F8-7C08-E154-67D0-490B9EB8D153}"/>
              </a:ext>
            </a:extLst>
          </p:cNvPr>
          <p:cNvSpPr/>
          <p:nvPr/>
        </p:nvSpPr>
        <p:spPr bwMode="auto">
          <a:xfrm>
            <a:off x="1732125" y="3977570"/>
            <a:ext cx="929764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243705-581B-3642-D8EA-FD88D3AAC168}"/>
              </a:ext>
            </a:extLst>
          </p:cNvPr>
          <p:cNvSpPr txBox="1"/>
          <p:nvPr/>
        </p:nvSpPr>
        <p:spPr>
          <a:xfrm>
            <a:off x="2501785" y="1803944"/>
            <a:ext cx="1058586" cy="461665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r>
              <a:rPr lang="en-US" sz="2400" b="0" i="0">
                <a:effectLst/>
                <a:latin typeface="Aptos" panose="020B0004020202020204" pitchFamily="34" charset="0"/>
              </a:rPr>
              <a:t>Agent</a:t>
            </a:r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AFBFA-A82B-9718-A9CD-5475FB42A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278" y="2092036"/>
            <a:ext cx="4629224" cy="89472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/>
              <a:t>An </a:t>
            </a:r>
            <a:r>
              <a:rPr lang="en-US" b="1"/>
              <a:t>AI agent </a:t>
            </a:r>
            <a:r>
              <a:rPr lang="en-US"/>
              <a:t>uses an </a:t>
            </a:r>
            <a:r>
              <a:rPr lang="en-US" b="1"/>
              <a:t>LLM</a:t>
            </a:r>
            <a:r>
              <a:rPr lang="en-US"/>
              <a:t> to run </a:t>
            </a:r>
            <a:r>
              <a:rPr lang="en-US" b="1"/>
              <a:t>tools</a:t>
            </a:r>
            <a:r>
              <a:rPr lang="en-US"/>
              <a:t> in a loop to achieve a </a:t>
            </a:r>
            <a:r>
              <a:rPr lang="en-US" b="1"/>
              <a:t>goal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0456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2FA51-9EE7-9057-2B99-BA9D21010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8902C-0436-B84D-A435-C53294636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Workflows</a:t>
            </a:r>
          </a:p>
        </p:txBody>
      </p:sp>
    </p:spTree>
    <p:extLst>
      <p:ext uri="{BB962C8B-B14F-4D97-AF65-F5344CB8AC3E}">
        <p14:creationId xmlns:p14="http://schemas.microsoft.com/office/powerpoint/2010/main" val="3603964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D9C86-0C80-617E-FCB8-94C08271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C6552-BB92-F03C-FDBD-9456B3332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11916571" cy="1325563"/>
          </a:xfrm>
        </p:spPr>
        <p:txBody>
          <a:bodyPr/>
          <a:lstStyle/>
          <a:p>
            <a:r>
              <a:rPr lang="en-US"/>
              <a:t>What's a workflow?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1EEBB2-60D7-7613-2400-5F9B10EB010B}"/>
              </a:ext>
            </a:extLst>
          </p:cNvPr>
          <p:cNvSpPr txBox="1"/>
          <p:nvPr/>
        </p:nvSpPr>
        <p:spPr>
          <a:xfrm>
            <a:off x="1194372" y="1560583"/>
            <a:ext cx="1017031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An agentic workflow is any flow that involves an agent at some point,</a:t>
            </a:r>
          </a:p>
          <a:p>
            <a:pPr algn="l"/>
            <a:r>
              <a:rPr lang="en-US" sz="2400" err="1"/>
              <a:t>typically to handle decision making or answer synthesis.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22EAFB-8229-2D99-ED93-A618DC2697C7}"/>
              </a:ext>
            </a:extLst>
          </p:cNvPr>
          <p:cNvSpPr/>
          <p:nvPr/>
        </p:nvSpPr>
        <p:spPr bwMode="auto">
          <a:xfrm>
            <a:off x="5622062" y="3303020"/>
            <a:ext cx="1422583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</a:t>
            </a: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B9C482FE-136E-3FBF-8EAB-69453C7F320A}"/>
              </a:ext>
            </a:extLst>
          </p:cNvPr>
          <p:cNvSpPr/>
          <p:nvPr/>
        </p:nvSpPr>
        <p:spPr>
          <a:xfrm>
            <a:off x="1194373" y="3174373"/>
            <a:ext cx="1151664" cy="943722"/>
          </a:xfrm>
          <a:prstGeom prst="wedgeRoundRectCallo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Input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288CC7-2013-0F35-B312-ED8274D29356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>
            <a:off x="2346037" y="3646234"/>
            <a:ext cx="63730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2195E8F-FF3A-481E-B54E-DA3C344995E7}"/>
              </a:ext>
            </a:extLst>
          </p:cNvPr>
          <p:cNvSpPr/>
          <p:nvPr/>
        </p:nvSpPr>
        <p:spPr bwMode="auto">
          <a:xfrm>
            <a:off x="2983345" y="2999007"/>
            <a:ext cx="2041419" cy="1294455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Processing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or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Data Lookup</a:t>
            </a:r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50C6AC8-825B-4744-341E-C6AAF9E6CCE3}"/>
              </a:ext>
            </a:extLst>
          </p:cNvPr>
          <p:cNvSpPr/>
          <p:nvPr/>
        </p:nvSpPr>
        <p:spPr>
          <a:xfrm>
            <a:off x="10302198" y="3219749"/>
            <a:ext cx="1576537" cy="852970"/>
          </a:xfrm>
          <a:prstGeom prst="wedgeRoundRectCallout">
            <a:avLst>
              <a:gd name="adj1" fmla="val -22005"/>
              <a:gd name="adj2" fmla="val 4642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Output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45BD9CB-69A3-C540-6D11-C2C6A9988F11}"/>
              </a:ext>
            </a:extLst>
          </p:cNvPr>
          <p:cNvCxnSpPr>
            <a:cxnSpLocks/>
          </p:cNvCxnSpPr>
          <p:nvPr/>
        </p:nvCxnSpPr>
        <p:spPr>
          <a:xfrm>
            <a:off x="9683362" y="3653341"/>
            <a:ext cx="61883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FFAB8AC-787D-9B75-8162-B99ACD136913}"/>
              </a:ext>
            </a:extLst>
          </p:cNvPr>
          <p:cNvSpPr txBox="1"/>
          <p:nvPr/>
        </p:nvSpPr>
        <p:spPr>
          <a:xfrm>
            <a:off x="1338830" y="5297235"/>
            <a:ext cx="9154973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Not all calls in our systems </a:t>
            </a:r>
            <a:r>
              <a:rPr lang="en-US" sz="2400" i="1" err="1"/>
              <a:t>should</a:t>
            </a:r>
            <a:r>
              <a:rPr lang="en-US" sz="2400" err="1"/>
              <a:t> be agentic!</a:t>
            </a:r>
          </a:p>
          <a:p>
            <a:pPr algn="l"/>
            <a:r>
              <a:rPr lang="en-US" sz="2400" err="1"/>
              <a:t>Every call to an LLM increases the non-determinism of a system and possibility of failure or safety risk. 😬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5A4A612-CA82-1825-83B8-9E927CFFFAFF}"/>
              </a:ext>
            </a:extLst>
          </p:cNvPr>
          <p:cNvCxnSpPr>
            <a:cxnSpLocks/>
          </p:cNvCxnSpPr>
          <p:nvPr/>
        </p:nvCxnSpPr>
        <p:spPr>
          <a:xfrm>
            <a:off x="5024764" y="3642494"/>
            <a:ext cx="61883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3CBD152-53CE-B867-F9EC-527EA9523C4A}"/>
              </a:ext>
            </a:extLst>
          </p:cNvPr>
          <p:cNvSpPr/>
          <p:nvPr/>
        </p:nvSpPr>
        <p:spPr bwMode="auto">
          <a:xfrm>
            <a:off x="7641943" y="2999007"/>
            <a:ext cx="2041419" cy="1294455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Processing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 or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Data Lookup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F84C56D-4B7D-AEE9-D9AD-354444A7A79C}"/>
              </a:ext>
            </a:extLst>
          </p:cNvPr>
          <p:cNvCxnSpPr>
            <a:cxnSpLocks/>
          </p:cNvCxnSpPr>
          <p:nvPr/>
        </p:nvCxnSpPr>
        <p:spPr>
          <a:xfrm>
            <a:off x="7038051" y="3645860"/>
            <a:ext cx="61883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CBF646AC-F135-D141-F1AE-B31DDBF198A6}"/>
              </a:ext>
            </a:extLst>
          </p:cNvPr>
          <p:cNvSpPr/>
          <p:nvPr/>
        </p:nvSpPr>
        <p:spPr bwMode="auto">
          <a:xfrm>
            <a:off x="5252516" y="4175481"/>
            <a:ext cx="1096731" cy="6220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Tool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CDEC7F-1BAC-D672-4F7D-36570D3BD728}"/>
              </a:ext>
            </a:extLst>
          </p:cNvPr>
          <p:cNvCxnSpPr>
            <a:cxnSpLocks/>
          </p:cNvCxnSpPr>
          <p:nvPr/>
        </p:nvCxnSpPr>
        <p:spPr>
          <a:xfrm flipH="1">
            <a:off x="5634941" y="3978558"/>
            <a:ext cx="281376" cy="21684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5AC9C79-EA41-E1A4-6224-7330F3FE8A1C}"/>
              </a:ext>
            </a:extLst>
          </p:cNvPr>
          <p:cNvCxnSpPr>
            <a:cxnSpLocks/>
          </p:cNvCxnSpPr>
          <p:nvPr/>
        </p:nvCxnSpPr>
        <p:spPr>
          <a:xfrm flipH="1">
            <a:off x="5832576" y="3981903"/>
            <a:ext cx="222125" cy="19357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92C0843-1F12-AF95-ED81-1C2B65223475}"/>
              </a:ext>
            </a:extLst>
          </p:cNvPr>
          <p:cNvCxnSpPr>
            <a:cxnSpLocks/>
          </p:cNvCxnSpPr>
          <p:nvPr/>
        </p:nvCxnSpPr>
        <p:spPr>
          <a:xfrm>
            <a:off x="6662744" y="3998483"/>
            <a:ext cx="281376" cy="21684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CF8246C-F0BB-E988-0BFD-2B0AD3A6A247}"/>
              </a:ext>
            </a:extLst>
          </p:cNvPr>
          <p:cNvCxnSpPr>
            <a:cxnSpLocks/>
          </p:cNvCxnSpPr>
          <p:nvPr/>
        </p:nvCxnSpPr>
        <p:spPr>
          <a:xfrm>
            <a:off x="6860379" y="3992592"/>
            <a:ext cx="222125" cy="19357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17D12F76-1A71-F94E-DE2C-59033184E9D1}"/>
              </a:ext>
            </a:extLst>
          </p:cNvPr>
          <p:cNvSpPr/>
          <p:nvPr/>
        </p:nvSpPr>
        <p:spPr bwMode="auto">
          <a:xfrm>
            <a:off x="6489685" y="4202952"/>
            <a:ext cx="1096731" cy="6220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Tool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D57828-1586-AAE8-270B-0BA2B6F18ACF}"/>
              </a:ext>
            </a:extLst>
          </p:cNvPr>
          <p:cNvSpPr txBox="1"/>
          <p:nvPr/>
        </p:nvSpPr>
        <p:spPr>
          <a:xfrm>
            <a:off x="5947683" y="2891271"/>
            <a:ext cx="8031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🤖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463852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D8404-5CD6-D917-F664-FCD4388E9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7EE0D-DF90-22E5-011B-17184FE55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Anatomy of a workflow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7413C7-7F8F-490C-D639-219CE94B9359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E8F20E44-FEB0-AE5D-37A6-C42CACDDCD49}"/>
              </a:ext>
            </a:extLst>
          </p:cNvPr>
          <p:cNvSpPr/>
          <p:nvPr/>
        </p:nvSpPr>
        <p:spPr>
          <a:xfrm>
            <a:off x="1385620" y="2487708"/>
            <a:ext cx="1151664" cy="632132"/>
          </a:xfrm>
          <a:prstGeom prst="wedgeRoundRectCallout">
            <a:avLst>
              <a:gd name="adj1" fmla="val -77665"/>
              <a:gd name="adj2" fmla="val -23174"/>
              <a:gd name="adj3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Input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3E139A-20C6-1204-511A-D403B6F5A60D}"/>
              </a:ext>
            </a:extLst>
          </p:cNvPr>
          <p:cNvSpPr/>
          <p:nvPr/>
        </p:nvSpPr>
        <p:spPr bwMode="auto">
          <a:xfrm>
            <a:off x="2999401" y="2421235"/>
            <a:ext cx="1524469" cy="76507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Executor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A344FF8-12F3-BFF5-B2F7-300B2326E50D}"/>
              </a:ext>
            </a:extLst>
          </p:cNvPr>
          <p:cNvCxnSpPr>
            <a:cxnSpLocks/>
          </p:cNvCxnSpPr>
          <p:nvPr/>
        </p:nvCxnSpPr>
        <p:spPr>
          <a:xfrm>
            <a:off x="2537284" y="2803774"/>
            <a:ext cx="462117" cy="0"/>
          </a:xfrm>
          <a:prstGeom prst="straightConnector1">
            <a:avLst/>
          </a:prstGeom>
          <a:ln w="38100">
            <a:solidFill>
              <a:srgbClr val="46A5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ular Callout 31">
            <a:extLst>
              <a:ext uri="{FF2B5EF4-FFF2-40B4-BE49-F238E27FC236}">
                <a16:creationId xmlns:a16="http://schemas.microsoft.com/office/drawing/2014/main" id="{94FF17C9-BFA4-8148-8242-EE5577E8AB01}"/>
              </a:ext>
            </a:extLst>
          </p:cNvPr>
          <p:cNvSpPr/>
          <p:nvPr/>
        </p:nvSpPr>
        <p:spPr>
          <a:xfrm>
            <a:off x="10207120" y="2577517"/>
            <a:ext cx="1576537" cy="530524"/>
          </a:xfrm>
          <a:prstGeom prst="wedgeRoundRectCallout">
            <a:avLst>
              <a:gd name="adj1" fmla="val -22005"/>
              <a:gd name="adj2" fmla="val 4642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Output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40C8D19-A2EE-6DAA-4621-8EF65AADED6C}"/>
              </a:ext>
            </a:extLst>
          </p:cNvPr>
          <p:cNvSpPr/>
          <p:nvPr/>
        </p:nvSpPr>
        <p:spPr bwMode="auto">
          <a:xfrm>
            <a:off x="5613201" y="2421235"/>
            <a:ext cx="1524469" cy="76507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Executor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35DA3AB-8A5D-9AF9-755E-6354A1F483AB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>
            <a:off x="7137670" y="2803774"/>
            <a:ext cx="10893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B18039F2-7801-6875-AB71-B6E662A929FE}"/>
              </a:ext>
            </a:extLst>
          </p:cNvPr>
          <p:cNvSpPr/>
          <p:nvPr/>
        </p:nvSpPr>
        <p:spPr bwMode="auto">
          <a:xfrm>
            <a:off x="8227001" y="2421235"/>
            <a:ext cx="1524469" cy="76507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Executor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296FD02-BB1E-5619-E843-C68EDBC02C2F}"/>
              </a:ext>
            </a:extLst>
          </p:cNvPr>
          <p:cNvCxnSpPr>
            <a:cxnSpLocks/>
          </p:cNvCxnSpPr>
          <p:nvPr/>
        </p:nvCxnSpPr>
        <p:spPr>
          <a:xfrm>
            <a:off x="9751470" y="2842779"/>
            <a:ext cx="462117" cy="0"/>
          </a:xfrm>
          <a:prstGeom prst="straightConnector1">
            <a:avLst/>
          </a:prstGeom>
          <a:ln w="38100">
            <a:solidFill>
              <a:srgbClr val="D764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717E98FF-AA93-63FE-5C88-EE4E08D7CB3B}"/>
              </a:ext>
            </a:extLst>
          </p:cNvPr>
          <p:cNvSpPr txBox="1">
            <a:spLocks/>
          </p:cNvSpPr>
          <p:nvPr/>
        </p:nvSpPr>
        <p:spPr>
          <a:xfrm>
            <a:off x="1120536" y="1633752"/>
            <a:ext cx="11059165" cy="471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A workflow is a graph with 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Executor</a:t>
            </a:r>
            <a:r>
              <a:rPr lang="en-US" sz="2400"/>
              <a:t> nodes and edges between them: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533F9F92-DE55-6659-BBB6-2C5B947655F0}"/>
              </a:ext>
            </a:extLst>
          </p:cNvPr>
          <p:cNvSpPr txBox="1">
            <a:spLocks/>
          </p:cNvSpPr>
          <p:nvPr/>
        </p:nvSpPr>
        <p:spPr>
          <a:xfrm>
            <a:off x="4523870" y="2460240"/>
            <a:ext cx="1089330" cy="471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/>
              <a:t>edge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DAA6E5CA-2963-2331-A5F6-427A647AF1A1}"/>
              </a:ext>
            </a:extLst>
          </p:cNvPr>
          <p:cNvSpPr txBox="1">
            <a:spLocks/>
          </p:cNvSpPr>
          <p:nvPr/>
        </p:nvSpPr>
        <p:spPr>
          <a:xfrm>
            <a:off x="7137669" y="2445380"/>
            <a:ext cx="1089332" cy="471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/>
              <a:t>edge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2F1BDFD-2E50-A1FD-F23E-548889F1D436}"/>
              </a:ext>
            </a:extLst>
          </p:cNvPr>
          <p:cNvCxnSpPr>
            <a:cxnSpLocks/>
          </p:cNvCxnSpPr>
          <p:nvPr/>
        </p:nvCxnSpPr>
        <p:spPr>
          <a:xfrm>
            <a:off x="4523870" y="2803774"/>
            <a:ext cx="10893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322F9BB7-9194-6DB9-B5B7-82B5948682DA}"/>
              </a:ext>
            </a:extLst>
          </p:cNvPr>
          <p:cNvSpPr txBox="1">
            <a:spLocks/>
          </p:cNvSpPr>
          <p:nvPr/>
        </p:nvSpPr>
        <p:spPr>
          <a:xfrm>
            <a:off x="1068801" y="3568851"/>
            <a:ext cx="10054398" cy="762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Each executor subclass defines handler methods that </a:t>
            </a:r>
            <a:r>
              <a:rPr lang="en-US" sz="2400" b="1"/>
              <a:t>receive messages</a:t>
            </a:r>
            <a:r>
              <a:rPr lang="en-US" sz="2400"/>
              <a:t> and may </a:t>
            </a:r>
            <a:r>
              <a:rPr lang="en-US" sz="2400" b="1"/>
              <a:t>send messages to next executor</a:t>
            </a:r>
            <a:r>
              <a:rPr lang="en-US" sz="2400"/>
              <a:t> and/or </a:t>
            </a:r>
            <a:r>
              <a:rPr lang="en-US" sz="2400" b="1"/>
              <a:t>yield outputs:</a:t>
            </a:r>
            <a:endParaRPr lang="en-US" sz="24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505E43-BC09-1694-2C78-0694A9E03E62}"/>
              </a:ext>
            </a:extLst>
          </p:cNvPr>
          <p:cNvSpPr txBox="1"/>
          <p:nvPr/>
        </p:nvSpPr>
        <p:spPr>
          <a:xfrm>
            <a:off x="1091657" y="4355909"/>
            <a:ext cx="10692000" cy="2397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9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SampleExecutor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Executor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  <a:buNone/>
            </a:pPr>
            <a:r>
              <a:rPr lang="en-US" sz="19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@handler</a:t>
            </a:r>
            <a:endParaRPr lang="en-US" sz="19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9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async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sample_handler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WorkflowContext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]):</a:t>
            </a:r>
          </a:p>
          <a:p>
            <a:pPr>
              <a:lnSpc>
                <a:spcPts val="2025"/>
              </a:lnSpc>
              <a:buNone/>
            </a:pPr>
            <a:r>
              <a:rPr lang="en-US" sz="19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await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send_message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upper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pPr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z="19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OutputExecutor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Executor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  <a:buNone/>
            </a:pPr>
            <a:r>
              <a:rPr lang="en-US" sz="19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@handler</a:t>
            </a:r>
            <a:endParaRPr lang="en-US" sz="19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9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async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sample_handler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WorkflowContext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Never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str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]):</a:t>
            </a:r>
          </a:p>
          <a:p>
            <a:pPr>
              <a:lnSpc>
                <a:spcPts val="2025"/>
              </a:lnSpc>
              <a:buNone/>
            </a:pPr>
            <a:r>
              <a:rPr lang="en-US" sz="19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await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yield_output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3234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03E88-E963-E7C7-97FA-4FECAB55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17D8C-D840-530C-E007-20633F3BB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a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CED59-3565-6FE5-B30F-000FEA50E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1746749"/>
            <a:ext cx="10985100" cy="5310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/>
              <a:t>Use 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WorkflowBuilder() </a:t>
            </a:r>
            <a:r>
              <a:rPr lang="en-US" sz="2400"/>
              <a:t>to connect instances of 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Executor() </a:t>
            </a:r>
            <a:r>
              <a:rPr lang="en-US" sz="2400">
                <a:latin typeface="Aptos" panose="020B0004020202020204" pitchFamily="34" charset="0"/>
                <a:cs typeface="Consolas" panose="020B0609020204030204" pitchFamily="49" charset="0"/>
              </a:rPr>
              <a:t>subclasses</a:t>
            </a:r>
            <a:r>
              <a:rPr lang="en-US" sz="240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0F48A3-2C41-0F56-31D3-3981A4B4B238}"/>
              </a:ext>
            </a:extLst>
          </p:cNvPr>
          <p:cNvSpPr txBox="1"/>
          <p:nvPr/>
        </p:nvSpPr>
        <p:spPr>
          <a:xfrm>
            <a:off x="1132793" y="2370065"/>
            <a:ext cx="7996134" cy="37487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agent_framework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WorkflowBuilder</a:t>
            </a:r>
            <a:endParaRPr lang="en-US" sz="22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sz="22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extract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ExtractExecutor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"extract"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chunk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ChunkExecutor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"chunk"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embed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EmbedExecutor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"embed"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endParaRPr lang="en-US" sz="22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WorkflowBuilder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start_executor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extract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extract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chunk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chunk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embed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ct val="90000"/>
              </a:lnSpc>
              <a:buNone/>
            </a:pPr>
            <a:endParaRPr lang="en-US" sz="22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events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pdf_path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outputs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events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get_outputs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03BBE-590C-A83D-FA70-D5648D5E7160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45DBD9-C562-9ABC-248D-6A13003371FC}"/>
              </a:ext>
            </a:extLst>
          </p:cNvPr>
          <p:cNvSpPr txBox="1"/>
          <p:nvPr/>
        </p:nvSpPr>
        <p:spPr>
          <a:xfrm>
            <a:off x="1132793" y="6245853"/>
            <a:ext cx="411061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2"/>
              </a:rPr>
              <a:t>workflow_rag_ingest.py</a:t>
            </a:r>
            <a:endParaRPr lang="en-US" sz="2000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875668-026C-C4B4-7938-E4EC6D962BC1}"/>
              </a:ext>
            </a:extLst>
          </p:cNvPr>
          <p:cNvSpPr/>
          <p:nvPr/>
        </p:nvSpPr>
        <p:spPr bwMode="auto">
          <a:xfrm>
            <a:off x="9335228" y="3092842"/>
            <a:ext cx="2503041" cy="672316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ExtractExecutor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06E059-B5F8-734A-E7E8-E7AC1AA65758}"/>
              </a:ext>
            </a:extLst>
          </p:cNvPr>
          <p:cNvSpPr/>
          <p:nvPr/>
        </p:nvSpPr>
        <p:spPr bwMode="auto">
          <a:xfrm>
            <a:off x="9335228" y="4181921"/>
            <a:ext cx="2503041" cy="672316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ChunkExecutor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FD2BB8-3031-B6DA-18DD-4212B1A5C3F7}"/>
              </a:ext>
            </a:extLst>
          </p:cNvPr>
          <p:cNvSpPr/>
          <p:nvPr/>
        </p:nvSpPr>
        <p:spPr bwMode="auto">
          <a:xfrm>
            <a:off x="9335228" y="5271000"/>
            <a:ext cx="2503041" cy="672316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EmbedExecutor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494CE02-C71B-6E27-289D-26F00FA7450A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10586749" y="3765158"/>
            <a:ext cx="0" cy="416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58E9AE0-3225-7BC1-D1D4-9E07258CA355}"/>
              </a:ext>
            </a:extLst>
          </p:cNvPr>
          <p:cNvCxnSpPr>
            <a:cxnSpLocks/>
          </p:cNvCxnSpPr>
          <p:nvPr/>
        </p:nvCxnSpPr>
        <p:spPr>
          <a:xfrm>
            <a:off x="10586748" y="4854237"/>
            <a:ext cx="0" cy="416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ular Callout 29">
            <a:extLst>
              <a:ext uri="{FF2B5EF4-FFF2-40B4-BE49-F238E27FC236}">
                <a16:creationId xmlns:a16="http://schemas.microsoft.com/office/drawing/2014/main" id="{13B39BA7-5A0D-3211-28DF-27A8498217A0}"/>
              </a:ext>
            </a:extLst>
          </p:cNvPr>
          <p:cNvSpPr/>
          <p:nvPr/>
        </p:nvSpPr>
        <p:spPr>
          <a:xfrm>
            <a:off x="9798479" y="6176995"/>
            <a:ext cx="1576537" cy="530524"/>
          </a:xfrm>
          <a:prstGeom prst="wedgeRoundRectCallout">
            <a:avLst>
              <a:gd name="adj1" fmla="val -22005"/>
              <a:gd name="adj2" fmla="val 4642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Output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940C35A-C863-9410-635B-833AB19124B9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586748" y="5943316"/>
            <a:ext cx="0" cy="233679"/>
          </a:xfrm>
          <a:prstGeom prst="straightConnector1">
            <a:avLst/>
          </a:prstGeom>
          <a:ln w="38100">
            <a:solidFill>
              <a:srgbClr val="D764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ular Callout 33">
            <a:extLst>
              <a:ext uri="{FF2B5EF4-FFF2-40B4-BE49-F238E27FC236}">
                <a16:creationId xmlns:a16="http://schemas.microsoft.com/office/drawing/2014/main" id="{0312B085-EB53-142D-6025-EDDB6A12B831}"/>
              </a:ext>
            </a:extLst>
          </p:cNvPr>
          <p:cNvSpPr/>
          <p:nvPr/>
        </p:nvSpPr>
        <p:spPr>
          <a:xfrm>
            <a:off x="9990920" y="2318809"/>
            <a:ext cx="1151664" cy="531047"/>
          </a:xfrm>
          <a:prstGeom prst="wedgeRoundRectCallout">
            <a:avLst>
              <a:gd name="adj1" fmla="val -65128"/>
              <a:gd name="adj2" fmla="val -21361"/>
              <a:gd name="adj3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Input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B9BCFBE-528E-8B3C-13EB-DEDFF9C34E9D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10586748" y="2849856"/>
            <a:ext cx="1" cy="242986"/>
          </a:xfrm>
          <a:prstGeom prst="straightConnector1">
            <a:avLst/>
          </a:prstGeom>
          <a:ln w="38100">
            <a:solidFill>
              <a:srgbClr val="46A5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707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96343-2BFF-6B10-7F96-4C19E91E0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3A1FD-0142-121F-C55E-9DD44D44E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Visualize workflows with DevUI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A60255-05FE-DC78-0AE3-842170DB5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2215515"/>
            <a:ext cx="3777253" cy="357082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agent-framework-devui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F3F3B9-3797-2E05-4A32-9E736445EC6F}"/>
              </a:ext>
            </a:extLst>
          </p:cNvPr>
          <p:cNvSpPr txBox="1"/>
          <p:nvPr/>
        </p:nvSpPr>
        <p:spPr>
          <a:xfrm>
            <a:off x="1049416" y="3252551"/>
            <a:ext cx="10627110" cy="7591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spcAft>
                <a:spcPts val="1200"/>
              </a:spcAft>
              <a:buNone/>
            </a:pPr>
            <a:r>
              <a:rPr lang="en-US" sz="20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agent_framework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devui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serve</a:t>
            </a: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serve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entities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],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auto_open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38F1B2-E9FD-1F0B-08A8-1584B24CD8FF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CDE2280-0210-EB3E-AFD8-C42F8482D33F}"/>
              </a:ext>
            </a:extLst>
          </p:cNvPr>
          <p:cNvSpPr txBox="1">
            <a:spLocks/>
          </p:cNvSpPr>
          <p:nvPr/>
        </p:nvSpPr>
        <p:spPr>
          <a:xfrm>
            <a:off x="1049416" y="1746749"/>
            <a:ext cx="10985100" cy="531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Install the devui package: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4460B4B-6B3C-DA96-D4DE-BB40E5524934}"/>
              </a:ext>
            </a:extLst>
          </p:cNvPr>
          <p:cNvSpPr txBox="1">
            <a:spLocks/>
          </p:cNvSpPr>
          <p:nvPr/>
        </p:nvSpPr>
        <p:spPr>
          <a:xfrm>
            <a:off x="1049416" y="2802433"/>
            <a:ext cx="10985100" cy="531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Point devui to the workflow:</a:t>
            </a:r>
          </a:p>
        </p:txBody>
      </p:sp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474830-4DC4-8389-3F17-51A038305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6" t="33686" r="36748" b="28785"/>
          <a:stretch>
            <a:fillRect/>
          </a:stretch>
        </p:blipFill>
        <p:spPr>
          <a:xfrm>
            <a:off x="956634" y="4580205"/>
            <a:ext cx="8264368" cy="2556552"/>
          </a:xfrm>
          <a:prstGeom prst="rect">
            <a:avLst/>
          </a:prstGeom>
        </p:spPr>
      </p:pic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375E90BC-40EE-46A8-70E8-6A65E42EC828}"/>
              </a:ext>
            </a:extLst>
          </p:cNvPr>
          <p:cNvSpPr txBox="1">
            <a:spLocks/>
          </p:cNvSpPr>
          <p:nvPr/>
        </p:nvSpPr>
        <p:spPr>
          <a:xfrm>
            <a:off x="1049416" y="4285404"/>
            <a:ext cx="10985100" cy="531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Run the workflow and see the progress through each node:</a:t>
            </a:r>
          </a:p>
        </p:txBody>
      </p:sp>
    </p:spTree>
    <p:extLst>
      <p:ext uri="{BB962C8B-B14F-4D97-AF65-F5344CB8AC3E}">
        <p14:creationId xmlns:p14="http://schemas.microsoft.com/office/powerpoint/2010/main" val="864947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012DB-0586-FDA0-E4A8-5DEE2AAF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8DC01-DE55-BAC1-DE95-392B0F0B7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Workflows with Agent executors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E4EA69-A63D-8634-B1F7-C3DC48969952}"/>
              </a:ext>
            </a:extLst>
          </p:cNvPr>
          <p:cNvSpPr txBox="1"/>
          <p:nvPr/>
        </p:nvSpPr>
        <p:spPr>
          <a:xfrm>
            <a:off x="1049416" y="3586921"/>
            <a:ext cx="10706015" cy="28128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name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"Writer"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instructions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"You are a concise content writer."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sz="2000">
              <a:solidFill>
                <a:srgbClr val="001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spcBef>
                <a:spcPts val="1200"/>
              </a:spcBef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name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"Reviewer"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instructions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"Review content based on clarity, accuracy, and structure."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endParaRPr lang="en-US" sz="2000">
              <a:solidFill>
                <a:srgbClr val="001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WorkflowBuilder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start_executor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sz="2000">
              <a:solidFill>
                <a:srgbClr val="001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20F897-E3A3-50BE-541B-755C4CC02DDE}"/>
              </a:ext>
            </a:extLst>
          </p:cNvPr>
          <p:cNvSpPr txBox="1"/>
          <p:nvPr/>
        </p:nvSpPr>
        <p:spPr>
          <a:xfrm>
            <a:off x="1169523" y="6476686"/>
            <a:ext cx="37189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workflow_agents.py</a:t>
            </a:r>
            <a:endParaRPr lang="en-US" sz="200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F9475-24A1-B5D5-0A7C-88DDEB6A3B03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pic>
        <p:nvPicPr>
          <p:cNvPr id="5" name="Picture 4" descr="A diagram of a link between two squares&#10;&#10;AI-generated content may be incorrect.">
            <a:extLst>
              <a:ext uri="{FF2B5EF4-FFF2-40B4-BE49-F238E27FC236}">
                <a16:creationId xmlns:a16="http://schemas.microsoft.com/office/drawing/2014/main" id="{A98D1698-6BEF-7404-A541-EAD6209A4E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4" b="11699"/>
          <a:stretch>
            <a:fillRect/>
          </a:stretch>
        </p:blipFill>
        <p:spPr>
          <a:xfrm>
            <a:off x="1019461" y="2188430"/>
            <a:ext cx="7279687" cy="132556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9D10DB3-8DB9-0719-410E-DD9EF7D16ECD}"/>
              </a:ext>
            </a:extLst>
          </p:cNvPr>
          <p:cNvSpPr txBox="1">
            <a:spLocks/>
          </p:cNvSpPr>
          <p:nvPr/>
        </p:nvSpPr>
        <p:spPr>
          <a:xfrm>
            <a:off x="1049416" y="1710422"/>
            <a:ext cx="10985100" cy="531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Every 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400"/>
              <a:t> instance can also be used as an 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Executor</a:t>
            </a:r>
            <a:r>
              <a:rPr lang="en-US" sz="2400"/>
              <a:t> in a workflow:</a:t>
            </a:r>
          </a:p>
        </p:txBody>
      </p:sp>
    </p:spTree>
    <p:extLst>
      <p:ext uri="{BB962C8B-B14F-4D97-AF65-F5344CB8AC3E}">
        <p14:creationId xmlns:p14="http://schemas.microsoft.com/office/powerpoint/2010/main" val="93640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916CB-0BF0-2867-28EA-7358DCEAA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00224-CAAB-81B2-1466-19449DA5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Streaming events from workflows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B1CBBF-54B5-7F22-3978-0DCFF422CD89}"/>
              </a:ext>
            </a:extLst>
          </p:cNvPr>
          <p:cNvSpPr txBox="1"/>
          <p:nvPr/>
        </p:nvSpPr>
        <p:spPr>
          <a:xfrm>
            <a:off x="1132793" y="2014654"/>
            <a:ext cx="10706015" cy="42216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prompt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stream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  <a:spcBef>
                <a:spcPts val="1200"/>
              </a:spcBef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"started"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"[started] for workflow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spcBef>
                <a:spcPts val="1000"/>
              </a:spcBef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elif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"executor_invoked"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"[executor_invoked] from executor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executor_id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spcBef>
                <a:spcPts val="1000"/>
              </a:spcBef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elif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"output"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isinstance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AgentResponseUpdate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flush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spcBef>
                <a:spcPts val="1000"/>
              </a:spcBef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elif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"executor_completed"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"[executor_completed] from executor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executor_id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spcBef>
                <a:spcPts val="1000"/>
              </a:spcBef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elif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"executor_failed"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"[executor_failed] from executor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executor_id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spcBef>
                <a:spcPts val="1000"/>
              </a:spcBef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elif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"error"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"[error]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44E6D3-AFDE-15F6-4984-887D4E5C022E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C6B0B7C-15F3-1F77-DC9B-B5D94B9F91F3}"/>
              </a:ext>
            </a:extLst>
          </p:cNvPr>
          <p:cNvSpPr txBox="1">
            <a:spLocks/>
          </p:cNvSpPr>
          <p:nvPr/>
        </p:nvSpPr>
        <p:spPr>
          <a:xfrm>
            <a:off x="1049416" y="1544113"/>
            <a:ext cx="10985100" cy="531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Emit events from workflows by specifying 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stream=True</a:t>
            </a:r>
            <a:r>
              <a:rPr lang="en-US" sz="2400"/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20FC98-3030-DC24-DAFB-8A79BA5E649B}"/>
              </a:ext>
            </a:extLst>
          </p:cNvPr>
          <p:cNvSpPr txBox="1"/>
          <p:nvPr/>
        </p:nvSpPr>
        <p:spPr>
          <a:xfrm>
            <a:off x="1169523" y="6476686"/>
            <a:ext cx="495206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workflow_agents_streaming.py</a:t>
            </a:r>
            <a:endParaRPr lang="en-US" sz="2000" err="1"/>
          </a:p>
        </p:txBody>
      </p:sp>
    </p:spTree>
    <p:extLst>
      <p:ext uri="{BB962C8B-B14F-4D97-AF65-F5344CB8AC3E}">
        <p14:creationId xmlns:p14="http://schemas.microsoft.com/office/powerpoint/2010/main" val="112785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A2B9C-1B31-4501-6C86-F163C2918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E282B-E4C2-E5FE-1FBC-25736DBEE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Built-in workflow builder: SequentialBuilder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7D1CB8-4BC7-C1DE-448E-9B4D33681793}"/>
              </a:ext>
            </a:extLst>
          </p:cNvPr>
          <p:cNvSpPr txBox="1"/>
          <p:nvPr/>
        </p:nvSpPr>
        <p:spPr>
          <a:xfrm>
            <a:off x="1132793" y="2294143"/>
            <a:ext cx="10706015" cy="1446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agent_framework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orchestrations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SequentialBuilder</a:t>
            </a:r>
            <a:endParaRPr lang="en-US" sz="22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endParaRPr lang="en-US" sz="2200">
              <a:solidFill>
                <a:srgbClr val="001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SequentialBuilder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participants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reviewer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pPr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69BA3-1DC0-1A31-6A10-9025ED449849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79CA0D6-6732-D832-FCEA-7415ED56EFA0}"/>
              </a:ext>
            </a:extLst>
          </p:cNvPr>
          <p:cNvSpPr txBox="1">
            <a:spLocks/>
          </p:cNvSpPr>
          <p:nvPr/>
        </p:nvSpPr>
        <p:spPr>
          <a:xfrm>
            <a:off x="1049416" y="1698627"/>
            <a:ext cx="10985100" cy="531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If you're building a linear conversation pipeline, you can use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SequentialBuilder</a:t>
            </a:r>
            <a:r>
              <a:rPr lang="en-US" sz="2400"/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1FAB8E-4491-E014-08FB-50E43B11EF50}"/>
              </a:ext>
            </a:extLst>
          </p:cNvPr>
          <p:cNvSpPr txBox="1"/>
          <p:nvPr/>
        </p:nvSpPr>
        <p:spPr>
          <a:xfrm>
            <a:off x="1132793" y="6280130"/>
            <a:ext cx="501637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workflow_agents_sequential.py</a:t>
            </a:r>
            <a:endParaRPr lang="en-US" sz="2000" err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F9D2B9-1B4E-72EC-2328-23CC1DCB2F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21" b="10823"/>
          <a:stretch>
            <a:fillRect/>
          </a:stretch>
        </p:blipFill>
        <p:spPr>
          <a:xfrm>
            <a:off x="1049416" y="3857903"/>
            <a:ext cx="10848706" cy="1084743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0696F1-6239-DDE0-38E8-A221EC9CE48C}"/>
              </a:ext>
            </a:extLst>
          </p:cNvPr>
          <p:cNvSpPr txBox="1">
            <a:spLocks/>
          </p:cNvSpPr>
          <p:nvPr/>
        </p:nvSpPr>
        <p:spPr>
          <a:xfrm>
            <a:off x="1049416" y="5008433"/>
            <a:ext cx="10985100" cy="1359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300"/>
              <a:t>The workflow assumes that participants accept and emit conversation-shaped data, so executors must be </a:t>
            </a:r>
            <a:r>
              <a:rPr lang="en-US" sz="23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300"/>
              <a:t>s or custom </a:t>
            </a:r>
            <a:r>
              <a:rPr lang="en-US" sz="2300">
                <a:solidFill>
                  <a:srgbClr val="267F99"/>
                </a:solidFill>
              </a:rPr>
              <a:t>Executor</a:t>
            </a:r>
            <a:r>
              <a:rPr lang="en-US" sz="2300"/>
              <a:t>s that process conversations.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300"/>
              <a:t>The extra start/end nodes normalize input and output to </a:t>
            </a:r>
            <a:r>
              <a:rPr lang="en-US" sz="23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list[Message]</a:t>
            </a:r>
            <a:r>
              <a:rPr lang="en-US" sz="230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5557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0A7A9-8B2F-6A38-842C-F9C85E6C2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31E74-2A33-53B4-10F9-24A142C3B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Branching workflows</a:t>
            </a:r>
          </a:p>
        </p:txBody>
      </p:sp>
    </p:spTree>
    <p:extLst>
      <p:ext uri="{BB962C8B-B14F-4D97-AF65-F5344CB8AC3E}">
        <p14:creationId xmlns:p14="http://schemas.microsoft.com/office/powerpoint/2010/main" val="3148834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2D3F3-E22B-4ED9-B73C-1733E3C42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246DE-E05B-F041-C01C-77D503F0C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Workflow with conditional branching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3BAAB-69A4-B20F-DE54-A67032376D02}"/>
              </a:ext>
            </a:extLst>
          </p:cNvPr>
          <p:cNvSpPr txBox="1"/>
          <p:nvPr/>
        </p:nvSpPr>
        <p:spPr>
          <a:xfrm>
            <a:off x="1153399" y="3537962"/>
            <a:ext cx="10706015" cy="2811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needs_revision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agent_response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upper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startswith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"REVISION NEEDED"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spcBef>
                <a:spcPts val="600"/>
              </a:spcBef>
              <a:buNone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is_approved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agent_response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upper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startswith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"APPROVED"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>
              <a:solidFill>
                <a:srgbClr val="001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endParaRPr lang="en-US">
              <a:solidFill>
                <a:srgbClr val="001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WorkflowBuilder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start_executor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publisher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condition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is_approved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editor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condition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needs_revision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C14C5-076D-543E-8C64-377D19FED118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7CA45B-DEE9-DF42-32ED-5437CF7F9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84" r="2748" b="7346"/>
          <a:stretch>
            <a:fillRect/>
          </a:stretch>
        </p:blipFill>
        <p:spPr>
          <a:xfrm>
            <a:off x="1153399" y="1626441"/>
            <a:ext cx="5998172" cy="18025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A0B513-CCAD-B78C-E4A2-413EF63937A4}"/>
              </a:ext>
            </a:extLst>
          </p:cNvPr>
          <p:cNvSpPr txBox="1"/>
          <p:nvPr/>
        </p:nvSpPr>
        <p:spPr>
          <a:xfrm>
            <a:off x="1132793" y="6398102"/>
            <a:ext cx="423353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4"/>
              </a:rPr>
              <a:t>workflow_conditional.py</a:t>
            </a:r>
            <a:endParaRPr lang="en-US" sz="2000" err="1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48B18E2-5E82-D619-41A7-AA99C0F435F0}"/>
              </a:ext>
            </a:extLst>
          </p:cNvPr>
          <p:cNvSpPr txBox="1">
            <a:spLocks/>
          </p:cNvSpPr>
          <p:nvPr/>
        </p:nvSpPr>
        <p:spPr>
          <a:xfrm>
            <a:off x="7255554" y="1892783"/>
            <a:ext cx="2948268" cy="531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Each edge in a graph can have a condition (function that returns True/False).</a:t>
            </a:r>
          </a:p>
        </p:txBody>
      </p:sp>
    </p:spTree>
    <p:extLst>
      <p:ext uri="{BB962C8B-B14F-4D97-AF65-F5344CB8AC3E}">
        <p14:creationId xmlns:p14="http://schemas.microsoft.com/office/powerpoint/2010/main" val="80353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CE87F-C563-90AF-3D9E-BEE9B60A6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1FABB-8745-939D-6E71-86B32660E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Text output is fragile for workflow control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FC3C9-73D0-0899-EE12-B9F1CB424E78}"/>
              </a:ext>
            </a:extLst>
          </p:cNvPr>
          <p:cNvSpPr txBox="1"/>
          <p:nvPr/>
        </p:nvSpPr>
        <p:spPr>
          <a:xfrm>
            <a:off x="1132793" y="3540624"/>
            <a:ext cx="10706015" cy="11951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needs_revision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agent_response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upper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startswith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"REVISION NEEDED"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spcBef>
                <a:spcPts val="600"/>
              </a:spcBef>
              <a:buNone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is_approved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agent_response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upper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startswith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"APPROVED"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07A545-30FC-A11A-8A16-CE2EE8B6B488}"/>
              </a:ext>
            </a:extLst>
          </p:cNvPr>
          <p:cNvSpPr txBox="1"/>
          <p:nvPr/>
        </p:nvSpPr>
        <p:spPr>
          <a:xfrm>
            <a:off x="1132793" y="2123525"/>
            <a:ext cx="10706015" cy="8617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Your response MUST begin with exactly one of these two tokens: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APPROVED — if the draft is clear, accurate, and well-structured.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REVISION NEEDED — if it requires improvement.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C6D932E-9EAD-D7D1-D542-0B018D3657E0}"/>
              </a:ext>
            </a:extLst>
          </p:cNvPr>
          <p:cNvSpPr txBox="1">
            <a:spLocks/>
          </p:cNvSpPr>
          <p:nvPr/>
        </p:nvSpPr>
        <p:spPr>
          <a:xfrm>
            <a:off x="1132793" y="1624277"/>
            <a:ext cx="9071029" cy="531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System prompt for the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Reviewer</a:t>
            </a:r>
            <a:r>
              <a:rPr lang="en-US" sz="2400"/>
              <a:t> agent: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FD61CB7-79E2-AEE3-222C-76EB3DE416DE}"/>
              </a:ext>
            </a:extLst>
          </p:cNvPr>
          <p:cNvSpPr txBox="1">
            <a:spLocks/>
          </p:cNvSpPr>
          <p:nvPr/>
        </p:nvSpPr>
        <p:spPr>
          <a:xfrm>
            <a:off x="1132793" y="3109278"/>
            <a:ext cx="11312672" cy="531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Condition functions that route based on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Reviewer</a:t>
            </a:r>
            <a:r>
              <a:rPr lang="en-US" sz="2400"/>
              <a:t> response: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F5F1B1E-E79E-042A-D940-10664DD3888D}"/>
              </a:ext>
            </a:extLst>
          </p:cNvPr>
          <p:cNvSpPr txBox="1">
            <a:spLocks/>
          </p:cNvSpPr>
          <p:nvPr/>
        </p:nvSpPr>
        <p:spPr>
          <a:xfrm>
            <a:off x="1132793" y="4833446"/>
            <a:ext cx="3641338" cy="531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What can go wrong?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689126B-4BFC-90EC-B25D-0C87F3BDE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631509"/>
              </p:ext>
            </p:extLst>
          </p:nvPr>
        </p:nvGraphicFramePr>
        <p:xfrm>
          <a:off x="1132793" y="5233723"/>
          <a:ext cx="10830606" cy="148336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3676589">
                  <a:extLst>
                    <a:ext uri="{9D8B030D-6E8A-4147-A177-3AD203B41FA5}">
                      <a16:colId xmlns:a16="http://schemas.microsoft.com/office/drawing/2014/main" val="2414139204"/>
                    </a:ext>
                  </a:extLst>
                </a:gridCol>
                <a:gridCol w="4109988">
                  <a:extLst>
                    <a:ext uri="{9D8B030D-6E8A-4147-A177-3AD203B41FA5}">
                      <a16:colId xmlns:a16="http://schemas.microsoft.com/office/drawing/2014/main" val="3688140723"/>
                    </a:ext>
                  </a:extLst>
                </a:gridCol>
                <a:gridCol w="3044029">
                  <a:extLst>
                    <a:ext uri="{9D8B030D-6E8A-4147-A177-3AD203B41FA5}">
                      <a16:colId xmlns:a16="http://schemas.microsoft.com/office/drawing/2014/main" val="25949923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Leading whitespace/newline/prefix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Review result: 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⁉️ No condition matched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064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Localization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APROBADO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⁉️ No condition matched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54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False positive 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APPROVED, but major issues remain..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😱 Routes to wrong 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339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Mixed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APPROVED....REVISION REQUIRED...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🤔 Unclear intent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088645"/>
                  </a:ext>
                </a:extLst>
              </a:tr>
            </a:tbl>
          </a:graphicData>
        </a:graphic>
      </p:graphicFrame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D178BCE-3E8B-92D3-1318-97C77C45D4AD}"/>
              </a:ext>
            </a:extLst>
          </p:cNvPr>
          <p:cNvSpPr txBox="1">
            <a:spLocks/>
          </p:cNvSpPr>
          <p:nvPr/>
        </p:nvSpPr>
        <p:spPr>
          <a:xfrm>
            <a:off x="8804127" y="4833445"/>
            <a:ext cx="1399695" cy="531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Result:</a:t>
            </a:r>
          </a:p>
        </p:txBody>
      </p:sp>
    </p:spTree>
    <p:extLst>
      <p:ext uri="{BB962C8B-B14F-4D97-AF65-F5344CB8AC3E}">
        <p14:creationId xmlns:p14="http://schemas.microsoft.com/office/powerpoint/2010/main" val="850306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1D841-E6F4-51F3-CF11-FF4225426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F518-1AA7-1A8B-604D-3A545EAF7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Unstructured text vs. structured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923646-218B-5FF2-B6CC-7F534F31B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079" y="2842728"/>
            <a:ext cx="2950688" cy="117254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791934-FE0E-2638-C0A0-5BFE235907C9}"/>
              </a:ext>
            </a:extLst>
          </p:cNvPr>
          <p:cNvCxnSpPr>
            <a:cxnSpLocks/>
          </p:cNvCxnSpPr>
          <p:nvPr/>
        </p:nvCxnSpPr>
        <p:spPr>
          <a:xfrm>
            <a:off x="3223423" y="4015272"/>
            <a:ext cx="0" cy="416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F9142F-BE4A-840E-BA71-9277457606FB}"/>
              </a:ext>
            </a:extLst>
          </p:cNvPr>
          <p:cNvSpPr txBox="1"/>
          <p:nvPr/>
        </p:nvSpPr>
        <p:spPr>
          <a:xfrm>
            <a:off x="1357039" y="4432035"/>
            <a:ext cx="3879101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b="0" i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REVISION NEEDED</a:t>
            </a:r>
          </a:p>
          <a:p>
            <a:pPr algn="l" latinLnBrk="1">
              <a:buNone/>
            </a:pPr>
            <a:endParaRPr lang="en-US" b="0" i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latinLnBrk="1">
              <a:buNone/>
            </a:pPr>
            <a:r>
              <a:rPr lang="en-US" b="0" i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Problems to fix</a:t>
            </a:r>
          </a:p>
          <a:p>
            <a:pPr algn="l" latinLnBrk="1">
              <a:buNone/>
            </a:pPr>
            <a:r>
              <a:rPr lang="en-US" b="0" i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 Remove em dashes. Replace each "—" with a comma, semicolon, or parentheses.".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55B250-FCD8-7F58-E2C1-B978EAE45ED8}"/>
              </a:ext>
            </a:extLst>
          </p:cNvPr>
          <p:cNvSpPr txBox="1"/>
          <p:nvPr/>
        </p:nvSpPr>
        <p:spPr>
          <a:xfrm>
            <a:off x="7152136" y="4432035"/>
            <a:ext cx="4478954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b="0" i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algn="l" latinLnBrk="1">
              <a:buNone/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"decision"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b="0" i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REVISION NEEDED"</a:t>
            </a:r>
            <a:r>
              <a:rPr lang="en-US" b="0" i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latinLnBrk="1"/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"feedback"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b="0" i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Problems to fix: Remove em dashes. Replace each "—" with a comma, semicolon, or parentheses."</a:t>
            </a:r>
          </a:p>
          <a:p>
            <a:pPr latinLnBrk="1"/>
            <a:r>
              <a:rPr lang="en-US" b="0" i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ABBEA11-D484-B324-4E2A-45763BA5F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269" y="2838866"/>
            <a:ext cx="2950688" cy="1172544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86AECB9-41AD-7D39-BC1E-BD5F2823D751}"/>
              </a:ext>
            </a:extLst>
          </p:cNvPr>
          <p:cNvCxnSpPr>
            <a:cxnSpLocks/>
          </p:cNvCxnSpPr>
          <p:nvPr/>
        </p:nvCxnSpPr>
        <p:spPr>
          <a:xfrm>
            <a:off x="9391613" y="4011410"/>
            <a:ext cx="0" cy="416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9DA97BD-753F-5C48-8D51-E9C7F7014914}"/>
              </a:ext>
            </a:extLst>
          </p:cNvPr>
          <p:cNvSpPr txBox="1">
            <a:spLocks/>
          </p:cNvSpPr>
          <p:nvPr/>
        </p:nvSpPr>
        <p:spPr>
          <a:xfrm>
            <a:off x="6458552" y="1991560"/>
            <a:ext cx="5504846" cy="531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If an LLM supports</a:t>
            </a:r>
            <a:r>
              <a:rPr lang="en-US" sz="2200" i="1"/>
              <a:t> structured outputs</a:t>
            </a:r>
            <a:r>
              <a:rPr lang="en-US" sz="2200"/>
              <a:t>, you can force output to conform to schema: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D03FE59-4DB6-180A-1653-463F0BD239A9}"/>
              </a:ext>
            </a:extLst>
          </p:cNvPr>
          <p:cNvSpPr txBox="1">
            <a:spLocks/>
          </p:cNvSpPr>
          <p:nvPr/>
        </p:nvSpPr>
        <p:spPr>
          <a:xfrm>
            <a:off x="1285040" y="1991560"/>
            <a:ext cx="3604594" cy="79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The default output for an LLM is free text:</a:t>
            </a:r>
          </a:p>
        </p:txBody>
      </p:sp>
    </p:spTree>
    <p:extLst>
      <p:ext uri="{BB962C8B-B14F-4D97-AF65-F5344CB8AC3E}">
        <p14:creationId xmlns:p14="http://schemas.microsoft.com/office/powerpoint/2010/main" val="3700455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797B7-569C-3A4B-CE98-582F9B197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0A85-5105-E4CD-6986-03E6D8F6C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Using structured outputs for workflow decisions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DCDCCE-71FC-8CE5-71B6-303B0550C434}"/>
              </a:ext>
            </a:extLst>
          </p:cNvPr>
          <p:cNvSpPr txBox="1"/>
          <p:nvPr/>
        </p:nvSpPr>
        <p:spPr>
          <a:xfrm>
            <a:off x="1132793" y="2207333"/>
            <a:ext cx="10789920" cy="39395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ReviewDecision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BaseModel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decision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Literal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"APPROVED"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"REVISION_NEEDED"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feedback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final_post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endParaRPr lang="en-US">
              <a:solidFill>
                <a:srgbClr val="001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name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"Reviewer"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instructions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=(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"You are a strict content reviewer."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"If draft is ready, set decision=APPROVED and include final post in final_post. "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"If it needs changes, set decision=REVISION_NEEDED and provide feedback."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response_format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ReviewDecision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is_approved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Any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result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ReviewDecision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model_validate_json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.agent_response.text)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decision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"APPROVED"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7DAB06-D42E-5A22-4BC3-86C2C04A2AA3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0A5F15-837D-C7B1-4AE9-021906A8ECC8}"/>
              </a:ext>
            </a:extLst>
          </p:cNvPr>
          <p:cNvSpPr txBox="1"/>
          <p:nvPr/>
        </p:nvSpPr>
        <p:spPr>
          <a:xfrm>
            <a:off x="1132793" y="6398102"/>
            <a:ext cx="550791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workflow_conditional_structured.py</a:t>
            </a:r>
            <a:endParaRPr lang="en-US" sz="2000" err="1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C3B4B2B-B9C8-EE0C-6223-0EBB9BB4E2FC}"/>
              </a:ext>
            </a:extLst>
          </p:cNvPr>
          <p:cNvSpPr txBox="1">
            <a:spLocks/>
          </p:cNvSpPr>
          <p:nvPr/>
        </p:nvSpPr>
        <p:spPr>
          <a:xfrm>
            <a:off x="1132793" y="1690580"/>
            <a:ext cx="11312672" cy="531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Specify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response_format </a:t>
            </a:r>
            <a:r>
              <a:rPr lang="en-US" sz="2400"/>
              <a:t>for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400"/>
              <a:t> and convert response to that model:</a:t>
            </a:r>
          </a:p>
        </p:txBody>
      </p:sp>
    </p:spTree>
    <p:extLst>
      <p:ext uri="{BB962C8B-B14F-4D97-AF65-F5344CB8AC3E}">
        <p14:creationId xmlns:p14="http://schemas.microsoft.com/office/powerpoint/2010/main" val="663704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D9A94-54FC-F3B3-81B2-5C38CB5C4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E58CE-1EA7-4BE2-EB35-F6413ADEE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Category-based routing with structured outputs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E1F21F-F87F-B3EC-6D09-D0BBB091C6FC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D29B009-03F1-C85F-2F01-2ABD17EA0BF0}"/>
              </a:ext>
            </a:extLst>
          </p:cNvPr>
          <p:cNvSpPr txBox="1">
            <a:spLocks/>
          </p:cNvSpPr>
          <p:nvPr/>
        </p:nvSpPr>
        <p:spPr>
          <a:xfrm>
            <a:off x="1132793" y="1690580"/>
            <a:ext cx="11312672" cy="531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A05042-F88B-6478-4F58-EDD38CD0B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925" y="2014654"/>
            <a:ext cx="8485519" cy="4058957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FFFEC03-9262-DDFE-9771-89F04DDD68DC}"/>
              </a:ext>
            </a:extLst>
          </p:cNvPr>
          <p:cNvCxnSpPr>
            <a:cxnSpLocks/>
          </p:cNvCxnSpPr>
          <p:nvPr/>
        </p:nvCxnSpPr>
        <p:spPr>
          <a:xfrm>
            <a:off x="2695069" y="4363137"/>
            <a:ext cx="0" cy="4784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84F6853D-2C37-6587-6D42-B20A5605F904}"/>
              </a:ext>
            </a:extLst>
          </p:cNvPr>
          <p:cNvSpPr/>
          <p:nvPr/>
        </p:nvSpPr>
        <p:spPr>
          <a:xfrm>
            <a:off x="1791060" y="2595225"/>
            <a:ext cx="1781092" cy="632132"/>
          </a:xfrm>
          <a:prstGeom prst="wedgeRoundRectCallout">
            <a:avLst>
              <a:gd name="adj1" fmla="val -56774"/>
              <a:gd name="adj2" fmla="val -26219"/>
              <a:gd name="adj3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how do I reset my password?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D9CB05-EDFD-5F6F-8C78-ABA025AC930D}"/>
              </a:ext>
            </a:extLst>
          </p:cNvPr>
          <p:cNvCxnSpPr>
            <a:cxnSpLocks/>
          </p:cNvCxnSpPr>
          <p:nvPr/>
        </p:nvCxnSpPr>
        <p:spPr>
          <a:xfrm>
            <a:off x="2681606" y="3227357"/>
            <a:ext cx="0" cy="526567"/>
          </a:xfrm>
          <a:prstGeom prst="straightConnector1">
            <a:avLst/>
          </a:prstGeom>
          <a:ln w="38100">
            <a:solidFill>
              <a:srgbClr val="46A5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BC6626-AD54-77C2-FA18-B6BC6E5A4C4C}"/>
              </a:ext>
            </a:extLst>
          </p:cNvPr>
          <p:cNvSpPr txBox="1"/>
          <p:nvPr/>
        </p:nvSpPr>
        <p:spPr>
          <a:xfrm>
            <a:off x="1383050" y="4841578"/>
            <a:ext cx="2630684" cy="11695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1400" b="0" i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algn="l" latinLnBrk="1">
              <a:buNone/>
            </a:pP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"category"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400" b="0" i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Question"</a:t>
            </a:r>
            <a:r>
              <a:rPr lang="en-US" sz="1400" b="0" i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latinLnBrk="1"/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"reasoning"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400" b="0" i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The input is asking a question."</a:t>
            </a:r>
          </a:p>
          <a:p>
            <a:pPr latinLnBrk="1"/>
            <a:r>
              <a:rPr lang="en-US" sz="1400" b="0" i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BAFB2-D573-1470-5A93-FCD891469D24}"/>
              </a:ext>
            </a:extLst>
          </p:cNvPr>
          <p:cNvSpPr txBox="1"/>
          <p:nvPr/>
        </p:nvSpPr>
        <p:spPr>
          <a:xfrm>
            <a:off x="7534662" y="1815860"/>
            <a:ext cx="2177227" cy="2923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atinLnBrk="1">
              <a:buNone/>
            </a:pPr>
            <a:r>
              <a:rPr lang="en-US" sz="1300" b="0" i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category=="Question":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D16EA3-FCBA-3047-2801-ED9DA7C02565}"/>
              </a:ext>
            </a:extLst>
          </p:cNvPr>
          <p:cNvSpPr txBox="1"/>
          <p:nvPr/>
        </p:nvSpPr>
        <p:spPr>
          <a:xfrm>
            <a:off x="7534662" y="3392444"/>
            <a:ext cx="2177227" cy="2923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atinLnBrk="1">
              <a:buNone/>
            </a:pPr>
            <a:r>
              <a:rPr lang="en-US" sz="1300" b="0" i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category=="Complaint":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B19855-642D-8BB1-634A-DADD403E283A}"/>
              </a:ext>
            </a:extLst>
          </p:cNvPr>
          <p:cNvSpPr txBox="1"/>
          <p:nvPr/>
        </p:nvSpPr>
        <p:spPr>
          <a:xfrm>
            <a:off x="7534662" y="4930528"/>
            <a:ext cx="2177227" cy="2923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atinLnBrk="1">
              <a:buNone/>
            </a:pPr>
            <a:r>
              <a:rPr lang="en-US" sz="1300" b="0" i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Default:</a:t>
            </a:r>
          </a:p>
        </p:txBody>
      </p:sp>
    </p:spTree>
    <p:extLst>
      <p:ext uri="{BB962C8B-B14F-4D97-AF65-F5344CB8AC3E}">
        <p14:creationId xmlns:p14="http://schemas.microsoft.com/office/powerpoint/2010/main" val="4081521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B92EB-0E9F-9BD7-B203-2AE25F2C1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036DF-7756-0EDF-1A90-5B11EE42C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Using switch-case edges in workflows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B8A326-8CED-CCF8-C7CB-27110DAF32F4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C86FF2-ABE8-96B7-749B-785E8E02187C}"/>
              </a:ext>
            </a:extLst>
          </p:cNvPr>
          <p:cNvSpPr txBox="1"/>
          <p:nvPr/>
        </p:nvSpPr>
        <p:spPr>
          <a:xfrm>
            <a:off x="1132793" y="6398102"/>
            <a:ext cx="434997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workflow_switch_case.py</a:t>
            </a:r>
            <a:endParaRPr lang="en-US" sz="2000" err="1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E5C9894-A93E-0BFE-9548-397260E4139F}"/>
              </a:ext>
            </a:extLst>
          </p:cNvPr>
          <p:cNvSpPr txBox="1">
            <a:spLocks/>
          </p:cNvSpPr>
          <p:nvPr/>
        </p:nvSpPr>
        <p:spPr>
          <a:xfrm>
            <a:off x="1132793" y="1690580"/>
            <a:ext cx="11312672" cy="531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Add a switch-case edge group with an executor that categorizes output: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45686-E306-8BEA-36D6-C1147E95815E}"/>
              </a:ext>
            </a:extLst>
          </p:cNvPr>
          <p:cNvSpPr txBox="1"/>
          <p:nvPr/>
        </p:nvSpPr>
        <p:spPr>
          <a:xfrm>
            <a:off x="1132793" y="2305455"/>
            <a:ext cx="10913981" cy="39703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classifier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(...,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response_format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ClassifyResult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@executor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"extract_category"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extract_category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result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ClassifyResult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model_validate_json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await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send_message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endParaRPr lang="en-US" sz="2000" b="0">
              <a:solidFill>
                <a:srgbClr val="00108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WorkflowBuilder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start_executor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classifier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classifier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extract_category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add_switch_case_edge_group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extract_category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Case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condition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is_question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target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handle_question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Case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condition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is_complaint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target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handle_complaint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Default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target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handle_feedback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)])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build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8E89DF-248F-0DD7-397F-B353B380FA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6"/>
          <a:stretch>
            <a:fillRect/>
          </a:stretch>
        </p:blipFill>
        <p:spPr>
          <a:xfrm>
            <a:off x="9625263" y="4290614"/>
            <a:ext cx="2322430" cy="175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511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1D50C-080A-562E-446F-FE4BAF33E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4DC21-25E5-AE7D-8CB2-7B9BBD6A6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management</a:t>
            </a:r>
          </a:p>
        </p:txBody>
      </p:sp>
    </p:spTree>
    <p:extLst>
      <p:ext uri="{BB962C8B-B14F-4D97-AF65-F5344CB8AC3E}">
        <p14:creationId xmlns:p14="http://schemas.microsoft.com/office/powerpoint/2010/main" val="3283870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F0052-C21B-C8AE-A6FA-EF46013B9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CEB1-F30C-98A8-D770-E705743FA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When do we need workflow state?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2DF261D-E8DB-1F6B-7B4E-42E213396809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2535847" y="2639624"/>
            <a:ext cx="9625" cy="8839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BBBB011-7925-4913-036F-4BCA292A5823}"/>
              </a:ext>
            </a:extLst>
          </p:cNvPr>
          <p:cNvCxnSpPr>
            <a:cxnSpLocks/>
          </p:cNvCxnSpPr>
          <p:nvPr/>
        </p:nvCxnSpPr>
        <p:spPr>
          <a:xfrm>
            <a:off x="2535847" y="4004109"/>
            <a:ext cx="1" cy="14830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E2034DC-D4FF-3F66-51A9-29367EC02D06}"/>
              </a:ext>
            </a:extLst>
          </p:cNvPr>
          <p:cNvSpPr txBox="1"/>
          <p:nvPr/>
        </p:nvSpPr>
        <p:spPr>
          <a:xfrm>
            <a:off x="1087245" y="4421492"/>
            <a:ext cx="2897204" cy="8125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l" latinLnBrk="1">
              <a:lnSpc>
                <a:spcPct val="90000"/>
              </a:lnSpc>
              <a:buNone/>
            </a:pPr>
            <a:r>
              <a:rPr lang="en-US" sz="1300" b="0" i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algn="l" latinLnBrk="1">
              <a:lnSpc>
                <a:spcPct val="90000"/>
              </a:lnSpc>
              <a:buNone/>
            </a:pPr>
            <a:r>
              <a:rPr lang="en-US" sz="13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3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"decision"</a:t>
            </a:r>
            <a:r>
              <a:rPr lang="en-US" sz="130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3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300" b="0" i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APPROVED"</a:t>
            </a:r>
            <a:r>
              <a:rPr lang="en-US" sz="1300" b="0" i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latinLnBrk="1">
              <a:lnSpc>
                <a:spcPct val="90000"/>
              </a:lnSpc>
            </a:pPr>
            <a:r>
              <a:rPr lang="en-US" sz="13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3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"post_text"</a:t>
            </a:r>
            <a:r>
              <a:rPr lang="en-US" sz="130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3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"These are 5..</a:t>
            </a:r>
            <a:r>
              <a:rPr lang="en-US" sz="1300" b="0" i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 latinLnBrk="1">
              <a:lnSpc>
                <a:spcPct val="90000"/>
              </a:lnSpc>
            </a:pPr>
            <a:r>
              <a:rPr lang="en-US" sz="1300" b="0" i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EC451B-1CE4-6915-7384-EBB232B1E2BE}"/>
              </a:ext>
            </a:extLst>
          </p:cNvPr>
          <p:cNvSpPr txBox="1"/>
          <p:nvPr/>
        </p:nvSpPr>
        <p:spPr>
          <a:xfrm>
            <a:off x="1087245" y="3012209"/>
            <a:ext cx="2944924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1400" b="0" i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"These are 5 reasons why..."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9063091D-4A78-2016-E012-F1B4C15B4651}"/>
              </a:ext>
            </a:extLst>
          </p:cNvPr>
          <p:cNvSpPr txBox="1">
            <a:spLocks/>
          </p:cNvSpPr>
          <p:nvPr/>
        </p:nvSpPr>
        <p:spPr>
          <a:xfrm>
            <a:off x="1049416" y="6317230"/>
            <a:ext cx="4745127" cy="531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Reviewer must carry content that it didn't produce, just to pass it downstream.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7CDD462-02F7-9979-B959-27A2DE7EC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87" t="2124" r="30638" b="86404"/>
          <a:stretch>
            <a:fillRect/>
          </a:stretch>
        </p:blipFill>
        <p:spPr>
          <a:xfrm>
            <a:off x="1096870" y="2108137"/>
            <a:ext cx="2897204" cy="77964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5920A84-4C64-53C3-102B-C26B080269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87" t="43950" r="30638" b="44861"/>
          <a:stretch>
            <a:fillRect/>
          </a:stretch>
        </p:blipFill>
        <p:spPr>
          <a:xfrm>
            <a:off x="1087245" y="3523579"/>
            <a:ext cx="2897204" cy="76039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1558A36-1139-615B-D20F-FCB2A55B36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6" t="85751" r="50726" b="3060"/>
          <a:stretch>
            <a:fillRect/>
          </a:stretch>
        </p:blipFill>
        <p:spPr>
          <a:xfrm>
            <a:off x="1049416" y="5432409"/>
            <a:ext cx="2972863" cy="760395"/>
          </a:xfrm>
          <a:prstGeom prst="rect">
            <a:avLst/>
          </a:prstGeom>
        </p:spPr>
      </p:pic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1912343F-16C3-C7AD-FAF3-C8540AE4230D}"/>
              </a:ext>
            </a:extLst>
          </p:cNvPr>
          <p:cNvSpPr txBox="1">
            <a:spLocks/>
          </p:cNvSpPr>
          <p:nvPr/>
        </p:nvSpPr>
        <p:spPr>
          <a:xfrm>
            <a:off x="1033896" y="1689273"/>
            <a:ext cx="1895141" cy="3148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Without state: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54A6A30-4AD8-F403-1000-5D6F3169427F}"/>
              </a:ext>
            </a:extLst>
          </p:cNvPr>
          <p:cNvCxnSpPr>
            <a:cxnSpLocks/>
          </p:cNvCxnSpPr>
          <p:nvPr/>
        </p:nvCxnSpPr>
        <p:spPr>
          <a:xfrm>
            <a:off x="7547002" y="2639624"/>
            <a:ext cx="0" cy="7773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C362AD6-8FA3-D1DA-F5A0-DECEEC354B59}"/>
              </a:ext>
            </a:extLst>
          </p:cNvPr>
          <p:cNvCxnSpPr>
            <a:cxnSpLocks/>
          </p:cNvCxnSpPr>
          <p:nvPr/>
        </p:nvCxnSpPr>
        <p:spPr>
          <a:xfrm>
            <a:off x="7537377" y="4004109"/>
            <a:ext cx="1" cy="14830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74E1499-F010-2637-F878-9FD71DE573B2}"/>
              </a:ext>
            </a:extLst>
          </p:cNvPr>
          <p:cNvSpPr txBox="1"/>
          <p:nvPr/>
        </p:nvSpPr>
        <p:spPr>
          <a:xfrm>
            <a:off x="6284810" y="4455183"/>
            <a:ext cx="2524383" cy="6740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l" latinLnBrk="1">
              <a:lnSpc>
                <a:spcPct val="90000"/>
              </a:lnSpc>
              <a:buNone/>
            </a:pPr>
            <a:r>
              <a:rPr lang="en-US" sz="1400" b="0" i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algn="l" latinLnBrk="1">
              <a:lnSpc>
                <a:spcPct val="90000"/>
              </a:lnSpc>
              <a:buNone/>
            </a:pP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"decision"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400" b="0" i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APPROVED"</a:t>
            </a:r>
            <a:endParaRPr lang="en-US" sz="1400">
              <a:solidFill>
                <a:srgbClr val="267F9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latinLnBrk="1">
              <a:lnSpc>
                <a:spcPct val="90000"/>
              </a:lnSpc>
              <a:buNone/>
            </a:pPr>
            <a:r>
              <a:rPr lang="en-US" sz="1400" b="0" i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6BCC5D9B-9E6E-B45A-8495-5CC7F9124C68}"/>
              </a:ext>
            </a:extLst>
          </p:cNvPr>
          <p:cNvSpPr txBox="1">
            <a:spLocks/>
          </p:cNvSpPr>
          <p:nvPr/>
        </p:nvSpPr>
        <p:spPr>
          <a:xfrm>
            <a:off x="6050947" y="6317230"/>
            <a:ext cx="4527218" cy="531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Reviewer only decides. Draft is stored once and read by any step that needs it.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032B1532-77C6-16A0-5EC5-D4894D67DA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87" t="2124" r="30638" b="86404"/>
          <a:stretch>
            <a:fillRect/>
          </a:stretch>
        </p:blipFill>
        <p:spPr>
          <a:xfrm>
            <a:off x="6098400" y="2108137"/>
            <a:ext cx="2897204" cy="779646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2CB81FF6-3264-DB92-2327-03BEBEBA7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87" t="43950" r="30638" b="44861"/>
          <a:stretch>
            <a:fillRect/>
          </a:stretch>
        </p:blipFill>
        <p:spPr>
          <a:xfrm>
            <a:off x="6088775" y="3397720"/>
            <a:ext cx="2897204" cy="76039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443115AF-170C-DA61-D73B-101BA5E3F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6" t="85751" r="50726" b="3060"/>
          <a:stretch>
            <a:fillRect/>
          </a:stretch>
        </p:blipFill>
        <p:spPr>
          <a:xfrm>
            <a:off x="6050946" y="5432409"/>
            <a:ext cx="2972863" cy="760395"/>
          </a:xfrm>
          <a:prstGeom prst="rect">
            <a:avLst/>
          </a:prstGeom>
        </p:spPr>
      </p:pic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1E99C518-62C4-6CDD-43AA-F56FC30BB60F}"/>
              </a:ext>
            </a:extLst>
          </p:cNvPr>
          <p:cNvSpPr txBox="1">
            <a:spLocks/>
          </p:cNvSpPr>
          <p:nvPr/>
        </p:nvSpPr>
        <p:spPr>
          <a:xfrm>
            <a:off x="6035426" y="1689273"/>
            <a:ext cx="1895141" cy="3148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With state:</a:t>
            </a:r>
          </a:p>
        </p:txBody>
      </p:sp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BF52249A-9598-D8E0-810C-281E484A2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507946"/>
              </p:ext>
            </p:extLst>
          </p:nvPr>
        </p:nvGraphicFramePr>
        <p:xfrm>
          <a:off x="9604359" y="3742834"/>
          <a:ext cx="2383428" cy="93427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18383">
                  <a:extLst>
                    <a:ext uri="{9D8B030D-6E8A-4147-A177-3AD203B41FA5}">
                      <a16:colId xmlns:a16="http://schemas.microsoft.com/office/drawing/2014/main" val="2763703968"/>
                    </a:ext>
                  </a:extLst>
                </a:gridCol>
                <a:gridCol w="1465045">
                  <a:extLst>
                    <a:ext uri="{9D8B030D-6E8A-4147-A177-3AD203B41FA5}">
                      <a16:colId xmlns:a16="http://schemas.microsoft.com/office/drawing/2014/main" val="3932149899"/>
                    </a:ext>
                  </a:extLst>
                </a:gridCol>
              </a:tblGrid>
              <a:tr h="416115">
                <a:tc>
                  <a:txBody>
                    <a:bodyPr/>
                    <a:lstStyle/>
                    <a:p>
                      <a:r>
                        <a:rPr lang="en-US" sz="1400">
                          <a:latin typeface="Aptos" panose="020B0004020202020204" pitchFamily="34" charset="0"/>
                        </a:rPr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ptos" panose="020B0004020202020204" pitchFamily="34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682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Aptos" panose="020B0004020202020204" pitchFamily="34" charset="0"/>
                        </a:rPr>
                        <a:t>post_text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>
                          <a:effectLst/>
                          <a:latin typeface="Aptos" panose="020B0004020202020204" pitchFamily="34" charset="0"/>
                          <a:cs typeface="Consolas" panose="020B0609020204030204" pitchFamily="49" charset="0"/>
                        </a:rPr>
                        <a:t>"These are 5 reasons why..."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143786"/>
                  </a:ext>
                </a:extLst>
              </a:tr>
            </a:tbl>
          </a:graphicData>
        </a:graphic>
      </p:graphicFrame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03DA99FC-960B-7F16-FFE1-E104C099F748}"/>
              </a:ext>
            </a:extLst>
          </p:cNvPr>
          <p:cNvSpPr txBox="1">
            <a:spLocks/>
          </p:cNvSpPr>
          <p:nvPr/>
        </p:nvSpPr>
        <p:spPr>
          <a:xfrm>
            <a:off x="9604359" y="3397720"/>
            <a:ext cx="832459" cy="2992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state: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110AC33-D50D-BD01-705E-E63F6BC53122}"/>
              </a:ext>
            </a:extLst>
          </p:cNvPr>
          <p:cNvCxnSpPr>
            <a:cxnSpLocks/>
            <a:stCxn id="67" idx="3"/>
            <a:endCxn id="73" idx="1"/>
          </p:cNvCxnSpPr>
          <p:nvPr/>
        </p:nvCxnSpPr>
        <p:spPr>
          <a:xfrm>
            <a:off x="8995604" y="2497960"/>
            <a:ext cx="608755" cy="10494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1DD6951-35DE-CDF6-A71C-1AF09580A4D3}"/>
              </a:ext>
            </a:extLst>
          </p:cNvPr>
          <p:cNvCxnSpPr>
            <a:cxnSpLocks/>
          </p:cNvCxnSpPr>
          <p:nvPr/>
        </p:nvCxnSpPr>
        <p:spPr>
          <a:xfrm flipV="1">
            <a:off x="9023809" y="4760322"/>
            <a:ext cx="649580" cy="1079265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ontent Placeholder 2">
            <a:extLst>
              <a:ext uri="{FF2B5EF4-FFF2-40B4-BE49-F238E27FC236}">
                <a16:creationId xmlns:a16="http://schemas.microsoft.com/office/drawing/2014/main" id="{550AECE5-3CBE-E761-2EF3-4A6C7C3069AA}"/>
              </a:ext>
            </a:extLst>
          </p:cNvPr>
          <p:cNvSpPr txBox="1">
            <a:spLocks/>
          </p:cNvSpPr>
          <p:nvPr/>
        </p:nvSpPr>
        <p:spPr>
          <a:xfrm rot="3545326">
            <a:off x="8956124" y="2738465"/>
            <a:ext cx="874507" cy="3148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stores</a:t>
            </a:r>
          </a:p>
        </p:txBody>
      </p: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E63FB325-16AF-536E-8F86-A39ED2409812}"/>
              </a:ext>
            </a:extLst>
          </p:cNvPr>
          <p:cNvSpPr txBox="1">
            <a:spLocks/>
          </p:cNvSpPr>
          <p:nvPr/>
        </p:nvSpPr>
        <p:spPr>
          <a:xfrm rot="18036274">
            <a:off x="8946049" y="5243075"/>
            <a:ext cx="1068797" cy="3148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/>
              <a:t>reads</a:t>
            </a:r>
          </a:p>
        </p:txBody>
      </p:sp>
      <p:cxnSp>
        <p:nvCxnSpPr>
          <p:cNvPr id="87" name="Connector 2">
            <a:extLst>
              <a:ext uri="{FF2B5EF4-FFF2-40B4-BE49-F238E27FC236}">
                <a16:creationId xmlns:a16="http://schemas.microsoft.com/office/drawing/2014/main" id="{4A62ACA1-DBE5-5071-0E7A-0158B28E6FEF}"/>
              </a:ext>
            </a:extLst>
          </p:cNvPr>
          <p:cNvCxnSpPr>
            <a:cxnSpLocks/>
          </p:cNvCxnSpPr>
          <p:nvPr/>
        </p:nvCxnSpPr>
        <p:spPr>
          <a:xfrm>
            <a:off x="5794543" y="1624203"/>
            <a:ext cx="0" cy="5120602"/>
          </a:xfrm>
          <a:prstGeom prst="line">
            <a:avLst/>
          </a:prstGeom>
          <a:ln w="1270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858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10160-821B-EF60-833D-B55B01990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DBB9F-F81F-01E6-E0C5-09CA4ED30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Storing and accessing state in workflows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C1F553-E7C1-9D36-FE0C-CC32333F5504}"/>
              </a:ext>
            </a:extLst>
          </p:cNvPr>
          <p:cNvSpPr txBox="1"/>
          <p:nvPr/>
        </p:nvSpPr>
        <p:spPr>
          <a:xfrm>
            <a:off x="1173478" y="1783821"/>
            <a:ext cx="10789920" cy="4452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@executor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"store_post_text"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store_post_text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set_state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"post_text"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await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send_message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@executor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"publisher"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publisher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content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get_state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"post_text"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await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yield_output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"✅ Published:</a:t>
            </a:r>
            <a:r>
              <a:rPr lang="en-US" sz="2000">
                <a:solidFill>
                  <a:srgbClr val="EE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\n\n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content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WorkflowBuilder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start_executor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max_iterations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>
              <a:lnSpc>
                <a:spcPts val="2025"/>
              </a:lnSpc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store_post_text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>
              <a:lnSpc>
                <a:spcPts val="2025"/>
              </a:lnSpc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store_post_text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>
              <a:lnSpc>
                <a:spcPts val="2025"/>
              </a:lnSpc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publisher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condition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is_approved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>
              <a:lnSpc>
                <a:spcPts val="2025"/>
              </a:lnSpc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editor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condition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needs_revision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>
              <a:lnSpc>
                <a:spcPts val="2025"/>
              </a:lnSpc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editor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store_post_text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>
              <a:lnSpc>
                <a:spcPts val="2025"/>
              </a:lnSpc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3ED50-2553-A961-91EF-6440F5D42638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C6DD08-5F40-76E2-AEF9-5677C23FFA3C}"/>
              </a:ext>
            </a:extLst>
          </p:cNvPr>
          <p:cNvSpPr txBox="1"/>
          <p:nvPr/>
        </p:nvSpPr>
        <p:spPr>
          <a:xfrm>
            <a:off x="1132793" y="6322798"/>
            <a:ext cx="490448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workflow_conditional_state.py</a:t>
            </a:r>
            <a:endParaRPr lang="en-US" sz="2000" err="1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044B6B0-C2E8-253A-BE1B-DA0019C07B1D}"/>
              </a:ext>
            </a:extLst>
          </p:cNvPr>
          <p:cNvCxnSpPr>
            <a:cxnSpLocks/>
          </p:cNvCxnSpPr>
          <p:nvPr/>
        </p:nvCxnSpPr>
        <p:spPr>
          <a:xfrm flipH="1">
            <a:off x="10646338" y="2454444"/>
            <a:ext cx="14109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758DA5-821D-8F37-8B66-E802512427A4}"/>
              </a:ext>
            </a:extLst>
          </p:cNvPr>
          <p:cNvCxnSpPr>
            <a:cxnSpLocks/>
          </p:cNvCxnSpPr>
          <p:nvPr/>
        </p:nvCxnSpPr>
        <p:spPr>
          <a:xfrm flipH="1">
            <a:off x="10646338" y="3723376"/>
            <a:ext cx="14109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36EA9ED-A3A6-7499-903F-68F015A1A04D}"/>
              </a:ext>
            </a:extLst>
          </p:cNvPr>
          <p:cNvSpPr txBox="1">
            <a:spLocks/>
          </p:cNvSpPr>
          <p:nvPr/>
        </p:nvSpPr>
        <p:spPr>
          <a:xfrm>
            <a:off x="10792273" y="2139609"/>
            <a:ext cx="1295049" cy="3148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store state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5B13107-FCBC-0B66-D3AF-5BAD419C296F}"/>
              </a:ext>
            </a:extLst>
          </p:cNvPr>
          <p:cNvSpPr txBox="1">
            <a:spLocks/>
          </p:cNvSpPr>
          <p:nvPr/>
        </p:nvSpPr>
        <p:spPr>
          <a:xfrm>
            <a:off x="10792273" y="3408540"/>
            <a:ext cx="1295049" cy="3148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access state</a:t>
            </a:r>
          </a:p>
        </p:txBody>
      </p:sp>
    </p:spTree>
    <p:extLst>
      <p:ext uri="{BB962C8B-B14F-4D97-AF65-F5344CB8AC3E}">
        <p14:creationId xmlns:p14="http://schemas.microsoft.com/office/powerpoint/2010/main" val="2949638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438C3-71AA-0D4E-0EE3-F14B19368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7B46A-86D9-4B03-9A5A-C861E50E8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6" y="458258"/>
            <a:ext cx="11328672" cy="1325563"/>
          </a:xfrm>
        </p:spPr>
        <p:txBody>
          <a:bodyPr>
            <a:normAutofit/>
          </a:bodyPr>
          <a:lstStyle/>
          <a:p>
            <a:r>
              <a:rPr lang="en-US" sz="4000"/>
              <a:t>⚠️  Shared workflow state leaks between requests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C06C1-F1CD-CB41-C208-35B5D3A0E586}"/>
              </a:ext>
            </a:extLst>
          </p:cNvPr>
          <p:cNvSpPr txBox="1"/>
          <p:nvPr/>
        </p:nvSpPr>
        <p:spPr>
          <a:xfrm>
            <a:off x="1211151" y="2211020"/>
            <a:ext cx="10435418" cy="3488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1080"/>
                </a:solidFill>
                <a:latin typeface="Menlo" panose="020B0609030804020204" pitchFamily="49" charset="0"/>
              </a:rPr>
              <a:t>workflow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>
                <a:solidFill>
                  <a:srgbClr val="267F99"/>
                </a:solidFill>
                <a:latin typeface="Menlo" panose="020B0609030804020204" pitchFamily="49" charset="0"/>
              </a:rPr>
              <a:t>WorkflowBuilder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Menlo" panose="020B0609030804020204" pitchFamily="49" charset="0"/>
              </a:rPr>
              <a:t>start_executor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US">
                <a:solidFill>
                  <a:srgbClr val="001080"/>
                </a:solidFill>
                <a:latin typeface="Menlo" panose="020B0609030804020204" pitchFamily="49" charset="0"/>
              </a:rPr>
              <a:t>writer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, ...).</a:t>
            </a:r>
            <a:r>
              <a:rPr lang="en-US">
                <a:solidFill>
                  <a:srgbClr val="795E26"/>
                </a:solidFill>
                <a:latin typeface="Menlo" panose="020B0609030804020204" pitchFamily="49" charset="0"/>
              </a:rPr>
              <a:t>build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A43B860-55F3-0F92-67FA-04C0D3D2D0B4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4108355" y="3158226"/>
            <a:ext cx="906138" cy="6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104A4AD-286D-887A-5974-6FFA8207C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87" t="2124" r="30638" b="86404"/>
          <a:stretch>
            <a:fillRect/>
          </a:stretch>
        </p:blipFill>
        <p:spPr>
          <a:xfrm>
            <a:off x="1211151" y="2768403"/>
            <a:ext cx="2897204" cy="7796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B148F4-7D1B-737C-D97A-4CFCC3720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87" t="43950" r="30638" b="44861"/>
          <a:stretch>
            <a:fillRect/>
          </a:stretch>
        </p:blipFill>
        <p:spPr>
          <a:xfrm>
            <a:off x="5014493" y="2778701"/>
            <a:ext cx="2897204" cy="7603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BAA117-C40E-96BB-A928-B5C529098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6" t="85751" r="50726" b="3060"/>
          <a:stretch>
            <a:fillRect/>
          </a:stretch>
        </p:blipFill>
        <p:spPr>
          <a:xfrm>
            <a:off x="8846523" y="2768906"/>
            <a:ext cx="2972863" cy="760395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0CF3E5F-FAAF-C325-9C87-A89538CFD1F9}"/>
              </a:ext>
            </a:extLst>
          </p:cNvPr>
          <p:cNvGraphicFramePr>
            <a:graphicFrameLocks noGrp="1"/>
          </p:cNvGraphicFramePr>
          <p:nvPr/>
        </p:nvGraphicFramePr>
        <p:xfrm>
          <a:off x="5366324" y="3936551"/>
          <a:ext cx="2383428" cy="93427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18383">
                  <a:extLst>
                    <a:ext uri="{9D8B030D-6E8A-4147-A177-3AD203B41FA5}">
                      <a16:colId xmlns:a16="http://schemas.microsoft.com/office/drawing/2014/main" val="2763703968"/>
                    </a:ext>
                  </a:extLst>
                </a:gridCol>
                <a:gridCol w="1465045">
                  <a:extLst>
                    <a:ext uri="{9D8B030D-6E8A-4147-A177-3AD203B41FA5}">
                      <a16:colId xmlns:a16="http://schemas.microsoft.com/office/drawing/2014/main" val="3932149899"/>
                    </a:ext>
                  </a:extLst>
                </a:gridCol>
              </a:tblGrid>
              <a:tr h="416115">
                <a:tc>
                  <a:txBody>
                    <a:bodyPr/>
                    <a:lstStyle/>
                    <a:p>
                      <a:r>
                        <a:rPr lang="en-US" sz="1400">
                          <a:latin typeface="Aptos" panose="020B0004020202020204" pitchFamily="34" charset="0"/>
                        </a:rPr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ptos" panose="020B0004020202020204" pitchFamily="34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682281"/>
                  </a:ext>
                </a:extLst>
              </a:tr>
              <a:tr h="256106">
                <a:tc>
                  <a:txBody>
                    <a:bodyPr/>
                    <a:lstStyle/>
                    <a:p>
                      <a:r>
                        <a:rPr lang="en-US" sz="1400">
                          <a:latin typeface="Aptos" panose="020B0004020202020204" pitchFamily="34" charset="0"/>
                        </a:rPr>
                        <a:t>post_text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>
                          <a:effectLst/>
                          <a:latin typeface="Aptos" panose="020B0004020202020204" pitchFamily="34" charset="0"/>
                          <a:cs typeface="Consolas" panose="020B0609020204030204" pitchFamily="49" charset="0"/>
                        </a:rPr>
                        <a:t>"These are 5 reasons why..."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143786"/>
                  </a:ext>
                </a:extLst>
              </a:tr>
            </a:tbl>
          </a:graphicData>
        </a:graphic>
      </p:graphicFrame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8C49A8B-35BA-5821-8C43-366F2EBCA1F4}"/>
              </a:ext>
            </a:extLst>
          </p:cNvPr>
          <p:cNvSpPr txBox="1">
            <a:spLocks/>
          </p:cNvSpPr>
          <p:nvPr/>
        </p:nvSpPr>
        <p:spPr>
          <a:xfrm>
            <a:off x="5360684" y="3636652"/>
            <a:ext cx="832459" cy="2992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state: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1175745-099E-1938-E18F-DE28DA02A024}"/>
              </a:ext>
            </a:extLst>
          </p:cNvPr>
          <p:cNvCxnSpPr>
            <a:cxnSpLocks/>
            <a:stCxn id="7" idx="2"/>
            <a:endCxn id="12" idx="1"/>
          </p:cNvCxnSpPr>
          <p:nvPr/>
        </p:nvCxnSpPr>
        <p:spPr>
          <a:xfrm>
            <a:off x="2659753" y="3548049"/>
            <a:ext cx="2706571" cy="855639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523B0F-0BFD-C93B-7865-7BEA4B73A6AE}"/>
              </a:ext>
            </a:extLst>
          </p:cNvPr>
          <p:cNvCxnSpPr>
            <a:cxnSpLocks/>
            <a:stCxn id="12" idx="3"/>
            <a:endCxn id="11" idx="2"/>
          </p:cNvCxnSpPr>
          <p:nvPr/>
        </p:nvCxnSpPr>
        <p:spPr>
          <a:xfrm flipV="1">
            <a:off x="7749752" y="3529301"/>
            <a:ext cx="2583203" cy="874387"/>
          </a:xfrm>
          <a:prstGeom prst="straightConnector1">
            <a:avLst/>
          </a:prstGeom>
          <a:ln w="38100" cap="rnd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D5C3CE3-A481-B763-E444-1E07EBCAA8E8}"/>
              </a:ext>
            </a:extLst>
          </p:cNvPr>
          <p:cNvCxnSpPr>
            <a:cxnSpLocks/>
          </p:cNvCxnSpPr>
          <p:nvPr/>
        </p:nvCxnSpPr>
        <p:spPr>
          <a:xfrm>
            <a:off x="7925048" y="3148600"/>
            <a:ext cx="1001081" cy="96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2B00B48-BEF9-DA15-197A-83A154B0E9BE}"/>
              </a:ext>
            </a:extLst>
          </p:cNvPr>
          <p:cNvCxnSpPr>
            <a:cxnSpLocks/>
            <a:stCxn id="48" idx="3"/>
            <a:endCxn id="49" idx="1"/>
          </p:cNvCxnSpPr>
          <p:nvPr/>
        </p:nvCxnSpPr>
        <p:spPr>
          <a:xfrm>
            <a:off x="4108355" y="5831347"/>
            <a:ext cx="906138" cy="6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A1735D06-01F9-9C22-B21F-EA574BB445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87" t="2124" r="30638" b="86404"/>
          <a:stretch>
            <a:fillRect/>
          </a:stretch>
        </p:blipFill>
        <p:spPr>
          <a:xfrm>
            <a:off x="1211151" y="5441524"/>
            <a:ext cx="2897204" cy="77964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B624BB83-81D6-D405-A09D-D6E8C4A80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87" t="43950" r="30638" b="44861"/>
          <a:stretch>
            <a:fillRect/>
          </a:stretch>
        </p:blipFill>
        <p:spPr>
          <a:xfrm>
            <a:off x="5014493" y="5451822"/>
            <a:ext cx="2897204" cy="760395"/>
          </a:xfrm>
          <a:prstGeom prst="rect">
            <a:avLst/>
          </a:prstGeom>
        </p:spPr>
      </p:pic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CA8B4B2-EB63-B6EC-74D1-D7C885E58842}"/>
              </a:ext>
            </a:extLst>
          </p:cNvPr>
          <p:cNvCxnSpPr>
            <a:cxnSpLocks/>
          </p:cNvCxnSpPr>
          <p:nvPr/>
        </p:nvCxnSpPr>
        <p:spPr>
          <a:xfrm>
            <a:off x="7925048" y="5821721"/>
            <a:ext cx="1001081" cy="96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Picture 52">
            <a:extLst>
              <a:ext uri="{FF2B5EF4-FFF2-40B4-BE49-F238E27FC236}">
                <a16:creationId xmlns:a16="http://schemas.microsoft.com/office/drawing/2014/main" id="{B9D12C6F-5122-0EC1-895D-AF066A0531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504" y="5385327"/>
            <a:ext cx="2972863" cy="826890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88E7247-108D-3D07-F7AB-2C4C830F71BF}"/>
              </a:ext>
            </a:extLst>
          </p:cNvPr>
          <p:cNvCxnSpPr>
            <a:cxnSpLocks/>
            <a:stCxn id="48" idx="0"/>
          </p:cNvCxnSpPr>
          <p:nvPr/>
        </p:nvCxnSpPr>
        <p:spPr>
          <a:xfrm flipV="1">
            <a:off x="2659753" y="4569747"/>
            <a:ext cx="2700931" cy="871777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F78B985-E959-7584-BB17-F86279ACA76E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7749752" y="4463869"/>
            <a:ext cx="2653184" cy="921458"/>
          </a:xfrm>
          <a:prstGeom prst="straightConnector1">
            <a:avLst/>
          </a:prstGeom>
          <a:ln w="38100" cap="rnd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C55839DD-3748-4F96-4EE7-E6C5C38E5C6D}"/>
              </a:ext>
            </a:extLst>
          </p:cNvPr>
          <p:cNvSpPr txBox="1">
            <a:spLocks/>
          </p:cNvSpPr>
          <p:nvPr/>
        </p:nvSpPr>
        <p:spPr>
          <a:xfrm rot="1055935">
            <a:off x="3731717" y="3738399"/>
            <a:ext cx="874507" cy="3148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stores</a:t>
            </a:r>
          </a:p>
        </p:txBody>
      </p: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7FF7AFF1-A565-022F-7C26-35D077B8B985}"/>
              </a:ext>
            </a:extLst>
          </p:cNvPr>
          <p:cNvSpPr txBox="1">
            <a:spLocks/>
          </p:cNvSpPr>
          <p:nvPr/>
        </p:nvSpPr>
        <p:spPr>
          <a:xfrm rot="20447019">
            <a:off x="8330585" y="3756818"/>
            <a:ext cx="1031874" cy="3148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accesses</a:t>
            </a:r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538A3666-637E-52D9-5C23-5AD4F30A4C95}"/>
              </a:ext>
            </a:extLst>
          </p:cNvPr>
          <p:cNvSpPr txBox="1">
            <a:spLocks/>
          </p:cNvSpPr>
          <p:nvPr/>
        </p:nvSpPr>
        <p:spPr>
          <a:xfrm rot="1163495">
            <a:off x="8439854" y="4593902"/>
            <a:ext cx="1031874" cy="3148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accesses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F545A9CF-6AA0-A042-9C4C-F99BD4F06442}"/>
              </a:ext>
            </a:extLst>
          </p:cNvPr>
          <p:cNvSpPr txBox="1">
            <a:spLocks/>
          </p:cNvSpPr>
          <p:nvPr/>
        </p:nvSpPr>
        <p:spPr>
          <a:xfrm rot="20556023">
            <a:off x="3655117" y="4683532"/>
            <a:ext cx="874507" cy="3148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stores</a:t>
            </a:r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27146FEA-ED7C-204A-7FFC-1EAE048FFBB2}"/>
              </a:ext>
            </a:extLst>
          </p:cNvPr>
          <p:cNvSpPr txBox="1">
            <a:spLocks/>
          </p:cNvSpPr>
          <p:nvPr/>
        </p:nvSpPr>
        <p:spPr>
          <a:xfrm>
            <a:off x="1211151" y="1696430"/>
            <a:ext cx="10560545" cy="31483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Be careful about using a shared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200"/>
              <a:t> instance across multiple runs:</a:t>
            </a:r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6B435782-CD1F-815A-D7E3-CF7820929B6E}"/>
              </a:ext>
            </a:extLst>
          </p:cNvPr>
          <p:cNvSpPr txBox="1">
            <a:spLocks/>
          </p:cNvSpPr>
          <p:nvPr/>
        </p:nvSpPr>
        <p:spPr>
          <a:xfrm>
            <a:off x="1086024" y="6313301"/>
            <a:ext cx="10560545" cy="31483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If two runs execute in parallel, they can run into a race condition!</a:t>
            </a:r>
          </a:p>
        </p:txBody>
      </p:sp>
    </p:spTree>
    <p:extLst>
      <p:ext uri="{BB962C8B-B14F-4D97-AF65-F5344CB8AC3E}">
        <p14:creationId xmlns:p14="http://schemas.microsoft.com/office/powerpoint/2010/main" val="2081478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0C13A-C188-8DB6-27AE-07926BC2E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565C189-F360-3A9E-1911-A663077B1797}"/>
              </a:ext>
            </a:extLst>
          </p:cNvPr>
          <p:cNvSpPr/>
          <p:nvPr/>
        </p:nvSpPr>
        <p:spPr>
          <a:xfrm>
            <a:off x="1211151" y="3025746"/>
            <a:ext cx="10560546" cy="1540576"/>
          </a:xfrm>
          <a:prstGeom prst="roundRect">
            <a:avLst>
              <a:gd name="adj" fmla="val 61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3C48A2-F182-A835-D9F2-56EE3E92C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6" y="458258"/>
            <a:ext cx="11328672" cy="1325563"/>
          </a:xfrm>
        </p:spPr>
        <p:txBody>
          <a:bodyPr>
            <a:normAutofit/>
          </a:bodyPr>
          <a:lstStyle/>
          <a:p>
            <a:r>
              <a:rPr lang="en-US" sz="4200"/>
              <a:t>⚠️ Shared agents accumulate conversation history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9414D-76AF-6A3A-7246-AC120B83B36A}"/>
              </a:ext>
            </a:extLst>
          </p:cNvPr>
          <p:cNvSpPr txBox="1"/>
          <p:nvPr/>
        </p:nvSpPr>
        <p:spPr>
          <a:xfrm>
            <a:off x="1211151" y="2101718"/>
            <a:ext cx="9001253" cy="6052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1080"/>
                </a:solidFill>
                <a:latin typeface="Menlo" panose="020B0609030804020204" pitchFamily="49" charset="0"/>
              </a:rPr>
              <a:t>writer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>
                <a:solidFill>
                  <a:srgbClr val="267F99"/>
                </a:solidFill>
                <a:latin typeface="Menlo" panose="020B0609030804020204" pitchFamily="49" charset="0"/>
              </a:rPr>
              <a:t>Agent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(...)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1080"/>
                </a:solidFill>
                <a:latin typeface="Menlo" panose="020B0609030804020204" pitchFamily="49" charset="0"/>
              </a:rPr>
              <a:t>workflow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>
                <a:solidFill>
                  <a:srgbClr val="267F99"/>
                </a:solidFill>
                <a:latin typeface="Menlo" panose="020B0609030804020204" pitchFamily="49" charset="0"/>
              </a:rPr>
              <a:t>WorkflowBuilder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Menlo" panose="020B0609030804020204" pitchFamily="49" charset="0"/>
              </a:rPr>
              <a:t>start_executor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US">
                <a:solidFill>
                  <a:srgbClr val="001080"/>
                </a:solidFill>
                <a:latin typeface="Menlo" panose="020B0609030804020204" pitchFamily="49" charset="0"/>
              </a:rPr>
              <a:t>writer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, ...).</a:t>
            </a:r>
            <a:r>
              <a:rPr lang="en-US">
                <a:solidFill>
                  <a:srgbClr val="795E26"/>
                </a:solidFill>
                <a:latin typeface="Menlo" panose="020B0609030804020204" pitchFamily="49" charset="0"/>
              </a:rPr>
              <a:t>build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()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7BFCBD-828D-7CE7-72B9-F30CEE3A02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87" t="2124" r="44089" b="86404"/>
          <a:stretch>
            <a:fillRect/>
          </a:stretch>
        </p:blipFill>
        <p:spPr>
          <a:xfrm>
            <a:off x="1576912" y="3362300"/>
            <a:ext cx="1551300" cy="6531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95184A-D261-9307-CE8F-D69AE9A224C9}"/>
              </a:ext>
            </a:extLst>
          </p:cNvPr>
          <p:cNvSpPr txBox="1">
            <a:spLocks/>
          </p:cNvSpPr>
          <p:nvPr/>
        </p:nvSpPr>
        <p:spPr>
          <a:xfrm>
            <a:off x="1509536" y="2896525"/>
            <a:ext cx="4005742" cy="31483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Run 1: "Write a post about AI jobs"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606733-34A4-5C0B-0283-99E642C926CA}"/>
              </a:ext>
            </a:extLst>
          </p:cNvPr>
          <p:cNvSpPr txBox="1"/>
          <p:nvPr/>
        </p:nvSpPr>
        <p:spPr>
          <a:xfrm>
            <a:off x="4137287" y="3362300"/>
            <a:ext cx="6843562" cy="6052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>
                <a:latin typeface="Menlo" panose="020B0609030804020204" pitchFamily="49" charset="0"/>
              </a:rPr>
              <a:t>user</a:t>
            </a:r>
            <a:r>
              <a:rPr lang="en-US">
                <a:solidFill>
                  <a:srgbClr val="001080"/>
                </a:solidFill>
                <a:latin typeface="Menlo" panose="020B0609030804020204" pitchFamily="49" charset="0"/>
              </a:rPr>
              <a:t>: "Write a post about AI jobs"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latin typeface="Menlo" panose="020B0609030804020204" pitchFamily="49" charset="0"/>
              </a:rPr>
              <a:t>assistant</a:t>
            </a:r>
            <a:r>
              <a:rPr lang="en-US">
                <a:solidFill>
                  <a:srgbClr val="001080"/>
                </a:solidFill>
                <a:latin typeface="Menlo" panose="020B0609030804020204" pitchFamily="49" charset="0"/>
              </a:rPr>
              <a:t>: "AI agents are transforming..."</a:t>
            </a:r>
            <a:endParaRPr lang="en-US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B6147FF-EFF4-9AD1-0F37-4DB9536CE467}"/>
              </a:ext>
            </a:extLst>
          </p:cNvPr>
          <p:cNvSpPr txBox="1">
            <a:spLocks/>
          </p:cNvSpPr>
          <p:nvPr/>
        </p:nvSpPr>
        <p:spPr>
          <a:xfrm>
            <a:off x="1509536" y="4132901"/>
            <a:ext cx="5218524" cy="31483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✅ Published: "AI agents are transforming..."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3337F7F-B1B4-4D4A-2A0B-69C50E0C6ACA}"/>
              </a:ext>
            </a:extLst>
          </p:cNvPr>
          <p:cNvSpPr/>
          <p:nvPr/>
        </p:nvSpPr>
        <p:spPr>
          <a:xfrm>
            <a:off x="1211151" y="4755764"/>
            <a:ext cx="10560546" cy="2016330"/>
          </a:xfrm>
          <a:prstGeom prst="roundRect">
            <a:avLst>
              <a:gd name="adj" fmla="val 61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47D8DF8-0322-970A-DFDB-245EEF9451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87" t="2124" r="30638" b="86404"/>
          <a:stretch>
            <a:fillRect/>
          </a:stretch>
        </p:blipFill>
        <p:spPr>
          <a:xfrm>
            <a:off x="1576911" y="5211914"/>
            <a:ext cx="2427199" cy="653166"/>
          </a:xfrm>
          <a:prstGeom prst="rect">
            <a:avLst/>
          </a:prstGeom>
        </p:spPr>
      </p:pic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77A87B5A-BCE9-5ED6-2585-D07F0763F9A6}"/>
              </a:ext>
            </a:extLst>
          </p:cNvPr>
          <p:cNvSpPr txBox="1">
            <a:spLocks/>
          </p:cNvSpPr>
          <p:nvPr/>
        </p:nvSpPr>
        <p:spPr>
          <a:xfrm>
            <a:off x="1509535" y="4698014"/>
            <a:ext cx="4586465" cy="31483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Run 2: "Write a post about remote work"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D7A728-F2E4-0FA9-DC1F-B1643A5338D6}"/>
              </a:ext>
            </a:extLst>
          </p:cNvPr>
          <p:cNvSpPr txBox="1"/>
          <p:nvPr/>
        </p:nvSpPr>
        <p:spPr>
          <a:xfrm>
            <a:off x="4118798" y="5202291"/>
            <a:ext cx="6843562" cy="1118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>
                <a:latin typeface="Menlo" panose="020B0609030804020204" pitchFamily="49" charset="0"/>
              </a:rPr>
              <a:t>user</a:t>
            </a:r>
            <a:r>
              <a:rPr lang="en-US">
                <a:solidFill>
                  <a:srgbClr val="001080"/>
                </a:solidFill>
                <a:latin typeface="Menlo" panose="020B0609030804020204" pitchFamily="49" charset="0"/>
              </a:rPr>
              <a:t>: "Write a post about AI jobs"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latin typeface="Menlo" panose="020B0609030804020204" pitchFamily="49" charset="0"/>
              </a:rPr>
              <a:t>assistant</a:t>
            </a:r>
            <a:r>
              <a:rPr lang="en-US">
                <a:solidFill>
                  <a:srgbClr val="001080"/>
                </a:solidFill>
                <a:latin typeface="Menlo" panose="020B0609030804020204" pitchFamily="49" charset="0"/>
              </a:rPr>
              <a:t>: "AI agents are transforming..."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latin typeface="Menlo" panose="020B0609030804020204" pitchFamily="49" charset="0"/>
              </a:rPr>
              <a:t>user</a:t>
            </a:r>
            <a:r>
              <a:rPr lang="en-US">
                <a:solidFill>
                  <a:srgbClr val="001080"/>
                </a:solidFill>
                <a:latin typeface="Menlo" panose="020B0609030804020204" pitchFamily="49" charset="0"/>
              </a:rPr>
              <a:t>: "Write a post about remote work"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latin typeface="Menlo" panose="020B0609030804020204" pitchFamily="49" charset="0"/>
              </a:rPr>
              <a:t>assistant</a:t>
            </a:r>
            <a:r>
              <a:rPr lang="en-US">
                <a:solidFill>
                  <a:srgbClr val="001080"/>
                </a:solidFill>
                <a:latin typeface="Menlo" panose="020B0609030804020204" pitchFamily="49" charset="0"/>
              </a:rPr>
              <a:t>: "Remote jobs are at risk due to AI.."</a:t>
            </a:r>
            <a:endParaRPr lang="en-US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A6A701D-4F89-99C8-2545-57D0E93EE72D}"/>
              </a:ext>
            </a:extLst>
          </p:cNvPr>
          <p:cNvSpPr txBox="1">
            <a:spLocks/>
          </p:cNvSpPr>
          <p:nvPr/>
        </p:nvSpPr>
        <p:spPr>
          <a:xfrm>
            <a:off x="1487942" y="6375880"/>
            <a:ext cx="6358987" cy="31483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✅ Published: "Remote jobs are at risk due to AI..."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A96CA3AE-8117-948E-C314-FEE7CEDDFF52}"/>
              </a:ext>
            </a:extLst>
          </p:cNvPr>
          <p:cNvSpPr txBox="1">
            <a:spLocks/>
          </p:cNvSpPr>
          <p:nvPr/>
        </p:nvSpPr>
        <p:spPr>
          <a:xfrm>
            <a:off x="1211151" y="1696430"/>
            <a:ext cx="10560545" cy="31483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Be careful about using a module-level Agent instance shared across workflow runs: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FA821C7-7C92-AF2D-0254-C8645096CC17}"/>
              </a:ext>
            </a:extLst>
          </p:cNvPr>
          <p:cNvCxnSpPr>
            <a:cxnSpLocks/>
          </p:cNvCxnSpPr>
          <p:nvPr/>
        </p:nvCxnSpPr>
        <p:spPr>
          <a:xfrm flipH="1">
            <a:off x="10536530" y="5304374"/>
            <a:ext cx="14109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26EB3B40-DA9F-591D-4B0F-5949098E6D90}"/>
              </a:ext>
            </a:extLst>
          </p:cNvPr>
          <p:cNvSpPr txBox="1">
            <a:spLocks/>
          </p:cNvSpPr>
          <p:nvPr/>
        </p:nvSpPr>
        <p:spPr>
          <a:xfrm>
            <a:off x="10652390" y="5035752"/>
            <a:ext cx="1295049" cy="3148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R1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5B7C1E5-93A8-DFA6-93AC-9A951AA6A81F}"/>
              </a:ext>
            </a:extLst>
          </p:cNvPr>
          <p:cNvCxnSpPr>
            <a:cxnSpLocks/>
          </p:cNvCxnSpPr>
          <p:nvPr/>
        </p:nvCxnSpPr>
        <p:spPr>
          <a:xfrm flipH="1">
            <a:off x="10536530" y="5639653"/>
            <a:ext cx="14109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D56313ED-A05D-B2F5-DE4B-E4A6C56225FC}"/>
              </a:ext>
            </a:extLst>
          </p:cNvPr>
          <p:cNvSpPr txBox="1">
            <a:spLocks/>
          </p:cNvSpPr>
          <p:nvPr/>
        </p:nvSpPr>
        <p:spPr>
          <a:xfrm>
            <a:off x="10652390" y="5371246"/>
            <a:ext cx="1295049" cy="3148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/>
              <a:t>R1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A3E2F3A1-E629-CCD5-E9A5-9288A9CB6EA5}"/>
              </a:ext>
            </a:extLst>
          </p:cNvPr>
          <p:cNvSpPr txBox="1">
            <a:spLocks/>
          </p:cNvSpPr>
          <p:nvPr/>
        </p:nvSpPr>
        <p:spPr>
          <a:xfrm>
            <a:off x="3019469" y="3506318"/>
            <a:ext cx="985875" cy="2992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600"/>
              <a:t>history:</a:t>
            </a:r>
          </a:p>
        </p:txBody>
      </p:sp>
    </p:spTree>
    <p:extLst>
      <p:ext uri="{BB962C8B-B14F-4D97-AF65-F5344CB8AC3E}">
        <p14:creationId xmlns:p14="http://schemas.microsoft.com/office/powerpoint/2010/main" val="21167666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CC2CD-9948-0CAB-A95F-4D1625454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15A3E-7F1A-848F-C18A-EF9303CC3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State isolation via factory functions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4C1649-5D96-D1FB-B6BE-0901C22CEEFA}"/>
              </a:ext>
            </a:extLst>
          </p:cNvPr>
          <p:cNvSpPr txBox="1"/>
          <p:nvPr/>
        </p:nvSpPr>
        <p:spPr>
          <a:xfrm>
            <a:off x="1132793" y="2274263"/>
            <a:ext cx="10405714" cy="39395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create_workflow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writer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"Writer"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...)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"Reviewer"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...)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editor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"Editor"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...)</a:t>
            </a:r>
            <a:b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WorkflowBuilder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start_executor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max_iterations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store_post_text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store_post_text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publisher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condition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is_approved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editor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condition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needs_revision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editor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store_post_text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pPr>
              <a:lnSpc>
                <a:spcPts val="2025"/>
              </a:lnSpc>
              <a:buNone/>
            </a:pP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create_workflow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prompt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769773-ECCB-F640-0E15-711EC79FCB6A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164169-5C1A-6AF7-3941-02097094F4D9}"/>
              </a:ext>
            </a:extLst>
          </p:cNvPr>
          <p:cNvSpPr txBox="1"/>
          <p:nvPr/>
        </p:nvSpPr>
        <p:spPr>
          <a:xfrm>
            <a:off x="1132793" y="6322798"/>
            <a:ext cx="592021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workflow_conditional_state_isolated.py</a:t>
            </a:r>
            <a:endParaRPr lang="en-US" sz="2000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439A9-8C20-4A1B-45A8-534E1B51120D}"/>
              </a:ext>
            </a:extLst>
          </p:cNvPr>
          <p:cNvSpPr txBox="1"/>
          <p:nvPr/>
        </p:nvSpPr>
        <p:spPr>
          <a:xfrm>
            <a:off x="2991051" y="-9007637"/>
            <a:ext cx="6136104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endParaRPr lang="en-US" b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CBA6BC-59F9-704D-D9AC-4A5E78460FD7}"/>
              </a:ext>
            </a:extLst>
          </p:cNvPr>
          <p:cNvSpPr txBox="1">
            <a:spLocks/>
          </p:cNvSpPr>
          <p:nvPr/>
        </p:nvSpPr>
        <p:spPr>
          <a:xfrm>
            <a:off x="1132793" y="1783821"/>
            <a:ext cx="10560545" cy="31483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Use a factory function to create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400"/>
              <a:t> instances and build the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40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6745488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A07F-344E-FE97-117B-0FFB4B5F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4C247-35A8-496F-649C-D87960404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workflows in applications</a:t>
            </a:r>
          </a:p>
        </p:txBody>
      </p:sp>
    </p:spTree>
    <p:extLst>
      <p:ext uri="{BB962C8B-B14F-4D97-AF65-F5344CB8AC3E}">
        <p14:creationId xmlns:p14="http://schemas.microsoft.com/office/powerpoint/2010/main" val="25080928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86C48-7C7B-F1B9-60A1-55EB3379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8220A-011D-6960-E51B-F823A8E3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Retail shop with agentic workflows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263C14-C2AE-224D-0C5C-1694240A6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592" y="1655546"/>
            <a:ext cx="7177422" cy="46297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784560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F6FC7-A824-0A07-7853-7E64F801A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5920-9328-5FEA-20C7-E674408DF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Sequential workflow: Restocking inventory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FE1E93-72BB-5125-833C-95676720E638}"/>
              </a:ext>
            </a:extLst>
          </p:cNvPr>
          <p:cNvSpPr txBox="1">
            <a:spLocks/>
          </p:cNvSpPr>
          <p:nvPr/>
        </p:nvSpPr>
        <p:spPr>
          <a:xfrm>
            <a:off x="3845294" y="2006543"/>
            <a:ext cx="1912653" cy="6474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/>
              <a:t>Inventory MCP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33DCE6A-B1BE-A09E-42B1-6754FCF00337}"/>
              </a:ext>
            </a:extLst>
          </p:cNvPr>
          <p:cNvSpPr txBox="1">
            <a:spLocks/>
          </p:cNvSpPr>
          <p:nvPr/>
        </p:nvSpPr>
        <p:spPr>
          <a:xfrm>
            <a:off x="-4561794" y="3932452"/>
            <a:ext cx="1608760" cy="96840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/>
              <a:t>Structured Outputs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B92ECE-F718-C058-6C5D-41D35E83A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70"/>
          <a:stretch>
            <a:fillRect/>
          </a:stretch>
        </p:blipFill>
        <p:spPr>
          <a:xfrm>
            <a:off x="6096000" y="1721627"/>
            <a:ext cx="5603638" cy="2878508"/>
          </a:xfrm>
          <a:prstGeom prst="rect">
            <a:avLst/>
          </a:prstGeom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148868-630C-5767-237A-6706497E0A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415" y="1823451"/>
            <a:ext cx="2427245" cy="443167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00BF05-ABA8-688A-43D4-C4FFB7EF6021}"/>
              </a:ext>
            </a:extLst>
          </p:cNvPr>
          <p:cNvCxnSpPr>
            <a:cxnSpLocks/>
          </p:cNvCxnSpPr>
          <p:nvPr/>
        </p:nvCxnSpPr>
        <p:spPr>
          <a:xfrm>
            <a:off x="3532098" y="2144098"/>
            <a:ext cx="4543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D549494-8B54-2451-8A0D-76D589718D73}"/>
              </a:ext>
            </a:extLst>
          </p:cNvPr>
          <p:cNvSpPr txBox="1">
            <a:spLocks/>
          </p:cNvSpPr>
          <p:nvPr/>
        </p:nvSpPr>
        <p:spPr>
          <a:xfrm>
            <a:off x="1098083" y="2876699"/>
            <a:ext cx="3007903" cy="4176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[Item A, Item B, Item D]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8DD02A9-CB4A-DF75-5FD6-AEFF74DD091D}"/>
              </a:ext>
            </a:extLst>
          </p:cNvPr>
          <p:cNvSpPr txBox="1">
            <a:spLocks/>
          </p:cNvSpPr>
          <p:nvPr/>
        </p:nvSpPr>
        <p:spPr>
          <a:xfrm>
            <a:off x="1046781" y="4600135"/>
            <a:ext cx="3007903" cy="4176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[Item B, Item D, Item A]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EBC61EA-E034-BDD3-9C6E-E9619B760433}"/>
              </a:ext>
            </a:extLst>
          </p:cNvPr>
          <p:cNvSpPr txBox="1">
            <a:spLocks/>
          </p:cNvSpPr>
          <p:nvPr/>
        </p:nvSpPr>
        <p:spPr>
          <a:xfrm>
            <a:off x="3107220" y="3805364"/>
            <a:ext cx="2427245" cy="46785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/>
              <a:t>Prioritization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FE99478-4929-F430-B2E3-E09136CD66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098"/>
          <a:stretch>
            <a:fillRect/>
          </a:stretch>
        </p:blipFill>
        <p:spPr>
          <a:xfrm>
            <a:off x="6168390" y="4600135"/>
            <a:ext cx="5458858" cy="1991949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5DF1501-0111-3117-9BD0-CC99B7A1C3C6}"/>
              </a:ext>
            </a:extLst>
          </p:cNvPr>
          <p:cNvSpPr txBox="1">
            <a:spLocks/>
          </p:cNvSpPr>
          <p:nvPr/>
        </p:nvSpPr>
        <p:spPr>
          <a:xfrm>
            <a:off x="1098083" y="6301800"/>
            <a:ext cx="3007903" cy="4176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"Based on my analysis..."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912C657-B5E8-6B3D-F92E-49854EE4EC3F}"/>
              </a:ext>
            </a:extLst>
          </p:cNvPr>
          <p:cNvSpPr txBox="1">
            <a:spLocks/>
          </p:cNvSpPr>
          <p:nvPr/>
        </p:nvSpPr>
        <p:spPr>
          <a:xfrm>
            <a:off x="3198274" y="5644121"/>
            <a:ext cx="2427245" cy="46785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/>
              <a:t>Summarization</a:t>
            </a:r>
          </a:p>
        </p:txBody>
      </p:sp>
    </p:spTree>
    <p:extLst>
      <p:ext uri="{BB962C8B-B14F-4D97-AF65-F5344CB8AC3E}">
        <p14:creationId xmlns:p14="http://schemas.microsoft.com/office/powerpoint/2010/main" val="3086759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6D43C-BE2A-3BA3-FE47-062467C16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F2F0939-562C-8F34-F9BD-79E6E27E01E4}"/>
              </a:ext>
            </a:extLst>
          </p:cNvPr>
          <p:cNvSpPr/>
          <p:nvPr/>
        </p:nvSpPr>
        <p:spPr>
          <a:xfrm>
            <a:off x="859194" y="3050530"/>
            <a:ext cx="10477500" cy="3014367"/>
          </a:xfrm>
          <a:prstGeom prst="roundRect">
            <a:avLst>
              <a:gd name="adj" fmla="val 21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D348BA-C92C-087A-935B-72F151B2AC4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59194" y="2111864"/>
            <a:ext cx="4505909" cy="89151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>
                <a:latin typeface="Aptos" panose="020B0004020202020204" pitchFamily="34" charset="0"/>
              </a:rPr>
              <a:t>Watch past recordings: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>
                <a:latin typeface="Aptos" panose="020B0004020202020204" pitchFamily="34" charset="0"/>
                <a:hlinkClick r:id="rId2"/>
              </a:rPr>
              <a:t>aka.ms/</a:t>
            </a:r>
            <a:r>
              <a:rPr lang="es-MX" sz="2200">
                <a:latin typeface="Aptos" panose="020B0004020202020204" pitchFamily="34" charset="0"/>
                <a:hlinkClick r:id="rId3"/>
              </a:rPr>
              <a:t>pythonagents/resources</a:t>
            </a:r>
            <a:endParaRPr lang="es-MX" sz="2200">
              <a:latin typeface="Aptos" panose="020B00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33D843-40EC-E1C7-3A23-A590A301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48" y="1026203"/>
            <a:ext cx="3705612" cy="806488"/>
          </a:xfrm>
        </p:spPr>
        <p:txBody>
          <a:bodyPr/>
          <a:lstStyle/>
          <a:p>
            <a:r>
              <a:rPr lang="es-MX"/>
              <a:t>Next steps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34022E3-6896-5817-EE1A-D33D2F048642}"/>
              </a:ext>
            </a:extLst>
          </p:cNvPr>
          <p:cNvSpPr txBox="1">
            <a:spLocks/>
          </p:cNvSpPr>
          <p:nvPr/>
        </p:nvSpPr>
        <p:spPr>
          <a:xfrm>
            <a:off x="978148" y="3172607"/>
            <a:ext cx="9708903" cy="26979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🛠️ Feb 24: Building your first agent in Python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🧠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25: Adding context and memory to agents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📊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26: Monitoring and evaluating agents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🔀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3: Building your first AI-driven workflows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🕸️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4: Orchestrating advanced multi-agent workflows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🙋🏽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5: Adding a human-in-the-loop to workflows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FE34F6-E56A-2597-B0BA-8E585D74B6AC}"/>
              </a:ext>
            </a:extLst>
          </p:cNvPr>
          <p:cNvSpPr txBox="1"/>
          <p:nvPr/>
        </p:nvSpPr>
        <p:spPr>
          <a:xfrm>
            <a:off x="5531304" y="2111864"/>
            <a:ext cx="58893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sz="2200">
                <a:latin typeface="Aptos" panose="020B0004020202020204" pitchFamily="34" charset="0"/>
              </a:rPr>
              <a:t>Join office hours after each session in Discord:</a:t>
            </a:r>
          </a:p>
          <a:p>
            <a:pPr marL="0" indent="0">
              <a:buNone/>
            </a:pPr>
            <a:r>
              <a:rPr lang="es-MX" sz="2200">
                <a:latin typeface="Aptos" panose="020B0004020202020204" pitchFamily="34" charset="0"/>
                <a:hlinkClick r:id="rId4"/>
              </a:rPr>
              <a:t>aka.ms/pythonai/oh</a:t>
            </a:r>
            <a:endParaRPr lang="en-US" sz="2200"/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A49413D5-C7CA-8BE7-3714-C61ACE6FA5FB}"/>
              </a:ext>
            </a:extLst>
          </p:cNvPr>
          <p:cNvSpPr txBox="1">
            <a:spLocks/>
          </p:cNvSpPr>
          <p:nvPr/>
        </p:nvSpPr>
        <p:spPr>
          <a:xfrm>
            <a:off x="5531304" y="1051121"/>
            <a:ext cx="5194041" cy="8915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MX" sz="2200">
                <a:latin typeface="Aptos" panose="020B0004020202020204" pitchFamily="34" charset="0"/>
              </a:rPr>
              <a:t>Register: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>
                <a:latin typeface="Aptos" panose="020B0004020202020204" pitchFamily="34" charset="0"/>
                <a:hlinkClick r:id="rId5"/>
              </a:rPr>
              <a:t>https://aka.ms/PythonAgents/series</a:t>
            </a:r>
            <a:endParaRPr lang="es-MX" sz="2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2985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07447-B7F5-3C04-821D-35ED19346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426B1-90D2-47B7-BABB-0A0ADEA0A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4764961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89849-25D1-148E-1CB0-4CC256C97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1ECE-87CE-C8A8-371E-DE309556F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a workflow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EE61B2-5B78-10F4-B999-C995357DB1C9}"/>
              </a:ext>
            </a:extLst>
          </p:cNvPr>
          <p:cNvSpPr txBox="1">
            <a:spLocks/>
          </p:cNvSpPr>
          <p:nvPr/>
        </p:nvSpPr>
        <p:spPr>
          <a:xfrm>
            <a:off x="8099646" y="1836779"/>
            <a:ext cx="4092354" cy="14297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Or use the built-in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workflow builder subclasses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 for common scenarios: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021096B-E912-073E-931A-ADB103F4595A}"/>
              </a:ext>
            </a:extLst>
          </p:cNvPr>
          <p:cNvSpPr txBox="1">
            <a:spLocks/>
          </p:cNvSpPr>
          <p:nvPr/>
        </p:nvSpPr>
        <p:spPr>
          <a:xfrm>
            <a:off x="8219974" y="3266564"/>
            <a:ext cx="3393439" cy="20696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ConcurrentBuilder()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SequentialBuilder()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GroupChatBuilder()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HandoffBuilder()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MagenticBuilder()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1116FC-EE74-2627-4452-5AF9FD42BBAB}"/>
              </a:ext>
            </a:extLst>
          </p:cNvPr>
          <p:cNvSpPr txBox="1"/>
          <p:nvPr/>
        </p:nvSpPr>
        <p:spPr>
          <a:xfrm>
            <a:off x="1120536" y="6347831"/>
            <a:ext cx="10149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hlinkClick r:id="rId2"/>
              </a:rPr>
              <a:t>https://learn.microsoft.com/agent-framework/user-guide/workflows</a:t>
            </a:r>
            <a:endParaRPr lang="en-US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E07CDA-1F1C-228E-FDE6-4E4309BE2015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60CBD2-372D-5831-EDD0-83BA1AB9F15E}"/>
              </a:ext>
            </a:extLst>
          </p:cNvPr>
          <p:cNvSpPr txBox="1">
            <a:spLocks/>
          </p:cNvSpPr>
          <p:nvPr/>
        </p:nvSpPr>
        <p:spPr>
          <a:xfrm>
            <a:off x="8168640" y="5428594"/>
            <a:ext cx="4023360" cy="9192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i="1"/>
              <a:t>Join us tomorrow to learn more!</a:t>
            </a:r>
          </a:p>
        </p:txBody>
      </p:sp>
    </p:spTree>
    <p:extLst>
      <p:ext uri="{BB962C8B-B14F-4D97-AF65-F5344CB8AC3E}">
        <p14:creationId xmlns:p14="http://schemas.microsoft.com/office/powerpoint/2010/main" val="14144953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536DA-7ADD-2E2F-9A52-E0B0D0F4A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4A3F-77A6-F929-12B9-F10B70B82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Visualize workflows with diagrams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3BAD70-D832-FEF9-C531-7EE3F654D78D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DA21A4-4AC3-394C-C3B0-36FF8C9935D7}"/>
              </a:ext>
            </a:extLst>
          </p:cNvPr>
          <p:cNvSpPr txBox="1"/>
          <p:nvPr/>
        </p:nvSpPr>
        <p:spPr>
          <a:xfrm>
            <a:off x="1201592" y="1757362"/>
            <a:ext cx="5491527" cy="9485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agent_framework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WorkflowViz</a:t>
            </a:r>
          </a:p>
          <a:p>
            <a:pPr>
              <a:buNone/>
            </a:pPr>
            <a:endParaRPr lang="en-US" b="0">
              <a:solidFill>
                <a:srgbClr val="267F99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viz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WorkflowViz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49529A-57EF-6886-0EB1-705B27B8316E}"/>
              </a:ext>
            </a:extLst>
          </p:cNvPr>
          <p:cNvSpPr txBox="1"/>
          <p:nvPr/>
        </p:nvSpPr>
        <p:spPr>
          <a:xfrm>
            <a:off x="1132793" y="6445909"/>
            <a:ext cx="10247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2"/>
              </a:rPr>
              <a:t>https://learn.microsoft.com/agent-framework/user-guide/workflows/visualization</a:t>
            </a:r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567066-5EFB-F8E9-8B70-922CE9FF4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756" y="2463661"/>
            <a:ext cx="4120774" cy="37684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B1882C8-7BA8-ABB3-F2BF-4D13D6942A92}"/>
              </a:ext>
            </a:extLst>
          </p:cNvPr>
          <p:cNvSpPr txBox="1"/>
          <p:nvPr/>
        </p:nvSpPr>
        <p:spPr>
          <a:xfrm>
            <a:off x="1221912" y="3769928"/>
            <a:ext cx="5491527" cy="24622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flowchart TD</a:t>
            </a:r>
          </a:p>
          <a:p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  writer_agent["writer_agent (Start)"];</a:t>
            </a:r>
          </a:p>
          <a:p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  final_editor_agent["final_editor_agent"];</a:t>
            </a:r>
          </a:p>
          <a:p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  coordinator["coordinator"];</a:t>
            </a:r>
          </a:p>
          <a:p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  internal_writer_agent --&gt; writer_agent;</a:t>
            </a:r>
          </a:p>
          <a:p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  internal_final_editor_agent --&gt; final_editor_agent;</a:t>
            </a:r>
          </a:p>
          <a:p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  internal_coordinator --&gt; coordinator;</a:t>
            </a:r>
          </a:p>
          <a:p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  writer_agent --&gt; coordinator;</a:t>
            </a:r>
          </a:p>
          <a:p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  coordinator --&gt; writer_agent;</a:t>
            </a:r>
          </a:p>
          <a:p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  final_editor_agent --&gt; coordinator;</a:t>
            </a:r>
          </a:p>
          <a:p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  coordinator --&gt; final_editor_agent;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D3832E-6548-2D0A-3C47-C8556B453A51}"/>
              </a:ext>
            </a:extLst>
          </p:cNvPr>
          <p:cNvSpPr txBox="1"/>
          <p:nvPr/>
        </p:nvSpPr>
        <p:spPr>
          <a:xfrm>
            <a:off x="7662756" y="1714677"/>
            <a:ext cx="4120774" cy="3488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viz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export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format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"svg"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13DF07-CE4A-83AB-0DD4-819FE3FA27B1}"/>
              </a:ext>
            </a:extLst>
          </p:cNvPr>
          <p:cNvSpPr txBox="1"/>
          <p:nvPr/>
        </p:nvSpPr>
        <p:spPr>
          <a:xfrm>
            <a:off x="1242232" y="3169764"/>
            <a:ext cx="545912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viz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to_mermaid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1661A49-5C9A-6A9C-E4D0-11953EA7E1D7}"/>
              </a:ext>
            </a:extLst>
          </p:cNvPr>
          <p:cNvCxnSpPr>
            <a:cxnSpLocks/>
            <a:stCxn id="22" idx="2"/>
            <a:endCxn id="17" idx="0"/>
          </p:cNvCxnSpPr>
          <p:nvPr/>
        </p:nvCxnSpPr>
        <p:spPr>
          <a:xfrm flipH="1">
            <a:off x="3967676" y="3539096"/>
            <a:ext cx="4121" cy="23083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33DDA72-372C-AAC4-EDD3-4152AC778C9D}"/>
              </a:ext>
            </a:extLst>
          </p:cNvPr>
          <p:cNvCxnSpPr>
            <a:cxnSpLocks/>
          </p:cNvCxnSpPr>
          <p:nvPr/>
        </p:nvCxnSpPr>
        <p:spPr>
          <a:xfrm flipH="1">
            <a:off x="9719022" y="2129441"/>
            <a:ext cx="4121" cy="23083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2983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7D89DA-6475-2117-9F2A-3017ADCFB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B33B9-9832-D71B-3B24-04B55C8B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/>
              <a:t>Evaluate with a custom LLM-based judge</a:t>
            </a:r>
            <a:endParaRPr lang="en-US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7084045E-925B-179C-C965-9055CA101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8" y="5074180"/>
            <a:ext cx="10369432" cy="1126274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friendliness_eval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load_flow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source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"friendliness.prompty"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model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={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"configuration"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model_config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})</a:t>
            </a:r>
          </a:p>
          <a:p>
            <a:pPr>
              <a:lnSpc>
                <a:spcPts val="2025"/>
              </a:lnSpc>
              <a:buNone/>
            </a:pP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friendliness_score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friendliness_eval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DF5BA2B3-1E4A-BF09-F2E1-A902D50C73F4}"/>
              </a:ext>
            </a:extLst>
          </p:cNvPr>
          <p:cNvSpPr txBox="1">
            <a:spLocks/>
          </p:cNvSpPr>
          <p:nvPr/>
        </p:nvSpPr>
        <p:spPr>
          <a:xfrm>
            <a:off x="1049416" y="1783820"/>
            <a:ext cx="10515600" cy="582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/>
              <a:t>First define prompt and examples in a prompty file: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768865-30A6-3D1C-28C8-B2F003298E3C}"/>
              </a:ext>
            </a:extLst>
          </p:cNvPr>
          <p:cNvSpPr txBox="1"/>
          <p:nvPr/>
        </p:nvSpPr>
        <p:spPr>
          <a:xfrm>
            <a:off x="1049417" y="2248180"/>
            <a:ext cx="10369434" cy="21441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Rate the friendliness of the response between one to five stars using this scale: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One star: The response is unfriendly or hostile.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Two stars: The response is mostly unfriendly.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Three stars: The response is neutral.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Four stars: The response is mostly friendly.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Five stars: The response is very friendly.</a:t>
            </a:r>
          </a:p>
          <a:p>
            <a:pPr>
              <a:lnSpc>
                <a:spcPts val="2025"/>
              </a:lnSpc>
              <a:buNone/>
            </a:pP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4AA73DC-4444-C481-B2EF-27E5A6842B05}"/>
              </a:ext>
            </a:extLst>
          </p:cNvPr>
          <p:cNvSpPr txBox="1">
            <a:spLocks/>
          </p:cNvSpPr>
          <p:nvPr/>
        </p:nvSpPr>
        <p:spPr>
          <a:xfrm>
            <a:off x="976334" y="4565302"/>
            <a:ext cx="10515600" cy="582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/>
              <a:t>Then run the evaluation from the prompty file: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7FA7F-5DB4-B134-D202-EE0266C65DFA}"/>
              </a:ext>
            </a:extLst>
          </p:cNvPr>
          <p:cNvSpPr txBox="1"/>
          <p:nvPr/>
        </p:nvSpPr>
        <p:spPr>
          <a:xfrm>
            <a:off x="1049415" y="6281715"/>
            <a:ext cx="83494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Full example: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hlinkClick r:id="rId3"/>
              </a:rPr>
              <a:t>quality_eval_custom.py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914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43790-61D7-53F1-5EA4-B1B974BD1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6E11-EB53-0F9D-65D6-780464E4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Sequential workflow: Restocking inventory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795E17D-CFE4-D6CA-D587-5F89E832942E}"/>
              </a:ext>
            </a:extLst>
          </p:cNvPr>
          <p:cNvSpPr txBox="1">
            <a:spLocks/>
          </p:cNvSpPr>
          <p:nvPr/>
        </p:nvSpPr>
        <p:spPr>
          <a:xfrm>
            <a:off x="3845294" y="2006543"/>
            <a:ext cx="1912653" cy="6474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/>
              <a:t>Inventory MCP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1FA15D3-6D4D-3F1C-A51F-E2F89EC99C19}"/>
              </a:ext>
            </a:extLst>
          </p:cNvPr>
          <p:cNvSpPr txBox="1">
            <a:spLocks/>
          </p:cNvSpPr>
          <p:nvPr/>
        </p:nvSpPr>
        <p:spPr>
          <a:xfrm>
            <a:off x="-4561794" y="3932452"/>
            <a:ext cx="1608760" cy="96840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/>
              <a:t>Structured Outputs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B42728-180D-C2CC-8B54-499D7D14F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415" y="1823451"/>
            <a:ext cx="2427245" cy="443167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B06DAB-BA2C-10B0-0C8B-F66631664AF5}"/>
              </a:ext>
            </a:extLst>
          </p:cNvPr>
          <p:cNvCxnSpPr>
            <a:cxnSpLocks/>
          </p:cNvCxnSpPr>
          <p:nvPr/>
        </p:nvCxnSpPr>
        <p:spPr>
          <a:xfrm>
            <a:off x="3532098" y="2144098"/>
            <a:ext cx="4543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EB72BF4-2E0A-823B-AD2E-BCC6F767E0E7}"/>
              </a:ext>
            </a:extLst>
          </p:cNvPr>
          <p:cNvSpPr txBox="1">
            <a:spLocks/>
          </p:cNvSpPr>
          <p:nvPr/>
        </p:nvSpPr>
        <p:spPr>
          <a:xfrm>
            <a:off x="1098083" y="2876699"/>
            <a:ext cx="3007903" cy="4176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[Item A, Item B, Item D]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564EBA7-5915-F835-625B-E36F66AB50A0}"/>
              </a:ext>
            </a:extLst>
          </p:cNvPr>
          <p:cNvSpPr txBox="1">
            <a:spLocks/>
          </p:cNvSpPr>
          <p:nvPr/>
        </p:nvSpPr>
        <p:spPr>
          <a:xfrm>
            <a:off x="1046781" y="4600135"/>
            <a:ext cx="3007903" cy="4176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[Item B, Item D, Item A]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5331031-284E-0031-2F02-A6C6218F189C}"/>
              </a:ext>
            </a:extLst>
          </p:cNvPr>
          <p:cNvSpPr txBox="1">
            <a:spLocks/>
          </p:cNvSpPr>
          <p:nvPr/>
        </p:nvSpPr>
        <p:spPr>
          <a:xfrm>
            <a:off x="3107220" y="3805364"/>
            <a:ext cx="2427245" cy="46785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/>
              <a:t>Prioritization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54E2618-BE4E-C67E-3800-9DD30ADE3094}"/>
              </a:ext>
            </a:extLst>
          </p:cNvPr>
          <p:cNvSpPr txBox="1">
            <a:spLocks/>
          </p:cNvSpPr>
          <p:nvPr/>
        </p:nvSpPr>
        <p:spPr>
          <a:xfrm>
            <a:off x="1098083" y="6301800"/>
            <a:ext cx="3007903" cy="4176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"Based on my analysis..."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E780D7BE-5436-040E-69A5-1C08F43B9C4C}"/>
              </a:ext>
            </a:extLst>
          </p:cNvPr>
          <p:cNvSpPr txBox="1">
            <a:spLocks/>
          </p:cNvSpPr>
          <p:nvPr/>
        </p:nvSpPr>
        <p:spPr>
          <a:xfrm>
            <a:off x="3198274" y="5644121"/>
            <a:ext cx="2427245" cy="46785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/>
              <a:t>Summarization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21CAE7-5DCE-493C-19FF-B45DB63F40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380" t="20304" r="8143" b="10419"/>
          <a:stretch>
            <a:fillRect/>
          </a:stretch>
        </p:blipFill>
        <p:spPr>
          <a:xfrm>
            <a:off x="6480842" y="1623341"/>
            <a:ext cx="4478743" cy="50961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817228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3F4B-571C-1D3C-A7B8-B654F6A4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 b</a:t>
            </a:r>
            <a:r>
              <a:rPr lang="en-US" sz="4400"/>
              <a:t>uilt-in LLM-based </a:t>
            </a:r>
            <a:r>
              <a:rPr lang="en-US"/>
              <a:t>evaluators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FAFF1D-4D4E-7577-ACA4-3E290E9A7457}"/>
              </a:ext>
            </a:extLst>
          </p:cNvPr>
          <p:cNvSpPr txBox="1">
            <a:spLocks/>
          </p:cNvSpPr>
          <p:nvPr/>
        </p:nvSpPr>
        <p:spPr>
          <a:xfrm>
            <a:off x="626765" y="3161378"/>
            <a:ext cx="11197771" cy="871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500" b="1"/>
              <a:t>Query   |   Context   |   Response   |   Ground truth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0A86AD2C-962F-827B-9801-A64321E00E65}"/>
              </a:ext>
            </a:extLst>
          </p:cNvPr>
          <p:cNvSpPr/>
          <p:nvPr/>
        </p:nvSpPr>
        <p:spPr>
          <a:xfrm rot="10800000">
            <a:off x="2042170" y="3083563"/>
            <a:ext cx="4967390" cy="1201215"/>
          </a:xfrm>
          <a:prstGeom prst="arc">
            <a:avLst>
              <a:gd name="adj1" fmla="val 10974351"/>
              <a:gd name="adj2" fmla="val 21388713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E4C24-B17F-3E6F-C65D-C6DEA8EBB898}"/>
              </a:ext>
            </a:extLst>
          </p:cNvPr>
          <p:cNvSpPr txBox="1"/>
          <p:nvPr/>
        </p:nvSpPr>
        <p:spPr>
          <a:xfrm>
            <a:off x="3926055" y="4457380"/>
            <a:ext cx="28855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RelevanceEvaluator</a:t>
            </a:r>
          </a:p>
          <a:p>
            <a:pPr algn="ctr"/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CoherenceEvaluator</a:t>
            </a:r>
          </a:p>
          <a:p>
            <a:pPr algn="ctr"/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FluencyEvaluator</a:t>
            </a:r>
            <a:endParaRPr 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832D205E-BB9B-96B7-441C-9C67687A539C}"/>
              </a:ext>
            </a:extLst>
          </p:cNvPr>
          <p:cNvSpPr/>
          <p:nvPr/>
        </p:nvSpPr>
        <p:spPr>
          <a:xfrm flipH="1">
            <a:off x="7009560" y="2579527"/>
            <a:ext cx="3537152" cy="1201215"/>
          </a:xfrm>
          <a:prstGeom prst="arc">
            <a:avLst>
              <a:gd name="adj1" fmla="val 10974351"/>
              <a:gd name="adj2" fmla="val 21388713"/>
            </a:avLst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2582EA-D20D-1FD8-904D-BE42DA4FBD64}"/>
              </a:ext>
            </a:extLst>
          </p:cNvPr>
          <p:cNvSpPr txBox="1"/>
          <p:nvPr/>
        </p:nvSpPr>
        <p:spPr>
          <a:xfrm>
            <a:off x="3855872" y="2126327"/>
            <a:ext cx="33096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err="1">
                <a:latin typeface="Consolas" panose="020B0609020204030204" pitchFamily="49" charset="0"/>
                <a:cs typeface="Consolas" panose="020B0609020204030204" pitchFamily="49" charset="0"/>
              </a:rPr>
              <a:t>GroundednessEvaluator</a:t>
            </a:r>
            <a:endParaRPr 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DF70D5E8-4DE8-8AA3-B5BE-BD83DC7D8D9C}"/>
              </a:ext>
            </a:extLst>
          </p:cNvPr>
          <p:cNvSpPr/>
          <p:nvPr/>
        </p:nvSpPr>
        <p:spPr>
          <a:xfrm>
            <a:off x="3855872" y="2612737"/>
            <a:ext cx="3025866" cy="1183147"/>
          </a:xfrm>
          <a:prstGeom prst="arc">
            <a:avLst>
              <a:gd name="adj1" fmla="val 10974351"/>
              <a:gd name="adj2" fmla="val 21388713"/>
            </a:avLst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29899C-E130-19C3-AB3C-CF595D3C6FF9}"/>
              </a:ext>
            </a:extLst>
          </p:cNvPr>
          <p:cNvSpPr txBox="1"/>
          <p:nvPr/>
        </p:nvSpPr>
        <p:spPr>
          <a:xfrm>
            <a:off x="7694158" y="2144082"/>
            <a:ext cx="2852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SimilarityEvaluator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93D47-4A40-C38B-24C5-D6D848172A84}"/>
              </a:ext>
            </a:extLst>
          </p:cNvPr>
          <p:cNvSpPr txBox="1"/>
          <p:nvPr/>
        </p:nvSpPr>
        <p:spPr>
          <a:xfrm>
            <a:off x="1049416" y="5701400"/>
            <a:ext cx="83494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Try them all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: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hlinkClick r:id="rId2"/>
              </a:rPr>
              <a:t>quality_eval_all_builtin_judges.py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358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076FF1-2D73-CC4A-B92F-33AC55051061}">
  <we:reference id="12345678-1234-1234-1234-123456789012" version="1.0.0.0" store="developer" storeType="Registry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Properties xmlns="http://schemas.microsoft.com/sharepoint/v3" xsi:nil="true"/>
    <_ip_UnifiedCompliancePolicyUIAction xmlns="http://schemas.microsoft.com/sharepoint/v3" xsi:nil="true"/>
    <lcf76f155ced4ddcb4097134ff3c332f xmlns="a29421e1-74d8-4915-bb0d-c72892872ba0">
      <Terms xmlns="http://schemas.microsoft.com/office/infopath/2007/PartnerControls"/>
    </lcf76f155ced4ddcb4097134ff3c332f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D4B4487B57D443AED9979943B92646" ma:contentTypeVersion="15" ma:contentTypeDescription="Create a new document." ma:contentTypeScope="" ma:versionID="11635a662f4c9a657eae7bf4dc620629">
  <xsd:schema xmlns:xsd="http://www.w3.org/2001/XMLSchema" xmlns:xs="http://www.w3.org/2001/XMLSchema" xmlns:p="http://schemas.microsoft.com/office/2006/metadata/properties" xmlns:ns1="http://schemas.microsoft.com/sharepoint/v3" xmlns:ns2="a29421e1-74d8-4915-bb0d-c72892872ba0" xmlns:ns3="230e9df3-be65-4c73-a93b-d1236ebd677e" targetNamespace="http://schemas.microsoft.com/office/2006/metadata/properties" ma:root="true" ma:fieldsID="dff1dd5af459cf9d2efcc6111ef93463" ns1:_="" ns2:_="" ns3:_="">
    <xsd:import namespace="http://schemas.microsoft.com/sharepoint/v3"/>
    <xsd:import namespace="a29421e1-74d8-4915-bb0d-c72892872ba0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ocTag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421e1-74d8-4915-bb0d-c72892872ba0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ocTags" ma:index="18" nillable="true" ma:displayName="MediaServiceDocTags" ma:hidden="true" ma:internalName="MediaServiceDocTags" ma:readOnly="true">
      <xsd:simpleType>
        <xsd:restriction base="dms:Note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12b3914-fd28-4b53-a746-fcfd87edfe12}" ma:internalName="TaxCatchAll" ma:showField="CatchAllData" ma:web="c2fe79a6-8abe-455d-ad41-5c60efd42c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898A2C-BE4D-4D93-AD47-903F380990E0}">
  <ds:schemaRefs>
    <ds:schemaRef ds:uri="496da845-320a-4090-a8c1-9d38d24895f3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230e9df3-be65-4c73-a93b-d1236ebd677e"/>
    <ds:schemaRef ds:uri="http://schemas.microsoft.com/office/2006/documentManagement/types"/>
    <ds:schemaRef ds:uri="4d763a3d-abd4-45ac-ad35-6c0fa32d5be4"/>
    <ds:schemaRef ds:uri="http://schemas.microsoft.com/sharepoint/v3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8CC80F8-7A9B-4E9F-9D66-A538F8FA51C6}"/>
</file>

<file path=customXml/itemProps3.xml><?xml version="1.0" encoding="utf-8"?>
<ds:datastoreItem xmlns:ds="http://schemas.openxmlformats.org/officeDocument/2006/customXml" ds:itemID="{0B3390A4-EB81-4EDD-9EA1-D4D1BA7CABC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14645</TotalTime>
  <Words>3062</Words>
  <Application>Microsoft Macintosh PowerPoint</Application>
  <PresentationFormat>Widescreen</PresentationFormat>
  <Paragraphs>454</Paragraphs>
  <Slides>36</Slides>
  <Notes>18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-apple-system</vt:lpstr>
      <vt:lpstr>Aptos</vt:lpstr>
      <vt:lpstr>Aptos Display</vt:lpstr>
      <vt:lpstr>Aptos Display (Headings)</vt:lpstr>
      <vt:lpstr>Arial</vt:lpstr>
      <vt:lpstr>Calibri</vt:lpstr>
      <vt:lpstr>Consolas</vt:lpstr>
      <vt:lpstr>Menlo</vt:lpstr>
      <vt:lpstr>Quire Sans</vt:lpstr>
      <vt:lpstr>Segoe UI</vt:lpstr>
      <vt:lpstr>Office Theme</vt:lpstr>
      <vt:lpstr>1_Office Theme</vt:lpstr>
      <vt:lpstr>PowerPoint Presentation</vt:lpstr>
      <vt:lpstr>Python + Agents</vt:lpstr>
      <vt:lpstr>Today we'll cover...</vt:lpstr>
      <vt:lpstr>Want to follow along?</vt:lpstr>
      <vt:lpstr>Recap: What's an agent?</vt:lpstr>
      <vt:lpstr>Workflows</vt:lpstr>
      <vt:lpstr>What's a workflow?</vt:lpstr>
      <vt:lpstr>Anatomy of a workflow</vt:lpstr>
      <vt:lpstr>Building a workflow</vt:lpstr>
      <vt:lpstr>Visualize workflows with DevUI</vt:lpstr>
      <vt:lpstr>Workflows with Agent executors</vt:lpstr>
      <vt:lpstr>Streaming events from workflows</vt:lpstr>
      <vt:lpstr>Built-in workflow builder: SequentialBuilder</vt:lpstr>
      <vt:lpstr>Branching workflows</vt:lpstr>
      <vt:lpstr>Workflow with conditional branching</vt:lpstr>
      <vt:lpstr>Text output is fragile for workflow control</vt:lpstr>
      <vt:lpstr>Unstructured text vs. structured output</vt:lpstr>
      <vt:lpstr>Using structured outputs for workflow decisions</vt:lpstr>
      <vt:lpstr>Category-based routing with structured outputs</vt:lpstr>
      <vt:lpstr>Using switch-case edges in workflows</vt:lpstr>
      <vt:lpstr>State management</vt:lpstr>
      <vt:lpstr>When do we need workflow state?</vt:lpstr>
      <vt:lpstr>Storing and accessing state in workflows</vt:lpstr>
      <vt:lpstr>⚠️  Shared workflow state leaks between requests</vt:lpstr>
      <vt:lpstr>⚠️ Shared agents accumulate conversation history</vt:lpstr>
      <vt:lpstr>State isolation via factory functions</vt:lpstr>
      <vt:lpstr>Using workflows in applications</vt:lpstr>
      <vt:lpstr>Retail shop with agentic workflows</vt:lpstr>
      <vt:lpstr>Sequential workflow: Restocking inventory</vt:lpstr>
      <vt:lpstr>Next steps</vt:lpstr>
      <vt:lpstr>Appendix</vt:lpstr>
      <vt:lpstr>Building a workflow</vt:lpstr>
      <vt:lpstr>Visualize workflows with diagrams</vt:lpstr>
      <vt:lpstr>Evaluate with a custom LLM-based judge</vt:lpstr>
      <vt:lpstr>Sequential workflow: Restocking inventory</vt:lpstr>
      <vt:lpstr>More  built-in LLM-based evaluators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Abril Ureña</dc:creator>
  <cp:lastModifiedBy>Pamela Fox</cp:lastModifiedBy>
  <cp:revision>5</cp:revision>
  <dcterms:created xsi:type="dcterms:W3CDTF">2025-02-24T19:33:09Z</dcterms:created>
  <dcterms:modified xsi:type="dcterms:W3CDTF">2026-03-03T18:12:04Z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0x0101001BD4B4487B57D443AED9979943B92646</vt:lpwstr>
  </property>
  <property fmtid="{D5CDD505-2E9C-101B-9397-08002B2CF9AE}" pid="3" name="_SourceUrl">
    <vt:lpwstr/>
  </property>
  <property fmtid="{D5CDD505-2E9C-101B-9397-08002B2CF9AE}" pid="4" name="_SharedFileIndex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MediaServiceImageTags">
    <vt:lpwstr/>
  </property>
  <property fmtid="{D5CDD505-2E9C-101B-9397-08002B2CF9AE}" pid="9" name="Order">
    <vt:lpwstr>26550800.0000000</vt:lpwstr>
  </property>
  <property fmtid="{D5CDD505-2E9C-101B-9397-08002B2CF9AE}" pid="10" name="xd_ProgID">
    <vt:lpwstr/>
  </property>
  <property fmtid="{D5CDD505-2E9C-101B-9397-08002B2CF9AE}" pid="11" name="TemplateUrl">
    <vt:lpwstr/>
  </property>
  <property fmtid="{D5CDD505-2E9C-101B-9397-08002B2CF9AE}" pid="12" name="xd_Signature">
    <vt:lpwstr/>
  </property>
</Properties>
</file>