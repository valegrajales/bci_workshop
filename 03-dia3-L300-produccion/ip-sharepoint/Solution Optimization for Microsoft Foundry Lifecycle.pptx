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3.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3.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736" r:id="rId6"/>
    <p:sldMasterId id="2147483756" r:id="rId7"/>
  </p:sldMasterIdLst>
  <p:notesMasterIdLst>
    <p:notesMasterId r:id="rId66"/>
  </p:notesMasterIdLst>
  <p:sldIdLst>
    <p:sldId id="269" r:id="rId8"/>
    <p:sldId id="257" r:id="rId9"/>
    <p:sldId id="312" r:id="rId10"/>
    <p:sldId id="313" r:id="rId11"/>
    <p:sldId id="332" r:id="rId12"/>
    <p:sldId id="336" r:id="rId13"/>
    <p:sldId id="302" r:id="rId14"/>
    <p:sldId id="270" r:id="rId15"/>
    <p:sldId id="283" r:id="rId16"/>
    <p:sldId id="2147483647" r:id="rId17"/>
    <p:sldId id="256" r:id="rId18"/>
    <p:sldId id="258" r:id="rId19"/>
    <p:sldId id="285" r:id="rId20"/>
    <p:sldId id="295" r:id="rId21"/>
    <p:sldId id="425" r:id="rId22"/>
    <p:sldId id="327" r:id="rId23"/>
    <p:sldId id="268" r:id="rId24"/>
    <p:sldId id="280" r:id="rId25"/>
    <p:sldId id="281" r:id="rId26"/>
    <p:sldId id="275" r:id="rId27"/>
    <p:sldId id="276" r:id="rId28"/>
    <p:sldId id="282" r:id="rId29"/>
    <p:sldId id="314" r:id="rId30"/>
    <p:sldId id="296" r:id="rId31"/>
    <p:sldId id="284" r:id="rId32"/>
    <p:sldId id="286" r:id="rId33"/>
    <p:sldId id="287" r:id="rId34"/>
    <p:sldId id="288" r:id="rId35"/>
    <p:sldId id="289" r:id="rId36"/>
    <p:sldId id="291" r:id="rId37"/>
    <p:sldId id="277" r:id="rId38"/>
    <p:sldId id="279" r:id="rId39"/>
    <p:sldId id="320" r:id="rId40"/>
    <p:sldId id="293" r:id="rId41"/>
    <p:sldId id="328" r:id="rId42"/>
    <p:sldId id="297" r:id="rId43"/>
    <p:sldId id="308" r:id="rId44"/>
    <p:sldId id="298" r:id="rId45"/>
    <p:sldId id="299" r:id="rId46"/>
    <p:sldId id="300" r:id="rId47"/>
    <p:sldId id="329" r:id="rId48"/>
    <p:sldId id="301" r:id="rId49"/>
    <p:sldId id="303" r:id="rId50"/>
    <p:sldId id="304" r:id="rId51"/>
    <p:sldId id="321" r:id="rId52"/>
    <p:sldId id="305" r:id="rId53"/>
    <p:sldId id="306" r:id="rId54"/>
    <p:sldId id="307" r:id="rId55"/>
    <p:sldId id="309" r:id="rId56"/>
    <p:sldId id="310" r:id="rId57"/>
    <p:sldId id="311" r:id="rId58"/>
    <p:sldId id="317" r:id="rId59"/>
    <p:sldId id="318" r:id="rId60"/>
    <p:sldId id="319" r:id="rId61"/>
    <p:sldId id="325" r:id="rId62"/>
    <p:sldId id="326" r:id="rId63"/>
    <p:sldId id="323" r:id="rId64"/>
    <p:sldId id="324"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ick-off" id="{208F7CB8-779D-4ECB-99FE-282DEF81DA88}">
          <p14:sldIdLst>
            <p14:sldId id="269"/>
            <p14:sldId id="257"/>
            <p14:sldId id="312"/>
          </p14:sldIdLst>
        </p14:section>
        <p14:section name="Microsoft Foundry Models - Bilal" id="{D87DC11B-777E-44B0-9965-A7E9A9978D81}">
          <p14:sldIdLst>
            <p14:sldId id="313"/>
            <p14:sldId id="332"/>
            <p14:sldId id="336"/>
            <p14:sldId id="302"/>
            <p14:sldId id="270"/>
            <p14:sldId id="283"/>
            <p14:sldId id="2147483647"/>
            <p14:sldId id="256"/>
            <p14:sldId id="258"/>
            <p14:sldId id="285"/>
            <p14:sldId id="295"/>
            <p14:sldId id="425"/>
          </p14:sldIdLst>
        </p14:section>
        <p14:section name="Model Lifecycle Guidance" id="{1C8CBFF0-01FA-4A93-86CE-69C140898CBF}">
          <p14:sldIdLst>
            <p14:sldId id="327"/>
            <p14:sldId id="268"/>
            <p14:sldId id="280"/>
            <p14:sldId id="281"/>
            <p14:sldId id="275"/>
            <p14:sldId id="276"/>
            <p14:sldId id="282"/>
            <p14:sldId id="314"/>
            <p14:sldId id="296"/>
            <p14:sldId id="284"/>
            <p14:sldId id="286"/>
            <p14:sldId id="287"/>
            <p14:sldId id="288"/>
            <p14:sldId id="289"/>
            <p14:sldId id="291"/>
            <p14:sldId id="277"/>
            <p14:sldId id="279"/>
            <p14:sldId id="320"/>
            <p14:sldId id="293"/>
            <p14:sldId id="328"/>
            <p14:sldId id="297"/>
            <p14:sldId id="308"/>
            <p14:sldId id="298"/>
            <p14:sldId id="299"/>
            <p14:sldId id="300"/>
            <p14:sldId id="329"/>
            <p14:sldId id="301"/>
            <p14:sldId id="303"/>
            <p14:sldId id="304"/>
            <p14:sldId id="321"/>
            <p14:sldId id="305"/>
            <p14:sldId id="306"/>
            <p14:sldId id="307"/>
            <p14:sldId id="309"/>
            <p14:sldId id="310"/>
            <p14:sldId id="311"/>
            <p14:sldId id="317"/>
            <p14:sldId id="318"/>
            <p14:sldId id="319"/>
          </p14:sldIdLst>
        </p14:section>
        <p14:section name="Resources &amp; Next Steps" id="{27D98221-B90E-4092-AC48-E7B2C199A988}">
          <p14:sldIdLst>
            <p14:sldId id="325"/>
            <p14:sldId id="326"/>
            <p14:sldId id="323"/>
            <p14:sldId id="32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7ED6"/>
    <a:srgbClr val="CDCF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4" dt="2026-08-07T08:18:12.733"/>
    <p1510:client id="{4F54BDD9-C804-4502-CCDE-F69D0861ACDF}" v="1" dt="2026-08-07T14:26:51.4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66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viewProps" Target="viewProps.xml"/><Relationship Id="rId7" Type="http://schemas.openxmlformats.org/officeDocument/2006/relationships/slideMaster" Target="slideMasters/slideMaster4.xml"/><Relationship Id="rId71"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presProps" Target="pres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purva Thomas" userId="S::apthomas@microsoft.com::ebacdfd8-ef6b-4ed5-b4c7-fc8792b4219f" providerId="AD" clId="Web-{4F54BDD9-C804-4502-CCDE-F69D0861ACDF}"/>
    <pc:docChg chg="addSld modSection">
      <pc:chgData name="Apurva Thomas" userId="S::apthomas@microsoft.com::ebacdfd8-ef6b-4ed5-b4c7-fc8792b4219f" providerId="AD" clId="Web-{4F54BDD9-C804-4502-CCDE-F69D0861ACDF}" dt="2026-08-07T14:26:51.440" v="0"/>
      <pc:docMkLst>
        <pc:docMk/>
      </pc:docMkLst>
      <pc:sldChg chg="add">
        <pc:chgData name="Apurva Thomas" userId="S::apthomas@microsoft.com::ebacdfd8-ef6b-4ed5-b4c7-fc8792b4219f" providerId="AD" clId="Web-{4F54BDD9-C804-4502-CCDE-F69D0861ACDF}" dt="2026-08-07T14:26:51.440" v="0"/>
        <pc:sldMkLst>
          <pc:docMk/>
          <pc:sldMk cId="2242852715" sldId="257"/>
        </pc:sldMkLst>
      </pc:sldChg>
    </pc:docChg>
  </pc:docChgLst>
  <pc:docChgLst>
    <pc:chgData name="Bilal Amjad" userId="S::muamjad@microsoft.com::f6ee29d7-ec9f-48c7-9577-16f30e852464" providerId="AD" clId="Web-{00000000-0000-0000-0000-000000000000}"/>
    <pc:docChg chg="modSld">
      <pc:chgData name="Bilal Amjad" userId="S::muamjad@microsoft.com::f6ee29d7-ec9f-48c7-9577-16f30e852464" providerId="AD" clId="Web-{00000000-0000-0000-0000-000000000000}" dt="2026-08-07T08:18:11.311" v="24" actId="20577"/>
      <pc:docMkLst>
        <pc:docMk/>
      </pc:docMkLst>
      <pc:sldChg chg="modSp">
        <pc:chgData name="Bilal Amjad" userId="S::muamjad@microsoft.com::f6ee29d7-ec9f-48c7-9577-16f30e852464" providerId="AD" clId="Web-{00000000-0000-0000-0000-000000000000}" dt="2026-08-07T08:18:11.311" v="24" actId="20577"/>
        <pc:sldMkLst>
          <pc:docMk/>
          <pc:sldMk cId="172864930" sldId="269"/>
        </pc:sldMkLst>
        <pc:spChg chg="mod">
          <ac:chgData name="Bilal Amjad" userId="S::muamjad@microsoft.com::f6ee29d7-ec9f-48c7-9577-16f30e852464" providerId="AD" clId="Web-{00000000-0000-0000-0000-000000000000}" dt="2026-08-07T08:17:46.138" v="11"/>
          <ac:spMkLst>
            <pc:docMk/>
            <pc:sldMk cId="172864930" sldId="269"/>
            <ac:spMk id="2" creationId="{B8DB6E57-AD72-9C69-8301-479B6E37F020}"/>
          </ac:spMkLst>
        </pc:spChg>
        <pc:spChg chg="mod">
          <ac:chgData name="Bilal Amjad" userId="S::muamjad@microsoft.com::f6ee29d7-ec9f-48c7-9577-16f30e852464" providerId="AD" clId="Web-{00000000-0000-0000-0000-000000000000}" dt="2026-08-07T08:18:11.311" v="24" actId="20577"/>
          <ac:spMkLst>
            <pc:docMk/>
            <pc:sldMk cId="172864930" sldId="269"/>
            <ac:spMk id="9" creationId="{946DC26B-E440-0D8E-933C-2031447BFBB3}"/>
          </ac:spMkLst>
        </pc:spChg>
      </pc:sldChg>
    </pc:docChg>
  </pc:docChgLst>
</pc:chgInfo>
</file>

<file path=ppt/diagrams/_rels/data3.xml.rels><?xml version="1.0" encoding="UTF-8" standalone="yes"?>
<Relationships xmlns="http://schemas.openxmlformats.org/package/2006/relationships"><Relationship Id="rId2" Type="http://schemas.openxmlformats.org/officeDocument/2006/relationships/image" Target="../media/image129.svg"/><Relationship Id="rId1" Type="http://schemas.openxmlformats.org/officeDocument/2006/relationships/image" Target="../media/image128.svg"/></Relationships>
</file>

<file path=ppt/diagrams/_rels/data4.xml.rels><?xml version="1.0" encoding="UTF-8" standalone="yes"?>
<Relationships xmlns="http://schemas.openxmlformats.org/package/2006/relationships"><Relationship Id="rId2" Type="http://schemas.openxmlformats.org/officeDocument/2006/relationships/image" Target="../media/image131.svg"/><Relationship Id="rId1" Type="http://schemas.openxmlformats.org/officeDocument/2006/relationships/image" Target="../media/image130.svg"/></Relationships>
</file>

<file path=ppt/diagrams/_rels/data6.xml.rels><?xml version="1.0" encoding="UTF-8" standalone="yes"?>
<Relationships xmlns="http://schemas.openxmlformats.org/package/2006/relationships"><Relationship Id="rId3" Type="http://schemas.openxmlformats.org/officeDocument/2006/relationships/image" Target="../media/image133.svg"/><Relationship Id="rId2" Type="http://schemas.openxmlformats.org/officeDocument/2006/relationships/image" Target="../media/image132.svg"/><Relationship Id="rId1" Type="http://schemas.openxmlformats.org/officeDocument/2006/relationships/hyperlink" Target="https://learn.microsoft.com/en-us/azure/service-health/alerts-activity-log-service-notifications-portal" TargetMode="External"/></Relationships>
</file>

<file path=ppt/diagrams/_rels/data7.xml.rels><?xml version="1.0" encoding="UTF-8" standalone="yes"?>
<Relationships xmlns="http://schemas.openxmlformats.org/package/2006/relationships"><Relationship Id="rId3" Type="http://schemas.openxmlformats.org/officeDocument/2006/relationships/image" Target="../media/image138.svg"/><Relationship Id="rId2" Type="http://schemas.openxmlformats.org/officeDocument/2006/relationships/image" Target="../media/image137.svg"/><Relationship Id="rId1" Type="http://schemas.openxmlformats.org/officeDocument/2006/relationships/image" Target="../media/image136.svg"/></Relationships>
</file>

<file path=ppt/diagrams/_rels/data8.xml.rels><?xml version="1.0" encoding="UTF-8" standalone="yes"?>
<Relationships xmlns="http://schemas.openxmlformats.org/package/2006/relationships"><Relationship Id="rId3" Type="http://schemas.openxmlformats.org/officeDocument/2006/relationships/image" Target="../media/image141.svg"/><Relationship Id="rId2" Type="http://schemas.openxmlformats.org/officeDocument/2006/relationships/image" Target="../media/image140.svg"/><Relationship Id="rId1" Type="http://schemas.openxmlformats.org/officeDocument/2006/relationships/image" Target="../media/image139.svg"/></Relationships>
</file>

<file path=ppt/diagrams/_rels/data9.xml.rels><?xml version="1.0" encoding="UTF-8" standalone="yes"?>
<Relationships xmlns="http://schemas.openxmlformats.org/package/2006/relationships"><Relationship Id="rId3" Type="http://schemas.openxmlformats.org/officeDocument/2006/relationships/image" Target="../media/image144.svg"/><Relationship Id="rId2" Type="http://schemas.openxmlformats.org/officeDocument/2006/relationships/image" Target="../media/image143.svg"/><Relationship Id="rId1" Type="http://schemas.openxmlformats.org/officeDocument/2006/relationships/image" Target="../media/image142.svg"/></Relationships>
</file>

<file path=ppt/diagrams/_rels/data10.xml.rels><?xml version="1.0" encoding="UTF-8" standalone="yes"?>
<Relationships xmlns="http://schemas.openxmlformats.org/package/2006/relationships"><Relationship Id="rId3" Type="http://schemas.openxmlformats.org/officeDocument/2006/relationships/image" Target="../media/image146.svg"/><Relationship Id="rId2" Type="http://schemas.openxmlformats.org/officeDocument/2006/relationships/image" Target="../media/image145.svg"/><Relationship Id="rId1" Type="http://schemas.openxmlformats.org/officeDocument/2006/relationships/image" Target="../media/image142.svg"/></Relationships>
</file>

<file path=ppt/diagrams/_rels/data11.xml.rels><?xml version="1.0" encoding="UTF-8" standalone="yes"?>
<Relationships xmlns="http://schemas.openxmlformats.org/package/2006/relationships"><Relationship Id="rId1" Type="http://schemas.openxmlformats.org/officeDocument/2006/relationships/hyperlink" Target="https://learn.microsoft.com/en-us/azure/ai-foundry/openai/concepts/model-retirements?view=foundry-classic&amp;tabs=text" TargetMode="External"/></Relationships>
</file>

<file path=ppt/diagrams/_rels/data12.xml.rels><?xml version="1.0" encoding="UTF-8" standalone="yes"?>
<Relationships xmlns="http://schemas.openxmlformats.org/package/2006/relationships"><Relationship Id="rId3" Type="http://schemas.openxmlformats.org/officeDocument/2006/relationships/image" Target="../media/image149.svg"/><Relationship Id="rId2" Type="http://schemas.openxmlformats.org/officeDocument/2006/relationships/image" Target="../media/image148.svg"/><Relationship Id="rId1" Type="http://schemas.openxmlformats.org/officeDocument/2006/relationships/image" Target="../media/image147.svg"/></Relationships>
</file>

<file path=ppt/diagrams/_rels/data13.xml.rels><?xml version="1.0" encoding="UTF-8" standalone="yes"?>
<Relationships xmlns="http://schemas.openxmlformats.org/package/2006/relationships"><Relationship Id="rId3" Type="http://schemas.openxmlformats.org/officeDocument/2006/relationships/image" Target="../media/image151.svg"/><Relationship Id="rId2" Type="http://schemas.openxmlformats.org/officeDocument/2006/relationships/image" Target="../media/image147.svg"/><Relationship Id="rId1" Type="http://schemas.openxmlformats.org/officeDocument/2006/relationships/image" Target="../media/image150.svg"/></Relationships>
</file>

<file path=ppt/diagrams/_rels/data14.xml.rels><?xml version="1.0" encoding="UTF-8" standalone="yes"?>
<Relationships xmlns="http://schemas.openxmlformats.org/package/2006/relationships"><Relationship Id="rId2" Type="http://schemas.openxmlformats.org/officeDocument/2006/relationships/image" Target="../media/image152.svg"/><Relationship Id="rId1" Type="http://schemas.openxmlformats.org/officeDocument/2006/relationships/image" Target="../media/image147.svg"/></Relationships>
</file>

<file path=ppt/diagrams/_rels/data15.xml.rels><?xml version="1.0" encoding="UTF-8" standalone="yes"?>
<Relationships xmlns="http://schemas.openxmlformats.org/package/2006/relationships"><Relationship Id="rId2" Type="http://schemas.openxmlformats.org/officeDocument/2006/relationships/image" Target="../media/image153.svg"/><Relationship Id="rId1" Type="http://schemas.openxmlformats.org/officeDocument/2006/relationships/image" Target="../media/image147.svg"/></Relationships>
</file>

<file path=ppt/diagrams/_rels/data16.xml.rels><?xml version="1.0" encoding="UTF-8" standalone="yes"?>
<Relationships xmlns="http://schemas.openxmlformats.org/package/2006/relationships"><Relationship Id="rId2" Type="http://schemas.openxmlformats.org/officeDocument/2006/relationships/image" Target="../media/image147.svg"/><Relationship Id="rId1" Type="http://schemas.openxmlformats.org/officeDocument/2006/relationships/image" Target="../media/image149.svg"/></Relationships>
</file>

<file path=ppt/diagrams/_rels/data17.xml.rels><?xml version="1.0" encoding="UTF-8" standalone="yes"?>
<Relationships xmlns="http://schemas.openxmlformats.org/package/2006/relationships"><Relationship Id="rId3" Type="http://schemas.openxmlformats.org/officeDocument/2006/relationships/image" Target="../media/image147.svg"/><Relationship Id="rId2" Type="http://schemas.openxmlformats.org/officeDocument/2006/relationships/image" Target="../media/image149.svg"/><Relationship Id="rId1" Type="http://schemas.openxmlformats.org/officeDocument/2006/relationships/image" Target="../media/image153.svg"/></Relationships>
</file>

<file path=ppt/diagrams/_rels/data18.xml.rels><?xml version="1.0" encoding="UTF-8" standalone="yes"?>
<Relationships xmlns="http://schemas.openxmlformats.org/package/2006/relationships"><Relationship Id="rId2" Type="http://schemas.openxmlformats.org/officeDocument/2006/relationships/image" Target="../media/image147.svg"/><Relationship Id="rId1" Type="http://schemas.openxmlformats.org/officeDocument/2006/relationships/image" Target="../media/image149.svg"/></Relationships>
</file>

<file path=ppt/diagrams/_rels/data19.xml.rels><?xml version="1.0" encoding="UTF-8" standalone="yes"?>
<Relationships xmlns="http://schemas.openxmlformats.org/package/2006/relationships"><Relationship Id="rId2" Type="http://schemas.openxmlformats.org/officeDocument/2006/relationships/image" Target="../media/image153.svg"/><Relationship Id="rId1" Type="http://schemas.openxmlformats.org/officeDocument/2006/relationships/image" Target="../media/image150.svg"/></Relationships>
</file>

<file path=ppt/diagrams/_rels/data20.xml.rels><?xml version="1.0" encoding="UTF-8" standalone="yes"?>
<Relationships xmlns="http://schemas.openxmlformats.org/package/2006/relationships"><Relationship Id="rId3" Type="http://schemas.openxmlformats.org/officeDocument/2006/relationships/image" Target="../media/image151.svg"/><Relationship Id="rId2" Type="http://schemas.openxmlformats.org/officeDocument/2006/relationships/image" Target="../media/image152.svg"/><Relationship Id="rId1" Type="http://schemas.openxmlformats.org/officeDocument/2006/relationships/image" Target="../media/image149.svg"/><Relationship Id="rId4" Type="http://schemas.openxmlformats.org/officeDocument/2006/relationships/image" Target="../media/image154.svg"/></Relationships>
</file>

<file path=ppt/diagrams/_rels/drawing3.xml.rels><?xml version="1.0" encoding="UTF-8" standalone="yes"?>
<Relationships xmlns="http://schemas.openxmlformats.org/package/2006/relationships"><Relationship Id="rId2" Type="http://schemas.openxmlformats.org/officeDocument/2006/relationships/image" Target="../media/image129.svg"/><Relationship Id="rId1" Type="http://schemas.openxmlformats.org/officeDocument/2006/relationships/image" Target="../media/image128.svg"/></Relationships>
</file>

<file path=ppt/diagrams/_rels/drawing4.xml.rels><?xml version="1.0" encoding="UTF-8" standalone="yes"?>
<Relationships xmlns="http://schemas.openxmlformats.org/package/2006/relationships"><Relationship Id="rId2" Type="http://schemas.openxmlformats.org/officeDocument/2006/relationships/image" Target="../media/image131.svg"/><Relationship Id="rId1" Type="http://schemas.openxmlformats.org/officeDocument/2006/relationships/image" Target="../media/image13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33.svg"/><Relationship Id="rId2" Type="http://schemas.openxmlformats.org/officeDocument/2006/relationships/hyperlink" Target="https://learn.microsoft.com/en-us/azure/service-health/alerts-activity-log-service-notifications-portal" TargetMode="External"/><Relationship Id="rId1" Type="http://schemas.openxmlformats.org/officeDocument/2006/relationships/image" Target="../media/image132.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38.svg"/><Relationship Id="rId2" Type="http://schemas.openxmlformats.org/officeDocument/2006/relationships/image" Target="../media/image137.svg"/><Relationship Id="rId1" Type="http://schemas.openxmlformats.org/officeDocument/2006/relationships/image" Target="../media/image136.svg"/></Relationships>
</file>

<file path=ppt/diagrams/_rels/drawing8.xml.rels><?xml version="1.0" encoding="UTF-8" standalone="yes"?>
<Relationships xmlns="http://schemas.openxmlformats.org/package/2006/relationships"><Relationship Id="rId3" Type="http://schemas.openxmlformats.org/officeDocument/2006/relationships/image" Target="../media/image141.svg"/><Relationship Id="rId2" Type="http://schemas.openxmlformats.org/officeDocument/2006/relationships/image" Target="../media/image140.svg"/><Relationship Id="rId1" Type="http://schemas.openxmlformats.org/officeDocument/2006/relationships/image" Target="../media/image139.svg"/></Relationships>
</file>

<file path=ppt/diagrams/_rels/drawing9.xml.rels><?xml version="1.0" encoding="UTF-8" standalone="yes"?>
<Relationships xmlns="http://schemas.openxmlformats.org/package/2006/relationships"><Relationship Id="rId3" Type="http://schemas.openxmlformats.org/officeDocument/2006/relationships/image" Target="../media/image144.svg"/><Relationship Id="rId2" Type="http://schemas.openxmlformats.org/officeDocument/2006/relationships/image" Target="../media/image143.svg"/><Relationship Id="rId1" Type="http://schemas.openxmlformats.org/officeDocument/2006/relationships/image" Target="../media/image142.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146.svg"/><Relationship Id="rId2" Type="http://schemas.openxmlformats.org/officeDocument/2006/relationships/image" Target="../media/image145.svg"/><Relationship Id="rId1" Type="http://schemas.openxmlformats.org/officeDocument/2006/relationships/image" Target="../media/image142.svg"/></Relationships>
</file>

<file path=ppt/diagrams/_rels/drawing11.xml.rels><?xml version="1.0" encoding="UTF-8" standalone="yes"?>
<Relationships xmlns="http://schemas.openxmlformats.org/package/2006/relationships"><Relationship Id="rId1" Type="http://schemas.openxmlformats.org/officeDocument/2006/relationships/hyperlink" Target="https://learn.microsoft.com/en-us/azure/ai-foundry/openai/concepts/model-retirements?view=foundry-classic&amp;tabs=text" TargetMode="External"/></Relationships>
</file>

<file path=ppt/diagrams/_rels/drawing12.xml.rels><?xml version="1.0" encoding="UTF-8" standalone="yes"?>
<Relationships xmlns="http://schemas.openxmlformats.org/package/2006/relationships"><Relationship Id="rId3" Type="http://schemas.openxmlformats.org/officeDocument/2006/relationships/image" Target="../media/image149.svg"/><Relationship Id="rId2" Type="http://schemas.openxmlformats.org/officeDocument/2006/relationships/image" Target="../media/image148.svg"/><Relationship Id="rId1" Type="http://schemas.openxmlformats.org/officeDocument/2006/relationships/image" Target="../media/image147.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151.svg"/><Relationship Id="rId2" Type="http://schemas.openxmlformats.org/officeDocument/2006/relationships/image" Target="../media/image147.svg"/><Relationship Id="rId1" Type="http://schemas.openxmlformats.org/officeDocument/2006/relationships/image" Target="../media/image150.svg"/></Relationships>
</file>

<file path=ppt/diagrams/_rels/drawing14.xml.rels><?xml version="1.0" encoding="UTF-8" standalone="yes"?>
<Relationships xmlns="http://schemas.openxmlformats.org/package/2006/relationships"><Relationship Id="rId2" Type="http://schemas.openxmlformats.org/officeDocument/2006/relationships/image" Target="../media/image152.svg"/><Relationship Id="rId1" Type="http://schemas.openxmlformats.org/officeDocument/2006/relationships/image" Target="../media/image147.svg"/></Relationships>
</file>

<file path=ppt/diagrams/_rels/drawing15.xml.rels><?xml version="1.0" encoding="UTF-8" standalone="yes"?>
<Relationships xmlns="http://schemas.openxmlformats.org/package/2006/relationships"><Relationship Id="rId2" Type="http://schemas.openxmlformats.org/officeDocument/2006/relationships/image" Target="../media/image153.svg"/><Relationship Id="rId1" Type="http://schemas.openxmlformats.org/officeDocument/2006/relationships/image" Target="../media/image147.svg"/></Relationships>
</file>

<file path=ppt/diagrams/_rels/drawing16.xml.rels><?xml version="1.0" encoding="UTF-8" standalone="yes"?>
<Relationships xmlns="http://schemas.openxmlformats.org/package/2006/relationships"><Relationship Id="rId2" Type="http://schemas.openxmlformats.org/officeDocument/2006/relationships/image" Target="../media/image147.svg"/><Relationship Id="rId1" Type="http://schemas.openxmlformats.org/officeDocument/2006/relationships/image" Target="../media/image149.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147.svg"/><Relationship Id="rId2" Type="http://schemas.openxmlformats.org/officeDocument/2006/relationships/image" Target="../media/image149.svg"/><Relationship Id="rId1" Type="http://schemas.openxmlformats.org/officeDocument/2006/relationships/image" Target="../media/image153.svg"/></Relationships>
</file>

<file path=ppt/diagrams/_rels/drawing18.xml.rels><?xml version="1.0" encoding="UTF-8" standalone="yes"?>
<Relationships xmlns="http://schemas.openxmlformats.org/package/2006/relationships"><Relationship Id="rId2" Type="http://schemas.openxmlformats.org/officeDocument/2006/relationships/image" Target="../media/image147.svg"/><Relationship Id="rId1" Type="http://schemas.openxmlformats.org/officeDocument/2006/relationships/image" Target="../media/image149.svg"/></Relationships>
</file>

<file path=ppt/diagrams/_rels/drawing19.xml.rels><?xml version="1.0" encoding="UTF-8" standalone="yes"?>
<Relationships xmlns="http://schemas.openxmlformats.org/package/2006/relationships"><Relationship Id="rId2" Type="http://schemas.openxmlformats.org/officeDocument/2006/relationships/image" Target="../media/image153.svg"/><Relationship Id="rId1" Type="http://schemas.openxmlformats.org/officeDocument/2006/relationships/image" Target="../media/image150.svg"/></Relationships>
</file>

<file path=ppt/diagrams/_rels/drawing20.xml.rels><?xml version="1.0" encoding="UTF-8" standalone="yes"?>
<Relationships xmlns="http://schemas.openxmlformats.org/package/2006/relationships"><Relationship Id="rId3" Type="http://schemas.openxmlformats.org/officeDocument/2006/relationships/image" Target="../media/image151.svg"/><Relationship Id="rId2" Type="http://schemas.openxmlformats.org/officeDocument/2006/relationships/image" Target="../media/image152.svg"/><Relationship Id="rId1" Type="http://schemas.openxmlformats.org/officeDocument/2006/relationships/image" Target="../media/image149.svg"/><Relationship Id="rId4" Type="http://schemas.openxmlformats.org/officeDocument/2006/relationships/image" Target="../media/image154.svg"/></Relationships>
</file>

<file path=ppt/diagrams/colors1.xml><?xml version="1.0" encoding="utf-8"?>
<dgm:colorsDef xmlns:dgm="http://schemas.openxmlformats.org/drawingml/2006/diagram" xmlns:a="http://schemas.openxmlformats.org/drawingml/2006/main" uniqueId="urn:microsoft.com/office/officeart/2005/8/colors/accent1_5#1">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3">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4">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5">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6">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7">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D6A62A-21A1-41F7-B1B7-FB503095FDCD}" type="doc">
      <dgm:prSet loTypeId="urn:microsoft.com/office/officeart/2005/8/layout/vList5" loCatId="list" qsTypeId="urn:microsoft.com/office/officeart/2005/8/quickstyle/simple1#1" qsCatId="simple" csTypeId="urn:microsoft.com/office/officeart/2005/8/colors/accent1_5#1" csCatId="accent1" phldr="1"/>
      <dgm:spPr/>
      <dgm:t>
        <a:bodyPr/>
        <a:lstStyle/>
        <a:p>
          <a:endParaRPr lang="en-US"/>
        </a:p>
      </dgm:t>
    </dgm:pt>
    <dgm:pt modelId="{9428D988-D93B-4A4F-9F33-6076EA8D724D}">
      <dgm:prSet phldrT="[Text]" phldr="0"/>
      <dgm:spPr/>
      <dgm:t>
        <a:bodyPr/>
        <a:lstStyle/>
        <a:p>
          <a:r>
            <a:rPr lang="en-US"/>
            <a:t>Preview</a:t>
          </a:r>
        </a:p>
      </dgm:t>
    </dgm:pt>
    <dgm:pt modelId="{BB0E5954-CA06-4B4B-9055-7F92A3A11C14}" type="parTrans" cxnId="{531EF2B5-66D6-4CB5-B2D3-D09D134B7161}">
      <dgm:prSet/>
      <dgm:spPr/>
      <dgm:t>
        <a:bodyPr/>
        <a:lstStyle/>
        <a:p>
          <a:endParaRPr lang="en-US"/>
        </a:p>
      </dgm:t>
    </dgm:pt>
    <dgm:pt modelId="{894B32A5-81FE-4710-8DD1-828A785E2856}" type="sibTrans" cxnId="{531EF2B5-66D6-4CB5-B2D3-D09D134B7161}">
      <dgm:prSet/>
      <dgm:spPr/>
      <dgm:t>
        <a:bodyPr/>
        <a:lstStyle/>
        <a:p>
          <a:endParaRPr lang="en-US"/>
        </a:p>
      </dgm:t>
    </dgm:pt>
    <dgm:pt modelId="{5D992F0A-8DDC-47E2-860E-166E7D3CD273}">
      <dgm:prSet phldrT="[Text]" custT="1"/>
      <dgm:spPr/>
      <dgm:t>
        <a:bodyPr/>
        <a:lstStyle/>
        <a:p>
          <a:r>
            <a:rPr lang="en-US" sz="1200"/>
            <a:t>Models labeled Preview are experimental in nature. A model's weights, runtime, and API schema can change while the model is in preview. Models in preview aren't guaranteed to become generally available. Models in preview have a Preview label next to their name in the model catalog.</a:t>
          </a:r>
        </a:p>
      </dgm:t>
    </dgm:pt>
    <dgm:pt modelId="{8572CD2D-D73B-4B46-A0DB-B6297B5A2981}" type="parTrans" cxnId="{0B69374C-A279-4B52-9046-84A6ECD17DA5}">
      <dgm:prSet/>
      <dgm:spPr/>
      <dgm:t>
        <a:bodyPr/>
        <a:lstStyle/>
        <a:p>
          <a:endParaRPr lang="en-US"/>
        </a:p>
      </dgm:t>
    </dgm:pt>
    <dgm:pt modelId="{58AF8360-62E0-4C1B-94B1-9D17F4F759AA}" type="sibTrans" cxnId="{0B69374C-A279-4B52-9046-84A6ECD17DA5}">
      <dgm:prSet/>
      <dgm:spPr/>
      <dgm:t>
        <a:bodyPr/>
        <a:lstStyle/>
        <a:p>
          <a:endParaRPr lang="en-US"/>
        </a:p>
      </dgm:t>
    </dgm:pt>
    <dgm:pt modelId="{E5FEC3CD-27D6-4A2A-97BE-A09DC1DFA0AF}">
      <dgm:prSet phldrT="[Text]" phldr="0"/>
      <dgm:spPr/>
      <dgm:t>
        <a:bodyPr/>
        <a:lstStyle/>
        <a:p>
          <a:r>
            <a:rPr lang="en-US"/>
            <a:t>Generally Available</a:t>
          </a:r>
        </a:p>
      </dgm:t>
    </dgm:pt>
    <dgm:pt modelId="{D7AD534B-A63D-404E-A43E-7B2D64ED3A55}" type="parTrans" cxnId="{999DAD63-AD5C-414D-BA38-9B95F5C1B1B1}">
      <dgm:prSet/>
      <dgm:spPr/>
      <dgm:t>
        <a:bodyPr/>
        <a:lstStyle/>
        <a:p>
          <a:endParaRPr lang="en-US"/>
        </a:p>
      </dgm:t>
    </dgm:pt>
    <dgm:pt modelId="{348AD42A-F17C-49F0-AD9A-3C3529443DF2}" type="sibTrans" cxnId="{999DAD63-AD5C-414D-BA38-9B95F5C1B1B1}">
      <dgm:prSet/>
      <dgm:spPr/>
      <dgm:t>
        <a:bodyPr/>
        <a:lstStyle/>
        <a:p>
          <a:endParaRPr lang="en-US"/>
        </a:p>
      </dgm:t>
    </dgm:pt>
    <dgm:pt modelId="{78D8F419-0FAF-4223-B5F0-694694BE848A}">
      <dgm:prSet phldrT="[Text]" custT="1"/>
      <dgm:spPr/>
      <dgm:t>
        <a:bodyPr/>
        <a:lstStyle/>
        <a:p>
          <a:r>
            <a:rPr lang="en-US" sz="1200"/>
            <a:t>This stage is the default model stage. Models that don't include a lifecycle label next to their name are GA and suitable for use in production environments. In this stage, model weights and APIs are fixed. However, model containers or runtimes with vulnerabilities might get patched, but patches don't affect model outputs.</a:t>
          </a:r>
        </a:p>
      </dgm:t>
    </dgm:pt>
    <dgm:pt modelId="{6E867327-BE78-4A3C-8F2D-C53A42B62A8D}" type="parTrans" cxnId="{0C9EBD0E-F230-4BCB-9932-550BDC2B43CF}">
      <dgm:prSet/>
      <dgm:spPr/>
      <dgm:t>
        <a:bodyPr/>
        <a:lstStyle/>
        <a:p>
          <a:endParaRPr lang="en-US"/>
        </a:p>
      </dgm:t>
    </dgm:pt>
    <dgm:pt modelId="{F920FBCB-6B14-41EA-B7B6-8B242FA6A385}" type="sibTrans" cxnId="{0C9EBD0E-F230-4BCB-9932-550BDC2B43CF}">
      <dgm:prSet/>
      <dgm:spPr/>
      <dgm:t>
        <a:bodyPr/>
        <a:lstStyle/>
        <a:p>
          <a:endParaRPr lang="en-US"/>
        </a:p>
      </dgm:t>
    </dgm:pt>
    <dgm:pt modelId="{A599C970-9024-46BB-A153-094B09D87E8C}">
      <dgm:prSet phldrT="[Text]" phldr="0"/>
      <dgm:spPr/>
      <dgm:t>
        <a:bodyPr/>
        <a:lstStyle/>
        <a:p>
          <a:r>
            <a:rPr lang="en-US"/>
            <a:t>*Legacy</a:t>
          </a:r>
        </a:p>
      </dgm:t>
    </dgm:pt>
    <dgm:pt modelId="{E6CE08E8-F7A9-4012-B871-8A165EA5F260}" type="parTrans" cxnId="{834E362E-1D9D-4ED6-86D0-C651DDD317C4}">
      <dgm:prSet/>
      <dgm:spPr/>
      <dgm:t>
        <a:bodyPr/>
        <a:lstStyle/>
        <a:p>
          <a:endParaRPr lang="en-US"/>
        </a:p>
      </dgm:t>
    </dgm:pt>
    <dgm:pt modelId="{12B50A7D-78BB-4513-B3C3-DC35E841F242}" type="sibTrans" cxnId="{834E362E-1D9D-4ED6-86D0-C651DDD317C4}">
      <dgm:prSet/>
      <dgm:spPr/>
      <dgm:t>
        <a:bodyPr/>
        <a:lstStyle/>
        <a:p>
          <a:endParaRPr lang="en-US"/>
        </a:p>
      </dgm:t>
    </dgm:pt>
    <dgm:pt modelId="{1178A072-2582-413C-A9C8-A6F87D8AC912}">
      <dgm:prSet phldrT="[Text]" custT="1"/>
      <dgm:spPr/>
      <dgm:t>
        <a:bodyPr/>
        <a:lstStyle/>
        <a:p>
          <a:r>
            <a:rPr lang="en-US" sz="1200"/>
            <a:t>Models labeled Legacy are intended for deprecation. You should plan to move to a different model, such as a new, improved model that might be available in the same model family. While a model is in the legacy stage, existing deployments of the model continue to work, and you can create new deployments of the model until the deprecation date.</a:t>
          </a:r>
        </a:p>
      </dgm:t>
    </dgm:pt>
    <dgm:pt modelId="{BA524A20-7143-4C73-9989-2A21255B7337}" type="parTrans" cxnId="{DA6A4E3F-A35C-4620-8CDD-409AF2B783D0}">
      <dgm:prSet/>
      <dgm:spPr/>
      <dgm:t>
        <a:bodyPr/>
        <a:lstStyle/>
        <a:p>
          <a:endParaRPr lang="en-US"/>
        </a:p>
      </dgm:t>
    </dgm:pt>
    <dgm:pt modelId="{1D7DB7D4-A5A2-4AE8-8743-02CB7CECDAF5}" type="sibTrans" cxnId="{DA6A4E3F-A35C-4620-8CDD-409AF2B783D0}">
      <dgm:prSet/>
      <dgm:spPr/>
      <dgm:t>
        <a:bodyPr/>
        <a:lstStyle/>
        <a:p>
          <a:endParaRPr lang="en-US"/>
        </a:p>
      </dgm:t>
    </dgm:pt>
    <dgm:pt modelId="{847DD4EB-0645-4F7D-BB4F-2319636BD33C}">
      <dgm:prSet phldrT="[Text]" phldr="0"/>
      <dgm:spPr/>
      <dgm:t>
        <a:bodyPr/>
        <a:lstStyle/>
        <a:p>
          <a:r>
            <a:rPr lang="en-US"/>
            <a:t>Deprecated</a:t>
          </a:r>
        </a:p>
      </dgm:t>
    </dgm:pt>
    <dgm:pt modelId="{0375A324-DDC9-4D41-B8E8-58AB36A9E56A}" type="parTrans" cxnId="{58A5E4EA-3480-4696-B064-9D397C88F3B0}">
      <dgm:prSet/>
      <dgm:spPr/>
      <dgm:t>
        <a:bodyPr/>
        <a:lstStyle/>
        <a:p>
          <a:endParaRPr lang="en-US"/>
        </a:p>
      </dgm:t>
    </dgm:pt>
    <dgm:pt modelId="{88F6175F-F730-4E5D-974F-E7940D6D46D4}" type="sibTrans" cxnId="{58A5E4EA-3480-4696-B064-9D397C88F3B0}">
      <dgm:prSet/>
      <dgm:spPr/>
      <dgm:t>
        <a:bodyPr/>
        <a:lstStyle/>
        <a:p>
          <a:endParaRPr lang="en-US"/>
        </a:p>
      </dgm:t>
    </dgm:pt>
    <dgm:pt modelId="{EA8F16B1-BF34-45BD-88CB-7C25637CEF17}">
      <dgm:prSet phldrT="[Text]" phldr="0"/>
      <dgm:spPr/>
      <dgm:t>
        <a:bodyPr/>
        <a:lstStyle/>
        <a:p>
          <a:r>
            <a:rPr lang="en-US"/>
            <a:t>Retired</a:t>
          </a:r>
        </a:p>
      </dgm:t>
    </dgm:pt>
    <dgm:pt modelId="{19165B34-37BE-49D8-9FAA-EA3BA1513940}" type="parTrans" cxnId="{4FD9D0D0-EFFA-4652-B4BC-6B005D238DAD}">
      <dgm:prSet/>
      <dgm:spPr/>
      <dgm:t>
        <a:bodyPr/>
        <a:lstStyle/>
        <a:p>
          <a:endParaRPr lang="en-US"/>
        </a:p>
      </dgm:t>
    </dgm:pt>
    <dgm:pt modelId="{789E412E-5956-4C61-9743-EC45B92022D5}" type="sibTrans" cxnId="{4FD9D0D0-EFFA-4652-B4BC-6B005D238DAD}">
      <dgm:prSet/>
      <dgm:spPr/>
      <dgm:t>
        <a:bodyPr/>
        <a:lstStyle/>
        <a:p>
          <a:endParaRPr lang="en-US"/>
        </a:p>
      </dgm:t>
    </dgm:pt>
    <dgm:pt modelId="{B57574A7-73A4-4192-B677-4E50D2FECD05}">
      <dgm:prSet phldrT="[Text]" phldr="0" custT="1"/>
      <dgm:spPr/>
      <dgm:t>
        <a:bodyPr/>
        <a:lstStyle/>
        <a:p>
          <a:r>
            <a:rPr lang="en-US" sz="1200"/>
            <a:t>Models labeled Deprecated are no longer available for new deployments. You can't create any new deployments for the model; however, existing deployments continue to work until the retirement date.</a:t>
          </a:r>
        </a:p>
      </dgm:t>
    </dgm:pt>
    <dgm:pt modelId="{E216ECE0-13EE-4654-BA58-A957C41CB89B}" type="parTrans" cxnId="{CBE3938B-F8B8-4924-BC71-40B4C677CF8C}">
      <dgm:prSet/>
      <dgm:spPr/>
      <dgm:t>
        <a:bodyPr/>
        <a:lstStyle/>
        <a:p>
          <a:endParaRPr lang="en-US"/>
        </a:p>
      </dgm:t>
    </dgm:pt>
    <dgm:pt modelId="{5E32002D-9621-425E-A0A6-E855B5309509}" type="sibTrans" cxnId="{CBE3938B-F8B8-4924-BC71-40B4C677CF8C}">
      <dgm:prSet/>
      <dgm:spPr/>
      <dgm:t>
        <a:bodyPr/>
        <a:lstStyle/>
        <a:p>
          <a:endParaRPr lang="en-US"/>
        </a:p>
      </dgm:t>
    </dgm:pt>
    <dgm:pt modelId="{EEF6BDAB-452F-4844-BD14-5CBD6ABACF8F}">
      <dgm:prSet phldrT="[Text]" phldr="0" custT="1"/>
      <dgm:spPr/>
      <dgm:t>
        <a:bodyPr/>
        <a:lstStyle/>
        <a:p>
          <a:r>
            <a:rPr lang="en-US" sz="1200"/>
            <a:t>Models labeled Retired are no longer available for use. You can't create new deployments and attempts to use existing deployments return &lt;return code&gt; errors</a:t>
          </a:r>
          <a:r>
            <a:rPr lang="en-US" sz="1400"/>
            <a:t>.</a:t>
          </a:r>
        </a:p>
      </dgm:t>
    </dgm:pt>
    <dgm:pt modelId="{6FCC5C38-13DD-465A-AD88-23E30B1BF43C}" type="parTrans" cxnId="{5E72AAF6-A43B-4796-A5E6-CD85E8ED4123}">
      <dgm:prSet/>
      <dgm:spPr/>
      <dgm:t>
        <a:bodyPr/>
        <a:lstStyle/>
        <a:p>
          <a:endParaRPr lang="en-US"/>
        </a:p>
      </dgm:t>
    </dgm:pt>
    <dgm:pt modelId="{55170A19-6018-42C4-9303-19AB9A5782EE}" type="sibTrans" cxnId="{5E72AAF6-A43B-4796-A5E6-CD85E8ED4123}">
      <dgm:prSet/>
      <dgm:spPr/>
      <dgm:t>
        <a:bodyPr/>
        <a:lstStyle/>
        <a:p>
          <a:endParaRPr lang="en-US"/>
        </a:p>
      </dgm:t>
    </dgm:pt>
    <dgm:pt modelId="{7AF71214-E91C-4840-AE74-8A1851587705}" type="pres">
      <dgm:prSet presAssocID="{C1D6A62A-21A1-41F7-B1B7-FB503095FDCD}" presName="Name0" presStyleCnt="0">
        <dgm:presLayoutVars>
          <dgm:dir/>
          <dgm:animLvl val="lvl"/>
          <dgm:resizeHandles val="exact"/>
        </dgm:presLayoutVars>
      </dgm:prSet>
      <dgm:spPr/>
    </dgm:pt>
    <dgm:pt modelId="{0B24F2C4-07FB-47C2-950D-212A53EB5F49}" type="pres">
      <dgm:prSet presAssocID="{9428D988-D93B-4A4F-9F33-6076EA8D724D}" presName="linNode" presStyleCnt="0"/>
      <dgm:spPr/>
    </dgm:pt>
    <dgm:pt modelId="{2C23D74F-C256-4024-9C5B-9F12E9D681F4}" type="pres">
      <dgm:prSet presAssocID="{9428D988-D93B-4A4F-9F33-6076EA8D724D}" presName="parentText" presStyleLbl="node1" presStyleIdx="0" presStyleCnt="5">
        <dgm:presLayoutVars>
          <dgm:chMax val="1"/>
          <dgm:bulletEnabled val="1"/>
        </dgm:presLayoutVars>
      </dgm:prSet>
      <dgm:spPr/>
    </dgm:pt>
    <dgm:pt modelId="{747D722D-E163-462F-995B-D8AB568795F4}" type="pres">
      <dgm:prSet presAssocID="{9428D988-D93B-4A4F-9F33-6076EA8D724D}" presName="descendantText" presStyleLbl="alignAccFollowNode1" presStyleIdx="0" presStyleCnt="5">
        <dgm:presLayoutVars>
          <dgm:bulletEnabled val="1"/>
        </dgm:presLayoutVars>
      </dgm:prSet>
      <dgm:spPr/>
    </dgm:pt>
    <dgm:pt modelId="{4503A91E-B79C-44D5-9736-46FEA776250E}" type="pres">
      <dgm:prSet presAssocID="{894B32A5-81FE-4710-8DD1-828A785E2856}" presName="sp" presStyleCnt="0"/>
      <dgm:spPr/>
    </dgm:pt>
    <dgm:pt modelId="{0A457EF6-3CB3-4C17-BF33-FF6B7B8921FD}" type="pres">
      <dgm:prSet presAssocID="{E5FEC3CD-27D6-4A2A-97BE-A09DC1DFA0AF}" presName="linNode" presStyleCnt="0"/>
      <dgm:spPr/>
    </dgm:pt>
    <dgm:pt modelId="{1D652E61-5272-4B2D-B833-D87FD019950D}" type="pres">
      <dgm:prSet presAssocID="{E5FEC3CD-27D6-4A2A-97BE-A09DC1DFA0AF}" presName="parentText" presStyleLbl="node1" presStyleIdx="1" presStyleCnt="5">
        <dgm:presLayoutVars>
          <dgm:chMax val="1"/>
          <dgm:bulletEnabled val="1"/>
        </dgm:presLayoutVars>
      </dgm:prSet>
      <dgm:spPr/>
    </dgm:pt>
    <dgm:pt modelId="{4C6A53D8-E257-4EA8-82C5-A2D7B36D6DC9}" type="pres">
      <dgm:prSet presAssocID="{E5FEC3CD-27D6-4A2A-97BE-A09DC1DFA0AF}" presName="descendantText" presStyleLbl="alignAccFollowNode1" presStyleIdx="1" presStyleCnt="5">
        <dgm:presLayoutVars>
          <dgm:bulletEnabled val="1"/>
        </dgm:presLayoutVars>
      </dgm:prSet>
      <dgm:spPr/>
    </dgm:pt>
    <dgm:pt modelId="{D3CCE1B7-7BCB-490E-861D-986F305DF8B9}" type="pres">
      <dgm:prSet presAssocID="{348AD42A-F17C-49F0-AD9A-3C3529443DF2}" presName="sp" presStyleCnt="0"/>
      <dgm:spPr/>
    </dgm:pt>
    <dgm:pt modelId="{DD01B8C9-DAD4-4ACA-A7F2-A53DA0EF3617}" type="pres">
      <dgm:prSet presAssocID="{A599C970-9024-46BB-A153-094B09D87E8C}" presName="linNode" presStyleCnt="0"/>
      <dgm:spPr/>
    </dgm:pt>
    <dgm:pt modelId="{4F6BCADA-BCE1-4A34-B1A5-8BDC8B54FEF1}" type="pres">
      <dgm:prSet presAssocID="{A599C970-9024-46BB-A153-094B09D87E8C}" presName="parentText" presStyleLbl="node1" presStyleIdx="2" presStyleCnt="5">
        <dgm:presLayoutVars>
          <dgm:chMax val="1"/>
          <dgm:bulletEnabled val="1"/>
        </dgm:presLayoutVars>
      </dgm:prSet>
      <dgm:spPr/>
    </dgm:pt>
    <dgm:pt modelId="{8DE92326-89A2-44F3-9C0A-12301F68EDBC}" type="pres">
      <dgm:prSet presAssocID="{A599C970-9024-46BB-A153-094B09D87E8C}" presName="descendantText" presStyleLbl="alignAccFollowNode1" presStyleIdx="2" presStyleCnt="5">
        <dgm:presLayoutVars>
          <dgm:bulletEnabled val="1"/>
        </dgm:presLayoutVars>
      </dgm:prSet>
      <dgm:spPr/>
    </dgm:pt>
    <dgm:pt modelId="{5BB44AD6-FE65-4EB8-939D-E8BF8327D907}" type="pres">
      <dgm:prSet presAssocID="{12B50A7D-78BB-4513-B3C3-DC35E841F242}" presName="sp" presStyleCnt="0"/>
      <dgm:spPr/>
    </dgm:pt>
    <dgm:pt modelId="{262A8742-4B7E-4CDA-B132-5EF1B353A972}" type="pres">
      <dgm:prSet presAssocID="{847DD4EB-0645-4F7D-BB4F-2319636BD33C}" presName="linNode" presStyleCnt="0"/>
      <dgm:spPr/>
    </dgm:pt>
    <dgm:pt modelId="{B5203298-D88D-4FBB-AE06-5F75D4DF2C64}" type="pres">
      <dgm:prSet presAssocID="{847DD4EB-0645-4F7D-BB4F-2319636BD33C}" presName="parentText" presStyleLbl="node1" presStyleIdx="3" presStyleCnt="5">
        <dgm:presLayoutVars>
          <dgm:chMax val="1"/>
          <dgm:bulletEnabled val="1"/>
        </dgm:presLayoutVars>
      </dgm:prSet>
      <dgm:spPr/>
    </dgm:pt>
    <dgm:pt modelId="{93060C81-3BE2-4A78-B933-87F3E44C50C0}" type="pres">
      <dgm:prSet presAssocID="{847DD4EB-0645-4F7D-BB4F-2319636BD33C}" presName="descendantText" presStyleLbl="alignAccFollowNode1" presStyleIdx="3" presStyleCnt="5">
        <dgm:presLayoutVars>
          <dgm:bulletEnabled val="1"/>
        </dgm:presLayoutVars>
      </dgm:prSet>
      <dgm:spPr/>
    </dgm:pt>
    <dgm:pt modelId="{869AB633-825C-453E-8D9A-6D7967F5A4BE}" type="pres">
      <dgm:prSet presAssocID="{88F6175F-F730-4E5D-974F-E7940D6D46D4}" presName="sp" presStyleCnt="0"/>
      <dgm:spPr/>
    </dgm:pt>
    <dgm:pt modelId="{D9E40E1A-E5EF-4E84-B21C-47411C80AB10}" type="pres">
      <dgm:prSet presAssocID="{EA8F16B1-BF34-45BD-88CB-7C25637CEF17}" presName="linNode" presStyleCnt="0"/>
      <dgm:spPr/>
    </dgm:pt>
    <dgm:pt modelId="{36BA20F0-B47A-4AED-B8DC-0BF4B49B65C8}" type="pres">
      <dgm:prSet presAssocID="{EA8F16B1-BF34-45BD-88CB-7C25637CEF17}" presName="parentText" presStyleLbl="node1" presStyleIdx="4" presStyleCnt="5">
        <dgm:presLayoutVars>
          <dgm:chMax val="1"/>
          <dgm:bulletEnabled val="1"/>
        </dgm:presLayoutVars>
      </dgm:prSet>
      <dgm:spPr/>
    </dgm:pt>
    <dgm:pt modelId="{EBF689C6-B28A-4B90-8FC7-C44EDFB138B2}" type="pres">
      <dgm:prSet presAssocID="{EA8F16B1-BF34-45BD-88CB-7C25637CEF17}" presName="descendantText" presStyleLbl="alignAccFollowNode1" presStyleIdx="4" presStyleCnt="5">
        <dgm:presLayoutVars>
          <dgm:bulletEnabled val="1"/>
        </dgm:presLayoutVars>
      </dgm:prSet>
      <dgm:spPr/>
    </dgm:pt>
  </dgm:ptLst>
  <dgm:cxnLst>
    <dgm:cxn modelId="{DF7BEE0D-E4EA-49E2-AEAA-6EB5FBC3A6D7}" type="presOf" srcId="{C1D6A62A-21A1-41F7-B1B7-FB503095FDCD}" destId="{7AF71214-E91C-4840-AE74-8A1851587705}" srcOrd="0" destOrd="0" presId="urn:microsoft.com/office/officeart/2005/8/layout/vList5"/>
    <dgm:cxn modelId="{0C9EBD0E-F230-4BCB-9932-550BDC2B43CF}" srcId="{E5FEC3CD-27D6-4A2A-97BE-A09DC1DFA0AF}" destId="{78D8F419-0FAF-4223-B5F0-694694BE848A}" srcOrd="0" destOrd="0" parTransId="{6E867327-BE78-4A3C-8F2D-C53A42B62A8D}" sibTransId="{F920FBCB-6B14-41EA-B7B6-8B242FA6A385}"/>
    <dgm:cxn modelId="{2762511D-86AD-41AD-ABAB-DDBA27C4F887}" type="presOf" srcId="{EA8F16B1-BF34-45BD-88CB-7C25637CEF17}" destId="{36BA20F0-B47A-4AED-B8DC-0BF4B49B65C8}" srcOrd="0" destOrd="0" presId="urn:microsoft.com/office/officeart/2005/8/layout/vList5"/>
    <dgm:cxn modelId="{F2578325-D460-4680-8683-5D58EDCEE45A}" type="presOf" srcId="{9428D988-D93B-4A4F-9F33-6076EA8D724D}" destId="{2C23D74F-C256-4024-9C5B-9F12E9D681F4}" srcOrd="0" destOrd="0" presId="urn:microsoft.com/office/officeart/2005/8/layout/vList5"/>
    <dgm:cxn modelId="{834E362E-1D9D-4ED6-86D0-C651DDD317C4}" srcId="{C1D6A62A-21A1-41F7-B1B7-FB503095FDCD}" destId="{A599C970-9024-46BB-A153-094B09D87E8C}" srcOrd="2" destOrd="0" parTransId="{E6CE08E8-F7A9-4012-B871-8A165EA5F260}" sibTransId="{12B50A7D-78BB-4513-B3C3-DC35E841F242}"/>
    <dgm:cxn modelId="{8901B12F-32B2-4B8D-BFF6-02A2449FCBE4}" type="presOf" srcId="{1178A072-2582-413C-A9C8-A6F87D8AC912}" destId="{8DE92326-89A2-44F3-9C0A-12301F68EDBC}" srcOrd="0" destOrd="0" presId="urn:microsoft.com/office/officeart/2005/8/layout/vList5"/>
    <dgm:cxn modelId="{DA6A4E3F-A35C-4620-8CDD-409AF2B783D0}" srcId="{A599C970-9024-46BB-A153-094B09D87E8C}" destId="{1178A072-2582-413C-A9C8-A6F87D8AC912}" srcOrd="0" destOrd="0" parTransId="{BA524A20-7143-4C73-9989-2A21255B7337}" sibTransId="{1D7DB7D4-A5A2-4AE8-8743-02CB7CECDAF5}"/>
    <dgm:cxn modelId="{09FE7462-5AB3-4D2C-96BB-90922D3BEDCC}" type="presOf" srcId="{5D992F0A-8DDC-47E2-860E-166E7D3CD273}" destId="{747D722D-E163-462F-995B-D8AB568795F4}" srcOrd="0" destOrd="0" presId="urn:microsoft.com/office/officeart/2005/8/layout/vList5"/>
    <dgm:cxn modelId="{999DAD63-AD5C-414D-BA38-9B95F5C1B1B1}" srcId="{C1D6A62A-21A1-41F7-B1B7-FB503095FDCD}" destId="{E5FEC3CD-27D6-4A2A-97BE-A09DC1DFA0AF}" srcOrd="1" destOrd="0" parTransId="{D7AD534B-A63D-404E-A43E-7B2D64ED3A55}" sibTransId="{348AD42A-F17C-49F0-AD9A-3C3529443DF2}"/>
    <dgm:cxn modelId="{0B69374C-A279-4B52-9046-84A6ECD17DA5}" srcId="{9428D988-D93B-4A4F-9F33-6076EA8D724D}" destId="{5D992F0A-8DDC-47E2-860E-166E7D3CD273}" srcOrd="0" destOrd="0" parTransId="{8572CD2D-D73B-4B46-A0DB-B6297B5A2981}" sibTransId="{58AF8360-62E0-4C1B-94B1-9D17F4F759AA}"/>
    <dgm:cxn modelId="{CBE3938B-F8B8-4924-BC71-40B4C677CF8C}" srcId="{847DD4EB-0645-4F7D-BB4F-2319636BD33C}" destId="{B57574A7-73A4-4192-B677-4E50D2FECD05}" srcOrd="0" destOrd="0" parTransId="{E216ECE0-13EE-4654-BA58-A957C41CB89B}" sibTransId="{5E32002D-9621-425E-A0A6-E855B5309509}"/>
    <dgm:cxn modelId="{7CB0399E-7012-4127-8553-EDFC47F4F2E2}" type="presOf" srcId="{847DD4EB-0645-4F7D-BB4F-2319636BD33C}" destId="{B5203298-D88D-4FBB-AE06-5F75D4DF2C64}" srcOrd="0" destOrd="0" presId="urn:microsoft.com/office/officeart/2005/8/layout/vList5"/>
    <dgm:cxn modelId="{531EF2B5-66D6-4CB5-B2D3-D09D134B7161}" srcId="{C1D6A62A-21A1-41F7-B1B7-FB503095FDCD}" destId="{9428D988-D93B-4A4F-9F33-6076EA8D724D}" srcOrd="0" destOrd="0" parTransId="{BB0E5954-CA06-4B4B-9055-7F92A3A11C14}" sibTransId="{894B32A5-81FE-4710-8DD1-828A785E2856}"/>
    <dgm:cxn modelId="{1BFE3DB8-2E1F-49D6-918E-E2737BD418B1}" type="presOf" srcId="{A599C970-9024-46BB-A153-094B09D87E8C}" destId="{4F6BCADA-BCE1-4A34-B1A5-8BDC8B54FEF1}" srcOrd="0" destOrd="0" presId="urn:microsoft.com/office/officeart/2005/8/layout/vList5"/>
    <dgm:cxn modelId="{A3306FC2-0CBB-4C87-9B32-6DA1BEAF6464}" type="presOf" srcId="{EEF6BDAB-452F-4844-BD14-5CBD6ABACF8F}" destId="{EBF689C6-B28A-4B90-8FC7-C44EDFB138B2}" srcOrd="0" destOrd="0" presId="urn:microsoft.com/office/officeart/2005/8/layout/vList5"/>
    <dgm:cxn modelId="{4FD9D0D0-EFFA-4652-B4BC-6B005D238DAD}" srcId="{C1D6A62A-21A1-41F7-B1B7-FB503095FDCD}" destId="{EA8F16B1-BF34-45BD-88CB-7C25637CEF17}" srcOrd="4" destOrd="0" parTransId="{19165B34-37BE-49D8-9FAA-EA3BA1513940}" sibTransId="{789E412E-5956-4C61-9743-EC45B92022D5}"/>
    <dgm:cxn modelId="{58A5E4EA-3480-4696-B064-9D397C88F3B0}" srcId="{C1D6A62A-21A1-41F7-B1B7-FB503095FDCD}" destId="{847DD4EB-0645-4F7D-BB4F-2319636BD33C}" srcOrd="3" destOrd="0" parTransId="{0375A324-DDC9-4D41-B8E8-58AB36A9E56A}" sibTransId="{88F6175F-F730-4E5D-974F-E7940D6D46D4}"/>
    <dgm:cxn modelId="{434EB7ED-D5BA-4706-A05D-154F81D780FC}" type="presOf" srcId="{B57574A7-73A4-4192-B677-4E50D2FECD05}" destId="{93060C81-3BE2-4A78-B933-87F3E44C50C0}" srcOrd="0" destOrd="0" presId="urn:microsoft.com/office/officeart/2005/8/layout/vList5"/>
    <dgm:cxn modelId="{03FE70EF-7CE9-44E8-B532-10AD462FD55C}" type="presOf" srcId="{78D8F419-0FAF-4223-B5F0-694694BE848A}" destId="{4C6A53D8-E257-4EA8-82C5-A2D7B36D6DC9}" srcOrd="0" destOrd="0" presId="urn:microsoft.com/office/officeart/2005/8/layout/vList5"/>
    <dgm:cxn modelId="{9DB911F4-90EA-4FA7-B2B9-3BDF3EB66DDA}" type="presOf" srcId="{E5FEC3CD-27D6-4A2A-97BE-A09DC1DFA0AF}" destId="{1D652E61-5272-4B2D-B833-D87FD019950D}" srcOrd="0" destOrd="0" presId="urn:microsoft.com/office/officeart/2005/8/layout/vList5"/>
    <dgm:cxn modelId="{5E72AAF6-A43B-4796-A5E6-CD85E8ED4123}" srcId="{EA8F16B1-BF34-45BD-88CB-7C25637CEF17}" destId="{EEF6BDAB-452F-4844-BD14-5CBD6ABACF8F}" srcOrd="0" destOrd="0" parTransId="{6FCC5C38-13DD-465A-AD88-23E30B1BF43C}" sibTransId="{55170A19-6018-42C4-9303-19AB9A5782EE}"/>
    <dgm:cxn modelId="{AF970042-28EA-4457-A768-F0DD048FB107}" type="presParOf" srcId="{7AF71214-E91C-4840-AE74-8A1851587705}" destId="{0B24F2C4-07FB-47C2-950D-212A53EB5F49}" srcOrd="0" destOrd="0" presId="urn:microsoft.com/office/officeart/2005/8/layout/vList5"/>
    <dgm:cxn modelId="{8B40B00B-9B10-4692-82DE-88253F39371A}" type="presParOf" srcId="{0B24F2C4-07FB-47C2-950D-212A53EB5F49}" destId="{2C23D74F-C256-4024-9C5B-9F12E9D681F4}" srcOrd="0" destOrd="0" presId="urn:microsoft.com/office/officeart/2005/8/layout/vList5"/>
    <dgm:cxn modelId="{2071F3D6-6E7B-4C6C-97D3-CA46CB0E444D}" type="presParOf" srcId="{0B24F2C4-07FB-47C2-950D-212A53EB5F49}" destId="{747D722D-E163-462F-995B-D8AB568795F4}" srcOrd="1" destOrd="0" presId="urn:microsoft.com/office/officeart/2005/8/layout/vList5"/>
    <dgm:cxn modelId="{258864ED-59F3-4683-9F2A-CB4171F69BD4}" type="presParOf" srcId="{7AF71214-E91C-4840-AE74-8A1851587705}" destId="{4503A91E-B79C-44D5-9736-46FEA776250E}" srcOrd="1" destOrd="0" presId="urn:microsoft.com/office/officeart/2005/8/layout/vList5"/>
    <dgm:cxn modelId="{E2E97947-2D63-4E60-8929-F5076D84E4A0}" type="presParOf" srcId="{7AF71214-E91C-4840-AE74-8A1851587705}" destId="{0A457EF6-3CB3-4C17-BF33-FF6B7B8921FD}" srcOrd="2" destOrd="0" presId="urn:microsoft.com/office/officeart/2005/8/layout/vList5"/>
    <dgm:cxn modelId="{844B8FC5-17C0-4ADF-806A-D5C21688E507}" type="presParOf" srcId="{0A457EF6-3CB3-4C17-BF33-FF6B7B8921FD}" destId="{1D652E61-5272-4B2D-B833-D87FD019950D}" srcOrd="0" destOrd="0" presId="urn:microsoft.com/office/officeart/2005/8/layout/vList5"/>
    <dgm:cxn modelId="{146866EE-7552-42EA-97B2-C9BD5C90B6BD}" type="presParOf" srcId="{0A457EF6-3CB3-4C17-BF33-FF6B7B8921FD}" destId="{4C6A53D8-E257-4EA8-82C5-A2D7B36D6DC9}" srcOrd="1" destOrd="0" presId="urn:microsoft.com/office/officeart/2005/8/layout/vList5"/>
    <dgm:cxn modelId="{68BC3386-9FA3-48D8-8D8E-99C9CDF951B0}" type="presParOf" srcId="{7AF71214-E91C-4840-AE74-8A1851587705}" destId="{D3CCE1B7-7BCB-490E-861D-986F305DF8B9}" srcOrd="3" destOrd="0" presId="urn:microsoft.com/office/officeart/2005/8/layout/vList5"/>
    <dgm:cxn modelId="{847C5396-B991-42B2-B22B-A84B13F8B3D6}" type="presParOf" srcId="{7AF71214-E91C-4840-AE74-8A1851587705}" destId="{DD01B8C9-DAD4-4ACA-A7F2-A53DA0EF3617}" srcOrd="4" destOrd="0" presId="urn:microsoft.com/office/officeart/2005/8/layout/vList5"/>
    <dgm:cxn modelId="{5418ACCA-85BB-4C20-B25A-4B2284621B1B}" type="presParOf" srcId="{DD01B8C9-DAD4-4ACA-A7F2-A53DA0EF3617}" destId="{4F6BCADA-BCE1-4A34-B1A5-8BDC8B54FEF1}" srcOrd="0" destOrd="0" presId="urn:microsoft.com/office/officeart/2005/8/layout/vList5"/>
    <dgm:cxn modelId="{A5BB649B-5396-434D-BF3E-34C812292A4A}" type="presParOf" srcId="{DD01B8C9-DAD4-4ACA-A7F2-A53DA0EF3617}" destId="{8DE92326-89A2-44F3-9C0A-12301F68EDBC}" srcOrd="1" destOrd="0" presId="urn:microsoft.com/office/officeart/2005/8/layout/vList5"/>
    <dgm:cxn modelId="{1F6BF439-74A5-4CB8-8E3F-4A6CF53F3863}" type="presParOf" srcId="{7AF71214-E91C-4840-AE74-8A1851587705}" destId="{5BB44AD6-FE65-4EB8-939D-E8BF8327D907}" srcOrd="5" destOrd="0" presId="urn:microsoft.com/office/officeart/2005/8/layout/vList5"/>
    <dgm:cxn modelId="{637B28DB-F027-46C7-A7E5-5D6BF855464E}" type="presParOf" srcId="{7AF71214-E91C-4840-AE74-8A1851587705}" destId="{262A8742-4B7E-4CDA-B132-5EF1B353A972}" srcOrd="6" destOrd="0" presId="urn:microsoft.com/office/officeart/2005/8/layout/vList5"/>
    <dgm:cxn modelId="{F7C1D27A-55C8-4324-A1DE-CD523188A67E}" type="presParOf" srcId="{262A8742-4B7E-4CDA-B132-5EF1B353A972}" destId="{B5203298-D88D-4FBB-AE06-5F75D4DF2C64}" srcOrd="0" destOrd="0" presId="urn:microsoft.com/office/officeart/2005/8/layout/vList5"/>
    <dgm:cxn modelId="{E70138DD-57A4-43D6-9173-E2ECB1271B81}" type="presParOf" srcId="{262A8742-4B7E-4CDA-B132-5EF1B353A972}" destId="{93060C81-3BE2-4A78-B933-87F3E44C50C0}" srcOrd="1" destOrd="0" presId="urn:microsoft.com/office/officeart/2005/8/layout/vList5"/>
    <dgm:cxn modelId="{C057B7F3-1ACE-4593-8CD5-DA45FC81B3A5}" type="presParOf" srcId="{7AF71214-E91C-4840-AE74-8A1851587705}" destId="{869AB633-825C-453E-8D9A-6D7967F5A4BE}" srcOrd="7" destOrd="0" presId="urn:microsoft.com/office/officeart/2005/8/layout/vList5"/>
    <dgm:cxn modelId="{7AE1F355-7FB1-4CD2-A07A-E26DF24EFEA5}" type="presParOf" srcId="{7AF71214-E91C-4840-AE74-8A1851587705}" destId="{D9E40E1A-E5EF-4E84-B21C-47411C80AB10}" srcOrd="8" destOrd="0" presId="urn:microsoft.com/office/officeart/2005/8/layout/vList5"/>
    <dgm:cxn modelId="{7A8FA1CF-A2A9-4505-B3BE-F4DA2B3B7A4B}" type="presParOf" srcId="{D9E40E1A-E5EF-4E84-B21C-47411C80AB10}" destId="{36BA20F0-B47A-4AED-B8DC-0BF4B49B65C8}" srcOrd="0" destOrd="0" presId="urn:microsoft.com/office/officeart/2005/8/layout/vList5"/>
    <dgm:cxn modelId="{6A1B0936-D0F6-47E9-9958-E0FA59884295}" type="presParOf" srcId="{D9E40E1A-E5EF-4E84-B21C-47411C80AB10}" destId="{EBF689C6-B28A-4B90-8FC7-C44EDFB138B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B711D1-2AD1-4FF0-9B1F-C8F71F59EDF7}" type="doc">
      <dgm:prSet loTypeId="urn:microsoft.com/office/officeart/2005/8/layout/default" loCatId="list" qsTypeId="urn:microsoft.com/office/officeart/2005/8/quickstyle/simple4#1" qsCatId="simple" csTypeId="urn:microsoft.com/office/officeart/2005/8/colors/colorful2#1" csCatId="colorful"/>
      <dgm:spPr/>
      <dgm:t>
        <a:bodyPr/>
        <a:lstStyle/>
        <a:p>
          <a:endParaRPr lang="en-US"/>
        </a:p>
      </dgm:t>
    </dgm:pt>
    <dgm:pt modelId="{B1AB733A-45CE-42F2-B0B1-A1E4672CFB42}">
      <dgm:prSet/>
      <dgm:spPr/>
      <dgm:t>
        <a:bodyPr/>
        <a:lstStyle/>
        <a:p>
          <a:r>
            <a:rPr lang="en-US" baseline="0"/>
            <a:t>Generally Available (GA) model versions will be available for a minimum of 12 months.</a:t>
          </a:r>
          <a:endParaRPr lang="en-US"/>
        </a:p>
      </dgm:t>
    </dgm:pt>
    <dgm:pt modelId="{ED08A125-59C2-447E-A14A-558F9CDB7BEA}" type="parTrans" cxnId="{3D8DF755-5B12-49F4-A7D2-1766465E6FC2}">
      <dgm:prSet/>
      <dgm:spPr/>
      <dgm:t>
        <a:bodyPr/>
        <a:lstStyle/>
        <a:p>
          <a:endParaRPr lang="en-US"/>
        </a:p>
      </dgm:t>
    </dgm:pt>
    <dgm:pt modelId="{9322776A-9472-4AD9-B7C9-BE98B6529EF9}" type="sibTrans" cxnId="{3D8DF755-5B12-49F4-A7D2-1766465E6FC2}">
      <dgm:prSet/>
      <dgm:spPr/>
      <dgm:t>
        <a:bodyPr/>
        <a:lstStyle/>
        <a:p>
          <a:endParaRPr lang="en-US"/>
        </a:p>
      </dgm:t>
    </dgm:pt>
    <dgm:pt modelId="{0DF3029D-4596-4E7D-9FF5-E9A3B20DF5E7}">
      <dgm:prSet/>
      <dgm:spPr/>
      <dgm:t>
        <a:bodyPr/>
        <a:lstStyle/>
        <a:p>
          <a:r>
            <a:rPr lang="en-US" baseline="0"/>
            <a:t>After 12 months, existing customers may continue to use older model versions for an additional six months.</a:t>
          </a:r>
          <a:endParaRPr lang="en-US"/>
        </a:p>
      </dgm:t>
    </dgm:pt>
    <dgm:pt modelId="{B7FD1A21-F6FC-4919-B139-EF5EEE2FB166}" type="parTrans" cxnId="{A30F9585-D1CE-449A-8B00-1CDB1920F36D}">
      <dgm:prSet/>
      <dgm:spPr/>
      <dgm:t>
        <a:bodyPr/>
        <a:lstStyle/>
        <a:p>
          <a:endParaRPr lang="en-US"/>
        </a:p>
      </dgm:t>
    </dgm:pt>
    <dgm:pt modelId="{04147D26-19A2-4961-94B0-7A283F7FEA7F}" type="sibTrans" cxnId="{A30F9585-D1CE-449A-8B00-1CDB1920F36D}">
      <dgm:prSet/>
      <dgm:spPr/>
      <dgm:t>
        <a:bodyPr/>
        <a:lstStyle/>
        <a:p>
          <a:endParaRPr lang="en-US"/>
        </a:p>
      </dgm:t>
    </dgm:pt>
    <dgm:pt modelId="{57864449-965F-439C-BE3B-4806624A165B}">
      <dgm:prSet/>
      <dgm:spPr/>
      <dgm:t>
        <a:bodyPr/>
        <a:lstStyle/>
        <a:p>
          <a:r>
            <a:rPr lang="en-US" baseline="0"/>
            <a:t>New customers who have never deployed the older model version will no longer have access after 12 months.</a:t>
          </a:r>
          <a:endParaRPr lang="en-US"/>
        </a:p>
      </dgm:t>
    </dgm:pt>
    <dgm:pt modelId="{747FBEBD-4407-4706-B456-F3FD7EB11A89}" type="parTrans" cxnId="{85295560-EF93-4438-BF35-3950691015CD}">
      <dgm:prSet/>
      <dgm:spPr/>
      <dgm:t>
        <a:bodyPr/>
        <a:lstStyle/>
        <a:p>
          <a:endParaRPr lang="en-US"/>
        </a:p>
      </dgm:t>
    </dgm:pt>
    <dgm:pt modelId="{3291255B-E671-4DE4-BC68-7FFE8A3AC6C1}" type="sibTrans" cxnId="{85295560-EF93-4438-BF35-3950691015CD}">
      <dgm:prSet/>
      <dgm:spPr/>
      <dgm:t>
        <a:bodyPr/>
        <a:lstStyle/>
        <a:p>
          <a:endParaRPr lang="en-US"/>
        </a:p>
      </dgm:t>
    </dgm:pt>
    <dgm:pt modelId="{4F4DDD10-CB3A-4042-A286-8CCC3F1C9E89}">
      <dgm:prSet/>
      <dgm:spPr/>
      <dgm:t>
        <a:bodyPr/>
        <a:lstStyle/>
        <a:p>
          <a:r>
            <a:rPr lang="en-US" baseline="0"/>
            <a:t>For global deployments, all future model versions starting with gpt-4o and gpt-4 0409 will be available with their (N) next succeeding model (N+1) for comparison together.</a:t>
          </a:r>
          <a:endParaRPr lang="en-US"/>
        </a:p>
      </dgm:t>
    </dgm:pt>
    <dgm:pt modelId="{ED9B37ED-BDD0-4DEF-BBFE-20A6FA785FB1}" type="parTrans" cxnId="{E75226F6-6A3F-44B6-B122-0666E87DAE3A}">
      <dgm:prSet/>
      <dgm:spPr/>
      <dgm:t>
        <a:bodyPr/>
        <a:lstStyle/>
        <a:p>
          <a:endParaRPr lang="en-US"/>
        </a:p>
      </dgm:t>
    </dgm:pt>
    <dgm:pt modelId="{E7082333-0886-4BD6-8013-4391F7DB6AB7}" type="sibTrans" cxnId="{E75226F6-6A3F-44B6-B122-0666E87DAE3A}">
      <dgm:prSet/>
      <dgm:spPr/>
      <dgm:t>
        <a:bodyPr/>
        <a:lstStyle/>
        <a:p>
          <a:endParaRPr lang="en-US"/>
        </a:p>
      </dgm:t>
    </dgm:pt>
    <dgm:pt modelId="{C2F37566-C8E7-47C3-85FA-5224859AD09E}">
      <dgm:prSet/>
      <dgm:spPr/>
      <dgm:t>
        <a:bodyPr/>
        <a:lstStyle/>
        <a:p>
          <a:r>
            <a:rPr lang="en-US" baseline="0"/>
            <a:t>Customers have 60 days to try out a new GA model in at least one global or standard region before any upgrades happen to a newer GA model.</a:t>
          </a:r>
          <a:endParaRPr lang="en-US"/>
        </a:p>
      </dgm:t>
    </dgm:pt>
    <dgm:pt modelId="{EF040031-C0F8-4E1D-911B-C5B702C8B4AF}" type="parTrans" cxnId="{CE39AC72-A61F-4358-96D4-90ACA90FE2CF}">
      <dgm:prSet/>
      <dgm:spPr/>
      <dgm:t>
        <a:bodyPr/>
        <a:lstStyle/>
        <a:p>
          <a:endParaRPr lang="en-US"/>
        </a:p>
      </dgm:t>
    </dgm:pt>
    <dgm:pt modelId="{BB577F96-AB9E-4888-B2EA-D677E17F8153}" type="sibTrans" cxnId="{CE39AC72-A61F-4358-96D4-90ACA90FE2CF}">
      <dgm:prSet/>
      <dgm:spPr/>
      <dgm:t>
        <a:bodyPr/>
        <a:lstStyle/>
        <a:p>
          <a:endParaRPr lang="en-US"/>
        </a:p>
      </dgm:t>
    </dgm:pt>
    <dgm:pt modelId="{9E4D36AB-8965-4BAA-822F-2FA0CD25E730}" type="pres">
      <dgm:prSet presAssocID="{CDB711D1-2AD1-4FF0-9B1F-C8F71F59EDF7}" presName="diagram" presStyleCnt="0">
        <dgm:presLayoutVars>
          <dgm:dir/>
          <dgm:resizeHandles val="exact"/>
        </dgm:presLayoutVars>
      </dgm:prSet>
      <dgm:spPr/>
    </dgm:pt>
    <dgm:pt modelId="{CA422775-E237-4572-A524-C527BF2AB6D9}" type="pres">
      <dgm:prSet presAssocID="{B1AB733A-45CE-42F2-B0B1-A1E4672CFB42}" presName="node" presStyleLbl="node1" presStyleIdx="0" presStyleCnt="5">
        <dgm:presLayoutVars>
          <dgm:bulletEnabled val="1"/>
        </dgm:presLayoutVars>
      </dgm:prSet>
      <dgm:spPr/>
    </dgm:pt>
    <dgm:pt modelId="{D8375918-A5A3-4785-9EA1-EC6EF3C3E3DE}" type="pres">
      <dgm:prSet presAssocID="{9322776A-9472-4AD9-B7C9-BE98B6529EF9}" presName="sibTrans" presStyleCnt="0"/>
      <dgm:spPr/>
    </dgm:pt>
    <dgm:pt modelId="{40403447-FF4B-45ED-B08A-375AC79ED55F}" type="pres">
      <dgm:prSet presAssocID="{0DF3029D-4596-4E7D-9FF5-E9A3B20DF5E7}" presName="node" presStyleLbl="node1" presStyleIdx="1" presStyleCnt="5">
        <dgm:presLayoutVars>
          <dgm:bulletEnabled val="1"/>
        </dgm:presLayoutVars>
      </dgm:prSet>
      <dgm:spPr/>
    </dgm:pt>
    <dgm:pt modelId="{29211080-D09B-4944-8C51-915EB20CED9D}" type="pres">
      <dgm:prSet presAssocID="{04147D26-19A2-4961-94B0-7A283F7FEA7F}" presName="sibTrans" presStyleCnt="0"/>
      <dgm:spPr/>
    </dgm:pt>
    <dgm:pt modelId="{E27D700D-D00A-4139-80AF-84424F063FEA}" type="pres">
      <dgm:prSet presAssocID="{57864449-965F-439C-BE3B-4806624A165B}" presName="node" presStyleLbl="node1" presStyleIdx="2" presStyleCnt="5">
        <dgm:presLayoutVars>
          <dgm:bulletEnabled val="1"/>
        </dgm:presLayoutVars>
      </dgm:prSet>
      <dgm:spPr/>
    </dgm:pt>
    <dgm:pt modelId="{BF5C3870-3B7A-431A-9852-D4F62BA47A1D}" type="pres">
      <dgm:prSet presAssocID="{3291255B-E671-4DE4-BC68-7FFE8A3AC6C1}" presName="sibTrans" presStyleCnt="0"/>
      <dgm:spPr/>
    </dgm:pt>
    <dgm:pt modelId="{B3D9E961-7684-4322-AD26-EE0BFF1EC243}" type="pres">
      <dgm:prSet presAssocID="{4F4DDD10-CB3A-4042-A286-8CCC3F1C9E89}" presName="node" presStyleLbl="node1" presStyleIdx="3" presStyleCnt="5">
        <dgm:presLayoutVars>
          <dgm:bulletEnabled val="1"/>
        </dgm:presLayoutVars>
      </dgm:prSet>
      <dgm:spPr/>
    </dgm:pt>
    <dgm:pt modelId="{D7DE8CC0-7AC0-4CC7-A75F-2AE42C6A32F1}" type="pres">
      <dgm:prSet presAssocID="{E7082333-0886-4BD6-8013-4391F7DB6AB7}" presName="sibTrans" presStyleCnt="0"/>
      <dgm:spPr/>
    </dgm:pt>
    <dgm:pt modelId="{E10C7425-6C38-456F-8BEF-4E7EEE8CA169}" type="pres">
      <dgm:prSet presAssocID="{C2F37566-C8E7-47C3-85FA-5224859AD09E}" presName="node" presStyleLbl="node1" presStyleIdx="4" presStyleCnt="5">
        <dgm:presLayoutVars>
          <dgm:bulletEnabled val="1"/>
        </dgm:presLayoutVars>
      </dgm:prSet>
      <dgm:spPr/>
    </dgm:pt>
  </dgm:ptLst>
  <dgm:cxnLst>
    <dgm:cxn modelId="{85295560-EF93-4438-BF35-3950691015CD}" srcId="{CDB711D1-2AD1-4FF0-9B1F-C8F71F59EDF7}" destId="{57864449-965F-439C-BE3B-4806624A165B}" srcOrd="2" destOrd="0" parTransId="{747FBEBD-4407-4706-B456-F3FD7EB11A89}" sibTransId="{3291255B-E671-4DE4-BC68-7FFE8A3AC6C1}"/>
    <dgm:cxn modelId="{CE39AC72-A61F-4358-96D4-90ACA90FE2CF}" srcId="{CDB711D1-2AD1-4FF0-9B1F-C8F71F59EDF7}" destId="{C2F37566-C8E7-47C3-85FA-5224859AD09E}" srcOrd="4" destOrd="0" parTransId="{EF040031-C0F8-4E1D-911B-C5B702C8B4AF}" sibTransId="{BB577F96-AB9E-4888-B2EA-D677E17F8153}"/>
    <dgm:cxn modelId="{3D8DF755-5B12-49F4-A7D2-1766465E6FC2}" srcId="{CDB711D1-2AD1-4FF0-9B1F-C8F71F59EDF7}" destId="{B1AB733A-45CE-42F2-B0B1-A1E4672CFB42}" srcOrd="0" destOrd="0" parTransId="{ED08A125-59C2-447E-A14A-558F9CDB7BEA}" sibTransId="{9322776A-9472-4AD9-B7C9-BE98B6529EF9}"/>
    <dgm:cxn modelId="{43A8F07C-AF50-432C-A40B-05A732873963}" type="presOf" srcId="{CDB711D1-2AD1-4FF0-9B1F-C8F71F59EDF7}" destId="{9E4D36AB-8965-4BAA-822F-2FA0CD25E730}" srcOrd="0" destOrd="0" presId="urn:microsoft.com/office/officeart/2005/8/layout/default"/>
    <dgm:cxn modelId="{A30F9585-D1CE-449A-8B00-1CDB1920F36D}" srcId="{CDB711D1-2AD1-4FF0-9B1F-C8F71F59EDF7}" destId="{0DF3029D-4596-4E7D-9FF5-E9A3B20DF5E7}" srcOrd="1" destOrd="0" parTransId="{B7FD1A21-F6FC-4919-B139-EF5EEE2FB166}" sibTransId="{04147D26-19A2-4961-94B0-7A283F7FEA7F}"/>
    <dgm:cxn modelId="{D0301B9C-575A-4AF9-9E4D-963BA742CF08}" type="presOf" srcId="{B1AB733A-45CE-42F2-B0B1-A1E4672CFB42}" destId="{CA422775-E237-4572-A524-C527BF2AB6D9}" srcOrd="0" destOrd="0" presId="urn:microsoft.com/office/officeart/2005/8/layout/default"/>
    <dgm:cxn modelId="{EA806FA2-5026-46E3-BC16-209AA88BCC15}" type="presOf" srcId="{57864449-965F-439C-BE3B-4806624A165B}" destId="{E27D700D-D00A-4139-80AF-84424F063FEA}" srcOrd="0" destOrd="0" presId="urn:microsoft.com/office/officeart/2005/8/layout/default"/>
    <dgm:cxn modelId="{964999C0-BF5F-47DB-B4DC-8D68EA9F6CB1}" type="presOf" srcId="{4F4DDD10-CB3A-4042-A286-8CCC3F1C9E89}" destId="{B3D9E961-7684-4322-AD26-EE0BFF1EC243}" srcOrd="0" destOrd="0" presId="urn:microsoft.com/office/officeart/2005/8/layout/default"/>
    <dgm:cxn modelId="{F0ABD4C8-7E08-4E11-A2D2-82D3E390CBDA}" type="presOf" srcId="{C2F37566-C8E7-47C3-85FA-5224859AD09E}" destId="{E10C7425-6C38-456F-8BEF-4E7EEE8CA169}" srcOrd="0" destOrd="0" presId="urn:microsoft.com/office/officeart/2005/8/layout/default"/>
    <dgm:cxn modelId="{F19E68D4-2C7D-4D53-B18C-688F284B8F75}" type="presOf" srcId="{0DF3029D-4596-4E7D-9FF5-E9A3B20DF5E7}" destId="{40403447-FF4B-45ED-B08A-375AC79ED55F}" srcOrd="0" destOrd="0" presId="urn:microsoft.com/office/officeart/2005/8/layout/default"/>
    <dgm:cxn modelId="{E75226F6-6A3F-44B6-B122-0666E87DAE3A}" srcId="{CDB711D1-2AD1-4FF0-9B1F-C8F71F59EDF7}" destId="{4F4DDD10-CB3A-4042-A286-8CCC3F1C9E89}" srcOrd="3" destOrd="0" parTransId="{ED9B37ED-BDD0-4DEF-BBFE-20A6FA785FB1}" sibTransId="{E7082333-0886-4BD6-8013-4391F7DB6AB7}"/>
    <dgm:cxn modelId="{879CDE26-0885-46AF-BF0C-47E40D6832CB}" type="presParOf" srcId="{9E4D36AB-8965-4BAA-822F-2FA0CD25E730}" destId="{CA422775-E237-4572-A524-C527BF2AB6D9}" srcOrd="0" destOrd="0" presId="urn:microsoft.com/office/officeart/2005/8/layout/default"/>
    <dgm:cxn modelId="{201BAF0F-0DC2-480C-A31D-96235A607C2A}" type="presParOf" srcId="{9E4D36AB-8965-4BAA-822F-2FA0CD25E730}" destId="{D8375918-A5A3-4785-9EA1-EC6EF3C3E3DE}" srcOrd="1" destOrd="0" presId="urn:microsoft.com/office/officeart/2005/8/layout/default"/>
    <dgm:cxn modelId="{AB79C625-C82A-40AB-BC3D-411A22ABC25B}" type="presParOf" srcId="{9E4D36AB-8965-4BAA-822F-2FA0CD25E730}" destId="{40403447-FF4B-45ED-B08A-375AC79ED55F}" srcOrd="2" destOrd="0" presId="urn:microsoft.com/office/officeart/2005/8/layout/default"/>
    <dgm:cxn modelId="{C59EF3A4-FF34-43B1-8FD0-F6B35B43EAD5}" type="presParOf" srcId="{9E4D36AB-8965-4BAA-822F-2FA0CD25E730}" destId="{29211080-D09B-4944-8C51-915EB20CED9D}" srcOrd="3" destOrd="0" presId="urn:microsoft.com/office/officeart/2005/8/layout/default"/>
    <dgm:cxn modelId="{90B2E8AB-6327-46BF-BFF6-56F87B5087AF}" type="presParOf" srcId="{9E4D36AB-8965-4BAA-822F-2FA0CD25E730}" destId="{E27D700D-D00A-4139-80AF-84424F063FEA}" srcOrd="4" destOrd="0" presId="urn:microsoft.com/office/officeart/2005/8/layout/default"/>
    <dgm:cxn modelId="{876BF36C-37B8-4CFF-8118-DEFCE0E2B774}" type="presParOf" srcId="{9E4D36AB-8965-4BAA-822F-2FA0CD25E730}" destId="{BF5C3870-3B7A-431A-9852-D4F62BA47A1D}" srcOrd="5" destOrd="0" presId="urn:microsoft.com/office/officeart/2005/8/layout/default"/>
    <dgm:cxn modelId="{2099912D-883A-4FC4-A4FB-1AE7B15CFFC0}" type="presParOf" srcId="{9E4D36AB-8965-4BAA-822F-2FA0CD25E730}" destId="{B3D9E961-7684-4322-AD26-EE0BFF1EC243}" srcOrd="6" destOrd="0" presId="urn:microsoft.com/office/officeart/2005/8/layout/default"/>
    <dgm:cxn modelId="{B7312881-CCEF-4256-9DA8-63D4D4CA09D5}" type="presParOf" srcId="{9E4D36AB-8965-4BAA-822F-2FA0CD25E730}" destId="{D7DE8CC0-7AC0-4CC7-A75F-2AE42C6A32F1}" srcOrd="7" destOrd="0" presId="urn:microsoft.com/office/officeart/2005/8/layout/default"/>
    <dgm:cxn modelId="{22445245-64F8-4601-8BAB-40C8A53401EE}" type="presParOf" srcId="{9E4D36AB-8965-4BAA-822F-2FA0CD25E730}" destId="{E10C7425-6C38-456F-8BEF-4E7EEE8CA169}"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CA4709-7BB7-44F5-88ED-6627459328C4}" type="doc">
      <dgm:prSet loTypeId="urn:microsoft.com/office/officeart/2018/2/layout/IconVerticalSolidList" loCatId="icon" qsTypeId="urn:microsoft.com/office/officeart/2005/8/quickstyle/simple1#2" qsCatId="simple" csTypeId="urn:microsoft.com/office/officeart/2005/8/colors/accent2_2#1" csCatId="accent2" phldr="1"/>
      <dgm:spPr/>
      <dgm:t>
        <a:bodyPr/>
        <a:lstStyle/>
        <a:p>
          <a:endParaRPr lang="en-US"/>
        </a:p>
      </dgm:t>
    </dgm:pt>
    <dgm:pt modelId="{30DAC9CE-FDBE-4D0F-AED9-4005E30EC1BC}">
      <dgm:prSet/>
      <dgm:spPr/>
      <dgm:t>
        <a:bodyPr/>
        <a:lstStyle/>
        <a:p>
          <a:r>
            <a:rPr lang="en-US" b="1"/>
            <a:t>Deprecation</a:t>
          </a:r>
          <a:r>
            <a:rPr lang="en-US"/>
            <a:t>: When a model is deprecated, it's no longer available for new customers. It continues to be available for use by customers who have existing deployments until the model is retired.</a:t>
          </a:r>
        </a:p>
      </dgm:t>
    </dgm:pt>
    <dgm:pt modelId="{B9B567EC-F3FF-47E8-9A1C-BF55A4818949}" type="parTrans" cxnId="{831C29CC-5B23-40C9-B1A7-9A7EB8DE3150}">
      <dgm:prSet/>
      <dgm:spPr/>
      <dgm:t>
        <a:bodyPr/>
        <a:lstStyle/>
        <a:p>
          <a:endParaRPr lang="en-US"/>
        </a:p>
      </dgm:t>
    </dgm:pt>
    <dgm:pt modelId="{7738126F-82E3-434A-B364-F84FA55724C9}" type="sibTrans" cxnId="{831C29CC-5B23-40C9-B1A7-9A7EB8DE3150}">
      <dgm:prSet/>
      <dgm:spPr/>
      <dgm:t>
        <a:bodyPr/>
        <a:lstStyle/>
        <a:p>
          <a:endParaRPr lang="en-US"/>
        </a:p>
      </dgm:t>
    </dgm:pt>
    <dgm:pt modelId="{C7991E7F-AB65-4D9E-B08B-BFE84E4CEA35}">
      <dgm:prSet/>
      <dgm:spPr/>
      <dgm:t>
        <a:bodyPr/>
        <a:lstStyle/>
        <a:p>
          <a:r>
            <a:rPr lang="en-US" b="1"/>
            <a:t>Retirement</a:t>
          </a:r>
          <a:r>
            <a:rPr lang="en-US"/>
            <a:t>: When a model is retired, it's no longer available for use. Azure OpenAI deployments of a retired model always return error responses.</a:t>
          </a:r>
        </a:p>
      </dgm:t>
    </dgm:pt>
    <dgm:pt modelId="{0A4685E4-F845-4485-AC3C-DFF9A3D45565}" type="parTrans" cxnId="{1840C0C5-9FA4-4C72-B939-7B8EC2A42167}">
      <dgm:prSet/>
      <dgm:spPr/>
      <dgm:t>
        <a:bodyPr/>
        <a:lstStyle/>
        <a:p>
          <a:endParaRPr lang="en-US"/>
        </a:p>
      </dgm:t>
    </dgm:pt>
    <dgm:pt modelId="{FBA862C7-A7F1-4BE0-944E-3C20C38F4D81}" type="sibTrans" cxnId="{1840C0C5-9FA4-4C72-B939-7B8EC2A42167}">
      <dgm:prSet/>
      <dgm:spPr/>
      <dgm:t>
        <a:bodyPr/>
        <a:lstStyle/>
        <a:p>
          <a:endParaRPr lang="en-US"/>
        </a:p>
      </dgm:t>
    </dgm:pt>
    <dgm:pt modelId="{1BE11AE0-FC1B-47AE-9D7A-BBF4771E6E53}" type="pres">
      <dgm:prSet presAssocID="{7CCA4709-7BB7-44F5-88ED-6627459328C4}" presName="root" presStyleCnt="0">
        <dgm:presLayoutVars>
          <dgm:dir/>
          <dgm:resizeHandles val="exact"/>
        </dgm:presLayoutVars>
      </dgm:prSet>
      <dgm:spPr/>
    </dgm:pt>
    <dgm:pt modelId="{0DD6467E-C7A5-4695-8BC5-9F95ECAE65B9}" type="pres">
      <dgm:prSet presAssocID="{30DAC9CE-FDBE-4D0F-AED9-4005E30EC1BC}" presName="compNode" presStyleCnt="0"/>
      <dgm:spPr/>
    </dgm:pt>
    <dgm:pt modelId="{761B1408-BF31-4840-87D4-7C1347DCDE46}" type="pres">
      <dgm:prSet presAssocID="{30DAC9CE-FDBE-4D0F-AED9-4005E30EC1BC}" presName="bgRect" presStyleLbl="bgShp" presStyleIdx="0" presStyleCnt="2"/>
      <dgm:spPr/>
    </dgm:pt>
    <dgm:pt modelId="{0533EF72-EC09-4C0B-980C-DFB928785226}" type="pres">
      <dgm:prSet presAssocID="{30DAC9CE-FDBE-4D0F-AED9-4005E30EC1BC}" presName="iconRect" presStyleLbl="node1" presStyleIdx="0" presStyleCnt="2"/>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Warning with solid fill"/>
        </a:ext>
      </dgm:extLst>
    </dgm:pt>
    <dgm:pt modelId="{B54F8471-931C-4AE8-8E9A-E510F5E38B9E}" type="pres">
      <dgm:prSet presAssocID="{30DAC9CE-FDBE-4D0F-AED9-4005E30EC1BC}" presName="spaceRect" presStyleCnt="0"/>
      <dgm:spPr/>
    </dgm:pt>
    <dgm:pt modelId="{692F3808-6266-4EFB-AE32-1BF8D716F2C8}" type="pres">
      <dgm:prSet presAssocID="{30DAC9CE-FDBE-4D0F-AED9-4005E30EC1BC}" presName="parTx" presStyleLbl="revTx" presStyleIdx="0" presStyleCnt="2">
        <dgm:presLayoutVars>
          <dgm:chMax val="0"/>
          <dgm:chPref val="0"/>
        </dgm:presLayoutVars>
      </dgm:prSet>
      <dgm:spPr/>
    </dgm:pt>
    <dgm:pt modelId="{43338486-BA90-4276-923B-FC04B1DA3F8E}" type="pres">
      <dgm:prSet presAssocID="{7738126F-82E3-434A-B364-F84FA55724C9}" presName="sibTrans" presStyleCnt="0"/>
      <dgm:spPr/>
    </dgm:pt>
    <dgm:pt modelId="{7A3CC419-CFC1-4E55-8A76-06BA859913B5}" type="pres">
      <dgm:prSet presAssocID="{C7991E7F-AB65-4D9E-B08B-BFE84E4CEA35}" presName="compNode" presStyleCnt="0"/>
      <dgm:spPr/>
    </dgm:pt>
    <dgm:pt modelId="{45CFAD21-56DF-4211-B068-F536739B78DA}" type="pres">
      <dgm:prSet presAssocID="{C7991E7F-AB65-4D9E-B08B-BFE84E4CEA35}" presName="bgRect" presStyleLbl="bgShp" presStyleIdx="1" presStyleCnt="2"/>
      <dgm:spPr/>
    </dgm:pt>
    <dgm:pt modelId="{7E88F0B9-076A-4B3A-B847-57F9E86EEFD7}" type="pres">
      <dgm:prSet presAssocID="{C7991E7F-AB65-4D9E-B08B-BFE84E4CEA35}" presName="iconRect" presStyleLbl="node1" presStyleIdx="1" presStyleCnt="2"/>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Irritant with solid fill"/>
        </a:ext>
      </dgm:extLst>
    </dgm:pt>
    <dgm:pt modelId="{C14199EE-88F1-4789-B9C8-8A98A10230B0}" type="pres">
      <dgm:prSet presAssocID="{C7991E7F-AB65-4D9E-B08B-BFE84E4CEA35}" presName="spaceRect" presStyleCnt="0"/>
      <dgm:spPr/>
    </dgm:pt>
    <dgm:pt modelId="{98EB5563-EDCE-4251-88D5-A85E52F21E5F}" type="pres">
      <dgm:prSet presAssocID="{C7991E7F-AB65-4D9E-B08B-BFE84E4CEA35}" presName="parTx" presStyleLbl="revTx" presStyleIdx="1" presStyleCnt="2">
        <dgm:presLayoutVars>
          <dgm:chMax val="0"/>
          <dgm:chPref val="0"/>
        </dgm:presLayoutVars>
      </dgm:prSet>
      <dgm:spPr/>
    </dgm:pt>
  </dgm:ptLst>
  <dgm:cxnLst>
    <dgm:cxn modelId="{93F85578-BADE-4E83-B666-56EA6F3AF22A}" type="presOf" srcId="{7CCA4709-7BB7-44F5-88ED-6627459328C4}" destId="{1BE11AE0-FC1B-47AE-9D7A-BBF4771E6E53}" srcOrd="0" destOrd="0" presId="urn:microsoft.com/office/officeart/2018/2/layout/IconVerticalSolidList"/>
    <dgm:cxn modelId="{E982B6B6-E86B-4F22-9D19-0CF385332718}" type="presOf" srcId="{30DAC9CE-FDBE-4D0F-AED9-4005E30EC1BC}" destId="{692F3808-6266-4EFB-AE32-1BF8D716F2C8}" srcOrd="0" destOrd="0" presId="urn:microsoft.com/office/officeart/2018/2/layout/IconVerticalSolidList"/>
    <dgm:cxn modelId="{1840C0C5-9FA4-4C72-B939-7B8EC2A42167}" srcId="{7CCA4709-7BB7-44F5-88ED-6627459328C4}" destId="{C7991E7F-AB65-4D9E-B08B-BFE84E4CEA35}" srcOrd="1" destOrd="0" parTransId="{0A4685E4-F845-4485-AC3C-DFF9A3D45565}" sibTransId="{FBA862C7-A7F1-4BE0-944E-3C20C38F4D81}"/>
    <dgm:cxn modelId="{831C29CC-5B23-40C9-B1A7-9A7EB8DE3150}" srcId="{7CCA4709-7BB7-44F5-88ED-6627459328C4}" destId="{30DAC9CE-FDBE-4D0F-AED9-4005E30EC1BC}" srcOrd="0" destOrd="0" parTransId="{B9B567EC-F3FF-47E8-9A1C-BF55A4818949}" sibTransId="{7738126F-82E3-434A-B364-F84FA55724C9}"/>
    <dgm:cxn modelId="{7FC2F1EB-57F7-4D5E-9768-4A3E347AB71C}" type="presOf" srcId="{C7991E7F-AB65-4D9E-B08B-BFE84E4CEA35}" destId="{98EB5563-EDCE-4251-88D5-A85E52F21E5F}" srcOrd="0" destOrd="0" presId="urn:microsoft.com/office/officeart/2018/2/layout/IconVerticalSolidList"/>
    <dgm:cxn modelId="{57E52272-E6AB-45DB-B87A-F52991D03D65}" type="presParOf" srcId="{1BE11AE0-FC1B-47AE-9D7A-BBF4771E6E53}" destId="{0DD6467E-C7A5-4695-8BC5-9F95ECAE65B9}" srcOrd="0" destOrd="0" presId="urn:microsoft.com/office/officeart/2018/2/layout/IconVerticalSolidList"/>
    <dgm:cxn modelId="{71B9D9A7-5F28-4857-96D7-A7BA88D06DD3}" type="presParOf" srcId="{0DD6467E-C7A5-4695-8BC5-9F95ECAE65B9}" destId="{761B1408-BF31-4840-87D4-7C1347DCDE46}" srcOrd="0" destOrd="0" presId="urn:microsoft.com/office/officeart/2018/2/layout/IconVerticalSolidList"/>
    <dgm:cxn modelId="{C2B3DA58-D0C5-419C-8876-3D48AE531389}" type="presParOf" srcId="{0DD6467E-C7A5-4695-8BC5-9F95ECAE65B9}" destId="{0533EF72-EC09-4C0B-980C-DFB928785226}" srcOrd="1" destOrd="0" presId="urn:microsoft.com/office/officeart/2018/2/layout/IconVerticalSolidList"/>
    <dgm:cxn modelId="{64EEC048-49B4-4B82-AF68-0D4ADCF19FDE}" type="presParOf" srcId="{0DD6467E-C7A5-4695-8BC5-9F95ECAE65B9}" destId="{B54F8471-931C-4AE8-8E9A-E510F5E38B9E}" srcOrd="2" destOrd="0" presId="urn:microsoft.com/office/officeart/2018/2/layout/IconVerticalSolidList"/>
    <dgm:cxn modelId="{A82F3676-1507-47AA-A098-BF0D6D57A2F4}" type="presParOf" srcId="{0DD6467E-C7A5-4695-8BC5-9F95ECAE65B9}" destId="{692F3808-6266-4EFB-AE32-1BF8D716F2C8}" srcOrd="3" destOrd="0" presId="urn:microsoft.com/office/officeart/2018/2/layout/IconVerticalSolidList"/>
    <dgm:cxn modelId="{FFDC2DD4-D855-42B1-BBA0-8B3CC1C305A7}" type="presParOf" srcId="{1BE11AE0-FC1B-47AE-9D7A-BBF4771E6E53}" destId="{43338486-BA90-4276-923B-FC04B1DA3F8E}" srcOrd="1" destOrd="0" presId="urn:microsoft.com/office/officeart/2018/2/layout/IconVerticalSolidList"/>
    <dgm:cxn modelId="{1BEB3536-BDAF-48F2-97D8-1557CD8B00FC}" type="presParOf" srcId="{1BE11AE0-FC1B-47AE-9D7A-BBF4771E6E53}" destId="{7A3CC419-CFC1-4E55-8A76-06BA859913B5}" srcOrd="2" destOrd="0" presId="urn:microsoft.com/office/officeart/2018/2/layout/IconVerticalSolidList"/>
    <dgm:cxn modelId="{86FF6116-CA29-4C60-9355-551464B00C76}" type="presParOf" srcId="{7A3CC419-CFC1-4E55-8A76-06BA859913B5}" destId="{45CFAD21-56DF-4211-B068-F536739B78DA}" srcOrd="0" destOrd="0" presId="urn:microsoft.com/office/officeart/2018/2/layout/IconVerticalSolidList"/>
    <dgm:cxn modelId="{02877B4B-72C9-4629-9B56-DC24AEF53F10}" type="presParOf" srcId="{7A3CC419-CFC1-4E55-8A76-06BA859913B5}" destId="{7E88F0B9-076A-4B3A-B847-57F9E86EEFD7}" srcOrd="1" destOrd="0" presId="urn:microsoft.com/office/officeart/2018/2/layout/IconVerticalSolidList"/>
    <dgm:cxn modelId="{20F63454-963F-4CD6-A702-21ACCD7DC916}" type="presParOf" srcId="{7A3CC419-CFC1-4E55-8A76-06BA859913B5}" destId="{C14199EE-88F1-4789-B9C8-8A98A10230B0}" srcOrd="2" destOrd="0" presId="urn:microsoft.com/office/officeart/2018/2/layout/IconVerticalSolidList"/>
    <dgm:cxn modelId="{173B0B6C-360F-4BA1-8FAB-5886B6AC5BDE}" type="presParOf" srcId="{7A3CC419-CFC1-4E55-8A76-06BA859913B5}" destId="{98EB5563-EDCE-4251-88D5-A85E52F21E5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B2AE265-0143-4558-96FC-17F8A453BFF9}" type="doc">
      <dgm:prSet loTypeId="urn:microsoft.com/office/officeart/2018/2/layout/IconVerticalSolidList" loCatId="icon" qsTypeId="urn:microsoft.com/office/officeart/2005/8/quickstyle/simple1#3" qsCatId="simple" csTypeId="urn:microsoft.com/office/officeart/2005/8/colors/accent2_2#2" csCatId="accent2" phldr="1"/>
      <dgm:spPr/>
      <dgm:t>
        <a:bodyPr/>
        <a:lstStyle/>
        <a:p>
          <a:endParaRPr lang="en-US"/>
        </a:p>
      </dgm:t>
    </dgm:pt>
    <dgm:pt modelId="{056029A8-0B6C-4B73-A4A8-FEE0746F63E2}">
      <dgm:prSet/>
      <dgm:spPr/>
      <dgm:t>
        <a:bodyPr/>
        <a:lstStyle/>
        <a:p>
          <a:r>
            <a:rPr lang="en-US"/>
            <a:t>Models are labeled as Legacy and remain in the legacy state for at least 30 days before being moved to the deprecated state. During this notification period, you can create new deployments as you prepare for deprecation and retirement.</a:t>
          </a:r>
        </a:p>
      </dgm:t>
    </dgm:pt>
    <dgm:pt modelId="{103F82D3-FD0E-4126-9807-B994DA932407}" type="parTrans" cxnId="{1D570C93-9BA6-46A3-934F-CA26D1DF442F}">
      <dgm:prSet/>
      <dgm:spPr/>
      <dgm:t>
        <a:bodyPr/>
        <a:lstStyle/>
        <a:p>
          <a:endParaRPr lang="en-US"/>
        </a:p>
      </dgm:t>
    </dgm:pt>
    <dgm:pt modelId="{C5F52070-3F3B-471A-B845-249397A8F914}" type="sibTrans" cxnId="{1D570C93-9BA6-46A3-934F-CA26D1DF442F}">
      <dgm:prSet/>
      <dgm:spPr/>
      <dgm:t>
        <a:bodyPr/>
        <a:lstStyle/>
        <a:p>
          <a:endParaRPr lang="en-US"/>
        </a:p>
      </dgm:t>
    </dgm:pt>
    <dgm:pt modelId="{6293BA84-35E9-462C-9EDA-3A1D583904F9}">
      <dgm:prSet/>
      <dgm:spPr/>
      <dgm:t>
        <a:bodyPr/>
        <a:lstStyle/>
        <a:p>
          <a:r>
            <a:rPr lang="en-US"/>
            <a:t>Models are labeled Deprecated and remain in the deprecated state for at least 90 days before being moved to the retired state. During this notification period, you can migrate any existing deployments to newer or replacement models.</a:t>
          </a:r>
        </a:p>
      </dgm:t>
    </dgm:pt>
    <dgm:pt modelId="{46AFDB43-0C83-4FF4-B1FF-9E635631150A}" type="parTrans" cxnId="{CCC40550-D2AE-42E3-B665-71E46797BEE3}">
      <dgm:prSet/>
      <dgm:spPr/>
      <dgm:t>
        <a:bodyPr/>
        <a:lstStyle/>
        <a:p>
          <a:endParaRPr lang="en-US"/>
        </a:p>
      </dgm:t>
    </dgm:pt>
    <dgm:pt modelId="{3729E37F-FB07-4204-BEEE-3931E6B9A900}" type="sibTrans" cxnId="{CCC40550-D2AE-42E3-B665-71E46797BEE3}">
      <dgm:prSet/>
      <dgm:spPr/>
      <dgm:t>
        <a:bodyPr/>
        <a:lstStyle/>
        <a:p>
          <a:endParaRPr lang="en-US"/>
        </a:p>
      </dgm:t>
    </dgm:pt>
    <dgm:pt modelId="{07B200BE-1B4E-4CCB-BB58-79FA04B3A8CC}" type="pres">
      <dgm:prSet presAssocID="{0B2AE265-0143-4558-96FC-17F8A453BFF9}" presName="root" presStyleCnt="0">
        <dgm:presLayoutVars>
          <dgm:dir/>
          <dgm:resizeHandles val="exact"/>
        </dgm:presLayoutVars>
      </dgm:prSet>
      <dgm:spPr/>
    </dgm:pt>
    <dgm:pt modelId="{6C2931F9-0304-457E-9503-38CE622F6E16}" type="pres">
      <dgm:prSet presAssocID="{056029A8-0B6C-4B73-A4A8-FEE0746F63E2}" presName="compNode" presStyleCnt="0"/>
      <dgm:spPr/>
    </dgm:pt>
    <dgm:pt modelId="{8E37B94F-6368-4671-BEEE-ACDE3A1DD020}" type="pres">
      <dgm:prSet presAssocID="{056029A8-0B6C-4B73-A4A8-FEE0746F63E2}" presName="bgRect" presStyleLbl="bgShp" presStyleIdx="0" presStyleCnt="2"/>
      <dgm:spPr/>
    </dgm:pt>
    <dgm:pt modelId="{F41AF78D-FAEE-4717-B2FF-FB21E53D98D0}" type="pres">
      <dgm:prSet presAssocID="{056029A8-0B6C-4B73-A4A8-FEE0746F63E2}"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orbidden"/>
        </a:ext>
      </dgm:extLst>
    </dgm:pt>
    <dgm:pt modelId="{CED0953C-C99B-428D-8BE8-2E3F56CDAE97}" type="pres">
      <dgm:prSet presAssocID="{056029A8-0B6C-4B73-A4A8-FEE0746F63E2}" presName="spaceRect" presStyleCnt="0"/>
      <dgm:spPr/>
    </dgm:pt>
    <dgm:pt modelId="{4CBB80B9-36FC-4DBF-9344-C1DAA5C34367}" type="pres">
      <dgm:prSet presAssocID="{056029A8-0B6C-4B73-A4A8-FEE0746F63E2}" presName="parTx" presStyleLbl="revTx" presStyleIdx="0" presStyleCnt="2">
        <dgm:presLayoutVars>
          <dgm:chMax val="0"/>
          <dgm:chPref val="0"/>
        </dgm:presLayoutVars>
      </dgm:prSet>
      <dgm:spPr/>
    </dgm:pt>
    <dgm:pt modelId="{D1BAB832-D068-465F-B244-29453DFD5877}" type="pres">
      <dgm:prSet presAssocID="{C5F52070-3F3B-471A-B845-249397A8F914}" presName="sibTrans" presStyleCnt="0"/>
      <dgm:spPr/>
    </dgm:pt>
    <dgm:pt modelId="{1D83495E-AB1E-467B-AF66-5EAE39ADB6B8}" type="pres">
      <dgm:prSet presAssocID="{6293BA84-35E9-462C-9EDA-3A1D583904F9}" presName="compNode" presStyleCnt="0"/>
      <dgm:spPr/>
    </dgm:pt>
    <dgm:pt modelId="{A62BEF4C-C565-4118-BA97-2DC9E38D7599}" type="pres">
      <dgm:prSet presAssocID="{6293BA84-35E9-462C-9EDA-3A1D583904F9}" presName="bgRect" presStyleLbl="bgShp" presStyleIdx="1" presStyleCnt="2"/>
      <dgm:spPr/>
    </dgm:pt>
    <dgm:pt modelId="{E4B9E83D-4E54-48EF-BF6A-A0B75E39C5AA}" type="pres">
      <dgm:prSet presAssocID="{6293BA84-35E9-462C-9EDA-3A1D583904F9}"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Graph with Downward Trend"/>
        </a:ext>
      </dgm:extLst>
    </dgm:pt>
    <dgm:pt modelId="{74816069-6295-4F04-87C5-1A4726576A76}" type="pres">
      <dgm:prSet presAssocID="{6293BA84-35E9-462C-9EDA-3A1D583904F9}" presName="spaceRect" presStyleCnt="0"/>
      <dgm:spPr/>
    </dgm:pt>
    <dgm:pt modelId="{D38CF444-1646-45C8-BD5A-40EDAF7A7936}" type="pres">
      <dgm:prSet presAssocID="{6293BA84-35E9-462C-9EDA-3A1D583904F9}" presName="parTx" presStyleLbl="revTx" presStyleIdx="1" presStyleCnt="2">
        <dgm:presLayoutVars>
          <dgm:chMax val="0"/>
          <dgm:chPref val="0"/>
        </dgm:presLayoutVars>
      </dgm:prSet>
      <dgm:spPr/>
    </dgm:pt>
  </dgm:ptLst>
  <dgm:cxnLst>
    <dgm:cxn modelId="{CCC40550-D2AE-42E3-B665-71E46797BEE3}" srcId="{0B2AE265-0143-4558-96FC-17F8A453BFF9}" destId="{6293BA84-35E9-462C-9EDA-3A1D583904F9}" srcOrd="1" destOrd="0" parTransId="{46AFDB43-0C83-4FF4-B1FF-9E635631150A}" sibTransId="{3729E37F-FB07-4204-BEEE-3931E6B9A900}"/>
    <dgm:cxn modelId="{57DBD27C-51AA-4E35-B904-8968CA1100FA}" type="presOf" srcId="{6293BA84-35E9-462C-9EDA-3A1D583904F9}" destId="{D38CF444-1646-45C8-BD5A-40EDAF7A7936}" srcOrd="0" destOrd="0" presId="urn:microsoft.com/office/officeart/2018/2/layout/IconVerticalSolidList"/>
    <dgm:cxn modelId="{1D570C93-9BA6-46A3-934F-CA26D1DF442F}" srcId="{0B2AE265-0143-4558-96FC-17F8A453BFF9}" destId="{056029A8-0B6C-4B73-A4A8-FEE0746F63E2}" srcOrd="0" destOrd="0" parTransId="{103F82D3-FD0E-4126-9807-B994DA932407}" sibTransId="{C5F52070-3F3B-471A-B845-249397A8F914}"/>
    <dgm:cxn modelId="{83ED5AC9-EF42-410F-B954-5D46CE422AE3}" type="presOf" srcId="{056029A8-0B6C-4B73-A4A8-FEE0746F63E2}" destId="{4CBB80B9-36FC-4DBF-9344-C1DAA5C34367}" srcOrd="0" destOrd="0" presId="urn:microsoft.com/office/officeart/2018/2/layout/IconVerticalSolidList"/>
    <dgm:cxn modelId="{D4DD44FC-7D3F-4484-A7FD-77C6BD59E9C8}" type="presOf" srcId="{0B2AE265-0143-4558-96FC-17F8A453BFF9}" destId="{07B200BE-1B4E-4CCB-BB58-79FA04B3A8CC}" srcOrd="0" destOrd="0" presId="urn:microsoft.com/office/officeart/2018/2/layout/IconVerticalSolidList"/>
    <dgm:cxn modelId="{6FC3F8E8-0FA1-4682-9874-1B333126D5AB}" type="presParOf" srcId="{07B200BE-1B4E-4CCB-BB58-79FA04B3A8CC}" destId="{6C2931F9-0304-457E-9503-38CE622F6E16}" srcOrd="0" destOrd="0" presId="urn:microsoft.com/office/officeart/2018/2/layout/IconVerticalSolidList"/>
    <dgm:cxn modelId="{7D48C23F-1B0F-43D2-908D-D9B480DB888D}" type="presParOf" srcId="{6C2931F9-0304-457E-9503-38CE622F6E16}" destId="{8E37B94F-6368-4671-BEEE-ACDE3A1DD020}" srcOrd="0" destOrd="0" presId="urn:microsoft.com/office/officeart/2018/2/layout/IconVerticalSolidList"/>
    <dgm:cxn modelId="{7840B5F1-47B2-4623-B0AC-4B97220B92B9}" type="presParOf" srcId="{6C2931F9-0304-457E-9503-38CE622F6E16}" destId="{F41AF78D-FAEE-4717-B2FF-FB21E53D98D0}" srcOrd="1" destOrd="0" presId="urn:microsoft.com/office/officeart/2018/2/layout/IconVerticalSolidList"/>
    <dgm:cxn modelId="{7E8FB57F-FC93-4BE7-9ADA-020CC5D7E7FD}" type="presParOf" srcId="{6C2931F9-0304-457E-9503-38CE622F6E16}" destId="{CED0953C-C99B-428D-8BE8-2E3F56CDAE97}" srcOrd="2" destOrd="0" presId="urn:microsoft.com/office/officeart/2018/2/layout/IconVerticalSolidList"/>
    <dgm:cxn modelId="{4A4C2B0B-635A-4404-9EEC-3DF7E26FEABB}" type="presParOf" srcId="{6C2931F9-0304-457E-9503-38CE622F6E16}" destId="{4CBB80B9-36FC-4DBF-9344-C1DAA5C34367}" srcOrd="3" destOrd="0" presId="urn:microsoft.com/office/officeart/2018/2/layout/IconVerticalSolidList"/>
    <dgm:cxn modelId="{70FA752D-8E7D-4983-8386-3B183766F44C}" type="presParOf" srcId="{07B200BE-1B4E-4CCB-BB58-79FA04B3A8CC}" destId="{D1BAB832-D068-465F-B244-29453DFD5877}" srcOrd="1" destOrd="0" presId="urn:microsoft.com/office/officeart/2018/2/layout/IconVerticalSolidList"/>
    <dgm:cxn modelId="{26082E36-E440-43B0-89F8-05E86B033EA5}" type="presParOf" srcId="{07B200BE-1B4E-4CCB-BB58-79FA04B3A8CC}" destId="{1D83495E-AB1E-467B-AF66-5EAE39ADB6B8}" srcOrd="2" destOrd="0" presId="urn:microsoft.com/office/officeart/2018/2/layout/IconVerticalSolidList"/>
    <dgm:cxn modelId="{D95FB5BA-DC4F-412A-869E-D26C811390E2}" type="presParOf" srcId="{1D83495E-AB1E-467B-AF66-5EAE39ADB6B8}" destId="{A62BEF4C-C565-4118-BA97-2DC9E38D7599}" srcOrd="0" destOrd="0" presId="urn:microsoft.com/office/officeart/2018/2/layout/IconVerticalSolidList"/>
    <dgm:cxn modelId="{F3C6E3AA-55F4-42FC-87DA-C17BDBDF606B}" type="presParOf" srcId="{1D83495E-AB1E-467B-AF66-5EAE39ADB6B8}" destId="{E4B9E83D-4E54-48EF-BF6A-A0B75E39C5AA}" srcOrd="1" destOrd="0" presId="urn:microsoft.com/office/officeart/2018/2/layout/IconVerticalSolidList"/>
    <dgm:cxn modelId="{51E872CD-1C10-4FC8-9103-764779D19C04}" type="presParOf" srcId="{1D83495E-AB1E-467B-AF66-5EAE39ADB6B8}" destId="{74816069-6295-4F04-87C5-1A4726576A76}" srcOrd="2" destOrd="0" presId="urn:microsoft.com/office/officeart/2018/2/layout/IconVerticalSolidList"/>
    <dgm:cxn modelId="{47B90885-E15D-452B-92FF-8959DDB20A6D}" type="presParOf" srcId="{1D83495E-AB1E-467B-AF66-5EAE39ADB6B8}" destId="{D38CF444-1646-45C8-BD5A-40EDAF7A79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5BB6C7E-BC35-417E-8401-B8EFBCA48B6D}" type="doc">
      <dgm:prSet loTypeId="urn:microsoft.com/office/officeart/2005/8/layout/vList2" loCatId="list" qsTypeId="urn:microsoft.com/office/officeart/2005/8/quickstyle/simple5#1" qsCatId="simple" csTypeId="urn:microsoft.com/office/officeart/2005/8/colors/accent1_2#1" csCatId="accent1" phldr="1"/>
      <dgm:spPr/>
      <dgm:t>
        <a:bodyPr/>
        <a:lstStyle/>
        <a:p>
          <a:endParaRPr lang="en-US"/>
        </a:p>
      </dgm:t>
    </dgm:pt>
    <dgm:pt modelId="{B9CB48A1-E3E0-4A50-B86A-FDBC5C74B2D9}">
      <dgm:prSet/>
      <dgm:spPr>
        <a:solidFill>
          <a:srgbClr val="CDCFD5"/>
        </a:solidFill>
      </dgm:spPr>
      <dgm:t>
        <a:bodyPr/>
        <a:lstStyle/>
        <a:p>
          <a:r>
            <a:rPr lang="en-US">
              <a:solidFill>
                <a:schemeClr val="tx1"/>
              </a:solidFill>
            </a:rPr>
            <a:t>At model launch, we programmatically designate a "not sooner than" retirement date.</a:t>
          </a:r>
        </a:p>
      </dgm:t>
    </dgm:pt>
    <dgm:pt modelId="{2B5F44F8-ECA7-434B-ABC7-C9DBA5B7C84E}" type="parTrans" cxnId="{FA7BDC4D-5563-4FAB-B643-2F21341FC7F7}">
      <dgm:prSet/>
      <dgm:spPr/>
      <dgm:t>
        <a:bodyPr/>
        <a:lstStyle/>
        <a:p>
          <a:endParaRPr lang="en-US">
            <a:solidFill>
              <a:schemeClr val="tx1"/>
            </a:solidFill>
          </a:endParaRPr>
        </a:p>
      </dgm:t>
    </dgm:pt>
    <dgm:pt modelId="{FD6830FF-E43D-4BCE-9B59-4FED06AFD267}" type="sibTrans" cxnId="{FA7BDC4D-5563-4FAB-B643-2F21341FC7F7}">
      <dgm:prSet/>
      <dgm:spPr/>
      <dgm:t>
        <a:bodyPr/>
        <a:lstStyle/>
        <a:p>
          <a:endParaRPr lang="en-US">
            <a:solidFill>
              <a:schemeClr val="tx1"/>
            </a:solidFill>
          </a:endParaRPr>
        </a:p>
      </dgm:t>
    </dgm:pt>
    <dgm:pt modelId="{85279B20-12AB-405F-B23D-F570E63DD8D9}">
      <dgm:prSet/>
      <dgm:spPr>
        <a:solidFill>
          <a:srgbClr val="CDCFD5"/>
        </a:solidFill>
      </dgm:spPr>
      <dgm:t>
        <a:bodyPr/>
        <a:lstStyle/>
        <a:p>
          <a:r>
            <a:rPr lang="en-US">
              <a:solidFill>
                <a:schemeClr val="tx1"/>
              </a:solidFill>
            </a:rPr>
            <a:t>At least 60 days notice before model retirement for Generally Available (GA) models.</a:t>
          </a:r>
        </a:p>
      </dgm:t>
    </dgm:pt>
    <dgm:pt modelId="{744BC7FF-4CE2-44B0-B507-A4A185A08A9F}" type="parTrans" cxnId="{FC6A0678-06A2-4D8D-8350-3D3F50997628}">
      <dgm:prSet/>
      <dgm:spPr/>
      <dgm:t>
        <a:bodyPr/>
        <a:lstStyle/>
        <a:p>
          <a:endParaRPr lang="en-US">
            <a:solidFill>
              <a:schemeClr val="tx1"/>
            </a:solidFill>
          </a:endParaRPr>
        </a:p>
      </dgm:t>
    </dgm:pt>
    <dgm:pt modelId="{905747DB-040D-42AD-8012-3BDC8ED3EDD7}" type="sibTrans" cxnId="{FC6A0678-06A2-4D8D-8350-3D3F50997628}">
      <dgm:prSet/>
      <dgm:spPr/>
      <dgm:t>
        <a:bodyPr/>
        <a:lstStyle/>
        <a:p>
          <a:endParaRPr lang="en-US">
            <a:solidFill>
              <a:schemeClr val="tx1"/>
            </a:solidFill>
          </a:endParaRPr>
        </a:p>
      </dgm:t>
    </dgm:pt>
    <dgm:pt modelId="{E348D996-1C08-474F-BCCF-F362730A4D1F}">
      <dgm:prSet/>
      <dgm:spPr>
        <a:solidFill>
          <a:srgbClr val="CDCFD5"/>
        </a:solidFill>
      </dgm:spPr>
      <dgm:t>
        <a:bodyPr/>
        <a:lstStyle/>
        <a:p>
          <a:r>
            <a:rPr lang="en-US">
              <a:solidFill>
                <a:schemeClr val="tx1"/>
              </a:solidFill>
            </a:rPr>
            <a:t>At least 30 days notice before preview model version upgrades.</a:t>
          </a:r>
        </a:p>
      </dgm:t>
    </dgm:pt>
    <dgm:pt modelId="{2EC217BE-7DE1-4A37-B8E6-6C92C4165D81}" type="parTrans" cxnId="{583C45FA-0657-4AE2-A3BA-0965D3D5A160}">
      <dgm:prSet/>
      <dgm:spPr/>
      <dgm:t>
        <a:bodyPr/>
        <a:lstStyle/>
        <a:p>
          <a:endParaRPr lang="en-US">
            <a:solidFill>
              <a:schemeClr val="tx1"/>
            </a:solidFill>
          </a:endParaRPr>
        </a:p>
      </dgm:t>
    </dgm:pt>
    <dgm:pt modelId="{76325B18-FA23-439C-9CAF-C1BF1735610F}" type="sibTrans" cxnId="{583C45FA-0657-4AE2-A3BA-0965D3D5A160}">
      <dgm:prSet/>
      <dgm:spPr/>
      <dgm:t>
        <a:bodyPr/>
        <a:lstStyle/>
        <a:p>
          <a:endParaRPr lang="en-US">
            <a:solidFill>
              <a:schemeClr val="tx1"/>
            </a:solidFill>
          </a:endParaRPr>
        </a:p>
      </dgm:t>
    </dgm:pt>
    <dgm:pt modelId="{669B1C99-9F7D-40C9-8122-F862BFD04862}">
      <dgm:prSet/>
      <dgm:spPr/>
      <dgm:t>
        <a:bodyPr/>
        <a:lstStyle/>
        <a:p>
          <a:r>
            <a:rPr lang="en-US">
              <a:solidFill>
                <a:schemeClr val="tx1"/>
              </a:solidFill>
            </a:rPr>
            <a:t>For preview models, it's 90-120 days from launch</a:t>
          </a:r>
        </a:p>
      </dgm:t>
    </dgm:pt>
    <dgm:pt modelId="{CF0518EC-38DE-4487-A201-D0DF49A9D3E2}" type="sibTrans" cxnId="{6A97CBBC-F5AA-4852-86A8-78E059C67AD3}">
      <dgm:prSet/>
      <dgm:spPr/>
      <dgm:t>
        <a:bodyPr/>
        <a:lstStyle/>
        <a:p>
          <a:endParaRPr lang="en-US">
            <a:solidFill>
              <a:schemeClr val="tx1"/>
            </a:solidFill>
          </a:endParaRPr>
        </a:p>
      </dgm:t>
    </dgm:pt>
    <dgm:pt modelId="{C6E1FB32-85BE-46CB-B16D-8AB79B15A84F}" type="parTrans" cxnId="{6A97CBBC-F5AA-4852-86A8-78E059C67AD3}">
      <dgm:prSet/>
      <dgm:spPr/>
      <dgm:t>
        <a:bodyPr/>
        <a:lstStyle/>
        <a:p>
          <a:endParaRPr lang="en-US">
            <a:solidFill>
              <a:schemeClr val="tx1"/>
            </a:solidFill>
          </a:endParaRPr>
        </a:p>
      </dgm:t>
    </dgm:pt>
    <dgm:pt modelId="{5CB9542C-245D-4485-AC55-37EEFB1D5F1D}">
      <dgm:prSet/>
      <dgm:spPr/>
      <dgm:t>
        <a:bodyPr/>
        <a:lstStyle/>
        <a:p>
          <a:r>
            <a:rPr lang="en-US">
              <a:solidFill>
                <a:schemeClr val="tx1"/>
              </a:solidFill>
            </a:rPr>
            <a:t>For generally available (GA) models, it's 365 days from launch.</a:t>
          </a:r>
        </a:p>
      </dgm:t>
    </dgm:pt>
    <dgm:pt modelId="{A2FC0EB1-39E3-4F6C-9A55-DABACA8E0C7D}" type="sibTrans" cxnId="{52D21B45-27D5-4052-B944-3E8147EA96A6}">
      <dgm:prSet/>
      <dgm:spPr/>
      <dgm:t>
        <a:bodyPr/>
        <a:lstStyle/>
        <a:p>
          <a:endParaRPr lang="en-US">
            <a:solidFill>
              <a:schemeClr val="tx1"/>
            </a:solidFill>
          </a:endParaRPr>
        </a:p>
      </dgm:t>
    </dgm:pt>
    <dgm:pt modelId="{16B66F9B-5813-4D1B-B824-A9367D94409B}" type="parTrans" cxnId="{52D21B45-27D5-4052-B944-3E8147EA96A6}">
      <dgm:prSet/>
      <dgm:spPr/>
      <dgm:t>
        <a:bodyPr/>
        <a:lstStyle/>
        <a:p>
          <a:endParaRPr lang="en-US">
            <a:solidFill>
              <a:schemeClr val="tx1"/>
            </a:solidFill>
          </a:endParaRPr>
        </a:p>
      </dgm:t>
    </dgm:pt>
    <dgm:pt modelId="{37B53152-F24C-417B-9F31-981E9AD64530}" type="pres">
      <dgm:prSet presAssocID="{D5BB6C7E-BC35-417E-8401-B8EFBCA48B6D}" presName="linear" presStyleCnt="0">
        <dgm:presLayoutVars>
          <dgm:animLvl val="lvl"/>
          <dgm:resizeHandles val="exact"/>
        </dgm:presLayoutVars>
      </dgm:prSet>
      <dgm:spPr/>
    </dgm:pt>
    <dgm:pt modelId="{51623A57-DB82-49EA-B434-F24C8803FC67}" type="pres">
      <dgm:prSet presAssocID="{B9CB48A1-E3E0-4A50-B86A-FDBC5C74B2D9}" presName="parentText" presStyleLbl="node1" presStyleIdx="0" presStyleCnt="3">
        <dgm:presLayoutVars>
          <dgm:chMax val="0"/>
          <dgm:bulletEnabled val="1"/>
        </dgm:presLayoutVars>
      </dgm:prSet>
      <dgm:spPr/>
    </dgm:pt>
    <dgm:pt modelId="{82459C17-7294-45A2-95ED-C565822D7D41}" type="pres">
      <dgm:prSet presAssocID="{B9CB48A1-E3E0-4A50-B86A-FDBC5C74B2D9}" presName="childText" presStyleLbl="revTx" presStyleIdx="0" presStyleCnt="1">
        <dgm:presLayoutVars>
          <dgm:bulletEnabled val="1"/>
        </dgm:presLayoutVars>
      </dgm:prSet>
      <dgm:spPr/>
    </dgm:pt>
    <dgm:pt modelId="{7F1E7106-5902-4B9D-A63A-EA37741E8601}" type="pres">
      <dgm:prSet presAssocID="{85279B20-12AB-405F-B23D-F570E63DD8D9}" presName="parentText" presStyleLbl="node1" presStyleIdx="1" presStyleCnt="3">
        <dgm:presLayoutVars>
          <dgm:chMax val="0"/>
          <dgm:bulletEnabled val="1"/>
        </dgm:presLayoutVars>
      </dgm:prSet>
      <dgm:spPr/>
    </dgm:pt>
    <dgm:pt modelId="{D6E8FB36-D273-48B9-B725-C4011E35CDA5}" type="pres">
      <dgm:prSet presAssocID="{905747DB-040D-42AD-8012-3BDC8ED3EDD7}" presName="spacer" presStyleCnt="0"/>
      <dgm:spPr/>
    </dgm:pt>
    <dgm:pt modelId="{F56C1687-8252-467A-84A4-6558B831EC99}" type="pres">
      <dgm:prSet presAssocID="{E348D996-1C08-474F-BCCF-F362730A4D1F}" presName="parentText" presStyleLbl="node1" presStyleIdx="2" presStyleCnt="3">
        <dgm:presLayoutVars>
          <dgm:chMax val="0"/>
          <dgm:bulletEnabled val="1"/>
        </dgm:presLayoutVars>
      </dgm:prSet>
      <dgm:spPr/>
    </dgm:pt>
  </dgm:ptLst>
  <dgm:cxnLst>
    <dgm:cxn modelId="{9035A819-7A3A-4DB8-A81C-E8A48DA62497}" type="presOf" srcId="{5CB9542C-245D-4485-AC55-37EEFB1D5F1D}" destId="{82459C17-7294-45A2-95ED-C565822D7D41}" srcOrd="0" destOrd="1" presId="urn:microsoft.com/office/officeart/2005/8/layout/vList2"/>
    <dgm:cxn modelId="{6A7D2229-2D8E-4E44-80DF-28F5BB7B0FA8}" type="presOf" srcId="{E348D996-1C08-474F-BCCF-F362730A4D1F}" destId="{F56C1687-8252-467A-84A4-6558B831EC99}" srcOrd="0" destOrd="0" presId="urn:microsoft.com/office/officeart/2005/8/layout/vList2"/>
    <dgm:cxn modelId="{5E737437-0F2B-4688-B1A9-578690B65CC9}" type="presOf" srcId="{B9CB48A1-E3E0-4A50-B86A-FDBC5C74B2D9}" destId="{51623A57-DB82-49EA-B434-F24C8803FC67}" srcOrd="0" destOrd="0" presId="urn:microsoft.com/office/officeart/2005/8/layout/vList2"/>
    <dgm:cxn modelId="{52D21B45-27D5-4052-B944-3E8147EA96A6}" srcId="{B9CB48A1-E3E0-4A50-B86A-FDBC5C74B2D9}" destId="{5CB9542C-245D-4485-AC55-37EEFB1D5F1D}" srcOrd="1" destOrd="0" parTransId="{16B66F9B-5813-4D1B-B824-A9367D94409B}" sibTransId="{A2FC0EB1-39E3-4F6C-9A55-DABACA8E0C7D}"/>
    <dgm:cxn modelId="{FA7BDC4D-5563-4FAB-B643-2F21341FC7F7}" srcId="{D5BB6C7E-BC35-417E-8401-B8EFBCA48B6D}" destId="{B9CB48A1-E3E0-4A50-B86A-FDBC5C74B2D9}" srcOrd="0" destOrd="0" parTransId="{2B5F44F8-ECA7-434B-ABC7-C9DBA5B7C84E}" sibTransId="{FD6830FF-E43D-4BCE-9B59-4FED06AFD267}"/>
    <dgm:cxn modelId="{FC6A0678-06A2-4D8D-8350-3D3F50997628}" srcId="{D5BB6C7E-BC35-417E-8401-B8EFBCA48B6D}" destId="{85279B20-12AB-405F-B23D-F570E63DD8D9}" srcOrd="1" destOrd="0" parTransId="{744BC7FF-4CE2-44B0-B507-A4A185A08A9F}" sibTransId="{905747DB-040D-42AD-8012-3BDC8ED3EDD7}"/>
    <dgm:cxn modelId="{0425C89F-3C09-49EE-937F-5D2BF23DDDD1}" type="presOf" srcId="{669B1C99-9F7D-40C9-8122-F862BFD04862}" destId="{82459C17-7294-45A2-95ED-C565822D7D41}" srcOrd="0" destOrd="0" presId="urn:microsoft.com/office/officeart/2005/8/layout/vList2"/>
    <dgm:cxn modelId="{6B296DB0-172A-49C8-A175-F49685B491A5}" type="presOf" srcId="{D5BB6C7E-BC35-417E-8401-B8EFBCA48B6D}" destId="{37B53152-F24C-417B-9F31-981E9AD64530}" srcOrd="0" destOrd="0" presId="urn:microsoft.com/office/officeart/2005/8/layout/vList2"/>
    <dgm:cxn modelId="{6A97CBBC-F5AA-4852-86A8-78E059C67AD3}" srcId="{B9CB48A1-E3E0-4A50-B86A-FDBC5C74B2D9}" destId="{669B1C99-9F7D-40C9-8122-F862BFD04862}" srcOrd="0" destOrd="0" parTransId="{C6E1FB32-85BE-46CB-B16D-8AB79B15A84F}" sibTransId="{CF0518EC-38DE-4487-A201-D0DF49A9D3E2}"/>
    <dgm:cxn modelId="{BFAB92D3-E552-49C5-B1F8-8457CE3C37D8}" type="presOf" srcId="{85279B20-12AB-405F-B23D-F570E63DD8D9}" destId="{7F1E7106-5902-4B9D-A63A-EA37741E8601}" srcOrd="0" destOrd="0" presId="urn:microsoft.com/office/officeart/2005/8/layout/vList2"/>
    <dgm:cxn modelId="{583C45FA-0657-4AE2-A3BA-0965D3D5A160}" srcId="{D5BB6C7E-BC35-417E-8401-B8EFBCA48B6D}" destId="{E348D996-1C08-474F-BCCF-F362730A4D1F}" srcOrd="2" destOrd="0" parTransId="{2EC217BE-7DE1-4A37-B8E6-6C92C4165D81}" sibTransId="{76325B18-FA23-439C-9CAF-C1BF1735610F}"/>
    <dgm:cxn modelId="{43E30298-F00D-451D-9524-A41208AE14B4}" type="presParOf" srcId="{37B53152-F24C-417B-9F31-981E9AD64530}" destId="{51623A57-DB82-49EA-B434-F24C8803FC67}" srcOrd="0" destOrd="0" presId="urn:microsoft.com/office/officeart/2005/8/layout/vList2"/>
    <dgm:cxn modelId="{818E54B9-2402-482B-9FA0-7E1DA8954145}" type="presParOf" srcId="{37B53152-F24C-417B-9F31-981E9AD64530}" destId="{82459C17-7294-45A2-95ED-C565822D7D41}" srcOrd="1" destOrd="0" presId="urn:microsoft.com/office/officeart/2005/8/layout/vList2"/>
    <dgm:cxn modelId="{23F5D21B-5F85-48D4-8EA5-2D0ABB4F48C2}" type="presParOf" srcId="{37B53152-F24C-417B-9F31-981E9AD64530}" destId="{7F1E7106-5902-4B9D-A63A-EA37741E8601}" srcOrd="2" destOrd="0" presId="urn:microsoft.com/office/officeart/2005/8/layout/vList2"/>
    <dgm:cxn modelId="{0C8FB92E-A558-424D-B9EA-BA906756D0F2}" type="presParOf" srcId="{37B53152-F24C-417B-9F31-981E9AD64530}" destId="{D6E8FB36-D273-48B9-B725-C4011E35CDA5}" srcOrd="3" destOrd="0" presId="urn:microsoft.com/office/officeart/2005/8/layout/vList2"/>
    <dgm:cxn modelId="{4DE4575C-EA01-4562-A64C-1760E74C4411}" type="presParOf" srcId="{37B53152-F24C-417B-9F31-981E9AD64530}" destId="{F56C1687-8252-467A-84A4-6558B831EC99}"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04F130E-C792-4C71-9877-F4C530202A02}" type="doc">
      <dgm:prSet loTypeId="urn:microsoft.com/office/officeart/2018/2/layout/IconVerticalSolidList" loCatId="icon" qsTypeId="urn:microsoft.com/office/officeart/2005/8/quickstyle/simple1#4" qsCatId="simple" csTypeId="urn:microsoft.com/office/officeart/2005/8/colors/accent2_2#3" csCatId="accent2" phldr="1"/>
      <dgm:spPr/>
      <dgm:t>
        <a:bodyPr/>
        <a:lstStyle/>
        <a:p>
          <a:endParaRPr lang="en-US"/>
        </a:p>
      </dgm:t>
    </dgm:pt>
    <dgm:pt modelId="{9EFBE74C-1864-4F8B-B209-46EAD31D9ADE}">
      <dgm:prSet/>
      <dgm:spPr/>
      <dgm:t>
        <a:bodyPr/>
        <a:lstStyle/>
        <a:p>
          <a:r>
            <a:rPr lang="en-US" b="1"/>
            <a:t>Azure Resource Health</a:t>
          </a:r>
          <a:r>
            <a:rPr lang="en-US"/>
            <a:t>: Anyone with reader permissions or higher can see Azure health alerts and configure personalized alerts via email and SMS. See </a:t>
          </a:r>
          <a:r>
            <a:rPr lang="en-US">
              <a:hlinkClick xmlns:r="http://schemas.openxmlformats.org/officeDocument/2006/relationships" r:id="rId1"/>
            </a:rPr>
            <a:t>Create Service Health alerts</a:t>
          </a:r>
          <a:r>
            <a:rPr lang="en-US"/>
            <a:t>.</a:t>
          </a:r>
        </a:p>
      </dgm:t>
    </dgm:pt>
    <dgm:pt modelId="{00093E7E-847C-4CA7-80A7-550A481C41D6}" type="parTrans" cxnId="{396C5D4A-56CE-424B-8776-9D02EE934FA5}">
      <dgm:prSet/>
      <dgm:spPr/>
      <dgm:t>
        <a:bodyPr/>
        <a:lstStyle/>
        <a:p>
          <a:endParaRPr lang="en-US"/>
        </a:p>
      </dgm:t>
    </dgm:pt>
    <dgm:pt modelId="{9732377B-402B-4CCE-88E1-C070D571FD44}" type="sibTrans" cxnId="{396C5D4A-56CE-424B-8776-9D02EE934FA5}">
      <dgm:prSet/>
      <dgm:spPr/>
      <dgm:t>
        <a:bodyPr/>
        <a:lstStyle/>
        <a:p>
          <a:endParaRPr lang="en-US"/>
        </a:p>
      </dgm:t>
    </dgm:pt>
    <dgm:pt modelId="{012B3B32-90E9-4FB9-9339-056DA2DEFB60}">
      <dgm:prSet/>
      <dgm:spPr/>
      <dgm:t>
        <a:bodyPr/>
        <a:lstStyle/>
        <a:p>
          <a:r>
            <a:rPr lang="en-US" b="1"/>
            <a:t>Email</a:t>
          </a:r>
          <a:r>
            <a:rPr lang="en-US"/>
            <a:t>: Email notifications are automatically sent to subscription owners. However, any individual with reader permissions can configure their own alerts by following the previous guidance.</a:t>
          </a:r>
        </a:p>
      </dgm:t>
    </dgm:pt>
    <dgm:pt modelId="{253486C5-9EBB-43A3-8FCF-9C73031FC736}" type="parTrans" cxnId="{C19A561F-29C8-48C2-9A0D-29D4011E62E1}">
      <dgm:prSet/>
      <dgm:spPr/>
      <dgm:t>
        <a:bodyPr/>
        <a:lstStyle/>
        <a:p>
          <a:endParaRPr lang="en-US"/>
        </a:p>
      </dgm:t>
    </dgm:pt>
    <dgm:pt modelId="{CC4FC418-EB74-44F1-B018-56784E7EC0C9}" type="sibTrans" cxnId="{C19A561F-29C8-48C2-9A0D-29D4011E62E1}">
      <dgm:prSet/>
      <dgm:spPr/>
      <dgm:t>
        <a:bodyPr/>
        <a:lstStyle/>
        <a:p>
          <a:endParaRPr lang="en-US"/>
        </a:p>
      </dgm:t>
    </dgm:pt>
    <dgm:pt modelId="{FEDCCCB6-FFFA-43E9-9DAA-209B2C0E41AF}" type="pres">
      <dgm:prSet presAssocID="{704F130E-C792-4C71-9877-F4C530202A02}" presName="root" presStyleCnt="0">
        <dgm:presLayoutVars>
          <dgm:dir/>
          <dgm:resizeHandles val="exact"/>
        </dgm:presLayoutVars>
      </dgm:prSet>
      <dgm:spPr/>
    </dgm:pt>
    <dgm:pt modelId="{B9159B40-8AB3-4D91-8D9A-D86B7B3E67AC}" type="pres">
      <dgm:prSet presAssocID="{9EFBE74C-1864-4F8B-B209-46EAD31D9ADE}" presName="compNode" presStyleCnt="0"/>
      <dgm:spPr/>
    </dgm:pt>
    <dgm:pt modelId="{32D89BFB-E9A2-43DC-A644-C2842BAF69C8}" type="pres">
      <dgm:prSet presAssocID="{9EFBE74C-1864-4F8B-B209-46EAD31D9ADE}" presName="bgRect" presStyleLbl="bgShp" presStyleIdx="0" presStyleCnt="2"/>
      <dgm:spPr>
        <a:solidFill>
          <a:srgbClr val="CDCFD5"/>
        </a:solidFill>
      </dgm:spPr>
    </dgm:pt>
    <dgm:pt modelId="{7A5091D5-F4DF-4063-83B4-A2C896B3300A}" type="pres">
      <dgm:prSet presAssocID="{9EFBE74C-1864-4F8B-B209-46EAD31D9AD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A54E6367-9D3B-4BBE-9BAF-14EA68D09882}" type="pres">
      <dgm:prSet presAssocID="{9EFBE74C-1864-4F8B-B209-46EAD31D9ADE}" presName="spaceRect" presStyleCnt="0"/>
      <dgm:spPr/>
    </dgm:pt>
    <dgm:pt modelId="{66D4DBE5-3964-4696-8389-8EB1457CAFB1}" type="pres">
      <dgm:prSet presAssocID="{9EFBE74C-1864-4F8B-B209-46EAD31D9ADE}" presName="parTx" presStyleLbl="revTx" presStyleIdx="0" presStyleCnt="2">
        <dgm:presLayoutVars>
          <dgm:chMax val="0"/>
          <dgm:chPref val="0"/>
        </dgm:presLayoutVars>
      </dgm:prSet>
      <dgm:spPr/>
    </dgm:pt>
    <dgm:pt modelId="{B1B66E78-5DFB-4E46-AF7D-1CECC70FC037}" type="pres">
      <dgm:prSet presAssocID="{9732377B-402B-4CCE-88E1-C070D571FD44}" presName="sibTrans" presStyleCnt="0"/>
      <dgm:spPr/>
    </dgm:pt>
    <dgm:pt modelId="{7055E31C-59C8-4284-9EE9-A8E58FCDC53D}" type="pres">
      <dgm:prSet presAssocID="{012B3B32-90E9-4FB9-9339-056DA2DEFB60}" presName="compNode" presStyleCnt="0"/>
      <dgm:spPr/>
    </dgm:pt>
    <dgm:pt modelId="{FF4B356F-90E6-4F34-9A23-3F645F23DCDF}" type="pres">
      <dgm:prSet presAssocID="{012B3B32-90E9-4FB9-9339-056DA2DEFB60}" presName="bgRect" presStyleLbl="bgShp" presStyleIdx="1" presStyleCnt="2"/>
      <dgm:spPr/>
    </dgm:pt>
    <dgm:pt modelId="{81B7D0D8-98AD-432D-8BDC-F79CB80DE116}" type="pres">
      <dgm:prSet presAssocID="{012B3B32-90E9-4FB9-9339-056DA2DEFB60}"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Envelope"/>
        </a:ext>
      </dgm:extLst>
    </dgm:pt>
    <dgm:pt modelId="{2F833F46-F6F8-41A6-9646-87B283327895}" type="pres">
      <dgm:prSet presAssocID="{012B3B32-90E9-4FB9-9339-056DA2DEFB60}" presName="spaceRect" presStyleCnt="0"/>
      <dgm:spPr/>
    </dgm:pt>
    <dgm:pt modelId="{72D5BDFA-BB07-4F0A-ADC6-4F78CDB27B29}" type="pres">
      <dgm:prSet presAssocID="{012B3B32-90E9-4FB9-9339-056DA2DEFB60}" presName="parTx" presStyleLbl="revTx" presStyleIdx="1" presStyleCnt="2">
        <dgm:presLayoutVars>
          <dgm:chMax val="0"/>
          <dgm:chPref val="0"/>
        </dgm:presLayoutVars>
      </dgm:prSet>
      <dgm:spPr/>
    </dgm:pt>
  </dgm:ptLst>
  <dgm:cxnLst>
    <dgm:cxn modelId="{A5B32B06-F46F-4BF6-BF92-D42C6723288E}" type="presOf" srcId="{9EFBE74C-1864-4F8B-B209-46EAD31D9ADE}" destId="{66D4DBE5-3964-4696-8389-8EB1457CAFB1}" srcOrd="0" destOrd="0" presId="urn:microsoft.com/office/officeart/2018/2/layout/IconVerticalSolidList"/>
    <dgm:cxn modelId="{85EE581C-1F43-4DF8-BDD1-C95FCF2071F7}" type="presOf" srcId="{704F130E-C792-4C71-9877-F4C530202A02}" destId="{FEDCCCB6-FFFA-43E9-9DAA-209B2C0E41AF}" srcOrd="0" destOrd="0" presId="urn:microsoft.com/office/officeart/2018/2/layout/IconVerticalSolidList"/>
    <dgm:cxn modelId="{C19A561F-29C8-48C2-9A0D-29D4011E62E1}" srcId="{704F130E-C792-4C71-9877-F4C530202A02}" destId="{012B3B32-90E9-4FB9-9339-056DA2DEFB60}" srcOrd="1" destOrd="0" parTransId="{253486C5-9EBB-43A3-8FCF-9C73031FC736}" sibTransId="{CC4FC418-EB74-44F1-B018-56784E7EC0C9}"/>
    <dgm:cxn modelId="{396C5D4A-56CE-424B-8776-9D02EE934FA5}" srcId="{704F130E-C792-4C71-9877-F4C530202A02}" destId="{9EFBE74C-1864-4F8B-B209-46EAD31D9ADE}" srcOrd="0" destOrd="0" parTransId="{00093E7E-847C-4CA7-80A7-550A481C41D6}" sibTransId="{9732377B-402B-4CCE-88E1-C070D571FD44}"/>
    <dgm:cxn modelId="{0CEC9CAA-9B54-4BAA-A29A-2FE6AFF048F7}" type="presOf" srcId="{012B3B32-90E9-4FB9-9339-056DA2DEFB60}" destId="{72D5BDFA-BB07-4F0A-ADC6-4F78CDB27B29}" srcOrd="0" destOrd="0" presId="urn:microsoft.com/office/officeart/2018/2/layout/IconVerticalSolidList"/>
    <dgm:cxn modelId="{825B3433-349A-4E62-9B20-FA7C8BFE4369}" type="presParOf" srcId="{FEDCCCB6-FFFA-43E9-9DAA-209B2C0E41AF}" destId="{B9159B40-8AB3-4D91-8D9A-D86B7B3E67AC}" srcOrd="0" destOrd="0" presId="urn:microsoft.com/office/officeart/2018/2/layout/IconVerticalSolidList"/>
    <dgm:cxn modelId="{6B15F83C-D238-41E7-9EA7-EEF41AD9CBB3}" type="presParOf" srcId="{B9159B40-8AB3-4D91-8D9A-D86B7B3E67AC}" destId="{32D89BFB-E9A2-43DC-A644-C2842BAF69C8}" srcOrd="0" destOrd="0" presId="urn:microsoft.com/office/officeart/2018/2/layout/IconVerticalSolidList"/>
    <dgm:cxn modelId="{51326025-F822-4F11-BDB6-99139D5BFBE1}" type="presParOf" srcId="{B9159B40-8AB3-4D91-8D9A-D86B7B3E67AC}" destId="{7A5091D5-F4DF-4063-83B4-A2C896B3300A}" srcOrd="1" destOrd="0" presId="urn:microsoft.com/office/officeart/2018/2/layout/IconVerticalSolidList"/>
    <dgm:cxn modelId="{1DE3F692-F684-42B5-A2C6-D19DDA863374}" type="presParOf" srcId="{B9159B40-8AB3-4D91-8D9A-D86B7B3E67AC}" destId="{A54E6367-9D3B-4BBE-9BAF-14EA68D09882}" srcOrd="2" destOrd="0" presId="urn:microsoft.com/office/officeart/2018/2/layout/IconVerticalSolidList"/>
    <dgm:cxn modelId="{A9DE5380-E6DB-4CED-94C7-61EB76224103}" type="presParOf" srcId="{B9159B40-8AB3-4D91-8D9A-D86B7B3E67AC}" destId="{66D4DBE5-3964-4696-8389-8EB1457CAFB1}" srcOrd="3" destOrd="0" presId="urn:microsoft.com/office/officeart/2018/2/layout/IconVerticalSolidList"/>
    <dgm:cxn modelId="{8162453E-2038-4E81-B07E-4F87BFE3DBBF}" type="presParOf" srcId="{FEDCCCB6-FFFA-43E9-9DAA-209B2C0E41AF}" destId="{B1B66E78-5DFB-4E46-AF7D-1CECC70FC037}" srcOrd="1" destOrd="0" presId="urn:microsoft.com/office/officeart/2018/2/layout/IconVerticalSolidList"/>
    <dgm:cxn modelId="{FD38D8AA-6932-49FC-98A5-7803F0C41877}" type="presParOf" srcId="{FEDCCCB6-FFFA-43E9-9DAA-209B2C0E41AF}" destId="{7055E31C-59C8-4284-9EE9-A8E58FCDC53D}" srcOrd="2" destOrd="0" presId="urn:microsoft.com/office/officeart/2018/2/layout/IconVerticalSolidList"/>
    <dgm:cxn modelId="{8EA320B1-4C4F-4119-A53F-EBBAD482C734}" type="presParOf" srcId="{7055E31C-59C8-4284-9EE9-A8E58FCDC53D}" destId="{FF4B356F-90E6-4F34-9A23-3F645F23DCDF}" srcOrd="0" destOrd="0" presId="urn:microsoft.com/office/officeart/2018/2/layout/IconVerticalSolidList"/>
    <dgm:cxn modelId="{38C9392C-43C8-4CC9-AA9E-E0EC87F6C7CB}" type="presParOf" srcId="{7055E31C-59C8-4284-9EE9-A8E58FCDC53D}" destId="{81B7D0D8-98AD-432D-8BDC-F79CB80DE116}" srcOrd="1" destOrd="0" presId="urn:microsoft.com/office/officeart/2018/2/layout/IconVerticalSolidList"/>
    <dgm:cxn modelId="{D4C8DBB2-7429-42A0-872D-2A4A5517C6C3}" type="presParOf" srcId="{7055E31C-59C8-4284-9EE9-A8E58FCDC53D}" destId="{2F833F46-F6F8-41A6-9646-87B283327895}" srcOrd="2" destOrd="0" presId="urn:microsoft.com/office/officeart/2018/2/layout/IconVerticalSolidList"/>
    <dgm:cxn modelId="{5F7935B0-2C93-4F78-BCA8-2B8F0559BAC9}" type="presParOf" srcId="{7055E31C-59C8-4284-9EE9-A8E58FCDC53D}" destId="{72D5BDFA-BB07-4F0A-ADC6-4F78CDB27B2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421C1E5-A6AB-46D2-A7AE-E6CAFCAAFC1A}" type="doc">
      <dgm:prSet loTypeId="urn:microsoft.com/office/officeart/2018/2/layout/IconVerticalSolidList" loCatId="icon" qsTypeId="urn:microsoft.com/office/officeart/2005/8/quickstyle/simple1#5" qsCatId="simple" csTypeId="urn:microsoft.com/office/officeart/2005/8/colors/accent2_2#4" csCatId="accent2" phldr="1"/>
      <dgm:spPr/>
      <dgm:t>
        <a:bodyPr/>
        <a:lstStyle/>
        <a:p>
          <a:endParaRPr lang="en-US"/>
        </a:p>
      </dgm:t>
    </dgm:pt>
    <dgm:pt modelId="{81DA8144-03E1-4AC6-B817-AF2CFFD6E1F4}">
      <dgm:prSet/>
      <dgm:spPr/>
      <dgm:t>
        <a:bodyPr/>
        <a:lstStyle/>
        <a:p>
          <a:r>
            <a:rPr lang="en-US"/>
            <a:t>Not all model version combinations will be available in all regions.</a:t>
          </a:r>
        </a:p>
      </dgm:t>
    </dgm:pt>
    <dgm:pt modelId="{04452E5A-6B28-42BD-8B7B-F05F3FB1714B}" type="parTrans" cxnId="{A6AA8F71-1C89-4947-AADC-5FAB86A7D7F0}">
      <dgm:prSet/>
      <dgm:spPr/>
      <dgm:t>
        <a:bodyPr/>
        <a:lstStyle/>
        <a:p>
          <a:endParaRPr lang="en-US"/>
        </a:p>
      </dgm:t>
    </dgm:pt>
    <dgm:pt modelId="{47F2CDD6-6707-4C1D-8D1C-C97F59015815}" type="sibTrans" cxnId="{A6AA8F71-1C89-4947-AADC-5FAB86A7D7F0}">
      <dgm:prSet/>
      <dgm:spPr/>
      <dgm:t>
        <a:bodyPr/>
        <a:lstStyle/>
        <a:p>
          <a:endParaRPr lang="en-US"/>
        </a:p>
      </dgm:t>
    </dgm:pt>
    <dgm:pt modelId="{5A9F6316-76C4-4978-BB07-183136CC8AFE}">
      <dgm:prSet/>
      <dgm:spPr/>
      <dgm:t>
        <a:bodyPr/>
        <a:lstStyle/>
        <a:p>
          <a:r>
            <a:rPr lang="en-US"/>
            <a:t>Model version N and N+1 might not always be available in the same region.</a:t>
          </a:r>
        </a:p>
      </dgm:t>
    </dgm:pt>
    <dgm:pt modelId="{67AD0E80-E048-4098-8A3D-D8317C2463E0}" type="parTrans" cxnId="{D59E5B5B-88DB-4F3C-87DA-0A58DE8C61A8}">
      <dgm:prSet/>
      <dgm:spPr/>
      <dgm:t>
        <a:bodyPr/>
        <a:lstStyle/>
        <a:p>
          <a:endParaRPr lang="en-US"/>
        </a:p>
      </dgm:t>
    </dgm:pt>
    <dgm:pt modelId="{CB3B1105-F1FD-4FC3-B6BD-4564916AD469}" type="sibTrans" cxnId="{D59E5B5B-88DB-4F3C-87DA-0A58DE8C61A8}">
      <dgm:prSet/>
      <dgm:spPr/>
      <dgm:t>
        <a:bodyPr/>
        <a:lstStyle/>
        <a:p>
          <a:endParaRPr lang="en-US"/>
        </a:p>
      </dgm:t>
    </dgm:pt>
    <dgm:pt modelId="{B2FCFE7F-FDBF-4742-88DC-57E3AF6D0FCA}">
      <dgm:prSet/>
      <dgm:spPr/>
      <dgm:t>
        <a:bodyPr/>
        <a:lstStyle/>
        <a:p>
          <a:r>
            <a:rPr lang="en-US"/>
            <a:t>A GA model version N might upgrade to a future model version N+X in some regions based on capacity limitations, and without the new model version N+X separately being available to test in the same region. The new model version will be available to test in other regions before any upgrades are scheduled.</a:t>
          </a:r>
        </a:p>
      </dgm:t>
    </dgm:pt>
    <dgm:pt modelId="{EACAD4FC-5EED-4C59-81EE-1D538101BABA}" type="parTrans" cxnId="{CC7F4CC1-CB77-4853-BF25-85ABEE97EA24}">
      <dgm:prSet/>
      <dgm:spPr/>
      <dgm:t>
        <a:bodyPr/>
        <a:lstStyle/>
        <a:p>
          <a:endParaRPr lang="en-US"/>
        </a:p>
      </dgm:t>
    </dgm:pt>
    <dgm:pt modelId="{7BA78718-516B-4B02-B9BC-03DCEE88E4CD}" type="sibTrans" cxnId="{CC7F4CC1-CB77-4853-BF25-85ABEE97EA24}">
      <dgm:prSet/>
      <dgm:spPr/>
      <dgm:t>
        <a:bodyPr/>
        <a:lstStyle/>
        <a:p>
          <a:endParaRPr lang="en-US"/>
        </a:p>
      </dgm:t>
    </dgm:pt>
    <dgm:pt modelId="{49C8D5B1-0C15-48B6-A263-EE69B7CDF8C2}" type="pres">
      <dgm:prSet presAssocID="{0421C1E5-A6AB-46D2-A7AE-E6CAFCAAFC1A}" presName="root" presStyleCnt="0">
        <dgm:presLayoutVars>
          <dgm:dir/>
          <dgm:resizeHandles val="exact"/>
        </dgm:presLayoutVars>
      </dgm:prSet>
      <dgm:spPr/>
    </dgm:pt>
    <dgm:pt modelId="{B8DBF8A9-8454-47B7-90AD-1FB4A469A560}" type="pres">
      <dgm:prSet presAssocID="{81DA8144-03E1-4AC6-B817-AF2CFFD6E1F4}" presName="compNode" presStyleCnt="0"/>
      <dgm:spPr/>
    </dgm:pt>
    <dgm:pt modelId="{D309D0F5-C0D8-4F7B-9483-67B2848038E8}" type="pres">
      <dgm:prSet presAssocID="{81DA8144-03E1-4AC6-B817-AF2CFFD6E1F4}" presName="bgRect" presStyleLbl="bgShp" presStyleIdx="0" presStyleCnt="3"/>
      <dgm:spPr/>
    </dgm:pt>
    <dgm:pt modelId="{0A53AEF7-F1BA-4DF8-9E25-44B881EF8A9A}" type="pres">
      <dgm:prSet presAssocID="{81DA8144-03E1-4AC6-B817-AF2CFFD6E1F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Web Design"/>
        </a:ext>
      </dgm:extLst>
    </dgm:pt>
    <dgm:pt modelId="{32038B11-54CD-4346-8BC2-CF5653C833AE}" type="pres">
      <dgm:prSet presAssocID="{81DA8144-03E1-4AC6-B817-AF2CFFD6E1F4}" presName="spaceRect" presStyleCnt="0"/>
      <dgm:spPr/>
    </dgm:pt>
    <dgm:pt modelId="{39BABCA9-D18F-47F3-9D09-10898D6D0B66}" type="pres">
      <dgm:prSet presAssocID="{81DA8144-03E1-4AC6-B817-AF2CFFD6E1F4}" presName="parTx" presStyleLbl="revTx" presStyleIdx="0" presStyleCnt="3">
        <dgm:presLayoutVars>
          <dgm:chMax val="0"/>
          <dgm:chPref val="0"/>
        </dgm:presLayoutVars>
      </dgm:prSet>
      <dgm:spPr/>
    </dgm:pt>
    <dgm:pt modelId="{ED0723F2-CA9A-404C-A03D-E306EC369C2B}" type="pres">
      <dgm:prSet presAssocID="{47F2CDD6-6707-4C1D-8D1C-C97F59015815}" presName="sibTrans" presStyleCnt="0"/>
      <dgm:spPr/>
    </dgm:pt>
    <dgm:pt modelId="{BED3C6C7-30A3-4B64-B065-4DFB742332AB}" type="pres">
      <dgm:prSet presAssocID="{5A9F6316-76C4-4978-BB07-183136CC8AFE}" presName="compNode" presStyleCnt="0"/>
      <dgm:spPr/>
    </dgm:pt>
    <dgm:pt modelId="{20515932-C874-45A7-B633-F2889A9DDBF6}" type="pres">
      <dgm:prSet presAssocID="{5A9F6316-76C4-4978-BB07-183136CC8AFE}" presName="bgRect" presStyleLbl="bgShp" presStyleIdx="1" presStyleCnt="3"/>
      <dgm:spPr/>
    </dgm:pt>
    <dgm:pt modelId="{0896E2B0-8814-47E1-A0D3-BC7BA22A94B6}" type="pres">
      <dgm:prSet presAssocID="{5A9F6316-76C4-4978-BB07-183136CC8AF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FFB9726C-F0BE-4638-ACFB-778673681BBB}" type="pres">
      <dgm:prSet presAssocID="{5A9F6316-76C4-4978-BB07-183136CC8AFE}" presName="spaceRect" presStyleCnt="0"/>
      <dgm:spPr/>
    </dgm:pt>
    <dgm:pt modelId="{D94503FA-961D-45D4-B714-BE2CCF130187}" type="pres">
      <dgm:prSet presAssocID="{5A9F6316-76C4-4978-BB07-183136CC8AFE}" presName="parTx" presStyleLbl="revTx" presStyleIdx="1" presStyleCnt="3">
        <dgm:presLayoutVars>
          <dgm:chMax val="0"/>
          <dgm:chPref val="0"/>
        </dgm:presLayoutVars>
      </dgm:prSet>
      <dgm:spPr/>
    </dgm:pt>
    <dgm:pt modelId="{BBAF8FA2-22E5-41AC-8BB2-5FC77DBA86BB}" type="pres">
      <dgm:prSet presAssocID="{CB3B1105-F1FD-4FC3-B6BD-4564916AD469}" presName="sibTrans" presStyleCnt="0"/>
      <dgm:spPr/>
    </dgm:pt>
    <dgm:pt modelId="{83DF520D-4F6D-46F9-924A-CEACC51D88D1}" type="pres">
      <dgm:prSet presAssocID="{B2FCFE7F-FDBF-4742-88DC-57E3AF6D0FCA}" presName="compNode" presStyleCnt="0"/>
      <dgm:spPr/>
    </dgm:pt>
    <dgm:pt modelId="{089ADB93-BAB0-415E-B3B4-82106DA5264B}" type="pres">
      <dgm:prSet presAssocID="{B2FCFE7F-FDBF-4742-88DC-57E3AF6D0FCA}" presName="bgRect" presStyleLbl="bgShp" presStyleIdx="2" presStyleCnt="3"/>
      <dgm:spPr/>
    </dgm:pt>
    <dgm:pt modelId="{AE38787E-87C5-46F5-8023-18A5E2A4E90D}" type="pres">
      <dgm:prSet presAssocID="{B2FCFE7F-FDBF-4742-88DC-57E3AF6D0FCA}"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ears"/>
        </a:ext>
      </dgm:extLst>
    </dgm:pt>
    <dgm:pt modelId="{79C0D0EA-0B26-4B36-AF79-DC8171364716}" type="pres">
      <dgm:prSet presAssocID="{B2FCFE7F-FDBF-4742-88DC-57E3AF6D0FCA}" presName="spaceRect" presStyleCnt="0"/>
      <dgm:spPr/>
    </dgm:pt>
    <dgm:pt modelId="{D5BA435C-FB16-4F17-BCC4-64C63FB10EBF}" type="pres">
      <dgm:prSet presAssocID="{B2FCFE7F-FDBF-4742-88DC-57E3AF6D0FCA}" presName="parTx" presStyleLbl="revTx" presStyleIdx="2" presStyleCnt="3">
        <dgm:presLayoutVars>
          <dgm:chMax val="0"/>
          <dgm:chPref val="0"/>
        </dgm:presLayoutVars>
      </dgm:prSet>
      <dgm:spPr/>
    </dgm:pt>
  </dgm:ptLst>
  <dgm:cxnLst>
    <dgm:cxn modelId="{D13B3632-8666-4691-A3B2-0AB0EC3EFE7D}" type="presOf" srcId="{0421C1E5-A6AB-46D2-A7AE-E6CAFCAAFC1A}" destId="{49C8D5B1-0C15-48B6-A263-EE69B7CDF8C2}" srcOrd="0" destOrd="0" presId="urn:microsoft.com/office/officeart/2018/2/layout/IconVerticalSolidList"/>
    <dgm:cxn modelId="{D59E5B5B-88DB-4F3C-87DA-0A58DE8C61A8}" srcId="{0421C1E5-A6AB-46D2-A7AE-E6CAFCAAFC1A}" destId="{5A9F6316-76C4-4978-BB07-183136CC8AFE}" srcOrd="1" destOrd="0" parTransId="{67AD0E80-E048-4098-8A3D-D8317C2463E0}" sibTransId="{CB3B1105-F1FD-4FC3-B6BD-4564916AD469}"/>
    <dgm:cxn modelId="{A6AA8F71-1C89-4947-AADC-5FAB86A7D7F0}" srcId="{0421C1E5-A6AB-46D2-A7AE-E6CAFCAAFC1A}" destId="{81DA8144-03E1-4AC6-B817-AF2CFFD6E1F4}" srcOrd="0" destOrd="0" parTransId="{04452E5A-6B28-42BD-8B7B-F05F3FB1714B}" sibTransId="{47F2CDD6-6707-4C1D-8D1C-C97F59015815}"/>
    <dgm:cxn modelId="{FD710797-6B65-4534-9269-8FEE537C377E}" type="presOf" srcId="{5A9F6316-76C4-4978-BB07-183136CC8AFE}" destId="{D94503FA-961D-45D4-B714-BE2CCF130187}" srcOrd="0" destOrd="0" presId="urn:microsoft.com/office/officeart/2018/2/layout/IconVerticalSolidList"/>
    <dgm:cxn modelId="{CC7F4CC1-CB77-4853-BF25-85ABEE97EA24}" srcId="{0421C1E5-A6AB-46D2-A7AE-E6CAFCAAFC1A}" destId="{B2FCFE7F-FDBF-4742-88DC-57E3AF6D0FCA}" srcOrd="2" destOrd="0" parTransId="{EACAD4FC-5EED-4C59-81EE-1D538101BABA}" sibTransId="{7BA78718-516B-4B02-B9BC-03DCEE88E4CD}"/>
    <dgm:cxn modelId="{CA1736C8-E124-4649-BC04-5915B202AA6B}" type="presOf" srcId="{B2FCFE7F-FDBF-4742-88DC-57E3AF6D0FCA}" destId="{D5BA435C-FB16-4F17-BCC4-64C63FB10EBF}" srcOrd="0" destOrd="0" presId="urn:microsoft.com/office/officeart/2018/2/layout/IconVerticalSolidList"/>
    <dgm:cxn modelId="{7FDF88F8-853B-406A-877E-DE3D4F7A3835}" type="presOf" srcId="{81DA8144-03E1-4AC6-B817-AF2CFFD6E1F4}" destId="{39BABCA9-D18F-47F3-9D09-10898D6D0B66}" srcOrd="0" destOrd="0" presId="urn:microsoft.com/office/officeart/2018/2/layout/IconVerticalSolidList"/>
    <dgm:cxn modelId="{23FF88E0-9F7F-4EEB-84AC-0DDD42E6FEF8}" type="presParOf" srcId="{49C8D5B1-0C15-48B6-A263-EE69B7CDF8C2}" destId="{B8DBF8A9-8454-47B7-90AD-1FB4A469A560}" srcOrd="0" destOrd="0" presId="urn:microsoft.com/office/officeart/2018/2/layout/IconVerticalSolidList"/>
    <dgm:cxn modelId="{8BC27A4C-BBFF-4D93-BF56-A4090C9D0D90}" type="presParOf" srcId="{B8DBF8A9-8454-47B7-90AD-1FB4A469A560}" destId="{D309D0F5-C0D8-4F7B-9483-67B2848038E8}" srcOrd="0" destOrd="0" presId="urn:microsoft.com/office/officeart/2018/2/layout/IconVerticalSolidList"/>
    <dgm:cxn modelId="{BCA728F6-BF85-4452-8C75-73BED35CBC3B}" type="presParOf" srcId="{B8DBF8A9-8454-47B7-90AD-1FB4A469A560}" destId="{0A53AEF7-F1BA-4DF8-9E25-44B881EF8A9A}" srcOrd="1" destOrd="0" presId="urn:microsoft.com/office/officeart/2018/2/layout/IconVerticalSolidList"/>
    <dgm:cxn modelId="{05228EDC-43A9-482C-9965-7F58D049EE90}" type="presParOf" srcId="{B8DBF8A9-8454-47B7-90AD-1FB4A469A560}" destId="{32038B11-54CD-4346-8BC2-CF5653C833AE}" srcOrd="2" destOrd="0" presId="urn:microsoft.com/office/officeart/2018/2/layout/IconVerticalSolidList"/>
    <dgm:cxn modelId="{8F367CFF-7B5B-4AD6-87DF-BA5F13A839A8}" type="presParOf" srcId="{B8DBF8A9-8454-47B7-90AD-1FB4A469A560}" destId="{39BABCA9-D18F-47F3-9D09-10898D6D0B66}" srcOrd="3" destOrd="0" presId="urn:microsoft.com/office/officeart/2018/2/layout/IconVerticalSolidList"/>
    <dgm:cxn modelId="{6672F8D8-50FB-4655-A3D0-176CC43C3F5A}" type="presParOf" srcId="{49C8D5B1-0C15-48B6-A263-EE69B7CDF8C2}" destId="{ED0723F2-CA9A-404C-A03D-E306EC369C2B}" srcOrd="1" destOrd="0" presId="urn:microsoft.com/office/officeart/2018/2/layout/IconVerticalSolidList"/>
    <dgm:cxn modelId="{A53E169E-800B-4F0C-BCD3-C8B09A2CA69E}" type="presParOf" srcId="{49C8D5B1-0C15-48B6-A263-EE69B7CDF8C2}" destId="{BED3C6C7-30A3-4B64-B065-4DFB742332AB}" srcOrd="2" destOrd="0" presId="urn:microsoft.com/office/officeart/2018/2/layout/IconVerticalSolidList"/>
    <dgm:cxn modelId="{3EB677D6-4E5A-41F9-A877-D9CFE4ED8EF9}" type="presParOf" srcId="{BED3C6C7-30A3-4B64-B065-4DFB742332AB}" destId="{20515932-C874-45A7-B633-F2889A9DDBF6}" srcOrd="0" destOrd="0" presId="urn:microsoft.com/office/officeart/2018/2/layout/IconVerticalSolidList"/>
    <dgm:cxn modelId="{84038C63-37FD-4329-B191-49DB01E32A15}" type="presParOf" srcId="{BED3C6C7-30A3-4B64-B065-4DFB742332AB}" destId="{0896E2B0-8814-47E1-A0D3-BC7BA22A94B6}" srcOrd="1" destOrd="0" presId="urn:microsoft.com/office/officeart/2018/2/layout/IconVerticalSolidList"/>
    <dgm:cxn modelId="{1BE940B5-E5FE-4D7E-9542-C64E24A6F2F5}" type="presParOf" srcId="{BED3C6C7-30A3-4B64-B065-4DFB742332AB}" destId="{FFB9726C-F0BE-4638-ACFB-778673681BBB}" srcOrd="2" destOrd="0" presId="urn:microsoft.com/office/officeart/2018/2/layout/IconVerticalSolidList"/>
    <dgm:cxn modelId="{D30E991B-6236-4432-B8E6-A1FD7FB36EF3}" type="presParOf" srcId="{BED3C6C7-30A3-4B64-B065-4DFB742332AB}" destId="{D94503FA-961D-45D4-B714-BE2CCF130187}" srcOrd="3" destOrd="0" presId="urn:microsoft.com/office/officeart/2018/2/layout/IconVerticalSolidList"/>
    <dgm:cxn modelId="{EEB9713F-5B54-4DFB-B557-15AA6FE2F0FF}" type="presParOf" srcId="{49C8D5B1-0C15-48B6-A263-EE69B7CDF8C2}" destId="{BBAF8FA2-22E5-41AC-8BB2-5FC77DBA86BB}" srcOrd="3" destOrd="0" presId="urn:microsoft.com/office/officeart/2018/2/layout/IconVerticalSolidList"/>
    <dgm:cxn modelId="{CE18E4B6-8199-4347-8B81-F3725DEC7C86}" type="presParOf" srcId="{49C8D5B1-0C15-48B6-A263-EE69B7CDF8C2}" destId="{83DF520D-4F6D-46F9-924A-CEACC51D88D1}" srcOrd="4" destOrd="0" presId="urn:microsoft.com/office/officeart/2018/2/layout/IconVerticalSolidList"/>
    <dgm:cxn modelId="{545018A7-CAF9-45E1-AB52-F185CE74CDD6}" type="presParOf" srcId="{83DF520D-4F6D-46F9-924A-CEACC51D88D1}" destId="{089ADB93-BAB0-415E-B3B4-82106DA5264B}" srcOrd="0" destOrd="0" presId="urn:microsoft.com/office/officeart/2018/2/layout/IconVerticalSolidList"/>
    <dgm:cxn modelId="{F14F1A2C-E81A-42E3-AB31-9E197EE3CC65}" type="presParOf" srcId="{83DF520D-4F6D-46F9-924A-CEACC51D88D1}" destId="{AE38787E-87C5-46F5-8023-18A5E2A4E90D}" srcOrd="1" destOrd="0" presId="urn:microsoft.com/office/officeart/2018/2/layout/IconVerticalSolidList"/>
    <dgm:cxn modelId="{EEC3FE65-FDB2-4F44-A6C4-6BCF3884A28E}" type="presParOf" srcId="{83DF520D-4F6D-46F9-924A-CEACC51D88D1}" destId="{79C0D0EA-0B26-4B36-AF79-DC8171364716}" srcOrd="2" destOrd="0" presId="urn:microsoft.com/office/officeart/2018/2/layout/IconVerticalSolidList"/>
    <dgm:cxn modelId="{7FBB1FE1-929A-4F1E-9518-E2772768C59D}" type="presParOf" srcId="{83DF520D-4F6D-46F9-924A-CEACC51D88D1}" destId="{D5BA435C-FB16-4F17-BCC4-64C63FB10EB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923FEDC-E0C1-478F-9CB4-9BDCA854F145}" type="doc">
      <dgm:prSet loTypeId="urn:microsoft.com/office/officeart/2018/2/layout/IconVerticalSolidList" loCatId="icon" qsTypeId="urn:microsoft.com/office/officeart/2005/8/quickstyle/simple1#6" qsCatId="simple" csTypeId="urn:microsoft.com/office/officeart/2005/8/colors/accent2_2#5" csCatId="accent2" phldr="1"/>
      <dgm:spPr/>
      <dgm:t>
        <a:bodyPr/>
        <a:lstStyle/>
        <a:p>
          <a:endParaRPr lang="en-US"/>
        </a:p>
      </dgm:t>
    </dgm:pt>
    <dgm:pt modelId="{40DEF275-B9C6-4034-976D-1A3DA442D24F}">
      <dgm:prSet/>
      <dgm:spPr/>
      <dgm:t>
        <a:bodyPr/>
        <a:lstStyle/>
        <a:p>
          <a:r>
            <a:rPr lang="en-US"/>
            <a:t>Preview model versions and GA versions of the same model won't always be available to test together in the same region. There will be preview and GA versions available to test in different regions.</a:t>
          </a:r>
        </a:p>
      </dgm:t>
    </dgm:pt>
    <dgm:pt modelId="{3052B005-E284-4797-A170-44AB4B2B2A15}" type="parTrans" cxnId="{A631F980-5E55-4FAC-9CB6-A139030AD8B3}">
      <dgm:prSet/>
      <dgm:spPr/>
      <dgm:t>
        <a:bodyPr/>
        <a:lstStyle/>
        <a:p>
          <a:endParaRPr lang="en-US"/>
        </a:p>
      </dgm:t>
    </dgm:pt>
    <dgm:pt modelId="{6F55EA06-5277-4CDA-BC8C-9E71BE03B9B1}" type="sibTrans" cxnId="{A631F980-5E55-4FAC-9CB6-A139030AD8B3}">
      <dgm:prSet/>
      <dgm:spPr/>
      <dgm:t>
        <a:bodyPr/>
        <a:lstStyle/>
        <a:p>
          <a:endParaRPr lang="en-US"/>
        </a:p>
      </dgm:t>
    </dgm:pt>
    <dgm:pt modelId="{1D003029-0A14-46E8-9D4F-5EE69556A56E}">
      <dgm:prSet/>
      <dgm:spPr/>
      <dgm:t>
        <a:bodyPr/>
        <a:lstStyle/>
        <a:p>
          <a:r>
            <a:rPr lang="en-US"/>
            <a:t>We reserve the right to limit future customers' use of a particular region to balance service quality for existing customers.</a:t>
          </a:r>
        </a:p>
      </dgm:t>
    </dgm:pt>
    <dgm:pt modelId="{5AB76D05-E847-4A36-9EEE-08A62AFC4D6A}" type="parTrans" cxnId="{0F63AFE0-1D30-4CD1-96C9-19BFA1AB1A7C}">
      <dgm:prSet/>
      <dgm:spPr/>
      <dgm:t>
        <a:bodyPr/>
        <a:lstStyle/>
        <a:p>
          <a:endParaRPr lang="en-US"/>
        </a:p>
      </dgm:t>
    </dgm:pt>
    <dgm:pt modelId="{C760985F-E81E-4660-9D7E-CD3B01373A93}" type="sibTrans" cxnId="{0F63AFE0-1D30-4CD1-96C9-19BFA1AB1A7C}">
      <dgm:prSet/>
      <dgm:spPr/>
      <dgm:t>
        <a:bodyPr/>
        <a:lstStyle/>
        <a:p>
          <a:endParaRPr lang="en-US"/>
        </a:p>
      </dgm:t>
    </dgm:pt>
    <dgm:pt modelId="{994C73C4-FC5E-4095-A7DA-5972E42EF096}">
      <dgm:prSet/>
      <dgm:spPr/>
      <dgm:t>
        <a:bodyPr/>
        <a:lstStyle/>
        <a:p>
          <a:r>
            <a:rPr lang="en-US"/>
            <a:t>As always at Microsoft, security is of the utmost importance. If a model or model version is found to have compliance or security issues, we reserve the right to invoke the need to do emergency retirements. Refer to the terms of service for more information.</a:t>
          </a:r>
        </a:p>
      </dgm:t>
    </dgm:pt>
    <dgm:pt modelId="{87C034DB-1833-436A-A0BC-6E01E1EE100C}" type="parTrans" cxnId="{9BE2CC52-07C4-4BEA-B75C-1D5F4C60613F}">
      <dgm:prSet/>
      <dgm:spPr/>
      <dgm:t>
        <a:bodyPr/>
        <a:lstStyle/>
        <a:p>
          <a:endParaRPr lang="en-US"/>
        </a:p>
      </dgm:t>
    </dgm:pt>
    <dgm:pt modelId="{EA8768DC-A791-4A3D-85A1-AA5D135E960B}" type="sibTrans" cxnId="{9BE2CC52-07C4-4BEA-B75C-1D5F4C60613F}">
      <dgm:prSet/>
      <dgm:spPr/>
      <dgm:t>
        <a:bodyPr/>
        <a:lstStyle/>
        <a:p>
          <a:endParaRPr lang="en-US"/>
        </a:p>
      </dgm:t>
    </dgm:pt>
    <dgm:pt modelId="{10950F80-CDC3-45EF-A85A-780B6FF9BEB0}" type="pres">
      <dgm:prSet presAssocID="{E923FEDC-E0C1-478F-9CB4-9BDCA854F145}" presName="root" presStyleCnt="0">
        <dgm:presLayoutVars>
          <dgm:dir/>
          <dgm:resizeHandles val="exact"/>
        </dgm:presLayoutVars>
      </dgm:prSet>
      <dgm:spPr/>
    </dgm:pt>
    <dgm:pt modelId="{FF1D5258-4869-4E98-8B0F-85E6EEB5EF91}" type="pres">
      <dgm:prSet presAssocID="{40DEF275-B9C6-4034-976D-1A3DA442D24F}" presName="compNode" presStyleCnt="0"/>
      <dgm:spPr/>
    </dgm:pt>
    <dgm:pt modelId="{2FE4D887-40C6-404B-A08F-5D2B770EBC25}" type="pres">
      <dgm:prSet presAssocID="{40DEF275-B9C6-4034-976D-1A3DA442D24F}" presName="bgRect" presStyleLbl="bgShp" presStyleIdx="0" presStyleCnt="3"/>
      <dgm:spPr/>
    </dgm:pt>
    <dgm:pt modelId="{645356D3-B6B8-4D6A-BA5F-D83E894EA1E5}" type="pres">
      <dgm:prSet presAssocID="{40DEF275-B9C6-4034-976D-1A3DA442D24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11F80D03-03AD-496E-927F-2FA7A02FCE2E}" type="pres">
      <dgm:prSet presAssocID="{40DEF275-B9C6-4034-976D-1A3DA442D24F}" presName="spaceRect" presStyleCnt="0"/>
      <dgm:spPr/>
    </dgm:pt>
    <dgm:pt modelId="{50C05BCD-7EBB-4F1E-95B5-E8C5EF3885C8}" type="pres">
      <dgm:prSet presAssocID="{40DEF275-B9C6-4034-976D-1A3DA442D24F}" presName="parTx" presStyleLbl="revTx" presStyleIdx="0" presStyleCnt="3">
        <dgm:presLayoutVars>
          <dgm:chMax val="0"/>
          <dgm:chPref val="0"/>
        </dgm:presLayoutVars>
      </dgm:prSet>
      <dgm:spPr/>
    </dgm:pt>
    <dgm:pt modelId="{2E2DA69A-AABB-48A7-A2D8-9AAF5764C7D6}" type="pres">
      <dgm:prSet presAssocID="{6F55EA06-5277-4CDA-BC8C-9E71BE03B9B1}" presName="sibTrans" presStyleCnt="0"/>
      <dgm:spPr/>
    </dgm:pt>
    <dgm:pt modelId="{2ED9EF64-33D3-4C88-A9A6-9EE963C4799D}" type="pres">
      <dgm:prSet presAssocID="{1D003029-0A14-46E8-9D4F-5EE69556A56E}" presName="compNode" presStyleCnt="0"/>
      <dgm:spPr/>
    </dgm:pt>
    <dgm:pt modelId="{9A2F9105-7323-422F-9C8A-A146FD1C8DB7}" type="pres">
      <dgm:prSet presAssocID="{1D003029-0A14-46E8-9D4F-5EE69556A56E}" presName="bgRect" presStyleLbl="bgShp" presStyleIdx="1" presStyleCnt="3"/>
      <dgm:spPr/>
    </dgm:pt>
    <dgm:pt modelId="{8D377C14-7098-4AA5-B6E1-7274B30730F3}" type="pres">
      <dgm:prSet presAssocID="{1D003029-0A14-46E8-9D4F-5EE69556A56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upee"/>
        </a:ext>
      </dgm:extLst>
    </dgm:pt>
    <dgm:pt modelId="{57FF3CA6-C5F4-4F1F-A90D-394A41B179AB}" type="pres">
      <dgm:prSet presAssocID="{1D003029-0A14-46E8-9D4F-5EE69556A56E}" presName="spaceRect" presStyleCnt="0"/>
      <dgm:spPr/>
    </dgm:pt>
    <dgm:pt modelId="{3A75E94E-C3C4-4BBC-ACD6-7FC63E059B99}" type="pres">
      <dgm:prSet presAssocID="{1D003029-0A14-46E8-9D4F-5EE69556A56E}" presName="parTx" presStyleLbl="revTx" presStyleIdx="1" presStyleCnt="3">
        <dgm:presLayoutVars>
          <dgm:chMax val="0"/>
          <dgm:chPref val="0"/>
        </dgm:presLayoutVars>
      </dgm:prSet>
      <dgm:spPr/>
    </dgm:pt>
    <dgm:pt modelId="{715DCDB4-26BE-4C70-8A4D-D6CCF1AA3B67}" type="pres">
      <dgm:prSet presAssocID="{C760985F-E81E-4660-9D7E-CD3B01373A93}" presName="sibTrans" presStyleCnt="0"/>
      <dgm:spPr/>
    </dgm:pt>
    <dgm:pt modelId="{35B54681-1149-4691-A526-9EDD23956455}" type="pres">
      <dgm:prSet presAssocID="{994C73C4-FC5E-4095-A7DA-5972E42EF096}" presName="compNode" presStyleCnt="0"/>
      <dgm:spPr/>
    </dgm:pt>
    <dgm:pt modelId="{636AC9AB-1351-40CF-BA90-4486DC72F93D}" type="pres">
      <dgm:prSet presAssocID="{994C73C4-FC5E-4095-A7DA-5972E42EF096}" presName="bgRect" presStyleLbl="bgShp" presStyleIdx="2" presStyleCnt="3"/>
      <dgm:spPr/>
    </dgm:pt>
    <dgm:pt modelId="{55419ACB-F05F-4C0E-9B6B-F207382C138D}" type="pres">
      <dgm:prSet presAssocID="{994C73C4-FC5E-4095-A7DA-5972E42EF09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cessor"/>
        </a:ext>
      </dgm:extLst>
    </dgm:pt>
    <dgm:pt modelId="{92DAF951-0A7B-4EE0-92A8-BB0F3CF09D76}" type="pres">
      <dgm:prSet presAssocID="{994C73C4-FC5E-4095-A7DA-5972E42EF096}" presName="spaceRect" presStyleCnt="0"/>
      <dgm:spPr/>
    </dgm:pt>
    <dgm:pt modelId="{DA545F22-0467-48E9-8A1D-B66B95F748FD}" type="pres">
      <dgm:prSet presAssocID="{994C73C4-FC5E-4095-A7DA-5972E42EF096}" presName="parTx" presStyleLbl="revTx" presStyleIdx="2" presStyleCnt="3">
        <dgm:presLayoutVars>
          <dgm:chMax val="0"/>
          <dgm:chPref val="0"/>
        </dgm:presLayoutVars>
      </dgm:prSet>
      <dgm:spPr/>
    </dgm:pt>
  </dgm:ptLst>
  <dgm:cxnLst>
    <dgm:cxn modelId="{F326BA71-082A-4A21-B9E2-A76369081549}" type="presOf" srcId="{1D003029-0A14-46E8-9D4F-5EE69556A56E}" destId="{3A75E94E-C3C4-4BBC-ACD6-7FC63E059B99}" srcOrd="0" destOrd="0" presId="urn:microsoft.com/office/officeart/2018/2/layout/IconVerticalSolidList"/>
    <dgm:cxn modelId="{9BE2CC52-07C4-4BEA-B75C-1D5F4C60613F}" srcId="{E923FEDC-E0C1-478F-9CB4-9BDCA854F145}" destId="{994C73C4-FC5E-4095-A7DA-5972E42EF096}" srcOrd="2" destOrd="0" parTransId="{87C034DB-1833-436A-A0BC-6E01E1EE100C}" sibTransId="{EA8768DC-A791-4A3D-85A1-AA5D135E960B}"/>
    <dgm:cxn modelId="{2843F858-0042-41E2-A7C0-F1E29B7C8399}" type="presOf" srcId="{994C73C4-FC5E-4095-A7DA-5972E42EF096}" destId="{DA545F22-0467-48E9-8A1D-B66B95F748FD}" srcOrd="0" destOrd="0" presId="urn:microsoft.com/office/officeart/2018/2/layout/IconVerticalSolidList"/>
    <dgm:cxn modelId="{A631F980-5E55-4FAC-9CB6-A139030AD8B3}" srcId="{E923FEDC-E0C1-478F-9CB4-9BDCA854F145}" destId="{40DEF275-B9C6-4034-976D-1A3DA442D24F}" srcOrd="0" destOrd="0" parTransId="{3052B005-E284-4797-A170-44AB4B2B2A15}" sibTransId="{6F55EA06-5277-4CDA-BC8C-9E71BE03B9B1}"/>
    <dgm:cxn modelId="{D2D1688E-0C6D-4D0C-A6E6-3CF3A49C8D17}" type="presOf" srcId="{E923FEDC-E0C1-478F-9CB4-9BDCA854F145}" destId="{10950F80-CDC3-45EF-A85A-780B6FF9BEB0}" srcOrd="0" destOrd="0" presId="urn:microsoft.com/office/officeart/2018/2/layout/IconVerticalSolidList"/>
    <dgm:cxn modelId="{65573F9A-2642-49EE-88B2-3DC9CBDEE0CE}" type="presOf" srcId="{40DEF275-B9C6-4034-976D-1A3DA442D24F}" destId="{50C05BCD-7EBB-4F1E-95B5-E8C5EF3885C8}" srcOrd="0" destOrd="0" presId="urn:microsoft.com/office/officeart/2018/2/layout/IconVerticalSolidList"/>
    <dgm:cxn modelId="{0F63AFE0-1D30-4CD1-96C9-19BFA1AB1A7C}" srcId="{E923FEDC-E0C1-478F-9CB4-9BDCA854F145}" destId="{1D003029-0A14-46E8-9D4F-5EE69556A56E}" srcOrd="1" destOrd="0" parTransId="{5AB76D05-E847-4A36-9EEE-08A62AFC4D6A}" sibTransId="{C760985F-E81E-4660-9D7E-CD3B01373A93}"/>
    <dgm:cxn modelId="{8C61898B-1FC7-4FFC-9D0A-AD34E7AE2538}" type="presParOf" srcId="{10950F80-CDC3-45EF-A85A-780B6FF9BEB0}" destId="{FF1D5258-4869-4E98-8B0F-85E6EEB5EF91}" srcOrd="0" destOrd="0" presId="urn:microsoft.com/office/officeart/2018/2/layout/IconVerticalSolidList"/>
    <dgm:cxn modelId="{2FDE8686-6710-4DC7-A821-F27337598671}" type="presParOf" srcId="{FF1D5258-4869-4E98-8B0F-85E6EEB5EF91}" destId="{2FE4D887-40C6-404B-A08F-5D2B770EBC25}" srcOrd="0" destOrd="0" presId="urn:microsoft.com/office/officeart/2018/2/layout/IconVerticalSolidList"/>
    <dgm:cxn modelId="{C9AC9903-B400-4257-848C-D84D64922496}" type="presParOf" srcId="{FF1D5258-4869-4E98-8B0F-85E6EEB5EF91}" destId="{645356D3-B6B8-4D6A-BA5F-D83E894EA1E5}" srcOrd="1" destOrd="0" presId="urn:microsoft.com/office/officeart/2018/2/layout/IconVerticalSolidList"/>
    <dgm:cxn modelId="{DDE07496-7303-4357-9047-CCB5DEAA7435}" type="presParOf" srcId="{FF1D5258-4869-4E98-8B0F-85E6EEB5EF91}" destId="{11F80D03-03AD-496E-927F-2FA7A02FCE2E}" srcOrd="2" destOrd="0" presId="urn:microsoft.com/office/officeart/2018/2/layout/IconVerticalSolidList"/>
    <dgm:cxn modelId="{CE841896-C845-453B-A46C-750C97B92B6B}" type="presParOf" srcId="{FF1D5258-4869-4E98-8B0F-85E6EEB5EF91}" destId="{50C05BCD-7EBB-4F1E-95B5-E8C5EF3885C8}" srcOrd="3" destOrd="0" presId="urn:microsoft.com/office/officeart/2018/2/layout/IconVerticalSolidList"/>
    <dgm:cxn modelId="{026D2B6A-55DB-4AA8-B718-132CB573D241}" type="presParOf" srcId="{10950F80-CDC3-45EF-A85A-780B6FF9BEB0}" destId="{2E2DA69A-AABB-48A7-A2D8-9AAF5764C7D6}" srcOrd="1" destOrd="0" presId="urn:microsoft.com/office/officeart/2018/2/layout/IconVerticalSolidList"/>
    <dgm:cxn modelId="{AA6B87B9-FDED-4266-B278-CFCBE8A6E92D}" type="presParOf" srcId="{10950F80-CDC3-45EF-A85A-780B6FF9BEB0}" destId="{2ED9EF64-33D3-4C88-A9A6-9EE963C4799D}" srcOrd="2" destOrd="0" presId="urn:microsoft.com/office/officeart/2018/2/layout/IconVerticalSolidList"/>
    <dgm:cxn modelId="{B0BACF89-47FC-42D7-9151-206994570FF9}" type="presParOf" srcId="{2ED9EF64-33D3-4C88-A9A6-9EE963C4799D}" destId="{9A2F9105-7323-422F-9C8A-A146FD1C8DB7}" srcOrd="0" destOrd="0" presId="urn:microsoft.com/office/officeart/2018/2/layout/IconVerticalSolidList"/>
    <dgm:cxn modelId="{8C286E19-00A3-4439-A3FA-B0A06F5B07B5}" type="presParOf" srcId="{2ED9EF64-33D3-4C88-A9A6-9EE963C4799D}" destId="{8D377C14-7098-4AA5-B6E1-7274B30730F3}" srcOrd="1" destOrd="0" presId="urn:microsoft.com/office/officeart/2018/2/layout/IconVerticalSolidList"/>
    <dgm:cxn modelId="{F1ACC7D9-E499-417D-A70F-00F0E27E8359}" type="presParOf" srcId="{2ED9EF64-33D3-4C88-A9A6-9EE963C4799D}" destId="{57FF3CA6-C5F4-4F1F-A90D-394A41B179AB}" srcOrd="2" destOrd="0" presId="urn:microsoft.com/office/officeart/2018/2/layout/IconVerticalSolidList"/>
    <dgm:cxn modelId="{2B33113D-B026-4B15-B13B-0658F2637664}" type="presParOf" srcId="{2ED9EF64-33D3-4C88-A9A6-9EE963C4799D}" destId="{3A75E94E-C3C4-4BBC-ACD6-7FC63E059B99}" srcOrd="3" destOrd="0" presId="urn:microsoft.com/office/officeart/2018/2/layout/IconVerticalSolidList"/>
    <dgm:cxn modelId="{A93CFA5E-5899-423D-91DD-DECDECBF8F8E}" type="presParOf" srcId="{10950F80-CDC3-45EF-A85A-780B6FF9BEB0}" destId="{715DCDB4-26BE-4C70-8A4D-D6CCF1AA3B67}" srcOrd="3" destOrd="0" presId="urn:microsoft.com/office/officeart/2018/2/layout/IconVerticalSolidList"/>
    <dgm:cxn modelId="{FFB9E38F-0D21-48CB-B59E-591C387749D3}" type="presParOf" srcId="{10950F80-CDC3-45EF-A85A-780B6FF9BEB0}" destId="{35B54681-1149-4691-A526-9EDD23956455}" srcOrd="4" destOrd="0" presId="urn:microsoft.com/office/officeart/2018/2/layout/IconVerticalSolidList"/>
    <dgm:cxn modelId="{2C4B3FEA-D6D0-43C6-B5AE-1A05B7B87586}" type="presParOf" srcId="{35B54681-1149-4691-A526-9EDD23956455}" destId="{636AC9AB-1351-40CF-BA90-4486DC72F93D}" srcOrd="0" destOrd="0" presId="urn:microsoft.com/office/officeart/2018/2/layout/IconVerticalSolidList"/>
    <dgm:cxn modelId="{2D67818C-0837-44AE-88BC-74CFE3A7F52C}" type="presParOf" srcId="{35B54681-1149-4691-A526-9EDD23956455}" destId="{55419ACB-F05F-4C0E-9B6B-F207382C138D}" srcOrd="1" destOrd="0" presId="urn:microsoft.com/office/officeart/2018/2/layout/IconVerticalSolidList"/>
    <dgm:cxn modelId="{D634B4CA-EB48-403C-B659-F5BA9BC33C5D}" type="presParOf" srcId="{35B54681-1149-4691-A526-9EDD23956455}" destId="{92DAF951-0A7B-4EE0-92A8-BB0F3CF09D76}" srcOrd="2" destOrd="0" presId="urn:microsoft.com/office/officeart/2018/2/layout/IconVerticalSolidList"/>
    <dgm:cxn modelId="{2C9AA775-C1EB-4750-A7DE-718408FA991C}" type="presParOf" srcId="{35B54681-1149-4691-A526-9EDD23956455}" destId="{DA545F22-0467-48E9-8A1D-B66B95F748F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637A468-E3E2-48D6-A5DA-2534E2F5CD65}" type="doc">
      <dgm:prSet loTypeId="urn:microsoft.com/office/officeart/2018/2/layout/IconVerticalSolidList" loCatId="icon" qsTypeId="urn:microsoft.com/office/officeart/2005/8/quickstyle/simple1#7" qsCatId="simple" csTypeId="urn:microsoft.com/office/officeart/2005/8/colors/accent2_2#6" csCatId="accent2" phldr="1"/>
      <dgm:spPr/>
      <dgm:t>
        <a:bodyPr/>
        <a:lstStyle/>
        <a:p>
          <a:endParaRPr lang="en-US"/>
        </a:p>
      </dgm:t>
    </dgm:pt>
    <dgm:pt modelId="{416C14F1-B935-4B1A-ABAF-1BC060AAFFD2}">
      <dgm:prSet/>
      <dgm:spPr/>
      <dgm:t>
        <a:bodyPr/>
        <a:lstStyle/>
        <a:p>
          <a:r>
            <a:rPr lang="en-US"/>
            <a:t>Global standard deployments aren't available in government clouds.</a:t>
          </a:r>
        </a:p>
      </dgm:t>
    </dgm:pt>
    <dgm:pt modelId="{F8580DE0-8AD4-404E-9522-B23257C1B07F}" type="parTrans" cxnId="{B4A38938-980E-4335-8389-5E237A45D458}">
      <dgm:prSet/>
      <dgm:spPr/>
      <dgm:t>
        <a:bodyPr/>
        <a:lstStyle/>
        <a:p>
          <a:endParaRPr lang="en-US"/>
        </a:p>
      </dgm:t>
    </dgm:pt>
    <dgm:pt modelId="{F8BFE4EC-5955-4071-9052-77FE274EBE30}" type="sibTrans" cxnId="{B4A38938-980E-4335-8389-5E237A45D458}">
      <dgm:prSet/>
      <dgm:spPr/>
      <dgm:t>
        <a:bodyPr/>
        <a:lstStyle/>
        <a:p>
          <a:endParaRPr lang="en-US"/>
        </a:p>
      </dgm:t>
    </dgm:pt>
    <dgm:pt modelId="{0145D64A-F454-44AF-977C-FF90DC069A0A}">
      <dgm:prSet/>
      <dgm:spPr/>
      <dgm:t>
        <a:bodyPr/>
        <a:lstStyle/>
        <a:p>
          <a:r>
            <a:rPr lang="en-US"/>
            <a:t>Not all models or model versions available in commercial and public clouds will be available in government clouds.</a:t>
          </a:r>
        </a:p>
      </dgm:t>
    </dgm:pt>
    <dgm:pt modelId="{04044EA2-3B8E-4C24-B6F5-9930E9A4B3F1}" type="parTrans" cxnId="{527CF2C1-CBE3-4ECB-8133-3753FC20AB5E}">
      <dgm:prSet/>
      <dgm:spPr/>
      <dgm:t>
        <a:bodyPr/>
        <a:lstStyle/>
        <a:p>
          <a:endParaRPr lang="en-US"/>
        </a:p>
      </dgm:t>
    </dgm:pt>
    <dgm:pt modelId="{5748BB37-4F7C-4675-9EDE-6E6951D16856}" type="sibTrans" cxnId="{527CF2C1-CBE3-4ECB-8133-3753FC20AB5E}">
      <dgm:prSet/>
      <dgm:spPr/>
      <dgm:t>
        <a:bodyPr/>
        <a:lstStyle/>
        <a:p>
          <a:endParaRPr lang="en-US"/>
        </a:p>
      </dgm:t>
    </dgm:pt>
    <dgm:pt modelId="{3DD64958-BECD-4F00-B22E-1546163B4CFE}">
      <dgm:prSet/>
      <dgm:spPr/>
      <dgm:t>
        <a:bodyPr/>
        <a:lstStyle/>
        <a:p>
          <a:r>
            <a:rPr lang="en-US"/>
            <a:t>In Azure Government clouds, we intend to support only one version of a given model at a time. For example, only one version of gpt-35-turbo 0125 and gpt-4o (2024-05-13).</a:t>
          </a:r>
        </a:p>
      </dgm:t>
    </dgm:pt>
    <dgm:pt modelId="{C80897B1-AE21-4BBC-B683-A4ED1705FF4C}" type="parTrans" cxnId="{801D1426-C552-46E6-820A-031EC7122E72}">
      <dgm:prSet/>
      <dgm:spPr/>
      <dgm:t>
        <a:bodyPr/>
        <a:lstStyle/>
        <a:p>
          <a:endParaRPr lang="en-US"/>
        </a:p>
      </dgm:t>
    </dgm:pt>
    <dgm:pt modelId="{051E5504-C9A4-4904-A20A-D733DD35DD06}" type="sibTrans" cxnId="{801D1426-C552-46E6-820A-031EC7122E72}">
      <dgm:prSet/>
      <dgm:spPr/>
      <dgm:t>
        <a:bodyPr/>
        <a:lstStyle/>
        <a:p>
          <a:endParaRPr lang="en-US"/>
        </a:p>
      </dgm:t>
    </dgm:pt>
    <dgm:pt modelId="{65291336-592E-4363-9945-8937035EDE92}" type="pres">
      <dgm:prSet presAssocID="{9637A468-E3E2-48D6-A5DA-2534E2F5CD65}" presName="root" presStyleCnt="0">
        <dgm:presLayoutVars>
          <dgm:dir/>
          <dgm:resizeHandles val="exact"/>
        </dgm:presLayoutVars>
      </dgm:prSet>
      <dgm:spPr/>
    </dgm:pt>
    <dgm:pt modelId="{74A4ABF8-32E9-4D49-A7C6-F1068F6C41E1}" type="pres">
      <dgm:prSet presAssocID="{416C14F1-B935-4B1A-ABAF-1BC060AAFFD2}" presName="compNode" presStyleCnt="0"/>
      <dgm:spPr/>
    </dgm:pt>
    <dgm:pt modelId="{FC86E7A0-CD7C-451D-8327-DF872CAF7EED}" type="pres">
      <dgm:prSet presAssocID="{416C14F1-B935-4B1A-ABAF-1BC060AAFFD2}" presName="bgRect" presStyleLbl="bgShp" presStyleIdx="0" presStyleCnt="3"/>
      <dgm:spPr/>
    </dgm:pt>
    <dgm:pt modelId="{C9D41DCB-E9C0-42C4-A6EB-E912122BFCBA}" type="pres">
      <dgm:prSet presAssocID="{416C14F1-B935-4B1A-ABAF-1BC060AAFFD2}"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oud Computing"/>
        </a:ext>
      </dgm:extLst>
    </dgm:pt>
    <dgm:pt modelId="{FCD92EE9-20D3-4C64-AE85-CC5D051A754A}" type="pres">
      <dgm:prSet presAssocID="{416C14F1-B935-4B1A-ABAF-1BC060AAFFD2}" presName="spaceRect" presStyleCnt="0"/>
      <dgm:spPr/>
    </dgm:pt>
    <dgm:pt modelId="{B6FC676A-14BF-4126-9F73-6FA84624F6A2}" type="pres">
      <dgm:prSet presAssocID="{416C14F1-B935-4B1A-ABAF-1BC060AAFFD2}" presName="parTx" presStyleLbl="revTx" presStyleIdx="0" presStyleCnt="3">
        <dgm:presLayoutVars>
          <dgm:chMax val="0"/>
          <dgm:chPref val="0"/>
        </dgm:presLayoutVars>
      </dgm:prSet>
      <dgm:spPr/>
    </dgm:pt>
    <dgm:pt modelId="{D6CCA72B-2F9D-4F07-86A2-563D1329532B}" type="pres">
      <dgm:prSet presAssocID="{F8BFE4EC-5955-4071-9052-77FE274EBE30}" presName="sibTrans" presStyleCnt="0"/>
      <dgm:spPr/>
    </dgm:pt>
    <dgm:pt modelId="{6D9A9E2B-4509-4C03-834F-CAF98FC69B57}" type="pres">
      <dgm:prSet presAssocID="{0145D64A-F454-44AF-977C-FF90DC069A0A}" presName="compNode" presStyleCnt="0"/>
      <dgm:spPr/>
    </dgm:pt>
    <dgm:pt modelId="{001FE163-1361-4175-84FD-5B266262C2CB}" type="pres">
      <dgm:prSet presAssocID="{0145D64A-F454-44AF-977C-FF90DC069A0A}" presName="bgRect" presStyleLbl="bgShp" presStyleIdx="1" presStyleCnt="3"/>
      <dgm:spPr/>
    </dgm:pt>
    <dgm:pt modelId="{A47AC624-E774-4D5B-BD9F-8D4E91D9FBCB}" type="pres">
      <dgm:prSet presAssocID="{0145D64A-F454-44AF-977C-FF90DC069A0A}"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4844305C-1B1D-4414-A3F4-ACEFA60EF0C0}" type="pres">
      <dgm:prSet presAssocID="{0145D64A-F454-44AF-977C-FF90DC069A0A}" presName="spaceRect" presStyleCnt="0"/>
      <dgm:spPr/>
    </dgm:pt>
    <dgm:pt modelId="{A8466782-D5D9-4D35-980B-96ADCED5A6FD}" type="pres">
      <dgm:prSet presAssocID="{0145D64A-F454-44AF-977C-FF90DC069A0A}" presName="parTx" presStyleLbl="revTx" presStyleIdx="1" presStyleCnt="3">
        <dgm:presLayoutVars>
          <dgm:chMax val="0"/>
          <dgm:chPref val="0"/>
        </dgm:presLayoutVars>
      </dgm:prSet>
      <dgm:spPr/>
    </dgm:pt>
    <dgm:pt modelId="{6D1529E1-DDA3-4F60-95ED-FA82EDE3205E}" type="pres">
      <dgm:prSet presAssocID="{5748BB37-4F7C-4675-9EDE-6E6951D16856}" presName="sibTrans" presStyleCnt="0"/>
      <dgm:spPr/>
    </dgm:pt>
    <dgm:pt modelId="{3F81CFFC-6EC7-44BF-AE54-64112BDA1A7E}" type="pres">
      <dgm:prSet presAssocID="{3DD64958-BECD-4F00-B22E-1546163B4CFE}" presName="compNode" presStyleCnt="0"/>
      <dgm:spPr/>
    </dgm:pt>
    <dgm:pt modelId="{DC023850-30B4-497E-84E6-5B48972797DB}" type="pres">
      <dgm:prSet presAssocID="{3DD64958-BECD-4F00-B22E-1546163B4CFE}" presName="bgRect" presStyleLbl="bgShp" presStyleIdx="2" presStyleCnt="3"/>
      <dgm:spPr/>
    </dgm:pt>
    <dgm:pt modelId="{2A35565C-507E-4B0F-BCD6-4BD06622C7EF}" type="pres">
      <dgm:prSet presAssocID="{3DD64958-BECD-4F00-B22E-1546163B4CFE}"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ainbow"/>
        </a:ext>
      </dgm:extLst>
    </dgm:pt>
    <dgm:pt modelId="{C503BCD8-D375-4CEA-979E-CC6B1AC32EAA}" type="pres">
      <dgm:prSet presAssocID="{3DD64958-BECD-4F00-B22E-1546163B4CFE}" presName="spaceRect" presStyleCnt="0"/>
      <dgm:spPr/>
    </dgm:pt>
    <dgm:pt modelId="{944F7C15-5CB9-4FCC-A134-01D3902B76D1}" type="pres">
      <dgm:prSet presAssocID="{3DD64958-BECD-4F00-B22E-1546163B4CFE}" presName="parTx" presStyleLbl="revTx" presStyleIdx="2" presStyleCnt="3">
        <dgm:presLayoutVars>
          <dgm:chMax val="0"/>
          <dgm:chPref val="0"/>
        </dgm:presLayoutVars>
      </dgm:prSet>
      <dgm:spPr/>
    </dgm:pt>
  </dgm:ptLst>
  <dgm:cxnLst>
    <dgm:cxn modelId="{801D1426-C552-46E6-820A-031EC7122E72}" srcId="{9637A468-E3E2-48D6-A5DA-2534E2F5CD65}" destId="{3DD64958-BECD-4F00-B22E-1546163B4CFE}" srcOrd="2" destOrd="0" parTransId="{C80897B1-AE21-4BBC-B683-A4ED1705FF4C}" sibTransId="{051E5504-C9A4-4904-A20A-D733DD35DD06}"/>
    <dgm:cxn modelId="{B4A38938-980E-4335-8389-5E237A45D458}" srcId="{9637A468-E3E2-48D6-A5DA-2534E2F5CD65}" destId="{416C14F1-B935-4B1A-ABAF-1BC060AAFFD2}" srcOrd="0" destOrd="0" parTransId="{F8580DE0-8AD4-404E-9522-B23257C1B07F}" sibTransId="{F8BFE4EC-5955-4071-9052-77FE274EBE30}"/>
    <dgm:cxn modelId="{882AE153-F4CF-4451-9923-5D2C61BB1F86}" type="presOf" srcId="{0145D64A-F454-44AF-977C-FF90DC069A0A}" destId="{A8466782-D5D9-4D35-980B-96ADCED5A6FD}" srcOrd="0" destOrd="0" presId="urn:microsoft.com/office/officeart/2018/2/layout/IconVerticalSolidList"/>
    <dgm:cxn modelId="{FC33BA78-9B0F-4B8B-A509-D05DE5CF98BA}" type="presOf" srcId="{416C14F1-B935-4B1A-ABAF-1BC060AAFFD2}" destId="{B6FC676A-14BF-4126-9F73-6FA84624F6A2}" srcOrd="0" destOrd="0" presId="urn:microsoft.com/office/officeart/2018/2/layout/IconVerticalSolidList"/>
    <dgm:cxn modelId="{76A69EB5-02C9-4696-B0E3-C556BBBF0480}" type="presOf" srcId="{3DD64958-BECD-4F00-B22E-1546163B4CFE}" destId="{944F7C15-5CB9-4FCC-A134-01D3902B76D1}" srcOrd="0" destOrd="0" presId="urn:microsoft.com/office/officeart/2018/2/layout/IconVerticalSolidList"/>
    <dgm:cxn modelId="{527CF2C1-CBE3-4ECB-8133-3753FC20AB5E}" srcId="{9637A468-E3E2-48D6-A5DA-2534E2F5CD65}" destId="{0145D64A-F454-44AF-977C-FF90DC069A0A}" srcOrd="1" destOrd="0" parTransId="{04044EA2-3B8E-4C24-B6F5-9930E9A4B3F1}" sibTransId="{5748BB37-4F7C-4675-9EDE-6E6951D16856}"/>
    <dgm:cxn modelId="{64B1AFDE-29EF-4A40-B56A-87146B83E1E0}" type="presOf" srcId="{9637A468-E3E2-48D6-A5DA-2534E2F5CD65}" destId="{65291336-592E-4363-9945-8937035EDE92}" srcOrd="0" destOrd="0" presId="urn:microsoft.com/office/officeart/2018/2/layout/IconVerticalSolidList"/>
    <dgm:cxn modelId="{9B49AB3E-9F36-4E48-8533-49B8B2CE78D3}" type="presParOf" srcId="{65291336-592E-4363-9945-8937035EDE92}" destId="{74A4ABF8-32E9-4D49-A7C6-F1068F6C41E1}" srcOrd="0" destOrd="0" presId="urn:microsoft.com/office/officeart/2018/2/layout/IconVerticalSolidList"/>
    <dgm:cxn modelId="{B614B17C-60B5-4344-8815-13BBF69D5492}" type="presParOf" srcId="{74A4ABF8-32E9-4D49-A7C6-F1068F6C41E1}" destId="{FC86E7A0-CD7C-451D-8327-DF872CAF7EED}" srcOrd="0" destOrd="0" presId="urn:microsoft.com/office/officeart/2018/2/layout/IconVerticalSolidList"/>
    <dgm:cxn modelId="{ECB91463-EC3E-441C-89AC-6A74B9E1FE7D}" type="presParOf" srcId="{74A4ABF8-32E9-4D49-A7C6-F1068F6C41E1}" destId="{C9D41DCB-E9C0-42C4-A6EB-E912122BFCBA}" srcOrd="1" destOrd="0" presId="urn:microsoft.com/office/officeart/2018/2/layout/IconVerticalSolidList"/>
    <dgm:cxn modelId="{F8A03D94-AA52-4B54-833C-0882C6522B30}" type="presParOf" srcId="{74A4ABF8-32E9-4D49-A7C6-F1068F6C41E1}" destId="{FCD92EE9-20D3-4C64-AE85-CC5D051A754A}" srcOrd="2" destOrd="0" presId="urn:microsoft.com/office/officeart/2018/2/layout/IconVerticalSolidList"/>
    <dgm:cxn modelId="{998ED1E2-502D-4995-88C2-F7C1A32602EB}" type="presParOf" srcId="{74A4ABF8-32E9-4D49-A7C6-F1068F6C41E1}" destId="{B6FC676A-14BF-4126-9F73-6FA84624F6A2}" srcOrd="3" destOrd="0" presId="urn:microsoft.com/office/officeart/2018/2/layout/IconVerticalSolidList"/>
    <dgm:cxn modelId="{0B7F0C60-2AA7-4D3B-880D-BFF32C5E7A65}" type="presParOf" srcId="{65291336-592E-4363-9945-8937035EDE92}" destId="{D6CCA72B-2F9D-4F07-86A2-563D1329532B}" srcOrd="1" destOrd="0" presId="urn:microsoft.com/office/officeart/2018/2/layout/IconVerticalSolidList"/>
    <dgm:cxn modelId="{6BF3AC4A-1116-4A0E-8901-75976C630712}" type="presParOf" srcId="{65291336-592E-4363-9945-8937035EDE92}" destId="{6D9A9E2B-4509-4C03-834F-CAF98FC69B57}" srcOrd="2" destOrd="0" presId="urn:microsoft.com/office/officeart/2018/2/layout/IconVerticalSolidList"/>
    <dgm:cxn modelId="{AE20B218-8C8E-4B5F-B008-4C4D4793BF47}" type="presParOf" srcId="{6D9A9E2B-4509-4C03-834F-CAF98FC69B57}" destId="{001FE163-1361-4175-84FD-5B266262C2CB}" srcOrd="0" destOrd="0" presId="urn:microsoft.com/office/officeart/2018/2/layout/IconVerticalSolidList"/>
    <dgm:cxn modelId="{C0A35161-5EA5-48DC-99C6-FC74DD6A8665}" type="presParOf" srcId="{6D9A9E2B-4509-4C03-834F-CAF98FC69B57}" destId="{A47AC624-E774-4D5B-BD9F-8D4E91D9FBCB}" srcOrd="1" destOrd="0" presId="urn:microsoft.com/office/officeart/2018/2/layout/IconVerticalSolidList"/>
    <dgm:cxn modelId="{3140FF15-A682-4590-825D-682DB003AA14}" type="presParOf" srcId="{6D9A9E2B-4509-4C03-834F-CAF98FC69B57}" destId="{4844305C-1B1D-4414-A3F4-ACEFA60EF0C0}" srcOrd="2" destOrd="0" presId="urn:microsoft.com/office/officeart/2018/2/layout/IconVerticalSolidList"/>
    <dgm:cxn modelId="{8B64FD5C-51F4-471A-B73D-FD78D8658143}" type="presParOf" srcId="{6D9A9E2B-4509-4C03-834F-CAF98FC69B57}" destId="{A8466782-D5D9-4D35-980B-96ADCED5A6FD}" srcOrd="3" destOrd="0" presId="urn:microsoft.com/office/officeart/2018/2/layout/IconVerticalSolidList"/>
    <dgm:cxn modelId="{FC975213-E96D-4678-9778-BBBEB8395683}" type="presParOf" srcId="{65291336-592E-4363-9945-8937035EDE92}" destId="{6D1529E1-DDA3-4F60-95ED-FA82EDE3205E}" srcOrd="3" destOrd="0" presId="urn:microsoft.com/office/officeart/2018/2/layout/IconVerticalSolidList"/>
    <dgm:cxn modelId="{018C08FA-392D-41B1-B848-6823D6AF4BEA}" type="presParOf" srcId="{65291336-592E-4363-9945-8937035EDE92}" destId="{3F81CFFC-6EC7-44BF-AE54-64112BDA1A7E}" srcOrd="4" destOrd="0" presId="urn:microsoft.com/office/officeart/2018/2/layout/IconVerticalSolidList"/>
    <dgm:cxn modelId="{117E0B9D-B422-457D-BE20-2BA33979813C}" type="presParOf" srcId="{3F81CFFC-6EC7-44BF-AE54-64112BDA1A7E}" destId="{DC023850-30B4-497E-84E6-5B48972797DB}" srcOrd="0" destOrd="0" presId="urn:microsoft.com/office/officeart/2018/2/layout/IconVerticalSolidList"/>
    <dgm:cxn modelId="{D62BCAFD-2D65-4891-966F-6D777BA84144}" type="presParOf" srcId="{3F81CFFC-6EC7-44BF-AE54-64112BDA1A7E}" destId="{2A35565C-507E-4B0F-BCD6-4BD06622C7EF}" srcOrd="1" destOrd="0" presId="urn:microsoft.com/office/officeart/2018/2/layout/IconVerticalSolidList"/>
    <dgm:cxn modelId="{BDA3F62B-EB69-4927-BCC5-F42BAAC66090}" type="presParOf" srcId="{3F81CFFC-6EC7-44BF-AE54-64112BDA1A7E}" destId="{C503BCD8-D375-4CEA-979E-CC6B1AC32EAA}" srcOrd="2" destOrd="0" presId="urn:microsoft.com/office/officeart/2018/2/layout/IconVerticalSolidList"/>
    <dgm:cxn modelId="{B43FA499-4D99-47B7-B787-B4E49D5A8EAB}" type="presParOf" srcId="{3F81CFFC-6EC7-44BF-AE54-64112BDA1A7E}" destId="{944F7C15-5CB9-4FCC-A134-01D3902B76D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7316D01-69A4-4E85-9098-1A4B11F4FE8F}" type="doc">
      <dgm:prSet loTypeId="urn:microsoft.com/office/officeart/2018/2/layout/IconVerticalSolidList" loCatId="icon" qsTypeId="urn:microsoft.com/office/officeart/2005/8/quickstyle/simple1#8" qsCatId="simple" csTypeId="urn:microsoft.com/office/officeart/2005/8/colors/accent2_2#7" csCatId="accent2" phldr="1"/>
      <dgm:spPr/>
      <dgm:t>
        <a:bodyPr/>
        <a:lstStyle/>
        <a:p>
          <a:endParaRPr lang="en-US"/>
        </a:p>
      </dgm:t>
    </dgm:pt>
    <dgm:pt modelId="{84AA791C-5A7E-4965-87FC-023384E5AF6C}">
      <dgm:prSet/>
      <dgm:spPr/>
      <dgm:t>
        <a:bodyPr/>
        <a:lstStyle/>
        <a:p>
          <a:pPr>
            <a:lnSpc>
              <a:spcPct val="100000"/>
            </a:lnSpc>
          </a:pPr>
          <a:r>
            <a:rPr lang="en-US"/>
            <a:t>To prepare for model retirements and version upgrades, we recommend that customers test their applications with the new models and versions and evaluate their behavior. We also recommend that customers update their applications to use the new models and versions before the retirement date.</a:t>
          </a:r>
        </a:p>
      </dgm:t>
    </dgm:pt>
    <dgm:pt modelId="{B0E82AE0-FD0B-4E1D-8218-A48620461E13}" type="parTrans" cxnId="{74DA8FA8-6073-4BCA-9641-FA5641ADF1FE}">
      <dgm:prSet/>
      <dgm:spPr/>
      <dgm:t>
        <a:bodyPr/>
        <a:lstStyle/>
        <a:p>
          <a:endParaRPr lang="en-US"/>
        </a:p>
      </dgm:t>
    </dgm:pt>
    <dgm:pt modelId="{7F50703F-BA4A-4BC1-A59E-E54ABBAF194B}" type="sibTrans" cxnId="{74DA8FA8-6073-4BCA-9641-FA5641ADF1FE}">
      <dgm:prSet/>
      <dgm:spPr/>
      <dgm:t>
        <a:bodyPr/>
        <a:lstStyle/>
        <a:p>
          <a:endParaRPr lang="en-US"/>
        </a:p>
      </dgm:t>
    </dgm:pt>
    <dgm:pt modelId="{9F79F8DE-4AC2-482B-ABCF-7F21100B79CC}">
      <dgm:prSet/>
      <dgm:spPr/>
      <dgm:t>
        <a:bodyPr/>
        <a:lstStyle/>
        <a:p>
          <a:pPr>
            <a:lnSpc>
              <a:spcPct val="100000"/>
            </a:lnSpc>
          </a:pPr>
          <a:r>
            <a:rPr lang="en-US"/>
            <a:t>For more information on the model evaluation process, see the Getting started with model evaluation blog post.</a:t>
          </a:r>
        </a:p>
      </dgm:t>
    </dgm:pt>
    <dgm:pt modelId="{EC4C6975-CA03-4DC7-9492-2659A3978923}" type="parTrans" cxnId="{BAC63D69-3752-4C60-A142-8390FC06B158}">
      <dgm:prSet/>
      <dgm:spPr/>
      <dgm:t>
        <a:bodyPr/>
        <a:lstStyle/>
        <a:p>
          <a:endParaRPr lang="en-US"/>
        </a:p>
      </dgm:t>
    </dgm:pt>
    <dgm:pt modelId="{27E044F4-23CA-49DD-B0FA-A8E6B746CF56}" type="sibTrans" cxnId="{BAC63D69-3752-4C60-A142-8390FC06B158}">
      <dgm:prSet/>
      <dgm:spPr/>
      <dgm:t>
        <a:bodyPr/>
        <a:lstStyle/>
        <a:p>
          <a:endParaRPr lang="en-US"/>
        </a:p>
      </dgm:t>
    </dgm:pt>
    <dgm:pt modelId="{845CB71F-1EBE-4F3A-9BF7-F234F618E528}">
      <dgm:prSet/>
      <dgm:spPr/>
      <dgm:t>
        <a:bodyPr/>
        <a:lstStyle/>
        <a:p>
          <a:pPr>
            <a:lnSpc>
              <a:spcPct val="100000"/>
            </a:lnSpc>
          </a:pPr>
          <a:r>
            <a:rPr lang="en-US"/>
            <a:t>Not all models go through a deprecation period before retirement. Some models or versions only have a retirement date.</a:t>
          </a:r>
        </a:p>
      </dgm:t>
    </dgm:pt>
    <dgm:pt modelId="{1998EFA8-6413-458F-B65F-DECA2A25A597}" type="parTrans" cxnId="{2CA6D6BF-69A0-43BB-B5EC-8F97BD4F4DF3}">
      <dgm:prSet/>
      <dgm:spPr/>
      <dgm:t>
        <a:bodyPr/>
        <a:lstStyle/>
        <a:p>
          <a:endParaRPr lang="en-US"/>
        </a:p>
      </dgm:t>
    </dgm:pt>
    <dgm:pt modelId="{4C8F0AE0-5F5E-4731-A0EE-583143576A97}" type="sibTrans" cxnId="{2CA6D6BF-69A0-43BB-B5EC-8F97BD4F4DF3}">
      <dgm:prSet/>
      <dgm:spPr/>
      <dgm:t>
        <a:bodyPr/>
        <a:lstStyle/>
        <a:p>
          <a:endParaRPr lang="en-US"/>
        </a:p>
      </dgm:t>
    </dgm:pt>
    <dgm:pt modelId="{5DCEFB5E-03BD-4E7B-9FF8-FE6D43BC009E}" type="pres">
      <dgm:prSet presAssocID="{B7316D01-69A4-4E85-9098-1A4B11F4FE8F}" presName="root" presStyleCnt="0">
        <dgm:presLayoutVars>
          <dgm:dir/>
          <dgm:resizeHandles val="exact"/>
        </dgm:presLayoutVars>
      </dgm:prSet>
      <dgm:spPr/>
    </dgm:pt>
    <dgm:pt modelId="{E2692907-C17E-484B-AFFA-113086F35BF3}" type="pres">
      <dgm:prSet presAssocID="{84AA791C-5A7E-4965-87FC-023384E5AF6C}" presName="compNode" presStyleCnt="0"/>
      <dgm:spPr/>
    </dgm:pt>
    <dgm:pt modelId="{E991A1B0-FC8C-4546-BD94-39B924331175}" type="pres">
      <dgm:prSet presAssocID="{84AA791C-5A7E-4965-87FC-023384E5AF6C}" presName="bgRect" presStyleLbl="bgShp" presStyleIdx="0" presStyleCnt="3"/>
      <dgm:spPr/>
    </dgm:pt>
    <dgm:pt modelId="{BE0C4D88-0A9D-471C-AF78-1ED9594F8826}" type="pres">
      <dgm:prSet presAssocID="{84AA791C-5A7E-4965-87FC-023384E5AF6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oud Computing"/>
        </a:ext>
      </dgm:extLst>
    </dgm:pt>
    <dgm:pt modelId="{700CEC9C-E273-4F66-95AD-3851CB8B743A}" type="pres">
      <dgm:prSet presAssocID="{84AA791C-5A7E-4965-87FC-023384E5AF6C}" presName="spaceRect" presStyleCnt="0"/>
      <dgm:spPr/>
    </dgm:pt>
    <dgm:pt modelId="{2B6D7F2E-E36D-4AFD-8C52-45E2B3907396}" type="pres">
      <dgm:prSet presAssocID="{84AA791C-5A7E-4965-87FC-023384E5AF6C}" presName="parTx" presStyleLbl="revTx" presStyleIdx="0" presStyleCnt="3">
        <dgm:presLayoutVars>
          <dgm:chMax val="0"/>
          <dgm:chPref val="0"/>
        </dgm:presLayoutVars>
      </dgm:prSet>
      <dgm:spPr/>
    </dgm:pt>
    <dgm:pt modelId="{6B47F4A4-F03C-4743-BFBB-4CAAC7D42B6D}" type="pres">
      <dgm:prSet presAssocID="{7F50703F-BA4A-4BC1-A59E-E54ABBAF194B}" presName="sibTrans" presStyleCnt="0"/>
      <dgm:spPr/>
    </dgm:pt>
    <dgm:pt modelId="{0470A6BC-F64A-4901-AF15-BFC6C4D4CCB7}" type="pres">
      <dgm:prSet presAssocID="{9F79F8DE-4AC2-482B-ABCF-7F21100B79CC}" presName="compNode" presStyleCnt="0"/>
      <dgm:spPr/>
    </dgm:pt>
    <dgm:pt modelId="{C667D5FD-D76D-4CCC-B6F3-97F6CD46FCF0}" type="pres">
      <dgm:prSet presAssocID="{9F79F8DE-4AC2-482B-ABCF-7F21100B79CC}" presName="bgRect" presStyleLbl="bgShp" presStyleIdx="1" presStyleCnt="3"/>
      <dgm:spPr/>
    </dgm:pt>
    <dgm:pt modelId="{7DB0A600-D136-415B-B085-1845B28BC932}" type="pres">
      <dgm:prSet presAssocID="{9F79F8DE-4AC2-482B-ABCF-7F21100B79C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orkflow"/>
        </a:ext>
      </dgm:extLst>
    </dgm:pt>
    <dgm:pt modelId="{49E68F70-4FC8-43B7-9398-2D587DE91E49}" type="pres">
      <dgm:prSet presAssocID="{9F79F8DE-4AC2-482B-ABCF-7F21100B79CC}" presName="spaceRect" presStyleCnt="0"/>
      <dgm:spPr/>
    </dgm:pt>
    <dgm:pt modelId="{256EE66A-5481-484E-A097-4E02689CE562}" type="pres">
      <dgm:prSet presAssocID="{9F79F8DE-4AC2-482B-ABCF-7F21100B79CC}" presName="parTx" presStyleLbl="revTx" presStyleIdx="1" presStyleCnt="3">
        <dgm:presLayoutVars>
          <dgm:chMax val="0"/>
          <dgm:chPref val="0"/>
        </dgm:presLayoutVars>
      </dgm:prSet>
      <dgm:spPr/>
    </dgm:pt>
    <dgm:pt modelId="{5D2067F0-4E4E-4179-B564-0F5B35503147}" type="pres">
      <dgm:prSet presAssocID="{27E044F4-23CA-49DD-B0FA-A8E6B746CF56}" presName="sibTrans" presStyleCnt="0"/>
      <dgm:spPr/>
    </dgm:pt>
    <dgm:pt modelId="{DECB11B0-25DA-4B10-851D-BF5754AAFC93}" type="pres">
      <dgm:prSet presAssocID="{845CB71F-1EBE-4F3A-9BF7-F234F618E528}" presName="compNode" presStyleCnt="0"/>
      <dgm:spPr/>
    </dgm:pt>
    <dgm:pt modelId="{CA365CED-C7E4-46FC-8525-418C0C836EB4}" type="pres">
      <dgm:prSet presAssocID="{845CB71F-1EBE-4F3A-9BF7-F234F618E528}" presName="bgRect" presStyleLbl="bgShp" presStyleIdx="2" presStyleCnt="3"/>
      <dgm:spPr/>
    </dgm:pt>
    <dgm:pt modelId="{498AE4DC-A3CD-4E27-BA8A-CF66AFFABFAF}" type="pres">
      <dgm:prSet presAssocID="{845CB71F-1EBE-4F3A-9BF7-F234F618E528}"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Daily calendar with solid fill"/>
        </a:ext>
      </dgm:extLst>
    </dgm:pt>
    <dgm:pt modelId="{F0AAB6D2-BB38-49DB-ABA4-CEC143792250}" type="pres">
      <dgm:prSet presAssocID="{845CB71F-1EBE-4F3A-9BF7-F234F618E528}" presName="spaceRect" presStyleCnt="0"/>
      <dgm:spPr/>
    </dgm:pt>
    <dgm:pt modelId="{6181A493-05DB-4ACE-A949-D58FD74B6BE2}" type="pres">
      <dgm:prSet presAssocID="{845CB71F-1EBE-4F3A-9BF7-F234F618E528}" presName="parTx" presStyleLbl="revTx" presStyleIdx="2" presStyleCnt="3">
        <dgm:presLayoutVars>
          <dgm:chMax val="0"/>
          <dgm:chPref val="0"/>
        </dgm:presLayoutVars>
      </dgm:prSet>
      <dgm:spPr/>
    </dgm:pt>
  </dgm:ptLst>
  <dgm:cxnLst>
    <dgm:cxn modelId="{2FE34B1C-92C8-4BE3-8A15-22D04690349A}" type="presOf" srcId="{845CB71F-1EBE-4F3A-9BF7-F234F618E528}" destId="{6181A493-05DB-4ACE-A949-D58FD74B6BE2}" srcOrd="0" destOrd="0" presId="urn:microsoft.com/office/officeart/2018/2/layout/IconVerticalSolidList"/>
    <dgm:cxn modelId="{BAC63D69-3752-4C60-A142-8390FC06B158}" srcId="{B7316D01-69A4-4E85-9098-1A4B11F4FE8F}" destId="{9F79F8DE-4AC2-482B-ABCF-7F21100B79CC}" srcOrd="1" destOrd="0" parTransId="{EC4C6975-CA03-4DC7-9492-2659A3978923}" sibTransId="{27E044F4-23CA-49DD-B0FA-A8E6B746CF56}"/>
    <dgm:cxn modelId="{0BEC6CA5-06C2-467F-87C0-19CE58F814AF}" type="presOf" srcId="{9F79F8DE-4AC2-482B-ABCF-7F21100B79CC}" destId="{256EE66A-5481-484E-A097-4E02689CE562}" srcOrd="0" destOrd="0" presId="urn:microsoft.com/office/officeart/2018/2/layout/IconVerticalSolidList"/>
    <dgm:cxn modelId="{74DA8FA8-6073-4BCA-9641-FA5641ADF1FE}" srcId="{B7316D01-69A4-4E85-9098-1A4B11F4FE8F}" destId="{84AA791C-5A7E-4965-87FC-023384E5AF6C}" srcOrd="0" destOrd="0" parTransId="{B0E82AE0-FD0B-4E1D-8218-A48620461E13}" sibTransId="{7F50703F-BA4A-4BC1-A59E-E54ABBAF194B}"/>
    <dgm:cxn modelId="{77C800B6-A25E-4168-A9C5-942619B906EB}" type="presOf" srcId="{B7316D01-69A4-4E85-9098-1A4B11F4FE8F}" destId="{5DCEFB5E-03BD-4E7B-9FF8-FE6D43BC009E}" srcOrd="0" destOrd="0" presId="urn:microsoft.com/office/officeart/2018/2/layout/IconVerticalSolidList"/>
    <dgm:cxn modelId="{2CA6D6BF-69A0-43BB-B5EC-8F97BD4F4DF3}" srcId="{B7316D01-69A4-4E85-9098-1A4B11F4FE8F}" destId="{845CB71F-1EBE-4F3A-9BF7-F234F618E528}" srcOrd="2" destOrd="0" parTransId="{1998EFA8-6413-458F-B65F-DECA2A25A597}" sibTransId="{4C8F0AE0-5F5E-4731-A0EE-583143576A97}"/>
    <dgm:cxn modelId="{3AA1AED5-A41F-4BC7-8766-7B972FD2E012}" type="presOf" srcId="{84AA791C-5A7E-4965-87FC-023384E5AF6C}" destId="{2B6D7F2E-E36D-4AFD-8C52-45E2B3907396}" srcOrd="0" destOrd="0" presId="urn:microsoft.com/office/officeart/2018/2/layout/IconVerticalSolidList"/>
    <dgm:cxn modelId="{FAE28629-7A26-4108-B12F-E4FA8DAF4A58}" type="presParOf" srcId="{5DCEFB5E-03BD-4E7B-9FF8-FE6D43BC009E}" destId="{E2692907-C17E-484B-AFFA-113086F35BF3}" srcOrd="0" destOrd="0" presId="urn:microsoft.com/office/officeart/2018/2/layout/IconVerticalSolidList"/>
    <dgm:cxn modelId="{AE8A8B0B-1200-484D-85F6-E365041B8973}" type="presParOf" srcId="{E2692907-C17E-484B-AFFA-113086F35BF3}" destId="{E991A1B0-FC8C-4546-BD94-39B924331175}" srcOrd="0" destOrd="0" presId="urn:microsoft.com/office/officeart/2018/2/layout/IconVerticalSolidList"/>
    <dgm:cxn modelId="{00C8E793-6A24-4894-A36F-A44920ACC054}" type="presParOf" srcId="{E2692907-C17E-484B-AFFA-113086F35BF3}" destId="{BE0C4D88-0A9D-471C-AF78-1ED9594F8826}" srcOrd="1" destOrd="0" presId="urn:microsoft.com/office/officeart/2018/2/layout/IconVerticalSolidList"/>
    <dgm:cxn modelId="{064D4A73-C1B2-49D1-8414-DCF3A19E807C}" type="presParOf" srcId="{E2692907-C17E-484B-AFFA-113086F35BF3}" destId="{700CEC9C-E273-4F66-95AD-3851CB8B743A}" srcOrd="2" destOrd="0" presId="urn:microsoft.com/office/officeart/2018/2/layout/IconVerticalSolidList"/>
    <dgm:cxn modelId="{3993567C-BD0A-441B-832E-976BBE65897B}" type="presParOf" srcId="{E2692907-C17E-484B-AFFA-113086F35BF3}" destId="{2B6D7F2E-E36D-4AFD-8C52-45E2B3907396}" srcOrd="3" destOrd="0" presId="urn:microsoft.com/office/officeart/2018/2/layout/IconVerticalSolidList"/>
    <dgm:cxn modelId="{637CDC1B-3BA0-455A-ABC9-17EACA03DC48}" type="presParOf" srcId="{5DCEFB5E-03BD-4E7B-9FF8-FE6D43BC009E}" destId="{6B47F4A4-F03C-4743-BFBB-4CAAC7D42B6D}" srcOrd="1" destOrd="0" presId="urn:microsoft.com/office/officeart/2018/2/layout/IconVerticalSolidList"/>
    <dgm:cxn modelId="{FB0FFAAC-63B4-44C3-9470-6DA252FD2A4F}" type="presParOf" srcId="{5DCEFB5E-03BD-4E7B-9FF8-FE6D43BC009E}" destId="{0470A6BC-F64A-4901-AF15-BFC6C4D4CCB7}" srcOrd="2" destOrd="0" presId="urn:microsoft.com/office/officeart/2018/2/layout/IconVerticalSolidList"/>
    <dgm:cxn modelId="{425F31CC-97DD-4DD8-AFA5-D5ECB429962F}" type="presParOf" srcId="{0470A6BC-F64A-4901-AF15-BFC6C4D4CCB7}" destId="{C667D5FD-D76D-4CCC-B6F3-97F6CD46FCF0}" srcOrd="0" destOrd="0" presId="urn:microsoft.com/office/officeart/2018/2/layout/IconVerticalSolidList"/>
    <dgm:cxn modelId="{F1E1AB9C-4BFA-46B0-8197-5E1CE3A438AC}" type="presParOf" srcId="{0470A6BC-F64A-4901-AF15-BFC6C4D4CCB7}" destId="{7DB0A600-D136-415B-B085-1845B28BC932}" srcOrd="1" destOrd="0" presId="urn:microsoft.com/office/officeart/2018/2/layout/IconVerticalSolidList"/>
    <dgm:cxn modelId="{E8FCBB8C-5339-4717-BFBF-1610643AEC3C}" type="presParOf" srcId="{0470A6BC-F64A-4901-AF15-BFC6C4D4CCB7}" destId="{49E68F70-4FC8-43B7-9398-2D587DE91E49}" srcOrd="2" destOrd="0" presId="urn:microsoft.com/office/officeart/2018/2/layout/IconVerticalSolidList"/>
    <dgm:cxn modelId="{6FE42888-D437-4282-95EA-FEC7B7325D45}" type="presParOf" srcId="{0470A6BC-F64A-4901-AF15-BFC6C4D4CCB7}" destId="{256EE66A-5481-484E-A097-4E02689CE562}" srcOrd="3" destOrd="0" presId="urn:microsoft.com/office/officeart/2018/2/layout/IconVerticalSolidList"/>
    <dgm:cxn modelId="{D34BA03D-F6F5-481E-B78B-7C90748A195B}" type="presParOf" srcId="{5DCEFB5E-03BD-4E7B-9FF8-FE6D43BC009E}" destId="{5D2067F0-4E4E-4179-B564-0F5B35503147}" srcOrd="3" destOrd="0" presId="urn:microsoft.com/office/officeart/2018/2/layout/IconVerticalSolidList"/>
    <dgm:cxn modelId="{2ED8596F-0C6C-43DC-93CB-785FACDC9C75}" type="presParOf" srcId="{5DCEFB5E-03BD-4E7B-9FF8-FE6D43BC009E}" destId="{DECB11B0-25DA-4B10-851D-BF5754AAFC93}" srcOrd="4" destOrd="0" presId="urn:microsoft.com/office/officeart/2018/2/layout/IconVerticalSolidList"/>
    <dgm:cxn modelId="{B16BB712-E0C7-48C3-A358-8F7F87B79392}" type="presParOf" srcId="{DECB11B0-25DA-4B10-851D-BF5754AAFC93}" destId="{CA365CED-C7E4-46FC-8525-418C0C836EB4}" srcOrd="0" destOrd="0" presId="urn:microsoft.com/office/officeart/2018/2/layout/IconVerticalSolidList"/>
    <dgm:cxn modelId="{09B8D89B-5635-47EA-9A2B-A72813AE60A5}" type="presParOf" srcId="{DECB11B0-25DA-4B10-851D-BF5754AAFC93}" destId="{498AE4DC-A3CD-4E27-BA8A-CF66AFFABFAF}" srcOrd="1" destOrd="0" presId="urn:microsoft.com/office/officeart/2018/2/layout/IconVerticalSolidList"/>
    <dgm:cxn modelId="{D24EBFBF-CADF-4078-8B31-F2DEF6024F02}" type="presParOf" srcId="{DECB11B0-25DA-4B10-851D-BF5754AAFC93}" destId="{F0AAB6D2-BB38-49DB-ABA4-CEC143792250}" srcOrd="2" destOrd="0" presId="urn:microsoft.com/office/officeart/2018/2/layout/IconVerticalSolidList"/>
    <dgm:cxn modelId="{38C2275B-CDF8-4044-BF6F-2B8651886E0E}" type="presParOf" srcId="{DECB11B0-25DA-4B10-851D-BF5754AAFC93}" destId="{6181A493-05DB-4ACE-A949-D58FD74B6BE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B033BB7-C9C9-4CF0-A362-FF12F2EC5577}" type="doc">
      <dgm:prSet loTypeId="urn:microsoft.com/office/officeart/2008/layout/LinedList" loCatId="list" qsTypeId="urn:microsoft.com/office/officeart/2005/8/quickstyle/simple1#9" qsCatId="simple" csTypeId="urn:microsoft.com/office/officeart/2005/8/colors/accent1_2#2" csCatId="accent1"/>
      <dgm:spPr/>
      <dgm:t>
        <a:bodyPr/>
        <a:lstStyle/>
        <a:p>
          <a:endParaRPr lang="en-US"/>
        </a:p>
      </dgm:t>
    </dgm:pt>
    <dgm:pt modelId="{4C82100F-3DC5-40B9-B09C-7B6C36D93A7A}">
      <dgm:prSet/>
      <dgm:spPr/>
      <dgm:t>
        <a:bodyPr/>
        <a:lstStyle/>
        <a:p>
          <a:r>
            <a:rPr lang="en-US"/>
            <a:t>Fine-tuned models are subject to a </a:t>
          </a:r>
          <a:r>
            <a:rPr lang="en-US" b="1" u="sng">
              <a:hlinkClick xmlns:r="http://schemas.openxmlformats.org/officeDocument/2006/relationships" r:id="rId1"/>
            </a:rPr>
            <a:t>different</a:t>
          </a:r>
          <a:r>
            <a:rPr lang="en-US"/>
            <a:t> deprecation and retirement schedule from their equivalent base model.</a:t>
          </a:r>
        </a:p>
      </dgm:t>
    </dgm:pt>
    <dgm:pt modelId="{5CAA16A4-8DE8-4E84-B303-15C125BA7B35}" type="parTrans" cxnId="{4E778FA2-D18D-4B4B-82DF-60B85E41FF27}">
      <dgm:prSet/>
      <dgm:spPr/>
      <dgm:t>
        <a:bodyPr/>
        <a:lstStyle/>
        <a:p>
          <a:endParaRPr lang="en-US"/>
        </a:p>
      </dgm:t>
    </dgm:pt>
    <dgm:pt modelId="{8D01F51C-C5F2-44B4-BA5A-D1FCE822B1CB}" type="sibTrans" cxnId="{4E778FA2-D18D-4B4B-82DF-60B85E41FF27}">
      <dgm:prSet/>
      <dgm:spPr/>
      <dgm:t>
        <a:bodyPr/>
        <a:lstStyle/>
        <a:p>
          <a:endParaRPr lang="en-US"/>
        </a:p>
      </dgm:t>
    </dgm:pt>
    <dgm:pt modelId="{9A667DBE-0AAF-49A5-A7F1-E4C7029A0841}">
      <dgm:prSet/>
      <dgm:spPr/>
      <dgm:t>
        <a:bodyPr/>
        <a:lstStyle/>
        <a:p>
          <a:r>
            <a:rPr lang="en-US"/>
            <a:t>Fine-tuned models retire in two phases: training and deployment.</a:t>
          </a:r>
        </a:p>
      </dgm:t>
    </dgm:pt>
    <dgm:pt modelId="{AD3F2B4B-360B-486C-B715-567D1C035EA1}" type="parTrans" cxnId="{C377B6E7-0E61-4E21-997E-6EA9612BF75F}">
      <dgm:prSet/>
      <dgm:spPr/>
      <dgm:t>
        <a:bodyPr/>
        <a:lstStyle/>
        <a:p>
          <a:endParaRPr lang="en-US"/>
        </a:p>
      </dgm:t>
    </dgm:pt>
    <dgm:pt modelId="{549BF79E-6F53-4C55-BDB2-D052AC65C9D9}" type="sibTrans" cxnId="{C377B6E7-0E61-4E21-997E-6EA9612BF75F}">
      <dgm:prSet/>
      <dgm:spPr/>
      <dgm:t>
        <a:bodyPr/>
        <a:lstStyle/>
        <a:p>
          <a:endParaRPr lang="en-US"/>
        </a:p>
      </dgm:t>
    </dgm:pt>
    <dgm:pt modelId="{D4C197A4-2C41-4349-B13A-C4C0DFB6F23B}">
      <dgm:prSet/>
      <dgm:spPr/>
      <dgm:t>
        <a:bodyPr/>
        <a:lstStyle/>
        <a:p>
          <a:r>
            <a:rPr lang="en-US"/>
            <a:t>Unless explicitly stated, training retires no earlier than the base model retirement date. After a model is retired for training, it's no longer available for fine-tuning but any models you've trained remain available for deployment.</a:t>
          </a:r>
        </a:p>
      </dgm:t>
    </dgm:pt>
    <dgm:pt modelId="{006A4CF2-7263-4CA9-B54C-E7D46D85C7B8}" type="parTrans" cxnId="{80670592-7910-4980-83D8-30289D055D7E}">
      <dgm:prSet/>
      <dgm:spPr/>
      <dgm:t>
        <a:bodyPr/>
        <a:lstStyle/>
        <a:p>
          <a:endParaRPr lang="en-US"/>
        </a:p>
      </dgm:t>
    </dgm:pt>
    <dgm:pt modelId="{A256C824-8113-436D-BC7C-68306264169C}" type="sibTrans" cxnId="{80670592-7910-4980-83D8-30289D055D7E}">
      <dgm:prSet/>
      <dgm:spPr/>
      <dgm:t>
        <a:bodyPr/>
        <a:lstStyle/>
        <a:p>
          <a:endParaRPr lang="en-US"/>
        </a:p>
      </dgm:t>
    </dgm:pt>
    <dgm:pt modelId="{4CB835A8-6A26-467D-9D89-40E82985A647}">
      <dgm:prSet/>
      <dgm:spPr/>
      <dgm:t>
        <a:bodyPr/>
        <a:lstStyle/>
        <a:p>
          <a:r>
            <a:rPr lang="en-US"/>
            <a:t>At deployment retirement, inference and deployment return error responses.</a:t>
          </a:r>
        </a:p>
      </dgm:t>
    </dgm:pt>
    <dgm:pt modelId="{B9E9B8F1-D91D-4F09-9CD1-601791BC7FBF}" type="parTrans" cxnId="{8F42B1CB-053D-4C5E-A249-07779F72C9E6}">
      <dgm:prSet/>
      <dgm:spPr/>
      <dgm:t>
        <a:bodyPr/>
        <a:lstStyle/>
        <a:p>
          <a:endParaRPr lang="en-US"/>
        </a:p>
      </dgm:t>
    </dgm:pt>
    <dgm:pt modelId="{E316085A-551A-4C73-B81E-A6467F5FF3E5}" type="sibTrans" cxnId="{8F42B1CB-053D-4C5E-A249-07779F72C9E6}">
      <dgm:prSet/>
      <dgm:spPr/>
      <dgm:t>
        <a:bodyPr/>
        <a:lstStyle/>
        <a:p>
          <a:endParaRPr lang="en-US"/>
        </a:p>
      </dgm:t>
    </dgm:pt>
    <dgm:pt modelId="{6172B0AA-A886-4D6A-886A-A84BEC20314B}" type="pres">
      <dgm:prSet presAssocID="{FB033BB7-C9C9-4CF0-A362-FF12F2EC5577}" presName="vert0" presStyleCnt="0">
        <dgm:presLayoutVars>
          <dgm:dir/>
          <dgm:animOne val="branch"/>
          <dgm:animLvl val="lvl"/>
        </dgm:presLayoutVars>
      </dgm:prSet>
      <dgm:spPr/>
    </dgm:pt>
    <dgm:pt modelId="{98E2D5B0-44D9-441C-9C1C-F6F7734F3E14}" type="pres">
      <dgm:prSet presAssocID="{4C82100F-3DC5-40B9-B09C-7B6C36D93A7A}" presName="thickLine" presStyleLbl="alignNode1" presStyleIdx="0" presStyleCnt="4"/>
      <dgm:spPr/>
    </dgm:pt>
    <dgm:pt modelId="{3AD7FDBD-364B-46CD-96AD-C524C37A6CFA}" type="pres">
      <dgm:prSet presAssocID="{4C82100F-3DC5-40B9-B09C-7B6C36D93A7A}" presName="horz1" presStyleCnt="0"/>
      <dgm:spPr/>
    </dgm:pt>
    <dgm:pt modelId="{36689589-5F71-4BD2-8971-B0D719CF27ED}" type="pres">
      <dgm:prSet presAssocID="{4C82100F-3DC5-40B9-B09C-7B6C36D93A7A}" presName="tx1" presStyleLbl="revTx" presStyleIdx="0" presStyleCnt="4"/>
      <dgm:spPr/>
    </dgm:pt>
    <dgm:pt modelId="{F34C4CA3-B2F6-4656-AF0F-70238F745E68}" type="pres">
      <dgm:prSet presAssocID="{4C82100F-3DC5-40B9-B09C-7B6C36D93A7A}" presName="vert1" presStyleCnt="0"/>
      <dgm:spPr/>
    </dgm:pt>
    <dgm:pt modelId="{C307F819-32B5-41A6-B80B-0436BB2C330C}" type="pres">
      <dgm:prSet presAssocID="{9A667DBE-0AAF-49A5-A7F1-E4C7029A0841}" presName="thickLine" presStyleLbl="alignNode1" presStyleIdx="1" presStyleCnt="4"/>
      <dgm:spPr/>
    </dgm:pt>
    <dgm:pt modelId="{7B407974-2457-40D5-B9A0-F202AD9574FC}" type="pres">
      <dgm:prSet presAssocID="{9A667DBE-0AAF-49A5-A7F1-E4C7029A0841}" presName="horz1" presStyleCnt="0"/>
      <dgm:spPr/>
    </dgm:pt>
    <dgm:pt modelId="{1C3EFB98-EECE-41C1-B500-0FEC576266CA}" type="pres">
      <dgm:prSet presAssocID="{9A667DBE-0AAF-49A5-A7F1-E4C7029A0841}" presName="tx1" presStyleLbl="revTx" presStyleIdx="1" presStyleCnt="4"/>
      <dgm:spPr/>
    </dgm:pt>
    <dgm:pt modelId="{66034B52-F3D7-4DFC-AE9C-69DE076660BF}" type="pres">
      <dgm:prSet presAssocID="{9A667DBE-0AAF-49A5-A7F1-E4C7029A0841}" presName="vert1" presStyleCnt="0"/>
      <dgm:spPr/>
    </dgm:pt>
    <dgm:pt modelId="{5F4E8C66-1427-4907-B829-0539E5E6F98A}" type="pres">
      <dgm:prSet presAssocID="{D4C197A4-2C41-4349-B13A-C4C0DFB6F23B}" presName="thickLine" presStyleLbl="alignNode1" presStyleIdx="2" presStyleCnt="4"/>
      <dgm:spPr/>
    </dgm:pt>
    <dgm:pt modelId="{EC173451-26DD-46BD-BB87-75BAE363702E}" type="pres">
      <dgm:prSet presAssocID="{D4C197A4-2C41-4349-B13A-C4C0DFB6F23B}" presName="horz1" presStyleCnt="0"/>
      <dgm:spPr/>
    </dgm:pt>
    <dgm:pt modelId="{497DA429-E5B3-477F-AA36-E46B1B0C6537}" type="pres">
      <dgm:prSet presAssocID="{D4C197A4-2C41-4349-B13A-C4C0DFB6F23B}" presName="tx1" presStyleLbl="revTx" presStyleIdx="2" presStyleCnt="4"/>
      <dgm:spPr/>
    </dgm:pt>
    <dgm:pt modelId="{F22B33D8-0CB1-4F58-A8B9-177AC22B8B4F}" type="pres">
      <dgm:prSet presAssocID="{D4C197A4-2C41-4349-B13A-C4C0DFB6F23B}" presName="vert1" presStyleCnt="0"/>
      <dgm:spPr/>
    </dgm:pt>
    <dgm:pt modelId="{7D30B3F6-5EBD-4C26-9A13-FA4B52771B14}" type="pres">
      <dgm:prSet presAssocID="{4CB835A8-6A26-467D-9D89-40E82985A647}" presName="thickLine" presStyleLbl="alignNode1" presStyleIdx="3" presStyleCnt="4"/>
      <dgm:spPr/>
    </dgm:pt>
    <dgm:pt modelId="{3193A95C-45B9-45AC-9C19-D37AB401009E}" type="pres">
      <dgm:prSet presAssocID="{4CB835A8-6A26-467D-9D89-40E82985A647}" presName="horz1" presStyleCnt="0"/>
      <dgm:spPr/>
    </dgm:pt>
    <dgm:pt modelId="{F2A38530-A6CD-420D-BD97-0BB83F2F6AC3}" type="pres">
      <dgm:prSet presAssocID="{4CB835A8-6A26-467D-9D89-40E82985A647}" presName="tx1" presStyleLbl="revTx" presStyleIdx="3" presStyleCnt="4"/>
      <dgm:spPr/>
    </dgm:pt>
    <dgm:pt modelId="{7E5F0234-81B6-4380-B2BD-8AB7F6E30239}" type="pres">
      <dgm:prSet presAssocID="{4CB835A8-6A26-467D-9D89-40E82985A647}" presName="vert1" presStyleCnt="0"/>
      <dgm:spPr/>
    </dgm:pt>
  </dgm:ptLst>
  <dgm:cxnLst>
    <dgm:cxn modelId="{EE6E8F1C-E8E3-48C4-A0D6-8EDC507F7345}" type="presOf" srcId="{4C82100F-3DC5-40B9-B09C-7B6C36D93A7A}" destId="{36689589-5F71-4BD2-8971-B0D719CF27ED}" srcOrd="0" destOrd="0" presId="urn:microsoft.com/office/officeart/2008/layout/LinedList"/>
    <dgm:cxn modelId="{179A2E24-48A0-4000-B18D-07589C7B574D}" type="presOf" srcId="{4CB835A8-6A26-467D-9D89-40E82985A647}" destId="{F2A38530-A6CD-420D-BD97-0BB83F2F6AC3}" srcOrd="0" destOrd="0" presId="urn:microsoft.com/office/officeart/2008/layout/LinedList"/>
    <dgm:cxn modelId="{FEE20F2A-122B-4635-ABF4-F2172838ADD0}" type="presOf" srcId="{FB033BB7-C9C9-4CF0-A362-FF12F2EC5577}" destId="{6172B0AA-A886-4D6A-886A-A84BEC20314B}" srcOrd="0" destOrd="0" presId="urn:microsoft.com/office/officeart/2008/layout/LinedList"/>
    <dgm:cxn modelId="{0B459083-AD2D-48B8-B221-53EB48532967}" type="presOf" srcId="{9A667DBE-0AAF-49A5-A7F1-E4C7029A0841}" destId="{1C3EFB98-EECE-41C1-B500-0FEC576266CA}" srcOrd="0" destOrd="0" presId="urn:microsoft.com/office/officeart/2008/layout/LinedList"/>
    <dgm:cxn modelId="{80670592-7910-4980-83D8-30289D055D7E}" srcId="{FB033BB7-C9C9-4CF0-A362-FF12F2EC5577}" destId="{D4C197A4-2C41-4349-B13A-C4C0DFB6F23B}" srcOrd="2" destOrd="0" parTransId="{006A4CF2-7263-4CA9-B54C-E7D46D85C7B8}" sibTransId="{A256C824-8113-436D-BC7C-68306264169C}"/>
    <dgm:cxn modelId="{4E778FA2-D18D-4B4B-82DF-60B85E41FF27}" srcId="{FB033BB7-C9C9-4CF0-A362-FF12F2EC5577}" destId="{4C82100F-3DC5-40B9-B09C-7B6C36D93A7A}" srcOrd="0" destOrd="0" parTransId="{5CAA16A4-8DE8-4E84-B303-15C125BA7B35}" sibTransId="{8D01F51C-C5F2-44B4-BA5A-D1FCE822B1CB}"/>
    <dgm:cxn modelId="{E06180BB-B936-4CE1-862F-5491DB642F63}" type="presOf" srcId="{D4C197A4-2C41-4349-B13A-C4C0DFB6F23B}" destId="{497DA429-E5B3-477F-AA36-E46B1B0C6537}" srcOrd="0" destOrd="0" presId="urn:microsoft.com/office/officeart/2008/layout/LinedList"/>
    <dgm:cxn modelId="{8F42B1CB-053D-4C5E-A249-07779F72C9E6}" srcId="{FB033BB7-C9C9-4CF0-A362-FF12F2EC5577}" destId="{4CB835A8-6A26-467D-9D89-40E82985A647}" srcOrd="3" destOrd="0" parTransId="{B9E9B8F1-D91D-4F09-9CD1-601791BC7FBF}" sibTransId="{E316085A-551A-4C73-B81E-A6467F5FF3E5}"/>
    <dgm:cxn modelId="{C377B6E7-0E61-4E21-997E-6EA9612BF75F}" srcId="{FB033BB7-C9C9-4CF0-A362-FF12F2EC5577}" destId="{9A667DBE-0AAF-49A5-A7F1-E4C7029A0841}" srcOrd="1" destOrd="0" parTransId="{AD3F2B4B-360B-486C-B715-567D1C035EA1}" sibTransId="{549BF79E-6F53-4C55-BDB2-D052AC65C9D9}"/>
    <dgm:cxn modelId="{3D87ADE0-1A4D-44B3-81DD-38A0BD114EE8}" type="presParOf" srcId="{6172B0AA-A886-4D6A-886A-A84BEC20314B}" destId="{98E2D5B0-44D9-441C-9C1C-F6F7734F3E14}" srcOrd="0" destOrd="0" presId="urn:microsoft.com/office/officeart/2008/layout/LinedList"/>
    <dgm:cxn modelId="{811E03E0-E901-4991-9E46-5DF18EEB0B14}" type="presParOf" srcId="{6172B0AA-A886-4D6A-886A-A84BEC20314B}" destId="{3AD7FDBD-364B-46CD-96AD-C524C37A6CFA}" srcOrd="1" destOrd="0" presId="urn:microsoft.com/office/officeart/2008/layout/LinedList"/>
    <dgm:cxn modelId="{4D5E0B2B-91DD-4C2B-8D8F-E14D35D483A7}" type="presParOf" srcId="{3AD7FDBD-364B-46CD-96AD-C524C37A6CFA}" destId="{36689589-5F71-4BD2-8971-B0D719CF27ED}" srcOrd="0" destOrd="0" presId="urn:microsoft.com/office/officeart/2008/layout/LinedList"/>
    <dgm:cxn modelId="{521404EC-412D-4BB6-8B39-414D6EED705C}" type="presParOf" srcId="{3AD7FDBD-364B-46CD-96AD-C524C37A6CFA}" destId="{F34C4CA3-B2F6-4656-AF0F-70238F745E68}" srcOrd="1" destOrd="0" presId="urn:microsoft.com/office/officeart/2008/layout/LinedList"/>
    <dgm:cxn modelId="{50C4376D-7C39-4750-9EFC-D06BABC706F6}" type="presParOf" srcId="{6172B0AA-A886-4D6A-886A-A84BEC20314B}" destId="{C307F819-32B5-41A6-B80B-0436BB2C330C}" srcOrd="2" destOrd="0" presId="urn:microsoft.com/office/officeart/2008/layout/LinedList"/>
    <dgm:cxn modelId="{BA54BDB7-AA84-418F-A08C-FD36799EF946}" type="presParOf" srcId="{6172B0AA-A886-4D6A-886A-A84BEC20314B}" destId="{7B407974-2457-40D5-B9A0-F202AD9574FC}" srcOrd="3" destOrd="0" presId="urn:microsoft.com/office/officeart/2008/layout/LinedList"/>
    <dgm:cxn modelId="{5ACC8921-6DFE-4B13-A299-645CB20D4328}" type="presParOf" srcId="{7B407974-2457-40D5-B9A0-F202AD9574FC}" destId="{1C3EFB98-EECE-41C1-B500-0FEC576266CA}" srcOrd="0" destOrd="0" presId="urn:microsoft.com/office/officeart/2008/layout/LinedList"/>
    <dgm:cxn modelId="{F5BD5D2F-0986-4B59-873C-445C87FA482F}" type="presParOf" srcId="{7B407974-2457-40D5-B9A0-F202AD9574FC}" destId="{66034B52-F3D7-4DFC-AE9C-69DE076660BF}" srcOrd="1" destOrd="0" presId="urn:microsoft.com/office/officeart/2008/layout/LinedList"/>
    <dgm:cxn modelId="{6F535350-9D40-401F-9E3A-132C1E412986}" type="presParOf" srcId="{6172B0AA-A886-4D6A-886A-A84BEC20314B}" destId="{5F4E8C66-1427-4907-B829-0539E5E6F98A}" srcOrd="4" destOrd="0" presId="urn:microsoft.com/office/officeart/2008/layout/LinedList"/>
    <dgm:cxn modelId="{904BBE17-14E1-4CD7-8104-57DB199D3F83}" type="presParOf" srcId="{6172B0AA-A886-4D6A-886A-A84BEC20314B}" destId="{EC173451-26DD-46BD-BB87-75BAE363702E}" srcOrd="5" destOrd="0" presId="urn:microsoft.com/office/officeart/2008/layout/LinedList"/>
    <dgm:cxn modelId="{2C3F1153-716B-493B-96DF-C6214CDBE5A7}" type="presParOf" srcId="{EC173451-26DD-46BD-BB87-75BAE363702E}" destId="{497DA429-E5B3-477F-AA36-E46B1B0C6537}" srcOrd="0" destOrd="0" presId="urn:microsoft.com/office/officeart/2008/layout/LinedList"/>
    <dgm:cxn modelId="{43BAB2A9-8CC0-4A2A-8AD3-F64484EB0EFB}" type="presParOf" srcId="{EC173451-26DD-46BD-BB87-75BAE363702E}" destId="{F22B33D8-0CB1-4F58-A8B9-177AC22B8B4F}" srcOrd="1" destOrd="0" presId="urn:microsoft.com/office/officeart/2008/layout/LinedList"/>
    <dgm:cxn modelId="{93BDD7BF-FA1A-4785-8424-896E5DCFEA53}" type="presParOf" srcId="{6172B0AA-A886-4D6A-886A-A84BEC20314B}" destId="{7D30B3F6-5EBD-4C26-9A13-FA4B52771B14}" srcOrd="6" destOrd="0" presId="urn:microsoft.com/office/officeart/2008/layout/LinedList"/>
    <dgm:cxn modelId="{A08F2F93-A3B5-488F-AB8A-4FD8AE87B322}" type="presParOf" srcId="{6172B0AA-A886-4D6A-886A-A84BEC20314B}" destId="{3193A95C-45B9-45AC-9C19-D37AB401009E}" srcOrd="7" destOrd="0" presId="urn:microsoft.com/office/officeart/2008/layout/LinedList"/>
    <dgm:cxn modelId="{368B1709-A132-4EF5-9590-1357501AED68}" type="presParOf" srcId="{3193A95C-45B9-45AC-9C19-D37AB401009E}" destId="{F2A38530-A6CD-420D-BD97-0BB83F2F6AC3}" srcOrd="0" destOrd="0" presId="urn:microsoft.com/office/officeart/2008/layout/LinedList"/>
    <dgm:cxn modelId="{D05CFEEA-E420-4C15-A7CA-EBE7A550D5C2}" type="presParOf" srcId="{3193A95C-45B9-45AC-9C19-D37AB401009E}" destId="{7E5F0234-81B6-4380-B2BD-8AB7F6E3023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AC2E752-E66C-433D-BBAA-92060E7FFC84}" type="doc">
      <dgm:prSet loTypeId="urn:microsoft.com/office/officeart/2018/2/layout/IconVerticalSolidList" loCatId="icon" qsTypeId="urn:microsoft.com/office/officeart/2005/8/quickstyle/simple1#10" qsCatId="simple" csTypeId="urn:microsoft.com/office/officeart/2005/8/colors/accent1_2#3" csCatId="accent1" phldr="1"/>
      <dgm:spPr/>
      <dgm:t>
        <a:bodyPr/>
        <a:lstStyle/>
        <a:p>
          <a:endParaRPr lang="en-US"/>
        </a:p>
      </dgm:t>
    </dgm:pt>
    <dgm:pt modelId="{B1115EE9-0096-4C65-8A74-E6FEDBF346F9}">
      <dgm:prSet/>
      <dgm:spPr/>
      <dgm:t>
        <a:bodyPr/>
        <a:lstStyle/>
        <a:p>
          <a:pPr>
            <a:lnSpc>
              <a:spcPct val="100000"/>
            </a:lnSpc>
          </a:pPr>
          <a:r>
            <a:rPr lang="en-US"/>
            <a:t>Azure OpenAI supports automatic updates for select model deployments. On models where automatic update support is available, a model version upgrade policy drop-down is available</a:t>
          </a:r>
        </a:p>
      </dgm:t>
    </dgm:pt>
    <dgm:pt modelId="{CCD0472C-7202-48F8-85E8-E46DC7F3D3DD}" type="parTrans" cxnId="{DCE47B9E-0CC0-4E3B-B345-188EC3A2B965}">
      <dgm:prSet/>
      <dgm:spPr/>
      <dgm:t>
        <a:bodyPr/>
        <a:lstStyle/>
        <a:p>
          <a:endParaRPr lang="en-US"/>
        </a:p>
      </dgm:t>
    </dgm:pt>
    <dgm:pt modelId="{C7D101C2-8384-43B4-AE82-ABD4C91540F1}" type="sibTrans" cxnId="{DCE47B9E-0CC0-4E3B-B345-188EC3A2B965}">
      <dgm:prSet/>
      <dgm:spPr/>
      <dgm:t>
        <a:bodyPr/>
        <a:lstStyle/>
        <a:p>
          <a:endParaRPr lang="en-US"/>
        </a:p>
      </dgm:t>
    </dgm:pt>
    <dgm:pt modelId="{3FDCA2DC-B14E-49FA-B84D-EF84ED77C958}">
      <dgm:prSet/>
      <dgm:spPr/>
      <dgm:t>
        <a:bodyPr/>
        <a:lstStyle/>
        <a:p>
          <a:pPr>
            <a:lnSpc>
              <a:spcPct val="100000"/>
            </a:lnSpc>
          </a:pPr>
          <a:r>
            <a:rPr lang="en-US"/>
            <a:t>Automatic model updates are only supported for Standard deployment types</a:t>
          </a:r>
        </a:p>
      </dgm:t>
    </dgm:pt>
    <dgm:pt modelId="{A357DBE5-AD31-417C-AC59-F4C585A3F108}" type="parTrans" cxnId="{A18EA796-3B5A-44BF-A775-DB3FFDC57A93}">
      <dgm:prSet/>
      <dgm:spPr/>
      <dgm:t>
        <a:bodyPr/>
        <a:lstStyle/>
        <a:p>
          <a:endParaRPr lang="en-US"/>
        </a:p>
      </dgm:t>
    </dgm:pt>
    <dgm:pt modelId="{4DDDDA60-9788-41C9-A1FB-3C7F4231652C}" type="sibTrans" cxnId="{A18EA796-3B5A-44BF-A775-DB3FFDC57A93}">
      <dgm:prSet/>
      <dgm:spPr/>
      <dgm:t>
        <a:bodyPr/>
        <a:lstStyle/>
        <a:p>
          <a:endParaRPr lang="en-US"/>
        </a:p>
      </dgm:t>
    </dgm:pt>
    <dgm:pt modelId="{6382D21B-92F3-4EAF-965D-5A316DC7C8A2}">
      <dgm:prSet/>
      <dgm:spPr/>
      <dgm:t>
        <a:bodyPr/>
        <a:lstStyle/>
        <a:p>
          <a:pPr>
            <a:lnSpc>
              <a:spcPct val="100000"/>
            </a:lnSpc>
          </a:pPr>
          <a:r>
            <a:rPr lang="en-US"/>
            <a:t>Update policies are configured per deployment and </a:t>
          </a:r>
          <a:r>
            <a:rPr lang="en-US" b="1"/>
            <a:t>vary</a:t>
          </a:r>
          <a:r>
            <a:rPr lang="en-US"/>
            <a:t> by model and provider.</a:t>
          </a:r>
        </a:p>
      </dgm:t>
    </dgm:pt>
    <dgm:pt modelId="{3E6269F2-83F4-47A5-A227-54BA5F86A330}" type="parTrans" cxnId="{C30C5849-C911-4382-B892-514312C96059}">
      <dgm:prSet/>
      <dgm:spPr/>
      <dgm:t>
        <a:bodyPr/>
        <a:lstStyle/>
        <a:p>
          <a:endParaRPr lang="en-US"/>
        </a:p>
      </dgm:t>
    </dgm:pt>
    <dgm:pt modelId="{F9A7FB55-DCEC-479A-89B1-CD3C287584B3}" type="sibTrans" cxnId="{C30C5849-C911-4382-B892-514312C96059}">
      <dgm:prSet/>
      <dgm:spPr/>
      <dgm:t>
        <a:bodyPr/>
        <a:lstStyle/>
        <a:p>
          <a:endParaRPr lang="en-US"/>
        </a:p>
      </dgm:t>
    </dgm:pt>
    <dgm:pt modelId="{2C89EB59-F2EA-4A7A-93A2-B62F3179232C}" type="pres">
      <dgm:prSet presAssocID="{FAC2E752-E66C-433D-BBAA-92060E7FFC84}" presName="root" presStyleCnt="0">
        <dgm:presLayoutVars>
          <dgm:dir/>
          <dgm:resizeHandles val="exact"/>
        </dgm:presLayoutVars>
      </dgm:prSet>
      <dgm:spPr/>
    </dgm:pt>
    <dgm:pt modelId="{07ECB5DC-9BBC-4E5D-8CF0-CB84CB1B4175}" type="pres">
      <dgm:prSet presAssocID="{B1115EE9-0096-4C65-8A74-E6FEDBF346F9}" presName="compNode" presStyleCnt="0"/>
      <dgm:spPr/>
    </dgm:pt>
    <dgm:pt modelId="{B0EDAE8E-F5D8-468D-8170-DCF90F6461E5}" type="pres">
      <dgm:prSet presAssocID="{B1115EE9-0096-4C65-8A74-E6FEDBF346F9}" presName="bgRect" presStyleLbl="bgShp" presStyleIdx="0" presStyleCnt="3"/>
      <dgm:spPr/>
    </dgm:pt>
    <dgm:pt modelId="{8DD1C7D7-3D5E-43CE-9713-67DDBED6C967}" type="pres">
      <dgm:prSet presAssocID="{B1115EE9-0096-4C65-8A74-E6FEDBF346F9}"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yncing Cloud"/>
        </a:ext>
      </dgm:extLst>
    </dgm:pt>
    <dgm:pt modelId="{9C951C99-DAEF-434A-98E6-2C0A9922F0F7}" type="pres">
      <dgm:prSet presAssocID="{B1115EE9-0096-4C65-8A74-E6FEDBF346F9}" presName="spaceRect" presStyleCnt="0"/>
      <dgm:spPr/>
    </dgm:pt>
    <dgm:pt modelId="{A07DCB69-3D0C-4B8B-83A9-EF784C56F0C7}" type="pres">
      <dgm:prSet presAssocID="{B1115EE9-0096-4C65-8A74-E6FEDBF346F9}" presName="parTx" presStyleLbl="revTx" presStyleIdx="0" presStyleCnt="3">
        <dgm:presLayoutVars>
          <dgm:chMax val="0"/>
          <dgm:chPref val="0"/>
        </dgm:presLayoutVars>
      </dgm:prSet>
      <dgm:spPr/>
    </dgm:pt>
    <dgm:pt modelId="{9D303C59-0F44-4F95-9626-CB746D94B03D}" type="pres">
      <dgm:prSet presAssocID="{C7D101C2-8384-43B4-AE82-ABD4C91540F1}" presName="sibTrans" presStyleCnt="0"/>
      <dgm:spPr/>
    </dgm:pt>
    <dgm:pt modelId="{E5F4C718-651A-490D-9D34-C48DC6F60DDB}" type="pres">
      <dgm:prSet presAssocID="{3FDCA2DC-B14E-49FA-B84D-EF84ED77C958}" presName="compNode" presStyleCnt="0"/>
      <dgm:spPr/>
    </dgm:pt>
    <dgm:pt modelId="{D828625D-57E6-4758-9FE2-4AA6EC24D553}" type="pres">
      <dgm:prSet presAssocID="{3FDCA2DC-B14E-49FA-B84D-EF84ED77C958}" presName="bgRect" presStyleLbl="bgShp" presStyleIdx="1" presStyleCnt="3"/>
      <dgm:spPr/>
    </dgm:pt>
    <dgm:pt modelId="{0F67D572-ADD8-4A57-881E-D39EEA7F1C8F}" type="pres">
      <dgm:prSet presAssocID="{3FDCA2DC-B14E-49FA-B84D-EF84ED77C95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9118C29B-A22B-4165-89CB-94307D7B2EDB}" type="pres">
      <dgm:prSet presAssocID="{3FDCA2DC-B14E-49FA-B84D-EF84ED77C958}" presName="spaceRect" presStyleCnt="0"/>
      <dgm:spPr/>
    </dgm:pt>
    <dgm:pt modelId="{D4B1DFB3-1B25-47DD-BBD8-A4D6C79A1FB0}" type="pres">
      <dgm:prSet presAssocID="{3FDCA2DC-B14E-49FA-B84D-EF84ED77C958}" presName="parTx" presStyleLbl="revTx" presStyleIdx="1" presStyleCnt="3">
        <dgm:presLayoutVars>
          <dgm:chMax val="0"/>
          <dgm:chPref val="0"/>
        </dgm:presLayoutVars>
      </dgm:prSet>
      <dgm:spPr/>
    </dgm:pt>
    <dgm:pt modelId="{2E584A65-FAE5-470F-A234-361E7CA59D4F}" type="pres">
      <dgm:prSet presAssocID="{4DDDDA60-9788-41C9-A1FB-3C7F4231652C}" presName="sibTrans" presStyleCnt="0"/>
      <dgm:spPr/>
    </dgm:pt>
    <dgm:pt modelId="{66700027-59E5-4B16-BF81-AA518E8677CF}" type="pres">
      <dgm:prSet presAssocID="{6382D21B-92F3-4EAF-965D-5A316DC7C8A2}" presName="compNode" presStyleCnt="0"/>
      <dgm:spPr/>
    </dgm:pt>
    <dgm:pt modelId="{3DB0E05F-3B58-4E9C-B14D-07BAFFBF9E16}" type="pres">
      <dgm:prSet presAssocID="{6382D21B-92F3-4EAF-965D-5A316DC7C8A2}" presName="bgRect" presStyleLbl="bgShp" presStyleIdx="2" presStyleCnt="3"/>
      <dgm:spPr/>
    </dgm:pt>
    <dgm:pt modelId="{68C9288A-16B9-4EF8-9732-5EB4C0E7AD4D}" type="pres">
      <dgm:prSet presAssocID="{6382D21B-92F3-4EAF-965D-5A316DC7C8A2}"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atabase"/>
        </a:ext>
      </dgm:extLst>
    </dgm:pt>
    <dgm:pt modelId="{7FD7ED10-100B-4C6A-A8B7-8C59F7F8773A}" type="pres">
      <dgm:prSet presAssocID="{6382D21B-92F3-4EAF-965D-5A316DC7C8A2}" presName="spaceRect" presStyleCnt="0"/>
      <dgm:spPr/>
    </dgm:pt>
    <dgm:pt modelId="{F202D5E1-0EAF-4FFD-9E4A-2083DCE3D733}" type="pres">
      <dgm:prSet presAssocID="{6382D21B-92F3-4EAF-965D-5A316DC7C8A2}" presName="parTx" presStyleLbl="revTx" presStyleIdx="2" presStyleCnt="3">
        <dgm:presLayoutVars>
          <dgm:chMax val="0"/>
          <dgm:chPref val="0"/>
        </dgm:presLayoutVars>
      </dgm:prSet>
      <dgm:spPr/>
    </dgm:pt>
  </dgm:ptLst>
  <dgm:cxnLst>
    <dgm:cxn modelId="{0DA4AE28-88FA-4C5B-B84A-7E92A694D6BD}" type="presOf" srcId="{3FDCA2DC-B14E-49FA-B84D-EF84ED77C958}" destId="{D4B1DFB3-1B25-47DD-BBD8-A4D6C79A1FB0}" srcOrd="0" destOrd="0" presId="urn:microsoft.com/office/officeart/2018/2/layout/IconVerticalSolidList"/>
    <dgm:cxn modelId="{C30C5849-C911-4382-B892-514312C96059}" srcId="{FAC2E752-E66C-433D-BBAA-92060E7FFC84}" destId="{6382D21B-92F3-4EAF-965D-5A316DC7C8A2}" srcOrd="2" destOrd="0" parTransId="{3E6269F2-83F4-47A5-A227-54BA5F86A330}" sibTransId="{F9A7FB55-DCEC-479A-89B1-CD3C287584B3}"/>
    <dgm:cxn modelId="{9B26A970-C249-4593-A030-8BF7FC1471A9}" type="presOf" srcId="{FAC2E752-E66C-433D-BBAA-92060E7FFC84}" destId="{2C89EB59-F2EA-4A7A-93A2-B62F3179232C}" srcOrd="0" destOrd="0" presId="urn:microsoft.com/office/officeart/2018/2/layout/IconVerticalSolidList"/>
    <dgm:cxn modelId="{A18EA796-3B5A-44BF-A775-DB3FFDC57A93}" srcId="{FAC2E752-E66C-433D-BBAA-92060E7FFC84}" destId="{3FDCA2DC-B14E-49FA-B84D-EF84ED77C958}" srcOrd="1" destOrd="0" parTransId="{A357DBE5-AD31-417C-AC59-F4C585A3F108}" sibTransId="{4DDDDA60-9788-41C9-A1FB-3C7F4231652C}"/>
    <dgm:cxn modelId="{DCE47B9E-0CC0-4E3B-B345-188EC3A2B965}" srcId="{FAC2E752-E66C-433D-BBAA-92060E7FFC84}" destId="{B1115EE9-0096-4C65-8A74-E6FEDBF346F9}" srcOrd="0" destOrd="0" parTransId="{CCD0472C-7202-48F8-85E8-E46DC7F3D3DD}" sibTransId="{C7D101C2-8384-43B4-AE82-ABD4C91540F1}"/>
    <dgm:cxn modelId="{8C7F76BC-BD2C-42AA-A904-3A034CFBA359}" type="presOf" srcId="{B1115EE9-0096-4C65-8A74-E6FEDBF346F9}" destId="{A07DCB69-3D0C-4B8B-83A9-EF784C56F0C7}" srcOrd="0" destOrd="0" presId="urn:microsoft.com/office/officeart/2018/2/layout/IconVerticalSolidList"/>
    <dgm:cxn modelId="{804852C3-A3D8-43AA-AC67-6491A4EDF806}" type="presOf" srcId="{6382D21B-92F3-4EAF-965D-5A316DC7C8A2}" destId="{F202D5E1-0EAF-4FFD-9E4A-2083DCE3D733}" srcOrd="0" destOrd="0" presId="urn:microsoft.com/office/officeart/2018/2/layout/IconVerticalSolidList"/>
    <dgm:cxn modelId="{1F4F87B7-F1D6-4C5A-B963-606EDDC62CFB}" type="presParOf" srcId="{2C89EB59-F2EA-4A7A-93A2-B62F3179232C}" destId="{07ECB5DC-9BBC-4E5D-8CF0-CB84CB1B4175}" srcOrd="0" destOrd="0" presId="urn:microsoft.com/office/officeart/2018/2/layout/IconVerticalSolidList"/>
    <dgm:cxn modelId="{DAF927FD-3D69-49B0-9A42-A8FD3890FB9D}" type="presParOf" srcId="{07ECB5DC-9BBC-4E5D-8CF0-CB84CB1B4175}" destId="{B0EDAE8E-F5D8-468D-8170-DCF90F6461E5}" srcOrd="0" destOrd="0" presId="urn:microsoft.com/office/officeart/2018/2/layout/IconVerticalSolidList"/>
    <dgm:cxn modelId="{367FD3AB-A9BC-4370-8ABE-9F917E9722CE}" type="presParOf" srcId="{07ECB5DC-9BBC-4E5D-8CF0-CB84CB1B4175}" destId="{8DD1C7D7-3D5E-43CE-9713-67DDBED6C967}" srcOrd="1" destOrd="0" presId="urn:microsoft.com/office/officeart/2018/2/layout/IconVerticalSolidList"/>
    <dgm:cxn modelId="{8A099F97-A614-4384-B5F0-8C6282525AF1}" type="presParOf" srcId="{07ECB5DC-9BBC-4E5D-8CF0-CB84CB1B4175}" destId="{9C951C99-DAEF-434A-98E6-2C0A9922F0F7}" srcOrd="2" destOrd="0" presId="urn:microsoft.com/office/officeart/2018/2/layout/IconVerticalSolidList"/>
    <dgm:cxn modelId="{89238824-97B4-4A1D-827C-34165992668A}" type="presParOf" srcId="{07ECB5DC-9BBC-4E5D-8CF0-CB84CB1B4175}" destId="{A07DCB69-3D0C-4B8B-83A9-EF784C56F0C7}" srcOrd="3" destOrd="0" presId="urn:microsoft.com/office/officeart/2018/2/layout/IconVerticalSolidList"/>
    <dgm:cxn modelId="{24BBD005-BE41-41CD-A8E6-824058025AB6}" type="presParOf" srcId="{2C89EB59-F2EA-4A7A-93A2-B62F3179232C}" destId="{9D303C59-0F44-4F95-9626-CB746D94B03D}" srcOrd="1" destOrd="0" presId="urn:microsoft.com/office/officeart/2018/2/layout/IconVerticalSolidList"/>
    <dgm:cxn modelId="{158978F1-4C78-43DE-A597-F250A906CA54}" type="presParOf" srcId="{2C89EB59-F2EA-4A7A-93A2-B62F3179232C}" destId="{E5F4C718-651A-490D-9D34-C48DC6F60DDB}" srcOrd="2" destOrd="0" presId="urn:microsoft.com/office/officeart/2018/2/layout/IconVerticalSolidList"/>
    <dgm:cxn modelId="{509CDE22-12A1-4725-9945-F32D1BC7EE16}" type="presParOf" srcId="{E5F4C718-651A-490D-9D34-C48DC6F60DDB}" destId="{D828625D-57E6-4758-9FE2-4AA6EC24D553}" srcOrd="0" destOrd="0" presId="urn:microsoft.com/office/officeart/2018/2/layout/IconVerticalSolidList"/>
    <dgm:cxn modelId="{9B55FD85-FBCB-421F-93CD-71DB5B021B46}" type="presParOf" srcId="{E5F4C718-651A-490D-9D34-C48DC6F60DDB}" destId="{0F67D572-ADD8-4A57-881E-D39EEA7F1C8F}" srcOrd="1" destOrd="0" presId="urn:microsoft.com/office/officeart/2018/2/layout/IconVerticalSolidList"/>
    <dgm:cxn modelId="{A4CB4C5C-8223-4336-BE31-2991C58C3CB8}" type="presParOf" srcId="{E5F4C718-651A-490D-9D34-C48DC6F60DDB}" destId="{9118C29B-A22B-4165-89CB-94307D7B2EDB}" srcOrd="2" destOrd="0" presId="urn:microsoft.com/office/officeart/2018/2/layout/IconVerticalSolidList"/>
    <dgm:cxn modelId="{1330DE7C-9357-4CE1-A062-C910A10141B6}" type="presParOf" srcId="{E5F4C718-651A-490D-9D34-C48DC6F60DDB}" destId="{D4B1DFB3-1B25-47DD-BBD8-A4D6C79A1FB0}" srcOrd="3" destOrd="0" presId="urn:microsoft.com/office/officeart/2018/2/layout/IconVerticalSolidList"/>
    <dgm:cxn modelId="{CA48C658-86F7-4662-BC03-4C00D78EDF90}" type="presParOf" srcId="{2C89EB59-F2EA-4A7A-93A2-B62F3179232C}" destId="{2E584A65-FAE5-470F-A234-361E7CA59D4F}" srcOrd="3" destOrd="0" presId="urn:microsoft.com/office/officeart/2018/2/layout/IconVerticalSolidList"/>
    <dgm:cxn modelId="{ECFFF6F5-BA3C-4756-A93D-E5CA16EE2989}" type="presParOf" srcId="{2C89EB59-F2EA-4A7A-93A2-B62F3179232C}" destId="{66700027-59E5-4B16-BF81-AA518E8677CF}" srcOrd="4" destOrd="0" presId="urn:microsoft.com/office/officeart/2018/2/layout/IconVerticalSolidList"/>
    <dgm:cxn modelId="{C26181BC-29A0-427F-B6EF-A1AF3E7A6B5D}" type="presParOf" srcId="{66700027-59E5-4B16-BF81-AA518E8677CF}" destId="{3DB0E05F-3B58-4E9C-B14D-07BAFFBF9E16}" srcOrd="0" destOrd="0" presId="urn:microsoft.com/office/officeart/2018/2/layout/IconVerticalSolidList"/>
    <dgm:cxn modelId="{D6D02006-1BB8-422B-942A-3F325995114E}" type="presParOf" srcId="{66700027-59E5-4B16-BF81-AA518E8677CF}" destId="{68C9288A-16B9-4EF8-9732-5EB4C0E7AD4D}" srcOrd="1" destOrd="0" presId="urn:microsoft.com/office/officeart/2018/2/layout/IconVerticalSolidList"/>
    <dgm:cxn modelId="{5A531D1A-C015-4E65-99D9-3F39351BB1ED}" type="presParOf" srcId="{66700027-59E5-4B16-BF81-AA518E8677CF}" destId="{7FD7ED10-100B-4C6A-A8B7-8C59F7F8773A}" srcOrd="2" destOrd="0" presId="urn:microsoft.com/office/officeart/2018/2/layout/IconVerticalSolidList"/>
    <dgm:cxn modelId="{F021A1C1-2284-417A-9C66-64BA6022EB70}" type="presParOf" srcId="{66700027-59E5-4B16-BF81-AA518E8677CF}" destId="{F202D5E1-0EAF-4FFD-9E4A-2083DCE3D73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BD9C722-1AE5-4A72-B0B8-90B205E8E190}" type="doc">
      <dgm:prSet loTypeId="urn:microsoft.com/office/officeart/2018/2/layout/IconVerticalSolidList" loCatId="icon" qsTypeId="urn:microsoft.com/office/officeart/2005/8/quickstyle/simple1#11" qsCatId="simple" csTypeId="urn:microsoft.com/office/officeart/2005/8/colors/accent1_2#4" csCatId="accent1" phldr="1"/>
      <dgm:spPr/>
      <dgm:t>
        <a:bodyPr/>
        <a:lstStyle/>
        <a:p>
          <a:endParaRPr lang="en-US"/>
        </a:p>
      </dgm:t>
    </dgm:pt>
    <dgm:pt modelId="{BC40D66B-7293-4D44-A4DE-593CC93BEE6D}">
      <dgm:prSet/>
      <dgm:spPr/>
      <dgm:t>
        <a:bodyPr/>
        <a:lstStyle/>
        <a:p>
          <a:pPr>
            <a:lnSpc>
              <a:spcPct val="100000"/>
            </a:lnSpc>
          </a:pPr>
          <a:r>
            <a:rPr lang="en-US"/>
            <a:t>Deployments set to Auto-update to default automatically update to use the new default version.</a:t>
          </a:r>
        </a:p>
      </dgm:t>
    </dgm:pt>
    <dgm:pt modelId="{AAC6AEFA-156B-4B75-9BD3-25D47AB0E62B}" type="parTrans" cxnId="{958F9D5A-8020-414F-BA99-5A8336014E50}">
      <dgm:prSet/>
      <dgm:spPr/>
      <dgm:t>
        <a:bodyPr/>
        <a:lstStyle/>
        <a:p>
          <a:endParaRPr lang="en-US"/>
        </a:p>
      </dgm:t>
    </dgm:pt>
    <dgm:pt modelId="{28FF8C0A-E362-4653-91D2-19AB936E8EDD}" type="sibTrans" cxnId="{958F9D5A-8020-414F-BA99-5A8336014E50}">
      <dgm:prSet/>
      <dgm:spPr/>
      <dgm:t>
        <a:bodyPr/>
        <a:lstStyle/>
        <a:p>
          <a:endParaRPr lang="en-US"/>
        </a:p>
      </dgm:t>
    </dgm:pt>
    <dgm:pt modelId="{E0B8AF2B-BD63-408E-A361-577953E85423}">
      <dgm:prSet/>
      <dgm:spPr/>
      <dgm:t>
        <a:bodyPr/>
        <a:lstStyle/>
        <a:p>
          <a:pPr>
            <a:lnSpc>
              <a:spcPct val="100000"/>
            </a:lnSpc>
          </a:pPr>
          <a:r>
            <a:rPr lang="en-US"/>
            <a:t>Deployments set to Upgrade when expired automatically update when its current version is retired.</a:t>
          </a:r>
        </a:p>
      </dgm:t>
    </dgm:pt>
    <dgm:pt modelId="{810BE077-CE14-4575-987F-B6210DA60C1C}" type="parTrans" cxnId="{EE2506A3-1A82-43E1-94BE-647476A77C52}">
      <dgm:prSet/>
      <dgm:spPr/>
      <dgm:t>
        <a:bodyPr/>
        <a:lstStyle/>
        <a:p>
          <a:endParaRPr lang="en-US"/>
        </a:p>
      </dgm:t>
    </dgm:pt>
    <dgm:pt modelId="{E1CCC101-322D-4F50-8E54-5887EFB12BA4}" type="sibTrans" cxnId="{EE2506A3-1A82-43E1-94BE-647476A77C52}">
      <dgm:prSet/>
      <dgm:spPr/>
      <dgm:t>
        <a:bodyPr/>
        <a:lstStyle/>
        <a:p>
          <a:endParaRPr lang="en-US"/>
        </a:p>
      </dgm:t>
    </dgm:pt>
    <dgm:pt modelId="{FA0A5F69-554E-4204-B446-8E85EDC991F7}">
      <dgm:prSet/>
      <dgm:spPr/>
      <dgm:t>
        <a:bodyPr/>
        <a:lstStyle/>
        <a:p>
          <a:pPr>
            <a:lnSpc>
              <a:spcPct val="100000"/>
            </a:lnSpc>
          </a:pPr>
          <a:r>
            <a:rPr lang="en-US"/>
            <a:t>Deployments that are set to No Auto Upgrade stop working when the model is retired.</a:t>
          </a:r>
        </a:p>
      </dgm:t>
    </dgm:pt>
    <dgm:pt modelId="{0A1EADCF-48B5-4F6E-A2B5-D216693F3D5B}" type="parTrans" cxnId="{65511549-5473-4532-8089-313EBDD4C52E}">
      <dgm:prSet/>
      <dgm:spPr/>
      <dgm:t>
        <a:bodyPr/>
        <a:lstStyle/>
        <a:p>
          <a:endParaRPr lang="en-US"/>
        </a:p>
      </dgm:t>
    </dgm:pt>
    <dgm:pt modelId="{5F1519B3-30B7-4520-969B-846C0265F451}" type="sibTrans" cxnId="{65511549-5473-4532-8089-313EBDD4C52E}">
      <dgm:prSet/>
      <dgm:spPr/>
      <dgm:t>
        <a:bodyPr/>
        <a:lstStyle/>
        <a:p>
          <a:endParaRPr lang="en-US"/>
        </a:p>
      </dgm:t>
    </dgm:pt>
    <dgm:pt modelId="{20466D66-9C5F-4EAE-BF2B-AD211602AF09}" type="pres">
      <dgm:prSet presAssocID="{0BD9C722-1AE5-4A72-B0B8-90B205E8E190}" presName="root" presStyleCnt="0">
        <dgm:presLayoutVars>
          <dgm:dir/>
          <dgm:resizeHandles val="exact"/>
        </dgm:presLayoutVars>
      </dgm:prSet>
      <dgm:spPr/>
    </dgm:pt>
    <dgm:pt modelId="{081F0068-F837-4CA6-8142-A9F9BC0F3469}" type="pres">
      <dgm:prSet presAssocID="{BC40D66B-7293-4D44-A4DE-593CC93BEE6D}" presName="compNode" presStyleCnt="0"/>
      <dgm:spPr/>
    </dgm:pt>
    <dgm:pt modelId="{50F90872-3EF6-402F-A038-44BF2260DDA3}" type="pres">
      <dgm:prSet presAssocID="{BC40D66B-7293-4D44-A4DE-593CC93BEE6D}" presName="bgRect" presStyleLbl="bgShp" presStyleIdx="0" presStyleCnt="3"/>
      <dgm:spPr/>
    </dgm:pt>
    <dgm:pt modelId="{E0585387-353F-47FC-B505-4FEB1BB25A9D}" type="pres">
      <dgm:prSet presAssocID="{BC40D66B-7293-4D44-A4DE-593CC93BEE6D}"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rowser Window"/>
        </a:ext>
      </dgm:extLst>
    </dgm:pt>
    <dgm:pt modelId="{FB026E84-DC6B-4AF6-824D-AE2D3CE10E40}" type="pres">
      <dgm:prSet presAssocID="{BC40D66B-7293-4D44-A4DE-593CC93BEE6D}" presName="spaceRect" presStyleCnt="0"/>
      <dgm:spPr/>
    </dgm:pt>
    <dgm:pt modelId="{2256566F-5924-4CB4-9820-19465FCDAB9E}" type="pres">
      <dgm:prSet presAssocID="{BC40D66B-7293-4D44-A4DE-593CC93BEE6D}" presName="parTx" presStyleLbl="revTx" presStyleIdx="0" presStyleCnt="3">
        <dgm:presLayoutVars>
          <dgm:chMax val="0"/>
          <dgm:chPref val="0"/>
        </dgm:presLayoutVars>
      </dgm:prSet>
      <dgm:spPr/>
    </dgm:pt>
    <dgm:pt modelId="{04C49390-4090-4820-A325-88A5BE7DD6F9}" type="pres">
      <dgm:prSet presAssocID="{28FF8C0A-E362-4653-91D2-19AB936E8EDD}" presName="sibTrans" presStyleCnt="0"/>
      <dgm:spPr/>
    </dgm:pt>
    <dgm:pt modelId="{F3BE99F7-D486-4018-B72D-106A89082B82}" type="pres">
      <dgm:prSet presAssocID="{E0B8AF2B-BD63-408E-A361-577953E85423}" presName="compNode" presStyleCnt="0"/>
      <dgm:spPr/>
    </dgm:pt>
    <dgm:pt modelId="{678EB14C-BF29-4B1B-9D42-CF0A8C5B51CA}" type="pres">
      <dgm:prSet presAssocID="{E0B8AF2B-BD63-408E-A361-577953E85423}" presName="bgRect" presStyleLbl="bgShp" presStyleIdx="1" presStyleCnt="3"/>
      <dgm:spPr/>
    </dgm:pt>
    <dgm:pt modelId="{DEE99E50-D0F1-4F91-8ED1-8996211F0332}" type="pres">
      <dgm:prSet presAssocID="{E0B8AF2B-BD63-408E-A361-577953E85423}"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yncing Cloud"/>
        </a:ext>
      </dgm:extLst>
    </dgm:pt>
    <dgm:pt modelId="{A2BB453F-8AE3-4C64-83E3-D0E6C45C8641}" type="pres">
      <dgm:prSet presAssocID="{E0B8AF2B-BD63-408E-A361-577953E85423}" presName="spaceRect" presStyleCnt="0"/>
      <dgm:spPr/>
    </dgm:pt>
    <dgm:pt modelId="{DE5434D1-98E7-4D68-AF06-CC8198752258}" type="pres">
      <dgm:prSet presAssocID="{E0B8AF2B-BD63-408E-A361-577953E85423}" presName="parTx" presStyleLbl="revTx" presStyleIdx="1" presStyleCnt="3">
        <dgm:presLayoutVars>
          <dgm:chMax val="0"/>
          <dgm:chPref val="0"/>
        </dgm:presLayoutVars>
      </dgm:prSet>
      <dgm:spPr/>
    </dgm:pt>
    <dgm:pt modelId="{1BD55B57-2D49-490E-BD76-CF2F95351410}" type="pres">
      <dgm:prSet presAssocID="{E1CCC101-322D-4F50-8E54-5887EFB12BA4}" presName="sibTrans" presStyleCnt="0"/>
      <dgm:spPr/>
    </dgm:pt>
    <dgm:pt modelId="{D5829863-BE90-4B97-B949-51C7FAC060D0}" type="pres">
      <dgm:prSet presAssocID="{FA0A5F69-554E-4204-B446-8E85EDC991F7}" presName="compNode" presStyleCnt="0"/>
      <dgm:spPr/>
    </dgm:pt>
    <dgm:pt modelId="{BD60BB15-58B5-4888-AD23-D8BACB93588A}" type="pres">
      <dgm:prSet presAssocID="{FA0A5F69-554E-4204-B446-8E85EDC991F7}" presName="bgRect" presStyleLbl="bgShp" presStyleIdx="2" presStyleCnt="3"/>
      <dgm:spPr/>
    </dgm:pt>
    <dgm:pt modelId="{B740A0CD-4580-4421-9B06-3F56AEFF217C}" type="pres">
      <dgm:prSet presAssocID="{FA0A5F69-554E-4204-B446-8E85EDC991F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rocessor"/>
        </a:ext>
      </dgm:extLst>
    </dgm:pt>
    <dgm:pt modelId="{A4F51A06-6139-4045-96FD-2212FFC6952C}" type="pres">
      <dgm:prSet presAssocID="{FA0A5F69-554E-4204-B446-8E85EDC991F7}" presName="spaceRect" presStyleCnt="0"/>
      <dgm:spPr/>
    </dgm:pt>
    <dgm:pt modelId="{A3111449-13B1-47C2-B3A2-0162061C8906}" type="pres">
      <dgm:prSet presAssocID="{FA0A5F69-554E-4204-B446-8E85EDC991F7}" presName="parTx" presStyleLbl="revTx" presStyleIdx="2" presStyleCnt="3">
        <dgm:presLayoutVars>
          <dgm:chMax val="0"/>
          <dgm:chPref val="0"/>
        </dgm:presLayoutVars>
      </dgm:prSet>
      <dgm:spPr/>
    </dgm:pt>
  </dgm:ptLst>
  <dgm:cxnLst>
    <dgm:cxn modelId="{645E8D24-8286-4281-BBF0-203224342D1A}" type="presOf" srcId="{0BD9C722-1AE5-4A72-B0B8-90B205E8E190}" destId="{20466D66-9C5F-4EAE-BF2B-AD211602AF09}" srcOrd="0" destOrd="0" presId="urn:microsoft.com/office/officeart/2018/2/layout/IconVerticalSolidList"/>
    <dgm:cxn modelId="{FE1FA324-C176-4896-9482-EF295F9BC972}" type="presOf" srcId="{E0B8AF2B-BD63-408E-A361-577953E85423}" destId="{DE5434D1-98E7-4D68-AF06-CC8198752258}" srcOrd="0" destOrd="0" presId="urn:microsoft.com/office/officeart/2018/2/layout/IconVerticalSolidList"/>
    <dgm:cxn modelId="{65511549-5473-4532-8089-313EBDD4C52E}" srcId="{0BD9C722-1AE5-4A72-B0B8-90B205E8E190}" destId="{FA0A5F69-554E-4204-B446-8E85EDC991F7}" srcOrd="2" destOrd="0" parTransId="{0A1EADCF-48B5-4F6E-A2B5-D216693F3D5B}" sibTransId="{5F1519B3-30B7-4520-969B-846C0265F451}"/>
    <dgm:cxn modelId="{958F9D5A-8020-414F-BA99-5A8336014E50}" srcId="{0BD9C722-1AE5-4A72-B0B8-90B205E8E190}" destId="{BC40D66B-7293-4D44-A4DE-593CC93BEE6D}" srcOrd="0" destOrd="0" parTransId="{AAC6AEFA-156B-4B75-9BD3-25D47AB0E62B}" sibTransId="{28FF8C0A-E362-4653-91D2-19AB936E8EDD}"/>
    <dgm:cxn modelId="{EE2506A3-1A82-43E1-94BE-647476A77C52}" srcId="{0BD9C722-1AE5-4A72-B0B8-90B205E8E190}" destId="{E0B8AF2B-BD63-408E-A361-577953E85423}" srcOrd="1" destOrd="0" parTransId="{810BE077-CE14-4575-987F-B6210DA60C1C}" sibTransId="{E1CCC101-322D-4F50-8E54-5887EFB12BA4}"/>
    <dgm:cxn modelId="{D69288C8-09B8-4D1E-B7DC-DE5D916697E6}" type="presOf" srcId="{FA0A5F69-554E-4204-B446-8E85EDC991F7}" destId="{A3111449-13B1-47C2-B3A2-0162061C8906}" srcOrd="0" destOrd="0" presId="urn:microsoft.com/office/officeart/2018/2/layout/IconVerticalSolidList"/>
    <dgm:cxn modelId="{3A57AAE4-A50F-47B1-8EFA-DCB9A556EDC3}" type="presOf" srcId="{BC40D66B-7293-4D44-A4DE-593CC93BEE6D}" destId="{2256566F-5924-4CB4-9820-19465FCDAB9E}" srcOrd="0" destOrd="0" presId="urn:microsoft.com/office/officeart/2018/2/layout/IconVerticalSolidList"/>
    <dgm:cxn modelId="{20215B28-8295-42BE-8813-5AD618549C3B}" type="presParOf" srcId="{20466D66-9C5F-4EAE-BF2B-AD211602AF09}" destId="{081F0068-F837-4CA6-8142-A9F9BC0F3469}" srcOrd="0" destOrd="0" presId="urn:microsoft.com/office/officeart/2018/2/layout/IconVerticalSolidList"/>
    <dgm:cxn modelId="{7F9A6859-92AD-4115-A80A-3FAB02233EF5}" type="presParOf" srcId="{081F0068-F837-4CA6-8142-A9F9BC0F3469}" destId="{50F90872-3EF6-402F-A038-44BF2260DDA3}" srcOrd="0" destOrd="0" presId="urn:microsoft.com/office/officeart/2018/2/layout/IconVerticalSolidList"/>
    <dgm:cxn modelId="{5CBE8D4B-15FB-4A6B-897C-81533CA3792F}" type="presParOf" srcId="{081F0068-F837-4CA6-8142-A9F9BC0F3469}" destId="{E0585387-353F-47FC-B505-4FEB1BB25A9D}" srcOrd="1" destOrd="0" presId="urn:microsoft.com/office/officeart/2018/2/layout/IconVerticalSolidList"/>
    <dgm:cxn modelId="{903B17CF-3B58-4430-88BB-C1A6EEC9F3FB}" type="presParOf" srcId="{081F0068-F837-4CA6-8142-A9F9BC0F3469}" destId="{FB026E84-DC6B-4AF6-824D-AE2D3CE10E40}" srcOrd="2" destOrd="0" presId="urn:microsoft.com/office/officeart/2018/2/layout/IconVerticalSolidList"/>
    <dgm:cxn modelId="{B23A116D-4E50-4D99-9316-E977178764BA}" type="presParOf" srcId="{081F0068-F837-4CA6-8142-A9F9BC0F3469}" destId="{2256566F-5924-4CB4-9820-19465FCDAB9E}" srcOrd="3" destOrd="0" presId="urn:microsoft.com/office/officeart/2018/2/layout/IconVerticalSolidList"/>
    <dgm:cxn modelId="{42A61193-BF7C-46DB-B06D-D4EEF740B945}" type="presParOf" srcId="{20466D66-9C5F-4EAE-BF2B-AD211602AF09}" destId="{04C49390-4090-4820-A325-88A5BE7DD6F9}" srcOrd="1" destOrd="0" presId="urn:microsoft.com/office/officeart/2018/2/layout/IconVerticalSolidList"/>
    <dgm:cxn modelId="{12B2B22D-F002-4D5F-AC14-EFD1ADEC5C18}" type="presParOf" srcId="{20466D66-9C5F-4EAE-BF2B-AD211602AF09}" destId="{F3BE99F7-D486-4018-B72D-106A89082B82}" srcOrd="2" destOrd="0" presId="urn:microsoft.com/office/officeart/2018/2/layout/IconVerticalSolidList"/>
    <dgm:cxn modelId="{057007EF-E593-4831-B81E-307E9E32F69D}" type="presParOf" srcId="{F3BE99F7-D486-4018-B72D-106A89082B82}" destId="{678EB14C-BF29-4B1B-9D42-CF0A8C5B51CA}" srcOrd="0" destOrd="0" presId="urn:microsoft.com/office/officeart/2018/2/layout/IconVerticalSolidList"/>
    <dgm:cxn modelId="{00D6155E-B927-4316-B793-26CA0C9263EC}" type="presParOf" srcId="{F3BE99F7-D486-4018-B72D-106A89082B82}" destId="{DEE99E50-D0F1-4F91-8ED1-8996211F0332}" srcOrd="1" destOrd="0" presId="urn:microsoft.com/office/officeart/2018/2/layout/IconVerticalSolidList"/>
    <dgm:cxn modelId="{25FF8475-E0B1-4F58-A179-86295FF7FF96}" type="presParOf" srcId="{F3BE99F7-D486-4018-B72D-106A89082B82}" destId="{A2BB453F-8AE3-4C64-83E3-D0E6C45C8641}" srcOrd="2" destOrd="0" presId="urn:microsoft.com/office/officeart/2018/2/layout/IconVerticalSolidList"/>
    <dgm:cxn modelId="{CC0DDF24-A98E-4699-AD33-0281D8537D9B}" type="presParOf" srcId="{F3BE99F7-D486-4018-B72D-106A89082B82}" destId="{DE5434D1-98E7-4D68-AF06-CC8198752258}" srcOrd="3" destOrd="0" presId="urn:microsoft.com/office/officeart/2018/2/layout/IconVerticalSolidList"/>
    <dgm:cxn modelId="{4425D6D2-2BCB-40C5-B047-D27BC7820421}" type="presParOf" srcId="{20466D66-9C5F-4EAE-BF2B-AD211602AF09}" destId="{1BD55B57-2D49-490E-BD76-CF2F95351410}" srcOrd="3" destOrd="0" presId="urn:microsoft.com/office/officeart/2018/2/layout/IconVerticalSolidList"/>
    <dgm:cxn modelId="{E4E417BA-8F6B-4ED4-8FAF-35587871343B}" type="presParOf" srcId="{20466D66-9C5F-4EAE-BF2B-AD211602AF09}" destId="{D5829863-BE90-4B97-B949-51C7FAC060D0}" srcOrd="4" destOrd="0" presId="urn:microsoft.com/office/officeart/2018/2/layout/IconVerticalSolidList"/>
    <dgm:cxn modelId="{33B56F79-32C3-4A92-8D77-CF42BC402025}" type="presParOf" srcId="{D5829863-BE90-4B97-B949-51C7FAC060D0}" destId="{BD60BB15-58B5-4888-AD23-D8BACB93588A}" srcOrd="0" destOrd="0" presId="urn:microsoft.com/office/officeart/2018/2/layout/IconVerticalSolidList"/>
    <dgm:cxn modelId="{325D1922-EC71-45A2-AC23-871DDED5C922}" type="presParOf" srcId="{D5829863-BE90-4B97-B949-51C7FAC060D0}" destId="{B740A0CD-4580-4421-9B06-3F56AEFF217C}" srcOrd="1" destOrd="0" presId="urn:microsoft.com/office/officeart/2018/2/layout/IconVerticalSolidList"/>
    <dgm:cxn modelId="{8F8BB783-9CF7-4079-A500-1C247857970A}" type="presParOf" srcId="{D5829863-BE90-4B97-B949-51C7FAC060D0}" destId="{A4F51A06-6139-4045-96FD-2212FFC6952C}" srcOrd="2" destOrd="0" presId="urn:microsoft.com/office/officeart/2018/2/layout/IconVerticalSolidList"/>
    <dgm:cxn modelId="{CF150411-D16C-4353-8E58-CDF2DDF698C8}" type="presParOf" srcId="{D5829863-BE90-4B97-B949-51C7FAC060D0}" destId="{A3111449-13B1-47C2-B3A2-0162061C890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3725DE7-BE93-49F4-B11F-0F09141E2982}" type="doc">
      <dgm:prSet loTypeId="urn:microsoft.com/office/officeart/2018/2/layout/IconVerticalSolidList" loCatId="icon" qsTypeId="urn:microsoft.com/office/officeart/2005/8/quickstyle/simple1#12" qsCatId="simple" csTypeId="urn:microsoft.com/office/officeart/2005/8/colors/accent1_2#5" csCatId="accent1" phldr="1"/>
      <dgm:spPr/>
      <dgm:t>
        <a:bodyPr/>
        <a:lstStyle/>
        <a:p>
          <a:endParaRPr lang="en-US"/>
        </a:p>
      </dgm:t>
    </dgm:pt>
    <dgm:pt modelId="{FB297DCA-1E39-4B01-B6CC-D794619F642B}">
      <dgm:prSet/>
      <dgm:spPr/>
      <dgm:t>
        <a:bodyPr/>
        <a:lstStyle/>
        <a:p>
          <a:pPr>
            <a:lnSpc>
              <a:spcPct val="100000"/>
            </a:lnSpc>
          </a:pPr>
          <a:r>
            <a:rPr lang="en-US"/>
            <a:t>When you set your deployment to Auto-update to default, your model deployment is automatically updated within two weeks of a change in the default version. For a preview version, it updates automatically when a new preview version is available starting two weeks after the new preview version is released.</a:t>
          </a:r>
        </a:p>
      </dgm:t>
    </dgm:pt>
    <dgm:pt modelId="{77C87907-F75B-4DCF-A8FE-71E0A99F4A7D}" type="parTrans" cxnId="{8184D3AB-E03D-4034-922F-C244C44533A8}">
      <dgm:prSet/>
      <dgm:spPr/>
      <dgm:t>
        <a:bodyPr/>
        <a:lstStyle/>
        <a:p>
          <a:endParaRPr lang="en-US"/>
        </a:p>
      </dgm:t>
    </dgm:pt>
    <dgm:pt modelId="{B629C5B2-8B29-479E-9B37-5D9B306D8915}" type="sibTrans" cxnId="{8184D3AB-E03D-4034-922F-C244C44533A8}">
      <dgm:prSet/>
      <dgm:spPr/>
      <dgm:t>
        <a:bodyPr/>
        <a:lstStyle/>
        <a:p>
          <a:endParaRPr lang="en-US"/>
        </a:p>
      </dgm:t>
    </dgm:pt>
    <dgm:pt modelId="{785CB116-5241-4159-8B55-7D54C3CE0DAB}">
      <dgm:prSet/>
      <dgm:spPr/>
      <dgm:t>
        <a:bodyPr/>
        <a:lstStyle/>
        <a:p>
          <a:pPr>
            <a:lnSpc>
              <a:spcPct val="100000"/>
            </a:lnSpc>
          </a:pPr>
          <a:r>
            <a:rPr lang="en-US"/>
            <a:t>If you're still in the early testing phases for inference models, we recommend deploying models with auto-update to default set whenever it's available.</a:t>
          </a:r>
        </a:p>
      </dgm:t>
    </dgm:pt>
    <dgm:pt modelId="{DD3BCF18-54B8-4536-B0BB-F4D69FA46457}" type="parTrans" cxnId="{74EAAF54-7CDE-4400-BF67-86743CBA7FFF}">
      <dgm:prSet/>
      <dgm:spPr/>
      <dgm:t>
        <a:bodyPr/>
        <a:lstStyle/>
        <a:p>
          <a:endParaRPr lang="en-US"/>
        </a:p>
      </dgm:t>
    </dgm:pt>
    <dgm:pt modelId="{C6858F70-1C54-4194-8694-5B80CAFBD47D}" type="sibTrans" cxnId="{74EAAF54-7CDE-4400-BF67-86743CBA7FFF}">
      <dgm:prSet/>
      <dgm:spPr/>
      <dgm:t>
        <a:bodyPr/>
        <a:lstStyle/>
        <a:p>
          <a:endParaRPr lang="en-US"/>
        </a:p>
      </dgm:t>
    </dgm:pt>
    <dgm:pt modelId="{33C11475-EE49-41B5-BF9C-7FB1FA4222C3}" type="pres">
      <dgm:prSet presAssocID="{93725DE7-BE93-49F4-B11F-0F09141E2982}" presName="root" presStyleCnt="0">
        <dgm:presLayoutVars>
          <dgm:dir/>
          <dgm:resizeHandles val="exact"/>
        </dgm:presLayoutVars>
      </dgm:prSet>
      <dgm:spPr/>
    </dgm:pt>
    <dgm:pt modelId="{C841898E-60B2-440B-8BE8-19C2CD62CC30}" type="pres">
      <dgm:prSet presAssocID="{FB297DCA-1E39-4B01-B6CC-D794619F642B}" presName="compNode" presStyleCnt="0"/>
      <dgm:spPr/>
    </dgm:pt>
    <dgm:pt modelId="{A6861594-C97C-49B9-B236-B05319D4352E}" type="pres">
      <dgm:prSet presAssocID="{FB297DCA-1E39-4B01-B6CC-D794619F642B}" presName="bgRect" presStyleLbl="bgShp" presStyleIdx="0" presStyleCnt="2"/>
      <dgm:spPr/>
    </dgm:pt>
    <dgm:pt modelId="{BBDF354C-6CAE-4C36-A883-5529804803CE}" type="pres">
      <dgm:prSet presAssocID="{FB297DCA-1E39-4B01-B6CC-D794619F642B}"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yncing Cloud"/>
        </a:ext>
      </dgm:extLst>
    </dgm:pt>
    <dgm:pt modelId="{A172D7C0-EE3B-4773-AF2F-53DCB43AFFD2}" type="pres">
      <dgm:prSet presAssocID="{FB297DCA-1E39-4B01-B6CC-D794619F642B}" presName="spaceRect" presStyleCnt="0"/>
      <dgm:spPr/>
    </dgm:pt>
    <dgm:pt modelId="{2F34747C-0D99-43D3-97FA-821A51A0F87C}" type="pres">
      <dgm:prSet presAssocID="{FB297DCA-1E39-4B01-B6CC-D794619F642B}" presName="parTx" presStyleLbl="revTx" presStyleIdx="0" presStyleCnt="2">
        <dgm:presLayoutVars>
          <dgm:chMax val="0"/>
          <dgm:chPref val="0"/>
        </dgm:presLayoutVars>
      </dgm:prSet>
      <dgm:spPr/>
    </dgm:pt>
    <dgm:pt modelId="{6997E579-C068-41CC-920C-39C64B0EBC71}" type="pres">
      <dgm:prSet presAssocID="{B629C5B2-8B29-479E-9B37-5D9B306D8915}" presName="sibTrans" presStyleCnt="0"/>
      <dgm:spPr/>
    </dgm:pt>
    <dgm:pt modelId="{D1151433-C2E7-49D3-8FD8-32AA7CFB479B}" type="pres">
      <dgm:prSet presAssocID="{785CB116-5241-4159-8B55-7D54C3CE0DAB}" presName="compNode" presStyleCnt="0"/>
      <dgm:spPr/>
    </dgm:pt>
    <dgm:pt modelId="{AE72761B-0C22-4258-8664-D659C9E07649}" type="pres">
      <dgm:prSet presAssocID="{785CB116-5241-4159-8B55-7D54C3CE0DAB}" presName="bgRect" presStyleLbl="bgShp" presStyleIdx="1" presStyleCnt="2"/>
      <dgm:spPr/>
    </dgm:pt>
    <dgm:pt modelId="{D0C4491F-AD0B-49AC-800B-09280B8339B2}" type="pres">
      <dgm:prSet presAssocID="{785CB116-5241-4159-8B55-7D54C3CE0DAB}"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9A171E27-E513-4562-A8AB-22ADD02103FD}" type="pres">
      <dgm:prSet presAssocID="{785CB116-5241-4159-8B55-7D54C3CE0DAB}" presName="spaceRect" presStyleCnt="0"/>
      <dgm:spPr/>
    </dgm:pt>
    <dgm:pt modelId="{ABB10A81-216C-4E8E-AAD3-470BB02DC2E0}" type="pres">
      <dgm:prSet presAssocID="{785CB116-5241-4159-8B55-7D54C3CE0DAB}" presName="parTx" presStyleLbl="revTx" presStyleIdx="1" presStyleCnt="2">
        <dgm:presLayoutVars>
          <dgm:chMax val="0"/>
          <dgm:chPref val="0"/>
        </dgm:presLayoutVars>
      </dgm:prSet>
      <dgm:spPr/>
    </dgm:pt>
  </dgm:ptLst>
  <dgm:cxnLst>
    <dgm:cxn modelId="{25DB5B4A-EF5F-4F78-A67C-79FBB892CD89}" type="presOf" srcId="{93725DE7-BE93-49F4-B11F-0F09141E2982}" destId="{33C11475-EE49-41B5-BF9C-7FB1FA4222C3}" srcOrd="0" destOrd="0" presId="urn:microsoft.com/office/officeart/2018/2/layout/IconVerticalSolidList"/>
    <dgm:cxn modelId="{74EAAF54-7CDE-4400-BF67-86743CBA7FFF}" srcId="{93725DE7-BE93-49F4-B11F-0F09141E2982}" destId="{785CB116-5241-4159-8B55-7D54C3CE0DAB}" srcOrd="1" destOrd="0" parTransId="{DD3BCF18-54B8-4536-B0BB-F4D69FA46457}" sibTransId="{C6858F70-1C54-4194-8694-5B80CAFBD47D}"/>
    <dgm:cxn modelId="{5B138892-FDC7-4476-9452-1E0AADBB100C}" type="presOf" srcId="{FB297DCA-1E39-4B01-B6CC-D794619F642B}" destId="{2F34747C-0D99-43D3-97FA-821A51A0F87C}" srcOrd="0" destOrd="0" presId="urn:microsoft.com/office/officeart/2018/2/layout/IconVerticalSolidList"/>
    <dgm:cxn modelId="{9FD16AA9-F608-4235-AEEF-22D8DD434971}" type="presOf" srcId="{785CB116-5241-4159-8B55-7D54C3CE0DAB}" destId="{ABB10A81-216C-4E8E-AAD3-470BB02DC2E0}" srcOrd="0" destOrd="0" presId="urn:microsoft.com/office/officeart/2018/2/layout/IconVerticalSolidList"/>
    <dgm:cxn modelId="{8184D3AB-E03D-4034-922F-C244C44533A8}" srcId="{93725DE7-BE93-49F4-B11F-0F09141E2982}" destId="{FB297DCA-1E39-4B01-B6CC-D794619F642B}" srcOrd="0" destOrd="0" parTransId="{77C87907-F75B-4DCF-A8FE-71E0A99F4A7D}" sibTransId="{B629C5B2-8B29-479E-9B37-5D9B306D8915}"/>
    <dgm:cxn modelId="{C960A29A-303C-4F9B-B09F-3E7A467294C1}" type="presParOf" srcId="{33C11475-EE49-41B5-BF9C-7FB1FA4222C3}" destId="{C841898E-60B2-440B-8BE8-19C2CD62CC30}" srcOrd="0" destOrd="0" presId="urn:microsoft.com/office/officeart/2018/2/layout/IconVerticalSolidList"/>
    <dgm:cxn modelId="{A5378E17-7D64-4360-B16C-BC238E607AC0}" type="presParOf" srcId="{C841898E-60B2-440B-8BE8-19C2CD62CC30}" destId="{A6861594-C97C-49B9-B236-B05319D4352E}" srcOrd="0" destOrd="0" presId="urn:microsoft.com/office/officeart/2018/2/layout/IconVerticalSolidList"/>
    <dgm:cxn modelId="{1947C905-E596-46DD-B79B-986F90A5E930}" type="presParOf" srcId="{C841898E-60B2-440B-8BE8-19C2CD62CC30}" destId="{BBDF354C-6CAE-4C36-A883-5529804803CE}" srcOrd="1" destOrd="0" presId="urn:microsoft.com/office/officeart/2018/2/layout/IconVerticalSolidList"/>
    <dgm:cxn modelId="{0B81C46A-FE6E-473D-84A0-F0065355D424}" type="presParOf" srcId="{C841898E-60B2-440B-8BE8-19C2CD62CC30}" destId="{A172D7C0-EE3B-4773-AF2F-53DCB43AFFD2}" srcOrd="2" destOrd="0" presId="urn:microsoft.com/office/officeart/2018/2/layout/IconVerticalSolidList"/>
    <dgm:cxn modelId="{2DF97FA6-61BD-4783-BC5E-DA9F6AA1389D}" type="presParOf" srcId="{C841898E-60B2-440B-8BE8-19C2CD62CC30}" destId="{2F34747C-0D99-43D3-97FA-821A51A0F87C}" srcOrd="3" destOrd="0" presId="urn:microsoft.com/office/officeart/2018/2/layout/IconVerticalSolidList"/>
    <dgm:cxn modelId="{2542D59B-31CD-4811-BFAA-271F2712F2BD}" type="presParOf" srcId="{33C11475-EE49-41B5-BF9C-7FB1FA4222C3}" destId="{6997E579-C068-41CC-920C-39C64B0EBC71}" srcOrd="1" destOrd="0" presId="urn:microsoft.com/office/officeart/2018/2/layout/IconVerticalSolidList"/>
    <dgm:cxn modelId="{012A8BBA-BA53-4253-B90D-44B0B2101D89}" type="presParOf" srcId="{33C11475-EE49-41B5-BF9C-7FB1FA4222C3}" destId="{D1151433-C2E7-49D3-8FD8-32AA7CFB479B}" srcOrd="2" destOrd="0" presId="urn:microsoft.com/office/officeart/2018/2/layout/IconVerticalSolidList"/>
    <dgm:cxn modelId="{350BD9DC-6ADF-4D5D-8E98-6153F8858D6C}" type="presParOf" srcId="{D1151433-C2E7-49D3-8FD8-32AA7CFB479B}" destId="{AE72761B-0C22-4258-8664-D659C9E07649}" srcOrd="0" destOrd="0" presId="urn:microsoft.com/office/officeart/2018/2/layout/IconVerticalSolidList"/>
    <dgm:cxn modelId="{CE831484-063A-479C-9531-7326FCF6C4A2}" type="presParOf" srcId="{D1151433-C2E7-49D3-8FD8-32AA7CFB479B}" destId="{D0C4491F-AD0B-49AC-800B-09280B8339B2}" srcOrd="1" destOrd="0" presId="urn:microsoft.com/office/officeart/2018/2/layout/IconVerticalSolidList"/>
    <dgm:cxn modelId="{7FC6E162-10CB-4612-A17B-31C9C13FFED3}" type="presParOf" srcId="{D1151433-C2E7-49D3-8FD8-32AA7CFB479B}" destId="{9A171E27-E513-4562-A8AB-22ADD02103FD}" srcOrd="2" destOrd="0" presId="urn:microsoft.com/office/officeart/2018/2/layout/IconVerticalSolidList"/>
    <dgm:cxn modelId="{1121ACA2-9088-498C-AAB8-D89E129589E1}" type="presParOf" srcId="{D1151433-C2E7-49D3-8FD8-32AA7CFB479B}" destId="{ABB10A81-216C-4E8E-AAD3-470BB02DC2E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F0A5AC5-F493-43C8-AD02-C7BD0A6EBF52}" type="doc">
      <dgm:prSet loTypeId="urn:microsoft.com/office/officeart/2018/2/layout/IconVerticalSolidList" loCatId="icon" qsTypeId="urn:microsoft.com/office/officeart/2005/8/quickstyle/simple1#13" qsCatId="simple" csTypeId="urn:microsoft.com/office/officeart/2005/8/colors/accent1_2#6" csCatId="accent1" phldr="1"/>
      <dgm:spPr/>
      <dgm:t>
        <a:bodyPr/>
        <a:lstStyle/>
        <a:p>
          <a:endParaRPr lang="en-US"/>
        </a:p>
      </dgm:t>
    </dgm:pt>
    <dgm:pt modelId="{DB61F5B0-FFED-4D8A-A4AE-C31164E154DA}">
      <dgm:prSet/>
      <dgm:spPr/>
      <dgm:t>
        <a:bodyPr/>
        <a:lstStyle/>
        <a:p>
          <a:pPr>
            <a:lnSpc>
              <a:spcPct val="100000"/>
            </a:lnSpc>
          </a:pPr>
          <a:r>
            <a:rPr lang="en-US"/>
            <a:t>As your use of Azure OpenAI evolves, and you start to build and integrate with applications you might want to manually control model updates. You can first test and validate that your application behavior is consistent for your use case before upgrading.</a:t>
          </a:r>
        </a:p>
      </dgm:t>
    </dgm:pt>
    <dgm:pt modelId="{7C98B7C0-47E1-4988-9EAE-A8B1E508D7B5}" type="parTrans" cxnId="{D0CF42B1-EA72-4FD0-AE9D-236587EEDAE4}">
      <dgm:prSet/>
      <dgm:spPr/>
      <dgm:t>
        <a:bodyPr/>
        <a:lstStyle/>
        <a:p>
          <a:endParaRPr lang="en-US"/>
        </a:p>
      </dgm:t>
    </dgm:pt>
    <dgm:pt modelId="{B68615FF-B878-4145-BBC9-763F519A14D9}" type="sibTrans" cxnId="{D0CF42B1-EA72-4FD0-AE9D-236587EEDAE4}">
      <dgm:prSet/>
      <dgm:spPr/>
      <dgm:t>
        <a:bodyPr/>
        <a:lstStyle/>
        <a:p>
          <a:endParaRPr lang="en-US"/>
        </a:p>
      </dgm:t>
    </dgm:pt>
    <dgm:pt modelId="{D4BF18A7-061F-4A64-835F-3ACB5F4E3090}">
      <dgm:prSet/>
      <dgm:spPr/>
      <dgm:t>
        <a:bodyPr/>
        <a:lstStyle/>
        <a:p>
          <a:pPr>
            <a:lnSpc>
              <a:spcPct val="100000"/>
            </a:lnSpc>
          </a:pPr>
          <a:r>
            <a:rPr lang="en-US"/>
            <a:t>When you select a specific model version for a deployment, this version remains selected until you either choose to manually update yourself, or once you reach the retirement date for the model. When the retirement date is reached the model will automatically upgrade to the default version at the time of retirement.</a:t>
          </a:r>
        </a:p>
      </dgm:t>
    </dgm:pt>
    <dgm:pt modelId="{6B9B3212-BC58-4CAB-A3ED-042F185B4824}" type="parTrans" cxnId="{A3CF2BD2-FFB5-4FE6-939B-847CFA774BBF}">
      <dgm:prSet/>
      <dgm:spPr/>
      <dgm:t>
        <a:bodyPr/>
        <a:lstStyle/>
        <a:p>
          <a:endParaRPr lang="en-US"/>
        </a:p>
      </dgm:t>
    </dgm:pt>
    <dgm:pt modelId="{2B5F7B32-647C-471E-94D2-3FAA6729E65A}" type="sibTrans" cxnId="{A3CF2BD2-FFB5-4FE6-939B-847CFA774BBF}">
      <dgm:prSet/>
      <dgm:spPr/>
      <dgm:t>
        <a:bodyPr/>
        <a:lstStyle/>
        <a:p>
          <a:endParaRPr lang="en-US"/>
        </a:p>
      </dgm:t>
    </dgm:pt>
    <dgm:pt modelId="{F01576E8-1B39-4154-BC7F-13946F024315}" type="pres">
      <dgm:prSet presAssocID="{9F0A5AC5-F493-43C8-AD02-C7BD0A6EBF52}" presName="root" presStyleCnt="0">
        <dgm:presLayoutVars>
          <dgm:dir/>
          <dgm:resizeHandles val="exact"/>
        </dgm:presLayoutVars>
      </dgm:prSet>
      <dgm:spPr/>
    </dgm:pt>
    <dgm:pt modelId="{D98AD8A7-2839-49C8-BE41-01BA8B7C571B}" type="pres">
      <dgm:prSet presAssocID="{DB61F5B0-FFED-4D8A-A4AE-C31164E154DA}" presName="compNode" presStyleCnt="0"/>
      <dgm:spPr/>
    </dgm:pt>
    <dgm:pt modelId="{8C2A1C29-E41E-4DFD-A6CA-D8B533E35EC2}" type="pres">
      <dgm:prSet presAssocID="{DB61F5B0-FFED-4D8A-A4AE-C31164E154DA}" presName="bgRect" presStyleLbl="bgShp" presStyleIdx="0" presStyleCnt="2"/>
      <dgm:spPr/>
    </dgm:pt>
    <dgm:pt modelId="{82BD9CCB-BBE8-49D6-ACC2-C0647F26B613}" type="pres">
      <dgm:prSet presAssocID="{DB61F5B0-FFED-4D8A-A4AE-C31164E154DA}"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yncing Cloud"/>
        </a:ext>
      </dgm:extLst>
    </dgm:pt>
    <dgm:pt modelId="{0F68D7BE-1963-46F9-B8C2-C79D9DA9D18F}" type="pres">
      <dgm:prSet presAssocID="{DB61F5B0-FFED-4D8A-A4AE-C31164E154DA}" presName="spaceRect" presStyleCnt="0"/>
      <dgm:spPr/>
    </dgm:pt>
    <dgm:pt modelId="{2FC961FA-53B6-4006-B959-BE3B6102C661}" type="pres">
      <dgm:prSet presAssocID="{DB61F5B0-FFED-4D8A-A4AE-C31164E154DA}" presName="parTx" presStyleLbl="revTx" presStyleIdx="0" presStyleCnt="2">
        <dgm:presLayoutVars>
          <dgm:chMax val="0"/>
          <dgm:chPref val="0"/>
        </dgm:presLayoutVars>
      </dgm:prSet>
      <dgm:spPr/>
    </dgm:pt>
    <dgm:pt modelId="{8204AE2C-1753-4807-85A0-1B0E51DBBA88}" type="pres">
      <dgm:prSet presAssocID="{B68615FF-B878-4145-BBC9-763F519A14D9}" presName="sibTrans" presStyleCnt="0"/>
      <dgm:spPr/>
    </dgm:pt>
    <dgm:pt modelId="{F007CE5D-805A-41E9-A235-E4756C6C4FAD}" type="pres">
      <dgm:prSet presAssocID="{D4BF18A7-061F-4A64-835F-3ACB5F4E3090}" presName="compNode" presStyleCnt="0"/>
      <dgm:spPr/>
    </dgm:pt>
    <dgm:pt modelId="{CF7187D7-396A-4932-9C0B-7160596E9E49}" type="pres">
      <dgm:prSet presAssocID="{D4BF18A7-061F-4A64-835F-3ACB5F4E3090}" presName="bgRect" presStyleLbl="bgShp" presStyleIdx="1" presStyleCnt="2"/>
      <dgm:spPr/>
    </dgm:pt>
    <dgm:pt modelId="{6D214B09-9B20-4C69-89EA-2D16010CF2CD}" type="pres">
      <dgm:prSet presAssocID="{D4BF18A7-061F-4A64-835F-3ACB5F4E3090}"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CD780AD2-23DB-4BDC-AFA7-C9C971B035E7}" type="pres">
      <dgm:prSet presAssocID="{D4BF18A7-061F-4A64-835F-3ACB5F4E3090}" presName="spaceRect" presStyleCnt="0"/>
      <dgm:spPr/>
    </dgm:pt>
    <dgm:pt modelId="{EE0F9495-C16E-45AA-B450-CFDB017F241F}" type="pres">
      <dgm:prSet presAssocID="{D4BF18A7-061F-4A64-835F-3ACB5F4E3090}" presName="parTx" presStyleLbl="revTx" presStyleIdx="1" presStyleCnt="2">
        <dgm:presLayoutVars>
          <dgm:chMax val="0"/>
          <dgm:chPref val="0"/>
        </dgm:presLayoutVars>
      </dgm:prSet>
      <dgm:spPr/>
    </dgm:pt>
  </dgm:ptLst>
  <dgm:cxnLst>
    <dgm:cxn modelId="{7DA2400F-C864-436E-BE0E-8AF87E383FA7}" type="presOf" srcId="{9F0A5AC5-F493-43C8-AD02-C7BD0A6EBF52}" destId="{F01576E8-1B39-4154-BC7F-13946F024315}" srcOrd="0" destOrd="0" presId="urn:microsoft.com/office/officeart/2018/2/layout/IconVerticalSolidList"/>
    <dgm:cxn modelId="{0311EE25-E15A-4C20-8BEE-F2A318DB9D9E}" type="presOf" srcId="{DB61F5B0-FFED-4D8A-A4AE-C31164E154DA}" destId="{2FC961FA-53B6-4006-B959-BE3B6102C661}" srcOrd="0" destOrd="0" presId="urn:microsoft.com/office/officeart/2018/2/layout/IconVerticalSolidList"/>
    <dgm:cxn modelId="{D0CF42B1-EA72-4FD0-AE9D-236587EEDAE4}" srcId="{9F0A5AC5-F493-43C8-AD02-C7BD0A6EBF52}" destId="{DB61F5B0-FFED-4D8A-A4AE-C31164E154DA}" srcOrd="0" destOrd="0" parTransId="{7C98B7C0-47E1-4988-9EAE-A8B1E508D7B5}" sibTransId="{B68615FF-B878-4145-BBC9-763F519A14D9}"/>
    <dgm:cxn modelId="{A3CF2BD2-FFB5-4FE6-939B-847CFA774BBF}" srcId="{9F0A5AC5-F493-43C8-AD02-C7BD0A6EBF52}" destId="{D4BF18A7-061F-4A64-835F-3ACB5F4E3090}" srcOrd="1" destOrd="0" parTransId="{6B9B3212-BC58-4CAB-A3ED-042F185B4824}" sibTransId="{2B5F7B32-647C-471E-94D2-3FAA6729E65A}"/>
    <dgm:cxn modelId="{F0523DFA-2CE0-4F63-8A6F-025F17B45D05}" type="presOf" srcId="{D4BF18A7-061F-4A64-835F-3ACB5F4E3090}" destId="{EE0F9495-C16E-45AA-B450-CFDB017F241F}" srcOrd="0" destOrd="0" presId="urn:microsoft.com/office/officeart/2018/2/layout/IconVerticalSolidList"/>
    <dgm:cxn modelId="{4888EBDD-3743-4947-99F3-A56F5A1D936E}" type="presParOf" srcId="{F01576E8-1B39-4154-BC7F-13946F024315}" destId="{D98AD8A7-2839-49C8-BE41-01BA8B7C571B}" srcOrd="0" destOrd="0" presId="urn:microsoft.com/office/officeart/2018/2/layout/IconVerticalSolidList"/>
    <dgm:cxn modelId="{57911271-0D82-43AE-B099-6EE7F540F329}" type="presParOf" srcId="{D98AD8A7-2839-49C8-BE41-01BA8B7C571B}" destId="{8C2A1C29-E41E-4DFD-A6CA-D8B533E35EC2}" srcOrd="0" destOrd="0" presId="urn:microsoft.com/office/officeart/2018/2/layout/IconVerticalSolidList"/>
    <dgm:cxn modelId="{421B3D9F-1408-4492-94C8-042B43F8FDAE}" type="presParOf" srcId="{D98AD8A7-2839-49C8-BE41-01BA8B7C571B}" destId="{82BD9CCB-BBE8-49D6-ACC2-C0647F26B613}" srcOrd="1" destOrd="0" presId="urn:microsoft.com/office/officeart/2018/2/layout/IconVerticalSolidList"/>
    <dgm:cxn modelId="{FF255DF0-BCC2-457A-B0C9-95E3C990C115}" type="presParOf" srcId="{D98AD8A7-2839-49C8-BE41-01BA8B7C571B}" destId="{0F68D7BE-1963-46F9-B8C2-C79D9DA9D18F}" srcOrd="2" destOrd="0" presId="urn:microsoft.com/office/officeart/2018/2/layout/IconVerticalSolidList"/>
    <dgm:cxn modelId="{80C1EB76-4E7D-41A1-BF1B-F628F592741F}" type="presParOf" srcId="{D98AD8A7-2839-49C8-BE41-01BA8B7C571B}" destId="{2FC961FA-53B6-4006-B959-BE3B6102C661}" srcOrd="3" destOrd="0" presId="urn:microsoft.com/office/officeart/2018/2/layout/IconVerticalSolidList"/>
    <dgm:cxn modelId="{8FBFCA80-809F-484C-A3F4-FD390105F051}" type="presParOf" srcId="{F01576E8-1B39-4154-BC7F-13946F024315}" destId="{8204AE2C-1753-4807-85A0-1B0E51DBBA88}" srcOrd="1" destOrd="0" presId="urn:microsoft.com/office/officeart/2018/2/layout/IconVerticalSolidList"/>
    <dgm:cxn modelId="{474EE70A-D607-496E-B9C2-EA28E2B293CF}" type="presParOf" srcId="{F01576E8-1B39-4154-BC7F-13946F024315}" destId="{F007CE5D-805A-41E9-A235-E4756C6C4FAD}" srcOrd="2" destOrd="0" presId="urn:microsoft.com/office/officeart/2018/2/layout/IconVerticalSolidList"/>
    <dgm:cxn modelId="{437F9E02-99E4-4DAB-BF6F-2409B7015B92}" type="presParOf" srcId="{F007CE5D-805A-41E9-A235-E4756C6C4FAD}" destId="{CF7187D7-396A-4932-9C0B-7160596E9E49}" srcOrd="0" destOrd="0" presId="urn:microsoft.com/office/officeart/2018/2/layout/IconVerticalSolidList"/>
    <dgm:cxn modelId="{8CF41ABD-61B1-4483-A4AB-AE70CE073786}" type="presParOf" srcId="{F007CE5D-805A-41E9-A235-E4756C6C4FAD}" destId="{6D214B09-9B20-4C69-89EA-2D16010CF2CD}" srcOrd="1" destOrd="0" presId="urn:microsoft.com/office/officeart/2018/2/layout/IconVerticalSolidList"/>
    <dgm:cxn modelId="{CA0CF348-8288-4FBB-984E-1B7E599BAE03}" type="presParOf" srcId="{F007CE5D-805A-41E9-A235-E4756C6C4FAD}" destId="{CD780AD2-23DB-4BDC-AFA7-C9C971B035E7}" srcOrd="2" destOrd="0" presId="urn:microsoft.com/office/officeart/2018/2/layout/IconVerticalSolidList"/>
    <dgm:cxn modelId="{EE9ABB45-4012-4FFB-A064-343946D1AE42}" type="presParOf" srcId="{F007CE5D-805A-41E9-A235-E4756C6C4FAD}" destId="{EE0F9495-C16E-45AA-B450-CFDB017F241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F0A6ABE-0B92-4267-971A-2EA4FE128A89}" type="doc">
      <dgm:prSet loTypeId="urn:microsoft.com/office/officeart/2018/2/layout/IconLabelList" loCatId="icon" qsTypeId="urn:microsoft.com/office/officeart/2005/8/quickstyle/simple1#14" qsCatId="simple" csTypeId="urn:microsoft.com/office/officeart/2005/8/colors/accent1_2#7" csCatId="accent1" phldr="1"/>
      <dgm:spPr/>
      <dgm:t>
        <a:bodyPr/>
        <a:lstStyle/>
        <a:p>
          <a:endParaRPr lang="en-US"/>
        </a:p>
      </dgm:t>
    </dgm:pt>
    <dgm:pt modelId="{1A63223F-E107-4DE5-93C5-86831C4C4791}">
      <dgm:prSet/>
      <dgm:spPr/>
      <dgm:t>
        <a:bodyPr/>
        <a:lstStyle/>
        <a:p>
          <a:pPr>
            <a:lnSpc>
              <a:spcPct val="100000"/>
            </a:lnSpc>
          </a:pPr>
          <a:r>
            <a:rPr lang="en-US"/>
            <a:t>In-place migrations</a:t>
          </a:r>
        </a:p>
      </dgm:t>
    </dgm:pt>
    <dgm:pt modelId="{FCE352B8-C02D-4505-B795-F71F4D6912C5}" type="parTrans" cxnId="{364A9EFD-BF9B-4B29-93F1-FB451B640923}">
      <dgm:prSet/>
      <dgm:spPr/>
      <dgm:t>
        <a:bodyPr/>
        <a:lstStyle/>
        <a:p>
          <a:endParaRPr lang="en-US"/>
        </a:p>
      </dgm:t>
    </dgm:pt>
    <dgm:pt modelId="{42140962-ECF0-43D9-9A02-81E3EFFC5D17}" type="sibTrans" cxnId="{364A9EFD-BF9B-4B29-93F1-FB451B640923}">
      <dgm:prSet/>
      <dgm:spPr/>
      <dgm:t>
        <a:bodyPr/>
        <a:lstStyle/>
        <a:p>
          <a:endParaRPr lang="en-US"/>
        </a:p>
      </dgm:t>
    </dgm:pt>
    <dgm:pt modelId="{071D1305-A216-425E-8E29-A015B5CC6A8A}">
      <dgm:prSet/>
      <dgm:spPr/>
      <dgm:t>
        <a:bodyPr/>
        <a:lstStyle/>
        <a:p>
          <a:pPr>
            <a:lnSpc>
              <a:spcPct val="100000"/>
            </a:lnSpc>
          </a:pPr>
          <a:r>
            <a:rPr lang="en-US"/>
            <a:t>Multi-deployment migrations</a:t>
          </a:r>
        </a:p>
      </dgm:t>
    </dgm:pt>
    <dgm:pt modelId="{E9D60ABD-3A47-4870-B00D-F64508D977C8}" type="parTrans" cxnId="{215ADA7A-A59F-40BD-A876-0FFF74973D44}">
      <dgm:prSet/>
      <dgm:spPr/>
      <dgm:t>
        <a:bodyPr/>
        <a:lstStyle/>
        <a:p>
          <a:endParaRPr lang="en-US"/>
        </a:p>
      </dgm:t>
    </dgm:pt>
    <dgm:pt modelId="{DD36AFEF-940F-4153-B0F9-BFC22E344441}" type="sibTrans" cxnId="{215ADA7A-A59F-40BD-A876-0FFF74973D44}">
      <dgm:prSet/>
      <dgm:spPr/>
      <dgm:t>
        <a:bodyPr/>
        <a:lstStyle/>
        <a:p>
          <a:endParaRPr lang="en-US"/>
        </a:p>
      </dgm:t>
    </dgm:pt>
    <dgm:pt modelId="{7353F4C7-A64C-4B9A-9CC9-402CD9A802B8}" type="pres">
      <dgm:prSet presAssocID="{9F0A6ABE-0B92-4267-971A-2EA4FE128A89}" presName="root" presStyleCnt="0">
        <dgm:presLayoutVars>
          <dgm:dir/>
          <dgm:resizeHandles val="exact"/>
        </dgm:presLayoutVars>
      </dgm:prSet>
      <dgm:spPr/>
    </dgm:pt>
    <dgm:pt modelId="{4811FA24-16C6-45D9-A65E-C569A122E1B7}" type="pres">
      <dgm:prSet presAssocID="{1A63223F-E107-4DE5-93C5-86831C4C4791}" presName="compNode" presStyleCnt="0"/>
      <dgm:spPr/>
    </dgm:pt>
    <dgm:pt modelId="{6CBC44A6-5B14-4066-90F0-3D693E73E591}" type="pres">
      <dgm:prSet presAssocID="{1A63223F-E107-4DE5-93C5-86831C4C4791}"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atabase"/>
        </a:ext>
      </dgm:extLst>
    </dgm:pt>
    <dgm:pt modelId="{80D97E2C-BF38-487F-B876-67C8E1C8FB69}" type="pres">
      <dgm:prSet presAssocID="{1A63223F-E107-4DE5-93C5-86831C4C4791}" presName="spaceRect" presStyleCnt="0"/>
      <dgm:spPr/>
    </dgm:pt>
    <dgm:pt modelId="{CF5C612E-E653-4530-A6D7-38F6A9CBBD58}" type="pres">
      <dgm:prSet presAssocID="{1A63223F-E107-4DE5-93C5-86831C4C4791}" presName="textRect" presStyleLbl="revTx" presStyleIdx="0" presStyleCnt="2">
        <dgm:presLayoutVars>
          <dgm:chMax val="1"/>
          <dgm:chPref val="1"/>
        </dgm:presLayoutVars>
      </dgm:prSet>
      <dgm:spPr/>
    </dgm:pt>
    <dgm:pt modelId="{E7094655-F5E6-487D-883A-8DB91938376E}" type="pres">
      <dgm:prSet presAssocID="{42140962-ECF0-43D9-9A02-81E3EFFC5D17}" presName="sibTrans" presStyleCnt="0"/>
      <dgm:spPr/>
    </dgm:pt>
    <dgm:pt modelId="{E9E7F449-984C-4470-B36C-4C8762D15ED1}" type="pres">
      <dgm:prSet presAssocID="{071D1305-A216-425E-8E29-A015B5CC6A8A}" presName="compNode" presStyleCnt="0"/>
      <dgm:spPr/>
    </dgm:pt>
    <dgm:pt modelId="{969D6F33-095E-4528-B1FD-141858C2DC43}" type="pres">
      <dgm:prSet presAssocID="{071D1305-A216-425E-8E29-A015B5CC6A8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yncing Cloud"/>
        </a:ext>
      </dgm:extLst>
    </dgm:pt>
    <dgm:pt modelId="{E32D6294-6896-42DA-AABA-92B11EE7AD15}" type="pres">
      <dgm:prSet presAssocID="{071D1305-A216-425E-8E29-A015B5CC6A8A}" presName="spaceRect" presStyleCnt="0"/>
      <dgm:spPr/>
    </dgm:pt>
    <dgm:pt modelId="{63423E0C-20C0-4D7A-9AAA-CAD7634128A8}" type="pres">
      <dgm:prSet presAssocID="{071D1305-A216-425E-8E29-A015B5CC6A8A}" presName="textRect" presStyleLbl="revTx" presStyleIdx="1" presStyleCnt="2">
        <dgm:presLayoutVars>
          <dgm:chMax val="1"/>
          <dgm:chPref val="1"/>
        </dgm:presLayoutVars>
      </dgm:prSet>
      <dgm:spPr/>
    </dgm:pt>
  </dgm:ptLst>
  <dgm:cxnLst>
    <dgm:cxn modelId="{2756D640-A85A-4EA3-BA38-F32AD66D4D91}" type="presOf" srcId="{9F0A6ABE-0B92-4267-971A-2EA4FE128A89}" destId="{7353F4C7-A64C-4B9A-9CC9-402CD9A802B8}" srcOrd="0" destOrd="0" presId="urn:microsoft.com/office/officeart/2018/2/layout/IconLabelList"/>
    <dgm:cxn modelId="{EF34BA47-0783-44A2-8A25-F144CB66D1DB}" type="presOf" srcId="{1A63223F-E107-4DE5-93C5-86831C4C4791}" destId="{CF5C612E-E653-4530-A6D7-38F6A9CBBD58}" srcOrd="0" destOrd="0" presId="urn:microsoft.com/office/officeart/2018/2/layout/IconLabelList"/>
    <dgm:cxn modelId="{215ADA7A-A59F-40BD-A876-0FFF74973D44}" srcId="{9F0A6ABE-0B92-4267-971A-2EA4FE128A89}" destId="{071D1305-A216-425E-8E29-A015B5CC6A8A}" srcOrd="1" destOrd="0" parTransId="{E9D60ABD-3A47-4870-B00D-F64508D977C8}" sibTransId="{DD36AFEF-940F-4153-B0F9-BFC22E344441}"/>
    <dgm:cxn modelId="{617C75EA-2B6E-4226-8DE7-B7741A253F23}" type="presOf" srcId="{071D1305-A216-425E-8E29-A015B5CC6A8A}" destId="{63423E0C-20C0-4D7A-9AAA-CAD7634128A8}" srcOrd="0" destOrd="0" presId="urn:microsoft.com/office/officeart/2018/2/layout/IconLabelList"/>
    <dgm:cxn modelId="{364A9EFD-BF9B-4B29-93F1-FB451B640923}" srcId="{9F0A6ABE-0B92-4267-971A-2EA4FE128A89}" destId="{1A63223F-E107-4DE5-93C5-86831C4C4791}" srcOrd="0" destOrd="0" parTransId="{FCE352B8-C02D-4505-B795-F71F4D6912C5}" sibTransId="{42140962-ECF0-43D9-9A02-81E3EFFC5D17}"/>
    <dgm:cxn modelId="{659E3A4E-A804-4E9E-8210-4CA926A488A7}" type="presParOf" srcId="{7353F4C7-A64C-4B9A-9CC9-402CD9A802B8}" destId="{4811FA24-16C6-45D9-A65E-C569A122E1B7}" srcOrd="0" destOrd="0" presId="urn:microsoft.com/office/officeart/2018/2/layout/IconLabelList"/>
    <dgm:cxn modelId="{CBD491BB-E9E2-456B-BEC2-68795ECA2A18}" type="presParOf" srcId="{4811FA24-16C6-45D9-A65E-C569A122E1B7}" destId="{6CBC44A6-5B14-4066-90F0-3D693E73E591}" srcOrd="0" destOrd="0" presId="urn:microsoft.com/office/officeart/2018/2/layout/IconLabelList"/>
    <dgm:cxn modelId="{5262256C-BB77-4400-B438-CD796AE8F527}" type="presParOf" srcId="{4811FA24-16C6-45D9-A65E-C569A122E1B7}" destId="{80D97E2C-BF38-487F-B876-67C8E1C8FB69}" srcOrd="1" destOrd="0" presId="urn:microsoft.com/office/officeart/2018/2/layout/IconLabelList"/>
    <dgm:cxn modelId="{0C6B3D93-0EA4-4FD2-9B58-AF516373DD0E}" type="presParOf" srcId="{4811FA24-16C6-45D9-A65E-C569A122E1B7}" destId="{CF5C612E-E653-4530-A6D7-38F6A9CBBD58}" srcOrd="2" destOrd="0" presId="urn:microsoft.com/office/officeart/2018/2/layout/IconLabelList"/>
    <dgm:cxn modelId="{2769AF70-0E89-4C67-B6D4-926DADB8CB37}" type="presParOf" srcId="{7353F4C7-A64C-4B9A-9CC9-402CD9A802B8}" destId="{E7094655-F5E6-487D-883A-8DB91938376E}" srcOrd="1" destOrd="0" presId="urn:microsoft.com/office/officeart/2018/2/layout/IconLabelList"/>
    <dgm:cxn modelId="{EB416420-6493-4E7A-BB13-54C9E37043C7}" type="presParOf" srcId="{7353F4C7-A64C-4B9A-9CC9-402CD9A802B8}" destId="{E9E7F449-984C-4470-B36C-4C8762D15ED1}" srcOrd="2" destOrd="0" presId="urn:microsoft.com/office/officeart/2018/2/layout/IconLabelList"/>
    <dgm:cxn modelId="{7F070BFD-385A-4233-A5CE-DFA197E0048A}" type="presParOf" srcId="{E9E7F449-984C-4470-B36C-4C8762D15ED1}" destId="{969D6F33-095E-4528-B1FD-141858C2DC43}" srcOrd="0" destOrd="0" presId="urn:microsoft.com/office/officeart/2018/2/layout/IconLabelList"/>
    <dgm:cxn modelId="{D0ADD02E-9FB7-4AA3-86BA-C94C516BDF17}" type="presParOf" srcId="{E9E7F449-984C-4470-B36C-4C8762D15ED1}" destId="{E32D6294-6896-42DA-AABA-92B11EE7AD15}" srcOrd="1" destOrd="0" presId="urn:microsoft.com/office/officeart/2018/2/layout/IconLabelList"/>
    <dgm:cxn modelId="{3267A901-5EF0-4C91-9B5A-705E40C41C76}" type="presParOf" srcId="{E9E7F449-984C-4470-B36C-4C8762D15ED1}" destId="{63423E0C-20C0-4D7A-9AAA-CAD7634128A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48D4FEF1-6A15-492E-B886-F5323548FF97}" type="doc">
      <dgm:prSet loTypeId="urn:microsoft.com/office/officeart/2018/2/layout/IconVerticalSolidList" loCatId="icon" qsTypeId="urn:microsoft.com/office/officeart/2005/8/quickstyle/simple1#15" qsCatId="simple" csTypeId="urn:microsoft.com/office/officeart/2005/8/colors/accent1_2#8" csCatId="accent1" phldr="1"/>
      <dgm:spPr/>
      <dgm:t>
        <a:bodyPr/>
        <a:lstStyle/>
        <a:p>
          <a:endParaRPr lang="en-US"/>
        </a:p>
      </dgm:t>
    </dgm:pt>
    <dgm:pt modelId="{112EEE2A-972F-436B-BF90-CAC96ECC203B}">
      <dgm:prSet/>
      <dgm:spPr/>
      <dgm:t>
        <a:bodyPr/>
        <a:lstStyle/>
        <a:p>
          <a:pPr>
            <a:lnSpc>
              <a:spcPct val="100000"/>
            </a:lnSpc>
          </a:pPr>
          <a:r>
            <a:rPr lang="en-US"/>
            <a:t>Validate that the target model version or model family is supported for your existing deployment type. Migrations can only occur between provisioned deployments of the same deployment type. </a:t>
          </a:r>
        </a:p>
      </dgm:t>
    </dgm:pt>
    <dgm:pt modelId="{E3E514CF-4ED5-4CD1-81A7-23F1BA03722C}" type="parTrans" cxnId="{796D0073-3484-4815-9D01-B87FE49F812A}">
      <dgm:prSet/>
      <dgm:spPr/>
      <dgm:t>
        <a:bodyPr/>
        <a:lstStyle/>
        <a:p>
          <a:endParaRPr lang="en-US"/>
        </a:p>
      </dgm:t>
    </dgm:pt>
    <dgm:pt modelId="{496172CD-1778-43BD-9C75-102F219C0E4A}" type="sibTrans" cxnId="{796D0073-3484-4815-9D01-B87FE49F812A}">
      <dgm:prSet/>
      <dgm:spPr/>
      <dgm:t>
        <a:bodyPr/>
        <a:lstStyle/>
        <a:p>
          <a:endParaRPr lang="en-US"/>
        </a:p>
      </dgm:t>
    </dgm:pt>
    <dgm:pt modelId="{2C1BDB32-58F3-4222-BE7D-DA3872828602}">
      <dgm:prSet/>
      <dgm:spPr/>
      <dgm:t>
        <a:bodyPr/>
        <a:lstStyle/>
        <a:p>
          <a:pPr>
            <a:lnSpc>
              <a:spcPct val="100000"/>
            </a:lnSpc>
          </a:pPr>
          <a:r>
            <a:rPr lang="en-US"/>
            <a:t>Validate capacity availability for your target model version or model family prior to attempting a migration.</a:t>
          </a:r>
        </a:p>
      </dgm:t>
    </dgm:pt>
    <dgm:pt modelId="{98F3576B-12E1-4D3F-8058-BF6E183DA48F}" type="parTrans" cxnId="{88814B18-2F4A-40E0-B635-8BB2C524777C}">
      <dgm:prSet/>
      <dgm:spPr/>
      <dgm:t>
        <a:bodyPr/>
        <a:lstStyle/>
        <a:p>
          <a:endParaRPr lang="en-US"/>
        </a:p>
      </dgm:t>
    </dgm:pt>
    <dgm:pt modelId="{EE462966-55C3-40D5-AFB5-E00750AC8D3B}" type="sibTrans" cxnId="{88814B18-2F4A-40E0-B635-8BB2C524777C}">
      <dgm:prSet/>
      <dgm:spPr/>
      <dgm:t>
        <a:bodyPr/>
        <a:lstStyle/>
        <a:p>
          <a:endParaRPr lang="en-US"/>
        </a:p>
      </dgm:t>
    </dgm:pt>
    <dgm:pt modelId="{F32E9A24-E9C1-431A-9E24-57924A245046}">
      <dgm:prSet/>
      <dgm:spPr/>
      <dgm:t>
        <a:bodyPr/>
        <a:lstStyle/>
        <a:p>
          <a:pPr>
            <a:lnSpc>
              <a:spcPct val="100000"/>
            </a:lnSpc>
          </a:pPr>
          <a:r>
            <a:rPr lang="en-US"/>
            <a:t>For multi-deployment migrations, validate that you have sufficient quota to support multiple deployments simultaneously.</a:t>
          </a:r>
        </a:p>
      </dgm:t>
    </dgm:pt>
    <dgm:pt modelId="{F59E3E00-4FB5-458A-BB74-DC1EAF4D2D13}" type="parTrans" cxnId="{15F191A7-D798-44F9-AF0E-6F1D88413EF4}">
      <dgm:prSet/>
      <dgm:spPr/>
      <dgm:t>
        <a:bodyPr/>
        <a:lstStyle/>
        <a:p>
          <a:endParaRPr lang="en-US"/>
        </a:p>
      </dgm:t>
    </dgm:pt>
    <dgm:pt modelId="{964F57EE-B788-4BF7-BFDC-5DA5BB329582}" type="sibTrans" cxnId="{15F191A7-D798-44F9-AF0E-6F1D88413EF4}">
      <dgm:prSet/>
      <dgm:spPr/>
      <dgm:t>
        <a:bodyPr/>
        <a:lstStyle/>
        <a:p>
          <a:endParaRPr lang="en-US"/>
        </a:p>
      </dgm:t>
    </dgm:pt>
    <dgm:pt modelId="{1226FD70-FDD2-4BF6-9BDB-0425A97CB0DC}" type="pres">
      <dgm:prSet presAssocID="{48D4FEF1-6A15-492E-B886-F5323548FF97}" presName="root" presStyleCnt="0">
        <dgm:presLayoutVars>
          <dgm:dir/>
          <dgm:resizeHandles val="exact"/>
        </dgm:presLayoutVars>
      </dgm:prSet>
      <dgm:spPr/>
    </dgm:pt>
    <dgm:pt modelId="{27110A64-8FBF-4D30-B6B3-37D260A63218}" type="pres">
      <dgm:prSet presAssocID="{112EEE2A-972F-436B-BF90-CAC96ECC203B}" presName="compNode" presStyleCnt="0"/>
      <dgm:spPr/>
    </dgm:pt>
    <dgm:pt modelId="{B5D25C62-7643-4DB1-AF95-A10AF44B2300}" type="pres">
      <dgm:prSet presAssocID="{112EEE2A-972F-436B-BF90-CAC96ECC203B}" presName="bgRect" presStyleLbl="bgShp" presStyleIdx="0" presStyleCnt="3"/>
      <dgm:spPr/>
    </dgm:pt>
    <dgm:pt modelId="{DE722B23-BD4B-4A86-9911-D9312DD6664F}" type="pres">
      <dgm:prSet presAssocID="{112EEE2A-972F-436B-BF90-CAC96ECC203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Flowchart"/>
        </a:ext>
      </dgm:extLst>
    </dgm:pt>
    <dgm:pt modelId="{31C1178C-3C7A-4A85-B152-EB8330B3B28E}" type="pres">
      <dgm:prSet presAssocID="{112EEE2A-972F-436B-BF90-CAC96ECC203B}" presName="spaceRect" presStyleCnt="0"/>
      <dgm:spPr/>
    </dgm:pt>
    <dgm:pt modelId="{81B1D578-C694-4F7B-A451-E9CF48943E64}" type="pres">
      <dgm:prSet presAssocID="{112EEE2A-972F-436B-BF90-CAC96ECC203B}" presName="parTx" presStyleLbl="revTx" presStyleIdx="0" presStyleCnt="3">
        <dgm:presLayoutVars>
          <dgm:chMax val="0"/>
          <dgm:chPref val="0"/>
        </dgm:presLayoutVars>
      </dgm:prSet>
      <dgm:spPr/>
    </dgm:pt>
    <dgm:pt modelId="{EDEEE6E4-396B-4220-A7ED-3027F9928230}" type="pres">
      <dgm:prSet presAssocID="{496172CD-1778-43BD-9C75-102F219C0E4A}" presName="sibTrans" presStyleCnt="0"/>
      <dgm:spPr/>
    </dgm:pt>
    <dgm:pt modelId="{26F92DD4-5987-4202-9B60-11DC5A98AA26}" type="pres">
      <dgm:prSet presAssocID="{2C1BDB32-58F3-4222-BE7D-DA3872828602}" presName="compNode" presStyleCnt="0"/>
      <dgm:spPr/>
    </dgm:pt>
    <dgm:pt modelId="{9674491B-1725-493C-8171-5B8DC9250C54}" type="pres">
      <dgm:prSet presAssocID="{2C1BDB32-58F3-4222-BE7D-DA3872828602}" presName="bgRect" presStyleLbl="bgShp" presStyleIdx="1" presStyleCnt="3"/>
      <dgm:spPr/>
    </dgm:pt>
    <dgm:pt modelId="{9A851A21-1504-441D-A3AC-57AC1A02EDDA}" type="pres">
      <dgm:prSet presAssocID="{2C1BDB32-58F3-4222-BE7D-DA3872828602}"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DD43AACC-D050-48D2-97AF-09D7138DABA9}" type="pres">
      <dgm:prSet presAssocID="{2C1BDB32-58F3-4222-BE7D-DA3872828602}" presName="spaceRect" presStyleCnt="0"/>
      <dgm:spPr/>
    </dgm:pt>
    <dgm:pt modelId="{61DDCA5E-E78B-40FB-826D-68F5C2AA2F07}" type="pres">
      <dgm:prSet presAssocID="{2C1BDB32-58F3-4222-BE7D-DA3872828602}" presName="parTx" presStyleLbl="revTx" presStyleIdx="1" presStyleCnt="3">
        <dgm:presLayoutVars>
          <dgm:chMax val="0"/>
          <dgm:chPref val="0"/>
        </dgm:presLayoutVars>
      </dgm:prSet>
      <dgm:spPr/>
    </dgm:pt>
    <dgm:pt modelId="{68A0358B-1FB7-41BD-862E-941B2ACBD7BF}" type="pres">
      <dgm:prSet presAssocID="{EE462966-55C3-40D5-AFB5-E00750AC8D3B}" presName="sibTrans" presStyleCnt="0"/>
      <dgm:spPr/>
    </dgm:pt>
    <dgm:pt modelId="{AAA0790B-B33E-4A5F-BE85-3FAE635B3359}" type="pres">
      <dgm:prSet presAssocID="{F32E9A24-E9C1-431A-9E24-57924A245046}" presName="compNode" presStyleCnt="0"/>
      <dgm:spPr/>
    </dgm:pt>
    <dgm:pt modelId="{5DF06EC2-FD08-486A-A89D-5F7F7BCB08C3}" type="pres">
      <dgm:prSet presAssocID="{F32E9A24-E9C1-431A-9E24-57924A245046}" presName="bgRect" presStyleLbl="bgShp" presStyleIdx="2" presStyleCnt="3"/>
      <dgm:spPr/>
    </dgm:pt>
    <dgm:pt modelId="{3944A7A8-D537-41EC-B00D-F46D8F2F77CE}" type="pres">
      <dgm:prSet presAssocID="{F32E9A24-E9C1-431A-9E24-57924A24504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yncing Cloud"/>
        </a:ext>
      </dgm:extLst>
    </dgm:pt>
    <dgm:pt modelId="{C08199E2-0C4E-4BD0-B374-34DC2D386425}" type="pres">
      <dgm:prSet presAssocID="{F32E9A24-E9C1-431A-9E24-57924A245046}" presName="spaceRect" presStyleCnt="0"/>
      <dgm:spPr/>
    </dgm:pt>
    <dgm:pt modelId="{36C9DFE1-ECC7-4ED5-AA44-CDA816997152}" type="pres">
      <dgm:prSet presAssocID="{F32E9A24-E9C1-431A-9E24-57924A245046}" presName="parTx" presStyleLbl="revTx" presStyleIdx="2" presStyleCnt="3">
        <dgm:presLayoutVars>
          <dgm:chMax val="0"/>
          <dgm:chPref val="0"/>
        </dgm:presLayoutVars>
      </dgm:prSet>
      <dgm:spPr/>
    </dgm:pt>
  </dgm:ptLst>
  <dgm:cxnLst>
    <dgm:cxn modelId="{F211BF05-DF64-4539-B7F1-98967673789D}" type="presOf" srcId="{48D4FEF1-6A15-492E-B886-F5323548FF97}" destId="{1226FD70-FDD2-4BF6-9BDB-0425A97CB0DC}" srcOrd="0" destOrd="0" presId="urn:microsoft.com/office/officeart/2018/2/layout/IconVerticalSolidList"/>
    <dgm:cxn modelId="{DEBF9C16-AA2C-4C45-8009-F4F8638F8848}" type="presOf" srcId="{2C1BDB32-58F3-4222-BE7D-DA3872828602}" destId="{61DDCA5E-E78B-40FB-826D-68F5C2AA2F07}" srcOrd="0" destOrd="0" presId="urn:microsoft.com/office/officeart/2018/2/layout/IconVerticalSolidList"/>
    <dgm:cxn modelId="{88814B18-2F4A-40E0-B635-8BB2C524777C}" srcId="{48D4FEF1-6A15-492E-B886-F5323548FF97}" destId="{2C1BDB32-58F3-4222-BE7D-DA3872828602}" srcOrd="1" destOrd="0" parTransId="{98F3576B-12E1-4D3F-8058-BF6E183DA48F}" sibTransId="{EE462966-55C3-40D5-AFB5-E00750AC8D3B}"/>
    <dgm:cxn modelId="{37E58638-C2B6-48DB-83DF-2C5509F161C9}" type="presOf" srcId="{F32E9A24-E9C1-431A-9E24-57924A245046}" destId="{36C9DFE1-ECC7-4ED5-AA44-CDA816997152}" srcOrd="0" destOrd="0" presId="urn:microsoft.com/office/officeart/2018/2/layout/IconVerticalSolidList"/>
    <dgm:cxn modelId="{796D0073-3484-4815-9D01-B87FE49F812A}" srcId="{48D4FEF1-6A15-492E-B886-F5323548FF97}" destId="{112EEE2A-972F-436B-BF90-CAC96ECC203B}" srcOrd="0" destOrd="0" parTransId="{E3E514CF-4ED5-4CD1-81A7-23F1BA03722C}" sibTransId="{496172CD-1778-43BD-9C75-102F219C0E4A}"/>
    <dgm:cxn modelId="{15F191A7-D798-44F9-AF0E-6F1D88413EF4}" srcId="{48D4FEF1-6A15-492E-B886-F5323548FF97}" destId="{F32E9A24-E9C1-431A-9E24-57924A245046}" srcOrd="2" destOrd="0" parTransId="{F59E3E00-4FB5-458A-BB74-DC1EAF4D2D13}" sibTransId="{964F57EE-B788-4BF7-BFDC-5DA5BB329582}"/>
    <dgm:cxn modelId="{9C0282D1-310B-4746-B610-3DF33CF44EEF}" type="presOf" srcId="{112EEE2A-972F-436B-BF90-CAC96ECC203B}" destId="{81B1D578-C694-4F7B-A451-E9CF48943E64}" srcOrd="0" destOrd="0" presId="urn:microsoft.com/office/officeart/2018/2/layout/IconVerticalSolidList"/>
    <dgm:cxn modelId="{A241FE1A-DACF-42F0-926B-07C43F9C940D}" type="presParOf" srcId="{1226FD70-FDD2-4BF6-9BDB-0425A97CB0DC}" destId="{27110A64-8FBF-4D30-B6B3-37D260A63218}" srcOrd="0" destOrd="0" presId="urn:microsoft.com/office/officeart/2018/2/layout/IconVerticalSolidList"/>
    <dgm:cxn modelId="{5CCB1A9D-EAB3-455E-B2FB-AA1E5778526D}" type="presParOf" srcId="{27110A64-8FBF-4D30-B6B3-37D260A63218}" destId="{B5D25C62-7643-4DB1-AF95-A10AF44B2300}" srcOrd="0" destOrd="0" presId="urn:microsoft.com/office/officeart/2018/2/layout/IconVerticalSolidList"/>
    <dgm:cxn modelId="{3E4505C7-D589-4C65-8F11-A1B66C3AD2F9}" type="presParOf" srcId="{27110A64-8FBF-4D30-B6B3-37D260A63218}" destId="{DE722B23-BD4B-4A86-9911-D9312DD6664F}" srcOrd="1" destOrd="0" presId="urn:microsoft.com/office/officeart/2018/2/layout/IconVerticalSolidList"/>
    <dgm:cxn modelId="{1553F577-B428-4075-950A-A2B1C7515434}" type="presParOf" srcId="{27110A64-8FBF-4D30-B6B3-37D260A63218}" destId="{31C1178C-3C7A-4A85-B152-EB8330B3B28E}" srcOrd="2" destOrd="0" presId="urn:microsoft.com/office/officeart/2018/2/layout/IconVerticalSolidList"/>
    <dgm:cxn modelId="{270873DC-3C10-42CD-82D8-0A62FC0C61CC}" type="presParOf" srcId="{27110A64-8FBF-4D30-B6B3-37D260A63218}" destId="{81B1D578-C694-4F7B-A451-E9CF48943E64}" srcOrd="3" destOrd="0" presId="urn:microsoft.com/office/officeart/2018/2/layout/IconVerticalSolidList"/>
    <dgm:cxn modelId="{C6C33C13-35BD-43A3-BDF6-AE60785CBD36}" type="presParOf" srcId="{1226FD70-FDD2-4BF6-9BDB-0425A97CB0DC}" destId="{EDEEE6E4-396B-4220-A7ED-3027F9928230}" srcOrd="1" destOrd="0" presId="urn:microsoft.com/office/officeart/2018/2/layout/IconVerticalSolidList"/>
    <dgm:cxn modelId="{5C97B4F6-42C5-4946-BE40-319F42797C46}" type="presParOf" srcId="{1226FD70-FDD2-4BF6-9BDB-0425A97CB0DC}" destId="{26F92DD4-5987-4202-9B60-11DC5A98AA26}" srcOrd="2" destOrd="0" presId="urn:microsoft.com/office/officeart/2018/2/layout/IconVerticalSolidList"/>
    <dgm:cxn modelId="{C0CE48F2-B242-4318-A62C-AA79CAE82446}" type="presParOf" srcId="{26F92DD4-5987-4202-9B60-11DC5A98AA26}" destId="{9674491B-1725-493C-8171-5B8DC9250C54}" srcOrd="0" destOrd="0" presId="urn:microsoft.com/office/officeart/2018/2/layout/IconVerticalSolidList"/>
    <dgm:cxn modelId="{07A11D79-6171-43FD-B29C-4FE30CE81CC1}" type="presParOf" srcId="{26F92DD4-5987-4202-9B60-11DC5A98AA26}" destId="{9A851A21-1504-441D-A3AC-57AC1A02EDDA}" srcOrd="1" destOrd="0" presId="urn:microsoft.com/office/officeart/2018/2/layout/IconVerticalSolidList"/>
    <dgm:cxn modelId="{DA94C57A-49DF-4725-84EB-D6E5A69FCD0B}" type="presParOf" srcId="{26F92DD4-5987-4202-9B60-11DC5A98AA26}" destId="{DD43AACC-D050-48D2-97AF-09D7138DABA9}" srcOrd="2" destOrd="0" presId="urn:microsoft.com/office/officeart/2018/2/layout/IconVerticalSolidList"/>
    <dgm:cxn modelId="{5D61CF44-CBBB-40FC-8CFA-4470F2FD211F}" type="presParOf" srcId="{26F92DD4-5987-4202-9B60-11DC5A98AA26}" destId="{61DDCA5E-E78B-40FB-826D-68F5C2AA2F07}" srcOrd="3" destOrd="0" presId="urn:microsoft.com/office/officeart/2018/2/layout/IconVerticalSolidList"/>
    <dgm:cxn modelId="{9D3CEE2F-272C-4A9B-AD17-4B7E0F4FB297}" type="presParOf" srcId="{1226FD70-FDD2-4BF6-9BDB-0425A97CB0DC}" destId="{68A0358B-1FB7-41BD-862E-941B2ACBD7BF}" srcOrd="3" destOrd="0" presId="urn:microsoft.com/office/officeart/2018/2/layout/IconVerticalSolidList"/>
    <dgm:cxn modelId="{91F917F7-60B7-4C04-9A81-D205DE78786D}" type="presParOf" srcId="{1226FD70-FDD2-4BF6-9BDB-0425A97CB0DC}" destId="{AAA0790B-B33E-4A5F-BE85-3FAE635B3359}" srcOrd="4" destOrd="0" presId="urn:microsoft.com/office/officeart/2018/2/layout/IconVerticalSolidList"/>
    <dgm:cxn modelId="{E94F55D4-CC0C-4399-B0BB-DDADC94E2E00}" type="presParOf" srcId="{AAA0790B-B33E-4A5F-BE85-3FAE635B3359}" destId="{5DF06EC2-FD08-486A-A89D-5F7F7BCB08C3}" srcOrd="0" destOrd="0" presId="urn:microsoft.com/office/officeart/2018/2/layout/IconVerticalSolidList"/>
    <dgm:cxn modelId="{75FCA847-3B65-4335-BE7A-7F864D3A1C88}" type="presParOf" srcId="{AAA0790B-B33E-4A5F-BE85-3FAE635B3359}" destId="{3944A7A8-D537-41EC-B00D-F46D8F2F77CE}" srcOrd="1" destOrd="0" presId="urn:microsoft.com/office/officeart/2018/2/layout/IconVerticalSolidList"/>
    <dgm:cxn modelId="{F3EA9A2C-1562-422B-99D9-DC5E4204C641}" type="presParOf" srcId="{AAA0790B-B33E-4A5F-BE85-3FAE635B3359}" destId="{C08199E2-0C4E-4BD0-B374-34DC2D386425}" srcOrd="2" destOrd="0" presId="urn:microsoft.com/office/officeart/2018/2/layout/IconVerticalSolidList"/>
    <dgm:cxn modelId="{598F136A-15CD-4103-B802-CE6F8B987635}" type="presParOf" srcId="{AAA0790B-B33E-4A5F-BE85-3FAE635B3359}" destId="{36C9DFE1-ECC7-4ED5-AA44-CDA81699715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F1991CC-1914-4DCE-A768-7A06754D3835}" type="doc">
      <dgm:prSet loTypeId="urn:microsoft.com/office/officeart/2018/2/layout/IconCircleList" loCatId="icon" qsTypeId="urn:microsoft.com/office/officeart/2005/8/quickstyle/simple1#16" qsCatId="simple" csTypeId="urn:microsoft.com/office/officeart/2005/8/colors/accent1_2#9" csCatId="accent1" phldr="1"/>
      <dgm:spPr/>
      <dgm:t>
        <a:bodyPr/>
        <a:lstStyle/>
        <a:p>
          <a:endParaRPr lang="en-US"/>
        </a:p>
      </dgm:t>
    </dgm:pt>
    <dgm:pt modelId="{C452D002-8D12-4B8B-87D9-158CA01EAC0E}">
      <dgm:prSet/>
      <dgm:spPr/>
      <dgm:t>
        <a:bodyPr/>
        <a:lstStyle/>
        <a:p>
          <a:pPr>
            <a:lnSpc>
              <a:spcPct val="100000"/>
            </a:lnSpc>
          </a:pPr>
          <a:r>
            <a:rPr lang="en-US"/>
            <a:t>In-place migrations allow you to maintain the same provisioned deployment name and size while changing the model version or model family assigned to that deployment.</a:t>
          </a:r>
        </a:p>
      </dgm:t>
    </dgm:pt>
    <dgm:pt modelId="{D637CCBF-93EB-4FF8-9E7E-2B70D7F0E134}" type="parTrans" cxnId="{2BF8B2A3-D531-430C-B8B7-A686839AF5B5}">
      <dgm:prSet/>
      <dgm:spPr/>
      <dgm:t>
        <a:bodyPr/>
        <a:lstStyle/>
        <a:p>
          <a:endParaRPr lang="en-US"/>
        </a:p>
      </dgm:t>
    </dgm:pt>
    <dgm:pt modelId="{15E96483-6620-4B72-BB0C-ABE68460E51C}" type="sibTrans" cxnId="{2BF8B2A3-D531-430C-B8B7-A686839AF5B5}">
      <dgm:prSet/>
      <dgm:spPr/>
      <dgm:t>
        <a:bodyPr/>
        <a:lstStyle/>
        <a:p>
          <a:pPr>
            <a:lnSpc>
              <a:spcPct val="100000"/>
            </a:lnSpc>
          </a:pPr>
          <a:endParaRPr lang="en-US"/>
        </a:p>
      </dgm:t>
    </dgm:pt>
    <dgm:pt modelId="{37A7880A-A186-4BD6-A084-CBDE0B6787C4}">
      <dgm:prSet/>
      <dgm:spPr/>
      <dgm:t>
        <a:bodyPr/>
        <a:lstStyle/>
        <a:p>
          <a:pPr>
            <a:lnSpc>
              <a:spcPct val="100000"/>
            </a:lnSpc>
          </a:pPr>
          <a:r>
            <a:rPr lang="en-US"/>
            <a:t>With in-place migrations, Azure OpenAI takes care of migrating any existing traffic between model versions or model families throughout the migration over a 20-30 minute window.</a:t>
          </a:r>
        </a:p>
      </dgm:t>
    </dgm:pt>
    <dgm:pt modelId="{AD3549A8-E263-4724-BD01-5C189CDF67F9}" type="parTrans" cxnId="{6C556857-F376-4BEE-AF09-0890FD364170}">
      <dgm:prSet/>
      <dgm:spPr/>
      <dgm:t>
        <a:bodyPr/>
        <a:lstStyle/>
        <a:p>
          <a:endParaRPr lang="en-US"/>
        </a:p>
      </dgm:t>
    </dgm:pt>
    <dgm:pt modelId="{1A81AB8B-8DF4-48A7-9163-D9642829DD81}" type="sibTrans" cxnId="{6C556857-F376-4BEE-AF09-0890FD364170}">
      <dgm:prSet/>
      <dgm:spPr/>
      <dgm:t>
        <a:bodyPr/>
        <a:lstStyle/>
        <a:p>
          <a:endParaRPr lang="en-US"/>
        </a:p>
      </dgm:t>
    </dgm:pt>
    <dgm:pt modelId="{E50CB29F-672A-42C7-9DDD-53222FE7B801}" type="pres">
      <dgm:prSet presAssocID="{8F1991CC-1914-4DCE-A768-7A06754D3835}" presName="root" presStyleCnt="0">
        <dgm:presLayoutVars>
          <dgm:dir/>
          <dgm:resizeHandles val="exact"/>
        </dgm:presLayoutVars>
      </dgm:prSet>
      <dgm:spPr/>
    </dgm:pt>
    <dgm:pt modelId="{032BBDF8-9D5F-4CBE-A25C-480083E0780F}" type="pres">
      <dgm:prSet presAssocID="{8F1991CC-1914-4DCE-A768-7A06754D3835}" presName="container" presStyleCnt="0">
        <dgm:presLayoutVars>
          <dgm:dir/>
          <dgm:resizeHandles val="exact"/>
        </dgm:presLayoutVars>
      </dgm:prSet>
      <dgm:spPr/>
    </dgm:pt>
    <dgm:pt modelId="{1FC4AEDE-2864-4CD4-829D-BA3F3F84C0D4}" type="pres">
      <dgm:prSet presAssocID="{C452D002-8D12-4B8B-87D9-158CA01EAC0E}" presName="compNode" presStyleCnt="0"/>
      <dgm:spPr/>
    </dgm:pt>
    <dgm:pt modelId="{57C77CF2-45C6-4769-A7D8-C72A3B5A9A13}" type="pres">
      <dgm:prSet presAssocID="{C452D002-8D12-4B8B-87D9-158CA01EAC0E}" presName="iconBgRect" presStyleLbl="bgShp" presStyleIdx="0" presStyleCnt="2"/>
      <dgm:spPr/>
    </dgm:pt>
    <dgm:pt modelId="{1FEE6754-6ACE-4E2A-8692-BF588F26DEE4}" type="pres">
      <dgm:prSet presAssocID="{C452D002-8D12-4B8B-87D9-158CA01EAC0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atabase"/>
        </a:ext>
      </dgm:extLst>
    </dgm:pt>
    <dgm:pt modelId="{18FA703C-5792-4FB6-A523-4BCF0237FB13}" type="pres">
      <dgm:prSet presAssocID="{C452D002-8D12-4B8B-87D9-158CA01EAC0E}" presName="spaceRect" presStyleCnt="0"/>
      <dgm:spPr/>
    </dgm:pt>
    <dgm:pt modelId="{FD2DABB2-7604-4841-8AEA-C47C78E3492F}" type="pres">
      <dgm:prSet presAssocID="{C452D002-8D12-4B8B-87D9-158CA01EAC0E}" presName="textRect" presStyleLbl="revTx" presStyleIdx="0" presStyleCnt="2">
        <dgm:presLayoutVars>
          <dgm:chMax val="1"/>
          <dgm:chPref val="1"/>
        </dgm:presLayoutVars>
      </dgm:prSet>
      <dgm:spPr/>
    </dgm:pt>
    <dgm:pt modelId="{6438384F-03B7-4486-898E-1FD9CC3B16E8}" type="pres">
      <dgm:prSet presAssocID="{15E96483-6620-4B72-BB0C-ABE68460E51C}" presName="sibTrans" presStyleLbl="sibTrans2D1" presStyleIdx="0" presStyleCnt="0"/>
      <dgm:spPr/>
    </dgm:pt>
    <dgm:pt modelId="{046764B7-F247-4C3D-94D0-CFFB01FC6E9F}" type="pres">
      <dgm:prSet presAssocID="{37A7880A-A186-4BD6-A084-CBDE0B6787C4}" presName="compNode" presStyleCnt="0"/>
      <dgm:spPr/>
    </dgm:pt>
    <dgm:pt modelId="{98593456-6F50-4EE3-B446-122429213D4C}" type="pres">
      <dgm:prSet presAssocID="{37A7880A-A186-4BD6-A084-CBDE0B6787C4}" presName="iconBgRect" presStyleLbl="bgShp" presStyleIdx="1" presStyleCnt="2"/>
      <dgm:spPr/>
    </dgm:pt>
    <dgm:pt modelId="{3A458614-264D-4D56-9409-9CE863017979}" type="pres">
      <dgm:prSet presAssocID="{37A7880A-A186-4BD6-A084-CBDE0B6787C4}"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yncing Cloud"/>
        </a:ext>
      </dgm:extLst>
    </dgm:pt>
    <dgm:pt modelId="{EBF762A4-A9A3-4805-AAAA-5F27409CA999}" type="pres">
      <dgm:prSet presAssocID="{37A7880A-A186-4BD6-A084-CBDE0B6787C4}" presName="spaceRect" presStyleCnt="0"/>
      <dgm:spPr/>
    </dgm:pt>
    <dgm:pt modelId="{47A71493-2495-400E-A918-4C1F27C7DA00}" type="pres">
      <dgm:prSet presAssocID="{37A7880A-A186-4BD6-A084-CBDE0B6787C4}" presName="textRect" presStyleLbl="revTx" presStyleIdx="1" presStyleCnt="2">
        <dgm:presLayoutVars>
          <dgm:chMax val="1"/>
          <dgm:chPref val="1"/>
        </dgm:presLayoutVars>
      </dgm:prSet>
      <dgm:spPr/>
    </dgm:pt>
  </dgm:ptLst>
  <dgm:cxnLst>
    <dgm:cxn modelId="{73F26C2B-C56A-4C5C-AD08-3369C2AF95DC}" type="presOf" srcId="{37A7880A-A186-4BD6-A084-CBDE0B6787C4}" destId="{47A71493-2495-400E-A918-4C1F27C7DA00}" srcOrd="0" destOrd="0" presId="urn:microsoft.com/office/officeart/2018/2/layout/IconCircleList"/>
    <dgm:cxn modelId="{67D17E2B-B5CB-4EFA-9680-A6B81950E7F3}" type="presOf" srcId="{8F1991CC-1914-4DCE-A768-7A06754D3835}" destId="{E50CB29F-672A-42C7-9DDD-53222FE7B801}" srcOrd="0" destOrd="0" presId="urn:microsoft.com/office/officeart/2018/2/layout/IconCircleList"/>
    <dgm:cxn modelId="{6C556857-F376-4BEE-AF09-0890FD364170}" srcId="{8F1991CC-1914-4DCE-A768-7A06754D3835}" destId="{37A7880A-A186-4BD6-A084-CBDE0B6787C4}" srcOrd="1" destOrd="0" parTransId="{AD3549A8-E263-4724-BD01-5C189CDF67F9}" sibTransId="{1A81AB8B-8DF4-48A7-9163-D9642829DD81}"/>
    <dgm:cxn modelId="{802D6D8E-6A8F-4E93-8C83-7266A507BFBE}" type="presOf" srcId="{15E96483-6620-4B72-BB0C-ABE68460E51C}" destId="{6438384F-03B7-4486-898E-1FD9CC3B16E8}" srcOrd="0" destOrd="0" presId="urn:microsoft.com/office/officeart/2018/2/layout/IconCircleList"/>
    <dgm:cxn modelId="{7FA33393-AF35-4546-9B65-E3E82A1AA85D}" type="presOf" srcId="{C452D002-8D12-4B8B-87D9-158CA01EAC0E}" destId="{FD2DABB2-7604-4841-8AEA-C47C78E3492F}" srcOrd="0" destOrd="0" presId="urn:microsoft.com/office/officeart/2018/2/layout/IconCircleList"/>
    <dgm:cxn modelId="{2BF8B2A3-D531-430C-B8B7-A686839AF5B5}" srcId="{8F1991CC-1914-4DCE-A768-7A06754D3835}" destId="{C452D002-8D12-4B8B-87D9-158CA01EAC0E}" srcOrd="0" destOrd="0" parTransId="{D637CCBF-93EB-4FF8-9E7E-2B70D7F0E134}" sibTransId="{15E96483-6620-4B72-BB0C-ABE68460E51C}"/>
    <dgm:cxn modelId="{BC37C0B9-D6E5-4709-AAB5-D64698E321E2}" type="presParOf" srcId="{E50CB29F-672A-42C7-9DDD-53222FE7B801}" destId="{032BBDF8-9D5F-4CBE-A25C-480083E0780F}" srcOrd="0" destOrd="0" presId="urn:microsoft.com/office/officeart/2018/2/layout/IconCircleList"/>
    <dgm:cxn modelId="{5326504A-831A-4D97-8410-08036626E85B}" type="presParOf" srcId="{032BBDF8-9D5F-4CBE-A25C-480083E0780F}" destId="{1FC4AEDE-2864-4CD4-829D-BA3F3F84C0D4}" srcOrd="0" destOrd="0" presId="urn:microsoft.com/office/officeart/2018/2/layout/IconCircleList"/>
    <dgm:cxn modelId="{0437C455-AAE7-4D5A-902A-F280DCDC4C8B}" type="presParOf" srcId="{1FC4AEDE-2864-4CD4-829D-BA3F3F84C0D4}" destId="{57C77CF2-45C6-4769-A7D8-C72A3B5A9A13}" srcOrd="0" destOrd="0" presId="urn:microsoft.com/office/officeart/2018/2/layout/IconCircleList"/>
    <dgm:cxn modelId="{5E8B2A49-3BC1-4C03-929A-FEFD54FB66D3}" type="presParOf" srcId="{1FC4AEDE-2864-4CD4-829D-BA3F3F84C0D4}" destId="{1FEE6754-6ACE-4E2A-8692-BF588F26DEE4}" srcOrd="1" destOrd="0" presId="urn:microsoft.com/office/officeart/2018/2/layout/IconCircleList"/>
    <dgm:cxn modelId="{F5ABF01B-0682-4D22-A1A6-40131A9568AB}" type="presParOf" srcId="{1FC4AEDE-2864-4CD4-829D-BA3F3F84C0D4}" destId="{18FA703C-5792-4FB6-A523-4BCF0237FB13}" srcOrd="2" destOrd="0" presId="urn:microsoft.com/office/officeart/2018/2/layout/IconCircleList"/>
    <dgm:cxn modelId="{DA2D749F-C3EB-4097-9709-6325E3EAF900}" type="presParOf" srcId="{1FC4AEDE-2864-4CD4-829D-BA3F3F84C0D4}" destId="{FD2DABB2-7604-4841-8AEA-C47C78E3492F}" srcOrd="3" destOrd="0" presId="urn:microsoft.com/office/officeart/2018/2/layout/IconCircleList"/>
    <dgm:cxn modelId="{BD3A9231-3056-4ED3-BCEA-114201365A82}" type="presParOf" srcId="{032BBDF8-9D5F-4CBE-A25C-480083E0780F}" destId="{6438384F-03B7-4486-898E-1FD9CC3B16E8}" srcOrd="1" destOrd="0" presId="urn:microsoft.com/office/officeart/2018/2/layout/IconCircleList"/>
    <dgm:cxn modelId="{E736DF3C-AA90-469B-B98C-7787D131069B}" type="presParOf" srcId="{032BBDF8-9D5F-4CBE-A25C-480083E0780F}" destId="{046764B7-F247-4C3D-94D0-CFFB01FC6E9F}" srcOrd="2" destOrd="0" presId="urn:microsoft.com/office/officeart/2018/2/layout/IconCircleList"/>
    <dgm:cxn modelId="{DB87C6C5-3BF1-4855-AB37-633BFF35F09C}" type="presParOf" srcId="{046764B7-F247-4C3D-94D0-CFFB01FC6E9F}" destId="{98593456-6F50-4EE3-B446-122429213D4C}" srcOrd="0" destOrd="0" presId="urn:microsoft.com/office/officeart/2018/2/layout/IconCircleList"/>
    <dgm:cxn modelId="{18F8103F-FE75-48F0-BE53-EA0A7604A842}" type="presParOf" srcId="{046764B7-F247-4C3D-94D0-CFFB01FC6E9F}" destId="{3A458614-264D-4D56-9409-9CE863017979}" srcOrd="1" destOrd="0" presId="urn:microsoft.com/office/officeart/2018/2/layout/IconCircleList"/>
    <dgm:cxn modelId="{4494DC81-ED47-4B39-AC6C-7B2ECE0FF695}" type="presParOf" srcId="{046764B7-F247-4C3D-94D0-CFFB01FC6E9F}" destId="{EBF762A4-A9A3-4805-AAAA-5F27409CA999}" srcOrd="2" destOrd="0" presId="urn:microsoft.com/office/officeart/2018/2/layout/IconCircleList"/>
    <dgm:cxn modelId="{2DA6305A-231E-40C5-AD95-D1E5349B0F7E}" type="presParOf" srcId="{046764B7-F247-4C3D-94D0-CFFB01FC6E9F}" destId="{47A71493-2495-400E-A918-4C1F27C7DA0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D345D22C-1047-46C3-B04C-A9477F645A49}" type="doc">
      <dgm:prSet loTypeId="urn:microsoft.com/office/officeart/2018/2/layout/IconCircleList" loCatId="icon" qsTypeId="urn:microsoft.com/office/officeart/2005/8/quickstyle/simple1#17" qsCatId="simple" csTypeId="urn:microsoft.com/office/officeart/2005/8/colors/accent1_2#10" csCatId="accent1" phldr="1"/>
      <dgm:spPr/>
      <dgm:t>
        <a:bodyPr/>
        <a:lstStyle/>
        <a:p>
          <a:endParaRPr lang="en-US"/>
        </a:p>
      </dgm:t>
    </dgm:pt>
    <dgm:pt modelId="{CE69323E-648F-4EEB-B9B0-DEBB8F773280}">
      <dgm:prSet/>
      <dgm:spPr/>
      <dgm:t>
        <a:bodyPr/>
        <a:lstStyle/>
        <a:p>
          <a:pPr>
            <a:lnSpc>
              <a:spcPct val="100000"/>
            </a:lnSpc>
          </a:pPr>
          <a:r>
            <a:rPr lang="en-US"/>
            <a:t>Throughout the migration window, your provisioned deployment will display an "updating" provisioned state. You can continue to use your provisioned deployment as you normally would.</a:t>
          </a:r>
        </a:p>
      </dgm:t>
    </dgm:pt>
    <dgm:pt modelId="{B336E66E-E018-48B7-B4FD-45526D3A438B}" type="parTrans" cxnId="{E142F816-74C3-4503-882E-3167006A8379}">
      <dgm:prSet/>
      <dgm:spPr/>
      <dgm:t>
        <a:bodyPr/>
        <a:lstStyle/>
        <a:p>
          <a:endParaRPr lang="en-US"/>
        </a:p>
      </dgm:t>
    </dgm:pt>
    <dgm:pt modelId="{6E7F4EDF-239F-4DE0-9EBD-E0963E4F6BF2}" type="sibTrans" cxnId="{E142F816-74C3-4503-882E-3167006A8379}">
      <dgm:prSet/>
      <dgm:spPr/>
      <dgm:t>
        <a:bodyPr/>
        <a:lstStyle/>
        <a:p>
          <a:pPr>
            <a:lnSpc>
              <a:spcPct val="100000"/>
            </a:lnSpc>
          </a:pPr>
          <a:endParaRPr lang="en-US"/>
        </a:p>
      </dgm:t>
    </dgm:pt>
    <dgm:pt modelId="{C47A98B1-20EC-4AC7-B238-69A6E3936189}">
      <dgm:prSet/>
      <dgm:spPr/>
      <dgm:t>
        <a:bodyPr/>
        <a:lstStyle/>
        <a:p>
          <a:pPr>
            <a:lnSpc>
              <a:spcPct val="100000"/>
            </a:lnSpc>
          </a:pPr>
          <a:r>
            <a:rPr lang="en-US"/>
            <a:t>Once the in-place migration is complete, the provisioned state will be updated to "succeeded", indicating that all traffic has been migrated over to the target model version or model family.</a:t>
          </a:r>
        </a:p>
      </dgm:t>
    </dgm:pt>
    <dgm:pt modelId="{0426CE8F-5FDA-489A-B997-6FDF86FB5CCD}" type="parTrans" cxnId="{94B42759-A2E8-4D83-9518-330B6B4B1C3F}">
      <dgm:prSet/>
      <dgm:spPr/>
      <dgm:t>
        <a:bodyPr/>
        <a:lstStyle/>
        <a:p>
          <a:endParaRPr lang="en-US"/>
        </a:p>
      </dgm:t>
    </dgm:pt>
    <dgm:pt modelId="{6A84CA97-8E9C-42A0-A73C-647EF6AE7681}" type="sibTrans" cxnId="{94B42759-A2E8-4D83-9518-330B6B4B1C3F}">
      <dgm:prSet/>
      <dgm:spPr/>
      <dgm:t>
        <a:bodyPr/>
        <a:lstStyle/>
        <a:p>
          <a:endParaRPr lang="en-US"/>
        </a:p>
      </dgm:t>
    </dgm:pt>
    <dgm:pt modelId="{F8C852C0-CE32-48E0-B89B-6B4535A979D3}" type="pres">
      <dgm:prSet presAssocID="{D345D22C-1047-46C3-B04C-A9477F645A49}" presName="root" presStyleCnt="0">
        <dgm:presLayoutVars>
          <dgm:dir/>
          <dgm:resizeHandles val="exact"/>
        </dgm:presLayoutVars>
      </dgm:prSet>
      <dgm:spPr/>
    </dgm:pt>
    <dgm:pt modelId="{89865494-1495-49CE-809B-A3DD866D3319}" type="pres">
      <dgm:prSet presAssocID="{D345D22C-1047-46C3-B04C-A9477F645A49}" presName="container" presStyleCnt="0">
        <dgm:presLayoutVars>
          <dgm:dir/>
          <dgm:resizeHandles val="exact"/>
        </dgm:presLayoutVars>
      </dgm:prSet>
      <dgm:spPr/>
    </dgm:pt>
    <dgm:pt modelId="{709DA646-67EC-4B73-85E7-B5D923DFE3D0}" type="pres">
      <dgm:prSet presAssocID="{CE69323E-648F-4EEB-B9B0-DEBB8F773280}" presName="compNode" presStyleCnt="0"/>
      <dgm:spPr/>
    </dgm:pt>
    <dgm:pt modelId="{731A774B-DC48-4B83-B206-7E075AB8EE62}" type="pres">
      <dgm:prSet presAssocID="{CE69323E-648F-4EEB-B9B0-DEBB8F773280}" presName="iconBgRect" presStyleLbl="bgShp" presStyleIdx="0" presStyleCnt="2"/>
      <dgm:spPr/>
    </dgm:pt>
    <dgm:pt modelId="{F77FAB5D-BD28-4210-BDFE-83B64F54AB16}" type="pres">
      <dgm:prSet presAssocID="{CE69323E-648F-4EEB-B9B0-DEBB8F773280}"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rowser Window"/>
        </a:ext>
      </dgm:extLst>
    </dgm:pt>
    <dgm:pt modelId="{CCF8DCEF-7370-418C-A366-4BA5F737F9AD}" type="pres">
      <dgm:prSet presAssocID="{CE69323E-648F-4EEB-B9B0-DEBB8F773280}" presName="spaceRect" presStyleCnt="0"/>
      <dgm:spPr/>
    </dgm:pt>
    <dgm:pt modelId="{5720CFBF-4331-4D52-B8CE-16C317CE241A}" type="pres">
      <dgm:prSet presAssocID="{CE69323E-648F-4EEB-B9B0-DEBB8F773280}" presName="textRect" presStyleLbl="revTx" presStyleIdx="0" presStyleCnt="2">
        <dgm:presLayoutVars>
          <dgm:chMax val="1"/>
          <dgm:chPref val="1"/>
        </dgm:presLayoutVars>
      </dgm:prSet>
      <dgm:spPr/>
    </dgm:pt>
    <dgm:pt modelId="{7FDE0A2C-4CD9-482E-8BEC-90DF94DE6B1D}" type="pres">
      <dgm:prSet presAssocID="{6E7F4EDF-239F-4DE0-9EBD-E0963E4F6BF2}" presName="sibTrans" presStyleLbl="sibTrans2D1" presStyleIdx="0" presStyleCnt="0"/>
      <dgm:spPr/>
    </dgm:pt>
    <dgm:pt modelId="{C39FF14F-7FE6-48D2-81CA-69DE024641E4}" type="pres">
      <dgm:prSet presAssocID="{C47A98B1-20EC-4AC7-B238-69A6E3936189}" presName="compNode" presStyleCnt="0"/>
      <dgm:spPr/>
    </dgm:pt>
    <dgm:pt modelId="{F7BC1088-697E-45CA-A022-D638BF0F5618}" type="pres">
      <dgm:prSet presAssocID="{C47A98B1-20EC-4AC7-B238-69A6E3936189}" presName="iconBgRect" presStyleLbl="bgShp" presStyleIdx="1" presStyleCnt="2"/>
      <dgm:spPr/>
    </dgm:pt>
    <dgm:pt modelId="{537DFC35-4B6C-4FA3-B036-213C4E92BE74}" type="pres">
      <dgm:prSet presAssocID="{C47A98B1-20EC-4AC7-B238-69A6E3936189}"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6EC8ADC3-1E04-4518-864F-39D696DD4371}" type="pres">
      <dgm:prSet presAssocID="{C47A98B1-20EC-4AC7-B238-69A6E3936189}" presName="spaceRect" presStyleCnt="0"/>
      <dgm:spPr/>
    </dgm:pt>
    <dgm:pt modelId="{2A01D136-E6EC-4AA1-B81C-4CAE1501DBB2}" type="pres">
      <dgm:prSet presAssocID="{C47A98B1-20EC-4AC7-B238-69A6E3936189}" presName="textRect" presStyleLbl="revTx" presStyleIdx="1" presStyleCnt="2">
        <dgm:presLayoutVars>
          <dgm:chMax val="1"/>
          <dgm:chPref val="1"/>
        </dgm:presLayoutVars>
      </dgm:prSet>
      <dgm:spPr/>
    </dgm:pt>
  </dgm:ptLst>
  <dgm:cxnLst>
    <dgm:cxn modelId="{E142F816-74C3-4503-882E-3167006A8379}" srcId="{D345D22C-1047-46C3-B04C-A9477F645A49}" destId="{CE69323E-648F-4EEB-B9B0-DEBB8F773280}" srcOrd="0" destOrd="0" parTransId="{B336E66E-E018-48B7-B4FD-45526D3A438B}" sibTransId="{6E7F4EDF-239F-4DE0-9EBD-E0963E4F6BF2}"/>
    <dgm:cxn modelId="{C11DBE58-3C85-4A4C-8C6F-4DDD55D3955D}" type="presOf" srcId="{D345D22C-1047-46C3-B04C-A9477F645A49}" destId="{F8C852C0-CE32-48E0-B89B-6B4535A979D3}" srcOrd="0" destOrd="0" presId="urn:microsoft.com/office/officeart/2018/2/layout/IconCircleList"/>
    <dgm:cxn modelId="{94B42759-A2E8-4D83-9518-330B6B4B1C3F}" srcId="{D345D22C-1047-46C3-B04C-A9477F645A49}" destId="{C47A98B1-20EC-4AC7-B238-69A6E3936189}" srcOrd="1" destOrd="0" parTransId="{0426CE8F-5FDA-489A-B997-6FDF86FB5CCD}" sibTransId="{6A84CA97-8E9C-42A0-A73C-647EF6AE7681}"/>
    <dgm:cxn modelId="{4A8D5E79-1DEB-4AF3-B2B4-BB40A5730E38}" type="presOf" srcId="{C47A98B1-20EC-4AC7-B238-69A6E3936189}" destId="{2A01D136-E6EC-4AA1-B81C-4CAE1501DBB2}" srcOrd="0" destOrd="0" presId="urn:microsoft.com/office/officeart/2018/2/layout/IconCircleList"/>
    <dgm:cxn modelId="{94F4F78D-A14A-4289-9EC7-B5D44F2ED851}" type="presOf" srcId="{CE69323E-648F-4EEB-B9B0-DEBB8F773280}" destId="{5720CFBF-4331-4D52-B8CE-16C317CE241A}" srcOrd="0" destOrd="0" presId="urn:microsoft.com/office/officeart/2018/2/layout/IconCircleList"/>
    <dgm:cxn modelId="{8450D2F3-9772-4DA9-A4A5-7FA13A01B311}" type="presOf" srcId="{6E7F4EDF-239F-4DE0-9EBD-E0963E4F6BF2}" destId="{7FDE0A2C-4CD9-482E-8BEC-90DF94DE6B1D}" srcOrd="0" destOrd="0" presId="urn:microsoft.com/office/officeart/2018/2/layout/IconCircleList"/>
    <dgm:cxn modelId="{264EAEDE-5DC9-4DE7-887A-ADF999CA7696}" type="presParOf" srcId="{F8C852C0-CE32-48E0-B89B-6B4535A979D3}" destId="{89865494-1495-49CE-809B-A3DD866D3319}" srcOrd="0" destOrd="0" presId="urn:microsoft.com/office/officeart/2018/2/layout/IconCircleList"/>
    <dgm:cxn modelId="{3905C326-FB6C-4C52-BDD5-1E234D40972C}" type="presParOf" srcId="{89865494-1495-49CE-809B-A3DD866D3319}" destId="{709DA646-67EC-4B73-85E7-B5D923DFE3D0}" srcOrd="0" destOrd="0" presId="urn:microsoft.com/office/officeart/2018/2/layout/IconCircleList"/>
    <dgm:cxn modelId="{B990ECA6-6363-471B-AE70-668328377740}" type="presParOf" srcId="{709DA646-67EC-4B73-85E7-B5D923DFE3D0}" destId="{731A774B-DC48-4B83-B206-7E075AB8EE62}" srcOrd="0" destOrd="0" presId="urn:microsoft.com/office/officeart/2018/2/layout/IconCircleList"/>
    <dgm:cxn modelId="{D3C7B4F7-7991-439B-9081-69AD0F82FFF9}" type="presParOf" srcId="{709DA646-67EC-4B73-85E7-B5D923DFE3D0}" destId="{F77FAB5D-BD28-4210-BDFE-83B64F54AB16}" srcOrd="1" destOrd="0" presId="urn:microsoft.com/office/officeart/2018/2/layout/IconCircleList"/>
    <dgm:cxn modelId="{69621BB2-C5A0-4153-9E55-8C9F6CC70FCB}" type="presParOf" srcId="{709DA646-67EC-4B73-85E7-B5D923DFE3D0}" destId="{CCF8DCEF-7370-418C-A366-4BA5F737F9AD}" srcOrd="2" destOrd="0" presId="urn:microsoft.com/office/officeart/2018/2/layout/IconCircleList"/>
    <dgm:cxn modelId="{DA0C7E92-070D-47F9-9A17-ADD4FE2BA9F1}" type="presParOf" srcId="{709DA646-67EC-4B73-85E7-B5D923DFE3D0}" destId="{5720CFBF-4331-4D52-B8CE-16C317CE241A}" srcOrd="3" destOrd="0" presId="urn:microsoft.com/office/officeart/2018/2/layout/IconCircleList"/>
    <dgm:cxn modelId="{A3AB4770-07F9-40F9-A449-5AD6C39798E2}" type="presParOf" srcId="{89865494-1495-49CE-809B-A3DD866D3319}" destId="{7FDE0A2C-4CD9-482E-8BEC-90DF94DE6B1D}" srcOrd="1" destOrd="0" presId="urn:microsoft.com/office/officeart/2018/2/layout/IconCircleList"/>
    <dgm:cxn modelId="{91C980BE-8846-4D59-BDAD-F539A42154FA}" type="presParOf" srcId="{89865494-1495-49CE-809B-A3DD866D3319}" destId="{C39FF14F-7FE6-48D2-81CA-69DE024641E4}" srcOrd="2" destOrd="0" presId="urn:microsoft.com/office/officeart/2018/2/layout/IconCircleList"/>
    <dgm:cxn modelId="{8B7E4423-070A-40A0-9412-0AAD0198D6DC}" type="presParOf" srcId="{C39FF14F-7FE6-48D2-81CA-69DE024641E4}" destId="{F7BC1088-697E-45CA-A022-D638BF0F5618}" srcOrd="0" destOrd="0" presId="urn:microsoft.com/office/officeart/2018/2/layout/IconCircleList"/>
    <dgm:cxn modelId="{5740F77F-8850-4434-9E60-778BEEC8CFE8}" type="presParOf" srcId="{C39FF14F-7FE6-48D2-81CA-69DE024641E4}" destId="{537DFC35-4B6C-4FA3-B036-213C4E92BE74}" srcOrd="1" destOrd="0" presId="urn:microsoft.com/office/officeart/2018/2/layout/IconCircleList"/>
    <dgm:cxn modelId="{0837B939-AAFA-4E86-8C0A-77D357AFAD6F}" type="presParOf" srcId="{C39FF14F-7FE6-48D2-81CA-69DE024641E4}" destId="{6EC8ADC3-1E04-4518-864F-39D696DD4371}" srcOrd="2" destOrd="0" presId="urn:microsoft.com/office/officeart/2018/2/layout/IconCircleList"/>
    <dgm:cxn modelId="{19F45208-8FEC-4A0D-A62E-864E237C193B}" type="presParOf" srcId="{C39FF14F-7FE6-48D2-81CA-69DE024641E4}" destId="{2A01D136-E6EC-4AA1-B81C-4CAE1501DBB2}"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CC2BA33-3861-4CD4-A1E9-B531471AE5E2}" type="doc">
      <dgm:prSet loTypeId="urn:microsoft.com/office/officeart/2018/2/layout/IconCircleList" loCatId="icon" qsTypeId="urn:microsoft.com/office/officeart/2005/8/quickstyle/simple1#18" qsCatId="simple" csTypeId="urn:microsoft.com/office/officeart/2005/8/colors/accent1_2#11" csCatId="accent1" phldr="1"/>
      <dgm:spPr/>
      <dgm:t>
        <a:bodyPr/>
        <a:lstStyle/>
        <a:p>
          <a:endParaRPr lang="en-US"/>
        </a:p>
      </dgm:t>
    </dgm:pt>
    <dgm:pt modelId="{4A39E467-5B36-408F-93EE-0EED00A22205}">
      <dgm:prSet/>
      <dgm:spPr/>
      <dgm:t>
        <a:bodyPr/>
        <a:lstStyle/>
        <a:p>
          <a:pPr>
            <a:lnSpc>
              <a:spcPct val="100000"/>
            </a:lnSpc>
          </a:pPr>
          <a:r>
            <a:rPr lang="en-US"/>
            <a:t>Create a new provisioned deployment by choosing to maintain the same or different provisioned deployment type as your existing deployment</a:t>
          </a:r>
        </a:p>
      </dgm:t>
    </dgm:pt>
    <dgm:pt modelId="{0BFA1AC4-6E2C-4036-925B-A09CEF893565}" type="parTrans" cxnId="{64A8D679-E8F2-402C-A103-07733605103F}">
      <dgm:prSet/>
      <dgm:spPr/>
      <dgm:t>
        <a:bodyPr/>
        <a:lstStyle/>
        <a:p>
          <a:endParaRPr lang="en-US"/>
        </a:p>
      </dgm:t>
    </dgm:pt>
    <dgm:pt modelId="{11EB5F24-F16C-4967-A3B9-414642C4E7F3}" type="sibTrans" cxnId="{64A8D679-E8F2-402C-A103-07733605103F}">
      <dgm:prSet/>
      <dgm:spPr/>
      <dgm:t>
        <a:bodyPr/>
        <a:lstStyle/>
        <a:p>
          <a:pPr>
            <a:lnSpc>
              <a:spcPct val="100000"/>
            </a:lnSpc>
          </a:pPr>
          <a:endParaRPr lang="en-US"/>
        </a:p>
      </dgm:t>
    </dgm:pt>
    <dgm:pt modelId="{095C0A91-16DA-4557-AB2F-83A745EB631B}">
      <dgm:prSet/>
      <dgm:spPr/>
      <dgm:t>
        <a:bodyPr/>
        <a:lstStyle/>
        <a:p>
          <a:pPr>
            <a:lnSpc>
              <a:spcPct val="100000"/>
            </a:lnSpc>
          </a:pPr>
          <a:r>
            <a:rPr lang="en-US"/>
            <a:t>Transition traffic from the existing provisioned deployment to the newly created provisioned deployment with your target model version or model family</a:t>
          </a:r>
        </a:p>
      </dgm:t>
    </dgm:pt>
    <dgm:pt modelId="{E5D07F73-FF25-4692-B7FA-3D92EBEAE8A6}" type="parTrans" cxnId="{8AB8AF54-FB86-4302-8B10-B5BB8B5F44DB}">
      <dgm:prSet/>
      <dgm:spPr/>
      <dgm:t>
        <a:bodyPr/>
        <a:lstStyle/>
        <a:p>
          <a:endParaRPr lang="en-US"/>
        </a:p>
      </dgm:t>
    </dgm:pt>
    <dgm:pt modelId="{D5F9B77C-E151-46E7-999C-39FC7A2277A9}" type="sibTrans" cxnId="{8AB8AF54-FB86-4302-8B10-B5BB8B5F44DB}">
      <dgm:prSet/>
      <dgm:spPr/>
      <dgm:t>
        <a:bodyPr/>
        <a:lstStyle/>
        <a:p>
          <a:pPr>
            <a:lnSpc>
              <a:spcPct val="100000"/>
            </a:lnSpc>
          </a:pPr>
          <a:endParaRPr lang="en-US"/>
        </a:p>
      </dgm:t>
    </dgm:pt>
    <dgm:pt modelId="{0298C4BF-02DF-49C3-8B13-3D9D7BF01583}">
      <dgm:prSet/>
      <dgm:spPr/>
      <dgm:t>
        <a:bodyPr/>
        <a:lstStyle/>
        <a:p>
          <a:pPr>
            <a:lnSpc>
              <a:spcPct val="100000"/>
            </a:lnSpc>
          </a:pPr>
          <a:r>
            <a:rPr lang="en-US"/>
            <a:t>Once traffic is migrated over to the new deployment, validate that there are no inference requests being processed on the previous provisioned deployment.</a:t>
          </a:r>
        </a:p>
      </dgm:t>
    </dgm:pt>
    <dgm:pt modelId="{057DC496-8546-40FF-879C-013F5867B9AC}" type="parTrans" cxnId="{9B890EEC-DD78-4D78-9AC0-BD4A9717F39E}">
      <dgm:prSet/>
      <dgm:spPr/>
      <dgm:t>
        <a:bodyPr/>
        <a:lstStyle/>
        <a:p>
          <a:endParaRPr lang="en-US"/>
        </a:p>
      </dgm:t>
    </dgm:pt>
    <dgm:pt modelId="{26609C67-380D-477F-80F2-D6DE6138EE6D}" type="sibTrans" cxnId="{9B890EEC-DD78-4D78-9AC0-BD4A9717F39E}">
      <dgm:prSet/>
      <dgm:spPr/>
      <dgm:t>
        <a:bodyPr/>
        <a:lstStyle/>
        <a:p>
          <a:pPr>
            <a:lnSpc>
              <a:spcPct val="100000"/>
            </a:lnSpc>
          </a:pPr>
          <a:endParaRPr lang="en-US"/>
        </a:p>
      </dgm:t>
    </dgm:pt>
    <dgm:pt modelId="{F66215DD-90F9-4067-96E7-B1B32248A426}">
      <dgm:prSet/>
      <dgm:spPr/>
      <dgm:t>
        <a:bodyPr/>
        <a:lstStyle/>
        <a:p>
          <a:pPr>
            <a:lnSpc>
              <a:spcPct val="100000"/>
            </a:lnSpc>
          </a:pPr>
          <a:r>
            <a:rPr lang="en-US"/>
            <a:t>Once you confirm that no inference calls have been made, delete the original provisioned deployment.</a:t>
          </a:r>
        </a:p>
      </dgm:t>
    </dgm:pt>
    <dgm:pt modelId="{25624199-C711-43B3-9826-7594886EC3FE}" type="parTrans" cxnId="{B25BDCD7-9BA0-4A6B-B765-14FA32954D07}">
      <dgm:prSet/>
      <dgm:spPr/>
      <dgm:t>
        <a:bodyPr/>
        <a:lstStyle/>
        <a:p>
          <a:endParaRPr lang="en-US"/>
        </a:p>
      </dgm:t>
    </dgm:pt>
    <dgm:pt modelId="{60766E32-BC39-4314-94EB-2CB3FDDBBCF3}" type="sibTrans" cxnId="{B25BDCD7-9BA0-4A6B-B765-14FA32954D07}">
      <dgm:prSet/>
      <dgm:spPr/>
      <dgm:t>
        <a:bodyPr/>
        <a:lstStyle/>
        <a:p>
          <a:endParaRPr lang="en-US"/>
        </a:p>
      </dgm:t>
    </dgm:pt>
    <dgm:pt modelId="{F8C1FB93-E847-4CF1-8569-0B28336D5FCE}" type="pres">
      <dgm:prSet presAssocID="{CCC2BA33-3861-4CD4-A1E9-B531471AE5E2}" presName="root" presStyleCnt="0">
        <dgm:presLayoutVars>
          <dgm:dir/>
          <dgm:resizeHandles val="exact"/>
        </dgm:presLayoutVars>
      </dgm:prSet>
      <dgm:spPr/>
    </dgm:pt>
    <dgm:pt modelId="{E720843B-5366-4A66-861F-289546D995CC}" type="pres">
      <dgm:prSet presAssocID="{CCC2BA33-3861-4CD4-A1E9-B531471AE5E2}" presName="container" presStyleCnt="0">
        <dgm:presLayoutVars>
          <dgm:dir/>
          <dgm:resizeHandles val="exact"/>
        </dgm:presLayoutVars>
      </dgm:prSet>
      <dgm:spPr/>
    </dgm:pt>
    <dgm:pt modelId="{57539F57-6780-4F7F-BB1B-AB5997724985}" type="pres">
      <dgm:prSet presAssocID="{4A39E467-5B36-408F-93EE-0EED00A22205}" presName="compNode" presStyleCnt="0"/>
      <dgm:spPr/>
    </dgm:pt>
    <dgm:pt modelId="{58015F25-112A-4060-B5CE-B268376997ED}" type="pres">
      <dgm:prSet presAssocID="{4A39E467-5B36-408F-93EE-0EED00A22205}" presName="iconBgRect" presStyleLbl="bgShp" presStyleIdx="0" presStyleCnt="4"/>
      <dgm:spPr/>
    </dgm:pt>
    <dgm:pt modelId="{292A6D13-1ECE-463D-A4DB-562CEA35EC28}" type="pres">
      <dgm:prSet presAssocID="{4A39E467-5B36-408F-93EE-0EED00A22205}"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atabase"/>
        </a:ext>
      </dgm:extLst>
    </dgm:pt>
    <dgm:pt modelId="{AB835971-65E9-42B1-ADDC-55E7587FE4D7}" type="pres">
      <dgm:prSet presAssocID="{4A39E467-5B36-408F-93EE-0EED00A22205}" presName="spaceRect" presStyleCnt="0"/>
      <dgm:spPr/>
    </dgm:pt>
    <dgm:pt modelId="{672835CA-9783-45CF-8886-636DFC1F7E29}" type="pres">
      <dgm:prSet presAssocID="{4A39E467-5B36-408F-93EE-0EED00A22205}" presName="textRect" presStyleLbl="revTx" presStyleIdx="0" presStyleCnt="4">
        <dgm:presLayoutVars>
          <dgm:chMax val="1"/>
          <dgm:chPref val="1"/>
        </dgm:presLayoutVars>
      </dgm:prSet>
      <dgm:spPr/>
    </dgm:pt>
    <dgm:pt modelId="{710CFFC2-A67F-4D13-8E13-30E872DA6AD2}" type="pres">
      <dgm:prSet presAssocID="{11EB5F24-F16C-4967-A3B9-414642C4E7F3}" presName="sibTrans" presStyleLbl="sibTrans2D1" presStyleIdx="0" presStyleCnt="0"/>
      <dgm:spPr/>
    </dgm:pt>
    <dgm:pt modelId="{C7F74BFF-3597-4AA0-9839-C7183C6D86AE}" type="pres">
      <dgm:prSet presAssocID="{095C0A91-16DA-4557-AB2F-83A745EB631B}" presName="compNode" presStyleCnt="0"/>
      <dgm:spPr/>
    </dgm:pt>
    <dgm:pt modelId="{12B606E2-A3C9-4FC0-839E-43E84C09B86B}" type="pres">
      <dgm:prSet presAssocID="{095C0A91-16DA-4557-AB2F-83A745EB631B}" presName="iconBgRect" presStyleLbl="bgShp" presStyleIdx="1" presStyleCnt="4"/>
      <dgm:spPr/>
    </dgm:pt>
    <dgm:pt modelId="{428CAC53-C639-4AD5-9A3D-35CBFBB5A534}" type="pres">
      <dgm:prSet presAssocID="{095C0A91-16DA-4557-AB2F-83A745EB631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45DAA405-D82F-46C0-9192-9122AC2A3C22}" type="pres">
      <dgm:prSet presAssocID="{095C0A91-16DA-4557-AB2F-83A745EB631B}" presName="spaceRect" presStyleCnt="0"/>
      <dgm:spPr/>
    </dgm:pt>
    <dgm:pt modelId="{B4ABB524-6A41-425E-AF66-488B7B2EE30D}" type="pres">
      <dgm:prSet presAssocID="{095C0A91-16DA-4557-AB2F-83A745EB631B}" presName="textRect" presStyleLbl="revTx" presStyleIdx="1" presStyleCnt="4">
        <dgm:presLayoutVars>
          <dgm:chMax val="1"/>
          <dgm:chPref val="1"/>
        </dgm:presLayoutVars>
      </dgm:prSet>
      <dgm:spPr/>
    </dgm:pt>
    <dgm:pt modelId="{989E6C6E-475B-4DBC-91E1-C8D57F836493}" type="pres">
      <dgm:prSet presAssocID="{D5F9B77C-E151-46E7-999C-39FC7A2277A9}" presName="sibTrans" presStyleLbl="sibTrans2D1" presStyleIdx="0" presStyleCnt="0"/>
      <dgm:spPr/>
    </dgm:pt>
    <dgm:pt modelId="{9F6CD37C-1C2D-4AB7-8A10-674960C15BF1}" type="pres">
      <dgm:prSet presAssocID="{0298C4BF-02DF-49C3-8B13-3D9D7BF01583}" presName="compNode" presStyleCnt="0"/>
      <dgm:spPr/>
    </dgm:pt>
    <dgm:pt modelId="{3D4EF658-E620-4F4C-A735-7138C8249D46}" type="pres">
      <dgm:prSet presAssocID="{0298C4BF-02DF-49C3-8B13-3D9D7BF01583}" presName="iconBgRect" presStyleLbl="bgShp" presStyleIdx="2" presStyleCnt="4"/>
      <dgm:spPr/>
    </dgm:pt>
    <dgm:pt modelId="{5498C316-0505-4FFA-A7D4-F673D3C036B9}" type="pres">
      <dgm:prSet presAssocID="{0298C4BF-02DF-49C3-8B13-3D9D7BF01583}"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rocessor"/>
        </a:ext>
      </dgm:extLst>
    </dgm:pt>
    <dgm:pt modelId="{3CFEEE5D-1DA9-4982-BCF2-EE2EF127104C}" type="pres">
      <dgm:prSet presAssocID="{0298C4BF-02DF-49C3-8B13-3D9D7BF01583}" presName="spaceRect" presStyleCnt="0"/>
      <dgm:spPr/>
    </dgm:pt>
    <dgm:pt modelId="{4F06392A-B543-4BFB-B6CF-7427B6E06753}" type="pres">
      <dgm:prSet presAssocID="{0298C4BF-02DF-49C3-8B13-3D9D7BF01583}" presName="textRect" presStyleLbl="revTx" presStyleIdx="2" presStyleCnt="4">
        <dgm:presLayoutVars>
          <dgm:chMax val="1"/>
          <dgm:chPref val="1"/>
        </dgm:presLayoutVars>
      </dgm:prSet>
      <dgm:spPr/>
    </dgm:pt>
    <dgm:pt modelId="{8EEC7BEA-C64B-4FF6-B56D-DD4041FD1E47}" type="pres">
      <dgm:prSet presAssocID="{26609C67-380D-477F-80F2-D6DE6138EE6D}" presName="sibTrans" presStyleLbl="sibTrans2D1" presStyleIdx="0" presStyleCnt="0"/>
      <dgm:spPr/>
    </dgm:pt>
    <dgm:pt modelId="{7EF8FD82-2FE5-4A16-941E-FABFEA653745}" type="pres">
      <dgm:prSet presAssocID="{F66215DD-90F9-4067-96E7-B1B32248A426}" presName="compNode" presStyleCnt="0"/>
      <dgm:spPr/>
    </dgm:pt>
    <dgm:pt modelId="{99861A66-46FD-4250-9D4F-202B366B7E7E}" type="pres">
      <dgm:prSet presAssocID="{F66215DD-90F9-4067-96E7-B1B32248A426}" presName="iconBgRect" presStyleLbl="bgShp" presStyleIdx="3" presStyleCnt="4"/>
      <dgm:spPr/>
    </dgm:pt>
    <dgm:pt modelId="{BB969B4E-70CB-4AD4-B44C-E5F052E9564F}" type="pres">
      <dgm:prSet presAssocID="{F66215DD-90F9-4067-96E7-B1B32248A426}"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peaker Phone"/>
        </a:ext>
      </dgm:extLst>
    </dgm:pt>
    <dgm:pt modelId="{654BFEEC-6A1C-455A-8D7D-ADB4E8E43FDC}" type="pres">
      <dgm:prSet presAssocID="{F66215DD-90F9-4067-96E7-B1B32248A426}" presName="spaceRect" presStyleCnt="0"/>
      <dgm:spPr/>
    </dgm:pt>
    <dgm:pt modelId="{EE515D33-69D6-44F5-B632-AECD949B3682}" type="pres">
      <dgm:prSet presAssocID="{F66215DD-90F9-4067-96E7-B1B32248A426}" presName="textRect" presStyleLbl="revTx" presStyleIdx="3" presStyleCnt="4">
        <dgm:presLayoutVars>
          <dgm:chMax val="1"/>
          <dgm:chPref val="1"/>
        </dgm:presLayoutVars>
      </dgm:prSet>
      <dgm:spPr/>
    </dgm:pt>
  </dgm:ptLst>
  <dgm:cxnLst>
    <dgm:cxn modelId="{97C71315-DDB0-4B55-A7EB-522B6B070CAD}" type="presOf" srcId="{CCC2BA33-3861-4CD4-A1E9-B531471AE5E2}" destId="{F8C1FB93-E847-4CF1-8569-0B28336D5FCE}" srcOrd="0" destOrd="0" presId="urn:microsoft.com/office/officeart/2018/2/layout/IconCircleList"/>
    <dgm:cxn modelId="{A50BD85C-18DE-49BE-8EC2-64BF18FF9057}" type="presOf" srcId="{26609C67-380D-477F-80F2-D6DE6138EE6D}" destId="{8EEC7BEA-C64B-4FF6-B56D-DD4041FD1E47}" srcOrd="0" destOrd="0" presId="urn:microsoft.com/office/officeart/2018/2/layout/IconCircleList"/>
    <dgm:cxn modelId="{D1839C42-C6F6-43F5-8026-858F8B2DB629}" type="presOf" srcId="{D5F9B77C-E151-46E7-999C-39FC7A2277A9}" destId="{989E6C6E-475B-4DBC-91E1-C8D57F836493}" srcOrd="0" destOrd="0" presId="urn:microsoft.com/office/officeart/2018/2/layout/IconCircleList"/>
    <dgm:cxn modelId="{265C6569-40C2-4D8D-8D18-26931D781E33}" type="presOf" srcId="{11EB5F24-F16C-4967-A3B9-414642C4E7F3}" destId="{710CFFC2-A67F-4D13-8E13-30E872DA6AD2}" srcOrd="0" destOrd="0" presId="urn:microsoft.com/office/officeart/2018/2/layout/IconCircleList"/>
    <dgm:cxn modelId="{8AB8AF54-FB86-4302-8B10-B5BB8B5F44DB}" srcId="{CCC2BA33-3861-4CD4-A1E9-B531471AE5E2}" destId="{095C0A91-16DA-4557-AB2F-83A745EB631B}" srcOrd="1" destOrd="0" parTransId="{E5D07F73-FF25-4692-B7FA-3D92EBEAE8A6}" sibTransId="{D5F9B77C-E151-46E7-999C-39FC7A2277A9}"/>
    <dgm:cxn modelId="{64A8D679-E8F2-402C-A103-07733605103F}" srcId="{CCC2BA33-3861-4CD4-A1E9-B531471AE5E2}" destId="{4A39E467-5B36-408F-93EE-0EED00A22205}" srcOrd="0" destOrd="0" parTransId="{0BFA1AC4-6E2C-4036-925B-A09CEF893565}" sibTransId="{11EB5F24-F16C-4967-A3B9-414642C4E7F3}"/>
    <dgm:cxn modelId="{F8EC205A-7C5C-4A3B-A454-0C779692C646}" type="presOf" srcId="{095C0A91-16DA-4557-AB2F-83A745EB631B}" destId="{B4ABB524-6A41-425E-AF66-488B7B2EE30D}" srcOrd="0" destOrd="0" presId="urn:microsoft.com/office/officeart/2018/2/layout/IconCircleList"/>
    <dgm:cxn modelId="{865E2AA4-7EB1-4755-A060-6BE7665CE288}" type="presOf" srcId="{0298C4BF-02DF-49C3-8B13-3D9D7BF01583}" destId="{4F06392A-B543-4BFB-B6CF-7427B6E06753}" srcOrd="0" destOrd="0" presId="urn:microsoft.com/office/officeart/2018/2/layout/IconCircleList"/>
    <dgm:cxn modelId="{B25BDCD7-9BA0-4A6B-B765-14FA32954D07}" srcId="{CCC2BA33-3861-4CD4-A1E9-B531471AE5E2}" destId="{F66215DD-90F9-4067-96E7-B1B32248A426}" srcOrd="3" destOrd="0" parTransId="{25624199-C711-43B3-9826-7594886EC3FE}" sibTransId="{60766E32-BC39-4314-94EB-2CB3FDDBBCF3}"/>
    <dgm:cxn modelId="{9B890EEC-DD78-4D78-9AC0-BD4A9717F39E}" srcId="{CCC2BA33-3861-4CD4-A1E9-B531471AE5E2}" destId="{0298C4BF-02DF-49C3-8B13-3D9D7BF01583}" srcOrd="2" destOrd="0" parTransId="{057DC496-8546-40FF-879C-013F5867B9AC}" sibTransId="{26609C67-380D-477F-80F2-D6DE6138EE6D}"/>
    <dgm:cxn modelId="{4B1904F5-0F85-4A8D-BE1E-280FB43F8660}" type="presOf" srcId="{F66215DD-90F9-4067-96E7-B1B32248A426}" destId="{EE515D33-69D6-44F5-B632-AECD949B3682}" srcOrd="0" destOrd="0" presId="urn:microsoft.com/office/officeart/2018/2/layout/IconCircleList"/>
    <dgm:cxn modelId="{1E1921FB-2043-48C8-9729-2BB3AA66C02C}" type="presOf" srcId="{4A39E467-5B36-408F-93EE-0EED00A22205}" destId="{672835CA-9783-45CF-8886-636DFC1F7E29}" srcOrd="0" destOrd="0" presId="urn:microsoft.com/office/officeart/2018/2/layout/IconCircleList"/>
    <dgm:cxn modelId="{00EEFE09-2782-492E-8803-86921B6F8C90}" type="presParOf" srcId="{F8C1FB93-E847-4CF1-8569-0B28336D5FCE}" destId="{E720843B-5366-4A66-861F-289546D995CC}" srcOrd="0" destOrd="0" presId="urn:microsoft.com/office/officeart/2018/2/layout/IconCircleList"/>
    <dgm:cxn modelId="{3740FDA5-DF70-4122-8173-535AE7FD094A}" type="presParOf" srcId="{E720843B-5366-4A66-861F-289546D995CC}" destId="{57539F57-6780-4F7F-BB1B-AB5997724985}" srcOrd="0" destOrd="0" presId="urn:microsoft.com/office/officeart/2018/2/layout/IconCircleList"/>
    <dgm:cxn modelId="{96BD46C6-5711-4B98-87A3-7AAED65EA670}" type="presParOf" srcId="{57539F57-6780-4F7F-BB1B-AB5997724985}" destId="{58015F25-112A-4060-B5CE-B268376997ED}" srcOrd="0" destOrd="0" presId="urn:microsoft.com/office/officeart/2018/2/layout/IconCircleList"/>
    <dgm:cxn modelId="{35F7C631-24E3-48CC-B42F-9593CADCFC3D}" type="presParOf" srcId="{57539F57-6780-4F7F-BB1B-AB5997724985}" destId="{292A6D13-1ECE-463D-A4DB-562CEA35EC28}" srcOrd="1" destOrd="0" presId="urn:microsoft.com/office/officeart/2018/2/layout/IconCircleList"/>
    <dgm:cxn modelId="{6F4D6641-937C-4DCD-9F7C-0A351581E583}" type="presParOf" srcId="{57539F57-6780-4F7F-BB1B-AB5997724985}" destId="{AB835971-65E9-42B1-ADDC-55E7587FE4D7}" srcOrd="2" destOrd="0" presId="urn:microsoft.com/office/officeart/2018/2/layout/IconCircleList"/>
    <dgm:cxn modelId="{E1D834EE-8FED-43FF-8331-59AF56855FDC}" type="presParOf" srcId="{57539F57-6780-4F7F-BB1B-AB5997724985}" destId="{672835CA-9783-45CF-8886-636DFC1F7E29}" srcOrd="3" destOrd="0" presId="urn:microsoft.com/office/officeart/2018/2/layout/IconCircleList"/>
    <dgm:cxn modelId="{C7878880-BB88-4050-AB94-A576B2A27350}" type="presParOf" srcId="{E720843B-5366-4A66-861F-289546D995CC}" destId="{710CFFC2-A67F-4D13-8E13-30E872DA6AD2}" srcOrd="1" destOrd="0" presId="urn:microsoft.com/office/officeart/2018/2/layout/IconCircleList"/>
    <dgm:cxn modelId="{56E8214B-0521-4C27-B4DE-F524F16C8E80}" type="presParOf" srcId="{E720843B-5366-4A66-861F-289546D995CC}" destId="{C7F74BFF-3597-4AA0-9839-C7183C6D86AE}" srcOrd="2" destOrd="0" presId="urn:microsoft.com/office/officeart/2018/2/layout/IconCircleList"/>
    <dgm:cxn modelId="{5DF22BF2-150F-4291-990C-F306123947F8}" type="presParOf" srcId="{C7F74BFF-3597-4AA0-9839-C7183C6D86AE}" destId="{12B606E2-A3C9-4FC0-839E-43E84C09B86B}" srcOrd="0" destOrd="0" presId="urn:microsoft.com/office/officeart/2018/2/layout/IconCircleList"/>
    <dgm:cxn modelId="{9C116E7B-EA38-4B88-AF2E-D8BA5EDF6D09}" type="presParOf" srcId="{C7F74BFF-3597-4AA0-9839-C7183C6D86AE}" destId="{428CAC53-C639-4AD5-9A3D-35CBFBB5A534}" srcOrd="1" destOrd="0" presId="urn:microsoft.com/office/officeart/2018/2/layout/IconCircleList"/>
    <dgm:cxn modelId="{255FACB1-CA41-4349-8CAF-530349F4625C}" type="presParOf" srcId="{C7F74BFF-3597-4AA0-9839-C7183C6D86AE}" destId="{45DAA405-D82F-46C0-9192-9122AC2A3C22}" srcOrd="2" destOrd="0" presId="urn:microsoft.com/office/officeart/2018/2/layout/IconCircleList"/>
    <dgm:cxn modelId="{36CF01DE-176E-4574-B63D-D9B2FEDF3051}" type="presParOf" srcId="{C7F74BFF-3597-4AA0-9839-C7183C6D86AE}" destId="{B4ABB524-6A41-425E-AF66-488B7B2EE30D}" srcOrd="3" destOrd="0" presId="urn:microsoft.com/office/officeart/2018/2/layout/IconCircleList"/>
    <dgm:cxn modelId="{2987088C-0DCB-44C5-8E4C-226C558A7F33}" type="presParOf" srcId="{E720843B-5366-4A66-861F-289546D995CC}" destId="{989E6C6E-475B-4DBC-91E1-C8D57F836493}" srcOrd="3" destOrd="0" presId="urn:microsoft.com/office/officeart/2018/2/layout/IconCircleList"/>
    <dgm:cxn modelId="{2D80FCE6-C342-464F-9CCD-02633F691C44}" type="presParOf" srcId="{E720843B-5366-4A66-861F-289546D995CC}" destId="{9F6CD37C-1C2D-4AB7-8A10-674960C15BF1}" srcOrd="4" destOrd="0" presId="urn:microsoft.com/office/officeart/2018/2/layout/IconCircleList"/>
    <dgm:cxn modelId="{55669788-AD2D-4FF4-A027-17A15D9D5D51}" type="presParOf" srcId="{9F6CD37C-1C2D-4AB7-8A10-674960C15BF1}" destId="{3D4EF658-E620-4F4C-A735-7138C8249D46}" srcOrd="0" destOrd="0" presId="urn:microsoft.com/office/officeart/2018/2/layout/IconCircleList"/>
    <dgm:cxn modelId="{A5C50463-E0DE-4659-897E-C89E8B8931EE}" type="presParOf" srcId="{9F6CD37C-1C2D-4AB7-8A10-674960C15BF1}" destId="{5498C316-0505-4FFA-A7D4-F673D3C036B9}" srcOrd="1" destOrd="0" presId="urn:microsoft.com/office/officeart/2018/2/layout/IconCircleList"/>
    <dgm:cxn modelId="{8891EBCB-A91E-40E8-B88D-073AB3DC996F}" type="presParOf" srcId="{9F6CD37C-1C2D-4AB7-8A10-674960C15BF1}" destId="{3CFEEE5D-1DA9-4982-BCF2-EE2EF127104C}" srcOrd="2" destOrd="0" presId="urn:microsoft.com/office/officeart/2018/2/layout/IconCircleList"/>
    <dgm:cxn modelId="{8608E067-D6AA-4E1B-A383-57482BFB1FB9}" type="presParOf" srcId="{9F6CD37C-1C2D-4AB7-8A10-674960C15BF1}" destId="{4F06392A-B543-4BFB-B6CF-7427B6E06753}" srcOrd="3" destOrd="0" presId="urn:microsoft.com/office/officeart/2018/2/layout/IconCircleList"/>
    <dgm:cxn modelId="{971AE00E-CE3A-4FFC-B37C-3A096C8BCE33}" type="presParOf" srcId="{E720843B-5366-4A66-861F-289546D995CC}" destId="{8EEC7BEA-C64B-4FF6-B56D-DD4041FD1E47}" srcOrd="5" destOrd="0" presId="urn:microsoft.com/office/officeart/2018/2/layout/IconCircleList"/>
    <dgm:cxn modelId="{55082587-5EFA-4CCE-96ED-DD8FEE32965F}" type="presParOf" srcId="{E720843B-5366-4A66-861F-289546D995CC}" destId="{7EF8FD82-2FE5-4A16-941E-FABFEA653745}" srcOrd="6" destOrd="0" presId="urn:microsoft.com/office/officeart/2018/2/layout/IconCircleList"/>
    <dgm:cxn modelId="{4F65C91E-1C2F-4BD5-9C0F-011AC60EE858}" type="presParOf" srcId="{7EF8FD82-2FE5-4A16-941E-FABFEA653745}" destId="{99861A66-46FD-4250-9D4F-202B366B7E7E}" srcOrd="0" destOrd="0" presId="urn:microsoft.com/office/officeart/2018/2/layout/IconCircleList"/>
    <dgm:cxn modelId="{39C48211-733D-4594-9894-F5878D050C89}" type="presParOf" srcId="{7EF8FD82-2FE5-4A16-941E-FABFEA653745}" destId="{BB969B4E-70CB-4AD4-B44C-E5F052E9564F}" srcOrd="1" destOrd="0" presId="urn:microsoft.com/office/officeart/2018/2/layout/IconCircleList"/>
    <dgm:cxn modelId="{00F8BC64-D37C-4FDC-9D65-45D709D4A131}" type="presParOf" srcId="{7EF8FD82-2FE5-4A16-941E-FABFEA653745}" destId="{654BFEEC-6A1C-455A-8D7D-ADB4E8E43FDC}" srcOrd="2" destOrd="0" presId="urn:microsoft.com/office/officeart/2018/2/layout/IconCircleList"/>
    <dgm:cxn modelId="{09BE017F-8036-4FC2-86E9-1F94A27E98C6}" type="presParOf" srcId="{7EF8FD82-2FE5-4A16-941E-FABFEA653745}" destId="{EE515D33-69D6-44F5-B632-AECD949B3682}"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458A6643-34FF-4F07-9CE6-90C2B75BADA8}" type="doc">
      <dgm:prSet loTypeId="urn:microsoft.com/office/officeart/2005/8/layout/default" loCatId="list" qsTypeId="urn:microsoft.com/office/officeart/2005/8/quickstyle/simple1#19" qsCatId="simple" csTypeId="urn:microsoft.com/office/officeart/2005/8/colors/colorful3#1" csCatId="colorful" phldr="1"/>
      <dgm:spPr/>
      <dgm:t>
        <a:bodyPr/>
        <a:lstStyle/>
        <a:p>
          <a:endParaRPr lang="en-US"/>
        </a:p>
      </dgm:t>
    </dgm:pt>
    <dgm:pt modelId="{D139165D-06B3-430A-BB8E-AE7DEA7CA421}">
      <dgm:prSet/>
      <dgm:spPr/>
      <dgm:t>
        <a:bodyPr/>
        <a:lstStyle/>
        <a:p>
          <a:r>
            <a:rPr lang="en-US"/>
            <a:t>Context window</a:t>
          </a:r>
        </a:p>
      </dgm:t>
    </dgm:pt>
    <dgm:pt modelId="{FF1F74E9-3650-431D-8DEA-2387AA07F27E}" type="parTrans" cxnId="{87D772D5-DC3D-477E-A2A9-64B58C0F63B2}">
      <dgm:prSet/>
      <dgm:spPr/>
      <dgm:t>
        <a:bodyPr/>
        <a:lstStyle/>
        <a:p>
          <a:endParaRPr lang="en-US"/>
        </a:p>
      </dgm:t>
    </dgm:pt>
    <dgm:pt modelId="{B7029DD7-0A09-4CC1-AF1D-46DC5FAA82B3}" type="sibTrans" cxnId="{87D772D5-DC3D-477E-A2A9-64B58C0F63B2}">
      <dgm:prSet/>
      <dgm:spPr/>
      <dgm:t>
        <a:bodyPr/>
        <a:lstStyle/>
        <a:p>
          <a:endParaRPr lang="en-US"/>
        </a:p>
      </dgm:t>
    </dgm:pt>
    <dgm:pt modelId="{CB0D9C20-8D5A-4552-AAF3-C58647D77924}">
      <dgm:prSet/>
      <dgm:spPr/>
      <dgm:t>
        <a:bodyPr/>
        <a:lstStyle/>
        <a:p>
          <a:r>
            <a:rPr lang="en-US"/>
            <a:t>Max output tokens</a:t>
          </a:r>
        </a:p>
      </dgm:t>
    </dgm:pt>
    <dgm:pt modelId="{F7511369-D226-4F72-9029-B3F4F8A84251}" type="parTrans" cxnId="{445DEE16-80F1-4C46-ABDD-88D9B3E051B2}">
      <dgm:prSet/>
      <dgm:spPr/>
      <dgm:t>
        <a:bodyPr/>
        <a:lstStyle/>
        <a:p>
          <a:endParaRPr lang="en-US"/>
        </a:p>
      </dgm:t>
    </dgm:pt>
    <dgm:pt modelId="{485BBD8A-5423-42B4-9662-ECFB5E8DBD5C}" type="sibTrans" cxnId="{445DEE16-80F1-4C46-ABDD-88D9B3E051B2}">
      <dgm:prSet/>
      <dgm:spPr/>
      <dgm:t>
        <a:bodyPr/>
        <a:lstStyle/>
        <a:p>
          <a:endParaRPr lang="en-US"/>
        </a:p>
      </dgm:t>
    </dgm:pt>
    <dgm:pt modelId="{B28DB8D1-D620-4287-9AC3-5844C6388986}">
      <dgm:prSet/>
      <dgm:spPr/>
      <dgm:t>
        <a:bodyPr/>
        <a:lstStyle/>
        <a:p>
          <a:r>
            <a:rPr lang="en-US"/>
            <a:t>TPM</a:t>
          </a:r>
        </a:p>
      </dgm:t>
    </dgm:pt>
    <dgm:pt modelId="{35069729-0432-4C00-B0CF-E5C4432CAF28}" type="parTrans" cxnId="{BED533E5-672A-49A8-AA6F-FAD9144693E7}">
      <dgm:prSet/>
      <dgm:spPr/>
      <dgm:t>
        <a:bodyPr/>
        <a:lstStyle/>
        <a:p>
          <a:endParaRPr lang="en-US"/>
        </a:p>
      </dgm:t>
    </dgm:pt>
    <dgm:pt modelId="{5BD15B6B-DFC2-4290-A45B-A8556F109433}" type="sibTrans" cxnId="{BED533E5-672A-49A8-AA6F-FAD9144693E7}">
      <dgm:prSet/>
      <dgm:spPr/>
      <dgm:t>
        <a:bodyPr/>
        <a:lstStyle/>
        <a:p>
          <a:endParaRPr lang="en-US"/>
        </a:p>
      </dgm:t>
    </dgm:pt>
    <dgm:pt modelId="{89B26BDF-2D14-4075-9D18-CB363254A9F3}">
      <dgm:prSet/>
      <dgm:spPr/>
      <dgm:t>
        <a:bodyPr/>
        <a:lstStyle/>
        <a:p>
          <a:r>
            <a:rPr lang="en-US"/>
            <a:t>RPM</a:t>
          </a:r>
        </a:p>
      </dgm:t>
    </dgm:pt>
    <dgm:pt modelId="{2FF751F7-0C7A-4065-B113-F192563C4D45}" type="parTrans" cxnId="{EC9A861B-E0C7-4603-8896-557C89D493FA}">
      <dgm:prSet/>
      <dgm:spPr/>
      <dgm:t>
        <a:bodyPr/>
        <a:lstStyle/>
        <a:p>
          <a:endParaRPr lang="en-US"/>
        </a:p>
      </dgm:t>
    </dgm:pt>
    <dgm:pt modelId="{F1FD0FE1-F2C9-4B96-A5A9-B66C3352E2FE}" type="sibTrans" cxnId="{EC9A861B-E0C7-4603-8896-557C89D493FA}">
      <dgm:prSet/>
      <dgm:spPr/>
      <dgm:t>
        <a:bodyPr/>
        <a:lstStyle/>
        <a:p>
          <a:endParaRPr lang="en-US"/>
        </a:p>
      </dgm:t>
    </dgm:pt>
    <dgm:pt modelId="{8CE8D493-295B-4631-AD41-99958B011B06}">
      <dgm:prSet/>
      <dgm:spPr/>
      <dgm:t>
        <a:bodyPr/>
        <a:lstStyle/>
        <a:p>
          <a:r>
            <a:rPr lang="en-US" dirty="0"/>
            <a:t>Reasoning</a:t>
          </a:r>
        </a:p>
      </dgm:t>
    </dgm:pt>
    <dgm:pt modelId="{CEC075C7-7BEC-4FCF-B1E5-05EDF5075BD5}" type="parTrans" cxnId="{36868D05-269C-4242-8AFF-190486292CEF}">
      <dgm:prSet/>
      <dgm:spPr/>
      <dgm:t>
        <a:bodyPr/>
        <a:lstStyle/>
        <a:p>
          <a:endParaRPr lang="en-US"/>
        </a:p>
      </dgm:t>
    </dgm:pt>
    <dgm:pt modelId="{6D2E50F2-9246-4CE9-8C56-CB00B7272C0B}" type="sibTrans" cxnId="{36868D05-269C-4242-8AFF-190486292CEF}">
      <dgm:prSet/>
      <dgm:spPr/>
      <dgm:t>
        <a:bodyPr/>
        <a:lstStyle/>
        <a:p>
          <a:endParaRPr lang="en-US"/>
        </a:p>
      </dgm:t>
    </dgm:pt>
    <dgm:pt modelId="{7C603C0D-FF2B-4079-8ED2-B5F817A20695}">
      <dgm:prSet/>
      <dgm:spPr/>
      <dgm:t>
        <a:bodyPr/>
        <a:lstStyle/>
        <a:p>
          <a:r>
            <a:rPr lang="en-US" dirty="0"/>
            <a:t>API</a:t>
          </a:r>
        </a:p>
      </dgm:t>
    </dgm:pt>
    <dgm:pt modelId="{D48C3429-ED4E-44CB-8F3E-BEB7230AEB5D}" type="parTrans" cxnId="{73CCB9EA-0CCF-4657-AD69-21AEDBE70DF8}">
      <dgm:prSet/>
      <dgm:spPr/>
      <dgm:t>
        <a:bodyPr/>
        <a:lstStyle/>
        <a:p>
          <a:endParaRPr lang="en-US"/>
        </a:p>
      </dgm:t>
    </dgm:pt>
    <dgm:pt modelId="{C362EAC0-2C90-4B39-9E81-9BF46F65BCC5}" type="sibTrans" cxnId="{73CCB9EA-0CCF-4657-AD69-21AEDBE70DF8}">
      <dgm:prSet/>
      <dgm:spPr/>
      <dgm:t>
        <a:bodyPr/>
        <a:lstStyle/>
        <a:p>
          <a:endParaRPr lang="en-US"/>
        </a:p>
      </dgm:t>
    </dgm:pt>
    <dgm:pt modelId="{97BD1619-7588-4AF3-BF8F-096880221257}">
      <dgm:prSet/>
      <dgm:spPr/>
      <dgm:t>
        <a:bodyPr/>
        <a:lstStyle/>
        <a:p>
          <a:r>
            <a:rPr lang="en-US" dirty="0"/>
            <a:t>Functions</a:t>
          </a:r>
        </a:p>
        <a:p>
          <a:r>
            <a:rPr lang="en-US" dirty="0"/>
            <a:t>&amp; Tools</a:t>
          </a:r>
        </a:p>
      </dgm:t>
    </dgm:pt>
    <dgm:pt modelId="{DEB9A4D4-7C63-4CC1-BE29-C7EC71502E33}" type="parTrans" cxnId="{B1F44E0E-BBE7-4178-BB24-0770C86F30E1}">
      <dgm:prSet/>
      <dgm:spPr/>
      <dgm:t>
        <a:bodyPr/>
        <a:lstStyle/>
        <a:p>
          <a:endParaRPr lang="en-US"/>
        </a:p>
      </dgm:t>
    </dgm:pt>
    <dgm:pt modelId="{72A02FFB-48CD-4F67-A58E-DD3A367A7AAE}" type="sibTrans" cxnId="{B1F44E0E-BBE7-4178-BB24-0770C86F30E1}">
      <dgm:prSet/>
      <dgm:spPr/>
      <dgm:t>
        <a:bodyPr/>
        <a:lstStyle/>
        <a:p>
          <a:endParaRPr lang="en-US"/>
        </a:p>
      </dgm:t>
    </dgm:pt>
    <dgm:pt modelId="{E129712C-D4BA-49FE-ABAE-77780C8EA25B}">
      <dgm:prSet/>
      <dgm:spPr/>
      <dgm:t>
        <a:bodyPr/>
        <a:lstStyle/>
        <a:p>
          <a:r>
            <a:rPr lang="en-US" dirty="0"/>
            <a:t>Quota</a:t>
          </a:r>
        </a:p>
      </dgm:t>
    </dgm:pt>
    <dgm:pt modelId="{8F6A8C7C-3A25-4F95-B13F-816ACAA6A154}" type="parTrans" cxnId="{E6A9A564-43FA-4C24-871D-0361F7CBBC94}">
      <dgm:prSet/>
      <dgm:spPr/>
      <dgm:t>
        <a:bodyPr/>
        <a:lstStyle/>
        <a:p>
          <a:endParaRPr lang="en-US"/>
        </a:p>
      </dgm:t>
    </dgm:pt>
    <dgm:pt modelId="{C61A4004-3838-4AD5-B227-16808A9CDCA0}" type="sibTrans" cxnId="{E6A9A564-43FA-4C24-871D-0361F7CBBC94}">
      <dgm:prSet/>
      <dgm:spPr/>
      <dgm:t>
        <a:bodyPr/>
        <a:lstStyle/>
        <a:p>
          <a:endParaRPr lang="en-US"/>
        </a:p>
      </dgm:t>
    </dgm:pt>
    <dgm:pt modelId="{85A1341F-B008-4427-812F-E5FB8A50D75D}">
      <dgm:prSet/>
      <dgm:spPr/>
      <dgm:t>
        <a:bodyPr/>
        <a:lstStyle/>
        <a:p>
          <a:r>
            <a:rPr lang="en-US" dirty="0"/>
            <a:t>In/out puts</a:t>
          </a:r>
        </a:p>
      </dgm:t>
    </dgm:pt>
    <dgm:pt modelId="{7BAEDB92-5EE8-4A3A-9C42-2E33005B09BD}" type="parTrans" cxnId="{2D312464-9DC2-4A2A-8943-9DBCDD1AD5DA}">
      <dgm:prSet/>
      <dgm:spPr/>
      <dgm:t>
        <a:bodyPr/>
        <a:lstStyle/>
        <a:p>
          <a:endParaRPr lang="en-US"/>
        </a:p>
      </dgm:t>
    </dgm:pt>
    <dgm:pt modelId="{059873E2-1FA9-45CD-B46D-AFA907C3AC00}" type="sibTrans" cxnId="{2D312464-9DC2-4A2A-8943-9DBCDD1AD5DA}">
      <dgm:prSet/>
      <dgm:spPr/>
      <dgm:t>
        <a:bodyPr/>
        <a:lstStyle/>
        <a:p>
          <a:endParaRPr lang="en-US"/>
        </a:p>
      </dgm:t>
    </dgm:pt>
    <dgm:pt modelId="{7BECE9EC-D922-4CEC-991F-D004279F0C11}">
      <dgm:prSet/>
      <dgm:spPr/>
      <dgm:t>
        <a:bodyPr/>
        <a:lstStyle/>
        <a:p>
          <a:r>
            <a:rPr lang="en-US" dirty="0"/>
            <a:t>Performance</a:t>
          </a:r>
        </a:p>
      </dgm:t>
    </dgm:pt>
    <dgm:pt modelId="{BBEAA7F6-DDE4-47B4-B125-DB8F27787B81}" type="parTrans" cxnId="{70E0B8CA-64B6-4046-A0A9-635EADCF9844}">
      <dgm:prSet/>
      <dgm:spPr/>
      <dgm:t>
        <a:bodyPr/>
        <a:lstStyle/>
        <a:p>
          <a:endParaRPr lang="en-US"/>
        </a:p>
      </dgm:t>
    </dgm:pt>
    <dgm:pt modelId="{12E69DE0-760B-46A3-9869-24012C996442}" type="sibTrans" cxnId="{70E0B8CA-64B6-4046-A0A9-635EADCF9844}">
      <dgm:prSet/>
      <dgm:spPr/>
      <dgm:t>
        <a:bodyPr/>
        <a:lstStyle/>
        <a:p>
          <a:endParaRPr lang="en-US"/>
        </a:p>
      </dgm:t>
    </dgm:pt>
    <dgm:pt modelId="{24EF85FB-B10D-4A96-919D-1D90B6442EFF}">
      <dgm:prSet/>
      <dgm:spPr/>
      <dgm:t>
        <a:bodyPr/>
        <a:lstStyle/>
        <a:p>
          <a:r>
            <a:rPr lang="en-US"/>
            <a:t>Latency</a:t>
          </a:r>
        </a:p>
      </dgm:t>
    </dgm:pt>
    <dgm:pt modelId="{C3A00BA0-E00B-4058-A3D9-4C3229D15733}" type="parTrans" cxnId="{77A9E184-665D-4A82-B69F-3A3A57230CE6}">
      <dgm:prSet/>
      <dgm:spPr/>
      <dgm:t>
        <a:bodyPr/>
        <a:lstStyle/>
        <a:p>
          <a:endParaRPr lang="en-US"/>
        </a:p>
      </dgm:t>
    </dgm:pt>
    <dgm:pt modelId="{0597C307-9CC6-46C8-BC46-19CBA7EDA9CC}" type="sibTrans" cxnId="{77A9E184-665D-4A82-B69F-3A3A57230CE6}">
      <dgm:prSet/>
      <dgm:spPr/>
      <dgm:t>
        <a:bodyPr/>
        <a:lstStyle/>
        <a:p>
          <a:endParaRPr lang="en-US"/>
        </a:p>
      </dgm:t>
    </dgm:pt>
    <dgm:pt modelId="{BFCF16BA-87EE-436E-A799-9606395818C7}">
      <dgm:prSet/>
      <dgm:spPr/>
      <dgm:t>
        <a:bodyPr/>
        <a:lstStyle/>
        <a:p>
          <a:r>
            <a:rPr lang="en-US" dirty="0"/>
            <a:t>Parameters</a:t>
          </a:r>
        </a:p>
      </dgm:t>
    </dgm:pt>
    <dgm:pt modelId="{4362418B-34B7-4271-BF2D-3AB1BAF65688}" type="parTrans" cxnId="{FE67B0D2-D788-4D8C-BC8C-2136F16EF6EA}">
      <dgm:prSet/>
      <dgm:spPr/>
      <dgm:t>
        <a:bodyPr/>
        <a:lstStyle/>
        <a:p>
          <a:endParaRPr lang="en-US"/>
        </a:p>
      </dgm:t>
    </dgm:pt>
    <dgm:pt modelId="{7F04488C-918D-4E9A-9366-CAA663BA8293}" type="sibTrans" cxnId="{FE67B0D2-D788-4D8C-BC8C-2136F16EF6EA}">
      <dgm:prSet/>
      <dgm:spPr/>
      <dgm:t>
        <a:bodyPr/>
        <a:lstStyle/>
        <a:p>
          <a:endParaRPr lang="en-US"/>
        </a:p>
      </dgm:t>
    </dgm:pt>
    <dgm:pt modelId="{8789A20B-E7F1-45ED-86EB-517C91A2BF53}" type="pres">
      <dgm:prSet presAssocID="{458A6643-34FF-4F07-9CE6-90C2B75BADA8}" presName="diagram" presStyleCnt="0">
        <dgm:presLayoutVars>
          <dgm:dir/>
          <dgm:resizeHandles val="exact"/>
        </dgm:presLayoutVars>
      </dgm:prSet>
      <dgm:spPr/>
    </dgm:pt>
    <dgm:pt modelId="{DC2EF121-8086-44AF-83A9-93723C7FCE7F}" type="pres">
      <dgm:prSet presAssocID="{D139165D-06B3-430A-BB8E-AE7DEA7CA421}" presName="node" presStyleLbl="node1" presStyleIdx="0" presStyleCnt="12">
        <dgm:presLayoutVars>
          <dgm:bulletEnabled val="1"/>
        </dgm:presLayoutVars>
      </dgm:prSet>
      <dgm:spPr/>
    </dgm:pt>
    <dgm:pt modelId="{5CC02221-8E0C-4FB5-8638-FB0FF7E65CD6}" type="pres">
      <dgm:prSet presAssocID="{B7029DD7-0A09-4CC1-AF1D-46DC5FAA82B3}" presName="sibTrans" presStyleCnt="0"/>
      <dgm:spPr/>
    </dgm:pt>
    <dgm:pt modelId="{3401D583-7B21-4EDC-A284-A1BA80F0DC58}" type="pres">
      <dgm:prSet presAssocID="{CB0D9C20-8D5A-4552-AAF3-C58647D77924}" presName="node" presStyleLbl="node1" presStyleIdx="1" presStyleCnt="12">
        <dgm:presLayoutVars>
          <dgm:bulletEnabled val="1"/>
        </dgm:presLayoutVars>
      </dgm:prSet>
      <dgm:spPr/>
    </dgm:pt>
    <dgm:pt modelId="{0762DE3D-5D84-4466-9DD3-2F99FD472413}" type="pres">
      <dgm:prSet presAssocID="{485BBD8A-5423-42B4-9662-ECFB5E8DBD5C}" presName="sibTrans" presStyleCnt="0"/>
      <dgm:spPr/>
    </dgm:pt>
    <dgm:pt modelId="{7A23ACEF-618A-4010-8D6A-C8F8FD303D5D}" type="pres">
      <dgm:prSet presAssocID="{B28DB8D1-D620-4287-9AC3-5844C6388986}" presName="node" presStyleLbl="node1" presStyleIdx="2" presStyleCnt="12">
        <dgm:presLayoutVars>
          <dgm:bulletEnabled val="1"/>
        </dgm:presLayoutVars>
      </dgm:prSet>
      <dgm:spPr/>
    </dgm:pt>
    <dgm:pt modelId="{C788E9EB-9B92-476F-A005-725E70B09B7F}" type="pres">
      <dgm:prSet presAssocID="{5BD15B6B-DFC2-4290-A45B-A8556F109433}" presName="sibTrans" presStyleCnt="0"/>
      <dgm:spPr/>
    </dgm:pt>
    <dgm:pt modelId="{5D2DDE7D-4590-47D4-9D5C-2924E6AC7982}" type="pres">
      <dgm:prSet presAssocID="{89B26BDF-2D14-4075-9D18-CB363254A9F3}" presName="node" presStyleLbl="node1" presStyleIdx="3" presStyleCnt="12">
        <dgm:presLayoutVars>
          <dgm:bulletEnabled val="1"/>
        </dgm:presLayoutVars>
      </dgm:prSet>
      <dgm:spPr/>
    </dgm:pt>
    <dgm:pt modelId="{6F41E40C-965C-4682-8282-8987124EC67A}" type="pres">
      <dgm:prSet presAssocID="{F1FD0FE1-F2C9-4B96-A5A9-B66C3352E2FE}" presName="sibTrans" presStyleCnt="0"/>
      <dgm:spPr/>
    </dgm:pt>
    <dgm:pt modelId="{FBE4687B-DFEB-4EFF-BD51-C9664149529F}" type="pres">
      <dgm:prSet presAssocID="{8CE8D493-295B-4631-AD41-99958B011B06}" presName="node" presStyleLbl="node1" presStyleIdx="4" presStyleCnt="12">
        <dgm:presLayoutVars>
          <dgm:bulletEnabled val="1"/>
        </dgm:presLayoutVars>
      </dgm:prSet>
      <dgm:spPr/>
    </dgm:pt>
    <dgm:pt modelId="{600835BD-AB89-4679-8457-C4E78619D563}" type="pres">
      <dgm:prSet presAssocID="{6D2E50F2-9246-4CE9-8C56-CB00B7272C0B}" presName="sibTrans" presStyleCnt="0"/>
      <dgm:spPr/>
    </dgm:pt>
    <dgm:pt modelId="{D80970C2-3A82-49CA-9FB4-A3455683D27F}" type="pres">
      <dgm:prSet presAssocID="{7C603C0D-FF2B-4079-8ED2-B5F817A20695}" presName="node" presStyleLbl="node1" presStyleIdx="5" presStyleCnt="12">
        <dgm:presLayoutVars>
          <dgm:bulletEnabled val="1"/>
        </dgm:presLayoutVars>
      </dgm:prSet>
      <dgm:spPr/>
    </dgm:pt>
    <dgm:pt modelId="{09F9D933-6DC6-497B-9ED6-EAB6BD4AFA64}" type="pres">
      <dgm:prSet presAssocID="{C362EAC0-2C90-4B39-9E81-9BF46F65BCC5}" presName="sibTrans" presStyleCnt="0"/>
      <dgm:spPr/>
    </dgm:pt>
    <dgm:pt modelId="{7C73B0DA-D40D-45E7-AA42-F51439C4F2EC}" type="pres">
      <dgm:prSet presAssocID="{97BD1619-7588-4AF3-BF8F-096880221257}" presName="node" presStyleLbl="node1" presStyleIdx="6" presStyleCnt="12">
        <dgm:presLayoutVars>
          <dgm:bulletEnabled val="1"/>
        </dgm:presLayoutVars>
      </dgm:prSet>
      <dgm:spPr/>
    </dgm:pt>
    <dgm:pt modelId="{5E411C74-9D76-46DD-9292-803D1B6A6D4E}" type="pres">
      <dgm:prSet presAssocID="{72A02FFB-48CD-4F67-A58E-DD3A367A7AAE}" presName="sibTrans" presStyleCnt="0"/>
      <dgm:spPr/>
    </dgm:pt>
    <dgm:pt modelId="{169B46BB-462A-426B-9AB6-DA959B7A9208}" type="pres">
      <dgm:prSet presAssocID="{E129712C-D4BA-49FE-ABAE-77780C8EA25B}" presName="node" presStyleLbl="node1" presStyleIdx="7" presStyleCnt="12">
        <dgm:presLayoutVars>
          <dgm:bulletEnabled val="1"/>
        </dgm:presLayoutVars>
      </dgm:prSet>
      <dgm:spPr/>
    </dgm:pt>
    <dgm:pt modelId="{4D56A3E8-0B91-4777-9289-6FA1DE3B9B58}" type="pres">
      <dgm:prSet presAssocID="{C61A4004-3838-4AD5-B227-16808A9CDCA0}" presName="sibTrans" presStyleCnt="0"/>
      <dgm:spPr/>
    </dgm:pt>
    <dgm:pt modelId="{110E9270-C28E-4547-886A-B173DD032D30}" type="pres">
      <dgm:prSet presAssocID="{85A1341F-B008-4427-812F-E5FB8A50D75D}" presName="node" presStyleLbl="node1" presStyleIdx="8" presStyleCnt="12">
        <dgm:presLayoutVars>
          <dgm:bulletEnabled val="1"/>
        </dgm:presLayoutVars>
      </dgm:prSet>
      <dgm:spPr/>
    </dgm:pt>
    <dgm:pt modelId="{0C9B4C2A-87D6-4195-94AC-3F219AC46FAE}" type="pres">
      <dgm:prSet presAssocID="{059873E2-1FA9-45CD-B46D-AFA907C3AC00}" presName="sibTrans" presStyleCnt="0"/>
      <dgm:spPr/>
    </dgm:pt>
    <dgm:pt modelId="{10EDC781-93F7-46E8-BC84-9C313E6B17B1}" type="pres">
      <dgm:prSet presAssocID="{7BECE9EC-D922-4CEC-991F-D004279F0C11}" presName="node" presStyleLbl="node1" presStyleIdx="9" presStyleCnt="12">
        <dgm:presLayoutVars>
          <dgm:bulletEnabled val="1"/>
        </dgm:presLayoutVars>
      </dgm:prSet>
      <dgm:spPr/>
    </dgm:pt>
    <dgm:pt modelId="{ED4477E3-ACFD-4E60-A695-B3697452B135}" type="pres">
      <dgm:prSet presAssocID="{12E69DE0-760B-46A3-9869-24012C996442}" presName="sibTrans" presStyleCnt="0"/>
      <dgm:spPr/>
    </dgm:pt>
    <dgm:pt modelId="{61B8F122-4907-4D75-992A-0719033EC1C9}" type="pres">
      <dgm:prSet presAssocID="{BFCF16BA-87EE-436E-A799-9606395818C7}" presName="node" presStyleLbl="node1" presStyleIdx="10" presStyleCnt="12">
        <dgm:presLayoutVars>
          <dgm:bulletEnabled val="1"/>
        </dgm:presLayoutVars>
      </dgm:prSet>
      <dgm:spPr/>
    </dgm:pt>
    <dgm:pt modelId="{49FD038A-8A8B-4BBC-9D5F-FE9016E287A4}" type="pres">
      <dgm:prSet presAssocID="{7F04488C-918D-4E9A-9366-CAA663BA8293}" presName="sibTrans" presStyleCnt="0"/>
      <dgm:spPr/>
    </dgm:pt>
    <dgm:pt modelId="{7CD36865-B984-4BD5-81E9-4399AF8BDAE8}" type="pres">
      <dgm:prSet presAssocID="{24EF85FB-B10D-4A96-919D-1D90B6442EFF}" presName="node" presStyleLbl="node1" presStyleIdx="11" presStyleCnt="12">
        <dgm:presLayoutVars>
          <dgm:bulletEnabled val="1"/>
        </dgm:presLayoutVars>
      </dgm:prSet>
      <dgm:spPr/>
    </dgm:pt>
  </dgm:ptLst>
  <dgm:cxnLst>
    <dgm:cxn modelId="{36868D05-269C-4242-8AFF-190486292CEF}" srcId="{458A6643-34FF-4F07-9CE6-90C2B75BADA8}" destId="{8CE8D493-295B-4631-AD41-99958B011B06}" srcOrd="4" destOrd="0" parTransId="{CEC075C7-7BEC-4FCF-B1E5-05EDF5075BD5}" sibTransId="{6D2E50F2-9246-4CE9-8C56-CB00B7272C0B}"/>
    <dgm:cxn modelId="{B1F44E0E-BBE7-4178-BB24-0770C86F30E1}" srcId="{458A6643-34FF-4F07-9CE6-90C2B75BADA8}" destId="{97BD1619-7588-4AF3-BF8F-096880221257}" srcOrd="6" destOrd="0" parTransId="{DEB9A4D4-7C63-4CC1-BE29-C7EC71502E33}" sibTransId="{72A02FFB-48CD-4F67-A58E-DD3A367A7AAE}"/>
    <dgm:cxn modelId="{445DEE16-80F1-4C46-ABDD-88D9B3E051B2}" srcId="{458A6643-34FF-4F07-9CE6-90C2B75BADA8}" destId="{CB0D9C20-8D5A-4552-AAF3-C58647D77924}" srcOrd="1" destOrd="0" parTransId="{F7511369-D226-4F72-9029-B3F4F8A84251}" sibTransId="{485BBD8A-5423-42B4-9662-ECFB5E8DBD5C}"/>
    <dgm:cxn modelId="{EC9A861B-E0C7-4603-8896-557C89D493FA}" srcId="{458A6643-34FF-4F07-9CE6-90C2B75BADA8}" destId="{89B26BDF-2D14-4075-9D18-CB363254A9F3}" srcOrd="3" destOrd="0" parTransId="{2FF751F7-0C7A-4065-B113-F192563C4D45}" sibTransId="{F1FD0FE1-F2C9-4B96-A5A9-B66C3352E2FE}"/>
    <dgm:cxn modelId="{B3B36429-4091-444F-9100-99E1DB10A74B}" type="presOf" srcId="{8CE8D493-295B-4631-AD41-99958B011B06}" destId="{FBE4687B-DFEB-4EFF-BD51-C9664149529F}" srcOrd="0" destOrd="0" presId="urn:microsoft.com/office/officeart/2005/8/layout/default"/>
    <dgm:cxn modelId="{269B222C-14B9-4B4E-8679-17C9BB5EDADA}" type="presOf" srcId="{B28DB8D1-D620-4287-9AC3-5844C6388986}" destId="{7A23ACEF-618A-4010-8D6A-C8F8FD303D5D}" srcOrd="0" destOrd="0" presId="urn:microsoft.com/office/officeart/2005/8/layout/default"/>
    <dgm:cxn modelId="{DD42B45E-CA9B-49AD-B392-EAB97669747C}" type="presOf" srcId="{7BECE9EC-D922-4CEC-991F-D004279F0C11}" destId="{10EDC781-93F7-46E8-BC84-9C313E6B17B1}" srcOrd="0" destOrd="0" presId="urn:microsoft.com/office/officeart/2005/8/layout/default"/>
    <dgm:cxn modelId="{2D312464-9DC2-4A2A-8943-9DBCDD1AD5DA}" srcId="{458A6643-34FF-4F07-9CE6-90C2B75BADA8}" destId="{85A1341F-B008-4427-812F-E5FB8A50D75D}" srcOrd="8" destOrd="0" parTransId="{7BAEDB92-5EE8-4A3A-9C42-2E33005B09BD}" sibTransId="{059873E2-1FA9-45CD-B46D-AFA907C3AC00}"/>
    <dgm:cxn modelId="{E6A9A564-43FA-4C24-871D-0361F7CBBC94}" srcId="{458A6643-34FF-4F07-9CE6-90C2B75BADA8}" destId="{E129712C-D4BA-49FE-ABAE-77780C8EA25B}" srcOrd="7" destOrd="0" parTransId="{8F6A8C7C-3A25-4F95-B13F-816ACAA6A154}" sibTransId="{C61A4004-3838-4AD5-B227-16808A9CDCA0}"/>
    <dgm:cxn modelId="{381FD34E-8924-433E-923D-C48F16562D76}" type="presOf" srcId="{CB0D9C20-8D5A-4552-AAF3-C58647D77924}" destId="{3401D583-7B21-4EDC-A284-A1BA80F0DC58}" srcOrd="0" destOrd="0" presId="urn:microsoft.com/office/officeart/2005/8/layout/default"/>
    <dgm:cxn modelId="{CAA91B72-27AA-48CB-ACE0-D9F2B8750755}" type="presOf" srcId="{E129712C-D4BA-49FE-ABAE-77780C8EA25B}" destId="{169B46BB-462A-426B-9AB6-DA959B7A9208}" srcOrd="0" destOrd="0" presId="urn:microsoft.com/office/officeart/2005/8/layout/default"/>
    <dgm:cxn modelId="{19E95458-35E4-472A-81EE-39DA497D7423}" type="presOf" srcId="{24EF85FB-B10D-4A96-919D-1D90B6442EFF}" destId="{7CD36865-B984-4BD5-81E9-4399AF8BDAE8}" srcOrd="0" destOrd="0" presId="urn:microsoft.com/office/officeart/2005/8/layout/default"/>
    <dgm:cxn modelId="{A3B3097D-670B-4CC3-9151-B52F0D03C820}" type="presOf" srcId="{89B26BDF-2D14-4075-9D18-CB363254A9F3}" destId="{5D2DDE7D-4590-47D4-9D5C-2924E6AC7982}" srcOrd="0" destOrd="0" presId="urn:microsoft.com/office/officeart/2005/8/layout/default"/>
    <dgm:cxn modelId="{77A9E184-665D-4A82-B69F-3A3A57230CE6}" srcId="{458A6643-34FF-4F07-9CE6-90C2B75BADA8}" destId="{24EF85FB-B10D-4A96-919D-1D90B6442EFF}" srcOrd="11" destOrd="0" parTransId="{C3A00BA0-E00B-4058-A3D9-4C3229D15733}" sibTransId="{0597C307-9CC6-46C8-BC46-19CBA7EDA9CC}"/>
    <dgm:cxn modelId="{E29193A3-7389-451B-B436-8C59F6520B14}" type="presOf" srcId="{D139165D-06B3-430A-BB8E-AE7DEA7CA421}" destId="{DC2EF121-8086-44AF-83A9-93723C7FCE7F}" srcOrd="0" destOrd="0" presId="urn:microsoft.com/office/officeart/2005/8/layout/default"/>
    <dgm:cxn modelId="{3D0BD3AD-212C-48C4-98A7-DDDA224C8475}" type="presOf" srcId="{7C603C0D-FF2B-4079-8ED2-B5F817A20695}" destId="{D80970C2-3A82-49CA-9FB4-A3455683D27F}" srcOrd="0" destOrd="0" presId="urn:microsoft.com/office/officeart/2005/8/layout/default"/>
    <dgm:cxn modelId="{3D126FB1-4544-4137-A556-37D7D5832AA3}" type="presOf" srcId="{458A6643-34FF-4F07-9CE6-90C2B75BADA8}" destId="{8789A20B-E7F1-45ED-86EB-517C91A2BF53}" srcOrd="0" destOrd="0" presId="urn:microsoft.com/office/officeart/2005/8/layout/default"/>
    <dgm:cxn modelId="{70E0B8CA-64B6-4046-A0A9-635EADCF9844}" srcId="{458A6643-34FF-4F07-9CE6-90C2B75BADA8}" destId="{7BECE9EC-D922-4CEC-991F-D004279F0C11}" srcOrd="9" destOrd="0" parTransId="{BBEAA7F6-DDE4-47B4-B125-DB8F27787B81}" sibTransId="{12E69DE0-760B-46A3-9869-24012C996442}"/>
    <dgm:cxn modelId="{FE67B0D2-D788-4D8C-BC8C-2136F16EF6EA}" srcId="{458A6643-34FF-4F07-9CE6-90C2B75BADA8}" destId="{BFCF16BA-87EE-436E-A799-9606395818C7}" srcOrd="10" destOrd="0" parTransId="{4362418B-34B7-4271-BF2D-3AB1BAF65688}" sibTransId="{7F04488C-918D-4E9A-9366-CAA663BA8293}"/>
    <dgm:cxn modelId="{87D772D5-DC3D-477E-A2A9-64B58C0F63B2}" srcId="{458A6643-34FF-4F07-9CE6-90C2B75BADA8}" destId="{D139165D-06B3-430A-BB8E-AE7DEA7CA421}" srcOrd="0" destOrd="0" parTransId="{FF1F74E9-3650-431D-8DEA-2387AA07F27E}" sibTransId="{B7029DD7-0A09-4CC1-AF1D-46DC5FAA82B3}"/>
    <dgm:cxn modelId="{4E8F1CE2-4FE7-48EB-989D-A9B86EB48DDF}" type="presOf" srcId="{85A1341F-B008-4427-812F-E5FB8A50D75D}" destId="{110E9270-C28E-4547-886A-B173DD032D30}" srcOrd="0" destOrd="0" presId="urn:microsoft.com/office/officeart/2005/8/layout/default"/>
    <dgm:cxn modelId="{D00EE1E4-0484-4493-B0C7-51753BA7570B}" type="presOf" srcId="{97BD1619-7588-4AF3-BF8F-096880221257}" destId="{7C73B0DA-D40D-45E7-AA42-F51439C4F2EC}" srcOrd="0" destOrd="0" presId="urn:microsoft.com/office/officeart/2005/8/layout/default"/>
    <dgm:cxn modelId="{BED533E5-672A-49A8-AA6F-FAD9144693E7}" srcId="{458A6643-34FF-4F07-9CE6-90C2B75BADA8}" destId="{B28DB8D1-D620-4287-9AC3-5844C6388986}" srcOrd="2" destOrd="0" parTransId="{35069729-0432-4C00-B0CF-E5C4432CAF28}" sibTransId="{5BD15B6B-DFC2-4290-A45B-A8556F109433}"/>
    <dgm:cxn modelId="{73CCB9EA-0CCF-4657-AD69-21AEDBE70DF8}" srcId="{458A6643-34FF-4F07-9CE6-90C2B75BADA8}" destId="{7C603C0D-FF2B-4079-8ED2-B5F817A20695}" srcOrd="5" destOrd="0" parTransId="{D48C3429-ED4E-44CB-8F3E-BEB7230AEB5D}" sibTransId="{C362EAC0-2C90-4B39-9E81-9BF46F65BCC5}"/>
    <dgm:cxn modelId="{A03E4BFA-D30F-438A-B713-C5DD3BF3D4D9}" type="presOf" srcId="{BFCF16BA-87EE-436E-A799-9606395818C7}" destId="{61B8F122-4907-4D75-992A-0719033EC1C9}" srcOrd="0" destOrd="0" presId="urn:microsoft.com/office/officeart/2005/8/layout/default"/>
    <dgm:cxn modelId="{8A4388B0-4122-4FF7-ADDD-EA9A75609BD4}" type="presParOf" srcId="{8789A20B-E7F1-45ED-86EB-517C91A2BF53}" destId="{DC2EF121-8086-44AF-83A9-93723C7FCE7F}" srcOrd="0" destOrd="0" presId="urn:microsoft.com/office/officeart/2005/8/layout/default"/>
    <dgm:cxn modelId="{671C6404-5157-43E2-AD7F-3A8492F4834C}" type="presParOf" srcId="{8789A20B-E7F1-45ED-86EB-517C91A2BF53}" destId="{5CC02221-8E0C-4FB5-8638-FB0FF7E65CD6}" srcOrd="1" destOrd="0" presId="urn:microsoft.com/office/officeart/2005/8/layout/default"/>
    <dgm:cxn modelId="{EB7B8829-1F73-46F5-9EBB-C64117879E69}" type="presParOf" srcId="{8789A20B-E7F1-45ED-86EB-517C91A2BF53}" destId="{3401D583-7B21-4EDC-A284-A1BA80F0DC58}" srcOrd="2" destOrd="0" presId="urn:microsoft.com/office/officeart/2005/8/layout/default"/>
    <dgm:cxn modelId="{C70A864F-A33D-4EBB-8942-5EA711CE3713}" type="presParOf" srcId="{8789A20B-E7F1-45ED-86EB-517C91A2BF53}" destId="{0762DE3D-5D84-4466-9DD3-2F99FD472413}" srcOrd="3" destOrd="0" presId="urn:microsoft.com/office/officeart/2005/8/layout/default"/>
    <dgm:cxn modelId="{3676462D-797B-466D-B736-397A112C3ADD}" type="presParOf" srcId="{8789A20B-E7F1-45ED-86EB-517C91A2BF53}" destId="{7A23ACEF-618A-4010-8D6A-C8F8FD303D5D}" srcOrd="4" destOrd="0" presId="urn:microsoft.com/office/officeart/2005/8/layout/default"/>
    <dgm:cxn modelId="{F9FCC251-8E9F-4E74-9340-0122B34014E2}" type="presParOf" srcId="{8789A20B-E7F1-45ED-86EB-517C91A2BF53}" destId="{C788E9EB-9B92-476F-A005-725E70B09B7F}" srcOrd="5" destOrd="0" presId="urn:microsoft.com/office/officeart/2005/8/layout/default"/>
    <dgm:cxn modelId="{0620A718-5BE0-49F9-A5E1-4B4599F30897}" type="presParOf" srcId="{8789A20B-E7F1-45ED-86EB-517C91A2BF53}" destId="{5D2DDE7D-4590-47D4-9D5C-2924E6AC7982}" srcOrd="6" destOrd="0" presId="urn:microsoft.com/office/officeart/2005/8/layout/default"/>
    <dgm:cxn modelId="{217281B2-6D03-4BAD-953B-EBD6D21EBF4C}" type="presParOf" srcId="{8789A20B-E7F1-45ED-86EB-517C91A2BF53}" destId="{6F41E40C-965C-4682-8282-8987124EC67A}" srcOrd="7" destOrd="0" presId="urn:microsoft.com/office/officeart/2005/8/layout/default"/>
    <dgm:cxn modelId="{2BC96092-B211-4F04-A8EA-3260A2CE4784}" type="presParOf" srcId="{8789A20B-E7F1-45ED-86EB-517C91A2BF53}" destId="{FBE4687B-DFEB-4EFF-BD51-C9664149529F}" srcOrd="8" destOrd="0" presId="urn:microsoft.com/office/officeart/2005/8/layout/default"/>
    <dgm:cxn modelId="{86484F21-462C-4510-915A-09F68752C1B6}" type="presParOf" srcId="{8789A20B-E7F1-45ED-86EB-517C91A2BF53}" destId="{600835BD-AB89-4679-8457-C4E78619D563}" srcOrd="9" destOrd="0" presId="urn:microsoft.com/office/officeart/2005/8/layout/default"/>
    <dgm:cxn modelId="{A7AF9E55-C949-411F-92C6-55EEC62D1D14}" type="presParOf" srcId="{8789A20B-E7F1-45ED-86EB-517C91A2BF53}" destId="{D80970C2-3A82-49CA-9FB4-A3455683D27F}" srcOrd="10" destOrd="0" presId="urn:microsoft.com/office/officeart/2005/8/layout/default"/>
    <dgm:cxn modelId="{6444605F-6A06-4901-8FEF-41D6AD36AA97}" type="presParOf" srcId="{8789A20B-E7F1-45ED-86EB-517C91A2BF53}" destId="{09F9D933-6DC6-497B-9ED6-EAB6BD4AFA64}" srcOrd="11" destOrd="0" presId="urn:microsoft.com/office/officeart/2005/8/layout/default"/>
    <dgm:cxn modelId="{1260CA2B-FE42-43CA-A036-97142B5F0F9C}" type="presParOf" srcId="{8789A20B-E7F1-45ED-86EB-517C91A2BF53}" destId="{7C73B0DA-D40D-45E7-AA42-F51439C4F2EC}" srcOrd="12" destOrd="0" presId="urn:microsoft.com/office/officeart/2005/8/layout/default"/>
    <dgm:cxn modelId="{EB742D4A-DB43-4FCE-BA5C-D70DAE168685}" type="presParOf" srcId="{8789A20B-E7F1-45ED-86EB-517C91A2BF53}" destId="{5E411C74-9D76-46DD-9292-803D1B6A6D4E}" srcOrd="13" destOrd="0" presId="urn:microsoft.com/office/officeart/2005/8/layout/default"/>
    <dgm:cxn modelId="{C50EFE95-A233-4862-80A7-3CD7CC7DEDDA}" type="presParOf" srcId="{8789A20B-E7F1-45ED-86EB-517C91A2BF53}" destId="{169B46BB-462A-426B-9AB6-DA959B7A9208}" srcOrd="14" destOrd="0" presId="urn:microsoft.com/office/officeart/2005/8/layout/default"/>
    <dgm:cxn modelId="{24E26D45-48D1-454C-BF7D-C4411A07DCB7}" type="presParOf" srcId="{8789A20B-E7F1-45ED-86EB-517C91A2BF53}" destId="{4D56A3E8-0B91-4777-9289-6FA1DE3B9B58}" srcOrd="15" destOrd="0" presId="urn:microsoft.com/office/officeart/2005/8/layout/default"/>
    <dgm:cxn modelId="{8677F320-9CF8-4DD0-8183-107418535F0D}" type="presParOf" srcId="{8789A20B-E7F1-45ED-86EB-517C91A2BF53}" destId="{110E9270-C28E-4547-886A-B173DD032D30}" srcOrd="16" destOrd="0" presId="urn:microsoft.com/office/officeart/2005/8/layout/default"/>
    <dgm:cxn modelId="{6D3B12CC-FE9D-4DE6-B344-DFA0E0584F22}" type="presParOf" srcId="{8789A20B-E7F1-45ED-86EB-517C91A2BF53}" destId="{0C9B4C2A-87D6-4195-94AC-3F219AC46FAE}" srcOrd="17" destOrd="0" presId="urn:microsoft.com/office/officeart/2005/8/layout/default"/>
    <dgm:cxn modelId="{F85ABBF3-0AB4-47E5-BD43-22357D967B4A}" type="presParOf" srcId="{8789A20B-E7F1-45ED-86EB-517C91A2BF53}" destId="{10EDC781-93F7-46E8-BC84-9C313E6B17B1}" srcOrd="18" destOrd="0" presId="urn:microsoft.com/office/officeart/2005/8/layout/default"/>
    <dgm:cxn modelId="{14D6191B-B886-4F7B-B7FB-2CA893757B59}" type="presParOf" srcId="{8789A20B-E7F1-45ED-86EB-517C91A2BF53}" destId="{ED4477E3-ACFD-4E60-A695-B3697452B135}" srcOrd="19" destOrd="0" presId="urn:microsoft.com/office/officeart/2005/8/layout/default"/>
    <dgm:cxn modelId="{757B7424-10D0-47C1-BD5D-A5A90F9FC49B}" type="presParOf" srcId="{8789A20B-E7F1-45ED-86EB-517C91A2BF53}" destId="{61B8F122-4907-4D75-992A-0719033EC1C9}" srcOrd="20" destOrd="0" presId="urn:microsoft.com/office/officeart/2005/8/layout/default"/>
    <dgm:cxn modelId="{D4911AA5-9931-4AE1-AC85-7D088983439E}" type="presParOf" srcId="{8789A20B-E7F1-45ED-86EB-517C91A2BF53}" destId="{49FD038A-8A8B-4BBC-9D5F-FE9016E287A4}" srcOrd="21" destOrd="0" presId="urn:microsoft.com/office/officeart/2005/8/layout/default"/>
    <dgm:cxn modelId="{E551B5D0-5100-408D-B4D9-EEBAC453AEDB}" type="presParOf" srcId="{8789A20B-E7F1-45ED-86EB-517C91A2BF53}" destId="{7CD36865-B984-4BD5-81E9-4399AF8BDAE8}" srcOrd="2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7D722D-E163-462F-995B-D8AB568795F4}">
      <dsp:nvSpPr>
        <dsp:cNvPr id="0" name=""/>
        <dsp:cNvSpPr/>
      </dsp:nvSpPr>
      <dsp:spPr>
        <a:xfrm rot="5400000">
          <a:off x="7269058" y="-3111267"/>
          <a:ext cx="788319" cy="7212440"/>
        </a:xfrm>
        <a:prstGeom prst="round2Same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a:t>Models labeled Preview are experimental in nature. A model's weights, runtime, and API schema can change while the model is in preview. Models in preview aren't guaranteed to become generally available. Models in preview have a Preview label next to their name in the model catalog.</a:t>
          </a:r>
        </a:p>
      </dsp:txBody>
      <dsp:txXfrm rot="-5400000">
        <a:off x="4056998" y="139276"/>
        <a:ext cx="7173957" cy="711353"/>
      </dsp:txXfrm>
    </dsp:sp>
    <dsp:sp modelId="{2C23D74F-C256-4024-9C5B-9F12E9D681F4}">
      <dsp:nvSpPr>
        <dsp:cNvPr id="0" name=""/>
        <dsp:cNvSpPr/>
      </dsp:nvSpPr>
      <dsp:spPr>
        <a:xfrm>
          <a:off x="0" y="2253"/>
          <a:ext cx="4056998" cy="985398"/>
        </a:xfrm>
        <a:prstGeom prst="roundRect">
          <a:avLst/>
        </a:prstGeom>
        <a:solidFill>
          <a:schemeClr val="accent1">
            <a:alpha val="90000"/>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a:t>Preview</a:t>
          </a:r>
        </a:p>
      </dsp:txBody>
      <dsp:txXfrm>
        <a:off x="48103" y="50356"/>
        <a:ext cx="3960792" cy="889192"/>
      </dsp:txXfrm>
    </dsp:sp>
    <dsp:sp modelId="{4C6A53D8-E257-4EA8-82C5-A2D7B36D6DC9}">
      <dsp:nvSpPr>
        <dsp:cNvPr id="0" name=""/>
        <dsp:cNvSpPr/>
      </dsp:nvSpPr>
      <dsp:spPr>
        <a:xfrm rot="5400000">
          <a:off x="7269058" y="-2076598"/>
          <a:ext cx="788319" cy="7212440"/>
        </a:xfrm>
        <a:prstGeom prst="round2Same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a:t>This stage is the default model stage. Models that don't include a lifecycle label next to their name are GA and suitable for use in production environments. In this stage, model weights and APIs are fixed. However, model containers or runtimes with vulnerabilities might get patched, but patches don't affect model outputs.</a:t>
          </a:r>
        </a:p>
      </dsp:txBody>
      <dsp:txXfrm rot="-5400000">
        <a:off x="4056998" y="1173945"/>
        <a:ext cx="7173957" cy="711353"/>
      </dsp:txXfrm>
    </dsp:sp>
    <dsp:sp modelId="{1D652E61-5272-4B2D-B833-D87FD019950D}">
      <dsp:nvSpPr>
        <dsp:cNvPr id="0" name=""/>
        <dsp:cNvSpPr/>
      </dsp:nvSpPr>
      <dsp:spPr>
        <a:xfrm>
          <a:off x="0" y="1036922"/>
          <a:ext cx="4056998" cy="985398"/>
        </a:xfrm>
        <a:prstGeom prst="roundRect">
          <a:avLst/>
        </a:prstGeom>
        <a:solidFill>
          <a:schemeClr val="accent1">
            <a:alpha val="90000"/>
            <a:hueOff val="0"/>
            <a:satOff val="0"/>
            <a:lumOff val="0"/>
            <a:alphaOff val="-1000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a:t>Generally Available</a:t>
          </a:r>
        </a:p>
      </dsp:txBody>
      <dsp:txXfrm>
        <a:off x="48103" y="1085025"/>
        <a:ext cx="3960792" cy="889192"/>
      </dsp:txXfrm>
    </dsp:sp>
    <dsp:sp modelId="{8DE92326-89A2-44F3-9C0A-12301F68EDBC}">
      <dsp:nvSpPr>
        <dsp:cNvPr id="0" name=""/>
        <dsp:cNvSpPr/>
      </dsp:nvSpPr>
      <dsp:spPr>
        <a:xfrm rot="5400000">
          <a:off x="7269058" y="-1041929"/>
          <a:ext cx="788319" cy="7212440"/>
        </a:xfrm>
        <a:prstGeom prst="round2Same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a:t>Models labeled Legacy are intended for deprecation. You should plan to move to a different model, such as a new, improved model that might be available in the same model family. While a model is in the legacy stage, existing deployments of the model continue to work, and you can create new deployments of the model until the deprecation date.</a:t>
          </a:r>
        </a:p>
      </dsp:txBody>
      <dsp:txXfrm rot="-5400000">
        <a:off x="4056998" y="2208614"/>
        <a:ext cx="7173957" cy="711353"/>
      </dsp:txXfrm>
    </dsp:sp>
    <dsp:sp modelId="{4F6BCADA-BCE1-4A34-B1A5-8BDC8B54FEF1}">
      <dsp:nvSpPr>
        <dsp:cNvPr id="0" name=""/>
        <dsp:cNvSpPr/>
      </dsp:nvSpPr>
      <dsp:spPr>
        <a:xfrm>
          <a:off x="0" y="2071591"/>
          <a:ext cx="4056998" cy="985398"/>
        </a:xfrm>
        <a:prstGeom prst="roundRect">
          <a:avLst/>
        </a:prstGeom>
        <a:solidFill>
          <a:schemeClr val="accent1">
            <a:alpha val="90000"/>
            <a:hueOff val="0"/>
            <a:satOff val="0"/>
            <a:lumOff val="0"/>
            <a:alphaOff val="-2000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a:t>*Legacy</a:t>
          </a:r>
        </a:p>
      </dsp:txBody>
      <dsp:txXfrm>
        <a:off x="48103" y="2119694"/>
        <a:ext cx="3960792" cy="889192"/>
      </dsp:txXfrm>
    </dsp:sp>
    <dsp:sp modelId="{93060C81-3BE2-4A78-B933-87F3E44C50C0}">
      <dsp:nvSpPr>
        <dsp:cNvPr id="0" name=""/>
        <dsp:cNvSpPr/>
      </dsp:nvSpPr>
      <dsp:spPr>
        <a:xfrm rot="5400000">
          <a:off x="7269058" y="-7260"/>
          <a:ext cx="788319" cy="7212440"/>
        </a:xfrm>
        <a:prstGeom prst="round2Same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a:t>Models labeled Deprecated are no longer available for new deployments. You can't create any new deployments for the model; however, existing deployments continue to work until the retirement date.</a:t>
          </a:r>
        </a:p>
      </dsp:txBody>
      <dsp:txXfrm rot="-5400000">
        <a:off x="4056998" y="3243284"/>
        <a:ext cx="7173957" cy="711353"/>
      </dsp:txXfrm>
    </dsp:sp>
    <dsp:sp modelId="{B5203298-D88D-4FBB-AE06-5F75D4DF2C64}">
      <dsp:nvSpPr>
        <dsp:cNvPr id="0" name=""/>
        <dsp:cNvSpPr/>
      </dsp:nvSpPr>
      <dsp:spPr>
        <a:xfrm>
          <a:off x="0" y="3106260"/>
          <a:ext cx="4056998" cy="985398"/>
        </a:xfrm>
        <a:prstGeom prst="roundRect">
          <a:avLst/>
        </a:prstGeom>
        <a:solidFill>
          <a:schemeClr val="accent1">
            <a:alpha val="90000"/>
            <a:hueOff val="0"/>
            <a:satOff val="0"/>
            <a:lumOff val="0"/>
            <a:alphaOff val="-3000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a:t>Deprecated</a:t>
          </a:r>
        </a:p>
      </dsp:txBody>
      <dsp:txXfrm>
        <a:off x="48103" y="3154363"/>
        <a:ext cx="3960792" cy="889192"/>
      </dsp:txXfrm>
    </dsp:sp>
    <dsp:sp modelId="{EBF689C6-B28A-4B90-8FC7-C44EDFB138B2}">
      <dsp:nvSpPr>
        <dsp:cNvPr id="0" name=""/>
        <dsp:cNvSpPr/>
      </dsp:nvSpPr>
      <dsp:spPr>
        <a:xfrm rot="5400000">
          <a:off x="7269058" y="1027408"/>
          <a:ext cx="788319" cy="7212440"/>
        </a:xfrm>
        <a:prstGeom prst="round2Same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a:t>Models labeled Retired are no longer available for use. You can't create new deployments and attempts to use existing deployments return &lt;return code&gt; errors</a:t>
          </a:r>
          <a:r>
            <a:rPr lang="en-US" sz="1400" kern="1200"/>
            <a:t>.</a:t>
          </a:r>
        </a:p>
      </dsp:txBody>
      <dsp:txXfrm rot="-5400000">
        <a:off x="4056998" y="4277952"/>
        <a:ext cx="7173957" cy="711353"/>
      </dsp:txXfrm>
    </dsp:sp>
    <dsp:sp modelId="{36BA20F0-B47A-4AED-B8DC-0BF4B49B65C8}">
      <dsp:nvSpPr>
        <dsp:cNvPr id="0" name=""/>
        <dsp:cNvSpPr/>
      </dsp:nvSpPr>
      <dsp:spPr>
        <a:xfrm>
          <a:off x="0" y="4140929"/>
          <a:ext cx="4056998" cy="985398"/>
        </a:xfrm>
        <a:prstGeom prst="roundRect">
          <a:avLst/>
        </a:prstGeom>
        <a:solidFill>
          <a:schemeClr val="accent1">
            <a:alpha val="90000"/>
            <a:hueOff val="0"/>
            <a:satOff val="0"/>
            <a:lumOff val="0"/>
            <a:alphaOff val="-4000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a:t>Retired</a:t>
          </a:r>
        </a:p>
      </dsp:txBody>
      <dsp:txXfrm>
        <a:off x="48103" y="4189032"/>
        <a:ext cx="3960792" cy="8891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22775-E237-4572-A524-C527BF2AB6D9}">
      <dsp:nvSpPr>
        <dsp:cNvPr id="0" name=""/>
        <dsp:cNvSpPr/>
      </dsp:nvSpPr>
      <dsp:spPr>
        <a:xfrm>
          <a:off x="0" y="178767"/>
          <a:ext cx="3443386" cy="2066032"/>
        </a:xfrm>
        <a:prstGeom prst="rect">
          <a:avLst/>
        </a:prstGeom>
        <a:solidFill>
          <a:schemeClr val="accent2">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baseline="0"/>
            <a:t>Generally Available (GA) model versions will be available for a minimum of 12 months.</a:t>
          </a:r>
          <a:endParaRPr lang="en-US" sz="1900" kern="1200"/>
        </a:p>
      </dsp:txBody>
      <dsp:txXfrm>
        <a:off x="0" y="178767"/>
        <a:ext cx="3443386" cy="2066032"/>
      </dsp:txXfrm>
    </dsp:sp>
    <dsp:sp modelId="{40403447-FF4B-45ED-B08A-375AC79ED55F}">
      <dsp:nvSpPr>
        <dsp:cNvPr id="0" name=""/>
        <dsp:cNvSpPr/>
      </dsp:nvSpPr>
      <dsp:spPr>
        <a:xfrm>
          <a:off x="3787725" y="178767"/>
          <a:ext cx="3443386" cy="2066032"/>
        </a:xfrm>
        <a:prstGeom prst="rect">
          <a:avLst/>
        </a:prstGeom>
        <a:solidFill>
          <a:schemeClr val="accent2">
            <a:hueOff val="-705965"/>
            <a:satOff val="1641"/>
            <a:lumOff val="5736"/>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baseline="0"/>
            <a:t>After 12 months, existing customers may continue to use older model versions for an additional six months.</a:t>
          </a:r>
          <a:endParaRPr lang="en-US" sz="1900" kern="1200"/>
        </a:p>
      </dsp:txBody>
      <dsp:txXfrm>
        <a:off x="3787725" y="178767"/>
        <a:ext cx="3443386" cy="2066032"/>
      </dsp:txXfrm>
    </dsp:sp>
    <dsp:sp modelId="{E27D700D-D00A-4139-80AF-84424F063FEA}">
      <dsp:nvSpPr>
        <dsp:cNvPr id="0" name=""/>
        <dsp:cNvSpPr/>
      </dsp:nvSpPr>
      <dsp:spPr>
        <a:xfrm>
          <a:off x="7575451" y="178767"/>
          <a:ext cx="3443386" cy="2066032"/>
        </a:xfrm>
        <a:prstGeom prst="rect">
          <a:avLst/>
        </a:prstGeom>
        <a:solidFill>
          <a:schemeClr val="accent2">
            <a:hueOff val="-1411930"/>
            <a:satOff val="3282"/>
            <a:lumOff val="11472"/>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baseline="0"/>
            <a:t>New customers who have never deployed the older model version will no longer have access after 12 months.</a:t>
          </a:r>
          <a:endParaRPr lang="en-US" sz="1900" kern="1200"/>
        </a:p>
      </dsp:txBody>
      <dsp:txXfrm>
        <a:off x="7575451" y="178767"/>
        <a:ext cx="3443386" cy="2066032"/>
      </dsp:txXfrm>
    </dsp:sp>
    <dsp:sp modelId="{B3D9E961-7684-4322-AD26-EE0BFF1EC243}">
      <dsp:nvSpPr>
        <dsp:cNvPr id="0" name=""/>
        <dsp:cNvSpPr/>
      </dsp:nvSpPr>
      <dsp:spPr>
        <a:xfrm>
          <a:off x="1893862" y="2589138"/>
          <a:ext cx="3443386" cy="2066032"/>
        </a:xfrm>
        <a:prstGeom prst="rect">
          <a:avLst/>
        </a:prstGeom>
        <a:solidFill>
          <a:schemeClr val="accent2">
            <a:hueOff val="-2117896"/>
            <a:satOff val="4924"/>
            <a:lumOff val="17207"/>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baseline="0"/>
            <a:t>For global deployments, all future model versions starting with gpt-4o and gpt-4 0409 will be available with their (N) next succeeding model (N+1) for comparison together.</a:t>
          </a:r>
          <a:endParaRPr lang="en-US" sz="1900" kern="1200"/>
        </a:p>
      </dsp:txBody>
      <dsp:txXfrm>
        <a:off x="1893862" y="2589138"/>
        <a:ext cx="3443386" cy="2066032"/>
      </dsp:txXfrm>
    </dsp:sp>
    <dsp:sp modelId="{E10C7425-6C38-456F-8BEF-4E7EEE8CA169}">
      <dsp:nvSpPr>
        <dsp:cNvPr id="0" name=""/>
        <dsp:cNvSpPr/>
      </dsp:nvSpPr>
      <dsp:spPr>
        <a:xfrm>
          <a:off x="5681588" y="2589138"/>
          <a:ext cx="3443386" cy="2066032"/>
        </a:xfrm>
        <a:prstGeom prst="rect">
          <a:avLst/>
        </a:prstGeom>
        <a:solidFill>
          <a:schemeClr val="accent2">
            <a:hueOff val="-2823861"/>
            <a:satOff val="6565"/>
            <a:lumOff val="22943"/>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baseline="0"/>
            <a:t>Customers have 60 days to try out a new GA model in at least one global or standard region before any upgrades happen to a newer GA model.</a:t>
          </a:r>
          <a:endParaRPr lang="en-US" sz="1900" kern="1200"/>
        </a:p>
      </dsp:txBody>
      <dsp:txXfrm>
        <a:off x="5681588" y="2589138"/>
        <a:ext cx="3443386" cy="20660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B1408-BF31-4840-87D4-7C1347DCDE46}">
      <dsp:nvSpPr>
        <dsp:cNvPr id="0" name=""/>
        <dsp:cNvSpPr/>
      </dsp:nvSpPr>
      <dsp:spPr>
        <a:xfrm>
          <a:off x="0" y="785514"/>
          <a:ext cx="11018837" cy="145018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33EF72-EC09-4C0B-980C-DFB928785226}">
      <dsp:nvSpPr>
        <dsp:cNvPr id="0" name=""/>
        <dsp:cNvSpPr/>
      </dsp:nvSpPr>
      <dsp:spPr>
        <a:xfrm>
          <a:off x="438679" y="1111805"/>
          <a:ext cx="797599" cy="797599"/>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92F3808-6266-4EFB-AE32-1BF8D716F2C8}">
      <dsp:nvSpPr>
        <dsp:cNvPr id="0" name=""/>
        <dsp:cNvSpPr/>
      </dsp:nvSpPr>
      <dsp:spPr>
        <a:xfrm>
          <a:off x="1674959" y="785514"/>
          <a:ext cx="9343878" cy="1450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478" tIns="153478" rIns="153478" bIns="153478" numCol="1" spcCol="1270" anchor="ctr" anchorCtr="0">
          <a:noAutofit/>
        </a:bodyPr>
        <a:lstStyle/>
        <a:p>
          <a:pPr marL="0" lvl="0" indent="0" algn="l" defTabSz="1022350">
            <a:lnSpc>
              <a:spcPct val="90000"/>
            </a:lnSpc>
            <a:spcBef>
              <a:spcPct val="0"/>
            </a:spcBef>
            <a:spcAft>
              <a:spcPct val="35000"/>
            </a:spcAft>
            <a:buNone/>
          </a:pPr>
          <a:r>
            <a:rPr lang="en-US" sz="2300" b="1" kern="1200"/>
            <a:t>Deprecation</a:t>
          </a:r>
          <a:r>
            <a:rPr lang="en-US" sz="2300" kern="1200"/>
            <a:t>: When a model is deprecated, it's no longer available for new customers. It continues to be available for use by customers who have existing deployments until the model is retired.</a:t>
          </a:r>
        </a:p>
      </dsp:txBody>
      <dsp:txXfrm>
        <a:off x="1674959" y="785514"/>
        <a:ext cx="9343878" cy="1450181"/>
      </dsp:txXfrm>
    </dsp:sp>
    <dsp:sp modelId="{45CFAD21-56DF-4211-B068-F536739B78DA}">
      <dsp:nvSpPr>
        <dsp:cNvPr id="0" name=""/>
        <dsp:cNvSpPr/>
      </dsp:nvSpPr>
      <dsp:spPr>
        <a:xfrm>
          <a:off x="0" y="2598241"/>
          <a:ext cx="11018837" cy="145018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88F0B9-076A-4B3A-B847-57F9E86EEFD7}">
      <dsp:nvSpPr>
        <dsp:cNvPr id="0" name=""/>
        <dsp:cNvSpPr/>
      </dsp:nvSpPr>
      <dsp:spPr>
        <a:xfrm>
          <a:off x="438679" y="2924532"/>
          <a:ext cx="797599" cy="797599"/>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EB5563-EDCE-4251-88D5-A85E52F21E5F}">
      <dsp:nvSpPr>
        <dsp:cNvPr id="0" name=""/>
        <dsp:cNvSpPr/>
      </dsp:nvSpPr>
      <dsp:spPr>
        <a:xfrm>
          <a:off x="1674959" y="2598241"/>
          <a:ext cx="9343878" cy="1450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478" tIns="153478" rIns="153478" bIns="153478" numCol="1" spcCol="1270" anchor="ctr" anchorCtr="0">
          <a:noAutofit/>
        </a:bodyPr>
        <a:lstStyle/>
        <a:p>
          <a:pPr marL="0" lvl="0" indent="0" algn="l" defTabSz="1022350">
            <a:lnSpc>
              <a:spcPct val="90000"/>
            </a:lnSpc>
            <a:spcBef>
              <a:spcPct val="0"/>
            </a:spcBef>
            <a:spcAft>
              <a:spcPct val="35000"/>
            </a:spcAft>
            <a:buNone/>
          </a:pPr>
          <a:r>
            <a:rPr lang="en-US" sz="2300" b="1" kern="1200"/>
            <a:t>Retirement</a:t>
          </a:r>
          <a:r>
            <a:rPr lang="en-US" sz="2300" kern="1200"/>
            <a:t>: When a model is retired, it's no longer available for use. Azure OpenAI deployments of a retired model always return error responses.</a:t>
          </a:r>
        </a:p>
      </dsp:txBody>
      <dsp:txXfrm>
        <a:off x="1674959" y="2598241"/>
        <a:ext cx="9343878" cy="145018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37B94F-6368-4671-BEEE-ACDE3A1DD020}">
      <dsp:nvSpPr>
        <dsp:cNvPr id="0" name=""/>
        <dsp:cNvSpPr/>
      </dsp:nvSpPr>
      <dsp:spPr>
        <a:xfrm>
          <a:off x="0" y="785514"/>
          <a:ext cx="11018837" cy="145018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1AF78D-FAEE-4717-B2FF-FB21E53D98D0}">
      <dsp:nvSpPr>
        <dsp:cNvPr id="0" name=""/>
        <dsp:cNvSpPr/>
      </dsp:nvSpPr>
      <dsp:spPr>
        <a:xfrm>
          <a:off x="438679" y="1111805"/>
          <a:ext cx="797599" cy="79759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BB80B9-36FC-4DBF-9344-C1DAA5C34367}">
      <dsp:nvSpPr>
        <dsp:cNvPr id="0" name=""/>
        <dsp:cNvSpPr/>
      </dsp:nvSpPr>
      <dsp:spPr>
        <a:xfrm>
          <a:off x="1674959" y="785514"/>
          <a:ext cx="9343878" cy="1450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478" tIns="153478" rIns="153478" bIns="153478" numCol="1" spcCol="1270" anchor="ctr" anchorCtr="0">
          <a:noAutofit/>
        </a:bodyPr>
        <a:lstStyle/>
        <a:p>
          <a:pPr marL="0" lvl="0" indent="0" algn="l" defTabSz="889000">
            <a:lnSpc>
              <a:spcPct val="90000"/>
            </a:lnSpc>
            <a:spcBef>
              <a:spcPct val="0"/>
            </a:spcBef>
            <a:spcAft>
              <a:spcPct val="35000"/>
            </a:spcAft>
            <a:buNone/>
          </a:pPr>
          <a:r>
            <a:rPr lang="en-US" sz="2000" kern="1200"/>
            <a:t>Models are labeled as Legacy and remain in the legacy state for at least 30 days before being moved to the deprecated state. During this notification period, you can create new deployments as you prepare for deprecation and retirement.</a:t>
          </a:r>
        </a:p>
      </dsp:txBody>
      <dsp:txXfrm>
        <a:off x="1674959" y="785514"/>
        <a:ext cx="9343878" cy="1450181"/>
      </dsp:txXfrm>
    </dsp:sp>
    <dsp:sp modelId="{A62BEF4C-C565-4118-BA97-2DC9E38D7599}">
      <dsp:nvSpPr>
        <dsp:cNvPr id="0" name=""/>
        <dsp:cNvSpPr/>
      </dsp:nvSpPr>
      <dsp:spPr>
        <a:xfrm>
          <a:off x="0" y="2598241"/>
          <a:ext cx="11018837" cy="145018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B9E83D-4E54-48EF-BF6A-A0B75E39C5AA}">
      <dsp:nvSpPr>
        <dsp:cNvPr id="0" name=""/>
        <dsp:cNvSpPr/>
      </dsp:nvSpPr>
      <dsp:spPr>
        <a:xfrm>
          <a:off x="438679" y="2924532"/>
          <a:ext cx="797599" cy="79759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38CF444-1646-45C8-BD5A-40EDAF7A7936}">
      <dsp:nvSpPr>
        <dsp:cNvPr id="0" name=""/>
        <dsp:cNvSpPr/>
      </dsp:nvSpPr>
      <dsp:spPr>
        <a:xfrm>
          <a:off x="1674959" y="2598241"/>
          <a:ext cx="9343878" cy="1450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478" tIns="153478" rIns="153478" bIns="153478" numCol="1" spcCol="1270" anchor="ctr" anchorCtr="0">
          <a:noAutofit/>
        </a:bodyPr>
        <a:lstStyle/>
        <a:p>
          <a:pPr marL="0" lvl="0" indent="0" algn="l" defTabSz="889000">
            <a:lnSpc>
              <a:spcPct val="90000"/>
            </a:lnSpc>
            <a:spcBef>
              <a:spcPct val="0"/>
            </a:spcBef>
            <a:spcAft>
              <a:spcPct val="35000"/>
            </a:spcAft>
            <a:buNone/>
          </a:pPr>
          <a:r>
            <a:rPr lang="en-US" sz="2000" kern="1200"/>
            <a:t>Models are labeled Deprecated and remain in the deprecated state for at least 90 days before being moved to the retired state. During this notification period, you can migrate any existing deployments to newer or replacement models.</a:t>
          </a:r>
        </a:p>
      </dsp:txBody>
      <dsp:txXfrm>
        <a:off x="1674959" y="2598241"/>
        <a:ext cx="9343878" cy="145018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623A57-DB82-49EA-B434-F24C8803FC67}">
      <dsp:nvSpPr>
        <dsp:cNvPr id="0" name=""/>
        <dsp:cNvSpPr/>
      </dsp:nvSpPr>
      <dsp:spPr>
        <a:xfrm>
          <a:off x="0" y="64380"/>
          <a:ext cx="11018837" cy="1255409"/>
        </a:xfrm>
        <a:prstGeom prst="roundRect">
          <a:avLst/>
        </a:prstGeom>
        <a:solidFill>
          <a:srgbClr val="CDCFD5"/>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solidFill>
                <a:schemeClr val="tx1"/>
              </a:solidFill>
            </a:rPr>
            <a:t>At model launch, we programmatically designate a "not sooner than" retirement date.</a:t>
          </a:r>
        </a:p>
      </dsp:txBody>
      <dsp:txXfrm>
        <a:off x="61284" y="125664"/>
        <a:ext cx="10896269" cy="1132841"/>
      </dsp:txXfrm>
    </dsp:sp>
    <dsp:sp modelId="{82459C17-7294-45A2-95ED-C565822D7D41}">
      <dsp:nvSpPr>
        <dsp:cNvPr id="0" name=""/>
        <dsp:cNvSpPr/>
      </dsp:nvSpPr>
      <dsp:spPr>
        <a:xfrm>
          <a:off x="0" y="1319790"/>
          <a:ext cx="11018837" cy="855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9848"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US" sz="2300" kern="1200">
              <a:solidFill>
                <a:schemeClr val="tx1"/>
              </a:solidFill>
            </a:rPr>
            <a:t>For preview models, it's 90-120 days from launch</a:t>
          </a:r>
        </a:p>
        <a:p>
          <a:pPr marL="228600" lvl="1" indent="-228600" algn="l" defTabSz="1022350">
            <a:lnSpc>
              <a:spcPct val="90000"/>
            </a:lnSpc>
            <a:spcBef>
              <a:spcPct val="0"/>
            </a:spcBef>
            <a:spcAft>
              <a:spcPct val="20000"/>
            </a:spcAft>
            <a:buChar char="•"/>
          </a:pPr>
          <a:r>
            <a:rPr lang="en-US" sz="2300" kern="1200">
              <a:solidFill>
                <a:schemeClr val="tx1"/>
              </a:solidFill>
            </a:rPr>
            <a:t>For generally available (GA) models, it's 365 days from launch.</a:t>
          </a:r>
        </a:p>
      </dsp:txBody>
      <dsp:txXfrm>
        <a:off x="0" y="1319790"/>
        <a:ext cx="11018837" cy="855427"/>
      </dsp:txXfrm>
    </dsp:sp>
    <dsp:sp modelId="{7F1E7106-5902-4B9D-A63A-EA37741E8601}">
      <dsp:nvSpPr>
        <dsp:cNvPr id="0" name=""/>
        <dsp:cNvSpPr/>
      </dsp:nvSpPr>
      <dsp:spPr>
        <a:xfrm>
          <a:off x="0" y="2175217"/>
          <a:ext cx="11018837" cy="1255409"/>
        </a:xfrm>
        <a:prstGeom prst="roundRect">
          <a:avLst/>
        </a:prstGeom>
        <a:solidFill>
          <a:srgbClr val="CDCFD5"/>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solidFill>
                <a:schemeClr val="tx1"/>
              </a:solidFill>
            </a:rPr>
            <a:t>At least 60 days notice before model retirement for Generally Available (GA) models.</a:t>
          </a:r>
        </a:p>
      </dsp:txBody>
      <dsp:txXfrm>
        <a:off x="61284" y="2236501"/>
        <a:ext cx="10896269" cy="1132841"/>
      </dsp:txXfrm>
    </dsp:sp>
    <dsp:sp modelId="{F56C1687-8252-467A-84A4-6558B831EC99}">
      <dsp:nvSpPr>
        <dsp:cNvPr id="0" name=""/>
        <dsp:cNvSpPr/>
      </dsp:nvSpPr>
      <dsp:spPr>
        <a:xfrm>
          <a:off x="0" y="3514147"/>
          <a:ext cx="11018837" cy="1255409"/>
        </a:xfrm>
        <a:prstGeom prst="roundRect">
          <a:avLst/>
        </a:prstGeom>
        <a:solidFill>
          <a:srgbClr val="CDCFD5"/>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solidFill>
                <a:schemeClr val="tx1"/>
              </a:solidFill>
            </a:rPr>
            <a:t>At least 30 days notice before preview model version upgrades.</a:t>
          </a:r>
        </a:p>
      </dsp:txBody>
      <dsp:txXfrm>
        <a:off x="61284" y="3575431"/>
        <a:ext cx="10896269" cy="113284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D89BFB-E9A2-43DC-A644-C2842BAF69C8}">
      <dsp:nvSpPr>
        <dsp:cNvPr id="0" name=""/>
        <dsp:cNvSpPr/>
      </dsp:nvSpPr>
      <dsp:spPr>
        <a:xfrm>
          <a:off x="0" y="785514"/>
          <a:ext cx="11018837" cy="1450181"/>
        </a:xfrm>
        <a:prstGeom prst="roundRect">
          <a:avLst>
            <a:gd name="adj" fmla="val 10000"/>
          </a:avLst>
        </a:prstGeom>
        <a:solidFill>
          <a:srgbClr val="CDCFD5"/>
        </a:solidFill>
        <a:ln>
          <a:noFill/>
        </a:ln>
        <a:effectLst/>
      </dsp:spPr>
      <dsp:style>
        <a:lnRef idx="0">
          <a:scrgbClr r="0" g="0" b="0"/>
        </a:lnRef>
        <a:fillRef idx="1">
          <a:scrgbClr r="0" g="0" b="0"/>
        </a:fillRef>
        <a:effectRef idx="0">
          <a:scrgbClr r="0" g="0" b="0"/>
        </a:effectRef>
        <a:fontRef idx="minor"/>
      </dsp:style>
    </dsp:sp>
    <dsp:sp modelId="{7A5091D5-F4DF-4063-83B4-A2C896B3300A}">
      <dsp:nvSpPr>
        <dsp:cNvPr id="0" name=""/>
        <dsp:cNvSpPr/>
      </dsp:nvSpPr>
      <dsp:spPr>
        <a:xfrm>
          <a:off x="438679" y="1111805"/>
          <a:ext cx="797599" cy="79759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6D4DBE5-3964-4696-8389-8EB1457CAFB1}">
      <dsp:nvSpPr>
        <dsp:cNvPr id="0" name=""/>
        <dsp:cNvSpPr/>
      </dsp:nvSpPr>
      <dsp:spPr>
        <a:xfrm>
          <a:off x="1674959" y="785514"/>
          <a:ext cx="9343878" cy="1450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478" tIns="153478" rIns="153478" bIns="153478" numCol="1" spcCol="1270" anchor="ctr" anchorCtr="0">
          <a:noAutofit/>
        </a:bodyPr>
        <a:lstStyle/>
        <a:p>
          <a:pPr marL="0" lvl="0" indent="0" algn="l" defTabSz="1111250">
            <a:lnSpc>
              <a:spcPct val="90000"/>
            </a:lnSpc>
            <a:spcBef>
              <a:spcPct val="0"/>
            </a:spcBef>
            <a:spcAft>
              <a:spcPct val="35000"/>
            </a:spcAft>
            <a:buNone/>
          </a:pPr>
          <a:r>
            <a:rPr lang="en-US" sz="2500" b="1" kern="1200"/>
            <a:t>Azure Resource Health</a:t>
          </a:r>
          <a:r>
            <a:rPr lang="en-US" sz="2500" kern="1200"/>
            <a:t>: Anyone with reader permissions or higher can see Azure health alerts and configure personalized alerts via email and SMS. See </a:t>
          </a:r>
          <a:r>
            <a:rPr lang="en-US" sz="2500" kern="1200">
              <a:hlinkClick xmlns:r="http://schemas.openxmlformats.org/officeDocument/2006/relationships" r:id="rId2"/>
            </a:rPr>
            <a:t>Create Service Health alerts</a:t>
          </a:r>
          <a:r>
            <a:rPr lang="en-US" sz="2500" kern="1200"/>
            <a:t>.</a:t>
          </a:r>
        </a:p>
      </dsp:txBody>
      <dsp:txXfrm>
        <a:off x="1674959" y="785514"/>
        <a:ext cx="9343878" cy="1450181"/>
      </dsp:txXfrm>
    </dsp:sp>
    <dsp:sp modelId="{FF4B356F-90E6-4F34-9A23-3F645F23DCDF}">
      <dsp:nvSpPr>
        <dsp:cNvPr id="0" name=""/>
        <dsp:cNvSpPr/>
      </dsp:nvSpPr>
      <dsp:spPr>
        <a:xfrm>
          <a:off x="0" y="2598241"/>
          <a:ext cx="11018837" cy="145018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B7D0D8-98AD-432D-8BDC-F79CB80DE116}">
      <dsp:nvSpPr>
        <dsp:cNvPr id="0" name=""/>
        <dsp:cNvSpPr/>
      </dsp:nvSpPr>
      <dsp:spPr>
        <a:xfrm>
          <a:off x="438679" y="2924532"/>
          <a:ext cx="797599" cy="79759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D5BDFA-BB07-4F0A-ADC6-4F78CDB27B29}">
      <dsp:nvSpPr>
        <dsp:cNvPr id="0" name=""/>
        <dsp:cNvSpPr/>
      </dsp:nvSpPr>
      <dsp:spPr>
        <a:xfrm>
          <a:off x="1674959" y="2598241"/>
          <a:ext cx="9343878" cy="1450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478" tIns="153478" rIns="153478" bIns="153478" numCol="1" spcCol="1270" anchor="ctr" anchorCtr="0">
          <a:noAutofit/>
        </a:bodyPr>
        <a:lstStyle/>
        <a:p>
          <a:pPr marL="0" lvl="0" indent="0" algn="l" defTabSz="1111250">
            <a:lnSpc>
              <a:spcPct val="90000"/>
            </a:lnSpc>
            <a:spcBef>
              <a:spcPct val="0"/>
            </a:spcBef>
            <a:spcAft>
              <a:spcPct val="35000"/>
            </a:spcAft>
            <a:buNone/>
          </a:pPr>
          <a:r>
            <a:rPr lang="en-US" sz="2500" b="1" kern="1200"/>
            <a:t>Email</a:t>
          </a:r>
          <a:r>
            <a:rPr lang="en-US" sz="2500" kern="1200"/>
            <a:t>: Email notifications are automatically sent to subscription owners. However, any individual with reader permissions can configure their own alerts by following the previous guidance.</a:t>
          </a:r>
        </a:p>
      </dsp:txBody>
      <dsp:txXfrm>
        <a:off x="1674959" y="2598241"/>
        <a:ext cx="9343878" cy="145018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09D0F5-C0D8-4F7B-9483-67B2848038E8}">
      <dsp:nvSpPr>
        <dsp:cNvPr id="0" name=""/>
        <dsp:cNvSpPr/>
      </dsp:nvSpPr>
      <dsp:spPr>
        <a:xfrm>
          <a:off x="0" y="590"/>
          <a:ext cx="11018837" cy="138078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53AEF7-F1BA-4DF8-9E25-44B881EF8A9A}">
      <dsp:nvSpPr>
        <dsp:cNvPr id="0" name=""/>
        <dsp:cNvSpPr/>
      </dsp:nvSpPr>
      <dsp:spPr>
        <a:xfrm>
          <a:off x="417688" y="311267"/>
          <a:ext cx="759433" cy="759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9BABCA9-D18F-47F3-9D09-10898D6D0B66}">
      <dsp:nvSpPr>
        <dsp:cNvPr id="0" name=""/>
        <dsp:cNvSpPr/>
      </dsp:nvSpPr>
      <dsp:spPr>
        <a:xfrm>
          <a:off x="1594810" y="590"/>
          <a:ext cx="9424027" cy="138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33" tIns="146133" rIns="146133" bIns="146133" numCol="1" spcCol="1270" anchor="ctr" anchorCtr="0">
          <a:noAutofit/>
        </a:bodyPr>
        <a:lstStyle/>
        <a:p>
          <a:pPr marL="0" lvl="0" indent="0" algn="l" defTabSz="755650">
            <a:lnSpc>
              <a:spcPct val="90000"/>
            </a:lnSpc>
            <a:spcBef>
              <a:spcPct val="0"/>
            </a:spcBef>
            <a:spcAft>
              <a:spcPct val="35000"/>
            </a:spcAft>
            <a:buNone/>
          </a:pPr>
          <a:r>
            <a:rPr lang="en-US" sz="1700" kern="1200"/>
            <a:t>Not all model version combinations will be available in all regions.</a:t>
          </a:r>
        </a:p>
      </dsp:txBody>
      <dsp:txXfrm>
        <a:off x="1594810" y="590"/>
        <a:ext cx="9424027" cy="1380787"/>
      </dsp:txXfrm>
    </dsp:sp>
    <dsp:sp modelId="{20515932-C874-45A7-B633-F2889A9DDBF6}">
      <dsp:nvSpPr>
        <dsp:cNvPr id="0" name=""/>
        <dsp:cNvSpPr/>
      </dsp:nvSpPr>
      <dsp:spPr>
        <a:xfrm>
          <a:off x="0" y="1726575"/>
          <a:ext cx="11018837" cy="138078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96E2B0-8814-47E1-A0D3-BC7BA22A94B6}">
      <dsp:nvSpPr>
        <dsp:cNvPr id="0" name=""/>
        <dsp:cNvSpPr/>
      </dsp:nvSpPr>
      <dsp:spPr>
        <a:xfrm>
          <a:off x="417688" y="2037252"/>
          <a:ext cx="759433" cy="759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94503FA-961D-45D4-B714-BE2CCF130187}">
      <dsp:nvSpPr>
        <dsp:cNvPr id="0" name=""/>
        <dsp:cNvSpPr/>
      </dsp:nvSpPr>
      <dsp:spPr>
        <a:xfrm>
          <a:off x="1594810" y="1726575"/>
          <a:ext cx="9424027" cy="138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33" tIns="146133" rIns="146133" bIns="146133" numCol="1" spcCol="1270" anchor="ctr" anchorCtr="0">
          <a:noAutofit/>
        </a:bodyPr>
        <a:lstStyle/>
        <a:p>
          <a:pPr marL="0" lvl="0" indent="0" algn="l" defTabSz="755650">
            <a:lnSpc>
              <a:spcPct val="90000"/>
            </a:lnSpc>
            <a:spcBef>
              <a:spcPct val="0"/>
            </a:spcBef>
            <a:spcAft>
              <a:spcPct val="35000"/>
            </a:spcAft>
            <a:buNone/>
          </a:pPr>
          <a:r>
            <a:rPr lang="en-US" sz="1700" kern="1200"/>
            <a:t>Model version N and N+1 might not always be available in the same region.</a:t>
          </a:r>
        </a:p>
      </dsp:txBody>
      <dsp:txXfrm>
        <a:off x="1594810" y="1726575"/>
        <a:ext cx="9424027" cy="1380787"/>
      </dsp:txXfrm>
    </dsp:sp>
    <dsp:sp modelId="{089ADB93-BAB0-415E-B3B4-82106DA5264B}">
      <dsp:nvSpPr>
        <dsp:cNvPr id="0" name=""/>
        <dsp:cNvSpPr/>
      </dsp:nvSpPr>
      <dsp:spPr>
        <a:xfrm>
          <a:off x="0" y="3452559"/>
          <a:ext cx="11018837" cy="138078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38787E-87C5-46F5-8023-18A5E2A4E90D}">
      <dsp:nvSpPr>
        <dsp:cNvPr id="0" name=""/>
        <dsp:cNvSpPr/>
      </dsp:nvSpPr>
      <dsp:spPr>
        <a:xfrm>
          <a:off x="417688" y="3763237"/>
          <a:ext cx="759433" cy="759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5BA435C-FB16-4F17-BCC4-64C63FB10EBF}">
      <dsp:nvSpPr>
        <dsp:cNvPr id="0" name=""/>
        <dsp:cNvSpPr/>
      </dsp:nvSpPr>
      <dsp:spPr>
        <a:xfrm>
          <a:off x="1594810" y="3452559"/>
          <a:ext cx="9424027" cy="138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33" tIns="146133" rIns="146133" bIns="146133" numCol="1" spcCol="1270" anchor="ctr" anchorCtr="0">
          <a:noAutofit/>
        </a:bodyPr>
        <a:lstStyle/>
        <a:p>
          <a:pPr marL="0" lvl="0" indent="0" algn="l" defTabSz="755650">
            <a:lnSpc>
              <a:spcPct val="90000"/>
            </a:lnSpc>
            <a:spcBef>
              <a:spcPct val="0"/>
            </a:spcBef>
            <a:spcAft>
              <a:spcPct val="35000"/>
            </a:spcAft>
            <a:buNone/>
          </a:pPr>
          <a:r>
            <a:rPr lang="en-US" sz="1700" kern="1200"/>
            <a:t>A GA model version N might upgrade to a future model version N+X in some regions based on capacity limitations, and without the new model version N+X separately being available to test in the same region. The new model version will be available to test in other regions before any upgrades are scheduled.</a:t>
          </a:r>
        </a:p>
      </dsp:txBody>
      <dsp:txXfrm>
        <a:off x="1594810" y="3452559"/>
        <a:ext cx="9424027" cy="138078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E4D887-40C6-404B-A08F-5D2B770EBC25}">
      <dsp:nvSpPr>
        <dsp:cNvPr id="0" name=""/>
        <dsp:cNvSpPr/>
      </dsp:nvSpPr>
      <dsp:spPr>
        <a:xfrm>
          <a:off x="0" y="590"/>
          <a:ext cx="11018837" cy="138078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5356D3-B6B8-4D6A-BA5F-D83E894EA1E5}">
      <dsp:nvSpPr>
        <dsp:cNvPr id="0" name=""/>
        <dsp:cNvSpPr/>
      </dsp:nvSpPr>
      <dsp:spPr>
        <a:xfrm>
          <a:off x="417688" y="311267"/>
          <a:ext cx="759433" cy="759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C05BCD-7EBB-4F1E-95B5-E8C5EF3885C8}">
      <dsp:nvSpPr>
        <dsp:cNvPr id="0" name=""/>
        <dsp:cNvSpPr/>
      </dsp:nvSpPr>
      <dsp:spPr>
        <a:xfrm>
          <a:off x="1594810" y="590"/>
          <a:ext cx="9424027" cy="138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33" tIns="146133" rIns="146133" bIns="146133" numCol="1" spcCol="1270" anchor="ctr" anchorCtr="0">
          <a:noAutofit/>
        </a:bodyPr>
        <a:lstStyle/>
        <a:p>
          <a:pPr marL="0" lvl="0" indent="0" algn="l" defTabSz="800100">
            <a:lnSpc>
              <a:spcPct val="90000"/>
            </a:lnSpc>
            <a:spcBef>
              <a:spcPct val="0"/>
            </a:spcBef>
            <a:spcAft>
              <a:spcPct val="35000"/>
            </a:spcAft>
            <a:buNone/>
          </a:pPr>
          <a:r>
            <a:rPr lang="en-US" sz="1800" kern="1200"/>
            <a:t>Preview model versions and GA versions of the same model won't always be available to test together in the same region. There will be preview and GA versions available to test in different regions.</a:t>
          </a:r>
        </a:p>
      </dsp:txBody>
      <dsp:txXfrm>
        <a:off x="1594810" y="590"/>
        <a:ext cx="9424027" cy="1380787"/>
      </dsp:txXfrm>
    </dsp:sp>
    <dsp:sp modelId="{9A2F9105-7323-422F-9C8A-A146FD1C8DB7}">
      <dsp:nvSpPr>
        <dsp:cNvPr id="0" name=""/>
        <dsp:cNvSpPr/>
      </dsp:nvSpPr>
      <dsp:spPr>
        <a:xfrm>
          <a:off x="0" y="1726575"/>
          <a:ext cx="11018837" cy="138078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377C14-7098-4AA5-B6E1-7274B30730F3}">
      <dsp:nvSpPr>
        <dsp:cNvPr id="0" name=""/>
        <dsp:cNvSpPr/>
      </dsp:nvSpPr>
      <dsp:spPr>
        <a:xfrm>
          <a:off x="417688" y="2037252"/>
          <a:ext cx="759433" cy="759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A75E94E-C3C4-4BBC-ACD6-7FC63E059B99}">
      <dsp:nvSpPr>
        <dsp:cNvPr id="0" name=""/>
        <dsp:cNvSpPr/>
      </dsp:nvSpPr>
      <dsp:spPr>
        <a:xfrm>
          <a:off x="1594810" y="1726575"/>
          <a:ext cx="9424027" cy="138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33" tIns="146133" rIns="146133" bIns="146133" numCol="1" spcCol="1270" anchor="ctr" anchorCtr="0">
          <a:noAutofit/>
        </a:bodyPr>
        <a:lstStyle/>
        <a:p>
          <a:pPr marL="0" lvl="0" indent="0" algn="l" defTabSz="800100">
            <a:lnSpc>
              <a:spcPct val="90000"/>
            </a:lnSpc>
            <a:spcBef>
              <a:spcPct val="0"/>
            </a:spcBef>
            <a:spcAft>
              <a:spcPct val="35000"/>
            </a:spcAft>
            <a:buNone/>
          </a:pPr>
          <a:r>
            <a:rPr lang="en-US" sz="1800" kern="1200"/>
            <a:t>We reserve the right to limit future customers' use of a particular region to balance service quality for existing customers.</a:t>
          </a:r>
        </a:p>
      </dsp:txBody>
      <dsp:txXfrm>
        <a:off x="1594810" y="1726575"/>
        <a:ext cx="9424027" cy="1380787"/>
      </dsp:txXfrm>
    </dsp:sp>
    <dsp:sp modelId="{636AC9AB-1351-40CF-BA90-4486DC72F93D}">
      <dsp:nvSpPr>
        <dsp:cNvPr id="0" name=""/>
        <dsp:cNvSpPr/>
      </dsp:nvSpPr>
      <dsp:spPr>
        <a:xfrm>
          <a:off x="0" y="3452559"/>
          <a:ext cx="11018837" cy="138078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419ACB-F05F-4C0E-9B6B-F207382C138D}">
      <dsp:nvSpPr>
        <dsp:cNvPr id="0" name=""/>
        <dsp:cNvSpPr/>
      </dsp:nvSpPr>
      <dsp:spPr>
        <a:xfrm>
          <a:off x="417688" y="3763237"/>
          <a:ext cx="759433" cy="759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545F22-0467-48E9-8A1D-B66B95F748FD}">
      <dsp:nvSpPr>
        <dsp:cNvPr id="0" name=""/>
        <dsp:cNvSpPr/>
      </dsp:nvSpPr>
      <dsp:spPr>
        <a:xfrm>
          <a:off x="1594810" y="3452559"/>
          <a:ext cx="9424027" cy="138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33" tIns="146133" rIns="146133" bIns="146133" numCol="1" spcCol="1270" anchor="ctr" anchorCtr="0">
          <a:noAutofit/>
        </a:bodyPr>
        <a:lstStyle/>
        <a:p>
          <a:pPr marL="0" lvl="0" indent="0" algn="l" defTabSz="800100">
            <a:lnSpc>
              <a:spcPct val="90000"/>
            </a:lnSpc>
            <a:spcBef>
              <a:spcPct val="0"/>
            </a:spcBef>
            <a:spcAft>
              <a:spcPct val="35000"/>
            </a:spcAft>
            <a:buNone/>
          </a:pPr>
          <a:r>
            <a:rPr lang="en-US" sz="1800" kern="1200"/>
            <a:t>As always at Microsoft, security is of the utmost importance. If a model or model version is found to have compliance or security issues, we reserve the right to invoke the need to do emergency retirements. Refer to the terms of service for more information.</a:t>
          </a:r>
        </a:p>
      </dsp:txBody>
      <dsp:txXfrm>
        <a:off x="1594810" y="3452559"/>
        <a:ext cx="9424027" cy="138078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86E7A0-CD7C-451D-8327-DF872CAF7EED}">
      <dsp:nvSpPr>
        <dsp:cNvPr id="0" name=""/>
        <dsp:cNvSpPr/>
      </dsp:nvSpPr>
      <dsp:spPr>
        <a:xfrm>
          <a:off x="0" y="590"/>
          <a:ext cx="11018837" cy="138078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D41DCB-E9C0-42C4-A6EB-E912122BFCBA}">
      <dsp:nvSpPr>
        <dsp:cNvPr id="0" name=""/>
        <dsp:cNvSpPr/>
      </dsp:nvSpPr>
      <dsp:spPr>
        <a:xfrm>
          <a:off x="417688" y="311267"/>
          <a:ext cx="759433" cy="759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6FC676A-14BF-4126-9F73-6FA84624F6A2}">
      <dsp:nvSpPr>
        <dsp:cNvPr id="0" name=""/>
        <dsp:cNvSpPr/>
      </dsp:nvSpPr>
      <dsp:spPr>
        <a:xfrm>
          <a:off x="1594810" y="590"/>
          <a:ext cx="9424027" cy="138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33" tIns="146133" rIns="146133" bIns="146133" numCol="1" spcCol="1270" anchor="ctr" anchorCtr="0">
          <a:noAutofit/>
        </a:bodyPr>
        <a:lstStyle/>
        <a:p>
          <a:pPr marL="0" lvl="0" indent="0" algn="l" defTabSz="1022350">
            <a:lnSpc>
              <a:spcPct val="90000"/>
            </a:lnSpc>
            <a:spcBef>
              <a:spcPct val="0"/>
            </a:spcBef>
            <a:spcAft>
              <a:spcPct val="35000"/>
            </a:spcAft>
            <a:buNone/>
          </a:pPr>
          <a:r>
            <a:rPr lang="en-US" sz="2300" kern="1200"/>
            <a:t>Global standard deployments aren't available in government clouds.</a:t>
          </a:r>
        </a:p>
      </dsp:txBody>
      <dsp:txXfrm>
        <a:off x="1594810" y="590"/>
        <a:ext cx="9424027" cy="1380787"/>
      </dsp:txXfrm>
    </dsp:sp>
    <dsp:sp modelId="{001FE163-1361-4175-84FD-5B266262C2CB}">
      <dsp:nvSpPr>
        <dsp:cNvPr id="0" name=""/>
        <dsp:cNvSpPr/>
      </dsp:nvSpPr>
      <dsp:spPr>
        <a:xfrm>
          <a:off x="0" y="1726575"/>
          <a:ext cx="11018837" cy="138078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7AC624-E774-4D5B-BD9F-8D4E91D9FBCB}">
      <dsp:nvSpPr>
        <dsp:cNvPr id="0" name=""/>
        <dsp:cNvSpPr/>
      </dsp:nvSpPr>
      <dsp:spPr>
        <a:xfrm>
          <a:off x="417688" y="2037252"/>
          <a:ext cx="759433" cy="759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466782-D5D9-4D35-980B-96ADCED5A6FD}">
      <dsp:nvSpPr>
        <dsp:cNvPr id="0" name=""/>
        <dsp:cNvSpPr/>
      </dsp:nvSpPr>
      <dsp:spPr>
        <a:xfrm>
          <a:off x="1594810" y="1726575"/>
          <a:ext cx="9424027" cy="138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33" tIns="146133" rIns="146133" bIns="146133" numCol="1" spcCol="1270" anchor="ctr" anchorCtr="0">
          <a:noAutofit/>
        </a:bodyPr>
        <a:lstStyle/>
        <a:p>
          <a:pPr marL="0" lvl="0" indent="0" algn="l" defTabSz="1022350">
            <a:lnSpc>
              <a:spcPct val="90000"/>
            </a:lnSpc>
            <a:spcBef>
              <a:spcPct val="0"/>
            </a:spcBef>
            <a:spcAft>
              <a:spcPct val="35000"/>
            </a:spcAft>
            <a:buNone/>
          </a:pPr>
          <a:r>
            <a:rPr lang="en-US" sz="2300" kern="1200"/>
            <a:t>Not all models or model versions available in commercial and public clouds will be available in government clouds.</a:t>
          </a:r>
        </a:p>
      </dsp:txBody>
      <dsp:txXfrm>
        <a:off x="1594810" y="1726575"/>
        <a:ext cx="9424027" cy="1380787"/>
      </dsp:txXfrm>
    </dsp:sp>
    <dsp:sp modelId="{DC023850-30B4-497E-84E6-5B48972797DB}">
      <dsp:nvSpPr>
        <dsp:cNvPr id="0" name=""/>
        <dsp:cNvSpPr/>
      </dsp:nvSpPr>
      <dsp:spPr>
        <a:xfrm>
          <a:off x="0" y="3452559"/>
          <a:ext cx="11018837" cy="138078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35565C-507E-4B0F-BCD6-4BD06622C7EF}">
      <dsp:nvSpPr>
        <dsp:cNvPr id="0" name=""/>
        <dsp:cNvSpPr/>
      </dsp:nvSpPr>
      <dsp:spPr>
        <a:xfrm>
          <a:off x="417688" y="3763237"/>
          <a:ext cx="759433" cy="759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44F7C15-5CB9-4FCC-A134-01D3902B76D1}">
      <dsp:nvSpPr>
        <dsp:cNvPr id="0" name=""/>
        <dsp:cNvSpPr/>
      </dsp:nvSpPr>
      <dsp:spPr>
        <a:xfrm>
          <a:off x="1594810" y="3452559"/>
          <a:ext cx="9424027" cy="138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33" tIns="146133" rIns="146133" bIns="146133" numCol="1" spcCol="1270" anchor="ctr" anchorCtr="0">
          <a:noAutofit/>
        </a:bodyPr>
        <a:lstStyle/>
        <a:p>
          <a:pPr marL="0" lvl="0" indent="0" algn="l" defTabSz="1022350">
            <a:lnSpc>
              <a:spcPct val="90000"/>
            </a:lnSpc>
            <a:spcBef>
              <a:spcPct val="0"/>
            </a:spcBef>
            <a:spcAft>
              <a:spcPct val="35000"/>
            </a:spcAft>
            <a:buNone/>
          </a:pPr>
          <a:r>
            <a:rPr lang="en-US" sz="2300" kern="1200"/>
            <a:t>In Azure Government clouds, we intend to support only one version of a given model at a time. For example, only one version of gpt-35-turbo 0125 and gpt-4o (2024-05-13).</a:t>
          </a:r>
        </a:p>
      </dsp:txBody>
      <dsp:txXfrm>
        <a:off x="1594810" y="3452559"/>
        <a:ext cx="9424027" cy="138078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91A1B0-FC8C-4546-BD94-39B924331175}">
      <dsp:nvSpPr>
        <dsp:cNvPr id="0" name=""/>
        <dsp:cNvSpPr/>
      </dsp:nvSpPr>
      <dsp:spPr>
        <a:xfrm>
          <a:off x="0" y="590"/>
          <a:ext cx="11018837" cy="138078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0C4D88-0A9D-471C-AF78-1ED9594F8826}">
      <dsp:nvSpPr>
        <dsp:cNvPr id="0" name=""/>
        <dsp:cNvSpPr/>
      </dsp:nvSpPr>
      <dsp:spPr>
        <a:xfrm>
          <a:off x="417688" y="311267"/>
          <a:ext cx="759433" cy="759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B6D7F2E-E36D-4AFD-8C52-45E2B3907396}">
      <dsp:nvSpPr>
        <dsp:cNvPr id="0" name=""/>
        <dsp:cNvSpPr/>
      </dsp:nvSpPr>
      <dsp:spPr>
        <a:xfrm>
          <a:off x="1594810" y="590"/>
          <a:ext cx="9424027" cy="138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33" tIns="146133" rIns="146133" bIns="146133" numCol="1" spcCol="1270" anchor="ctr" anchorCtr="0">
          <a:noAutofit/>
        </a:bodyPr>
        <a:lstStyle/>
        <a:p>
          <a:pPr marL="0" lvl="0" indent="0" algn="l" defTabSz="711200">
            <a:lnSpc>
              <a:spcPct val="100000"/>
            </a:lnSpc>
            <a:spcBef>
              <a:spcPct val="0"/>
            </a:spcBef>
            <a:spcAft>
              <a:spcPct val="35000"/>
            </a:spcAft>
            <a:buNone/>
          </a:pPr>
          <a:r>
            <a:rPr lang="en-US" sz="1600" kern="1200"/>
            <a:t>To prepare for model retirements and version upgrades, we recommend that customers test their applications with the new models and versions and evaluate their behavior. We also recommend that customers update their applications to use the new models and versions before the retirement date.</a:t>
          </a:r>
        </a:p>
      </dsp:txBody>
      <dsp:txXfrm>
        <a:off x="1594810" y="590"/>
        <a:ext cx="9424027" cy="1380787"/>
      </dsp:txXfrm>
    </dsp:sp>
    <dsp:sp modelId="{C667D5FD-D76D-4CCC-B6F3-97F6CD46FCF0}">
      <dsp:nvSpPr>
        <dsp:cNvPr id="0" name=""/>
        <dsp:cNvSpPr/>
      </dsp:nvSpPr>
      <dsp:spPr>
        <a:xfrm>
          <a:off x="0" y="1726575"/>
          <a:ext cx="11018837" cy="138078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B0A600-D136-415B-B085-1845B28BC932}">
      <dsp:nvSpPr>
        <dsp:cNvPr id="0" name=""/>
        <dsp:cNvSpPr/>
      </dsp:nvSpPr>
      <dsp:spPr>
        <a:xfrm>
          <a:off x="417688" y="2037252"/>
          <a:ext cx="759433" cy="759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56EE66A-5481-484E-A097-4E02689CE562}">
      <dsp:nvSpPr>
        <dsp:cNvPr id="0" name=""/>
        <dsp:cNvSpPr/>
      </dsp:nvSpPr>
      <dsp:spPr>
        <a:xfrm>
          <a:off x="1594810" y="1726575"/>
          <a:ext cx="9424027" cy="138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33" tIns="146133" rIns="146133" bIns="146133" numCol="1" spcCol="1270" anchor="ctr" anchorCtr="0">
          <a:noAutofit/>
        </a:bodyPr>
        <a:lstStyle/>
        <a:p>
          <a:pPr marL="0" lvl="0" indent="0" algn="l" defTabSz="711200">
            <a:lnSpc>
              <a:spcPct val="100000"/>
            </a:lnSpc>
            <a:spcBef>
              <a:spcPct val="0"/>
            </a:spcBef>
            <a:spcAft>
              <a:spcPct val="35000"/>
            </a:spcAft>
            <a:buNone/>
          </a:pPr>
          <a:r>
            <a:rPr lang="en-US" sz="1600" kern="1200"/>
            <a:t>For more information on the model evaluation process, see the Getting started with model evaluation blog post.</a:t>
          </a:r>
        </a:p>
      </dsp:txBody>
      <dsp:txXfrm>
        <a:off x="1594810" y="1726575"/>
        <a:ext cx="9424027" cy="1380787"/>
      </dsp:txXfrm>
    </dsp:sp>
    <dsp:sp modelId="{CA365CED-C7E4-46FC-8525-418C0C836EB4}">
      <dsp:nvSpPr>
        <dsp:cNvPr id="0" name=""/>
        <dsp:cNvSpPr/>
      </dsp:nvSpPr>
      <dsp:spPr>
        <a:xfrm>
          <a:off x="0" y="3452559"/>
          <a:ext cx="11018837" cy="138078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8AE4DC-A3CD-4E27-BA8A-CF66AFFABFAF}">
      <dsp:nvSpPr>
        <dsp:cNvPr id="0" name=""/>
        <dsp:cNvSpPr/>
      </dsp:nvSpPr>
      <dsp:spPr>
        <a:xfrm>
          <a:off x="417688" y="3763237"/>
          <a:ext cx="759433" cy="759433"/>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181A493-05DB-4ACE-A949-D58FD74B6BE2}">
      <dsp:nvSpPr>
        <dsp:cNvPr id="0" name=""/>
        <dsp:cNvSpPr/>
      </dsp:nvSpPr>
      <dsp:spPr>
        <a:xfrm>
          <a:off x="1594810" y="3452559"/>
          <a:ext cx="9424027" cy="138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33" tIns="146133" rIns="146133" bIns="146133" numCol="1" spcCol="1270" anchor="ctr" anchorCtr="0">
          <a:noAutofit/>
        </a:bodyPr>
        <a:lstStyle/>
        <a:p>
          <a:pPr marL="0" lvl="0" indent="0" algn="l" defTabSz="711200">
            <a:lnSpc>
              <a:spcPct val="100000"/>
            </a:lnSpc>
            <a:spcBef>
              <a:spcPct val="0"/>
            </a:spcBef>
            <a:spcAft>
              <a:spcPct val="35000"/>
            </a:spcAft>
            <a:buNone/>
          </a:pPr>
          <a:r>
            <a:rPr lang="en-US" sz="1600" kern="1200"/>
            <a:t>Not all models go through a deprecation period before retirement. Some models or versions only have a retirement date.</a:t>
          </a:r>
        </a:p>
      </dsp:txBody>
      <dsp:txXfrm>
        <a:off x="1594810" y="3452559"/>
        <a:ext cx="9424027" cy="138078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E2D5B0-44D9-441C-9C1C-F6F7734F3E14}">
      <dsp:nvSpPr>
        <dsp:cNvPr id="0" name=""/>
        <dsp:cNvSpPr/>
      </dsp:nvSpPr>
      <dsp:spPr>
        <a:xfrm>
          <a:off x="0" y="0"/>
          <a:ext cx="11018837"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689589-5F71-4BD2-8971-B0D719CF27ED}">
      <dsp:nvSpPr>
        <dsp:cNvPr id="0" name=""/>
        <dsp:cNvSpPr/>
      </dsp:nvSpPr>
      <dsp:spPr>
        <a:xfrm>
          <a:off x="0" y="0"/>
          <a:ext cx="11018837" cy="1208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Fine-tuned models are subject to a </a:t>
          </a:r>
          <a:r>
            <a:rPr lang="en-US" sz="2200" b="1" u="sng" kern="1200">
              <a:hlinkClick xmlns:r="http://schemas.openxmlformats.org/officeDocument/2006/relationships" r:id="rId1"/>
            </a:rPr>
            <a:t>different</a:t>
          </a:r>
          <a:r>
            <a:rPr lang="en-US" sz="2200" kern="1200"/>
            <a:t> deprecation and retirement schedule from their equivalent base model.</a:t>
          </a:r>
        </a:p>
      </dsp:txBody>
      <dsp:txXfrm>
        <a:off x="0" y="0"/>
        <a:ext cx="11018837" cy="1208484"/>
      </dsp:txXfrm>
    </dsp:sp>
    <dsp:sp modelId="{C307F819-32B5-41A6-B80B-0436BB2C330C}">
      <dsp:nvSpPr>
        <dsp:cNvPr id="0" name=""/>
        <dsp:cNvSpPr/>
      </dsp:nvSpPr>
      <dsp:spPr>
        <a:xfrm>
          <a:off x="0" y="1208484"/>
          <a:ext cx="11018837"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3EFB98-EECE-41C1-B500-0FEC576266CA}">
      <dsp:nvSpPr>
        <dsp:cNvPr id="0" name=""/>
        <dsp:cNvSpPr/>
      </dsp:nvSpPr>
      <dsp:spPr>
        <a:xfrm>
          <a:off x="0" y="1208484"/>
          <a:ext cx="11018837" cy="1208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Fine-tuned models retire in two phases: training and deployment.</a:t>
          </a:r>
        </a:p>
      </dsp:txBody>
      <dsp:txXfrm>
        <a:off x="0" y="1208484"/>
        <a:ext cx="11018837" cy="1208484"/>
      </dsp:txXfrm>
    </dsp:sp>
    <dsp:sp modelId="{5F4E8C66-1427-4907-B829-0539E5E6F98A}">
      <dsp:nvSpPr>
        <dsp:cNvPr id="0" name=""/>
        <dsp:cNvSpPr/>
      </dsp:nvSpPr>
      <dsp:spPr>
        <a:xfrm>
          <a:off x="0" y="2416969"/>
          <a:ext cx="11018837"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7DA429-E5B3-477F-AA36-E46B1B0C6537}">
      <dsp:nvSpPr>
        <dsp:cNvPr id="0" name=""/>
        <dsp:cNvSpPr/>
      </dsp:nvSpPr>
      <dsp:spPr>
        <a:xfrm>
          <a:off x="0" y="2416969"/>
          <a:ext cx="11018837" cy="1208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Unless explicitly stated, training retires no earlier than the base model retirement date. After a model is retired for training, it's no longer available for fine-tuning but any models you've trained remain available for deployment.</a:t>
          </a:r>
        </a:p>
      </dsp:txBody>
      <dsp:txXfrm>
        <a:off x="0" y="2416969"/>
        <a:ext cx="11018837" cy="1208484"/>
      </dsp:txXfrm>
    </dsp:sp>
    <dsp:sp modelId="{7D30B3F6-5EBD-4C26-9A13-FA4B52771B14}">
      <dsp:nvSpPr>
        <dsp:cNvPr id="0" name=""/>
        <dsp:cNvSpPr/>
      </dsp:nvSpPr>
      <dsp:spPr>
        <a:xfrm>
          <a:off x="0" y="3625453"/>
          <a:ext cx="11018837"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A38530-A6CD-420D-BD97-0BB83F2F6AC3}">
      <dsp:nvSpPr>
        <dsp:cNvPr id="0" name=""/>
        <dsp:cNvSpPr/>
      </dsp:nvSpPr>
      <dsp:spPr>
        <a:xfrm>
          <a:off x="0" y="3625453"/>
          <a:ext cx="11018837" cy="1208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At deployment retirement, inference and deployment return error responses.</a:t>
          </a:r>
        </a:p>
      </dsp:txBody>
      <dsp:txXfrm>
        <a:off x="0" y="3625453"/>
        <a:ext cx="11018837" cy="120848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EDAE8E-F5D8-468D-8170-DCF90F6461E5}">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D1C7D7-3D5E-43CE-9713-67DDBED6C967}">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7DCB69-3D0C-4B8B-83A9-EF784C56F0C7}">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a:t>Azure OpenAI supports automatic updates for select model deployments. On models where automatic update support is available, a model version upgrade policy drop-down is available</a:t>
          </a:r>
        </a:p>
      </dsp:txBody>
      <dsp:txXfrm>
        <a:off x="1435590" y="531"/>
        <a:ext cx="9080009" cy="1242935"/>
      </dsp:txXfrm>
    </dsp:sp>
    <dsp:sp modelId="{D828625D-57E6-4758-9FE2-4AA6EC24D553}">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67D572-ADD8-4A57-881E-D39EEA7F1C8F}">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B1DFB3-1B25-47DD-BBD8-A4D6C79A1FB0}">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a:t>Automatic model updates are only supported for Standard deployment types</a:t>
          </a:r>
        </a:p>
      </dsp:txBody>
      <dsp:txXfrm>
        <a:off x="1435590" y="1554201"/>
        <a:ext cx="9080009" cy="1242935"/>
      </dsp:txXfrm>
    </dsp:sp>
    <dsp:sp modelId="{3DB0E05F-3B58-4E9C-B14D-07BAFFBF9E16}">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C9288A-16B9-4EF8-9732-5EB4C0E7AD4D}">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02D5E1-0EAF-4FFD-9E4A-2083DCE3D733}">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a:t>Update policies are configured per deployment and </a:t>
          </a:r>
          <a:r>
            <a:rPr lang="en-US" sz="2100" b="1" kern="1200"/>
            <a:t>vary</a:t>
          </a:r>
          <a:r>
            <a:rPr lang="en-US" sz="2100" kern="1200"/>
            <a:t> by model and provider.</a:t>
          </a:r>
        </a:p>
      </dsp:txBody>
      <dsp:txXfrm>
        <a:off x="1435590" y="3107870"/>
        <a:ext cx="9080009" cy="124293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90872-3EF6-402F-A038-44BF2260DDA3}">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585387-353F-47FC-B505-4FEB1BB25A9D}">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56566F-5924-4CB4-9820-19465FCDAB9E}">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Deployments set to Auto-update to default automatically update to use the new default version.</a:t>
          </a:r>
        </a:p>
      </dsp:txBody>
      <dsp:txXfrm>
        <a:off x="1435590" y="531"/>
        <a:ext cx="9080009" cy="1242935"/>
      </dsp:txXfrm>
    </dsp:sp>
    <dsp:sp modelId="{678EB14C-BF29-4B1B-9D42-CF0A8C5B51CA}">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E99E50-D0F1-4F91-8ED1-8996211F0332}">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5434D1-98E7-4D68-AF06-CC8198752258}">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Deployments set to Upgrade when expired automatically update when its current version is retired.</a:t>
          </a:r>
        </a:p>
      </dsp:txBody>
      <dsp:txXfrm>
        <a:off x="1435590" y="1554201"/>
        <a:ext cx="9080009" cy="1242935"/>
      </dsp:txXfrm>
    </dsp:sp>
    <dsp:sp modelId="{BD60BB15-58B5-4888-AD23-D8BACB93588A}">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40A0CD-4580-4421-9B06-3F56AEFF217C}">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111449-13B1-47C2-B3A2-0162061C8906}">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Deployments that are set to No Auto Upgrade stop working when the model is retired.</a:t>
          </a:r>
        </a:p>
      </dsp:txBody>
      <dsp:txXfrm>
        <a:off x="1435590" y="3107870"/>
        <a:ext cx="9080009" cy="124293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861594-C97C-49B9-B236-B05319D4352E}">
      <dsp:nvSpPr>
        <dsp:cNvPr id="0" name=""/>
        <dsp:cNvSpPr/>
      </dsp:nvSpPr>
      <dsp:spPr>
        <a:xfrm>
          <a:off x="0" y="707092"/>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DF354C-6CAE-4C36-A883-5529804803CE}">
      <dsp:nvSpPr>
        <dsp:cNvPr id="0" name=""/>
        <dsp:cNvSpPr/>
      </dsp:nvSpPr>
      <dsp:spPr>
        <a:xfrm>
          <a:off x="394883" y="1000807"/>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34747C-0D99-43D3-97FA-821A51A0F87C}">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711200">
            <a:lnSpc>
              <a:spcPct val="100000"/>
            </a:lnSpc>
            <a:spcBef>
              <a:spcPct val="0"/>
            </a:spcBef>
            <a:spcAft>
              <a:spcPct val="35000"/>
            </a:spcAft>
            <a:buNone/>
          </a:pPr>
          <a:r>
            <a:rPr lang="en-US" sz="1600" kern="1200"/>
            <a:t>When you set your deployment to Auto-update to default, your model deployment is automatically updated within two weeks of a change in the default version. For a preview version, it updates automatically when a new preview version is available starting two weeks after the new preview version is released.</a:t>
          </a:r>
        </a:p>
      </dsp:txBody>
      <dsp:txXfrm>
        <a:off x="1507738" y="707092"/>
        <a:ext cx="9007861" cy="1305401"/>
      </dsp:txXfrm>
    </dsp:sp>
    <dsp:sp modelId="{AE72761B-0C22-4258-8664-D659C9E07649}">
      <dsp:nvSpPr>
        <dsp:cNvPr id="0" name=""/>
        <dsp:cNvSpPr/>
      </dsp:nvSpPr>
      <dsp:spPr>
        <a:xfrm>
          <a:off x="0" y="2338844"/>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C4491F-AD0B-49AC-800B-09280B8339B2}">
      <dsp:nvSpPr>
        <dsp:cNvPr id="0" name=""/>
        <dsp:cNvSpPr/>
      </dsp:nvSpPr>
      <dsp:spPr>
        <a:xfrm>
          <a:off x="394883" y="2632559"/>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B10A81-216C-4E8E-AAD3-470BB02DC2E0}">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711200">
            <a:lnSpc>
              <a:spcPct val="100000"/>
            </a:lnSpc>
            <a:spcBef>
              <a:spcPct val="0"/>
            </a:spcBef>
            <a:spcAft>
              <a:spcPct val="35000"/>
            </a:spcAft>
            <a:buNone/>
          </a:pPr>
          <a:r>
            <a:rPr lang="en-US" sz="1600" kern="1200"/>
            <a:t>If you're still in the early testing phases for inference models, we recommend deploying models with auto-update to default set whenever it's available.</a:t>
          </a:r>
        </a:p>
      </dsp:txBody>
      <dsp:txXfrm>
        <a:off x="1507738" y="2338844"/>
        <a:ext cx="9007861" cy="130540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A1C29-E41E-4DFD-A6CA-D8B533E35EC2}">
      <dsp:nvSpPr>
        <dsp:cNvPr id="0" name=""/>
        <dsp:cNvSpPr/>
      </dsp:nvSpPr>
      <dsp:spPr>
        <a:xfrm>
          <a:off x="0" y="707092"/>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BD9CCB-BBE8-49D6-ACC2-C0647F26B613}">
      <dsp:nvSpPr>
        <dsp:cNvPr id="0" name=""/>
        <dsp:cNvSpPr/>
      </dsp:nvSpPr>
      <dsp:spPr>
        <a:xfrm>
          <a:off x="394883" y="1000807"/>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C961FA-53B6-4006-B959-BE3B6102C661}">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711200">
            <a:lnSpc>
              <a:spcPct val="100000"/>
            </a:lnSpc>
            <a:spcBef>
              <a:spcPct val="0"/>
            </a:spcBef>
            <a:spcAft>
              <a:spcPct val="35000"/>
            </a:spcAft>
            <a:buNone/>
          </a:pPr>
          <a:r>
            <a:rPr lang="en-US" sz="1600" kern="1200"/>
            <a:t>As your use of Azure OpenAI evolves, and you start to build and integrate with applications you might want to manually control model updates. You can first test and validate that your application behavior is consistent for your use case before upgrading.</a:t>
          </a:r>
        </a:p>
      </dsp:txBody>
      <dsp:txXfrm>
        <a:off x="1507738" y="707092"/>
        <a:ext cx="9007861" cy="1305401"/>
      </dsp:txXfrm>
    </dsp:sp>
    <dsp:sp modelId="{CF7187D7-396A-4932-9C0B-7160596E9E49}">
      <dsp:nvSpPr>
        <dsp:cNvPr id="0" name=""/>
        <dsp:cNvSpPr/>
      </dsp:nvSpPr>
      <dsp:spPr>
        <a:xfrm>
          <a:off x="0" y="2338844"/>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214B09-9B20-4C69-89EA-2D16010CF2CD}">
      <dsp:nvSpPr>
        <dsp:cNvPr id="0" name=""/>
        <dsp:cNvSpPr/>
      </dsp:nvSpPr>
      <dsp:spPr>
        <a:xfrm>
          <a:off x="394883" y="2632559"/>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0F9495-C16E-45AA-B450-CFDB017F241F}">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711200">
            <a:lnSpc>
              <a:spcPct val="100000"/>
            </a:lnSpc>
            <a:spcBef>
              <a:spcPct val="0"/>
            </a:spcBef>
            <a:spcAft>
              <a:spcPct val="35000"/>
            </a:spcAft>
            <a:buNone/>
          </a:pPr>
          <a:r>
            <a:rPr lang="en-US" sz="1600" kern="1200"/>
            <a:t>When you select a specific model version for a deployment, this version remains selected until you either choose to manually update yourself, or once you reach the retirement date for the model. When the retirement date is reached the model will automatically upgrade to the default version at the time of retirement.</a:t>
          </a:r>
        </a:p>
      </dsp:txBody>
      <dsp:txXfrm>
        <a:off x="1507738" y="2338844"/>
        <a:ext cx="9007861" cy="1305401"/>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C44A6-5B14-4066-90F0-3D693E73E591}">
      <dsp:nvSpPr>
        <dsp:cNvPr id="0" name=""/>
        <dsp:cNvSpPr/>
      </dsp:nvSpPr>
      <dsp:spPr>
        <a:xfrm>
          <a:off x="1747800" y="608594"/>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5C612E-E653-4530-A6D7-38F6A9CBBD58}">
      <dsp:nvSpPr>
        <dsp:cNvPr id="0" name=""/>
        <dsp:cNvSpPr/>
      </dsp:nvSpPr>
      <dsp:spPr>
        <a:xfrm>
          <a:off x="559800"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pPr>
          <a:r>
            <a:rPr lang="en-US" sz="2700" kern="1200"/>
            <a:t>In-place migrations</a:t>
          </a:r>
        </a:p>
      </dsp:txBody>
      <dsp:txXfrm>
        <a:off x="559800" y="3022743"/>
        <a:ext cx="4320000" cy="720000"/>
      </dsp:txXfrm>
    </dsp:sp>
    <dsp:sp modelId="{969D6F33-095E-4528-B1FD-141858C2DC43}">
      <dsp:nvSpPr>
        <dsp:cNvPr id="0" name=""/>
        <dsp:cNvSpPr/>
      </dsp:nvSpPr>
      <dsp:spPr>
        <a:xfrm>
          <a:off x="6823800" y="608594"/>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423E0C-20C0-4D7A-9AAA-CAD7634128A8}">
      <dsp:nvSpPr>
        <dsp:cNvPr id="0" name=""/>
        <dsp:cNvSpPr/>
      </dsp:nvSpPr>
      <dsp:spPr>
        <a:xfrm>
          <a:off x="5635800"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pPr>
          <a:r>
            <a:rPr lang="en-US" sz="2700" kern="1200"/>
            <a:t>Multi-deployment migrations</a:t>
          </a:r>
        </a:p>
      </dsp:txBody>
      <dsp:txXfrm>
        <a:off x="5635800" y="3022743"/>
        <a:ext cx="4320000" cy="72000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D25C62-7643-4DB1-AF95-A10AF44B2300}">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722B23-BD4B-4A86-9911-D9312DD6664F}">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B1D578-C694-4F7B-A451-E9CF48943E64}">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a:t>Validate that the target model version or model family is supported for your existing deployment type. Migrations can only occur between provisioned deployments of the same deployment type. </a:t>
          </a:r>
        </a:p>
      </dsp:txBody>
      <dsp:txXfrm>
        <a:off x="1435590" y="531"/>
        <a:ext cx="9080009" cy="1242935"/>
      </dsp:txXfrm>
    </dsp:sp>
    <dsp:sp modelId="{9674491B-1725-493C-8171-5B8DC9250C54}">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851A21-1504-441D-A3AC-57AC1A02EDDA}">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DDCA5E-E78B-40FB-826D-68F5C2AA2F07}">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a:t>Validate capacity availability for your target model version or model family prior to attempting a migration.</a:t>
          </a:r>
        </a:p>
      </dsp:txBody>
      <dsp:txXfrm>
        <a:off x="1435590" y="1554201"/>
        <a:ext cx="9080009" cy="1242935"/>
      </dsp:txXfrm>
    </dsp:sp>
    <dsp:sp modelId="{5DF06EC2-FD08-486A-A89D-5F7F7BCB08C3}">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44A7A8-D537-41EC-B00D-F46D8F2F77CE}">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C9DFE1-ECC7-4ED5-AA44-CDA816997152}">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a:t>For multi-deployment migrations, validate that you have sufficient quota to support multiple deployments simultaneously.</a:t>
          </a:r>
        </a:p>
      </dsp:txBody>
      <dsp:txXfrm>
        <a:off x="1435590" y="3107870"/>
        <a:ext cx="9080009" cy="1242935"/>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C77CF2-45C6-4769-A7D8-C72A3B5A9A13}">
      <dsp:nvSpPr>
        <dsp:cNvPr id="0" name=""/>
        <dsp:cNvSpPr/>
      </dsp:nvSpPr>
      <dsp:spPr>
        <a:xfrm>
          <a:off x="212335" y="1507711"/>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EE6754-6ACE-4E2A-8692-BF588F26DEE4}">
      <dsp:nvSpPr>
        <dsp:cNvPr id="0" name=""/>
        <dsp:cNvSpPr/>
      </dsp:nvSpPr>
      <dsp:spPr>
        <a:xfrm>
          <a:off x="492877" y="1788253"/>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2DABB2-7604-4841-8AEA-C47C78E3492F}">
      <dsp:nvSpPr>
        <dsp:cNvPr id="0" name=""/>
        <dsp:cNvSpPr/>
      </dsp:nvSpPr>
      <dsp:spPr>
        <a:xfrm>
          <a:off x="1834517" y="1507711"/>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In-place migrations allow you to maintain the same provisioned deployment name and size while changing the model version or model family assigned to that deployment.</a:t>
          </a:r>
        </a:p>
      </dsp:txBody>
      <dsp:txXfrm>
        <a:off x="1834517" y="1507711"/>
        <a:ext cx="3148942" cy="1335915"/>
      </dsp:txXfrm>
    </dsp:sp>
    <dsp:sp modelId="{98593456-6F50-4EE3-B446-122429213D4C}">
      <dsp:nvSpPr>
        <dsp:cNvPr id="0" name=""/>
        <dsp:cNvSpPr/>
      </dsp:nvSpPr>
      <dsp:spPr>
        <a:xfrm>
          <a:off x="5532139" y="1507711"/>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458614-264D-4D56-9409-9CE863017979}">
      <dsp:nvSpPr>
        <dsp:cNvPr id="0" name=""/>
        <dsp:cNvSpPr/>
      </dsp:nvSpPr>
      <dsp:spPr>
        <a:xfrm>
          <a:off x="5812681" y="1788253"/>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A71493-2495-400E-A918-4C1F27C7DA00}">
      <dsp:nvSpPr>
        <dsp:cNvPr id="0" name=""/>
        <dsp:cNvSpPr/>
      </dsp:nvSpPr>
      <dsp:spPr>
        <a:xfrm>
          <a:off x="7154322" y="1507711"/>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With in-place migrations, Azure OpenAI takes care of migrating any existing traffic between model versions or model families throughout the migration over a 20-30 minute window.</a:t>
          </a:r>
        </a:p>
      </dsp:txBody>
      <dsp:txXfrm>
        <a:off x="7154322" y="1507711"/>
        <a:ext cx="3148942" cy="1335915"/>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1A774B-DC48-4B83-B206-7E075AB8EE62}">
      <dsp:nvSpPr>
        <dsp:cNvPr id="0" name=""/>
        <dsp:cNvSpPr/>
      </dsp:nvSpPr>
      <dsp:spPr>
        <a:xfrm>
          <a:off x="212335" y="1507711"/>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7FAB5D-BD28-4210-BDFE-83B64F54AB16}">
      <dsp:nvSpPr>
        <dsp:cNvPr id="0" name=""/>
        <dsp:cNvSpPr/>
      </dsp:nvSpPr>
      <dsp:spPr>
        <a:xfrm>
          <a:off x="492877" y="1788253"/>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20CFBF-4331-4D52-B8CE-16C317CE241A}">
      <dsp:nvSpPr>
        <dsp:cNvPr id="0" name=""/>
        <dsp:cNvSpPr/>
      </dsp:nvSpPr>
      <dsp:spPr>
        <a:xfrm>
          <a:off x="1834517" y="1507711"/>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Throughout the migration window, your provisioned deployment will display an "updating" provisioned state. You can continue to use your provisioned deployment as you normally would.</a:t>
          </a:r>
        </a:p>
      </dsp:txBody>
      <dsp:txXfrm>
        <a:off x="1834517" y="1507711"/>
        <a:ext cx="3148942" cy="1335915"/>
      </dsp:txXfrm>
    </dsp:sp>
    <dsp:sp modelId="{F7BC1088-697E-45CA-A022-D638BF0F5618}">
      <dsp:nvSpPr>
        <dsp:cNvPr id="0" name=""/>
        <dsp:cNvSpPr/>
      </dsp:nvSpPr>
      <dsp:spPr>
        <a:xfrm>
          <a:off x="5532139" y="1507711"/>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7DFC35-4B6C-4FA3-B036-213C4E92BE74}">
      <dsp:nvSpPr>
        <dsp:cNvPr id="0" name=""/>
        <dsp:cNvSpPr/>
      </dsp:nvSpPr>
      <dsp:spPr>
        <a:xfrm>
          <a:off x="5812681" y="1788253"/>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01D136-E6EC-4AA1-B81C-4CAE1501DBB2}">
      <dsp:nvSpPr>
        <dsp:cNvPr id="0" name=""/>
        <dsp:cNvSpPr/>
      </dsp:nvSpPr>
      <dsp:spPr>
        <a:xfrm>
          <a:off x="7154322" y="1507711"/>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Once the in-place migration is complete, the provisioned state will be updated to "succeeded", indicating that all traffic has been migrated over to the target model version or model family.</a:t>
          </a:r>
        </a:p>
      </dsp:txBody>
      <dsp:txXfrm>
        <a:off x="7154322" y="1507711"/>
        <a:ext cx="3148942" cy="133591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015F25-112A-4060-B5CE-B268376997ED}">
      <dsp:nvSpPr>
        <dsp:cNvPr id="0" name=""/>
        <dsp:cNvSpPr/>
      </dsp:nvSpPr>
      <dsp:spPr>
        <a:xfrm>
          <a:off x="212335"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2A6D13-1ECE-463D-A4DB-562CEA35EC28}">
      <dsp:nvSpPr>
        <dsp:cNvPr id="0" name=""/>
        <dsp:cNvSpPr/>
      </dsp:nvSpPr>
      <dsp:spPr>
        <a:xfrm>
          <a:off x="492877"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2835CA-9783-45CF-8886-636DFC1F7E29}">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Create a new provisioned deployment by choosing to maintain the same or different provisioned deployment type as your existing deployment</a:t>
          </a:r>
        </a:p>
      </dsp:txBody>
      <dsp:txXfrm>
        <a:off x="1834517" y="469890"/>
        <a:ext cx="3148942" cy="1335915"/>
      </dsp:txXfrm>
    </dsp:sp>
    <dsp:sp modelId="{12B606E2-A3C9-4FC0-839E-43E84C09B86B}">
      <dsp:nvSpPr>
        <dsp:cNvPr id="0" name=""/>
        <dsp:cNvSpPr/>
      </dsp:nvSpPr>
      <dsp:spPr>
        <a:xfrm>
          <a:off x="5532139"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8CAC53-C639-4AD5-9A3D-35CBFBB5A534}">
      <dsp:nvSpPr>
        <dsp:cNvPr id="0" name=""/>
        <dsp:cNvSpPr/>
      </dsp:nvSpPr>
      <dsp:spPr>
        <a:xfrm>
          <a:off x="5812681"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ABB524-6A41-425E-AF66-488B7B2EE30D}">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Transition traffic from the existing provisioned deployment to the newly created provisioned deployment with your target model version or model family</a:t>
          </a:r>
        </a:p>
      </dsp:txBody>
      <dsp:txXfrm>
        <a:off x="7154322" y="469890"/>
        <a:ext cx="3148942" cy="1335915"/>
      </dsp:txXfrm>
    </dsp:sp>
    <dsp:sp modelId="{3D4EF658-E620-4F4C-A735-7138C8249D46}">
      <dsp:nvSpPr>
        <dsp:cNvPr id="0" name=""/>
        <dsp:cNvSpPr/>
      </dsp:nvSpPr>
      <dsp:spPr>
        <a:xfrm>
          <a:off x="212335"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98C316-0505-4FFA-A7D4-F673D3C036B9}">
      <dsp:nvSpPr>
        <dsp:cNvPr id="0" name=""/>
        <dsp:cNvSpPr/>
      </dsp:nvSpPr>
      <dsp:spPr>
        <a:xfrm>
          <a:off x="492877"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06392A-B543-4BFB-B6CF-7427B6E06753}">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Once traffic is migrated over to the new deployment, validate that there are no inference requests being processed on the previous provisioned deployment.</a:t>
          </a:r>
        </a:p>
      </dsp:txBody>
      <dsp:txXfrm>
        <a:off x="1834517" y="2545532"/>
        <a:ext cx="3148942" cy="1335915"/>
      </dsp:txXfrm>
    </dsp:sp>
    <dsp:sp modelId="{99861A66-46FD-4250-9D4F-202B366B7E7E}">
      <dsp:nvSpPr>
        <dsp:cNvPr id="0" name=""/>
        <dsp:cNvSpPr/>
      </dsp:nvSpPr>
      <dsp:spPr>
        <a:xfrm>
          <a:off x="5532139"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969B4E-70CB-4AD4-B44C-E5F052E9564F}">
      <dsp:nvSpPr>
        <dsp:cNvPr id="0" name=""/>
        <dsp:cNvSpPr/>
      </dsp:nvSpPr>
      <dsp:spPr>
        <a:xfrm>
          <a:off x="5812681"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515D33-69D6-44F5-B632-AECD949B3682}">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Once you confirm that no inference calls have been made, delete the original provisioned deployment.</a:t>
          </a:r>
        </a:p>
      </dsp:txBody>
      <dsp:txXfrm>
        <a:off x="7154322" y="2545532"/>
        <a:ext cx="3148942" cy="133591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2EF121-8086-44AF-83A9-93723C7FCE7F}">
      <dsp:nvSpPr>
        <dsp:cNvPr id="0" name=""/>
        <dsp:cNvSpPr/>
      </dsp:nvSpPr>
      <dsp:spPr>
        <a:xfrm>
          <a:off x="582645" y="1178"/>
          <a:ext cx="2174490" cy="1304694"/>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Context window</a:t>
          </a:r>
        </a:p>
      </dsp:txBody>
      <dsp:txXfrm>
        <a:off x="582645" y="1178"/>
        <a:ext cx="2174490" cy="1304694"/>
      </dsp:txXfrm>
    </dsp:sp>
    <dsp:sp modelId="{3401D583-7B21-4EDC-A284-A1BA80F0DC58}">
      <dsp:nvSpPr>
        <dsp:cNvPr id="0" name=""/>
        <dsp:cNvSpPr/>
      </dsp:nvSpPr>
      <dsp:spPr>
        <a:xfrm>
          <a:off x="2974584" y="1178"/>
          <a:ext cx="2174490" cy="1304694"/>
        </a:xfrm>
        <a:prstGeom prst="rect">
          <a:avLst/>
        </a:prstGeom>
        <a:solidFill>
          <a:schemeClr val="accent3">
            <a:hueOff val="374288"/>
            <a:satOff val="2247"/>
            <a:lumOff val="171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Max output tokens</a:t>
          </a:r>
        </a:p>
      </dsp:txBody>
      <dsp:txXfrm>
        <a:off x="2974584" y="1178"/>
        <a:ext cx="2174490" cy="1304694"/>
      </dsp:txXfrm>
    </dsp:sp>
    <dsp:sp modelId="{7A23ACEF-618A-4010-8D6A-C8F8FD303D5D}">
      <dsp:nvSpPr>
        <dsp:cNvPr id="0" name=""/>
        <dsp:cNvSpPr/>
      </dsp:nvSpPr>
      <dsp:spPr>
        <a:xfrm>
          <a:off x="5366524" y="1178"/>
          <a:ext cx="2174490" cy="1304694"/>
        </a:xfrm>
        <a:prstGeom prst="rect">
          <a:avLst/>
        </a:prstGeom>
        <a:solidFill>
          <a:schemeClr val="accent3">
            <a:hueOff val="748575"/>
            <a:satOff val="4493"/>
            <a:lumOff val="342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TPM</a:t>
          </a:r>
        </a:p>
      </dsp:txBody>
      <dsp:txXfrm>
        <a:off x="5366524" y="1178"/>
        <a:ext cx="2174490" cy="1304694"/>
      </dsp:txXfrm>
    </dsp:sp>
    <dsp:sp modelId="{5D2DDE7D-4590-47D4-9D5C-2924E6AC7982}">
      <dsp:nvSpPr>
        <dsp:cNvPr id="0" name=""/>
        <dsp:cNvSpPr/>
      </dsp:nvSpPr>
      <dsp:spPr>
        <a:xfrm>
          <a:off x="7758464" y="1178"/>
          <a:ext cx="2174490" cy="1304694"/>
        </a:xfrm>
        <a:prstGeom prst="rect">
          <a:avLst/>
        </a:prstGeom>
        <a:solidFill>
          <a:schemeClr val="accent3">
            <a:hueOff val="1122863"/>
            <a:satOff val="6740"/>
            <a:lumOff val="513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RPM</a:t>
          </a:r>
        </a:p>
      </dsp:txBody>
      <dsp:txXfrm>
        <a:off x="7758464" y="1178"/>
        <a:ext cx="2174490" cy="1304694"/>
      </dsp:txXfrm>
    </dsp:sp>
    <dsp:sp modelId="{FBE4687B-DFEB-4EFF-BD51-C9664149529F}">
      <dsp:nvSpPr>
        <dsp:cNvPr id="0" name=""/>
        <dsp:cNvSpPr/>
      </dsp:nvSpPr>
      <dsp:spPr>
        <a:xfrm>
          <a:off x="582645" y="1523321"/>
          <a:ext cx="2174490" cy="1304694"/>
        </a:xfrm>
        <a:prstGeom prst="rect">
          <a:avLst/>
        </a:prstGeom>
        <a:solidFill>
          <a:schemeClr val="accent3">
            <a:hueOff val="1497150"/>
            <a:satOff val="8986"/>
            <a:lumOff val="68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Reasoning</a:t>
          </a:r>
        </a:p>
      </dsp:txBody>
      <dsp:txXfrm>
        <a:off x="582645" y="1523321"/>
        <a:ext cx="2174490" cy="1304694"/>
      </dsp:txXfrm>
    </dsp:sp>
    <dsp:sp modelId="{D80970C2-3A82-49CA-9FB4-A3455683D27F}">
      <dsp:nvSpPr>
        <dsp:cNvPr id="0" name=""/>
        <dsp:cNvSpPr/>
      </dsp:nvSpPr>
      <dsp:spPr>
        <a:xfrm>
          <a:off x="2974584" y="1523321"/>
          <a:ext cx="2174490" cy="1304694"/>
        </a:xfrm>
        <a:prstGeom prst="rect">
          <a:avLst/>
        </a:prstGeom>
        <a:solidFill>
          <a:schemeClr val="accent3">
            <a:hueOff val="1871438"/>
            <a:satOff val="11233"/>
            <a:lumOff val="855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API</a:t>
          </a:r>
        </a:p>
      </dsp:txBody>
      <dsp:txXfrm>
        <a:off x="2974584" y="1523321"/>
        <a:ext cx="2174490" cy="1304694"/>
      </dsp:txXfrm>
    </dsp:sp>
    <dsp:sp modelId="{7C73B0DA-D40D-45E7-AA42-F51439C4F2EC}">
      <dsp:nvSpPr>
        <dsp:cNvPr id="0" name=""/>
        <dsp:cNvSpPr/>
      </dsp:nvSpPr>
      <dsp:spPr>
        <a:xfrm>
          <a:off x="5366524" y="1523321"/>
          <a:ext cx="2174490" cy="1304694"/>
        </a:xfrm>
        <a:prstGeom prst="rect">
          <a:avLst/>
        </a:prstGeom>
        <a:solidFill>
          <a:schemeClr val="accent3">
            <a:hueOff val="2245725"/>
            <a:satOff val="13479"/>
            <a:lumOff val="1026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Functions</a:t>
          </a:r>
        </a:p>
        <a:p>
          <a:pPr marL="0" lvl="0" indent="0" algn="ctr" defTabSz="1200150">
            <a:lnSpc>
              <a:spcPct val="90000"/>
            </a:lnSpc>
            <a:spcBef>
              <a:spcPct val="0"/>
            </a:spcBef>
            <a:spcAft>
              <a:spcPct val="35000"/>
            </a:spcAft>
            <a:buNone/>
          </a:pPr>
          <a:r>
            <a:rPr lang="en-US" sz="2700" kern="1200" dirty="0"/>
            <a:t>&amp; Tools</a:t>
          </a:r>
        </a:p>
      </dsp:txBody>
      <dsp:txXfrm>
        <a:off x="5366524" y="1523321"/>
        <a:ext cx="2174490" cy="1304694"/>
      </dsp:txXfrm>
    </dsp:sp>
    <dsp:sp modelId="{169B46BB-462A-426B-9AB6-DA959B7A9208}">
      <dsp:nvSpPr>
        <dsp:cNvPr id="0" name=""/>
        <dsp:cNvSpPr/>
      </dsp:nvSpPr>
      <dsp:spPr>
        <a:xfrm>
          <a:off x="7758464" y="1523321"/>
          <a:ext cx="2174490" cy="1304694"/>
        </a:xfrm>
        <a:prstGeom prst="rect">
          <a:avLst/>
        </a:prstGeom>
        <a:solidFill>
          <a:schemeClr val="accent3">
            <a:hueOff val="2620013"/>
            <a:satOff val="15726"/>
            <a:lumOff val="119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Quota</a:t>
          </a:r>
        </a:p>
      </dsp:txBody>
      <dsp:txXfrm>
        <a:off x="7758464" y="1523321"/>
        <a:ext cx="2174490" cy="1304694"/>
      </dsp:txXfrm>
    </dsp:sp>
    <dsp:sp modelId="{110E9270-C28E-4547-886A-B173DD032D30}">
      <dsp:nvSpPr>
        <dsp:cNvPr id="0" name=""/>
        <dsp:cNvSpPr/>
      </dsp:nvSpPr>
      <dsp:spPr>
        <a:xfrm>
          <a:off x="582645" y="3045465"/>
          <a:ext cx="2174490" cy="1304694"/>
        </a:xfrm>
        <a:prstGeom prst="rect">
          <a:avLst/>
        </a:prstGeom>
        <a:solidFill>
          <a:schemeClr val="accent3">
            <a:hueOff val="2994301"/>
            <a:satOff val="17972"/>
            <a:lumOff val="1369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In/out puts</a:t>
          </a:r>
        </a:p>
      </dsp:txBody>
      <dsp:txXfrm>
        <a:off x="582645" y="3045465"/>
        <a:ext cx="2174490" cy="1304694"/>
      </dsp:txXfrm>
    </dsp:sp>
    <dsp:sp modelId="{10EDC781-93F7-46E8-BC84-9C313E6B17B1}">
      <dsp:nvSpPr>
        <dsp:cNvPr id="0" name=""/>
        <dsp:cNvSpPr/>
      </dsp:nvSpPr>
      <dsp:spPr>
        <a:xfrm>
          <a:off x="2974584" y="3045465"/>
          <a:ext cx="2174490" cy="1304694"/>
        </a:xfrm>
        <a:prstGeom prst="rect">
          <a:avLst/>
        </a:prstGeom>
        <a:solidFill>
          <a:schemeClr val="accent3">
            <a:hueOff val="3368588"/>
            <a:satOff val="20219"/>
            <a:lumOff val="15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Performance</a:t>
          </a:r>
        </a:p>
      </dsp:txBody>
      <dsp:txXfrm>
        <a:off x="2974584" y="3045465"/>
        <a:ext cx="2174490" cy="1304694"/>
      </dsp:txXfrm>
    </dsp:sp>
    <dsp:sp modelId="{61B8F122-4907-4D75-992A-0719033EC1C9}">
      <dsp:nvSpPr>
        <dsp:cNvPr id="0" name=""/>
        <dsp:cNvSpPr/>
      </dsp:nvSpPr>
      <dsp:spPr>
        <a:xfrm>
          <a:off x="5366524" y="3045465"/>
          <a:ext cx="2174490" cy="1304694"/>
        </a:xfrm>
        <a:prstGeom prst="rect">
          <a:avLst/>
        </a:prstGeom>
        <a:solidFill>
          <a:schemeClr val="accent3">
            <a:hueOff val="3742876"/>
            <a:satOff val="22465"/>
            <a:lumOff val="1711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Parameters</a:t>
          </a:r>
        </a:p>
      </dsp:txBody>
      <dsp:txXfrm>
        <a:off x="5366524" y="3045465"/>
        <a:ext cx="2174490" cy="1304694"/>
      </dsp:txXfrm>
    </dsp:sp>
    <dsp:sp modelId="{7CD36865-B984-4BD5-81E9-4399AF8BDAE8}">
      <dsp:nvSpPr>
        <dsp:cNvPr id="0" name=""/>
        <dsp:cNvSpPr/>
      </dsp:nvSpPr>
      <dsp:spPr>
        <a:xfrm>
          <a:off x="7758464" y="3045465"/>
          <a:ext cx="2174490" cy="1304694"/>
        </a:xfrm>
        <a:prstGeom prst="rect">
          <a:avLst/>
        </a:prstGeom>
        <a:solidFill>
          <a:schemeClr val="accent3">
            <a:hueOff val="4117163"/>
            <a:satOff val="24712"/>
            <a:lumOff val="188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Latency</a:t>
          </a:r>
        </a:p>
      </dsp:txBody>
      <dsp:txXfrm>
        <a:off x="7758464" y="3045465"/>
        <a:ext cx="2174490" cy="130469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9.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0.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FB127-14BB-48A6-8393-EC3F24F6A8D6}" type="datetimeFigureOut">
              <a:rPr lang="en-US" smtClean="0"/>
              <a:t>8/7/2026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B07E57-5C0D-4623-B8EA-6B02450B38AF}" type="slidenum">
              <a:rPr lang="en-US" smtClean="0"/>
              <a:t>‹#›</a:t>
            </a:fld>
            <a:endParaRPr lang="en-US"/>
          </a:p>
        </p:txBody>
      </p:sp>
    </p:spTree>
    <p:extLst>
      <p:ext uri="{BB962C8B-B14F-4D97-AF65-F5344CB8AC3E}">
        <p14:creationId xmlns:p14="http://schemas.microsoft.com/office/powerpoint/2010/main" val="1769485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microsoft-my.sharepoint.com/:p:/p/sytedjo/EURW5924p1NNj2hm3fGooN0BAq7zVWG64h8NIPQxgaTQdQ?e=rdEALN&amp;clickparams=eyAiWC1BcHBOYW1lIiA6ICJNaWNyb3NvZnQgT3V0bG9vayIsICJYLUFwcFZlcnNpb24iIDogIjE2LjAuMTgwMjUuMjAwNTgiLCAiT1MiIDogIldpbmRvd3MiIH0%3D&amp;CID=91B6AA20-6F16-43D6-8BFD-E82107942410&amp;wdLOR=c89AADF71-8901-4397-94A3-F421A440977F"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learn.microsoft.com/en-us/azure/ai-foundry/openai/concepts/model-retirements?view=foundry-classic&amp;tabs=text#terminology" TargetMode="External"/><Relationship Id="rId2" Type="http://schemas.openxmlformats.org/officeDocument/2006/relationships/slide" Target="../slides/slide31.xml"/><Relationship Id="rId1" Type="http://schemas.openxmlformats.org/officeDocument/2006/relationships/notesMaster" Target="../notesMasters/notesMaster1.xml"/><Relationship Id="rId5" Type="http://schemas.openxmlformats.org/officeDocument/2006/relationships/hyperlink" Target="https://learn.microsoft.com/en-us/azure/ai-foundry/openai/concepts/model-retirements?view=foundry-classic&amp;tabs=embedding#current-models" TargetMode="External"/><Relationship Id="rId4" Type="http://schemas.openxmlformats.org/officeDocument/2006/relationships/hyperlink" Target="https://learn.microsoft.com/en-us/azure/ai-foundry/openai/concepts/model-retirements?view=foundry-classic&amp;tabs=text#notifications" TargetMode="Externa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learn.microsoft.com/en-us/azure/ai-foundry/concepts/model-lifecycle-retirement?view=foundry#deprecated" TargetMode="External"/><Relationship Id="rId2" Type="http://schemas.openxmlformats.org/officeDocument/2006/relationships/slide" Target="../slides/slide32.xml"/><Relationship Id="rId1" Type="http://schemas.openxmlformats.org/officeDocument/2006/relationships/notesMaster" Target="../notesMasters/notesMaster1.xml"/><Relationship Id="rId6" Type="http://schemas.openxmlformats.org/officeDocument/2006/relationships/hyperlink" Target="https://learn.microsoft.com/en-us/azure/ai-foundry/concepts/model-lifecycle-retirement?view=foundry#timelines-for-foundry-models" TargetMode="External"/><Relationship Id="rId5" Type="http://schemas.openxmlformats.org/officeDocument/2006/relationships/hyperlink" Target="https://learn.microsoft.com/en-us/azure/ai-foundry/concepts/model-lifecycle-retirement?view=foundry#notifications-for-foundry-models" TargetMode="External"/><Relationship Id="rId4" Type="http://schemas.openxmlformats.org/officeDocument/2006/relationships/hyperlink" Target="https://learn.microsoft.com/en-us/azure/ai-foundry/concepts/model-lifecycle-retirement?view=foundry#retired" TargetMode="Externa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learn.microsoft.com/en-us/azure/ai-foundry/concepts/model-lifecycle-retirement?view=foundry#deprecated" TargetMode="External"/><Relationship Id="rId2" Type="http://schemas.openxmlformats.org/officeDocument/2006/relationships/slide" Target="../slides/slide33.xml"/><Relationship Id="rId1" Type="http://schemas.openxmlformats.org/officeDocument/2006/relationships/notesMaster" Target="../notesMasters/notesMaster1.xml"/><Relationship Id="rId6" Type="http://schemas.openxmlformats.org/officeDocument/2006/relationships/hyperlink" Target="https://learn.microsoft.com/en-us/azure/ai-foundry/concepts/model-lifecycle-retirement?view=foundry#timelines-for-foundry-models" TargetMode="External"/><Relationship Id="rId5" Type="http://schemas.openxmlformats.org/officeDocument/2006/relationships/hyperlink" Target="https://learn.microsoft.com/en-us/azure/ai-foundry/concepts/model-lifecycle-retirement?view=foundry#notifications-for-foundry-models" TargetMode="External"/><Relationship Id="rId4" Type="http://schemas.openxmlformats.org/officeDocument/2006/relationships/hyperlink" Target="https://learn.microsoft.com/en-us/azure/ai-foundry/concepts/model-lifecycle-retirement?view=foundry#retired"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learn.microsoft.com/en-us/azure/ai-foundry/openai/how-to/working-with-models?view=foundry-classic#model-deployment-upgrade-configuration" TargetMode="External"/><Relationship Id="rId2" Type="http://schemas.openxmlformats.org/officeDocument/2006/relationships/slide" Target="../slides/slide40.xml"/><Relationship Id="rId1" Type="http://schemas.openxmlformats.org/officeDocument/2006/relationships/notesMaster" Target="../notesMasters/notesMaster1.xml"/><Relationship Id="rId5" Type="http://schemas.openxmlformats.org/officeDocument/2006/relationships/hyperlink" Target="https://learn.microsoft.com/en-us/cli/azure/cognitiveservices/account/deployment#az-cognitiveservices-account-deployment-show" TargetMode="External"/><Relationship Id="rId4" Type="http://schemas.openxmlformats.org/officeDocument/2006/relationships/hyperlink" Target="https://learn.microsoft.com/en-us/powershell/module/az.cognitiveservices/get-azcognitiveservicesaccountdeployment"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learn.microsoft.com/en-us/azure/ai-foundry/observability/how-to/optimization-model-upgrade?view=foundry"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dev.azure.com/Supportability/CAIProductUpdates/_wiki/wikis/CAIProductUpdates.wiki/2201280/%F0%9F%97%82%EF%B8%8F-Azure-AI-Model-Catalog-for-Customer-Facing-Teams" TargetMode="External"/><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8/7/2026</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Richard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0B7614-8465-421E-A45B-EE7DFC18BEAB}"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716842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A072B-3C4F-F813-D1C3-B6F1EDA142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5EE8A-98F1-B705-6C8F-31975EE4EDA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B57737-EC30-4EF6-701C-B2D8918CEFA4}"/>
              </a:ext>
            </a:extLst>
          </p:cNvPr>
          <p:cNvSpPr>
            <a:spLocks noGrp="1"/>
          </p:cNvSpPr>
          <p:nvPr>
            <p:ph type="body" idx="1"/>
          </p:nvPr>
        </p:nvSpPr>
        <p:spPr/>
        <p:txBody>
          <a:bodyPr/>
          <a:lstStyle/>
          <a:p>
            <a:r>
              <a:rPr lang="en-US"/>
              <a:t>And regardless of how you build your AI apps and agents, where your store your data, or store your tools, they are all backed by Microsoft Foundry and the full stack that Microsoft offers.</a:t>
            </a:r>
          </a:p>
          <a:p>
            <a:endParaRPr lang="en-US" b="1"/>
          </a:p>
        </p:txBody>
      </p:sp>
      <p:sp>
        <p:nvSpPr>
          <p:cNvPr id="4" name="Slide Number Placeholder 3">
            <a:extLst>
              <a:ext uri="{FF2B5EF4-FFF2-40B4-BE49-F238E27FC236}">
                <a16:creationId xmlns:a16="http://schemas.microsoft.com/office/drawing/2014/main" id="{1735D17B-F5CF-2AD8-8A43-5F3E94A2FE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597BD5-DB97-4C3C-BDDA-7C02709AD7D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7503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717C1-BFF3-F9FC-A589-BA663EDBB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53A4EE-AEBF-4D29-A7A1-A8DBBF345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84191-EA59-C6D4-EB8E-4E410494A92C}"/>
              </a:ext>
            </a:extLst>
          </p:cNvPr>
          <p:cNvSpPr>
            <a:spLocks noGrp="1"/>
          </p:cNvSpPr>
          <p:nvPr>
            <p:ph type="body" idx="1"/>
          </p:nvPr>
        </p:nvSpPr>
        <p:spPr/>
        <p:txBody>
          <a:bodyPr/>
          <a:lstStyle/>
          <a:p>
            <a:pPr defTabSz="914367">
              <a:lnSpc>
                <a:spcPct val="90000"/>
              </a:lnSpc>
              <a:spcAft>
                <a:spcPts val="333"/>
              </a:spcAft>
              <a:defRPr/>
            </a:pPr>
            <a:r>
              <a:rPr lang="en-US" sz="1800"/>
              <a:t>In any factory, you start with raw materials. For AI apps and agents, we start with models. Models are the foundation, the brain, of any agent. </a:t>
            </a:r>
            <a:endParaRPr lang="en-US" sz="1800">
              <a:latin typeface="Segoe UI"/>
              <a:cs typeface="Segoe UI"/>
            </a:endParaRPr>
          </a:p>
          <a:p>
            <a:pPr defTabSz="914367">
              <a:lnSpc>
                <a:spcPct val="90000"/>
              </a:lnSpc>
              <a:spcAft>
                <a:spcPts val="333"/>
              </a:spcAft>
              <a:defRPr/>
            </a:pPr>
            <a:endParaRPr lang="en-US" sz="1800"/>
          </a:p>
          <a:p>
            <a:pPr defTabSz="914367">
              <a:defRPr/>
            </a:pPr>
            <a:r>
              <a:rPr lang="en-US">
                <a:effectLst/>
              </a:rPr>
              <a:t>Microsoft Foundry</a:t>
            </a:r>
            <a:r>
              <a:rPr lang="en-US"/>
              <a:t> Models empower developers to access more than 11,000 </a:t>
            </a:r>
            <a:r>
              <a:rPr lang="en-US">
                <a:effectLst/>
              </a:rPr>
              <a:t>models</a:t>
            </a:r>
            <a:r>
              <a:rPr lang="en-US"/>
              <a:t>, deploy with confidence</a:t>
            </a:r>
            <a:r>
              <a:rPr lang="en-US">
                <a:effectLst/>
              </a:rPr>
              <a:t>, and </a:t>
            </a:r>
            <a:r>
              <a:rPr lang="en-US"/>
              <a:t>optimize for performance—while accelerating AI innovation at scale</a:t>
            </a:r>
            <a:r>
              <a:rPr lang="en-US">
                <a:effectLst/>
              </a:rPr>
              <a:t>.</a:t>
            </a:r>
            <a:r>
              <a:rPr lang="en-US"/>
              <a:t> </a:t>
            </a:r>
          </a:p>
          <a:p>
            <a:endParaRPr lang="en-US"/>
          </a:p>
          <a:p>
            <a:r>
              <a:rPr lang="en-US"/>
              <a:t>With Foundry </a:t>
            </a:r>
            <a:r>
              <a:rPr lang="en-US" kern="1200">
                <a:solidFill>
                  <a:schemeClr val="tx1"/>
                </a:solidFill>
                <a:effectLst/>
              </a:rPr>
              <a:t>Models, developers </a:t>
            </a:r>
            <a:r>
              <a:rPr lang="en-US"/>
              <a:t>can discover </a:t>
            </a:r>
            <a:r>
              <a:rPr lang="en-US" kern="1200">
                <a:solidFill>
                  <a:schemeClr val="tx1"/>
                </a:solidFill>
                <a:effectLst/>
              </a:rPr>
              <a:t>and </a:t>
            </a:r>
            <a:r>
              <a:rPr lang="en-US"/>
              <a:t>evaluate </a:t>
            </a:r>
            <a:r>
              <a:rPr lang="en-US" kern="1200">
                <a:solidFill>
                  <a:schemeClr val="tx1"/>
                </a:solidFill>
                <a:effectLst/>
              </a:rPr>
              <a:t>models </a:t>
            </a:r>
            <a:r>
              <a:rPr lang="en-US"/>
              <a:t>for their use cases by performance </a:t>
            </a:r>
            <a:r>
              <a:rPr lang="en-US" kern="1200">
                <a:solidFill>
                  <a:schemeClr val="tx1"/>
                </a:solidFill>
                <a:effectLst/>
              </a:rPr>
              <a:t>and</a:t>
            </a:r>
            <a:r>
              <a:rPr lang="en-US"/>
              <a:t> key parameters. They can integrate them </a:t>
            </a:r>
            <a:r>
              <a:rPr lang="en-US" kern="1200">
                <a:solidFill>
                  <a:schemeClr val="tx1"/>
                </a:solidFill>
                <a:effectLst/>
              </a:rPr>
              <a:t>into </a:t>
            </a:r>
            <a:r>
              <a:rPr lang="en-US"/>
              <a:t>their code with a unified API, change models without coding, and automatically upgrade modes to optimize costs. And Microsoft Foundry offers </a:t>
            </a:r>
            <a:r>
              <a:rPr lang="en-US">
                <a:solidFill>
                  <a:srgbClr val="000000"/>
                </a:solidFill>
              </a:rPr>
              <a:t>consistent AI performance across cloud, local devices, and on-premises for hybrid operations. </a:t>
            </a:r>
            <a:endParaRPr lang="en-US"/>
          </a:p>
          <a:p>
            <a:endParaRPr lang="en-US">
              <a:latin typeface="+mn-lt"/>
              <a:cs typeface="Segoe UI"/>
            </a:endParaRPr>
          </a:p>
          <a:p>
            <a:r>
              <a:rPr lang="en-US"/>
              <a:t>To provide reliability at scale, we’ve introduced </a:t>
            </a:r>
            <a:r>
              <a:rPr lang="en-US" b="1"/>
              <a:t>reserved capacity</a:t>
            </a:r>
            <a:r>
              <a:rPr lang="en-US"/>
              <a:t> for models hosted and sold by Microsoft (like xAI3, Mistral, Black Forest Labs, and DeepSeek) – in addition to Azure OpenAI models, so developers have consistent performance even under heavy load. In addition, models hosted and sold by Microsoft offer:</a:t>
            </a:r>
          </a:p>
          <a:p>
            <a:endParaRPr lang="en-US"/>
          </a:p>
          <a:p>
            <a:pPr marL="285750" indent="-285750">
              <a:buFont typeface="Arial"/>
              <a:buChar char="•"/>
            </a:pPr>
            <a:r>
              <a:rPr lang="en-US"/>
              <a:t>SLA &amp; compliance  </a:t>
            </a:r>
          </a:p>
          <a:p>
            <a:pPr marL="285750" indent="-285750">
              <a:buFont typeface="Arial"/>
              <a:buChar char="•"/>
            </a:pPr>
            <a:r>
              <a:rPr lang="en-US"/>
              <a:t>Cost savings since you can share PTU quota among models</a:t>
            </a:r>
          </a:p>
          <a:p>
            <a:endParaRPr lang="en-US"/>
          </a:p>
          <a:p>
            <a:r>
              <a:rPr lang="en-US"/>
              <a:t>All Foundry Models will be accessible through a unified API and the Models MCP Server, making it seamless to go from prototype to production.</a:t>
            </a:r>
          </a:p>
          <a:p>
            <a:endParaRPr lang="en-US"/>
          </a:p>
        </p:txBody>
      </p:sp>
      <p:sp>
        <p:nvSpPr>
          <p:cNvPr id="4" name="Slide Number Placeholder 3">
            <a:extLst>
              <a:ext uri="{FF2B5EF4-FFF2-40B4-BE49-F238E27FC236}">
                <a16:creationId xmlns:a16="http://schemas.microsoft.com/office/drawing/2014/main" id="{C4C66480-EB1C-1077-590F-BDA8FE22CA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A0D00C-D97D-4D9F-A1A5-E7BA88B482EE}"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866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F5477-72BB-2959-2562-F22CB5896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CDB839-CD8D-76C2-DB59-8BADCA7B71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9BBAC-4E6C-1B6C-7D3A-AE13E7C9D42E}"/>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a:t>In Microsoft Foundry We believe model choice is important. At this very moment, with thousands of models available. Whether you are seeking the most advanced reasoning, a computer use agent, an industry-based or domain-specific model, or a model suited for the task, Foundry has the models to help you get what you need done.</a:t>
            </a:r>
            <a:endParaRPr lang="en-US" sz="882" kern="1200">
              <a:solidFill>
                <a:schemeClr val="tx1"/>
              </a:solidFill>
              <a:effectLst/>
              <a:latin typeface="Segoe UI" panose="020B0502040204020203"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kern="1200">
              <a:solidFill>
                <a:schemeClr val="tx1"/>
              </a:solidFill>
              <a:effectLst/>
              <a:latin typeface="Segoe UI" panose="020B0502040204020203"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50">
                <a:latin typeface="Calibri"/>
                <a:ea typeface="Calibri"/>
                <a:cs typeface="Calibri"/>
              </a:rPr>
              <a:t>Link : </a:t>
            </a:r>
            <a:r>
              <a:rPr lang="en-US">
                <a:hlinkClick r:id="rId3"/>
              </a:rPr>
              <a:t>Azure AI model breadth.pptx (sharepoint.com)</a:t>
            </a:r>
            <a:endParaRPr lang="en-US"/>
          </a:p>
          <a:p>
            <a:br>
              <a:rPr lang="en-US"/>
            </a:br>
            <a:endParaRPr lang="en-US"/>
          </a:p>
        </p:txBody>
      </p:sp>
      <p:sp>
        <p:nvSpPr>
          <p:cNvPr id="4" name="Header Placeholder 3">
            <a:extLst>
              <a:ext uri="{FF2B5EF4-FFF2-40B4-BE49-F238E27FC236}">
                <a16:creationId xmlns:a16="http://schemas.microsoft.com/office/drawing/2014/main" id="{757CB7BC-5473-0A4F-1D13-64D1714573CD}"/>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36C88459-60A5-9EA8-F6A7-344FF2E6EBE0}"/>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4E9F15E3-0B47-ECA9-F403-14AD46948425}"/>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8/7/2026 7:26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4B6C93DC-0FFA-DD9E-F4F7-D61D2F0C67AA}"/>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10309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a:buNone/>
            </a:pPr>
            <a:r>
              <a:rPr lang="en-US" sz="900">
                <a:cs typeface="Segoe Sans Text" pitchFamily="2" charset="0"/>
              </a:rPr>
              <a:t>Today we’re announcing more serverless models directly sold by Microsoft.</a:t>
            </a:r>
          </a:p>
          <a:p>
            <a:pPr marL="0" indent="0">
              <a:buFont typeface="Arial"/>
              <a:buNone/>
            </a:pPr>
            <a:br>
              <a:rPr lang="en-US" sz="900" b="1">
                <a:solidFill>
                  <a:srgbClr val="000000"/>
                </a:solidFill>
                <a:cs typeface="Segoe Sans Text" pitchFamily="2" charset="0"/>
              </a:rPr>
            </a:br>
            <a:r>
              <a:rPr lang="en-US" sz="900" b="1">
                <a:solidFill>
                  <a:srgbClr val="000000"/>
                </a:solidFill>
                <a:cs typeface="Segoe Sans Text" pitchFamily="2" charset="0"/>
              </a:rPr>
              <a:t>Unified Access:</a:t>
            </a:r>
            <a:r>
              <a:rPr lang="en-US" sz="900">
                <a:solidFill>
                  <a:srgbClr val="000000"/>
                </a:solidFill>
                <a:cs typeface="Segoe Sans Text" pitchFamily="2" charset="0"/>
              </a:rPr>
              <a:t> Seamlessly access Azure OpenAI, Microsoft models, partner-hosted models, and open-source LLMs in one place.</a:t>
            </a:r>
            <a:endParaRPr lang="en-US" sz="900">
              <a:cs typeface="Segoe Sans Text" pitchFamily="2" charset="0"/>
            </a:endParaRPr>
          </a:p>
          <a:p>
            <a:pPr marL="0" indent="0">
              <a:buFont typeface="Arial"/>
              <a:buNone/>
            </a:pPr>
            <a:r>
              <a:rPr lang="en-US" sz="900" b="1">
                <a:solidFill>
                  <a:srgbClr val="000000"/>
                </a:solidFill>
                <a:cs typeface="Segoe Sans Text" pitchFamily="2" charset="0"/>
              </a:rPr>
              <a:t>Scalable Deployment:</a:t>
            </a:r>
            <a:r>
              <a:rPr lang="en-US" sz="900">
                <a:solidFill>
                  <a:srgbClr val="000000"/>
                </a:solidFill>
                <a:cs typeface="Segoe Sans Text" pitchFamily="2" charset="0"/>
              </a:rPr>
              <a:t> Deploy AI workloads faster with flexible options across serverless, managed, and provisioned compute.</a:t>
            </a:r>
            <a:endParaRPr lang="en-US" sz="900">
              <a:cs typeface="Segoe Sans Text" pitchFamily="2" charset="0"/>
            </a:endParaRPr>
          </a:p>
          <a:p>
            <a:pPr marL="0" indent="0">
              <a:buFont typeface="Arial"/>
              <a:buNone/>
            </a:pPr>
            <a:r>
              <a:rPr lang="en-US" sz="900" b="1">
                <a:solidFill>
                  <a:srgbClr val="000000"/>
                </a:solidFill>
                <a:cs typeface="Segoe Sans Text" pitchFamily="2" charset="0"/>
              </a:rPr>
              <a:t>Enterprise-Ready:</a:t>
            </a:r>
            <a:r>
              <a:rPr lang="en-US" sz="900">
                <a:solidFill>
                  <a:srgbClr val="000000"/>
                </a:solidFill>
                <a:cs typeface="Segoe Sans Text" pitchFamily="2" charset="0"/>
              </a:rPr>
              <a:t> Built-in security, governance, and compliance features to meet enterprise AI requirements at scale.</a:t>
            </a:r>
            <a:endParaRPr lang="en-US" sz="900">
              <a:cs typeface="Segoe Sans Text" pitchFamily="2" charset="0"/>
            </a:endParaRPr>
          </a:p>
          <a:p>
            <a:r>
              <a:rPr lang="en-US" sz="900">
                <a:solidFill>
                  <a:srgbClr val="000000"/>
                </a:solidFill>
                <a:cs typeface="Segoe Sans Text" pitchFamily="2" charset="0"/>
              </a:rPr>
              <a:t>New models are joining Azure as direct, first-party offerings. These include Azure Llama, Azure Grok, Azure Mistral, and Azure Flux.</a:t>
            </a:r>
            <a:endParaRPr lang="en-US" sz="900">
              <a:cs typeface="Segoe Sans Text" pitchFamily="2" charset="0"/>
            </a:endParaRPr>
          </a:p>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8/7/2026 7:26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701843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DDF0A-AF04-6CA1-BEBA-14C7970C5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D24D34-87E7-3699-D187-22040E938E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004813-BE63-6165-7508-BE001E97E77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D068CC-D555-D806-B05F-E53D8923A3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9326B1-B063-40F6-AC68-20C1A678E6B7}"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417077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07544-E932-EF42-9696-50BF62F87C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4555C-D796-34F6-31B1-DB6B6E45E1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14CF2-0290-FF16-41B0-E45E82459E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AD25EE-84C1-27DC-8579-19E01E593C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9326B1-B063-40F6-AC68-20C1A678E6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74787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a:effectLst/>
              </a:rPr>
              <a:t>In the realm of AI deployments, choosing the right offer is pivotal for aligning with your business objectives. The Azure OpenAI Service provides two distinct offerings: Standard and Provisioned. The Standard offering is optimized for low to medium volume workloads and offers flexibility with Pay-per-call pricing. This flexible, usage-based model with variable costs and capped throughput, is ideal for development, testing, and lower-volume production workloads.</a:t>
            </a:r>
          </a:p>
          <a:p>
            <a:pPr algn="l">
              <a:buFont typeface="Arial" panose="020B0604020202020204" pitchFamily="34" charset="0"/>
              <a:buNone/>
            </a:pPr>
            <a:endParaRPr lang="en-US" b="0" i="0">
              <a:effectLst/>
            </a:endParaRPr>
          </a:p>
          <a:p>
            <a:pPr algn="l">
              <a:buFont typeface="Arial" panose="020B0604020202020204" pitchFamily="34" charset="0"/>
              <a:buNone/>
            </a:pPr>
            <a:r>
              <a:rPr lang="en-US" b="0" i="0">
                <a:effectLst/>
              </a:rPr>
              <a:t>On the other hand, the Provisioned offering is designed for high volume workloads and throughput-heavy applications, offering predictable costs with hourly billing and the option for Azure Reservations. It offers a consistent cost structure and scalable throughput, suitable for production and high-volume workloads that need guaranteed latency.</a:t>
            </a:r>
          </a:p>
          <a:p>
            <a:pPr algn="l">
              <a:buFont typeface="Arial" panose="020B0604020202020204" pitchFamily="34" charset="0"/>
              <a:buNone/>
            </a:pPr>
            <a:endParaRPr lang="en-US" b="0" i="0">
              <a:effectLst/>
            </a:endParaRPr>
          </a:p>
          <a:p>
            <a:pPr algn="l">
              <a:buFont typeface="Arial" panose="020B0604020202020204" pitchFamily="34" charset="0"/>
              <a:buNone/>
            </a:pPr>
            <a:r>
              <a:rPr lang="en-US" b="0" i="0">
                <a:effectLst/>
              </a:rPr>
              <a:t>It’s essential to consider your workload’s nature and requirements when selecting the best offer to ensure efficiency and cost-effectiveness.</a:t>
            </a:r>
            <a:endParaRPr lang="en-US" b="1" i="0">
              <a:solidFill>
                <a:srgbClr val="000000"/>
              </a:solidFill>
              <a:effectLst/>
              <a:highlight>
                <a:srgbClr val="FFFFFF"/>
              </a:highlight>
            </a:endParaRPr>
          </a:p>
          <a:p>
            <a:pPr algn="l">
              <a:buFont typeface="Arial" panose="020B0604020202020204" pitchFamily="34" charset="0"/>
              <a:buNone/>
            </a:pPr>
            <a:endParaRPr lang="en-US" b="1" i="0">
              <a:solidFill>
                <a:srgbClr val="000000"/>
              </a:solidFill>
              <a:effectLst/>
              <a:highlight>
                <a:srgbClr val="FFFFFF"/>
              </a:highlight>
            </a:endParaRPr>
          </a:p>
          <a:p>
            <a:br>
              <a:rPr lang="en-US" b="0" i="0">
                <a:solidFill>
                  <a:srgbClr val="000000"/>
                </a:solidFill>
                <a:effectLst/>
                <a:highlight>
                  <a:srgbClr val="FFFFFF"/>
                </a:highlight>
              </a:rPr>
            </a:b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9326B1-B063-40F6-AC68-20C1A678E6B7}"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325265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7F4BC-37CF-9535-A7F8-0E6163E9B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179492-8032-0881-9D74-06AD227E44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14131-2FB3-89C6-4DAE-F8D8CD370873}"/>
              </a:ext>
            </a:extLst>
          </p:cNvPr>
          <p:cNvSpPr>
            <a:spLocks noGrp="1"/>
          </p:cNvSpPr>
          <p:nvPr>
            <p:ph type="body" idx="1"/>
          </p:nvPr>
        </p:nvSpPr>
        <p:spPr/>
        <p:txBody>
          <a:bodyPr/>
          <a:lstStyle/>
          <a:p>
            <a:pPr algn="l">
              <a:buFont typeface="Arial" panose="020B0604020202020204" pitchFamily="34" charset="0"/>
              <a:buNone/>
            </a:pPr>
            <a:r>
              <a:rPr lang="en-US" b="0" i="0">
                <a:effectLst/>
              </a:rPr>
              <a:t>Global last bullet point- all resources data at rest in the resource region, independent of the deployment type.</a:t>
            </a:r>
          </a:p>
          <a:p>
            <a:pPr algn="l">
              <a:buFont typeface="Arial" panose="020B0604020202020204" pitchFamily="34" charset="0"/>
              <a:buNone/>
            </a:pPr>
            <a:endParaRPr lang="en-US" b="0" i="0">
              <a:effectLst/>
            </a:endParaRPr>
          </a:p>
          <a:p>
            <a:pPr algn="l">
              <a:buFont typeface="Arial" panose="020B0604020202020204" pitchFamily="34" charset="0"/>
              <a:buNone/>
            </a:pPr>
            <a:r>
              <a:rPr lang="en-US" b="0" i="0">
                <a:effectLst/>
              </a:rPr>
              <a:t>In the realm of AI deployments, choosing the right offer is pivotal for aligning with your business objectives. The Azure OpenAI Service provides two distinct offerings: Standard and Provisioned. The Standard offering is optimized for low to medium volume workloads and offers flexibility with Pay-per-call pricing. This flexible, usage-based model with variable costs and capped throughput, is ideal for development, testing, and lower-volume workloads.</a:t>
            </a:r>
          </a:p>
          <a:p>
            <a:pPr algn="l">
              <a:buFont typeface="Arial" panose="020B0604020202020204" pitchFamily="34" charset="0"/>
              <a:buNone/>
            </a:pPr>
            <a:endParaRPr lang="en-US" b="0" i="0">
              <a:effectLst/>
            </a:endParaRPr>
          </a:p>
          <a:p>
            <a:pPr algn="l">
              <a:buFont typeface="Arial" panose="020B0604020202020204" pitchFamily="34" charset="0"/>
              <a:buNone/>
            </a:pPr>
            <a:r>
              <a:rPr lang="en-US" b="0" i="0">
                <a:effectLst/>
              </a:rPr>
              <a:t>On the other hand, the Provisioned offering is designed for high volume workloads and throughput-heavy applications, offering predictable costs with hourly billing and the option for Azure Reservations. It offers a consistent cost structure and scalable throughput, suitable for production and high-volume workloads that have strict latency requirements.</a:t>
            </a:r>
          </a:p>
          <a:p>
            <a:pPr algn="l">
              <a:buFont typeface="Arial" panose="020B0604020202020204" pitchFamily="34" charset="0"/>
              <a:buNone/>
            </a:pPr>
            <a:endParaRPr lang="en-US" b="0" i="0">
              <a:effectLst/>
            </a:endParaRPr>
          </a:p>
          <a:p>
            <a:pPr algn="l">
              <a:buFont typeface="Arial" panose="020B0604020202020204" pitchFamily="34" charset="0"/>
              <a:buNone/>
            </a:pPr>
            <a:r>
              <a:rPr lang="en-US" b="0" i="0">
                <a:effectLst/>
              </a:rPr>
              <a:t>It’s essential to consider your workload’s nature and requirements when selecting the best offer to ensure efficiency and cost-effectiveness.</a:t>
            </a:r>
            <a:endParaRPr lang="en-US" b="1" i="0">
              <a:solidFill>
                <a:srgbClr val="000000"/>
              </a:solidFill>
              <a:effectLst/>
              <a:highlight>
                <a:srgbClr val="FFFFFF"/>
              </a:highlight>
            </a:endParaRPr>
          </a:p>
          <a:p>
            <a:pPr algn="l">
              <a:buFont typeface="Arial" panose="020B0604020202020204" pitchFamily="34" charset="0"/>
              <a:buNone/>
            </a:pPr>
            <a:endParaRPr lang="en-US" b="1" i="0">
              <a:solidFill>
                <a:srgbClr val="000000"/>
              </a:solidFill>
              <a:effectLst/>
              <a:highlight>
                <a:srgbClr val="FFFFFF"/>
              </a:highlight>
            </a:endParaRPr>
          </a:p>
          <a:p>
            <a:br>
              <a:rPr lang="en-US" b="0" i="0">
                <a:solidFill>
                  <a:srgbClr val="000000"/>
                </a:solidFill>
                <a:effectLst/>
                <a:highlight>
                  <a:srgbClr val="FFFFFF"/>
                </a:highlight>
              </a:rPr>
            </a:br>
            <a:endParaRPr lang="en-US"/>
          </a:p>
        </p:txBody>
      </p:sp>
      <p:sp>
        <p:nvSpPr>
          <p:cNvPr id="4" name="Slide Number Placeholder 3">
            <a:extLst>
              <a:ext uri="{FF2B5EF4-FFF2-40B4-BE49-F238E27FC236}">
                <a16:creationId xmlns:a16="http://schemas.microsoft.com/office/drawing/2014/main" id="{C17BB191-7625-97E6-2D56-9A4429774B3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9326B1-B063-40F6-AC68-20C1A678E6B7}"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9888957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7139-F2B8-C61A-87A1-8FCFD10CB1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5AC08-D107-CC85-D5A1-CF6F5AE4C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245544-5638-CE6C-C92E-773005C10DA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a:effectLst/>
                <a:ea typeface="Calibri" panose="020F0502020204030204" pitchFamily="34" charset="0"/>
                <a:cs typeface="Segoe Sans Text" pitchFamily="2" charset="0"/>
              </a:rPr>
              <a:t>With the introduction of innovative models from DeepSeek, xAI, Meta, and Mistral gaining significant attention in the industry, customers are now seeking service parity with Azure OpenAI models. </a:t>
            </a:r>
          </a:p>
          <a:p>
            <a:pPr>
              <a:lnSpc>
                <a:spcPct val="100000"/>
              </a:lnSpc>
              <a:spcAft>
                <a:spcPts val="0"/>
              </a:spcAft>
            </a:pPr>
            <a:endParaRPr lang="en-US" sz="1800" kern="100">
              <a:ea typeface="Calibri"/>
              <a:cs typeface="Segoe Sans Text" pitchFamily="2" charset="0"/>
            </a:endParaRPr>
          </a:p>
          <a:p>
            <a:pPr>
              <a:lnSpc>
                <a:spcPct val="100000"/>
              </a:lnSpc>
              <a:spcAft>
                <a:spcPts val="0"/>
              </a:spcAft>
            </a:pPr>
            <a:r>
              <a:rPr lang="en-US" sz="1800" kern="100">
                <a:ea typeface="Calibri"/>
                <a:cs typeface="Segoe Sans Text" pitchFamily="2" charset="0"/>
              </a:rPr>
              <a:t>Azure Direct Models are trusted models hosted and sold by Microsoft. They provide fungible provisioned throughput, simplify deployment experiences, and enterprise-grade security. These models include OpenAI, DeepSeek, Microsoft, </a:t>
            </a:r>
            <a:r>
              <a:rPr lang="en-US" sz="1800" kern="100" err="1">
                <a:ea typeface="Calibri"/>
                <a:cs typeface="Segoe Sans Text" pitchFamily="2" charset="0"/>
              </a:rPr>
              <a:t>Grock</a:t>
            </a:r>
            <a:r>
              <a:rPr lang="en-US" sz="1800" kern="100">
                <a:ea typeface="Calibri"/>
                <a:cs typeface="Segoe Sans Text" pitchFamily="2" charset="0"/>
              </a:rPr>
              <a:t> from xAI, Llama 4 from Meta, Flux from ?, and Mistral OCR from Mistral.</a:t>
            </a:r>
          </a:p>
          <a:p>
            <a:endParaRPr lang="en-US">
              <a:cs typeface="Segoe Sans Text" pitchFamily="2" charset="0"/>
            </a:endParaRPr>
          </a:p>
          <a:p>
            <a:r>
              <a:rPr lang="en-US" sz="850">
                <a:cs typeface="Segoe Sans Text" pitchFamily="2" charset="0"/>
              </a:rPr>
              <a:t>Our partner and community models offer</a:t>
            </a:r>
          </a:p>
        </p:txBody>
      </p:sp>
      <p:sp>
        <p:nvSpPr>
          <p:cNvPr id="4" name="Slide Number Placeholder 3">
            <a:extLst>
              <a:ext uri="{FF2B5EF4-FFF2-40B4-BE49-F238E27FC236}">
                <a16:creationId xmlns:a16="http://schemas.microsoft.com/office/drawing/2014/main" id="{1DCD46E0-5022-BE05-3AE4-FBB293064DF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33C5BC5-7156-4765-A9F9-D983CBCB532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938075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F5B9-2025-09D9-A128-3CEBD4A29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9E4C4E-AB41-8468-4AD6-4DF902A60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EE3812-655C-49E0-16AF-02506268C39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a:effectLst/>
                <a:latin typeface="Calibri" panose="020F0502020204030204" pitchFamily="34" charset="0"/>
                <a:ea typeface="Calibri" panose="020F0502020204030204" pitchFamily="34" charset="0"/>
                <a:cs typeface="Arial" panose="020B0604020202020204" pitchFamily="34" charset="0"/>
              </a:rPr>
              <a:t>With the introduction of innovative models from DeepSeek, xAI, Meta, and Mistral gaining significant attention in the industry, customers are now seeking service parity with Azure OpenAI models. </a:t>
            </a:r>
          </a:p>
          <a:p>
            <a:pPr>
              <a:lnSpc>
                <a:spcPct val="100000"/>
              </a:lnSpc>
              <a:spcAft>
                <a:spcPts val="0"/>
              </a:spcAft>
            </a:pPr>
            <a:endParaRPr lang="en-US" sz="1800" kern="100">
              <a:latin typeface="Calibri"/>
              <a:ea typeface="Calibri"/>
              <a:cs typeface="Calibri"/>
            </a:endParaRPr>
          </a:p>
          <a:p>
            <a:pPr>
              <a:lnSpc>
                <a:spcPct val="100000"/>
              </a:lnSpc>
              <a:spcAft>
                <a:spcPts val="0"/>
              </a:spcAft>
            </a:pPr>
            <a:r>
              <a:rPr lang="en-US" sz="1800" kern="100">
                <a:latin typeface="Calibri"/>
                <a:ea typeface="Calibri"/>
                <a:cs typeface="Calibri"/>
              </a:rPr>
              <a:t>Azure Direct Models are trusted models hosted and sold by Microsoft. They provide fungible provisioned throughput, simplify deployment experiences, and enterprise-grade security. These models include OpenAI, DeepSeek, Microsoft, </a:t>
            </a:r>
            <a:r>
              <a:rPr lang="en-US" sz="1800" kern="100" err="1">
                <a:latin typeface="Calibri"/>
                <a:ea typeface="Calibri"/>
                <a:cs typeface="Calibri"/>
              </a:rPr>
              <a:t>Grock</a:t>
            </a:r>
            <a:r>
              <a:rPr lang="en-US" sz="1800" kern="100">
                <a:latin typeface="Calibri"/>
                <a:ea typeface="Calibri"/>
                <a:cs typeface="Calibri"/>
              </a:rPr>
              <a:t> from xAI, Llama 4 from Meta, Flux from ?, and Mistral OCR from Mistral.</a:t>
            </a:r>
          </a:p>
          <a:p>
            <a:endParaRPr lang="en-US">
              <a:cs typeface="Segoe UI" panose="020B0502040204020203" pitchFamily="34" charset="0"/>
            </a:endParaRPr>
          </a:p>
          <a:p>
            <a:r>
              <a:rPr lang="en-US" sz="850">
                <a:cs typeface="Segoe UI" panose="020B0502040204020203" pitchFamily="34" charset="0"/>
              </a:rPr>
              <a:t>Our partner and community models offer</a:t>
            </a:r>
          </a:p>
        </p:txBody>
      </p:sp>
      <p:sp>
        <p:nvSpPr>
          <p:cNvPr id="4" name="Slide Number Placeholder 3">
            <a:extLst>
              <a:ext uri="{FF2B5EF4-FFF2-40B4-BE49-F238E27FC236}">
                <a16:creationId xmlns:a16="http://schemas.microsoft.com/office/drawing/2014/main" id="{3C16D6F6-6C0D-6343-419B-5633AC3A886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33C5BC5-7156-4765-A9F9-D983CBCB532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6790865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B109E-77FB-DD48-7E4D-A141BCE8E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4C40AD-C27F-9FCF-E7EF-1E2314144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A9E445-B886-AC0B-6249-4EADF4DAD654}"/>
              </a:ext>
            </a:extLst>
          </p:cNvPr>
          <p:cNvSpPr>
            <a:spLocks noGrp="1"/>
          </p:cNvSpPr>
          <p:nvPr>
            <p:ph type="body" idx="1"/>
          </p:nvPr>
        </p:nvSpPr>
        <p:spPr/>
        <p:txBody>
          <a:bodyPr/>
          <a:lstStyle/>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Sans Text Semibold"/>
                <a:ea typeface="+mn-ea"/>
                <a:cs typeface="Segoe Sans Text" pitchFamily="2" charset="0"/>
              </a:rPr>
              <a:t>Your prompts and completions are not shared with model providers </a:t>
            </a:r>
          </a:p>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Sans Text Semibold"/>
                <a:ea typeface="+mn-ea"/>
                <a:cs typeface="Segoe Sans Text" pitchFamily="2" charset="0"/>
              </a:rPr>
              <a:t>Your prompts and completions not used for training models </a:t>
            </a:r>
          </a:p>
        </p:txBody>
      </p:sp>
      <p:sp>
        <p:nvSpPr>
          <p:cNvPr id="4" name="Header Placeholder 3">
            <a:extLst>
              <a:ext uri="{FF2B5EF4-FFF2-40B4-BE49-F238E27FC236}">
                <a16:creationId xmlns:a16="http://schemas.microsoft.com/office/drawing/2014/main" id="{2658F059-B5CA-BF1A-5B06-C7C1E59CB401}"/>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66F5700B-9DFB-EF29-E0D5-5780E93B2F56}"/>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A1DA35C1-6296-23BC-703F-51DF5378F9CC}"/>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8/7/2026 7:26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FEB59237-890F-5E5F-BE9C-ABE8359EB3E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9306812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44F46-14BC-B6CB-D1CF-181FA47C1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E46764-4227-D0DF-861F-087C4525D7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78646E-C3FF-3815-A88C-5E1574408BD5}"/>
              </a:ext>
            </a:extLst>
          </p:cNvPr>
          <p:cNvSpPr>
            <a:spLocks noGrp="1"/>
          </p:cNvSpPr>
          <p:nvPr>
            <p:ph type="body" idx="1"/>
          </p:nvPr>
        </p:nvSpPr>
        <p:spPr/>
        <p:txBody>
          <a:bodyPr/>
          <a:lstStyle/>
          <a:p>
            <a:r>
              <a:rPr lang="en-US"/>
              <a:t>We’ve made model selection radically easier. From benchmarks to leaderboards to A/B testing, you can evaluate and iterate. And with Model Router, you can automatically route to the best model for your needs, optimizing for quality, speed, or cost</a:t>
            </a:r>
          </a:p>
          <a:p>
            <a:pPr marL="0" marR="0">
              <a:spcAft>
                <a:spcPts val="800"/>
              </a:spcAft>
              <a:buNone/>
            </a:pPr>
            <a:r>
              <a:rPr lang="en-US" sz="1800">
                <a:effectLst/>
                <a:ea typeface="MS Mincho"/>
                <a:cs typeface="Segoe Sans Text" pitchFamily="2" charset="0"/>
              </a:rPr>
              <a:t> </a:t>
            </a:r>
            <a:endParaRPr lang="en-US" sz="1200" b="0" i="0" u="none" strike="noStrike" kern="1200" cap="none" spc="0" normalizeH="0" baseline="0" noProof="0">
              <a:ln>
                <a:noFill/>
              </a:ln>
              <a:solidFill>
                <a:schemeClr val="tx1"/>
              </a:solidFill>
              <a:effectLst/>
              <a:uLnTx/>
              <a:uFillTx/>
              <a:latin typeface="Segoe Sans Text Semibold"/>
              <a:ea typeface="MS Mincho"/>
              <a:cs typeface="Segoe Sans Text Semibold"/>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50" normalizeH="0" baseline="0" noProof="0">
              <a:ln w="3175">
                <a:noFill/>
              </a:ln>
              <a:solidFill>
                <a:srgbClr val="FFFFFF"/>
              </a:solidFill>
              <a:effectLst/>
              <a:uLnTx/>
              <a:uFillTx/>
              <a:latin typeface="Segoe Sans Text Semibold"/>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50" normalizeH="0" baseline="0" noProof="0">
                <a:ln w="3175">
                  <a:noFill/>
                </a:ln>
                <a:solidFill>
                  <a:srgbClr val="FFFFFF"/>
                </a:solidFill>
                <a:effectLst/>
                <a:uLnTx/>
                <a:uFillTx/>
                <a:latin typeface="Segoe Sans Text Semibold"/>
                <a:ea typeface="+mn-ea"/>
                <a:cs typeface="Segoe Sans Text Semibold"/>
              </a:rPr>
              <a:t>The Microsoft Foundry difference:</a:t>
            </a:r>
            <a:endParaRPr lang="en-US" sz="1200" b="0" i="0" u="none" strike="noStrike" kern="0" cap="none" spc="-50" normalizeH="0" baseline="0" noProof="0">
              <a:ln w="3175">
                <a:noFill/>
              </a:ln>
              <a:solidFill>
                <a:srgbClr val="FFFFFF"/>
              </a:solidFill>
              <a:effectLst/>
              <a:uLnTx/>
              <a:uFillTx/>
              <a:latin typeface="Segoe Sans Text Semibold"/>
              <a:cs typeface="Segoe Sans Text Semibold"/>
            </a:endParaRPr>
          </a:p>
          <a:p>
            <a:pPr marL="285750" marR="0" lvl="0" indent="-285750" algn="l"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1200" kern="100">
                <a:solidFill>
                  <a:schemeClr val="bg1"/>
                </a:solidFill>
                <a:ea typeface="Aptos" panose="020B0004020202020204" pitchFamily="34" charset="0"/>
                <a:cs typeface="Segoe Sans Text" pitchFamily="2" charset="0"/>
              </a:rPr>
              <a:t>A</a:t>
            </a:r>
            <a:r>
              <a:rPr lang="en-US" sz="1200" kern="100">
                <a:solidFill>
                  <a:schemeClr val="bg1"/>
                </a:solidFill>
                <a:effectLst/>
                <a:ea typeface="Aptos" panose="020B0004020202020204" pitchFamily="34" charset="0"/>
                <a:cs typeface="Segoe Sans Text" pitchFamily="2" charset="0"/>
              </a:rPr>
              <a:t>utomated model routing, </a:t>
            </a:r>
          </a:p>
          <a:p>
            <a:pPr marL="285750" marR="0" lvl="0" indent="-285750" algn="l"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1200" kern="100">
                <a:solidFill>
                  <a:schemeClr val="bg1"/>
                </a:solidFill>
                <a:ea typeface="Aptos" panose="020B0004020202020204" pitchFamily="34" charset="0"/>
                <a:cs typeface="Segoe Sans Text" pitchFamily="2" charset="0"/>
              </a:rPr>
              <a:t>F</a:t>
            </a:r>
            <a:r>
              <a:rPr lang="en-US" sz="1200" kern="100">
                <a:solidFill>
                  <a:schemeClr val="bg1"/>
                </a:solidFill>
                <a:effectLst/>
                <a:ea typeface="Aptos" panose="020B0004020202020204" pitchFamily="34" charset="0"/>
                <a:cs typeface="Segoe Sans Text" pitchFamily="2" charset="0"/>
              </a:rPr>
              <a:t>ully customizable and context-aware templates,</a:t>
            </a:r>
          </a:p>
          <a:p>
            <a:pPr marL="285750" marR="0" lvl="0" indent="-285750" algn="l"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1200" kern="100">
                <a:solidFill>
                  <a:schemeClr val="bg1"/>
                </a:solidFill>
                <a:ea typeface="Aptos" panose="020B0004020202020204" pitchFamily="34" charset="0"/>
                <a:cs typeface="Segoe Sans Text" pitchFamily="2" charset="0"/>
              </a:rPr>
              <a:t>R</a:t>
            </a:r>
            <a:r>
              <a:rPr lang="en-US" sz="1200" kern="100">
                <a:solidFill>
                  <a:schemeClr val="bg1"/>
                </a:solidFill>
                <a:effectLst/>
                <a:ea typeface="Aptos" panose="020B0004020202020204" pitchFamily="34" charset="0"/>
                <a:cs typeface="Segoe Sans Text" pitchFamily="2" charset="0"/>
              </a:rPr>
              <a:t>eal-time performance monitoring</a:t>
            </a:r>
            <a:endParaRPr kumimoji="0" lang="en-US" sz="1200" b="0" i="0" u="none" strike="noStrike" kern="0" cap="none" spc="-50" normalizeH="0" baseline="0" noProof="0">
              <a:ln w="3175">
                <a:noFill/>
              </a:ln>
              <a:solidFill>
                <a:schemeClr val="bg1"/>
              </a:solidFill>
              <a:effectLst/>
              <a:uLnTx/>
              <a:uFillTx/>
              <a:cs typeface="Segoe Sans Text" pitchFamily="2" charset="0"/>
            </a:endParaRPr>
          </a:p>
          <a:p>
            <a:pPr marL="0" indent="0">
              <a:buFont typeface="Arial" panose="020B0604020202020204" pitchFamily="34" charset="0"/>
              <a:buNone/>
            </a:pPr>
            <a:endParaRPr lang="en-US"/>
          </a:p>
          <a:p>
            <a:pPr marL="0" indent="0">
              <a:buFont typeface="Arial" panose="020B0604020202020204" pitchFamily="34" charset="0"/>
              <a:buNone/>
            </a:pPr>
            <a:endParaRPr lang="en-US"/>
          </a:p>
          <a:p>
            <a:pPr marL="0" indent="0">
              <a:buFont typeface="Arial" panose="020B0604020202020204" pitchFamily="34" charset="0"/>
              <a:buNone/>
            </a:pPr>
            <a:r>
              <a:rPr lang="en-US"/>
              <a:t>Model selection with Microsoft Foundry is special because it supports </a:t>
            </a:r>
            <a:r>
              <a:rPr lang="en-US" b="1"/>
              <a:t>the complete AI lifecycle</a:t>
            </a:r>
            <a:r>
              <a:rPr lang="en-US"/>
              <a:t>.</a:t>
            </a:r>
          </a:p>
          <a:p>
            <a:pPr marL="228600" indent="-228600">
              <a:buFont typeface="+mj-lt"/>
              <a:buAutoNum type="arabicPeriod"/>
            </a:pPr>
            <a:r>
              <a:rPr lang="en-US"/>
              <a:t>When you’re </a:t>
            </a:r>
            <a:r>
              <a:rPr lang="en-US" b="1"/>
              <a:t>prototyping</a:t>
            </a:r>
            <a:r>
              <a:rPr lang="en-US"/>
              <a:t> and looking to identify your most promising models, you can run </a:t>
            </a:r>
            <a:r>
              <a:rPr lang="en-US" u="sng"/>
              <a:t>performance benchmarks</a:t>
            </a:r>
            <a:endParaRPr lang="en-US"/>
          </a:p>
          <a:p>
            <a:pPr marL="228600" indent="-228600">
              <a:buFont typeface="+mj-lt"/>
              <a:buAutoNum type="arabicPeriod"/>
            </a:pPr>
            <a:r>
              <a:rPr lang="en-US"/>
              <a:t>Under this same roof, you can </a:t>
            </a:r>
            <a:r>
              <a:rPr lang="en-US" b="1"/>
              <a:t>optimize </a:t>
            </a:r>
            <a:r>
              <a:rPr lang="en-US"/>
              <a:t>your models through testing and iteration using automated </a:t>
            </a:r>
            <a:r>
              <a:rPr lang="en-US" b="1"/>
              <a:t>evaluations </a:t>
            </a:r>
            <a:r>
              <a:rPr lang="en-US"/>
              <a:t>and swap models with </a:t>
            </a:r>
            <a:r>
              <a:rPr lang="en-US" b="1"/>
              <a:t>Model inference API </a:t>
            </a:r>
          </a:p>
          <a:p>
            <a:pPr marL="228600" indent="-228600">
              <a:buFont typeface="+mj-lt"/>
              <a:buAutoNum type="arabicPeriod"/>
            </a:pPr>
            <a:r>
              <a:rPr lang="en-US"/>
              <a:t>And as you </a:t>
            </a:r>
            <a:r>
              <a:rPr lang="en-US" b="1"/>
              <a:t>operationalize </a:t>
            </a:r>
            <a:r>
              <a:rPr lang="en-US"/>
              <a:t>at scale, </a:t>
            </a:r>
            <a:r>
              <a:rPr lang="en-US" u="sng"/>
              <a:t>automated post-production evaluations and A/B testing </a:t>
            </a:r>
            <a:r>
              <a:rPr lang="en-US"/>
              <a:t>help you measure ongoing quality and safety in production</a:t>
            </a:r>
          </a:p>
          <a:p>
            <a:pPr marL="228600" indent="-228600">
              <a:buFont typeface="+mj-lt"/>
              <a:buAutoNum type="arabicPeriod"/>
            </a:pPr>
            <a:endParaRPr lang="en-US"/>
          </a:p>
          <a:p>
            <a:pPr marL="0" indent="0">
              <a:buFont typeface="Arial" panose="020B0604020202020204" pitchFamily="34" charset="0"/>
              <a:buNone/>
            </a:pPr>
            <a:r>
              <a:rPr lang="en-US"/>
              <a:t>Microsoft Foundry gives you a unified API, built-in tooling for benchmarking, evaluations, experimentation and versatile deployment (serverless APIs or provisioned throughput) </a:t>
            </a:r>
            <a:r>
              <a:rPr lang="en-US" b="1"/>
              <a:t>for all stages </a:t>
            </a:r>
            <a:r>
              <a:rPr lang="en-US"/>
              <a:t>of AI projects.</a:t>
            </a:r>
            <a:br>
              <a:rPr lang="en-US">
                <a:cs typeface="Segoe Sans Text" pitchFamily="2" charset="0"/>
              </a:rPr>
            </a:br>
            <a:endParaRPr lang="en-US"/>
          </a:p>
          <a:p>
            <a:pPr marL="342900" marR="0" lvl="0" indent="-342900">
              <a:lnSpc>
                <a:spcPct val="116000"/>
              </a:lnSpc>
              <a:buFont typeface="Symbol" panose="05050102010706020507" pitchFamily="18" charset="2"/>
              <a:buChar char=""/>
            </a:pPr>
            <a:r>
              <a:rPr lang="en-US" sz="1200">
                <a:solidFill>
                  <a:srgbClr val="242424"/>
                </a:solidFill>
                <a:effectLst/>
                <a:highlight>
                  <a:srgbClr val="FFFF00"/>
                </a:highlight>
                <a:ea typeface="MS Mincho"/>
                <a:cs typeface="Segoe Sans Text" pitchFamily="2" charset="0"/>
              </a:rPr>
              <a:t>The model router automatically selects the best model for your prompt, resulting in higher quality and lower cost outputs. </a:t>
            </a:r>
            <a:endParaRPr lang="en-US" sz="1200">
              <a:effectLst/>
              <a:highlight>
                <a:srgbClr val="FFFF00"/>
              </a:highlight>
              <a:ea typeface="MS Mincho"/>
              <a:cs typeface="Segoe Sans Text" pitchFamily="2" charset="0"/>
            </a:endParaRPr>
          </a:p>
          <a:p>
            <a:pPr marL="342900" marR="0" lvl="0" indent="-342900">
              <a:lnSpc>
                <a:spcPct val="116000"/>
              </a:lnSpc>
              <a:spcAft>
                <a:spcPts val="800"/>
              </a:spcAft>
              <a:buFont typeface="Symbol" panose="05050102010706020507" pitchFamily="18" charset="2"/>
              <a:buChar char=""/>
            </a:pPr>
            <a:r>
              <a:rPr lang="en-US" sz="1200">
                <a:solidFill>
                  <a:srgbClr val="242424"/>
                </a:solidFill>
                <a:effectLst/>
                <a:highlight>
                  <a:srgbClr val="FFFF00"/>
                </a:highlight>
                <a:ea typeface="MS Mincho"/>
                <a:cs typeface="Segoe Sans Text" pitchFamily="2" charset="0"/>
              </a:rPr>
              <a:t>Developers can easily swit</a:t>
            </a:r>
            <a:r>
              <a:rPr lang="en-US" sz="1200">
                <a:solidFill>
                  <a:srgbClr val="242424"/>
                </a:solidFill>
                <a:effectLst/>
                <a:highlight>
                  <a:srgbClr val="FFFF00"/>
                </a:highlight>
                <a:ea typeface="Segoe UI" panose="020B0502040204020203" pitchFamily="34" charset="0"/>
                <a:cs typeface="Segoe Sans Text" pitchFamily="2" charset="0"/>
              </a:rPr>
              <a:t>ch models and compare performance. A complete set of SDKs for models and access from popular Developer platforms (GitHub), IDEs (Visual Studio) and frameworks (</a:t>
            </a:r>
            <a:r>
              <a:rPr lang="en-US" sz="1200" err="1">
                <a:solidFill>
                  <a:srgbClr val="242424"/>
                </a:solidFill>
                <a:effectLst/>
                <a:highlight>
                  <a:srgbClr val="FFFF00"/>
                </a:highlight>
                <a:ea typeface="Segoe UI" panose="020B0502040204020203" pitchFamily="34" charset="0"/>
                <a:cs typeface="Segoe Sans Text" pitchFamily="2" charset="0"/>
              </a:rPr>
              <a:t>LangChain</a:t>
            </a:r>
            <a:r>
              <a:rPr lang="en-US" sz="1200">
                <a:solidFill>
                  <a:srgbClr val="242424"/>
                </a:solidFill>
                <a:effectLst/>
                <a:highlight>
                  <a:srgbClr val="FFFF00"/>
                </a:highlight>
                <a:ea typeface="Segoe UI" panose="020B0502040204020203" pitchFamily="34" charset="0"/>
                <a:cs typeface="Segoe Sans Text" pitchFamily="2" charset="0"/>
              </a:rPr>
              <a:t> and Semantic Kernel).</a:t>
            </a:r>
            <a:endParaRPr lang="en-US" sz="1200">
              <a:effectLst/>
              <a:highlight>
                <a:srgbClr val="FFFF00"/>
              </a:highlight>
              <a:ea typeface="MS Mincho" panose="02020609040205080304" pitchFamily="49" charset="-128"/>
              <a:cs typeface="Segoe Sans Text" pitchFamily="2" charset="0"/>
            </a:endParaRPr>
          </a:p>
          <a:p>
            <a:pPr marL="0" indent="0">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523F7760-CADC-C055-DFEC-4F459182EA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A0D00C-D97D-4D9F-A1A5-E7BA88B482EE}"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4022433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Customers that have Foundry Model deployments receive notifications for upcoming model retirements according to the following schedule:</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For each subscription that has a model deployed as a serverless API deployment or deployed to a Foundry resource, members of the </a:t>
            </a:r>
            <a:r>
              <a:rPr lang="en-US" sz="1200" b="0" i="1" kern="1200">
                <a:solidFill>
                  <a:schemeClr val="tx1"/>
                </a:solidFill>
                <a:effectLst/>
                <a:latin typeface="+mn-lt"/>
                <a:ea typeface="+mn-ea"/>
                <a:cs typeface="+mn-cs"/>
              </a:rPr>
              <a:t>owner</a:t>
            </a:r>
            <a:r>
              <a:rPr lang="en-US" sz="1200" b="0" i="0" kern="1200">
                <a:solidFill>
                  <a:schemeClr val="tx1"/>
                </a:solidFill>
                <a:effectLst/>
                <a:latin typeface="+mn-lt"/>
                <a:ea typeface="+mn-ea"/>
                <a:cs typeface="+mn-cs"/>
              </a:rPr>
              <a:t>, </a:t>
            </a:r>
            <a:r>
              <a:rPr lang="en-US" sz="1200" b="0" i="1" kern="1200">
                <a:solidFill>
                  <a:schemeClr val="tx1"/>
                </a:solidFill>
                <a:effectLst/>
                <a:latin typeface="+mn-lt"/>
                <a:ea typeface="+mn-ea"/>
                <a:cs typeface="+mn-cs"/>
              </a:rPr>
              <a:t>contributor</a:t>
            </a:r>
            <a:r>
              <a:rPr lang="en-US" sz="1200" b="0" i="0" kern="1200">
                <a:solidFill>
                  <a:schemeClr val="tx1"/>
                </a:solidFill>
                <a:effectLst/>
                <a:latin typeface="+mn-lt"/>
                <a:ea typeface="+mn-ea"/>
                <a:cs typeface="+mn-cs"/>
              </a:rPr>
              <a:t>, </a:t>
            </a:r>
            <a:r>
              <a:rPr lang="en-US" sz="1200" b="0" i="1" kern="1200">
                <a:solidFill>
                  <a:schemeClr val="tx1"/>
                </a:solidFill>
                <a:effectLst/>
                <a:latin typeface="+mn-lt"/>
                <a:ea typeface="+mn-ea"/>
                <a:cs typeface="+mn-cs"/>
              </a:rPr>
              <a:t>reader</a:t>
            </a:r>
            <a:r>
              <a:rPr lang="en-US" sz="1200" b="0" i="0" kern="1200">
                <a:solidFill>
                  <a:schemeClr val="tx1"/>
                </a:solidFill>
                <a:effectLst/>
                <a:latin typeface="+mn-lt"/>
                <a:ea typeface="+mn-ea"/>
                <a:cs typeface="+mn-cs"/>
              </a:rPr>
              <a:t>, </a:t>
            </a:r>
            <a:r>
              <a:rPr lang="en-US" sz="1200" b="0" i="1" kern="1200">
                <a:solidFill>
                  <a:schemeClr val="tx1"/>
                </a:solidFill>
                <a:effectLst/>
                <a:latin typeface="+mn-lt"/>
                <a:ea typeface="+mn-ea"/>
                <a:cs typeface="+mn-cs"/>
              </a:rPr>
              <a:t>monitoring contributor</a:t>
            </a:r>
            <a:r>
              <a:rPr lang="en-US" sz="1200" b="0" i="0" kern="1200">
                <a:solidFill>
                  <a:schemeClr val="tx1"/>
                </a:solidFill>
                <a:effectLst/>
                <a:latin typeface="+mn-lt"/>
                <a:ea typeface="+mn-ea"/>
                <a:cs typeface="+mn-cs"/>
              </a:rPr>
              <a:t>, and </a:t>
            </a:r>
            <a:r>
              <a:rPr lang="en-US" sz="1200" b="0" i="1" kern="1200">
                <a:solidFill>
                  <a:schemeClr val="tx1"/>
                </a:solidFill>
                <a:effectLst/>
                <a:latin typeface="+mn-lt"/>
                <a:ea typeface="+mn-ea"/>
                <a:cs typeface="+mn-cs"/>
              </a:rPr>
              <a:t>monitoring reader</a:t>
            </a:r>
            <a:r>
              <a:rPr lang="en-US" sz="1200" b="0" i="0" kern="1200">
                <a:solidFill>
                  <a:schemeClr val="tx1"/>
                </a:solidFill>
                <a:effectLst/>
                <a:latin typeface="+mn-lt"/>
                <a:ea typeface="+mn-ea"/>
                <a:cs typeface="+mn-cs"/>
              </a:rPr>
              <a:t> roles receive a notification when a model deprecation is announced. The notification contains the dates when the model enters legacy, deprecated, and retired states. The notification might provide information about possible replacement model options, if applicable.</a:t>
            </a:r>
            <a:endParaRPr lang="en-US"/>
          </a:p>
        </p:txBody>
      </p:sp>
      <p:sp>
        <p:nvSpPr>
          <p:cNvPr id="4" name="Slide Number Placeholder 3"/>
          <p:cNvSpPr>
            <a:spLocks noGrp="1"/>
          </p:cNvSpPr>
          <p:nvPr>
            <p:ph type="sldNum" sz="quarter" idx="5"/>
          </p:nvPr>
        </p:nvSpPr>
        <p:spPr/>
        <p:txBody>
          <a:bodyPr/>
          <a:lstStyle/>
          <a:p>
            <a:fld id="{9CB07E57-5C0D-4623-B8EA-6B02450B38AF}" type="slidenum">
              <a:rPr lang="en-US" smtClean="0"/>
              <a:t>19</a:t>
            </a:fld>
            <a:endParaRPr lang="en-US"/>
          </a:p>
        </p:txBody>
      </p:sp>
    </p:spTree>
    <p:extLst>
      <p:ext uri="{BB962C8B-B14F-4D97-AF65-F5344CB8AC3E}">
        <p14:creationId xmlns:p14="http://schemas.microsoft.com/office/powerpoint/2010/main" val="33383487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Azure OpenAI models, customers with active Azure OpenAI deployments receive notice for models with upcoming retirement as follows:</a:t>
            </a:r>
          </a:p>
          <a:p>
            <a:endParaRPr lang="en-US"/>
          </a:p>
          <a:p>
            <a:r>
              <a:rPr lang="en-US"/>
              <a:t>Members of the owner, contributor, reader, monitoring contributor, and monitoring reader roles receive notification for each subscription with a deployment of a model that has an upcoming retirement.</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Retirements are done on a rolling basis, region by region.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There's no schedule for when a specific region or SKU is upgraded.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t>Notifications are sent from an unmonitored mailbox, azure-noreply@microsoft.com.</a:t>
            </a:r>
          </a:p>
          <a:p>
            <a:endParaRPr lang="en-US"/>
          </a:p>
        </p:txBody>
      </p:sp>
      <p:sp>
        <p:nvSpPr>
          <p:cNvPr id="4" name="Slide Number Placeholder 3"/>
          <p:cNvSpPr>
            <a:spLocks noGrp="1"/>
          </p:cNvSpPr>
          <p:nvPr>
            <p:ph type="sldNum" sz="quarter" idx="5"/>
          </p:nvPr>
        </p:nvSpPr>
        <p:spPr/>
        <p:txBody>
          <a:bodyPr/>
          <a:lstStyle/>
          <a:p>
            <a:fld id="{9CB07E57-5C0D-4623-B8EA-6B02450B38AF}" type="slidenum">
              <a:rPr lang="en-US" smtClean="0"/>
              <a:t>20</a:t>
            </a:fld>
            <a:endParaRPr lang="en-US"/>
          </a:p>
        </p:txBody>
      </p:sp>
    </p:spTree>
    <p:extLst>
      <p:ext uri="{BB962C8B-B14F-4D97-AF65-F5344CB8AC3E}">
        <p14:creationId xmlns:p14="http://schemas.microsoft.com/office/powerpoint/2010/main" val="18928150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Following are the </a:t>
            </a:r>
            <a:r>
              <a:rPr lang="en-US" sz="1200" b="1" kern="1200">
                <a:solidFill>
                  <a:schemeClr val="tx1"/>
                </a:solidFill>
                <a:effectLst/>
                <a:latin typeface="+mn-lt"/>
                <a:ea typeface="+mn-ea"/>
                <a:cs typeface="+mn-cs"/>
              </a:rPr>
              <a:t>Foundry Models from OpenAI </a:t>
            </a:r>
            <a:r>
              <a:rPr lang="en-US" sz="1200" u="sng" kern="1200">
                <a:solidFill>
                  <a:schemeClr val="tx1"/>
                </a:solidFill>
                <a:effectLst/>
                <a:latin typeface="+mn-lt"/>
                <a:ea typeface="+mn-ea"/>
                <a:cs typeface="+mn-cs"/>
                <a:hlinkClick r:id="rId3"/>
              </a:rPr>
              <a:t>deprecating and/or retiring</a:t>
            </a:r>
            <a:r>
              <a:rPr lang="en-US" sz="1200" kern="1200">
                <a:solidFill>
                  <a:schemeClr val="tx1"/>
                </a:solidFill>
                <a:effectLst/>
                <a:latin typeface="+mn-lt"/>
                <a:ea typeface="+mn-ea"/>
                <a:cs typeface="+mn-cs"/>
              </a:rPr>
              <a:t> in FY26 Q3. Notifications to the customers would be going out per product documentation </a:t>
            </a:r>
            <a:r>
              <a:rPr lang="en-US" sz="1200" u="sng" kern="1200">
                <a:solidFill>
                  <a:schemeClr val="tx1"/>
                </a:solidFill>
                <a:effectLst/>
                <a:latin typeface="+mn-lt"/>
                <a:ea typeface="+mn-ea"/>
                <a:cs typeface="+mn-cs"/>
                <a:hlinkClick r:id="rId4"/>
              </a:rPr>
              <a:t>here</a:t>
            </a:r>
            <a:r>
              <a:rPr lang="en-US" sz="1200" kern="1200">
                <a:solidFill>
                  <a:schemeClr val="tx1"/>
                </a:solidFill>
                <a:effectLst/>
                <a:latin typeface="+mn-lt"/>
                <a:ea typeface="+mn-ea"/>
                <a:cs typeface="+mn-cs"/>
              </a:rPr>
              <a:t>. Details in the below table may change in future so always refer to the updated product documentation </a:t>
            </a:r>
            <a:r>
              <a:rPr lang="en-US" sz="1200" u="sng" kern="1200">
                <a:solidFill>
                  <a:schemeClr val="tx1"/>
                </a:solidFill>
                <a:effectLst/>
                <a:latin typeface="+mn-lt"/>
                <a:ea typeface="+mn-ea"/>
                <a:cs typeface="+mn-cs"/>
                <a:hlinkClick r:id="rId5"/>
              </a:rPr>
              <a:t>here</a:t>
            </a:r>
            <a:r>
              <a:rPr lang="en-US" sz="1200" kern="1200">
                <a:solidFill>
                  <a:schemeClr val="tx1"/>
                </a:solidFill>
                <a:effectLst/>
                <a:latin typeface="+mn-lt"/>
                <a:ea typeface="+mn-ea"/>
                <a:cs typeface="+mn-cs"/>
              </a:rPr>
              <a:t>. </a:t>
            </a:r>
          </a:p>
          <a:p>
            <a:endParaRPr lang="en-US"/>
          </a:p>
        </p:txBody>
      </p:sp>
      <p:sp>
        <p:nvSpPr>
          <p:cNvPr id="4" name="Slide Number Placeholder 3"/>
          <p:cNvSpPr>
            <a:spLocks noGrp="1"/>
          </p:cNvSpPr>
          <p:nvPr>
            <p:ph type="sldNum" sz="quarter" idx="5"/>
          </p:nvPr>
        </p:nvSpPr>
        <p:spPr/>
        <p:txBody>
          <a:bodyPr/>
          <a:lstStyle/>
          <a:p>
            <a:fld id="{9CB07E57-5C0D-4623-B8EA-6B02450B38AF}" type="slidenum">
              <a:rPr lang="en-US" smtClean="0"/>
              <a:t>30</a:t>
            </a:fld>
            <a:endParaRPr lang="en-US"/>
          </a:p>
        </p:txBody>
      </p:sp>
    </p:spTree>
    <p:extLst>
      <p:ext uri="{BB962C8B-B14F-4D97-AF65-F5344CB8AC3E}">
        <p14:creationId xmlns:p14="http://schemas.microsoft.com/office/powerpoint/2010/main" val="16125019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Following are the </a:t>
            </a:r>
            <a:r>
              <a:rPr lang="en-US" sz="1200" b="1" kern="1200">
                <a:solidFill>
                  <a:schemeClr val="tx1"/>
                </a:solidFill>
                <a:effectLst/>
                <a:latin typeface="+mn-lt"/>
                <a:ea typeface="+mn-ea"/>
                <a:cs typeface="+mn-cs"/>
              </a:rPr>
              <a:t>Foundry Models from Cohere, Core42 &amp; Mistral AI</a:t>
            </a:r>
            <a:r>
              <a:rPr lang="en-US" sz="1200" kern="1200">
                <a:solidFill>
                  <a:schemeClr val="tx1"/>
                </a:solidFill>
                <a:effectLst/>
                <a:latin typeface="+mn-lt"/>
                <a:ea typeface="+mn-ea"/>
                <a:cs typeface="+mn-cs"/>
              </a:rPr>
              <a:t> </a:t>
            </a:r>
            <a:r>
              <a:rPr lang="en-US" sz="1200" u="sng" kern="1200">
                <a:solidFill>
                  <a:schemeClr val="tx1"/>
                </a:solidFill>
                <a:effectLst/>
                <a:latin typeface="+mn-lt"/>
                <a:ea typeface="+mn-ea"/>
                <a:cs typeface="+mn-cs"/>
                <a:hlinkClick r:id="rId3"/>
              </a:rPr>
              <a:t>deprecating</a:t>
            </a:r>
            <a:r>
              <a:rPr lang="en-US" sz="1200" kern="1200">
                <a:solidFill>
                  <a:schemeClr val="tx1"/>
                </a:solidFill>
                <a:effectLst/>
                <a:latin typeface="+mn-lt"/>
                <a:ea typeface="+mn-ea"/>
                <a:cs typeface="+mn-cs"/>
              </a:rPr>
              <a:t> and/or </a:t>
            </a:r>
            <a:r>
              <a:rPr lang="en-US" sz="1200" u="sng" kern="1200">
                <a:solidFill>
                  <a:schemeClr val="tx1"/>
                </a:solidFill>
                <a:effectLst/>
                <a:latin typeface="+mn-lt"/>
                <a:ea typeface="+mn-ea"/>
                <a:cs typeface="+mn-cs"/>
                <a:hlinkClick r:id="rId4"/>
              </a:rPr>
              <a:t>retiring</a:t>
            </a:r>
            <a:r>
              <a:rPr lang="en-US" sz="1200" kern="1200">
                <a:solidFill>
                  <a:schemeClr val="tx1"/>
                </a:solidFill>
                <a:effectLst/>
                <a:latin typeface="+mn-lt"/>
                <a:ea typeface="+mn-ea"/>
                <a:cs typeface="+mn-cs"/>
              </a:rPr>
              <a:t> in FY26 Q3. Notifications to the customers would be going out per product documentation </a:t>
            </a:r>
            <a:r>
              <a:rPr lang="en-US" sz="1200" u="sng" kern="1200">
                <a:solidFill>
                  <a:schemeClr val="tx1"/>
                </a:solidFill>
                <a:effectLst/>
                <a:latin typeface="+mn-lt"/>
                <a:ea typeface="+mn-ea"/>
                <a:cs typeface="+mn-cs"/>
                <a:hlinkClick r:id="rId5"/>
              </a:rPr>
              <a:t>here</a:t>
            </a:r>
            <a:r>
              <a:rPr lang="en-US" sz="1200" kern="1200">
                <a:solidFill>
                  <a:schemeClr val="tx1"/>
                </a:solidFill>
                <a:effectLst/>
                <a:latin typeface="+mn-lt"/>
                <a:ea typeface="+mn-ea"/>
                <a:cs typeface="+mn-cs"/>
              </a:rPr>
              <a:t>. Details in the below table may change in future so always refer to the updated product documentation </a:t>
            </a:r>
            <a:r>
              <a:rPr lang="en-US" sz="1200" u="sng" kern="1200">
                <a:solidFill>
                  <a:schemeClr val="tx1"/>
                </a:solidFill>
                <a:effectLst/>
                <a:latin typeface="+mn-lt"/>
                <a:ea typeface="+mn-ea"/>
                <a:cs typeface="+mn-cs"/>
                <a:hlinkClick r:id="rId6"/>
              </a:rPr>
              <a:t>here</a:t>
            </a:r>
            <a:r>
              <a:rPr lang="en-US" sz="1200" kern="1200">
                <a:solidFill>
                  <a:schemeClr val="tx1"/>
                </a:solidFill>
                <a:effectLst/>
                <a:latin typeface="+mn-lt"/>
                <a:ea typeface="+mn-ea"/>
                <a:cs typeface="+mn-cs"/>
              </a:rPr>
              <a:t>.</a:t>
            </a:r>
          </a:p>
          <a:p>
            <a:endParaRPr lang="en-US"/>
          </a:p>
        </p:txBody>
      </p:sp>
      <p:sp>
        <p:nvSpPr>
          <p:cNvPr id="4" name="Slide Number Placeholder 3"/>
          <p:cNvSpPr>
            <a:spLocks noGrp="1"/>
          </p:cNvSpPr>
          <p:nvPr>
            <p:ph type="sldNum" sz="quarter" idx="5"/>
          </p:nvPr>
        </p:nvSpPr>
        <p:spPr/>
        <p:txBody>
          <a:bodyPr/>
          <a:lstStyle/>
          <a:p>
            <a:fld id="{9CB07E57-5C0D-4623-B8EA-6B02450B38AF}" type="slidenum">
              <a:rPr lang="en-US" smtClean="0"/>
              <a:t>31</a:t>
            </a:fld>
            <a:endParaRPr lang="en-US"/>
          </a:p>
        </p:txBody>
      </p:sp>
    </p:spTree>
    <p:extLst>
      <p:ext uri="{BB962C8B-B14F-4D97-AF65-F5344CB8AC3E}">
        <p14:creationId xmlns:p14="http://schemas.microsoft.com/office/powerpoint/2010/main" val="40853283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91D65-6B4D-6391-70CD-E4AC32AE9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67859B-4AF4-C636-5A53-086E649A60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89E098-A1E2-B5A1-7E89-C5DEBE9CD7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Following are the </a:t>
            </a:r>
            <a:r>
              <a:rPr lang="en-US" sz="1200" b="1" kern="1200">
                <a:solidFill>
                  <a:schemeClr val="tx1"/>
                </a:solidFill>
                <a:effectLst/>
                <a:latin typeface="+mn-lt"/>
                <a:ea typeface="+mn-ea"/>
                <a:cs typeface="+mn-cs"/>
              </a:rPr>
              <a:t>Foundry Models from Cohere, Core42 &amp; Mistral AI</a:t>
            </a:r>
            <a:r>
              <a:rPr lang="en-US" sz="1200" kern="1200">
                <a:solidFill>
                  <a:schemeClr val="tx1"/>
                </a:solidFill>
                <a:effectLst/>
                <a:latin typeface="+mn-lt"/>
                <a:ea typeface="+mn-ea"/>
                <a:cs typeface="+mn-cs"/>
              </a:rPr>
              <a:t> </a:t>
            </a:r>
            <a:r>
              <a:rPr lang="en-US" sz="1200" u="sng" kern="1200">
                <a:solidFill>
                  <a:schemeClr val="tx1"/>
                </a:solidFill>
                <a:effectLst/>
                <a:latin typeface="+mn-lt"/>
                <a:ea typeface="+mn-ea"/>
                <a:cs typeface="+mn-cs"/>
                <a:hlinkClick r:id="rId3"/>
              </a:rPr>
              <a:t>deprecating</a:t>
            </a:r>
            <a:r>
              <a:rPr lang="en-US" sz="1200" kern="1200">
                <a:solidFill>
                  <a:schemeClr val="tx1"/>
                </a:solidFill>
                <a:effectLst/>
                <a:latin typeface="+mn-lt"/>
                <a:ea typeface="+mn-ea"/>
                <a:cs typeface="+mn-cs"/>
              </a:rPr>
              <a:t> and/or </a:t>
            </a:r>
            <a:r>
              <a:rPr lang="en-US" sz="1200" u="sng" kern="1200">
                <a:solidFill>
                  <a:schemeClr val="tx1"/>
                </a:solidFill>
                <a:effectLst/>
                <a:latin typeface="+mn-lt"/>
                <a:ea typeface="+mn-ea"/>
                <a:cs typeface="+mn-cs"/>
                <a:hlinkClick r:id="rId4"/>
              </a:rPr>
              <a:t>retiring</a:t>
            </a:r>
            <a:r>
              <a:rPr lang="en-US" sz="1200" kern="1200">
                <a:solidFill>
                  <a:schemeClr val="tx1"/>
                </a:solidFill>
                <a:effectLst/>
                <a:latin typeface="+mn-lt"/>
                <a:ea typeface="+mn-ea"/>
                <a:cs typeface="+mn-cs"/>
              </a:rPr>
              <a:t> in FY26 Q3. Notifications to the customers would be going out per product documentation </a:t>
            </a:r>
            <a:r>
              <a:rPr lang="en-US" sz="1200" u="sng" kern="1200">
                <a:solidFill>
                  <a:schemeClr val="tx1"/>
                </a:solidFill>
                <a:effectLst/>
                <a:latin typeface="+mn-lt"/>
                <a:ea typeface="+mn-ea"/>
                <a:cs typeface="+mn-cs"/>
                <a:hlinkClick r:id="rId5"/>
              </a:rPr>
              <a:t>here</a:t>
            </a:r>
            <a:r>
              <a:rPr lang="en-US" sz="1200" kern="1200">
                <a:solidFill>
                  <a:schemeClr val="tx1"/>
                </a:solidFill>
                <a:effectLst/>
                <a:latin typeface="+mn-lt"/>
                <a:ea typeface="+mn-ea"/>
                <a:cs typeface="+mn-cs"/>
              </a:rPr>
              <a:t>. Details in the below table may change in future so always refer to the updated product documentation </a:t>
            </a:r>
            <a:r>
              <a:rPr lang="en-US" sz="1200" u="sng" kern="1200">
                <a:solidFill>
                  <a:schemeClr val="tx1"/>
                </a:solidFill>
                <a:effectLst/>
                <a:latin typeface="+mn-lt"/>
                <a:ea typeface="+mn-ea"/>
                <a:cs typeface="+mn-cs"/>
                <a:hlinkClick r:id="rId6"/>
              </a:rPr>
              <a:t>here</a:t>
            </a:r>
            <a:r>
              <a:rPr lang="en-US" sz="1200" kern="1200">
                <a:solidFill>
                  <a:schemeClr val="tx1"/>
                </a:solidFill>
                <a:effectLst/>
                <a:latin typeface="+mn-lt"/>
                <a:ea typeface="+mn-ea"/>
                <a:cs typeface="+mn-cs"/>
              </a:rPr>
              <a:t>.</a:t>
            </a:r>
          </a:p>
          <a:p>
            <a:endParaRPr lang="en-US"/>
          </a:p>
        </p:txBody>
      </p:sp>
      <p:sp>
        <p:nvSpPr>
          <p:cNvPr id="4" name="Slide Number Placeholder 3">
            <a:extLst>
              <a:ext uri="{FF2B5EF4-FFF2-40B4-BE49-F238E27FC236}">
                <a16:creationId xmlns:a16="http://schemas.microsoft.com/office/drawing/2014/main" id="{6BC6544B-0E62-7CA3-B93B-7E56522FE125}"/>
              </a:ext>
            </a:extLst>
          </p:cNvPr>
          <p:cNvSpPr>
            <a:spLocks noGrp="1"/>
          </p:cNvSpPr>
          <p:nvPr>
            <p:ph type="sldNum" sz="quarter" idx="5"/>
          </p:nvPr>
        </p:nvSpPr>
        <p:spPr/>
        <p:txBody>
          <a:bodyPr/>
          <a:lstStyle/>
          <a:p>
            <a:fld id="{9CB07E57-5C0D-4623-B8EA-6B02450B38AF}" type="slidenum">
              <a:rPr lang="en-US" smtClean="0"/>
              <a:t>32</a:t>
            </a:fld>
            <a:endParaRPr lang="en-US"/>
          </a:p>
        </p:txBody>
      </p:sp>
    </p:spTree>
    <p:extLst>
      <p:ext uri="{BB962C8B-B14F-4D97-AF65-F5344CB8AC3E}">
        <p14:creationId xmlns:p14="http://schemas.microsoft.com/office/powerpoint/2010/main" val="3469638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When you deploy a model you can choose an update policy, which can include the following options:</a:t>
            </a:r>
          </a:p>
        </p:txBody>
      </p:sp>
      <p:sp>
        <p:nvSpPr>
          <p:cNvPr id="4" name="Slide Number Placeholder 3"/>
          <p:cNvSpPr>
            <a:spLocks noGrp="1"/>
          </p:cNvSpPr>
          <p:nvPr>
            <p:ph type="sldNum" sz="quarter" idx="5"/>
          </p:nvPr>
        </p:nvSpPr>
        <p:spPr/>
        <p:txBody>
          <a:bodyPr/>
          <a:lstStyle/>
          <a:p>
            <a:fld id="{9CB07E57-5C0D-4623-B8EA-6B02450B38AF}" type="slidenum">
              <a:rPr lang="en-US" smtClean="0"/>
              <a:t>36</a:t>
            </a:fld>
            <a:endParaRPr lang="en-US"/>
          </a:p>
        </p:txBody>
      </p:sp>
    </p:spTree>
    <p:extLst>
      <p:ext uri="{BB962C8B-B14F-4D97-AF65-F5344CB8AC3E}">
        <p14:creationId xmlns:p14="http://schemas.microsoft.com/office/powerpoint/2010/main" val="407196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You can check what model upgrade options are set for previously deployed models using REST, Azure CLI, and Azure PowerShell, as well as with the Foundry portal.</a:t>
            </a:r>
          </a:p>
          <a:p>
            <a:r>
              <a:rPr lang="en-US" sz="1200" b="0" i="0" kern="1200">
                <a:solidFill>
                  <a:schemeClr val="tx1"/>
                </a:solidFill>
                <a:effectLst/>
                <a:latin typeface="+mn-lt"/>
                <a:ea typeface="+mn-ea"/>
                <a:cs typeface="+mn-cs"/>
              </a:rPr>
              <a:t>The corresponding property can also be accessed via </a:t>
            </a:r>
            <a:r>
              <a:rPr lang="en-US" sz="1200" b="0" i="0" u="none" strike="noStrike" kern="1200">
                <a:solidFill>
                  <a:schemeClr val="tx1"/>
                </a:solidFill>
                <a:effectLst/>
                <a:latin typeface="+mn-lt"/>
                <a:ea typeface="+mn-ea"/>
                <a:cs typeface="+mn-cs"/>
                <a:hlinkClick r:id="rId3"/>
              </a:rPr>
              <a:t>REST</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4"/>
              </a:rPr>
              <a:t>Azure PowerShell</a:t>
            </a:r>
            <a:r>
              <a:rPr lang="en-US" sz="1200" b="0" i="0" kern="1200">
                <a:solidFill>
                  <a:schemeClr val="tx1"/>
                </a:solidFill>
                <a:effectLst/>
                <a:latin typeface="+mn-lt"/>
                <a:ea typeface="+mn-ea"/>
                <a:cs typeface="+mn-cs"/>
              </a:rPr>
              <a:t>, and </a:t>
            </a:r>
            <a:r>
              <a:rPr lang="en-US" sz="1200" b="0" i="0" u="none" strike="noStrike" kern="1200">
                <a:solidFill>
                  <a:schemeClr val="tx1"/>
                </a:solidFill>
                <a:effectLst/>
                <a:latin typeface="+mn-lt"/>
                <a:ea typeface="+mn-ea"/>
                <a:cs typeface="+mn-cs"/>
                <a:hlinkClick r:id="rId5"/>
              </a:rPr>
              <a:t>Azure CLI</a:t>
            </a:r>
            <a:r>
              <a:rPr lang="en-US" sz="1200" b="0" i="0" kern="1200">
                <a:solidFill>
                  <a:schemeClr val="tx1"/>
                </a:solidFill>
                <a:effectLst/>
                <a:latin typeface="+mn-lt"/>
                <a:ea typeface="+mn-ea"/>
                <a:cs typeface="+mn-cs"/>
              </a:rPr>
              <a:t>.</a:t>
            </a:r>
          </a:p>
          <a:p>
            <a:endParaRPr lang="en-US"/>
          </a:p>
        </p:txBody>
      </p:sp>
      <p:sp>
        <p:nvSpPr>
          <p:cNvPr id="4" name="Slide Number Placeholder 3"/>
          <p:cNvSpPr>
            <a:spLocks noGrp="1"/>
          </p:cNvSpPr>
          <p:nvPr>
            <p:ph type="sldNum" sz="quarter" idx="5"/>
          </p:nvPr>
        </p:nvSpPr>
        <p:spPr/>
        <p:txBody>
          <a:bodyPr/>
          <a:lstStyle/>
          <a:p>
            <a:fld id="{9CB07E57-5C0D-4623-B8EA-6B02450B38AF}" type="slidenum">
              <a:rPr lang="en-US" smtClean="0"/>
              <a:t>39</a:t>
            </a:fld>
            <a:endParaRPr lang="en-US"/>
          </a:p>
        </p:txBody>
      </p:sp>
    </p:spTree>
    <p:extLst>
      <p:ext uri="{BB962C8B-B14F-4D97-AF65-F5344CB8AC3E}">
        <p14:creationId xmlns:p14="http://schemas.microsoft.com/office/powerpoint/2010/main" val="35907334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Provisioned deployments support distinct model management practices. Provisioned deployment model management practices are intended to give you the greatest control over when and how you migrate between model versions and model families. </a:t>
            </a:r>
          </a:p>
          <a:p>
            <a:endParaRPr lang="en-US"/>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Currently, there are two approaches available to manage models on provisioned deployments</a:t>
            </a:r>
          </a:p>
          <a:p>
            <a:endParaRPr lang="en-US"/>
          </a:p>
        </p:txBody>
      </p:sp>
      <p:sp>
        <p:nvSpPr>
          <p:cNvPr id="4" name="Slide Number Placeholder 3"/>
          <p:cNvSpPr>
            <a:spLocks noGrp="1"/>
          </p:cNvSpPr>
          <p:nvPr>
            <p:ph type="sldNum" sz="quarter" idx="5"/>
          </p:nvPr>
        </p:nvSpPr>
        <p:spPr/>
        <p:txBody>
          <a:bodyPr/>
          <a:lstStyle/>
          <a:p>
            <a:fld id="{9CB07E57-5C0D-4623-B8EA-6B02450B38AF}" type="slidenum">
              <a:rPr lang="en-US" smtClean="0"/>
              <a:t>41</a:t>
            </a:fld>
            <a:endParaRPr lang="en-US"/>
          </a:p>
        </p:txBody>
      </p:sp>
    </p:spTree>
    <p:extLst>
      <p:ext uri="{BB962C8B-B14F-4D97-AF65-F5344CB8AC3E}">
        <p14:creationId xmlns:p14="http://schemas.microsoft.com/office/powerpoint/2010/main" val="8119960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Multi-deployment migrations allow you to have greater control over the model migration process. With multi-deployment migrations, you can dictate how quickly you would like to migrate your existing traffic to the target model version or model family on a new provisioned deployment. The process to migrate to a new model version or model family using the multi-deployment migration approach is as follows:</a:t>
            </a:r>
            <a:endParaRPr lang="en-US"/>
          </a:p>
        </p:txBody>
      </p:sp>
      <p:sp>
        <p:nvSpPr>
          <p:cNvPr id="4" name="Slide Number Placeholder 3"/>
          <p:cNvSpPr>
            <a:spLocks noGrp="1"/>
          </p:cNvSpPr>
          <p:nvPr>
            <p:ph type="sldNum" sz="quarter" idx="5"/>
          </p:nvPr>
        </p:nvSpPr>
        <p:spPr/>
        <p:txBody>
          <a:bodyPr/>
          <a:lstStyle/>
          <a:p>
            <a:fld id="{9CB07E57-5C0D-4623-B8EA-6B02450B38AF}" type="slidenum">
              <a:rPr lang="en-US" smtClean="0"/>
              <a:t>47</a:t>
            </a:fld>
            <a:endParaRPr lang="en-US"/>
          </a:p>
        </p:txBody>
      </p:sp>
    </p:spTree>
    <p:extLst>
      <p:ext uri="{BB962C8B-B14F-4D97-AF65-F5344CB8AC3E}">
        <p14:creationId xmlns:p14="http://schemas.microsoft.com/office/powerpoint/2010/main" val="25029025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https://learn.microsoft.com/en-us/azure/ai-foundry/mcp/available-tools?view=foundry#model-monitoring-and-operations</a:t>
            </a:r>
          </a:p>
        </p:txBody>
      </p:sp>
      <p:sp>
        <p:nvSpPr>
          <p:cNvPr id="4" name="Slide Number Placeholder 3"/>
          <p:cNvSpPr>
            <a:spLocks noGrp="1"/>
          </p:cNvSpPr>
          <p:nvPr>
            <p:ph type="sldNum" sz="quarter" idx="5"/>
          </p:nvPr>
        </p:nvSpPr>
        <p:spPr/>
        <p:txBody>
          <a:bodyPr/>
          <a:lstStyle/>
          <a:p>
            <a:fld id="{9CB07E57-5C0D-4623-B8EA-6B02450B38AF}" type="slidenum">
              <a:rPr lang="en-US" smtClean="0"/>
              <a:t>48</a:t>
            </a:fld>
            <a:endParaRPr lang="en-US"/>
          </a:p>
        </p:txBody>
      </p:sp>
    </p:spTree>
    <p:extLst>
      <p:ext uri="{BB962C8B-B14F-4D97-AF65-F5344CB8AC3E}">
        <p14:creationId xmlns:p14="http://schemas.microsoft.com/office/powerpoint/2010/main" val="30496125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Upgrade/Switch Models in Microsoft Foundry with Ask AI - Microsoft Foundry | Microsoft Learn</a:t>
            </a:r>
            <a:endParaRPr lang="en-US"/>
          </a:p>
        </p:txBody>
      </p:sp>
      <p:sp>
        <p:nvSpPr>
          <p:cNvPr id="4" name="Slide Number Placeholder 3"/>
          <p:cNvSpPr>
            <a:spLocks noGrp="1"/>
          </p:cNvSpPr>
          <p:nvPr>
            <p:ph type="sldNum" sz="quarter" idx="5"/>
          </p:nvPr>
        </p:nvSpPr>
        <p:spPr/>
        <p:txBody>
          <a:bodyPr/>
          <a:lstStyle/>
          <a:p>
            <a:fld id="{9CB07E57-5C0D-4623-B8EA-6B02450B38AF}" type="slidenum">
              <a:rPr lang="en-US" smtClean="0"/>
              <a:t>49</a:t>
            </a:fld>
            <a:endParaRPr lang="en-US"/>
          </a:p>
        </p:txBody>
      </p:sp>
    </p:spTree>
    <p:extLst>
      <p:ext uri="{BB962C8B-B14F-4D97-AF65-F5344CB8AC3E}">
        <p14:creationId xmlns:p14="http://schemas.microsoft.com/office/powerpoint/2010/main" val="35833250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hlinkClick r:id="rId3"/>
              </a:rPr>
              <a:t>🗂️ Azure AI Model </a:t>
            </a:r>
            <a:r>
              <a:rPr lang="en-GB" err="1">
                <a:hlinkClick r:id="rId3"/>
              </a:rPr>
              <a:t>Catalog</a:t>
            </a:r>
            <a:r>
              <a:rPr lang="en-GB">
                <a:hlinkClick r:id="rId3"/>
              </a:rPr>
              <a:t> for Customer-Facing Teams - Overview</a:t>
            </a:r>
            <a:endParaRPr lang="en-GB"/>
          </a:p>
        </p:txBody>
      </p:sp>
      <p:sp>
        <p:nvSpPr>
          <p:cNvPr id="4" name="Slide Number Placeholder 3"/>
          <p:cNvSpPr>
            <a:spLocks noGrp="1"/>
          </p:cNvSpPr>
          <p:nvPr>
            <p:ph type="sldNum" sz="quarter" idx="5"/>
          </p:nvPr>
        </p:nvSpPr>
        <p:spPr/>
        <p:txBody>
          <a:bodyPr/>
          <a:lstStyle/>
          <a:p>
            <a:fld id="{9CB07E57-5C0D-4623-B8EA-6B02450B38AF}" type="slidenum">
              <a:rPr lang="en-US" smtClean="0"/>
              <a:t>53</a:t>
            </a:fld>
            <a:endParaRPr lang="en-US"/>
          </a:p>
        </p:txBody>
      </p:sp>
    </p:spTree>
    <p:extLst>
      <p:ext uri="{BB962C8B-B14F-4D97-AF65-F5344CB8AC3E}">
        <p14:creationId xmlns:p14="http://schemas.microsoft.com/office/powerpoint/2010/main" val="2948669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21.jpe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5" Type="http://schemas.openxmlformats.org/officeDocument/2006/relationships/image" Target="../media/image25.svg"/><Relationship Id="rId4" Type="http://schemas.openxmlformats.org/officeDocument/2006/relationships/image" Target="../media/image2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41.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42.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sv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e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jpe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9.jpe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0.jpe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1.jpe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2.jpe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3.jpe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4.jpe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6.jpe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7.jpe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8.jpe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9.jpe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0.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e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jpe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9.jpe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0.jpe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1.jpe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2.jpe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3.jpe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4.jpe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6.jpe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7.jpe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8.jpeg"/><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9.jpe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0.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svg"/><Relationship Id="rId1" Type="http://schemas.openxmlformats.org/officeDocument/2006/relationships/slideMaster" Target="../slideMasters/slideMaster4.xml"/><Relationship Id="rId4"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15201-326C-0E67-38A7-78FAB26290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CD1BB5-7CB1-C8FE-0470-9208785D9C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C7901D-BEEB-B031-110B-D1D660766404}"/>
              </a:ext>
            </a:extLst>
          </p:cNvPr>
          <p:cNvSpPr>
            <a:spLocks noGrp="1"/>
          </p:cNvSpPr>
          <p:nvPr>
            <p:ph type="dt" sz="half" idx="10"/>
          </p:nvPr>
        </p:nvSpPr>
        <p:spPr/>
        <p:txBody>
          <a:bodyPr/>
          <a:lstStyle/>
          <a:p>
            <a:fld id="{979AE722-D2EB-46D8-8161-FEFFBD140FBC}" type="datetimeFigureOut">
              <a:rPr lang="en-US" smtClean="0"/>
              <a:t>8/7/2026</a:t>
            </a:fld>
            <a:endParaRPr lang="en-US"/>
          </a:p>
        </p:txBody>
      </p:sp>
      <p:sp>
        <p:nvSpPr>
          <p:cNvPr id="5" name="Footer Placeholder 4">
            <a:extLst>
              <a:ext uri="{FF2B5EF4-FFF2-40B4-BE49-F238E27FC236}">
                <a16:creationId xmlns:a16="http://schemas.microsoft.com/office/drawing/2014/main" id="{29BBEBAE-BB91-C337-39CA-10F9DEE180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C0E27-4E96-6D87-850B-1D77706EFC86}"/>
              </a:ext>
            </a:extLst>
          </p:cNvPr>
          <p:cNvSpPr>
            <a:spLocks noGrp="1"/>
          </p:cNvSpPr>
          <p:nvPr>
            <p:ph type="sldNum" sz="quarter" idx="12"/>
          </p:nvPr>
        </p:nvSpPr>
        <p:spPr/>
        <p:txBody>
          <a:bodyPr/>
          <a:lstStyle/>
          <a:p>
            <a:fld id="{0D366D58-53F6-4AE5-8CD4-D2410CA14459}" type="slidenum">
              <a:rPr lang="en-US" smtClean="0"/>
              <a:t>‹#›</a:t>
            </a:fld>
            <a:endParaRPr lang="en-US"/>
          </a:p>
        </p:txBody>
      </p:sp>
    </p:spTree>
    <p:extLst>
      <p:ext uri="{BB962C8B-B14F-4D97-AF65-F5344CB8AC3E}">
        <p14:creationId xmlns:p14="http://schemas.microsoft.com/office/powerpoint/2010/main" val="811463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2AB5B-95FF-D5D7-7393-1AB956F6C1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8104AB-A10E-8A87-383D-6554D03699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FA77FF-B22B-1C7C-6796-067C33EB8D80}"/>
              </a:ext>
            </a:extLst>
          </p:cNvPr>
          <p:cNvSpPr>
            <a:spLocks noGrp="1"/>
          </p:cNvSpPr>
          <p:nvPr>
            <p:ph type="dt" sz="half" idx="10"/>
          </p:nvPr>
        </p:nvSpPr>
        <p:spPr/>
        <p:txBody>
          <a:bodyPr/>
          <a:lstStyle/>
          <a:p>
            <a:fld id="{979AE722-D2EB-46D8-8161-FEFFBD140FBC}" type="datetimeFigureOut">
              <a:rPr lang="en-US" smtClean="0"/>
              <a:t>8/7/2026</a:t>
            </a:fld>
            <a:endParaRPr lang="en-US"/>
          </a:p>
        </p:txBody>
      </p:sp>
      <p:sp>
        <p:nvSpPr>
          <p:cNvPr id="5" name="Footer Placeholder 4">
            <a:extLst>
              <a:ext uri="{FF2B5EF4-FFF2-40B4-BE49-F238E27FC236}">
                <a16:creationId xmlns:a16="http://schemas.microsoft.com/office/drawing/2014/main" id="{B0AA906A-FCFB-B453-59A7-013B4EA506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8F5CC0-ED55-4E19-F380-B114EF7A6B49}"/>
              </a:ext>
            </a:extLst>
          </p:cNvPr>
          <p:cNvSpPr>
            <a:spLocks noGrp="1"/>
          </p:cNvSpPr>
          <p:nvPr>
            <p:ph type="sldNum" sz="quarter" idx="12"/>
          </p:nvPr>
        </p:nvSpPr>
        <p:spPr/>
        <p:txBody>
          <a:bodyPr/>
          <a:lstStyle/>
          <a:p>
            <a:fld id="{0D366D58-53F6-4AE5-8CD4-D2410CA14459}" type="slidenum">
              <a:rPr lang="en-US" smtClean="0"/>
              <a:t>‹#›</a:t>
            </a:fld>
            <a:endParaRPr lang="en-US"/>
          </a:p>
        </p:txBody>
      </p:sp>
    </p:spTree>
    <p:extLst>
      <p:ext uri="{BB962C8B-B14F-4D97-AF65-F5344CB8AC3E}">
        <p14:creationId xmlns:p14="http://schemas.microsoft.com/office/powerpoint/2010/main" val="1509148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09B2C-3E25-6886-1AC2-6A3B427858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FE23B5-CEB9-3CBF-B008-D970CD9B75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AF4E77-BCD6-9AD4-A86C-73B6122799D0}"/>
              </a:ext>
            </a:extLst>
          </p:cNvPr>
          <p:cNvSpPr>
            <a:spLocks noGrp="1"/>
          </p:cNvSpPr>
          <p:nvPr>
            <p:ph type="dt" sz="half" idx="10"/>
          </p:nvPr>
        </p:nvSpPr>
        <p:spPr/>
        <p:txBody>
          <a:bodyPr/>
          <a:lstStyle/>
          <a:p>
            <a:fld id="{979AE722-D2EB-46D8-8161-FEFFBD140FBC}" type="datetimeFigureOut">
              <a:rPr lang="en-US" smtClean="0"/>
              <a:t>8/7/2026</a:t>
            </a:fld>
            <a:endParaRPr lang="en-US"/>
          </a:p>
        </p:txBody>
      </p:sp>
      <p:sp>
        <p:nvSpPr>
          <p:cNvPr id="5" name="Footer Placeholder 4">
            <a:extLst>
              <a:ext uri="{FF2B5EF4-FFF2-40B4-BE49-F238E27FC236}">
                <a16:creationId xmlns:a16="http://schemas.microsoft.com/office/drawing/2014/main" id="{DD90EFEE-283C-7939-118F-02B59C57B0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B5772D-94ED-118F-D9FC-17AC15F83E58}"/>
              </a:ext>
            </a:extLst>
          </p:cNvPr>
          <p:cNvSpPr>
            <a:spLocks noGrp="1"/>
          </p:cNvSpPr>
          <p:nvPr>
            <p:ph type="sldNum" sz="quarter" idx="12"/>
          </p:nvPr>
        </p:nvSpPr>
        <p:spPr/>
        <p:txBody>
          <a:bodyPr/>
          <a:lstStyle/>
          <a:p>
            <a:fld id="{0D366D58-53F6-4AE5-8CD4-D2410CA14459}" type="slidenum">
              <a:rPr lang="en-US" smtClean="0"/>
              <a:t>‹#›</a:t>
            </a:fld>
            <a:endParaRPr lang="en-US"/>
          </a:p>
        </p:txBody>
      </p:sp>
    </p:spTree>
    <p:extLst>
      <p:ext uri="{BB962C8B-B14F-4D97-AF65-F5344CB8AC3E}">
        <p14:creationId xmlns:p14="http://schemas.microsoft.com/office/powerpoint/2010/main" val="2039042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28609-3AB7-C794-723E-16906C94D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52DC94-81F9-B600-A76D-F9BAD1F2DB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B70FDB-D60F-CC67-8C24-710F23DBA3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1E0C1B-533D-C565-0C1F-6C6BBD09C0AB}"/>
              </a:ext>
            </a:extLst>
          </p:cNvPr>
          <p:cNvSpPr>
            <a:spLocks noGrp="1"/>
          </p:cNvSpPr>
          <p:nvPr>
            <p:ph type="dt" sz="half" idx="10"/>
          </p:nvPr>
        </p:nvSpPr>
        <p:spPr/>
        <p:txBody>
          <a:bodyPr/>
          <a:lstStyle/>
          <a:p>
            <a:fld id="{979AE722-D2EB-46D8-8161-FEFFBD140FBC}" type="datetimeFigureOut">
              <a:rPr lang="en-US" smtClean="0"/>
              <a:t>8/7/2026</a:t>
            </a:fld>
            <a:endParaRPr lang="en-US"/>
          </a:p>
        </p:txBody>
      </p:sp>
      <p:sp>
        <p:nvSpPr>
          <p:cNvPr id="6" name="Footer Placeholder 5">
            <a:extLst>
              <a:ext uri="{FF2B5EF4-FFF2-40B4-BE49-F238E27FC236}">
                <a16:creationId xmlns:a16="http://schemas.microsoft.com/office/drawing/2014/main" id="{590A7DCF-FEC4-383C-DE00-E2C7DDEFBF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13F0AF-56F4-3ECD-8DCA-F39570769854}"/>
              </a:ext>
            </a:extLst>
          </p:cNvPr>
          <p:cNvSpPr>
            <a:spLocks noGrp="1"/>
          </p:cNvSpPr>
          <p:nvPr>
            <p:ph type="sldNum" sz="quarter" idx="12"/>
          </p:nvPr>
        </p:nvSpPr>
        <p:spPr/>
        <p:txBody>
          <a:bodyPr/>
          <a:lstStyle/>
          <a:p>
            <a:fld id="{0D366D58-53F6-4AE5-8CD4-D2410CA14459}" type="slidenum">
              <a:rPr lang="en-US" smtClean="0"/>
              <a:t>‹#›</a:t>
            </a:fld>
            <a:endParaRPr lang="en-US"/>
          </a:p>
        </p:txBody>
      </p:sp>
    </p:spTree>
    <p:extLst>
      <p:ext uri="{BB962C8B-B14F-4D97-AF65-F5344CB8AC3E}">
        <p14:creationId xmlns:p14="http://schemas.microsoft.com/office/powerpoint/2010/main" val="154646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F698C-4B3B-3A0F-0EEF-EAE43F3CF3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9BCF83-4151-1373-3F44-6F2E85BD1E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8A893C-9F4B-8ADE-0900-C87B62326B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B3A3AE-AE09-ADC6-D8C5-94C8A4CC38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DC1318-03BA-9EC1-8062-73C1290445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2C44327-2753-2EEE-054F-458D4BFAD54F}"/>
              </a:ext>
            </a:extLst>
          </p:cNvPr>
          <p:cNvSpPr>
            <a:spLocks noGrp="1"/>
          </p:cNvSpPr>
          <p:nvPr>
            <p:ph type="dt" sz="half" idx="10"/>
          </p:nvPr>
        </p:nvSpPr>
        <p:spPr/>
        <p:txBody>
          <a:bodyPr/>
          <a:lstStyle/>
          <a:p>
            <a:fld id="{979AE722-D2EB-46D8-8161-FEFFBD140FBC}" type="datetimeFigureOut">
              <a:rPr lang="en-US" smtClean="0"/>
              <a:t>8/7/2026</a:t>
            </a:fld>
            <a:endParaRPr lang="en-US"/>
          </a:p>
        </p:txBody>
      </p:sp>
      <p:sp>
        <p:nvSpPr>
          <p:cNvPr id="8" name="Footer Placeholder 7">
            <a:extLst>
              <a:ext uri="{FF2B5EF4-FFF2-40B4-BE49-F238E27FC236}">
                <a16:creationId xmlns:a16="http://schemas.microsoft.com/office/drawing/2014/main" id="{DD301116-20D2-074E-4D88-F073924D58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09AB9C-96A9-D6AA-9D2C-5448DD06951E}"/>
              </a:ext>
            </a:extLst>
          </p:cNvPr>
          <p:cNvSpPr>
            <a:spLocks noGrp="1"/>
          </p:cNvSpPr>
          <p:nvPr>
            <p:ph type="sldNum" sz="quarter" idx="12"/>
          </p:nvPr>
        </p:nvSpPr>
        <p:spPr/>
        <p:txBody>
          <a:bodyPr/>
          <a:lstStyle/>
          <a:p>
            <a:fld id="{0D366D58-53F6-4AE5-8CD4-D2410CA14459}" type="slidenum">
              <a:rPr lang="en-US" smtClean="0"/>
              <a:t>‹#›</a:t>
            </a:fld>
            <a:endParaRPr lang="en-US"/>
          </a:p>
        </p:txBody>
      </p:sp>
    </p:spTree>
    <p:extLst>
      <p:ext uri="{BB962C8B-B14F-4D97-AF65-F5344CB8AC3E}">
        <p14:creationId xmlns:p14="http://schemas.microsoft.com/office/powerpoint/2010/main" val="1189370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9DDF8-B43A-5656-CB1E-0AAF3B0D60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D184F6-38EB-C1F8-B726-85005D0C324E}"/>
              </a:ext>
            </a:extLst>
          </p:cNvPr>
          <p:cNvSpPr>
            <a:spLocks noGrp="1"/>
          </p:cNvSpPr>
          <p:nvPr>
            <p:ph type="dt" sz="half" idx="10"/>
          </p:nvPr>
        </p:nvSpPr>
        <p:spPr/>
        <p:txBody>
          <a:bodyPr/>
          <a:lstStyle/>
          <a:p>
            <a:fld id="{979AE722-D2EB-46D8-8161-FEFFBD140FBC}" type="datetimeFigureOut">
              <a:rPr lang="en-US" smtClean="0"/>
              <a:t>8/7/2026</a:t>
            </a:fld>
            <a:endParaRPr lang="en-US"/>
          </a:p>
        </p:txBody>
      </p:sp>
      <p:sp>
        <p:nvSpPr>
          <p:cNvPr id="4" name="Footer Placeholder 3">
            <a:extLst>
              <a:ext uri="{FF2B5EF4-FFF2-40B4-BE49-F238E27FC236}">
                <a16:creationId xmlns:a16="http://schemas.microsoft.com/office/drawing/2014/main" id="{6A92547F-C531-160A-33D8-2321FD2A3F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045834-EE8D-F1DF-DDBD-D75913DAC766}"/>
              </a:ext>
            </a:extLst>
          </p:cNvPr>
          <p:cNvSpPr>
            <a:spLocks noGrp="1"/>
          </p:cNvSpPr>
          <p:nvPr>
            <p:ph type="sldNum" sz="quarter" idx="12"/>
          </p:nvPr>
        </p:nvSpPr>
        <p:spPr/>
        <p:txBody>
          <a:bodyPr/>
          <a:lstStyle/>
          <a:p>
            <a:fld id="{0D366D58-53F6-4AE5-8CD4-D2410CA14459}" type="slidenum">
              <a:rPr lang="en-US" smtClean="0"/>
              <a:t>‹#›</a:t>
            </a:fld>
            <a:endParaRPr lang="en-US"/>
          </a:p>
        </p:txBody>
      </p:sp>
    </p:spTree>
    <p:extLst>
      <p:ext uri="{BB962C8B-B14F-4D97-AF65-F5344CB8AC3E}">
        <p14:creationId xmlns:p14="http://schemas.microsoft.com/office/powerpoint/2010/main" val="3724882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63BB90-9AF0-8C1F-47B1-D742A839D2EB}"/>
              </a:ext>
            </a:extLst>
          </p:cNvPr>
          <p:cNvSpPr>
            <a:spLocks noGrp="1"/>
          </p:cNvSpPr>
          <p:nvPr>
            <p:ph type="dt" sz="half" idx="10"/>
          </p:nvPr>
        </p:nvSpPr>
        <p:spPr/>
        <p:txBody>
          <a:bodyPr/>
          <a:lstStyle/>
          <a:p>
            <a:fld id="{979AE722-D2EB-46D8-8161-FEFFBD140FBC}" type="datetimeFigureOut">
              <a:rPr lang="en-US" smtClean="0"/>
              <a:t>8/7/2026</a:t>
            </a:fld>
            <a:endParaRPr lang="en-US"/>
          </a:p>
        </p:txBody>
      </p:sp>
      <p:sp>
        <p:nvSpPr>
          <p:cNvPr id="3" name="Footer Placeholder 2">
            <a:extLst>
              <a:ext uri="{FF2B5EF4-FFF2-40B4-BE49-F238E27FC236}">
                <a16:creationId xmlns:a16="http://schemas.microsoft.com/office/drawing/2014/main" id="{620AD1A7-9FDF-4FE7-EBCE-A820844D50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BA1082-596E-9030-3704-1DB42F7EB870}"/>
              </a:ext>
            </a:extLst>
          </p:cNvPr>
          <p:cNvSpPr>
            <a:spLocks noGrp="1"/>
          </p:cNvSpPr>
          <p:nvPr>
            <p:ph type="sldNum" sz="quarter" idx="12"/>
          </p:nvPr>
        </p:nvSpPr>
        <p:spPr/>
        <p:txBody>
          <a:bodyPr/>
          <a:lstStyle/>
          <a:p>
            <a:fld id="{0D366D58-53F6-4AE5-8CD4-D2410CA14459}" type="slidenum">
              <a:rPr lang="en-US" smtClean="0"/>
              <a:t>‹#›</a:t>
            </a:fld>
            <a:endParaRPr lang="en-US"/>
          </a:p>
        </p:txBody>
      </p:sp>
    </p:spTree>
    <p:extLst>
      <p:ext uri="{BB962C8B-B14F-4D97-AF65-F5344CB8AC3E}">
        <p14:creationId xmlns:p14="http://schemas.microsoft.com/office/powerpoint/2010/main" val="2954547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B7F93-3C47-4A51-E49D-5F91DAA9FF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C2253F-4D14-174A-FF92-39DF837FFA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CB39CC-D20F-9B1B-E4E0-EC2888336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D7E6DB-BCEC-F8CC-5619-E139839D6C81}"/>
              </a:ext>
            </a:extLst>
          </p:cNvPr>
          <p:cNvSpPr>
            <a:spLocks noGrp="1"/>
          </p:cNvSpPr>
          <p:nvPr>
            <p:ph type="dt" sz="half" idx="10"/>
          </p:nvPr>
        </p:nvSpPr>
        <p:spPr/>
        <p:txBody>
          <a:bodyPr/>
          <a:lstStyle/>
          <a:p>
            <a:fld id="{979AE722-D2EB-46D8-8161-FEFFBD140FBC}" type="datetimeFigureOut">
              <a:rPr lang="en-US" smtClean="0"/>
              <a:t>8/7/2026</a:t>
            </a:fld>
            <a:endParaRPr lang="en-US"/>
          </a:p>
        </p:txBody>
      </p:sp>
      <p:sp>
        <p:nvSpPr>
          <p:cNvPr id="6" name="Footer Placeholder 5">
            <a:extLst>
              <a:ext uri="{FF2B5EF4-FFF2-40B4-BE49-F238E27FC236}">
                <a16:creationId xmlns:a16="http://schemas.microsoft.com/office/drawing/2014/main" id="{D4619E3F-7B11-0F84-725A-E845253105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07DD28-991E-B75E-0E5E-61339B63F2AC}"/>
              </a:ext>
            </a:extLst>
          </p:cNvPr>
          <p:cNvSpPr>
            <a:spLocks noGrp="1"/>
          </p:cNvSpPr>
          <p:nvPr>
            <p:ph type="sldNum" sz="quarter" idx="12"/>
          </p:nvPr>
        </p:nvSpPr>
        <p:spPr/>
        <p:txBody>
          <a:bodyPr/>
          <a:lstStyle/>
          <a:p>
            <a:fld id="{0D366D58-53F6-4AE5-8CD4-D2410CA14459}" type="slidenum">
              <a:rPr lang="en-US" smtClean="0"/>
              <a:t>‹#›</a:t>
            </a:fld>
            <a:endParaRPr lang="en-US"/>
          </a:p>
        </p:txBody>
      </p:sp>
    </p:spTree>
    <p:extLst>
      <p:ext uri="{BB962C8B-B14F-4D97-AF65-F5344CB8AC3E}">
        <p14:creationId xmlns:p14="http://schemas.microsoft.com/office/powerpoint/2010/main" val="305226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ABA94-E682-609C-9327-0B3BABF9BC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EB3D35-96AF-63F9-E7DF-716887B4A7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014538-3463-A12C-91AE-C302802142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D76FA8-37DA-A5C3-7D4F-C718A75604C0}"/>
              </a:ext>
            </a:extLst>
          </p:cNvPr>
          <p:cNvSpPr>
            <a:spLocks noGrp="1"/>
          </p:cNvSpPr>
          <p:nvPr>
            <p:ph type="dt" sz="half" idx="10"/>
          </p:nvPr>
        </p:nvSpPr>
        <p:spPr/>
        <p:txBody>
          <a:bodyPr/>
          <a:lstStyle/>
          <a:p>
            <a:fld id="{979AE722-D2EB-46D8-8161-FEFFBD140FBC}" type="datetimeFigureOut">
              <a:rPr lang="en-US" smtClean="0"/>
              <a:t>8/7/2026</a:t>
            </a:fld>
            <a:endParaRPr lang="en-US"/>
          </a:p>
        </p:txBody>
      </p:sp>
      <p:sp>
        <p:nvSpPr>
          <p:cNvPr id="6" name="Footer Placeholder 5">
            <a:extLst>
              <a:ext uri="{FF2B5EF4-FFF2-40B4-BE49-F238E27FC236}">
                <a16:creationId xmlns:a16="http://schemas.microsoft.com/office/drawing/2014/main" id="{B1DA9710-347C-DA98-2897-8EF60544F0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C227B9-A5A6-A161-2434-ABA12E247909}"/>
              </a:ext>
            </a:extLst>
          </p:cNvPr>
          <p:cNvSpPr>
            <a:spLocks noGrp="1"/>
          </p:cNvSpPr>
          <p:nvPr>
            <p:ph type="sldNum" sz="quarter" idx="12"/>
          </p:nvPr>
        </p:nvSpPr>
        <p:spPr/>
        <p:txBody>
          <a:bodyPr/>
          <a:lstStyle/>
          <a:p>
            <a:fld id="{0D366D58-53F6-4AE5-8CD4-D2410CA14459}" type="slidenum">
              <a:rPr lang="en-US" smtClean="0"/>
              <a:t>‹#›</a:t>
            </a:fld>
            <a:endParaRPr lang="en-US"/>
          </a:p>
        </p:txBody>
      </p:sp>
    </p:spTree>
    <p:extLst>
      <p:ext uri="{BB962C8B-B14F-4D97-AF65-F5344CB8AC3E}">
        <p14:creationId xmlns:p14="http://schemas.microsoft.com/office/powerpoint/2010/main" val="3429425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E5AF0-597E-EDF2-E120-12AE4AACC8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F152C3-B892-E0E6-BEBE-F3CC042756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B295CD-B9CD-F63B-A7AB-A026395AA8E2}"/>
              </a:ext>
            </a:extLst>
          </p:cNvPr>
          <p:cNvSpPr>
            <a:spLocks noGrp="1"/>
          </p:cNvSpPr>
          <p:nvPr>
            <p:ph type="dt" sz="half" idx="10"/>
          </p:nvPr>
        </p:nvSpPr>
        <p:spPr/>
        <p:txBody>
          <a:bodyPr/>
          <a:lstStyle/>
          <a:p>
            <a:fld id="{979AE722-D2EB-46D8-8161-FEFFBD140FBC}" type="datetimeFigureOut">
              <a:rPr lang="en-US" smtClean="0"/>
              <a:t>8/7/2026</a:t>
            </a:fld>
            <a:endParaRPr lang="en-US"/>
          </a:p>
        </p:txBody>
      </p:sp>
      <p:sp>
        <p:nvSpPr>
          <p:cNvPr id="5" name="Footer Placeholder 4">
            <a:extLst>
              <a:ext uri="{FF2B5EF4-FFF2-40B4-BE49-F238E27FC236}">
                <a16:creationId xmlns:a16="http://schemas.microsoft.com/office/drawing/2014/main" id="{6988778A-2561-76AD-A43A-D05BC6C021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8B529D-93F2-19FA-E95A-F0B968DFD545}"/>
              </a:ext>
            </a:extLst>
          </p:cNvPr>
          <p:cNvSpPr>
            <a:spLocks noGrp="1"/>
          </p:cNvSpPr>
          <p:nvPr>
            <p:ph type="sldNum" sz="quarter" idx="12"/>
          </p:nvPr>
        </p:nvSpPr>
        <p:spPr/>
        <p:txBody>
          <a:bodyPr/>
          <a:lstStyle/>
          <a:p>
            <a:fld id="{0D366D58-53F6-4AE5-8CD4-D2410CA14459}" type="slidenum">
              <a:rPr lang="en-US" smtClean="0"/>
              <a:t>‹#›</a:t>
            </a:fld>
            <a:endParaRPr lang="en-US"/>
          </a:p>
        </p:txBody>
      </p:sp>
    </p:spTree>
    <p:extLst>
      <p:ext uri="{BB962C8B-B14F-4D97-AF65-F5344CB8AC3E}">
        <p14:creationId xmlns:p14="http://schemas.microsoft.com/office/powerpoint/2010/main" val="678413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99C145-ABC9-BFBC-1BDC-1B8A98BB4B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66A273-6C09-6EB6-94F7-80C180B5D2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07B58F-82D0-FF65-1D8C-FFEA476EEC83}"/>
              </a:ext>
            </a:extLst>
          </p:cNvPr>
          <p:cNvSpPr>
            <a:spLocks noGrp="1"/>
          </p:cNvSpPr>
          <p:nvPr>
            <p:ph type="dt" sz="half" idx="10"/>
          </p:nvPr>
        </p:nvSpPr>
        <p:spPr/>
        <p:txBody>
          <a:bodyPr/>
          <a:lstStyle/>
          <a:p>
            <a:fld id="{979AE722-D2EB-46D8-8161-FEFFBD140FBC}" type="datetimeFigureOut">
              <a:rPr lang="en-US" smtClean="0"/>
              <a:t>8/7/2026</a:t>
            </a:fld>
            <a:endParaRPr lang="en-US"/>
          </a:p>
        </p:txBody>
      </p:sp>
      <p:sp>
        <p:nvSpPr>
          <p:cNvPr id="5" name="Footer Placeholder 4">
            <a:extLst>
              <a:ext uri="{FF2B5EF4-FFF2-40B4-BE49-F238E27FC236}">
                <a16:creationId xmlns:a16="http://schemas.microsoft.com/office/drawing/2014/main" id="{1D6D4E33-2E05-2F4B-C58F-D9CC03825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B03052-FD83-53DD-6F97-0FC46852DAEB}"/>
              </a:ext>
            </a:extLst>
          </p:cNvPr>
          <p:cNvSpPr>
            <a:spLocks noGrp="1"/>
          </p:cNvSpPr>
          <p:nvPr>
            <p:ph type="sldNum" sz="quarter" idx="12"/>
          </p:nvPr>
        </p:nvSpPr>
        <p:spPr/>
        <p:txBody>
          <a:bodyPr/>
          <a:lstStyle/>
          <a:p>
            <a:fld id="{0D366D58-53F6-4AE5-8CD4-D2410CA14459}" type="slidenum">
              <a:rPr lang="en-US" smtClean="0"/>
              <a:t>‹#›</a:t>
            </a:fld>
            <a:endParaRPr lang="en-US"/>
          </a:p>
        </p:txBody>
      </p:sp>
    </p:spTree>
    <p:extLst>
      <p:ext uri="{BB962C8B-B14F-4D97-AF65-F5344CB8AC3E}">
        <p14:creationId xmlns:p14="http://schemas.microsoft.com/office/powerpoint/2010/main" val="4033710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3131779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MS logo white - EMF" descr="Microsoft logo white text version">
            <a:extLst>
              <a:ext uri="{FF2B5EF4-FFF2-40B4-BE49-F238E27FC236}">
                <a16:creationId xmlns:a16="http://schemas.microsoft.com/office/drawing/2014/main" id="{F7CD6B1F-AE52-08A4-59DD-ADA3920FEFA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7" name="TextBox 6">
            <a:extLst>
              <a:ext uri="{FF2B5EF4-FFF2-40B4-BE49-F238E27FC236}">
                <a16:creationId xmlns:a16="http://schemas.microsoft.com/office/drawing/2014/main" id="{53B4BC62-442D-D07F-D062-B23F459AF590}"/>
              </a:ext>
            </a:extLst>
          </p:cNvPr>
          <p:cNvSpPr txBox="1"/>
          <p:nvPr userDrawn="1"/>
        </p:nvSpPr>
        <p:spPr>
          <a:xfrm>
            <a:off x="584200" y="2841172"/>
            <a:ext cx="3790950" cy="1495794"/>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5400" b="0" i="0" u="none" strike="noStrike" kern="1200" cap="none" spc="0" normalizeH="0" baseline="0" noProof="0">
                <a:ln>
                  <a:noFill/>
                </a:ln>
                <a:solidFill>
                  <a:srgbClr val="FFFFFF"/>
                </a:solidFill>
                <a:effectLst/>
                <a:uLnTx/>
                <a:uFillTx/>
                <a:latin typeface="Segoe Sans Text Semibold"/>
                <a:ea typeface="+mn-ea"/>
                <a:cs typeface="+mn-cs"/>
              </a:rPr>
              <a:t>Microsoft Azure</a:t>
            </a:r>
          </a:p>
        </p:txBody>
      </p:sp>
    </p:spTree>
    <p:extLst>
      <p:ext uri="{BB962C8B-B14F-4D97-AF65-F5344CB8AC3E}">
        <p14:creationId xmlns:p14="http://schemas.microsoft.com/office/powerpoint/2010/main" val="12462461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Walkin">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B4BC62-442D-D07F-D062-B23F459AF590}"/>
              </a:ext>
            </a:extLst>
          </p:cNvPr>
          <p:cNvSpPr txBox="1"/>
          <p:nvPr userDrawn="1"/>
        </p:nvSpPr>
        <p:spPr>
          <a:xfrm>
            <a:off x="584200" y="2841172"/>
            <a:ext cx="3790950" cy="1495794"/>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5400" b="0" i="0" u="none" strike="noStrike" kern="1200" cap="none" spc="0" normalizeH="0" baseline="0" noProof="0">
                <a:ln>
                  <a:noFill/>
                </a:ln>
                <a:solidFill>
                  <a:srgbClr val="000000"/>
                </a:solidFill>
                <a:effectLst/>
                <a:uLnTx/>
                <a:uFillTx/>
                <a:latin typeface="Segoe Sans Text Semibold"/>
                <a:ea typeface="+mn-ea"/>
                <a:cs typeface="+mn-cs"/>
              </a:rPr>
              <a:t>Microsoft Azure</a:t>
            </a:r>
          </a:p>
        </p:txBody>
      </p:sp>
      <p:pic>
        <p:nvPicPr>
          <p:cNvPr id="5" name="MS logo gray - EMF" descr="Microsoft logo, gray text version">
            <a:extLst>
              <a:ext uri="{FF2B5EF4-FFF2-40B4-BE49-F238E27FC236}">
                <a16:creationId xmlns:a16="http://schemas.microsoft.com/office/drawing/2014/main" id="{8672AF12-6140-9E72-C268-A8ED4080CAD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9658401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503669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9410641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Sans Text" pitchFamily="2" charset="0"/>
              </a:defRPr>
            </a:lvl1pPr>
          </a:lstStyle>
          <a:p>
            <a:pPr lvl="0"/>
            <a:r>
              <a:rPr lang="en-US"/>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4436500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Sans Text" pitchFamily="2" charset="0"/>
              </a:defRPr>
            </a:lvl1pPr>
          </a:lstStyle>
          <a:p>
            <a:pPr lvl="0"/>
            <a:r>
              <a:rPr lang="en-US"/>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3531721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1846821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3195539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8212443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itle Slide 3">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8532398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2"/>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2404913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p>
            <a:r>
              <a:rPr lang="en-US"/>
              <a:t>Click to edit Master title style</a:t>
            </a:r>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Tree>
    <p:extLst>
      <p:ext uri="{BB962C8B-B14F-4D97-AF65-F5344CB8AC3E}">
        <p14:creationId xmlns:p14="http://schemas.microsoft.com/office/powerpoint/2010/main" val="225243455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38306801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754922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137668998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Text" pitchFamily="2" charset="0"/>
                <a:cs typeface="Segoe Sans Text"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Text" pitchFamily="2" charset="0"/>
                <a:cs typeface="Segoe Sans Text"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7443164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709614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38173064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9439708"/>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32">
          <p15:clr>
            <a:srgbClr val="5ACBF0"/>
          </p15:clr>
        </p15:guide>
        <p15:guide id="8" pos="4871">
          <p15:clr>
            <a:srgbClr val="5ACBF0"/>
          </p15:clr>
        </p15:guide>
        <p15:guide id="9" pos="525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553998"/>
          </a:xfrm>
        </p:spPr>
        <p:txBody>
          <a:bodyPr anchor="t"/>
          <a:lstStyle>
            <a:lvl1pPr marL="0" indent="0">
              <a:spcBef>
                <a:spcPts val="0"/>
              </a:spcBef>
              <a:buNone/>
              <a:defRPr sz="1800" b="1">
                <a:gradFill>
                  <a:gsLst>
                    <a:gs pos="0">
                      <a:srgbClr val="31ACBD"/>
                    </a:gs>
                    <a:gs pos="68000">
                      <a:schemeClr val="tx2"/>
                    </a:gs>
                  </a:gsLst>
                  <a:lin ang="10800000" scaled="1"/>
                </a:gra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553998"/>
          </a:xfrm>
        </p:spPr>
        <p:txBody>
          <a:bodyPr vert="horz" wrap="square" lIns="0" tIns="0" rIns="0" bIns="0" rtlCol="0" anchor="t">
            <a:spAutoFit/>
          </a:bodyPr>
          <a:lstStyle>
            <a:lvl1pPr>
              <a:defRPr lang="en-US" sz="1800" b="1">
                <a:gradFill>
                  <a:gsLst>
                    <a:gs pos="100000">
                      <a:srgbClr val="3EA89B"/>
                    </a:gs>
                    <a:gs pos="0">
                      <a:srgbClr val="225B62"/>
                    </a:gs>
                  </a:gsLst>
                  <a:lin ang="10800000" scaled="1"/>
                </a:gradFill>
                <a:latin typeface="+mj-lt"/>
              </a:defRPr>
            </a:lvl1pPr>
          </a:lstStyle>
          <a:p>
            <a:pPr marL="0" lvl="0" indent="0">
              <a:spcBef>
                <a:spcPts val="0"/>
              </a:spcBef>
              <a:buNone/>
            </a:pPr>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553998"/>
          </a:xfrm>
        </p:spPr>
        <p:txBody>
          <a:bodyPr vert="horz" wrap="square" lIns="0" tIns="0" rIns="0" bIns="0" rtlCol="0" anchor="t">
            <a:spAutoFit/>
          </a:bodyPr>
          <a:lstStyle>
            <a:lvl1pPr>
              <a:defRPr lang="en-US" sz="1800" b="1" dirty="0">
                <a:gradFill>
                  <a:gsLst>
                    <a:gs pos="0">
                      <a:srgbClr val="F4364C"/>
                    </a:gs>
                    <a:gs pos="68000">
                      <a:srgbClr val="C03BC4"/>
                    </a:gs>
                  </a:gsLst>
                  <a:lin ang="10800000" scaled="1"/>
                </a:gradFill>
                <a:latin typeface="+mj-lt"/>
              </a:defRPr>
            </a:lvl1pPr>
          </a:lstStyle>
          <a:p>
            <a:pPr marL="0" lvl="0" indent="0">
              <a:spcBef>
                <a:spcPts val="0"/>
              </a:spcBef>
              <a:buNone/>
            </a:pPr>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553998"/>
          </a:xfrm>
        </p:spPr>
        <p:txBody>
          <a:bodyPr vert="horz" wrap="square" lIns="0" tIns="0" rIns="0" bIns="0" rtlCol="0" anchor="t">
            <a:spAutoFit/>
          </a:bodyPr>
          <a:lstStyle>
            <a:lvl1pPr>
              <a:defRPr lang="en-US" sz="1800" b="1">
                <a:gradFill>
                  <a:gsLst>
                    <a:gs pos="0">
                      <a:srgbClr val="FF9318"/>
                    </a:gs>
                    <a:gs pos="44000">
                      <a:srgbClr val="FF5C39"/>
                    </a:gs>
                  </a:gsLst>
                  <a:lin ang="10800000" scaled="1"/>
                </a:gradFill>
                <a:latin typeface="+mj-lt"/>
              </a:defRPr>
            </a:lvl1pPr>
          </a:lstStyle>
          <a:p>
            <a:pPr marL="0" lvl="0" indent="0">
              <a:spcBef>
                <a:spcPts val="0"/>
              </a:spcBef>
              <a:buNone/>
            </a:pPr>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645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260344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779850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7050353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Sans Text" pitchFamily="2" charset="0"/>
              </a:defRPr>
            </a:lvl1pPr>
          </a:lstStyle>
          <a:p>
            <a:r>
              <a:rPr lang="en-US"/>
              <a:t>Click to edit Master title style</a:t>
            </a:r>
          </a:p>
        </p:txBody>
      </p:sp>
    </p:spTree>
    <p:extLst>
      <p:ext uri="{BB962C8B-B14F-4D97-AF65-F5344CB8AC3E}">
        <p14:creationId xmlns:p14="http://schemas.microsoft.com/office/powerpoint/2010/main" val="213123696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392097439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210444711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gradFill flip="none" rotWithShape="1">
            <a:gsLst>
              <a:gs pos="47706">
                <a:schemeClr val="accent1"/>
              </a:gs>
              <a:gs pos="100000">
                <a:schemeClr val="accent3"/>
              </a:gs>
              <a:gs pos="60000">
                <a:schemeClr val="accent1"/>
              </a:gs>
            </a:gsLst>
            <a:lin ang="18900000" scaled="1"/>
            <a:tileRect/>
          </a:gradFill>
        </p:spPr>
        <p:txBody>
          <a:bodyPr lIns="0" tIns="2377440" rIns="0" anchor="t" anchorCtr="0">
            <a:noAutofit/>
          </a:bodyPr>
          <a:lstStyle>
            <a:lvl1pPr marL="0" indent="0" algn="ctr">
              <a:lnSpc>
                <a:spcPct val="100000"/>
              </a:lnSpc>
              <a:buNone/>
              <a:defRPr sz="14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275565380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hoto full bleed lower title">
    <p:bg>
      <p:bgRef idx="1001">
        <a:schemeClr val="bg1"/>
      </p:bgRef>
    </p:bg>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chemeClr val="tx1"/>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9" name="TextBox 8">
            <a:extLst>
              <a:ext uri="{FF2B5EF4-FFF2-40B4-BE49-F238E27FC236}">
                <a16:creationId xmlns:a16="http://schemas.microsoft.com/office/drawing/2014/main" id="{7609554D-CD2C-F836-9A2C-88CABE57658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250750105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gradFill>
            <a:gsLst>
              <a:gs pos="100000">
                <a:schemeClr val="accent3"/>
              </a:gs>
              <a:gs pos="8000">
                <a:schemeClr val="accent1"/>
              </a:gs>
            </a:gsLst>
            <a:lin ang="18900000" scaled="1"/>
          </a:gradFill>
        </p:spPr>
        <p:txBody>
          <a:bodyPr wrap="none" bIns="1554480" anchor="ctr">
            <a:noAutofit/>
          </a:bodyPr>
          <a:lstStyle>
            <a:lvl1pPr marL="0" indent="0" algn="ctr">
              <a:buNone/>
              <a:defRPr sz="1400" b="1">
                <a:solidFill>
                  <a:schemeClr val="bg1"/>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3113725534"/>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gradFill>
            <a:gsLst>
              <a:gs pos="100000">
                <a:schemeClr val="accent3"/>
              </a:gs>
              <a:gs pos="8000">
                <a:schemeClr val="accent1"/>
              </a:gs>
            </a:gsLst>
            <a:lin ang="18900000" scaled="1"/>
          </a:gradFill>
        </p:spPr>
        <p:txBody>
          <a:bodyPr wrap="none" bIns="1554480" anchor="ctr">
            <a:noAutofit/>
          </a:bodyPr>
          <a:lstStyle>
            <a:lvl1pPr marL="0" indent="0" algn="ctr">
              <a:buNone/>
              <a:defRPr sz="1400" b="1">
                <a:solidFill>
                  <a:schemeClr val="bg1"/>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2513336650"/>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gradFill>
            <a:gsLst>
              <a:gs pos="100000">
                <a:schemeClr val="accent3"/>
              </a:gs>
              <a:gs pos="8000">
                <a:schemeClr val="accent1"/>
              </a:gs>
            </a:gsLst>
            <a:lin ang="18900000" scaled="1"/>
          </a:gradFill>
        </p:spPr>
        <p:txBody>
          <a:bodyPr vert="horz" wrap="square" lIns="0" tIns="1280160" rIns="0" bIns="0" rtlCol="0" anchor="t" anchorCtr="0">
            <a:noAutofit/>
          </a:bodyPr>
          <a:lstStyle>
            <a:lvl1pPr marL="0" indent="0" algn="ctr">
              <a:buNone/>
              <a:defRPr lang="en-US" sz="14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400595515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gradFill>
            <a:gsLst>
              <a:gs pos="100000">
                <a:schemeClr val="accent3"/>
              </a:gs>
              <a:gs pos="8000">
                <a:schemeClr val="accent1"/>
              </a:gs>
            </a:gsLst>
            <a:lin ang="18900000" scaled="1"/>
          </a:gradFill>
        </p:spPr>
        <p:txBody>
          <a:bodyPr vert="horz" wrap="square" lIns="0" tIns="1371600" rIns="0" bIns="0" rtlCol="0" anchor="t" anchorCtr="0">
            <a:noAutofit/>
          </a:bodyPr>
          <a:lstStyle>
            <a:lvl1pPr marL="0" indent="0" algn="ctr">
              <a:buNone/>
              <a:defRPr lang="en-US" sz="14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9012921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189995756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312">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262213579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a:extLst>
                <a:ext uri="{96DAC541-7B7A-43D3-8B79-37D633B846F1}">
                  <asvg:svgBlip xmlns:asvg="http://schemas.microsoft.com/office/drawing/2016/SVG/main" r:embed="rId5"/>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20682273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8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800" b="1">
                <a:solidFill>
                  <a:srgbClr val="000000"/>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428019991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407262199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gradFill>
            <a:gsLst>
              <a:gs pos="0">
                <a:srgbClr val="E8E6DF"/>
              </a:gs>
              <a:gs pos="100000">
                <a:srgbClr val="FFA38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53352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gradFill>
            <a:gsLst>
              <a:gs pos="0">
                <a:srgbClr val="E8E6DF"/>
              </a:gs>
              <a:gs pos="100000">
                <a:srgbClr val="FFA38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gradFill>
            <a:gsLst>
              <a:gs pos="0">
                <a:srgbClr val="E8E6DF"/>
              </a:gs>
              <a:gs pos="100000">
                <a:srgbClr val="D4EC8E"/>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249025107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228190470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gradFill>
            <a:gsLst>
              <a:gs pos="0">
                <a:srgbClr val="E8E6DF"/>
              </a:gs>
              <a:gs pos="100000">
                <a:srgbClr val="FFA38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35252286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500" b="1">
                <a:solidFill>
                  <a:schemeClr val="bg1"/>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500" b="1">
                <a:solidFill>
                  <a:schemeClr val="bg1"/>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gradFill>
            <a:gsLst>
              <a:gs pos="0">
                <a:srgbClr val="E8E6DF"/>
              </a:gs>
              <a:gs pos="100000">
                <a:srgbClr val="FFA38B"/>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gradFill>
            <a:gsLst>
              <a:gs pos="0">
                <a:srgbClr val="E8E6DF"/>
              </a:gs>
              <a:gs pos="100000">
                <a:srgbClr val="D4EC8E"/>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Sans Text"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119634694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1"/>
            <a:ext cx="3182027" cy="3959217"/>
          </a:xfrm>
        </p:spPr>
        <p:txBody>
          <a:bodyPr anchor="t"/>
          <a:lstStyle>
            <a:lvl1pPr>
              <a:defRPr>
                <a:solidFill>
                  <a:schemeClr val="tx2"/>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670366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53380065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Segoe Sans Text" pitchFamily="2" charset="0"/>
                <a:cs typeface="Segoe Sans Text" pitchFamily="2"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47072197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Text"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Segoe Sans Text" pitchFamily="2" charset="0"/>
                <a:cs typeface="Segoe Sans Text" pitchFamily="2"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5456201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2"/>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Segoe Sans Text" pitchFamily="2" charset="0"/>
                <a:cs typeface="Segoe Sans Text" pitchFamily="2"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Text"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52642838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2"/>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Text" pitchFamily="2" charset="0"/>
                <a:cs typeface="Segoe Sans Text"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Segoe Sans Text" pitchFamily="2" charset="0"/>
                <a:cs typeface="Segoe Sans Text" pitchFamily="2"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064359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2"/>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Segoe Sans Text" pitchFamily="2" charset="0"/>
                <a:cs typeface="Segoe Sans Text" pitchFamily="2"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Text" pitchFamily="2" charset="0"/>
                <a:cs typeface="Segoe Sans Text"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1282548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vert="horz" wrap="square" lIns="0" tIns="0" rIns="0" bIns="0" rtlCol="0" anchor="b" anchorCtr="0">
            <a:spAutoFit/>
          </a:bodyPr>
          <a:lstStyle>
            <a:lvl1pPr>
              <a:defRPr lang="en-US" sz="4000" dirty="0"/>
            </a:lvl1pPr>
          </a:lstStyle>
          <a:p>
            <a:pPr lvl="0">
              <a:lnSpc>
                <a:spcPct val="90000"/>
              </a:lnSpc>
            </a:pPr>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4392826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22493668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2045136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2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21848376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3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18813760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189779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25066600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ection 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Text" pitchFamily="2" charset="0"/>
              </a:defRPr>
            </a:lvl1pPr>
          </a:lstStyle>
          <a:p>
            <a:r>
              <a:rPr lang="en-US"/>
              <a:t>Section title</a:t>
            </a:r>
          </a:p>
        </p:txBody>
      </p:sp>
    </p:spTree>
    <p:extLst>
      <p:ext uri="{BB962C8B-B14F-4D97-AF65-F5344CB8AC3E}">
        <p14:creationId xmlns:p14="http://schemas.microsoft.com/office/powerpoint/2010/main" val="21810013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_Section 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Text" pitchFamily="2" charset="0"/>
              </a:defRPr>
            </a:lvl1pPr>
          </a:lstStyle>
          <a:p>
            <a:r>
              <a:rPr lang="en-US"/>
              <a:t>Section title</a:t>
            </a:r>
          </a:p>
        </p:txBody>
      </p:sp>
    </p:spTree>
    <p:extLst>
      <p:ext uri="{BB962C8B-B14F-4D97-AF65-F5344CB8AC3E}">
        <p14:creationId xmlns:p14="http://schemas.microsoft.com/office/powerpoint/2010/main" val="18147805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2_Section 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bg1"/>
                </a:solidFill>
                <a:effectLst/>
                <a:latin typeface="+mj-lt"/>
                <a:ea typeface="+mn-ea"/>
                <a:cs typeface="Segoe Sans Text" pitchFamily="2" charset="0"/>
              </a:defRPr>
            </a:lvl1pPr>
          </a:lstStyle>
          <a:p>
            <a:r>
              <a:rPr lang="en-US"/>
              <a:t>Section title</a:t>
            </a:r>
          </a:p>
        </p:txBody>
      </p:sp>
    </p:spTree>
    <p:extLst>
      <p:ext uri="{BB962C8B-B14F-4D97-AF65-F5344CB8AC3E}">
        <p14:creationId xmlns:p14="http://schemas.microsoft.com/office/powerpoint/2010/main" val="26083333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3_Section 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bg1"/>
                </a:solidFill>
                <a:effectLst/>
                <a:latin typeface="+mj-lt"/>
                <a:ea typeface="+mn-ea"/>
                <a:cs typeface="Segoe Sans Text" pitchFamily="2" charset="0"/>
              </a:defRPr>
            </a:lvl1pPr>
          </a:lstStyle>
          <a:p>
            <a:r>
              <a:rPr lang="en-US"/>
              <a:t>Section title</a:t>
            </a:r>
          </a:p>
        </p:txBody>
      </p:sp>
    </p:spTree>
    <p:extLst>
      <p:ext uri="{BB962C8B-B14F-4D97-AF65-F5344CB8AC3E}">
        <p14:creationId xmlns:p14="http://schemas.microsoft.com/office/powerpoint/2010/main" val="7364477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Quot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0D155-47E8-D819-5FA4-748607570A1C}"/>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Picture Placeholder 9">
            <a:extLst>
              <a:ext uri="{FF2B5EF4-FFF2-40B4-BE49-F238E27FC236}">
                <a16:creationId xmlns:a16="http://schemas.microsoft.com/office/drawing/2014/main" id="{5022EE65-FBB2-C961-B89F-9DADBDB2DB30}"/>
              </a:ext>
            </a:extLst>
          </p:cNvPr>
          <p:cNvSpPr>
            <a:spLocks noGrp="1"/>
          </p:cNvSpPr>
          <p:nvPr>
            <p:ph type="pic" sz="quarter" idx="14" hasCustomPrompt="1"/>
          </p:nvPr>
        </p:nvSpPr>
        <p:spPr>
          <a:xfrm>
            <a:off x="7827263" y="2199576"/>
            <a:ext cx="3760470" cy="3760470"/>
          </a:xfrm>
          <a:prstGeom prst="rect">
            <a:avLst/>
          </a:prstGeom>
          <a:blipFill>
            <a:blip r:embed="rId3"/>
            <a:stretch>
              <a:fillRect/>
            </a:stretch>
          </a:blipFill>
          <a:effectLst>
            <a:outerShdw blurRad="215900" dist="190500" dir="2700000" sx="101000" sy="101000" algn="ctr" rotWithShape="0">
              <a:srgbClr val="000000">
                <a:alpha val="23000"/>
              </a:srgbClr>
            </a:outerShdw>
          </a:effectLst>
        </p:spPr>
        <p:txBody>
          <a:bodyPr vert="horz" wrap="square" lIns="0" tIns="0" rIns="0" bIns="0" rtlCol="0" anchor="ctr" anchorCtr="0">
            <a:normAutofit/>
          </a:bodyPr>
          <a:lstStyle>
            <a:lvl1pPr marL="228600" indent="-228600" algn="ctr">
              <a:buNone/>
              <a:defRPr lang="en-US" sz="1800" b="1">
                <a:solidFill>
                  <a:schemeClr val="tx1"/>
                </a:solidFill>
                <a:latin typeface="+mn-lt"/>
              </a:defRPr>
            </a:lvl1pPr>
          </a:lstStyle>
          <a:p>
            <a:pPr marL="228600" lvl="0" indent="-228600" algn="ctr"/>
            <a:r>
              <a:rPr lang="en-US"/>
              <a:t>Click to insert photo</a:t>
            </a:r>
          </a:p>
        </p:txBody>
      </p:sp>
      <p:sp>
        <p:nvSpPr>
          <p:cNvPr id="5" name="Text Placeholder 11">
            <a:extLst>
              <a:ext uri="{FF2B5EF4-FFF2-40B4-BE49-F238E27FC236}">
                <a16:creationId xmlns:a16="http://schemas.microsoft.com/office/drawing/2014/main" id="{4B878651-6EA0-F1DE-DDB3-D4C07A4E5942}"/>
              </a:ext>
            </a:extLst>
          </p:cNvPr>
          <p:cNvSpPr>
            <a:spLocks noGrp="1"/>
          </p:cNvSpPr>
          <p:nvPr>
            <p:ph type="body" sz="quarter" idx="17"/>
          </p:nvPr>
        </p:nvSpPr>
        <p:spPr>
          <a:xfrm>
            <a:off x="1245931" y="3206751"/>
            <a:ext cx="2706480" cy="1477328"/>
          </a:xfrm>
        </p:spPr>
        <p:txBody>
          <a:bodyPr anchor="t"/>
          <a:lstStyle>
            <a:lvl1pPr marL="0" indent="0">
              <a:spcBef>
                <a:spcPts val="0"/>
              </a:spcBef>
              <a:buNone/>
              <a:defRPr sz="3200">
                <a:solidFill>
                  <a:schemeClr val="tx1"/>
                </a:solidFill>
                <a:latin typeface="+mj-lt"/>
              </a:defRPr>
            </a:lvl1pPr>
          </a:lstStyle>
          <a:p>
            <a:pPr lvl="0"/>
            <a:r>
              <a:rPr lang="en-US"/>
              <a:t>Click to edit Master text styles</a:t>
            </a:r>
          </a:p>
        </p:txBody>
      </p:sp>
      <p:sp>
        <p:nvSpPr>
          <p:cNvPr id="10" name="Freeform: Shape 9">
            <a:extLst>
              <a:ext uri="{FF2B5EF4-FFF2-40B4-BE49-F238E27FC236}">
                <a16:creationId xmlns:a16="http://schemas.microsoft.com/office/drawing/2014/main" id="{52A3F807-DEFB-6026-D7BD-82284EB7FB76}"/>
              </a:ext>
            </a:extLst>
          </p:cNvPr>
          <p:cNvSpPr/>
          <p:nvPr/>
        </p:nvSpPr>
        <p:spPr>
          <a:xfrm>
            <a:off x="552732" y="2199576"/>
            <a:ext cx="693200" cy="604267"/>
          </a:xfrm>
          <a:custGeom>
            <a:avLst/>
            <a:gdLst>
              <a:gd name="connsiteX0" fmla="*/ 393237 w 674431"/>
              <a:gd name="connsiteY0" fmla="*/ 0 h 587906"/>
              <a:gd name="connsiteX1" fmla="*/ 616089 w 674431"/>
              <a:gd name="connsiteY1" fmla="*/ 0 h 587906"/>
              <a:gd name="connsiteX2" fmla="*/ 616151 w 674431"/>
              <a:gd name="connsiteY2" fmla="*/ 0 h 587906"/>
              <a:gd name="connsiteX3" fmla="*/ 674431 w 674431"/>
              <a:gd name="connsiteY3" fmla="*/ 58280 h 587906"/>
              <a:gd name="connsiteX4" fmla="*/ 674431 w 674431"/>
              <a:gd name="connsiteY4" fmla="*/ 221738 h 587906"/>
              <a:gd name="connsiteX5" fmla="*/ 597219 w 674431"/>
              <a:gd name="connsiteY5" fmla="*/ 471750 h 587906"/>
              <a:gd name="connsiteX6" fmla="*/ 393361 w 674431"/>
              <a:gd name="connsiteY6" fmla="*/ 587630 h 587906"/>
              <a:gd name="connsiteX7" fmla="*/ 380245 w 674431"/>
              <a:gd name="connsiteY7" fmla="*/ 577174 h 587906"/>
              <a:gd name="connsiteX8" fmla="*/ 380245 w 674431"/>
              <a:gd name="connsiteY8" fmla="*/ 489011 h 587906"/>
              <a:gd name="connsiteX9" fmla="*/ 387484 w 674431"/>
              <a:gd name="connsiteY9" fmla="*/ 478865 h 587906"/>
              <a:gd name="connsiteX10" fmla="*/ 523100 w 674431"/>
              <a:gd name="connsiteY10" fmla="*/ 363541 h 587906"/>
              <a:gd name="connsiteX11" fmla="*/ 540423 w 674431"/>
              <a:gd name="connsiteY11" fmla="*/ 283112 h 587906"/>
              <a:gd name="connsiteX12" fmla="*/ 533308 w 674431"/>
              <a:gd name="connsiteY12" fmla="*/ 276306 h 587906"/>
              <a:gd name="connsiteX13" fmla="*/ 393361 w 674431"/>
              <a:gd name="connsiteY13" fmla="*/ 276306 h 587906"/>
              <a:gd name="connsiteX14" fmla="*/ 374986 w 674431"/>
              <a:gd name="connsiteY14" fmla="*/ 257931 h 587906"/>
              <a:gd name="connsiteX15" fmla="*/ 374986 w 674431"/>
              <a:gd name="connsiteY15" fmla="*/ 18251 h 587906"/>
              <a:gd name="connsiteX16" fmla="*/ 393237 w 674431"/>
              <a:gd name="connsiteY16" fmla="*/ 0 h 587906"/>
              <a:gd name="connsiteX17" fmla="*/ 58466 w 674431"/>
              <a:gd name="connsiteY17" fmla="*/ 0 h 587906"/>
              <a:gd name="connsiteX18" fmla="*/ 281070 w 674431"/>
              <a:gd name="connsiteY18" fmla="*/ 0 h 587906"/>
              <a:gd name="connsiteX19" fmla="*/ 299445 w 674431"/>
              <a:gd name="connsiteY19" fmla="*/ 18375 h 587906"/>
              <a:gd name="connsiteX20" fmla="*/ 299445 w 674431"/>
              <a:gd name="connsiteY20" fmla="*/ 221738 h 587906"/>
              <a:gd name="connsiteX21" fmla="*/ 222233 w 674431"/>
              <a:gd name="connsiteY21" fmla="*/ 471750 h 587906"/>
              <a:gd name="connsiteX22" fmla="*/ 18375 w 674431"/>
              <a:gd name="connsiteY22" fmla="*/ 587630 h 587906"/>
              <a:gd name="connsiteX23" fmla="*/ 5259 w 674431"/>
              <a:gd name="connsiteY23" fmla="*/ 577174 h 587906"/>
              <a:gd name="connsiteX24" fmla="*/ 5259 w 674431"/>
              <a:gd name="connsiteY24" fmla="*/ 489011 h 587906"/>
              <a:gd name="connsiteX25" fmla="*/ 12497 w 674431"/>
              <a:gd name="connsiteY25" fmla="*/ 478865 h 587906"/>
              <a:gd name="connsiteX26" fmla="*/ 148114 w 674431"/>
              <a:gd name="connsiteY26" fmla="*/ 363541 h 587906"/>
              <a:gd name="connsiteX27" fmla="*/ 165437 w 674431"/>
              <a:gd name="connsiteY27" fmla="*/ 283112 h 587906"/>
              <a:gd name="connsiteX28" fmla="*/ 158322 w 674431"/>
              <a:gd name="connsiteY28" fmla="*/ 276306 h 587906"/>
              <a:gd name="connsiteX29" fmla="*/ 18375 w 674431"/>
              <a:gd name="connsiteY29" fmla="*/ 276306 h 587906"/>
              <a:gd name="connsiteX30" fmla="*/ 0 w 674431"/>
              <a:gd name="connsiteY30" fmla="*/ 257931 h 587906"/>
              <a:gd name="connsiteX31" fmla="*/ 0 w 674431"/>
              <a:gd name="connsiteY31" fmla="*/ 58466 h 587906"/>
              <a:gd name="connsiteX32" fmla="*/ 58466 w 674431"/>
              <a:gd name="connsiteY32" fmla="*/ 0 h 587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74431" h="587906">
                <a:moveTo>
                  <a:pt x="393237" y="0"/>
                </a:moveTo>
                <a:lnTo>
                  <a:pt x="616089" y="0"/>
                </a:lnTo>
                <a:lnTo>
                  <a:pt x="616151" y="0"/>
                </a:lnTo>
                <a:cubicBezTo>
                  <a:pt x="648322" y="0"/>
                  <a:pt x="674431" y="26109"/>
                  <a:pt x="674431" y="58280"/>
                </a:cubicBezTo>
                <a:lnTo>
                  <a:pt x="674431" y="221738"/>
                </a:lnTo>
                <a:cubicBezTo>
                  <a:pt x="674431" y="328152"/>
                  <a:pt x="648694" y="411490"/>
                  <a:pt x="597219" y="471750"/>
                </a:cubicBezTo>
                <a:cubicBezTo>
                  <a:pt x="548157" y="529102"/>
                  <a:pt x="480225" y="567770"/>
                  <a:pt x="393361" y="587630"/>
                </a:cubicBezTo>
                <a:cubicBezTo>
                  <a:pt x="386679" y="589177"/>
                  <a:pt x="380245" y="584042"/>
                  <a:pt x="380245" y="577174"/>
                </a:cubicBezTo>
                <a:lnTo>
                  <a:pt x="380245" y="489011"/>
                </a:lnTo>
                <a:cubicBezTo>
                  <a:pt x="380245" y="484433"/>
                  <a:pt x="383153" y="480288"/>
                  <a:pt x="387484" y="478865"/>
                </a:cubicBezTo>
                <a:cubicBezTo>
                  <a:pt x="454240" y="456778"/>
                  <a:pt x="499466" y="418295"/>
                  <a:pt x="523100" y="363541"/>
                </a:cubicBezTo>
                <a:cubicBezTo>
                  <a:pt x="535969" y="335824"/>
                  <a:pt x="541784" y="309035"/>
                  <a:pt x="540423" y="283112"/>
                </a:cubicBezTo>
                <a:cubicBezTo>
                  <a:pt x="540238" y="279276"/>
                  <a:pt x="537082" y="276306"/>
                  <a:pt x="533308" y="276306"/>
                </a:cubicBezTo>
                <a:lnTo>
                  <a:pt x="393361" y="276306"/>
                </a:lnTo>
                <a:cubicBezTo>
                  <a:pt x="383215" y="276306"/>
                  <a:pt x="374986" y="268078"/>
                  <a:pt x="374986" y="257931"/>
                </a:cubicBezTo>
                <a:lnTo>
                  <a:pt x="374986" y="18251"/>
                </a:lnTo>
                <a:cubicBezTo>
                  <a:pt x="374986" y="8167"/>
                  <a:pt x="383153" y="0"/>
                  <a:pt x="393237" y="0"/>
                </a:cubicBezTo>
                <a:close/>
                <a:moveTo>
                  <a:pt x="58466" y="0"/>
                </a:moveTo>
                <a:lnTo>
                  <a:pt x="281070" y="0"/>
                </a:lnTo>
                <a:cubicBezTo>
                  <a:pt x="291216" y="0"/>
                  <a:pt x="299445" y="8229"/>
                  <a:pt x="299445" y="18375"/>
                </a:cubicBezTo>
                <a:lnTo>
                  <a:pt x="299445" y="221738"/>
                </a:lnTo>
                <a:cubicBezTo>
                  <a:pt x="299445" y="328152"/>
                  <a:pt x="273708" y="411490"/>
                  <a:pt x="222233" y="471750"/>
                </a:cubicBezTo>
                <a:cubicBezTo>
                  <a:pt x="173171" y="529102"/>
                  <a:pt x="105239" y="567770"/>
                  <a:pt x="18375" y="587630"/>
                </a:cubicBezTo>
                <a:cubicBezTo>
                  <a:pt x="11631" y="589177"/>
                  <a:pt x="5259" y="584042"/>
                  <a:pt x="5259" y="577174"/>
                </a:cubicBezTo>
                <a:lnTo>
                  <a:pt x="5259" y="489011"/>
                </a:lnTo>
                <a:cubicBezTo>
                  <a:pt x="5259" y="484433"/>
                  <a:pt x="8167" y="480288"/>
                  <a:pt x="12497" y="478865"/>
                </a:cubicBezTo>
                <a:cubicBezTo>
                  <a:pt x="79254" y="456778"/>
                  <a:pt x="124480" y="418295"/>
                  <a:pt x="148114" y="363541"/>
                </a:cubicBezTo>
                <a:cubicBezTo>
                  <a:pt x="160983" y="335824"/>
                  <a:pt x="166798" y="309035"/>
                  <a:pt x="165437" y="283112"/>
                </a:cubicBezTo>
                <a:cubicBezTo>
                  <a:pt x="165252" y="279276"/>
                  <a:pt x="162096" y="276306"/>
                  <a:pt x="158322" y="276306"/>
                </a:cubicBezTo>
                <a:lnTo>
                  <a:pt x="18375" y="276306"/>
                </a:lnTo>
                <a:cubicBezTo>
                  <a:pt x="8229" y="276306"/>
                  <a:pt x="0" y="268078"/>
                  <a:pt x="0" y="257931"/>
                </a:cubicBezTo>
                <a:lnTo>
                  <a:pt x="0" y="58466"/>
                </a:lnTo>
                <a:cubicBezTo>
                  <a:pt x="0" y="26171"/>
                  <a:pt x="26171" y="0"/>
                  <a:pt x="58466" y="0"/>
                </a:cubicBezTo>
                <a:close/>
              </a:path>
            </a:pathLst>
          </a:custGeom>
          <a:solidFill>
            <a:schemeClr val="tx1"/>
          </a:solidFill>
          <a:ln w="6117"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Sans Text"/>
              <a:ea typeface="+mn-ea"/>
              <a:cs typeface="+mn-cs"/>
            </a:endParaRPr>
          </a:p>
        </p:txBody>
      </p:sp>
      <p:sp>
        <p:nvSpPr>
          <p:cNvPr id="11" name="Text Placeholder 4">
            <a:extLst>
              <a:ext uri="{FF2B5EF4-FFF2-40B4-BE49-F238E27FC236}">
                <a16:creationId xmlns:a16="http://schemas.microsoft.com/office/drawing/2014/main" id="{6B8F6EDE-3287-C98A-2287-E97E9546E9E1}"/>
              </a:ext>
            </a:extLst>
          </p:cNvPr>
          <p:cNvSpPr>
            <a:spLocks noGrp="1"/>
          </p:cNvSpPr>
          <p:nvPr>
            <p:ph type="body" sz="quarter" idx="12" hasCustomPrompt="1"/>
          </p:nvPr>
        </p:nvSpPr>
        <p:spPr>
          <a:xfrm>
            <a:off x="1245931" y="4963876"/>
            <a:ext cx="270648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Quote author</a:t>
            </a:r>
          </a:p>
        </p:txBody>
      </p:sp>
    </p:spTree>
    <p:extLst>
      <p:ext uri="{BB962C8B-B14F-4D97-AF65-F5344CB8AC3E}">
        <p14:creationId xmlns:p14="http://schemas.microsoft.com/office/powerpoint/2010/main" val="289956404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creensho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457200"/>
            <a:ext cx="6359434" cy="553998"/>
          </a:xfrm>
        </p:spPr>
        <p:txBody>
          <a:bodyPr/>
          <a:lstStyle/>
          <a:p>
            <a:r>
              <a:rPr lang="en-US"/>
              <a:t>Click to edit Master title style</a:t>
            </a:r>
          </a:p>
        </p:txBody>
      </p:sp>
      <p:sp>
        <p:nvSpPr>
          <p:cNvPr id="3" name="Rectangle 2">
            <a:extLst>
              <a:ext uri="{FF2B5EF4-FFF2-40B4-BE49-F238E27FC236}">
                <a16:creationId xmlns:a16="http://schemas.microsoft.com/office/drawing/2014/main" id="{D565C022-5A4E-84F5-B51B-1431B6A0AE21}"/>
              </a:ext>
            </a:extLst>
          </p:cNvPr>
          <p:cNvSpPr/>
          <p:nvPr userDrawn="1"/>
        </p:nvSpPr>
        <p:spPr bwMode="auto">
          <a:xfrm>
            <a:off x="7228114" y="292100"/>
            <a:ext cx="4659086" cy="6272213"/>
          </a:xfrm>
          <a:prstGeom prst="rect">
            <a:avLst/>
          </a:prstGeom>
          <a:gradFill>
            <a:gsLst>
              <a:gs pos="0">
                <a:srgbClr val="FFB3BB"/>
              </a:gs>
              <a:gs pos="100000">
                <a:srgbClr val="FFB900"/>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Sans Text" pitchFamily="2" charset="0"/>
            </a:endParaRP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6076380" y="1866864"/>
            <a:ext cx="5544120" cy="3124272"/>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
        <p:nvSpPr>
          <p:cNvPr id="17" name="Content Placeholder 4">
            <a:extLst>
              <a:ext uri="{FF2B5EF4-FFF2-40B4-BE49-F238E27FC236}">
                <a16:creationId xmlns:a16="http://schemas.microsoft.com/office/drawing/2014/main" id="{1020F17E-67BE-FC02-AF7B-709A3923C231}"/>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1642520"/>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creensho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65C022-5A4E-84F5-B51B-1431B6A0AE21}"/>
              </a:ext>
            </a:extLst>
          </p:cNvPr>
          <p:cNvSpPr/>
          <p:nvPr userDrawn="1"/>
        </p:nvSpPr>
        <p:spPr bwMode="auto">
          <a:xfrm>
            <a:off x="304800" y="292100"/>
            <a:ext cx="11582400" cy="6272213"/>
          </a:xfrm>
          <a:prstGeom prst="rect">
            <a:avLst/>
          </a:prstGeom>
          <a:gradFill>
            <a:gsLst>
              <a:gs pos="64000">
                <a:srgbClr val="0D82CB"/>
              </a:gs>
              <a:gs pos="0">
                <a:srgbClr val="7FDE7B"/>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Sans Text" pitchFamily="2" charset="0"/>
            </a:endParaRPr>
          </a:p>
        </p:txBody>
      </p:sp>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2896801"/>
            <a:ext cx="3590037" cy="1661993"/>
          </a:xfrm>
        </p:spPr>
        <p:txBody>
          <a:bodyPr/>
          <a:lstStyle>
            <a:lvl1pPr algn="l">
              <a:defRPr>
                <a:solidFill>
                  <a:schemeClr val="tx1"/>
                </a:solidFill>
              </a:defRPr>
            </a:lvl1pPr>
          </a:lstStyle>
          <a:p>
            <a:r>
              <a:rPr lang="en-US"/>
              <a:t>Click to edit Master title style</a:t>
            </a: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4461762" y="1490647"/>
            <a:ext cx="6879337" cy="3876706"/>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a:t>Drag &amp; drop your photo here or click or tap icon below to insert</a:t>
            </a:r>
          </a:p>
        </p:txBody>
      </p:sp>
    </p:spTree>
    <p:extLst>
      <p:ext uri="{BB962C8B-B14F-4D97-AF65-F5344CB8AC3E}">
        <p14:creationId xmlns:p14="http://schemas.microsoft.com/office/powerpoint/2010/main" val="210618988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hotoslide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204363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5">
            <a:extLst>
              <a:ext uri="{FF2B5EF4-FFF2-40B4-BE49-F238E27FC236}">
                <a16:creationId xmlns:a16="http://schemas.microsoft.com/office/drawing/2014/main" id="{90C592A4-DBC6-A7A9-63D9-5020A47499F3}"/>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279378652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Photo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2"/>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16127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5">
            <a:extLst>
              <a:ext uri="{FF2B5EF4-FFF2-40B4-BE49-F238E27FC236}">
                <a16:creationId xmlns:a16="http://schemas.microsoft.com/office/drawing/2014/main" id="{830D09FD-2495-FD73-64EA-14E484039EF8}"/>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a:t>Drag &amp; drop your photo here or click or tap icon below to insert</a:t>
            </a:r>
          </a:p>
        </p:txBody>
      </p:sp>
    </p:spTree>
    <p:extLst>
      <p:ext uri="{BB962C8B-B14F-4D97-AF65-F5344CB8AC3E}">
        <p14:creationId xmlns:p14="http://schemas.microsoft.com/office/powerpoint/2010/main" val="3136866814"/>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hank you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2"/>
                </a:solidFill>
                <a:latin typeface="+mj-lt"/>
                <a:cs typeface="Segoe Sans Text" pitchFamily="2" charset="0"/>
              </a:defRPr>
            </a:lvl1pPr>
          </a:lstStyle>
          <a:p>
            <a:r>
              <a:rPr lang="en-US"/>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Sans Text" pitchFamily="2" charset="0"/>
              </a:defRPr>
            </a:lvl1pPr>
          </a:lstStyle>
          <a:p>
            <a:pPr lvl="0"/>
            <a:r>
              <a:rPr lang="en-US"/>
              <a:t>Contact information</a:t>
            </a:r>
          </a:p>
        </p:txBody>
      </p:sp>
      <p:pic>
        <p:nvPicPr>
          <p:cNvPr id="8" name="MS logo gray - EMF" descr="Microsoft logo, gray text version">
            <a:extLst>
              <a:ext uri="{FF2B5EF4-FFF2-40B4-BE49-F238E27FC236}">
                <a16:creationId xmlns:a16="http://schemas.microsoft.com/office/drawing/2014/main" id="{4B828D67-4891-FD7F-4AA2-E9E4A65251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281251681"/>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Thank you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2"/>
                </a:solidFill>
                <a:latin typeface="+mj-lt"/>
                <a:cs typeface="Segoe Sans Text" pitchFamily="2" charset="0"/>
              </a:defRPr>
            </a:lvl1pPr>
          </a:lstStyle>
          <a:p>
            <a:r>
              <a:rPr lang="en-US"/>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Sans Text" pitchFamily="2" charset="0"/>
              </a:defRPr>
            </a:lvl1pPr>
          </a:lstStyle>
          <a:p>
            <a:pPr lvl="0"/>
            <a:r>
              <a:rPr lang="en-US"/>
              <a:t>Contact information</a:t>
            </a:r>
          </a:p>
        </p:txBody>
      </p:sp>
      <p:pic>
        <p:nvPicPr>
          <p:cNvPr id="8" name="MS logo gray - EMF" descr="Microsoft logo, gray text version">
            <a:extLst>
              <a:ext uri="{FF2B5EF4-FFF2-40B4-BE49-F238E27FC236}">
                <a16:creationId xmlns:a16="http://schemas.microsoft.com/office/drawing/2014/main" id="{4B828D67-4891-FD7F-4AA2-E9E4A65251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88090383"/>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243791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878602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Segoe Sans Text"/>
                <a:ea typeface="+mn-ea"/>
                <a:cs typeface="Segoe Sans Text" pitchFamily="2"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70514174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mj-lt"/>
                <a:ea typeface="Segoe Sans Text" pitchFamily="2" charset="0"/>
                <a:cs typeface="Segoe Sans Text"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Text" pitchFamily="2" charset="0"/>
                <a:ea typeface="Segoe Sans Text" pitchFamily="2" charset="0"/>
                <a:cs typeface="Segoe Sans Text" pitchFamily="2" charset="0"/>
              </a:defRPr>
            </a:lvl1pPr>
          </a:lstStyle>
          <a:p>
            <a:pPr lvl="0"/>
            <a:r>
              <a:rPr lang="en-US"/>
              <a:t>Next:</a:t>
            </a:r>
          </a:p>
        </p:txBody>
      </p:sp>
    </p:spTree>
    <p:extLst>
      <p:ext uri="{BB962C8B-B14F-4D97-AF65-F5344CB8AC3E}">
        <p14:creationId xmlns:p14="http://schemas.microsoft.com/office/powerpoint/2010/main" val="83005526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Centered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84775"/>
          </a:xfrm>
        </p:spPr>
        <p:txBody>
          <a:bodyPr/>
          <a:lstStyle>
            <a:lvl1pPr algn="ctr">
              <a:defRPr sz="3800"/>
            </a:lvl1pPr>
          </a:lstStyle>
          <a:p>
            <a:r>
              <a:rPr lang="en-US"/>
              <a:t>Click to edit Master title style</a:t>
            </a:r>
          </a:p>
        </p:txBody>
      </p:sp>
    </p:spTree>
    <p:extLst>
      <p:ext uri="{BB962C8B-B14F-4D97-AF65-F5344CB8AC3E}">
        <p14:creationId xmlns:p14="http://schemas.microsoft.com/office/powerpoint/2010/main" val="21228656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cSld name="4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2374B-7D83-C4A9-1A6E-35DA996B33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2BB30F-97C8-C78F-2380-4700797FA2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35DB7D-A99A-844F-0038-7C8B50DC472A}"/>
              </a:ext>
            </a:extLst>
          </p:cNvPr>
          <p:cNvSpPr>
            <a:spLocks noGrp="1"/>
          </p:cNvSpPr>
          <p:nvPr>
            <p:ph type="dt" sz="half" idx="10"/>
          </p:nvPr>
        </p:nvSpPr>
        <p:spPr/>
        <p:txBody>
          <a:bodyPr/>
          <a:lstStyle/>
          <a:p>
            <a:fld id="{03329630-C813-4DA9-8200-8BA9EB012671}" type="datetimeFigureOut">
              <a:rPr lang="en-US" smtClean="0"/>
              <a:t>8/7/2026</a:t>
            </a:fld>
            <a:endParaRPr lang="en-US"/>
          </a:p>
        </p:txBody>
      </p:sp>
      <p:sp>
        <p:nvSpPr>
          <p:cNvPr id="5" name="Footer Placeholder 4">
            <a:extLst>
              <a:ext uri="{FF2B5EF4-FFF2-40B4-BE49-F238E27FC236}">
                <a16:creationId xmlns:a16="http://schemas.microsoft.com/office/drawing/2014/main" id="{5024C38A-5910-DFE6-D58F-16C10E76CB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C2B0D8-C85D-B565-D080-696E8479E9BD}"/>
              </a:ext>
            </a:extLst>
          </p:cNvPr>
          <p:cNvSpPr>
            <a:spLocks noGrp="1"/>
          </p:cNvSpPr>
          <p:nvPr>
            <p:ph type="sldNum" sz="quarter" idx="12"/>
          </p:nvPr>
        </p:nvSpPr>
        <p:spPr/>
        <p:txBody>
          <a:bodyPr/>
          <a:lstStyle/>
          <a:p>
            <a:fld id="{1F06A310-0D37-4CBD-926A-876330A4A0EE}" type="slidenum">
              <a:rPr lang="en-US" smtClean="0"/>
              <a:t>‹#›</a:t>
            </a:fld>
            <a:endParaRPr lang="en-US"/>
          </a:p>
        </p:txBody>
      </p:sp>
    </p:spTree>
    <p:extLst>
      <p:ext uri="{BB962C8B-B14F-4D97-AF65-F5344CB8AC3E}">
        <p14:creationId xmlns:p14="http://schemas.microsoft.com/office/powerpoint/2010/main" val="216925758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cSld name="Theme 3 - Ligh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grpSp>
        <p:nvGrpSpPr>
          <p:cNvPr id="10" name="Group 9" descr="Theme 3 16x9 background live shapes">
            <a:extLst>
              <a:ext uri="{FF2B5EF4-FFF2-40B4-BE49-F238E27FC236}">
                <a16:creationId xmlns:a16="http://schemas.microsoft.com/office/drawing/2014/main" id="{701B9F81-D668-8FC3-113F-F8E72862127D}"/>
              </a:ext>
            </a:extLst>
          </p:cNvPr>
          <p:cNvGrpSpPr>
            <a:grpSpLocks noChangeAspect="1"/>
          </p:cNvGrpSpPr>
          <p:nvPr userDrawn="1"/>
        </p:nvGrpSpPr>
        <p:grpSpPr>
          <a:xfrm>
            <a:off x="0" y="-1008856"/>
            <a:ext cx="1534583" cy="863263"/>
            <a:chOff x="7823983" y="0"/>
            <a:chExt cx="22756845" cy="12801600"/>
          </a:xfrm>
        </p:grpSpPr>
        <p:sp>
          <p:nvSpPr>
            <p:cNvPr id="11" name="Rectangle 10">
              <a:hlinkClick r:id="" action="ppaction://noaction"/>
              <a:extLst>
                <a:ext uri="{FF2B5EF4-FFF2-40B4-BE49-F238E27FC236}">
                  <a16:creationId xmlns:a16="http://schemas.microsoft.com/office/drawing/2014/main" id="{69B2D4A8-DEF8-AC9C-C93D-613F4D10CA31}"/>
                </a:ext>
                <a:ext uri="{C183D7F6-B498-43B3-948B-1728B52AA6E4}">
                  <adec:decorative xmlns:adec="http://schemas.microsoft.com/office/drawing/2017/decorative" val="1"/>
                </a:ext>
              </a:extLst>
            </p:cNvPr>
            <p:cNvSpPr/>
            <p:nvPr userDrawn="1"/>
          </p:nvSpPr>
          <p:spPr bwMode="auto">
            <a:xfrm>
              <a:off x="7823983" y="0"/>
              <a:ext cx="22756845" cy="128016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76" tIns="146302" rIns="182876" bIns="146302" numCol="1" spcCol="0" rtlCol="0" fromWordArt="0" anchor="t" anchorCtr="0" forceAA="0" compatLnSpc="1">
              <a:prstTxWarp prst="textNoShape">
                <a:avLst/>
              </a:prstTxWarp>
              <a:noAutofit/>
            </a:bodyPr>
            <a:lstStyle/>
            <a:p>
              <a:pPr defTabSz="932247" fontAlgn="base">
                <a:spcBef>
                  <a:spcPct val="0"/>
                </a:spcBef>
                <a:spcAft>
                  <a:spcPct val="0"/>
                </a:spcAft>
                <a:defRPr/>
              </a:pPr>
              <a:endParaRPr lang="en-US" sz="1200" b="1">
                <a:solidFill>
                  <a:srgbClr val="091F2C"/>
                </a:solidFill>
                <a:latin typeface="Segoe UI Variable Display Semibold" pitchFamily="2" charset="0"/>
                <a:cs typeface="Segoe UI" pitchFamily="34" charset="0"/>
              </a:endParaRPr>
            </a:p>
          </p:txBody>
        </p:sp>
        <p:pic>
          <p:nvPicPr>
            <p:cNvPr id="12" name="Picture 11">
              <a:extLst>
                <a:ext uri="{FF2B5EF4-FFF2-40B4-BE49-F238E27FC236}">
                  <a16:creationId xmlns:a16="http://schemas.microsoft.com/office/drawing/2014/main" id="{A7E170B6-641B-0C89-09A4-5A8372632F87}"/>
                </a:ext>
                <a:ext uri="{C183D7F6-B498-43B3-948B-1728B52AA6E4}">
                  <adec:decorative xmlns:adec="http://schemas.microsoft.com/office/drawing/2017/decorative" val="1"/>
                </a:ext>
              </a:extLst>
            </p:cNvPr>
            <p:cNvPicPr>
              <a:picLocks noChangeAspect="1"/>
            </p:cNvPicPr>
            <p:nvPr userDrawn="1"/>
          </p:nvPicPr>
          <p:blipFill>
            <a:blip r:embed="rId3">
              <a:alphaModFix amt="75000"/>
              <a:extLst>
                <a:ext uri="{BEBA8EAE-BF5A-486C-A8C5-ECC9F3942E4B}">
                  <a14:imgProps xmlns:a14="http://schemas.microsoft.com/office/drawing/2010/main">
                    <a14:imgLayer r:embed="rId4">
                      <a14:imgEffect>
                        <a14:brightnessContrast bright="10000"/>
                      </a14:imgEffect>
                    </a14:imgLayer>
                  </a14:imgProps>
                </a:ext>
                <a:ext uri="{28A0092B-C50C-407E-A947-70E740481C1C}">
                  <a14:useLocalDpi xmlns:a14="http://schemas.microsoft.com/office/drawing/2010/main" val="0"/>
                </a:ext>
              </a:extLst>
            </a:blip>
            <a:srcRect/>
            <a:stretch/>
          </p:blipFill>
          <p:spPr>
            <a:xfrm>
              <a:off x="7823983" y="0"/>
              <a:ext cx="22756845" cy="12801600"/>
            </a:xfrm>
            <a:prstGeom prst="rect">
              <a:avLst/>
            </a:prstGeom>
          </p:spPr>
        </p:pic>
        <p:sp>
          <p:nvSpPr>
            <p:cNvPr id="13" name="Rectangle 12">
              <a:hlinkClick r:id="" action="ppaction://noaction"/>
              <a:extLst>
                <a:ext uri="{FF2B5EF4-FFF2-40B4-BE49-F238E27FC236}">
                  <a16:creationId xmlns:a16="http://schemas.microsoft.com/office/drawing/2014/main" id="{43352A4B-C89E-A9B3-F717-BDDC685ABF76}"/>
                </a:ext>
                <a:ext uri="{C183D7F6-B498-43B3-948B-1728B52AA6E4}">
                  <adec:decorative xmlns:adec="http://schemas.microsoft.com/office/drawing/2017/decorative" val="1"/>
                </a:ext>
              </a:extLst>
            </p:cNvPr>
            <p:cNvSpPr/>
            <p:nvPr userDrawn="1"/>
          </p:nvSpPr>
          <p:spPr bwMode="auto">
            <a:xfrm>
              <a:off x="7823983" y="12"/>
              <a:ext cx="22756845" cy="12801588"/>
            </a:xfrm>
            <a:prstGeom prst="rect">
              <a:avLst/>
            </a:prstGeom>
            <a:gradFill flip="none" rotWithShape="1">
              <a:gsLst>
                <a:gs pos="0">
                  <a:srgbClr val="F65567">
                    <a:alpha val="33000"/>
                  </a:srgbClr>
                </a:gs>
                <a:gs pos="58000">
                  <a:srgbClr val="238CD9">
                    <a:alpha val="33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479" tIns="58783" rIns="73479" bIns="58783" numCol="1" spcCol="0" rtlCol="0" fromWordArt="0" anchor="t" anchorCtr="0" forceAA="0" compatLnSpc="1">
              <a:prstTxWarp prst="textNoShape">
                <a:avLst/>
              </a:prstTxWarp>
              <a:noAutofit/>
            </a:bodyPr>
            <a:lstStyle/>
            <a:p>
              <a:pPr defTabSz="374667" fontAlgn="base">
                <a:spcBef>
                  <a:spcPct val="0"/>
                </a:spcBef>
                <a:spcAft>
                  <a:spcPct val="0"/>
                </a:spcAft>
              </a:pPr>
              <a:endParaRPr lang="en-US" sz="500" b="1">
                <a:solidFill>
                  <a:srgbClr val="091F2C"/>
                </a:solidFill>
                <a:latin typeface="Segoe UI Variable Display Semibold" pitchFamily="2" charset="0"/>
                <a:cs typeface="Segoe UI" pitchFamily="34" charset="0"/>
              </a:endParaRPr>
            </a:p>
          </p:txBody>
        </p:sp>
      </p:grpSp>
    </p:spTree>
    <p:extLst>
      <p:ext uri="{BB962C8B-B14F-4D97-AF65-F5344CB8AC3E}">
        <p14:creationId xmlns:p14="http://schemas.microsoft.com/office/powerpoint/2010/main" val="37198680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4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17576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cSld name="Title Only with Gradient BG">
    <p:bg>
      <p:bgPr>
        <a:gradFill flip="none" rotWithShape="1">
          <a:gsLst>
            <a:gs pos="100000">
              <a:srgbClr val="8DC8E8">
                <a:alpha val="21803"/>
              </a:srgbClr>
            </a:gs>
            <a:gs pos="31000">
              <a:srgbClr val="C5B4E3">
                <a:alpha val="12000"/>
              </a:srgbClr>
            </a:gs>
            <a:gs pos="75000">
              <a:srgbClr val="8DC8E8">
                <a:alpha val="27005"/>
              </a:srgbClr>
            </a:gs>
            <a:gs pos="0">
              <a:srgbClr val="C5B4E3">
                <a:alpha val="48095"/>
              </a:srgb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4293552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2AB5B-95FF-D5D7-7393-1AB956F6C1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8104AB-A10E-8A87-383D-6554D03699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FA77FF-B22B-1C7C-6796-067C33EB8D80}"/>
              </a:ext>
            </a:extLst>
          </p:cNvPr>
          <p:cNvSpPr>
            <a:spLocks noGrp="1"/>
          </p:cNvSpPr>
          <p:nvPr>
            <p:ph type="dt" sz="half" idx="10"/>
          </p:nvPr>
        </p:nvSpPr>
        <p:spPr/>
        <p:txBody>
          <a:bodyPr/>
          <a:lstStyle/>
          <a:p>
            <a:fld id="{979AE722-D2EB-46D8-8161-FEFFBD140FBC}" type="datetimeFigureOut">
              <a:rPr lang="en-US" smtClean="0"/>
              <a:t>8/7/2026</a:t>
            </a:fld>
            <a:endParaRPr lang="en-US"/>
          </a:p>
        </p:txBody>
      </p:sp>
      <p:sp>
        <p:nvSpPr>
          <p:cNvPr id="5" name="Footer Placeholder 4">
            <a:extLst>
              <a:ext uri="{FF2B5EF4-FFF2-40B4-BE49-F238E27FC236}">
                <a16:creationId xmlns:a16="http://schemas.microsoft.com/office/drawing/2014/main" id="{B0AA906A-FCFB-B453-59A7-013B4EA506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8F5CC0-ED55-4E19-F380-B114EF7A6B49}"/>
              </a:ext>
            </a:extLst>
          </p:cNvPr>
          <p:cNvSpPr>
            <a:spLocks noGrp="1"/>
          </p:cNvSpPr>
          <p:nvPr>
            <p:ph type="sldNum" sz="quarter" idx="12"/>
          </p:nvPr>
        </p:nvSpPr>
        <p:spPr/>
        <p:txBody>
          <a:bodyPr/>
          <a:lstStyle/>
          <a:p>
            <a:fld id="{0D366D58-53F6-4AE5-8CD4-D2410CA14459}" type="slidenum">
              <a:rPr lang="en-US" smtClean="0"/>
              <a:t>‹#›</a:t>
            </a:fld>
            <a:endParaRPr lang="en-US"/>
          </a:p>
        </p:txBody>
      </p:sp>
    </p:spTree>
    <p:extLst>
      <p:ext uri="{BB962C8B-B14F-4D97-AF65-F5344CB8AC3E}">
        <p14:creationId xmlns:p14="http://schemas.microsoft.com/office/powerpoint/2010/main" val="176071328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Microsoft Az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2765663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Walkin - Infr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1701866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Walkin - Dat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418419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Walkin - Co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787906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Walkin - AI">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2635716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tle Slide - Infra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12840337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itle Slide - Infr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25544025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itle Slide - Data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22705386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Title Slide - Dat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15523710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itle Slide - Coding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15953393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Title Slide - Coding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7839687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Title Slide - AI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1054324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itle Slide - AI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34183919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2"/>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39500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p>
            <a:r>
              <a:rPr lang="en-GB"/>
              <a:t>Click to edit Master title style</a:t>
            </a:r>
            <a:endParaRPr lang="en-US"/>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Tree>
    <p:extLst>
      <p:ext uri="{BB962C8B-B14F-4D97-AF65-F5344CB8AC3E}">
        <p14:creationId xmlns:p14="http://schemas.microsoft.com/office/powerpoint/2010/main" val="77770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257344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itle Only with Gradient BG">
    <p:bg>
      <p:bgPr>
        <a:gradFill flip="none" rotWithShape="1">
          <a:gsLst>
            <a:gs pos="100000">
              <a:srgbClr val="8DC8E8">
                <a:alpha val="21803"/>
              </a:srgbClr>
            </a:gs>
            <a:gs pos="31000">
              <a:srgbClr val="C5B4E3">
                <a:alpha val="12000"/>
              </a:srgbClr>
            </a:gs>
            <a:gs pos="75000">
              <a:srgbClr val="8DC8E8">
                <a:alpha val="27005"/>
              </a:srgbClr>
            </a:gs>
            <a:gs pos="0">
              <a:srgbClr val="C5B4E3">
                <a:alpha val="48095"/>
              </a:srgb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396367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1688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hank you slide - Infr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2"/>
                </a:solidFill>
                <a:latin typeface="+mj-lt"/>
                <a:cs typeface="Segoe Sans Text" pitchFamily="2" charset="0"/>
              </a:defRPr>
            </a:lvl1pPr>
          </a:lstStyle>
          <a:p>
            <a:r>
              <a:rPr lang="en-US"/>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Sans Text" pitchFamily="2" charset="0"/>
              </a:defRPr>
            </a:lvl1pPr>
          </a:lstStyle>
          <a:p>
            <a:pPr lvl="0"/>
            <a:r>
              <a:rPr lang="en-US"/>
              <a:t>Contact information</a:t>
            </a:r>
          </a:p>
        </p:txBody>
      </p:sp>
      <p:pic>
        <p:nvPicPr>
          <p:cNvPr id="6" name="Picture 5" descr="A black and white logo&#10;&#10;AI-generated content may be incorrect.">
            <a:extLst>
              <a:ext uri="{FF2B5EF4-FFF2-40B4-BE49-F238E27FC236}">
                <a16:creationId xmlns:a16="http://schemas.microsoft.com/office/drawing/2014/main" id="{76757545-0D37-4157-3A07-EC1A9E9A93EA}"/>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285970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Microsoft Az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1610114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Walkin - Infr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2183863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Walkin - Dat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1648841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Walkin - Co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3497921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Walkin - AI">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278908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itle Slide - Infra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30002779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 Slide - Infr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9582375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itle Slide - Data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38729267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Slide - Dat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25258867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Title Slide - Coding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39326982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itle Slide - Coding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6090222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Title Slide - AI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23345538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Title Slide - AI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22136520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2"/>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0110098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p>
            <a:r>
              <a:rPr lang="en-GB"/>
              <a:t>Click to edit Master title style</a:t>
            </a:r>
            <a:endParaRPr lang="en-US"/>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Tree>
    <p:extLst>
      <p:ext uri="{BB962C8B-B14F-4D97-AF65-F5344CB8AC3E}">
        <p14:creationId xmlns:p14="http://schemas.microsoft.com/office/powerpoint/2010/main" val="27694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07511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Title Only with Gradient BG">
    <p:bg>
      <p:bgPr>
        <a:gradFill flip="none" rotWithShape="1">
          <a:gsLst>
            <a:gs pos="100000">
              <a:srgbClr val="8DC8E8">
                <a:alpha val="21803"/>
              </a:srgbClr>
            </a:gs>
            <a:gs pos="31000">
              <a:srgbClr val="C5B4E3">
                <a:alpha val="12000"/>
              </a:srgbClr>
            </a:gs>
            <a:gs pos="75000">
              <a:srgbClr val="8DC8E8">
                <a:alpha val="27005"/>
              </a:srgbClr>
            </a:gs>
            <a:gs pos="0">
              <a:srgbClr val="C5B4E3">
                <a:alpha val="48095"/>
              </a:srgb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4025939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hank you slide - Infr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2"/>
                </a:solidFill>
                <a:latin typeface="+mj-lt"/>
                <a:cs typeface="Segoe UI" panose="020B0502040204020203" pitchFamily="34" charset="0"/>
              </a:defRPr>
            </a:lvl1pPr>
          </a:lstStyle>
          <a:p>
            <a:r>
              <a:rPr lang="en-US"/>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UI" panose="020B0502040204020203" pitchFamily="34" charset="0"/>
              </a:defRPr>
            </a:lvl1pPr>
          </a:lstStyle>
          <a:p>
            <a:pPr lvl="0"/>
            <a:r>
              <a:rPr lang="en-US"/>
              <a:t>Contact information</a:t>
            </a:r>
          </a:p>
        </p:txBody>
      </p:sp>
      <p:pic>
        <p:nvPicPr>
          <p:cNvPr id="6" name="Picture 5" descr="A black and white logo&#10;&#10;AI-generated content may be incorrect.">
            <a:extLst>
              <a:ext uri="{FF2B5EF4-FFF2-40B4-BE49-F238E27FC236}">
                <a16:creationId xmlns:a16="http://schemas.microsoft.com/office/drawing/2014/main" id="{76757545-0D37-4157-3A07-EC1A9E9A93EA}"/>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1615886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0925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cSld name="Theme 3 - Ligh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E58E24D2-84FD-0797-B2A8-AA4E2A0C3BB5}"/>
              </a:ext>
            </a:extLst>
          </p:cNvPr>
          <p:cNvGrpSpPr>
            <a:grpSpLocks noChangeAspect="1"/>
          </p:cNvGrpSpPr>
          <p:nvPr userDrawn="1"/>
        </p:nvGrpSpPr>
        <p:grpSpPr>
          <a:xfrm>
            <a:off x="0" y="-1104105"/>
            <a:ext cx="1625600" cy="914400"/>
            <a:chOff x="0" y="0"/>
            <a:chExt cx="38404800" cy="12801600"/>
          </a:xfrm>
        </p:grpSpPr>
        <p:sp>
          <p:nvSpPr>
            <p:cNvPr id="15" name="Rectangle 14">
              <a:hlinkClick r:id="" action="ppaction://noaction"/>
              <a:extLst>
                <a:ext uri="{FF2B5EF4-FFF2-40B4-BE49-F238E27FC236}">
                  <a16:creationId xmlns:a16="http://schemas.microsoft.com/office/drawing/2014/main" id="{92779643-5AB6-8F0E-2614-26D2926F70BF}"/>
                </a:ext>
              </a:extLst>
            </p:cNvPr>
            <p:cNvSpPr/>
            <p:nvPr userDrawn="1"/>
          </p:nvSpPr>
          <p:spPr bwMode="auto">
            <a:xfrm>
              <a:off x="0" y="0"/>
              <a:ext cx="38404800" cy="128016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222028" rtl="0" eaLnBrk="1" fontAlgn="base" latinLnBrk="0" hangingPunct="1">
                <a:lnSpc>
                  <a:spcPct val="100000"/>
                </a:lnSpc>
                <a:spcBef>
                  <a:spcPct val="0"/>
                </a:spcBef>
                <a:spcAft>
                  <a:spcPct val="0"/>
                </a:spcAft>
                <a:buClrTx/>
                <a:buSzTx/>
                <a:buFontTx/>
                <a:buNone/>
                <a:tabLst/>
                <a:defRPr/>
              </a:pPr>
              <a:endParaRPr kumimoji="0" lang="en-US" sz="476" b="0" i="0" u="none" strike="noStrike" kern="1200" cap="none" spc="0" normalizeH="0" baseline="0" noProof="0">
                <a:ln>
                  <a:noFill/>
                </a:ln>
                <a:solidFill>
                  <a:srgbClr val="091F2C"/>
                </a:solidFill>
                <a:effectLst/>
                <a:uLnTx/>
                <a:uFillTx/>
                <a:latin typeface="Segoe UI"/>
                <a:ea typeface="+mn-ea"/>
                <a:cs typeface="Segoe UI" pitchFamily="34" charset="0"/>
              </a:endParaRPr>
            </a:p>
          </p:txBody>
        </p:sp>
        <p:pic>
          <p:nvPicPr>
            <p:cNvPr id="16" name="Picture 15" descr="A white background with light&#10;&#10;Description automatically generated">
              <a:extLst>
                <a:ext uri="{FF2B5EF4-FFF2-40B4-BE49-F238E27FC236}">
                  <a16:creationId xmlns:a16="http://schemas.microsoft.com/office/drawing/2014/main" id="{2BA5F44E-1CD1-6C52-3624-468DC08FCD21}"/>
                </a:ext>
              </a:extLst>
            </p:cNvPr>
            <p:cNvPicPr>
              <a:picLocks noChangeAspect="1"/>
            </p:cNvPicPr>
            <p:nvPr userDrawn="1"/>
          </p:nvPicPr>
          <p:blipFill>
            <a:blip r:embed="rId3">
              <a:alphaModFix amt="75000"/>
              <a:extLst>
                <a:ext uri="{BEBA8EAE-BF5A-486C-A8C5-ECC9F3942E4B}">
                  <a14:imgProps xmlns:a14="http://schemas.microsoft.com/office/drawing/2010/main">
                    <a14:imgLayer r:embed="rId4">
                      <a14:imgEffect>
                        <a14:brightnessContrast bright="10000"/>
                      </a14:imgEffect>
                    </a14:imgLayer>
                  </a14:imgProps>
                </a:ext>
                <a:ext uri="{28A0092B-C50C-407E-A947-70E740481C1C}">
                  <a14:useLocalDpi xmlns:a14="http://schemas.microsoft.com/office/drawing/2010/main" val="0"/>
                </a:ext>
              </a:extLst>
            </a:blip>
            <a:srcRect/>
            <a:stretch/>
          </p:blipFill>
          <p:spPr>
            <a:xfrm>
              <a:off x="0" y="0"/>
              <a:ext cx="38404800" cy="12801600"/>
            </a:xfrm>
            <a:prstGeom prst="rect">
              <a:avLst/>
            </a:prstGeom>
          </p:spPr>
        </p:pic>
        <p:sp>
          <p:nvSpPr>
            <p:cNvPr id="17" name="Rectangle 16">
              <a:hlinkClick r:id="" action="ppaction://noaction"/>
              <a:extLst>
                <a:ext uri="{FF2B5EF4-FFF2-40B4-BE49-F238E27FC236}">
                  <a16:creationId xmlns:a16="http://schemas.microsoft.com/office/drawing/2014/main" id="{B7B5FC0A-F698-FF1E-492D-E8CA7F6C2404}"/>
                </a:ext>
              </a:extLst>
            </p:cNvPr>
            <p:cNvSpPr/>
            <p:nvPr userDrawn="1"/>
          </p:nvSpPr>
          <p:spPr bwMode="auto">
            <a:xfrm>
              <a:off x="0" y="0"/>
              <a:ext cx="38404800" cy="12801600"/>
            </a:xfrm>
            <a:prstGeom prst="rect">
              <a:avLst/>
            </a:prstGeom>
            <a:gradFill flip="none" rotWithShape="1">
              <a:gsLst>
                <a:gs pos="0">
                  <a:srgbClr val="F65567">
                    <a:alpha val="33000"/>
                  </a:srgbClr>
                </a:gs>
                <a:gs pos="58000">
                  <a:srgbClr val="238CD9">
                    <a:alpha val="33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222028" rtl="0" eaLnBrk="1" fontAlgn="base" latinLnBrk="0" hangingPunct="1">
                <a:lnSpc>
                  <a:spcPct val="100000"/>
                </a:lnSpc>
                <a:spcBef>
                  <a:spcPct val="0"/>
                </a:spcBef>
                <a:spcAft>
                  <a:spcPct val="0"/>
                </a:spcAft>
                <a:buClrTx/>
                <a:buSzTx/>
                <a:buFontTx/>
                <a:buNone/>
                <a:tabLst/>
                <a:defRPr/>
              </a:pPr>
              <a:endParaRPr kumimoji="0" lang="en-US" sz="476" b="0" i="0" u="none" strike="noStrike" kern="1200" cap="none" spc="0" normalizeH="0" baseline="0" noProof="0">
                <a:ln>
                  <a:noFill/>
                </a:ln>
                <a:solidFill>
                  <a:srgbClr val="091F2C"/>
                </a:solidFill>
                <a:effectLst/>
                <a:uLnTx/>
                <a:uFillTx/>
                <a:latin typeface="Segoe UI"/>
                <a:ea typeface="+mn-ea"/>
                <a:cs typeface="Segoe UI" pitchFamily="34" charset="0"/>
              </a:endParaRPr>
            </a:p>
          </p:txBody>
        </p:sp>
      </p:grpSp>
    </p:spTree>
    <p:extLst>
      <p:ext uri="{BB962C8B-B14F-4D97-AF65-F5344CB8AC3E}">
        <p14:creationId xmlns:p14="http://schemas.microsoft.com/office/powerpoint/2010/main" val="340948740"/>
      </p:ext>
    </p:extLst>
  </p:cSld>
  <p:clrMapOvr>
    <a:masterClrMapping/>
  </p:clrMapOvr>
  <p:transition>
    <p:fade/>
  </p:transition>
  <p:extLst>
    <p:ext uri="{DCECCB84-F9BA-43D5-87BE-67443E8EF086}">
      <p15:sldGuideLst xmlns:p15="http://schemas.microsoft.com/office/powerpoint/2012/main">
        <p15:guide id="7" pos="1248">
          <p15:clr>
            <a:srgbClr val="A4A3A4"/>
          </p15:clr>
        </p15:guide>
        <p15:guide id="26" pos="11478">
          <p15:clr>
            <a:srgbClr val="A4A3A4"/>
          </p15:clr>
        </p15:guide>
        <p15:guide id="27" pos="11712">
          <p15:clr>
            <a:srgbClr val="A4A3A4"/>
          </p15:clr>
        </p15:guide>
        <p15:guide id="28" pos="1482">
          <p15:clr>
            <a:srgbClr val="A4A3A4"/>
          </p15:clr>
        </p15:guide>
        <p15:guide id="29" pos="10686">
          <p15:clr>
            <a:srgbClr val="A4A3A4"/>
          </p15:clr>
        </p15:guide>
        <p15:guide id="31" pos="9666">
          <p15:clr>
            <a:srgbClr val="A4A3A4"/>
          </p15:clr>
        </p15:guide>
        <p15:guide id="32" pos="9432">
          <p15:clr>
            <a:srgbClr val="A4A3A4"/>
          </p15:clr>
        </p15:guide>
        <p15:guide id="33" pos="8640">
          <p15:clr>
            <a:srgbClr val="A4A3A4"/>
          </p15:clr>
        </p15:guide>
        <p15:guide id="34" pos="8412">
          <p15:clr>
            <a:srgbClr val="A4A3A4"/>
          </p15:clr>
        </p15:guide>
        <p15:guide id="35" pos="7620">
          <p15:clr>
            <a:srgbClr val="A4A3A4"/>
          </p15:clr>
        </p15:guide>
        <p15:guide id="36" pos="7392">
          <p15:clr>
            <a:srgbClr val="A4A3A4"/>
          </p15:clr>
        </p15:guide>
        <p15:guide id="37" pos="6594">
          <p15:clr>
            <a:srgbClr val="A4A3A4"/>
          </p15:clr>
        </p15:guide>
        <p15:guide id="38" pos="6366">
          <p15:clr>
            <a:srgbClr val="A4A3A4"/>
          </p15:clr>
        </p15:guide>
        <p15:guide id="39" pos="5568">
          <p15:clr>
            <a:srgbClr val="A4A3A4"/>
          </p15:clr>
        </p15:guide>
        <p15:guide id="40" pos="5340">
          <p15:clr>
            <a:srgbClr val="A4A3A4"/>
          </p15:clr>
        </p15:guide>
        <p15:guide id="41" pos="4548">
          <p15:clr>
            <a:srgbClr val="A4A3A4"/>
          </p15:clr>
        </p15:guide>
        <p15:guide id="42" pos="4320">
          <p15:clr>
            <a:srgbClr val="A4A3A4"/>
          </p15:clr>
        </p15:guide>
        <p15:guide id="43" pos="3528">
          <p15:clr>
            <a:srgbClr val="A4A3A4"/>
          </p15:clr>
        </p15:guide>
        <p15:guide id="44" pos="3294">
          <p15:clr>
            <a:srgbClr val="A4A3A4"/>
          </p15:clr>
        </p15:guide>
        <p15:guide id="46" pos="2274">
          <p15:clr>
            <a:srgbClr val="A4A3A4"/>
          </p15:clr>
        </p15:guide>
        <p15:guide id="47" orient="horz" pos="1272">
          <p15:clr>
            <a:srgbClr val="5ACBF0"/>
          </p15:clr>
        </p15:guide>
        <p15:guide id="48" orient="horz" pos="906">
          <p15:clr>
            <a:srgbClr val="5ACBF0"/>
          </p15:clr>
        </p15:guide>
        <p15:guide id="49" pos="10452">
          <p15:clr>
            <a:srgbClr val="A4A3A4"/>
          </p15:clr>
        </p15:guide>
        <p15:guide id="50" pos="2508">
          <p15:clr>
            <a:srgbClr val="A4A3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8.xml"/><Relationship Id="rId21" Type="http://schemas.openxmlformats.org/officeDocument/2006/relationships/slideLayout" Target="../slideLayouts/slideLayout33.xml"/><Relationship Id="rId42" Type="http://schemas.openxmlformats.org/officeDocument/2006/relationships/slideLayout" Target="../slideLayouts/slideLayout54.xml"/><Relationship Id="rId47" Type="http://schemas.openxmlformats.org/officeDocument/2006/relationships/slideLayout" Target="../slideLayouts/slideLayout59.xml"/><Relationship Id="rId63" Type="http://schemas.openxmlformats.org/officeDocument/2006/relationships/slideLayout" Target="../slideLayouts/slideLayout75.xml"/><Relationship Id="rId68" Type="http://schemas.openxmlformats.org/officeDocument/2006/relationships/slideLayout" Target="../slideLayouts/slideLayout80.xml"/><Relationship Id="rId16" Type="http://schemas.openxmlformats.org/officeDocument/2006/relationships/slideLayout" Target="../slideLayouts/slideLayout2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53" Type="http://schemas.openxmlformats.org/officeDocument/2006/relationships/slideLayout" Target="../slideLayouts/slideLayout65.xml"/><Relationship Id="rId58" Type="http://schemas.openxmlformats.org/officeDocument/2006/relationships/slideLayout" Target="../slideLayouts/slideLayout70.xml"/><Relationship Id="rId66" Type="http://schemas.openxmlformats.org/officeDocument/2006/relationships/slideLayout" Target="../slideLayouts/slideLayout78.xml"/><Relationship Id="rId74" Type="http://schemas.openxmlformats.org/officeDocument/2006/relationships/slideLayout" Target="../slideLayouts/slideLayout86.xml"/><Relationship Id="rId79" Type="http://schemas.openxmlformats.org/officeDocument/2006/relationships/image" Target="../media/image2.svg"/><Relationship Id="rId5" Type="http://schemas.openxmlformats.org/officeDocument/2006/relationships/slideLayout" Target="../slideLayouts/slideLayout17.xml"/><Relationship Id="rId61" Type="http://schemas.openxmlformats.org/officeDocument/2006/relationships/slideLayout" Target="../slideLayouts/slideLayout73.xml"/><Relationship Id="rId19" Type="http://schemas.openxmlformats.org/officeDocument/2006/relationships/slideLayout" Target="../slideLayouts/slideLayout3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48" Type="http://schemas.openxmlformats.org/officeDocument/2006/relationships/slideLayout" Target="../slideLayouts/slideLayout60.xml"/><Relationship Id="rId56" Type="http://schemas.openxmlformats.org/officeDocument/2006/relationships/slideLayout" Target="../slideLayouts/slideLayout68.xml"/><Relationship Id="rId64" Type="http://schemas.openxmlformats.org/officeDocument/2006/relationships/slideLayout" Target="../slideLayouts/slideLayout76.xml"/><Relationship Id="rId69" Type="http://schemas.openxmlformats.org/officeDocument/2006/relationships/slideLayout" Target="../slideLayouts/slideLayout81.xml"/><Relationship Id="rId77" Type="http://schemas.openxmlformats.org/officeDocument/2006/relationships/slideLayout" Target="../slideLayouts/slideLayout89.xml"/><Relationship Id="rId8" Type="http://schemas.openxmlformats.org/officeDocument/2006/relationships/slideLayout" Target="../slideLayouts/slideLayout20.xml"/><Relationship Id="rId51" Type="http://schemas.openxmlformats.org/officeDocument/2006/relationships/slideLayout" Target="../slideLayouts/slideLayout63.xml"/><Relationship Id="rId72" Type="http://schemas.openxmlformats.org/officeDocument/2006/relationships/slideLayout" Target="../slideLayouts/slideLayout84.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slideLayout" Target="../slideLayouts/slideLayout58.xml"/><Relationship Id="rId59" Type="http://schemas.openxmlformats.org/officeDocument/2006/relationships/slideLayout" Target="../slideLayouts/slideLayout71.xml"/><Relationship Id="rId67" Type="http://schemas.openxmlformats.org/officeDocument/2006/relationships/slideLayout" Target="../slideLayouts/slideLayout79.xml"/><Relationship Id="rId20" Type="http://schemas.openxmlformats.org/officeDocument/2006/relationships/slideLayout" Target="../slideLayouts/slideLayout32.xml"/><Relationship Id="rId41" Type="http://schemas.openxmlformats.org/officeDocument/2006/relationships/slideLayout" Target="../slideLayouts/slideLayout53.xml"/><Relationship Id="rId54" Type="http://schemas.openxmlformats.org/officeDocument/2006/relationships/slideLayout" Target="../slideLayouts/slideLayout66.xml"/><Relationship Id="rId62" Type="http://schemas.openxmlformats.org/officeDocument/2006/relationships/slideLayout" Target="../slideLayouts/slideLayout74.xml"/><Relationship Id="rId70" Type="http://schemas.openxmlformats.org/officeDocument/2006/relationships/slideLayout" Target="../slideLayouts/slideLayout82.xml"/><Relationship Id="rId75" Type="http://schemas.openxmlformats.org/officeDocument/2006/relationships/slideLayout" Target="../slideLayouts/slideLayout87.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49" Type="http://schemas.openxmlformats.org/officeDocument/2006/relationships/slideLayout" Target="../slideLayouts/slideLayout61.xml"/><Relationship Id="rId57" Type="http://schemas.openxmlformats.org/officeDocument/2006/relationships/slideLayout" Target="../slideLayouts/slideLayout69.xml"/><Relationship Id="rId10" Type="http://schemas.openxmlformats.org/officeDocument/2006/relationships/slideLayout" Target="../slideLayouts/slideLayout22.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52" Type="http://schemas.openxmlformats.org/officeDocument/2006/relationships/slideLayout" Target="../slideLayouts/slideLayout64.xml"/><Relationship Id="rId60" Type="http://schemas.openxmlformats.org/officeDocument/2006/relationships/slideLayout" Target="../slideLayouts/slideLayout72.xml"/><Relationship Id="rId65" Type="http://schemas.openxmlformats.org/officeDocument/2006/relationships/slideLayout" Target="../slideLayouts/slideLayout77.xml"/><Relationship Id="rId73" Type="http://schemas.openxmlformats.org/officeDocument/2006/relationships/slideLayout" Target="../slideLayouts/slideLayout85.xml"/><Relationship Id="rId78"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9" Type="http://schemas.openxmlformats.org/officeDocument/2006/relationships/slideLayout" Target="../slideLayouts/slideLayout51.xml"/><Relationship Id="rId34" Type="http://schemas.openxmlformats.org/officeDocument/2006/relationships/slideLayout" Target="../slideLayouts/slideLayout46.xml"/><Relationship Id="rId50" Type="http://schemas.openxmlformats.org/officeDocument/2006/relationships/slideLayout" Target="../slideLayouts/slideLayout62.xml"/><Relationship Id="rId55" Type="http://schemas.openxmlformats.org/officeDocument/2006/relationships/slideLayout" Target="../slideLayouts/slideLayout67.xml"/><Relationship Id="rId76" Type="http://schemas.openxmlformats.org/officeDocument/2006/relationships/slideLayout" Target="../slideLayouts/slideLayout88.xml"/><Relationship Id="rId7" Type="http://schemas.openxmlformats.org/officeDocument/2006/relationships/slideLayout" Target="../slideLayouts/slideLayout19.xml"/><Relationship Id="rId71" Type="http://schemas.openxmlformats.org/officeDocument/2006/relationships/slideLayout" Target="../slideLayouts/slideLayout83.xml"/><Relationship Id="rId2" Type="http://schemas.openxmlformats.org/officeDocument/2006/relationships/slideLayout" Target="../slideLayouts/slideLayout14.xml"/><Relationship Id="rId29"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18" Type="http://schemas.openxmlformats.org/officeDocument/2006/relationships/slideLayout" Target="../slideLayouts/slideLayout107.xml"/><Relationship Id="rId3" Type="http://schemas.openxmlformats.org/officeDocument/2006/relationships/slideLayout" Target="../slideLayouts/slideLayout92.xml"/><Relationship Id="rId21" Type="http://schemas.openxmlformats.org/officeDocument/2006/relationships/image" Target="../media/image2.svg"/><Relationship Id="rId7" Type="http://schemas.openxmlformats.org/officeDocument/2006/relationships/slideLayout" Target="../slideLayouts/slideLayout96.xml"/><Relationship Id="rId12" Type="http://schemas.openxmlformats.org/officeDocument/2006/relationships/slideLayout" Target="../slideLayouts/slideLayout101.xml"/><Relationship Id="rId17" Type="http://schemas.openxmlformats.org/officeDocument/2006/relationships/slideLayout" Target="../slideLayouts/slideLayout106.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20" Type="http://schemas.openxmlformats.org/officeDocument/2006/relationships/theme" Target="../theme/theme3.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10" Type="http://schemas.openxmlformats.org/officeDocument/2006/relationships/slideLayout" Target="../slideLayouts/slideLayout99.xml"/><Relationship Id="rId19" Type="http://schemas.openxmlformats.org/officeDocument/2006/relationships/slideLayout" Target="../slideLayouts/slideLayout108.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slideLayout" Target="../slideLayouts/slideLayout121.xml"/><Relationship Id="rId18" Type="http://schemas.openxmlformats.org/officeDocument/2006/relationships/slideLayout" Target="../slideLayouts/slideLayout126.xml"/><Relationship Id="rId3" Type="http://schemas.openxmlformats.org/officeDocument/2006/relationships/slideLayout" Target="../slideLayouts/slideLayout111.xml"/><Relationship Id="rId21" Type="http://schemas.openxmlformats.org/officeDocument/2006/relationships/theme" Target="../theme/theme4.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17" Type="http://schemas.openxmlformats.org/officeDocument/2006/relationships/slideLayout" Target="../slideLayouts/slideLayout125.xml"/><Relationship Id="rId2" Type="http://schemas.openxmlformats.org/officeDocument/2006/relationships/slideLayout" Target="../slideLayouts/slideLayout110.xml"/><Relationship Id="rId16" Type="http://schemas.openxmlformats.org/officeDocument/2006/relationships/slideLayout" Target="../slideLayouts/slideLayout124.xml"/><Relationship Id="rId20" Type="http://schemas.openxmlformats.org/officeDocument/2006/relationships/slideLayout" Target="../slideLayouts/slideLayout128.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5" Type="http://schemas.openxmlformats.org/officeDocument/2006/relationships/slideLayout" Target="../slideLayouts/slideLayout123.xml"/><Relationship Id="rId10" Type="http://schemas.openxmlformats.org/officeDocument/2006/relationships/slideLayout" Target="../slideLayouts/slideLayout118.xml"/><Relationship Id="rId19" Type="http://schemas.openxmlformats.org/officeDocument/2006/relationships/slideLayout" Target="../slideLayouts/slideLayout127.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14" Type="http://schemas.openxmlformats.org/officeDocument/2006/relationships/slideLayout" Target="../slideLayouts/slideLayout122.xml"/><Relationship Id="rId22"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8E494C-3F2B-EABA-BEA7-79F8C94F8B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822D42-2DC7-5612-ADA3-2C37D12906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828EFC-B073-F7D0-3030-BFF209EB7B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9AE722-D2EB-46D8-8161-FEFFBD140FBC}" type="datetimeFigureOut">
              <a:rPr lang="en-US" smtClean="0"/>
              <a:t>8/7/2026</a:t>
            </a:fld>
            <a:endParaRPr lang="en-US"/>
          </a:p>
        </p:txBody>
      </p:sp>
      <p:sp>
        <p:nvSpPr>
          <p:cNvPr id="5" name="Footer Placeholder 4">
            <a:extLst>
              <a:ext uri="{FF2B5EF4-FFF2-40B4-BE49-F238E27FC236}">
                <a16:creationId xmlns:a16="http://schemas.microsoft.com/office/drawing/2014/main" id="{A8EC9368-DED9-8937-E3E7-756352284C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3788C52-1385-D6E8-D3D5-0B47EAF32E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366D58-53F6-4AE5-8CD4-D2410CA14459}" type="slidenum">
              <a:rPr lang="en-US" smtClean="0"/>
              <a:t>‹#›</a:t>
            </a:fld>
            <a:endParaRPr lang="en-US"/>
          </a:p>
        </p:txBody>
      </p:sp>
      <p:sp>
        <p:nvSpPr>
          <p:cNvPr id="8" name="TextBox 7">
            <a:extLst>
              <a:ext uri="{FF2B5EF4-FFF2-40B4-BE49-F238E27FC236}">
                <a16:creationId xmlns:a16="http://schemas.microsoft.com/office/drawing/2014/main" id="{F5596AC2-E9D6-85F4-0B24-4AFEAB5CBEF3}"/>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6916524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7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Sans Text"/>
              <a:ea typeface="Segoe UI" pitchFamily="34" charset="0"/>
              <a:cs typeface="Segoe Sans Text"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Sans Text"/>
              <a:ea typeface="Segoe UI" pitchFamily="34" charset="0"/>
              <a:cs typeface="Segoe Sans Text"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79"/>
              </a:ext>
            </a:extLst>
          </a:blip>
          <a:srcRect/>
          <a:stretch/>
        </p:blipFill>
        <p:spPr>
          <a:xfrm rot="5400000">
            <a:off x="9509919" y="2743200"/>
            <a:ext cx="6858000" cy="1371600"/>
          </a:xfrm>
          <a:prstGeom prst="rect">
            <a:avLst/>
          </a:prstGeom>
        </p:spPr>
      </p:pic>
      <p:sp>
        <p:nvSpPr>
          <p:cNvPr id="6" name="TextBox 5">
            <a:extLst>
              <a:ext uri="{FF2B5EF4-FFF2-40B4-BE49-F238E27FC236}">
                <a16:creationId xmlns:a16="http://schemas.microsoft.com/office/drawing/2014/main" id="{A8F0759F-3B38-28CE-8499-FFC57FFAEE7B}"/>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1065797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77" r:id="rId76"/>
    <p:sldLayoutId id="2147483778" r:id="rId7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GB"/>
              <a:t>Click to edit Master title style</a:t>
            </a:r>
            <a:endParaRPr lang="en-US"/>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Text"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Text"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21"/>
              </a:ext>
            </a:extLst>
          </a:blip>
          <a:srcRect/>
          <a:stretch/>
        </p:blipFill>
        <p:spPr>
          <a:xfrm rot="5400000">
            <a:off x="9509919" y="2743200"/>
            <a:ext cx="6858000" cy="1371600"/>
          </a:xfrm>
          <a:prstGeom prst="rect">
            <a:avLst/>
          </a:prstGeom>
        </p:spPr>
      </p:pic>
      <p:sp>
        <p:nvSpPr>
          <p:cNvPr id="6" name="TextBox 5">
            <a:extLst>
              <a:ext uri="{FF2B5EF4-FFF2-40B4-BE49-F238E27FC236}">
                <a16:creationId xmlns:a16="http://schemas.microsoft.com/office/drawing/2014/main" id="{38627AB8-3DDA-436B-10B1-56858871495B}"/>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1494025191"/>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GB"/>
              <a:t>Click to edit Master title style</a:t>
            </a:r>
            <a:endParaRPr lang="en-US"/>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22"/>
              </a:ext>
            </a:extLst>
          </a:blip>
          <a:srcRect/>
          <a:stretch/>
        </p:blipFill>
        <p:spPr>
          <a:xfrm rot="5400000">
            <a:off x="9509919" y="2743200"/>
            <a:ext cx="6858000" cy="1371600"/>
          </a:xfrm>
          <a:prstGeom prst="rect">
            <a:avLst/>
          </a:prstGeom>
        </p:spPr>
      </p:pic>
      <p:sp>
        <p:nvSpPr>
          <p:cNvPr id="6" name="TextBox 5">
            <a:extLst>
              <a:ext uri="{FF2B5EF4-FFF2-40B4-BE49-F238E27FC236}">
                <a16:creationId xmlns:a16="http://schemas.microsoft.com/office/drawing/2014/main" id="{D63F9DD0-B96C-2108-3998-CCA5C7897012}"/>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295135736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4.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svg"/><Relationship Id="rId18" Type="http://schemas.openxmlformats.org/officeDocument/2006/relationships/image" Target="../media/image78.png"/><Relationship Id="rId3" Type="http://schemas.openxmlformats.org/officeDocument/2006/relationships/image" Target="../media/image63.png"/><Relationship Id="rId21" Type="http://schemas.openxmlformats.org/officeDocument/2006/relationships/image" Target="../media/image81.png"/><Relationship Id="rId7" Type="http://schemas.openxmlformats.org/officeDocument/2006/relationships/image" Target="../media/image67.png"/><Relationship Id="rId12" Type="http://schemas.openxmlformats.org/officeDocument/2006/relationships/image" Target="../media/image72.png"/><Relationship Id="rId17" Type="http://schemas.openxmlformats.org/officeDocument/2006/relationships/image" Target="../media/image77.png"/><Relationship Id="rId25" Type="http://schemas.openxmlformats.org/officeDocument/2006/relationships/image" Target="../media/image85.png"/><Relationship Id="rId2" Type="http://schemas.openxmlformats.org/officeDocument/2006/relationships/notesSlide" Target="../notesSlides/notesSlide3.xml"/><Relationship Id="rId16" Type="http://schemas.openxmlformats.org/officeDocument/2006/relationships/image" Target="../media/image76.png"/><Relationship Id="rId20" Type="http://schemas.openxmlformats.org/officeDocument/2006/relationships/image" Target="../media/image80.png"/><Relationship Id="rId1" Type="http://schemas.openxmlformats.org/officeDocument/2006/relationships/slideLayout" Target="../slideLayouts/slideLayout106.xml"/><Relationship Id="rId6" Type="http://schemas.openxmlformats.org/officeDocument/2006/relationships/image" Target="../media/image66.png"/><Relationship Id="rId11" Type="http://schemas.openxmlformats.org/officeDocument/2006/relationships/image" Target="../media/image71.png"/><Relationship Id="rId24" Type="http://schemas.openxmlformats.org/officeDocument/2006/relationships/image" Target="../media/image84.png"/><Relationship Id="rId5" Type="http://schemas.openxmlformats.org/officeDocument/2006/relationships/image" Target="../media/image65.svg"/><Relationship Id="rId15" Type="http://schemas.openxmlformats.org/officeDocument/2006/relationships/image" Target="../media/image75.svg"/><Relationship Id="rId23" Type="http://schemas.openxmlformats.org/officeDocument/2006/relationships/image" Target="../media/image83.png"/><Relationship Id="rId10" Type="http://schemas.openxmlformats.org/officeDocument/2006/relationships/image" Target="../media/image70.png"/><Relationship Id="rId19" Type="http://schemas.openxmlformats.org/officeDocument/2006/relationships/image" Target="../media/image79.png"/><Relationship Id="rId4" Type="http://schemas.openxmlformats.org/officeDocument/2006/relationships/image" Target="../media/image64.svg"/><Relationship Id="rId9" Type="http://schemas.openxmlformats.org/officeDocument/2006/relationships/image" Target="../media/image69.png"/><Relationship Id="rId14" Type="http://schemas.openxmlformats.org/officeDocument/2006/relationships/image" Target="../media/image74.png"/><Relationship Id="rId22" Type="http://schemas.openxmlformats.org/officeDocument/2006/relationships/image" Target="../media/image82.png"/></Relationships>
</file>

<file path=ppt/slides/_rels/slide5.xml.rels><?xml version="1.0" encoding="UTF-8" standalone="yes"?>
<Relationships xmlns="http://schemas.openxmlformats.org/package/2006/relationships"><Relationship Id="rId8" Type="http://schemas.openxmlformats.org/officeDocument/2006/relationships/image" Target="../media/image90.jpe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86.png"/><Relationship Id="rId21" Type="http://schemas.openxmlformats.org/officeDocument/2006/relationships/image" Target="../media/image103.svg"/><Relationship Id="rId7" Type="http://schemas.microsoft.com/office/2007/relationships/hdphoto" Target="../media/hdphoto3.wdp"/><Relationship Id="rId12" Type="http://schemas.openxmlformats.org/officeDocument/2006/relationships/image" Target="../media/image94.png"/><Relationship Id="rId17" Type="http://schemas.openxmlformats.org/officeDocument/2006/relationships/image" Target="../media/image99.png"/><Relationship Id="rId2" Type="http://schemas.openxmlformats.org/officeDocument/2006/relationships/notesSlide" Target="../notesSlides/notesSlide4.xml"/><Relationship Id="rId16" Type="http://schemas.openxmlformats.org/officeDocument/2006/relationships/image" Target="../media/image98.jpeg"/><Relationship Id="rId20" Type="http://schemas.openxmlformats.org/officeDocument/2006/relationships/image" Target="../media/image102.png"/><Relationship Id="rId1" Type="http://schemas.openxmlformats.org/officeDocument/2006/relationships/slideLayout" Target="../slideLayouts/slideLayout124.xml"/><Relationship Id="rId6" Type="http://schemas.openxmlformats.org/officeDocument/2006/relationships/image" Target="../media/image89.png"/><Relationship Id="rId11" Type="http://schemas.openxmlformats.org/officeDocument/2006/relationships/image" Target="../media/image93.png"/><Relationship Id="rId5" Type="http://schemas.openxmlformats.org/officeDocument/2006/relationships/image" Target="../media/image88.png"/><Relationship Id="rId15" Type="http://schemas.openxmlformats.org/officeDocument/2006/relationships/image" Target="../media/image97.png"/><Relationship Id="rId10" Type="http://schemas.openxmlformats.org/officeDocument/2006/relationships/image" Target="../media/image92.svg"/><Relationship Id="rId19" Type="http://schemas.openxmlformats.org/officeDocument/2006/relationships/image" Target="../media/image101.png"/><Relationship Id="rId4" Type="http://schemas.openxmlformats.org/officeDocument/2006/relationships/image" Target="../media/image87.png"/><Relationship Id="rId9" Type="http://schemas.openxmlformats.org/officeDocument/2006/relationships/image" Target="../media/image91.svg"/><Relationship Id="rId14"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microsoft.com/office/2007/relationships/hdphoto" Target="../media/hdphoto5.wdp"/><Relationship Id="rId13" Type="http://schemas.openxmlformats.org/officeDocument/2006/relationships/image" Target="../media/image111.png"/><Relationship Id="rId18" Type="http://schemas.openxmlformats.org/officeDocument/2006/relationships/image" Target="../media/image113.png"/><Relationship Id="rId26" Type="http://schemas.openxmlformats.org/officeDocument/2006/relationships/image" Target="../media/image121.png"/><Relationship Id="rId3" Type="http://schemas.openxmlformats.org/officeDocument/2006/relationships/image" Target="../media/image104.png"/><Relationship Id="rId21" Type="http://schemas.openxmlformats.org/officeDocument/2006/relationships/image" Target="../media/image116.png"/><Relationship Id="rId7" Type="http://schemas.openxmlformats.org/officeDocument/2006/relationships/image" Target="../media/image107.png"/><Relationship Id="rId12" Type="http://schemas.microsoft.com/office/2007/relationships/hdphoto" Target="../media/hdphoto6.wdp"/><Relationship Id="rId17" Type="http://schemas.openxmlformats.org/officeDocument/2006/relationships/image" Target="../media/image112.png"/><Relationship Id="rId25" Type="http://schemas.openxmlformats.org/officeDocument/2006/relationships/image" Target="../media/image120.png"/><Relationship Id="rId2" Type="http://schemas.openxmlformats.org/officeDocument/2006/relationships/notesSlide" Target="../notesSlides/notesSlide5.xml"/><Relationship Id="rId16" Type="http://schemas.microsoft.com/office/2007/relationships/hdphoto" Target="../media/hdphoto3.wdp"/><Relationship Id="rId20" Type="http://schemas.openxmlformats.org/officeDocument/2006/relationships/image" Target="../media/image115.png"/><Relationship Id="rId1" Type="http://schemas.openxmlformats.org/officeDocument/2006/relationships/slideLayout" Target="../slideLayouts/slideLayout36.xml"/><Relationship Id="rId6" Type="http://schemas.microsoft.com/office/2007/relationships/hdphoto" Target="../media/hdphoto4.wdp"/><Relationship Id="rId11" Type="http://schemas.openxmlformats.org/officeDocument/2006/relationships/image" Target="../media/image110.png"/><Relationship Id="rId24" Type="http://schemas.openxmlformats.org/officeDocument/2006/relationships/image" Target="../media/image119.png"/><Relationship Id="rId5" Type="http://schemas.openxmlformats.org/officeDocument/2006/relationships/image" Target="../media/image106.png"/><Relationship Id="rId15" Type="http://schemas.openxmlformats.org/officeDocument/2006/relationships/image" Target="../media/image89.png"/><Relationship Id="rId23" Type="http://schemas.openxmlformats.org/officeDocument/2006/relationships/image" Target="../media/image118.png"/><Relationship Id="rId10" Type="http://schemas.openxmlformats.org/officeDocument/2006/relationships/image" Target="../media/image109.png"/><Relationship Id="rId19" Type="http://schemas.openxmlformats.org/officeDocument/2006/relationships/image" Target="../media/image114.png"/><Relationship Id="rId4" Type="http://schemas.openxmlformats.org/officeDocument/2006/relationships/image" Target="../media/image105.png"/><Relationship Id="rId9" Type="http://schemas.openxmlformats.org/officeDocument/2006/relationships/image" Target="../media/image108.png"/><Relationship Id="rId14" Type="http://schemas.openxmlformats.org/officeDocument/2006/relationships/image" Target="../media/image90.jpeg"/><Relationship Id="rId22" Type="http://schemas.openxmlformats.org/officeDocument/2006/relationships/image" Target="../media/image117.png"/><Relationship Id="rId27" Type="http://schemas.openxmlformats.org/officeDocument/2006/relationships/image" Target="../media/image102.png"/></Relationships>
</file>

<file path=ppt/slides/_rels/slide7.xml.rels><?xml version="1.0" encoding="UTF-8" standalone="yes"?>
<Relationships xmlns="http://schemas.openxmlformats.org/package/2006/relationships"><Relationship Id="rId8" Type="http://schemas.openxmlformats.org/officeDocument/2006/relationships/image" Target="../media/image90.jpeg"/><Relationship Id="rId3" Type="http://schemas.openxmlformats.org/officeDocument/2006/relationships/image" Target="../media/image122.svg"/><Relationship Id="rId7" Type="http://schemas.microsoft.com/office/2007/relationships/hdphoto" Target="../media/hdphoto3.wdp"/><Relationship Id="rId2" Type="http://schemas.openxmlformats.org/officeDocument/2006/relationships/notesSlide" Target="../notesSlides/notesSlide6.xml"/><Relationship Id="rId1" Type="http://schemas.openxmlformats.org/officeDocument/2006/relationships/slideLayout" Target="../slideLayouts/slideLayout80.xml"/><Relationship Id="rId6" Type="http://schemas.openxmlformats.org/officeDocument/2006/relationships/image" Target="../media/image89.png"/><Relationship Id="rId11" Type="http://schemas.openxmlformats.org/officeDocument/2006/relationships/image" Target="../media/image103.svg"/><Relationship Id="rId5" Type="http://schemas.openxmlformats.org/officeDocument/2006/relationships/image" Target="../media/image88.png"/><Relationship Id="rId10" Type="http://schemas.openxmlformats.org/officeDocument/2006/relationships/image" Target="../media/image102.png"/><Relationship Id="rId4" Type="http://schemas.openxmlformats.org/officeDocument/2006/relationships/image" Target="../media/image87.png"/><Relationship Id="rId9" Type="http://schemas.openxmlformats.org/officeDocument/2006/relationships/image" Target="../media/image91.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svg"/><Relationship Id="rId3" Type="http://schemas.openxmlformats.org/officeDocument/2006/relationships/image" Target="../media/image123.png"/><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notesSlide" Target="../notesSlides/notesSlide11.xml"/><Relationship Id="rId1" Type="http://schemas.openxmlformats.org/officeDocument/2006/relationships/slideLayout" Target="../slideLayouts/slideLayout80.xml"/><Relationship Id="rId6" Type="http://schemas.openxmlformats.org/officeDocument/2006/relationships/image" Target="../media/image93.png"/><Relationship Id="rId11" Type="http://schemas.openxmlformats.org/officeDocument/2006/relationships/image" Target="../media/image98.jpeg"/><Relationship Id="rId5" Type="http://schemas.openxmlformats.org/officeDocument/2006/relationships/image" Target="../media/image92.svg"/><Relationship Id="rId10" Type="http://schemas.openxmlformats.org/officeDocument/2006/relationships/image" Target="../media/image97.png"/><Relationship Id="rId4" Type="http://schemas.microsoft.com/office/2007/relationships/hdphoto" Target="../media/hdphoto7.wdp"/><Relationship Id="rId9" Type="http://schemas.openxmlformats.org/officeDocument/2006/relationships/image" Target="../media/image96.png"/><Relationship Id="rId14" Type="http://schemas.openxmlformats.org/officeDocument/2006/relationships/image" Target="../media/image101.png"/></Relationships>
</file>

<file path=ppt/slides/_rels/slide13.xml.rels><?xml version="1.0" encoding="UTF-8" standalone="yes"?>
<Relationships xmlns="http://schemas.openxmlformats.org/package/2006/relationships"><Relationship Id="rId3" Type="http://schemas.openxmlformats.org/officeDocument/2006/relationships/image" Target="../media/image124.svg"/><Relationship Id="rId2" Type="http://schemas.openxmlformats.org/officeDocument/2006/relationships/notesSlide" Target="../notesSlides/notesSlide12.xml"/><Relationship Id="rId1" Type="http://schemas.openxmlformats.org/officeDocument/2006/relationships/slideLayout" Target="../slideLayouts/slideLayout84.xml"/><Relationship Id="rId4" Type="http://schemas.openxmlformats.org/officeDocument/2006/relationships/image" Target="../media/image125.svg"/></Relationships>
</file>

<file path=ppt/slides/_rels/slide14.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3.xml"/><Relationship Id="rId1" Type="http://schemas.openxmlformats.org/officeDocument/2006/relationships/slideLayout" Target="../slideLayouts/slideLayout34.xml"/><Relationship Id="rId6" Type="http://schemas.openxmlformats.org/officeDocument/2006/relationships/image" Target="../media/image125.svg"/><Relationship Id="rId5" Type="http://schemas.openxmlformats.org/officeDocument/2006/relationships/image" Target="../media/image124.svg"/><Relationship Id="rId4" Type="http://schemas.openxmlformats.org/officeDocument/2006/relationships/image" Target="../media/image12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2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6.xml"/><Relationship Id="rId1" Type="http://schemas.openxmlformats.org/officeDocument/2006/relationships/slideLayout" Target="../slideLayouts/slideLayout2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5.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5.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5.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5.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5.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5.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40.xml.rels><?xml version="1.0" encoding="UTF-8" standalone="yes"?>
<Relationships xmlns="http://schemas.openxmlformats.org/package/2006/relationships"><Relationship Id="rId3" Type="http://schemas.openxmlformats.org/officeDocument/2006/relationships/hyperlink" Target="https://learn.microsoft.com/en-us/azure/ai-foundry/openai/how-to/working-with-models?view=foundry-classic#model-deployment-upgrade-configuration"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hyperlink" Target="https://learn.microsoft.com/en-us/cli/azure/cognitiveservices/account/deployment#az-cognitiveservices-account-deployment-show" TargetMode="External"/><Relationship Id="rId4" Type="http://schemas.openxmlformats.org/officeDocument/2006/relationships/hyperlink" Target="https://learn.microsoft.com/en-us/powershell/module/az.cognitiveservices/get-azcognitiveservicesaccountdeployment"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6.xml.rels><?xml version="1.0" encoding="UTF-8" standalone="yes"?>
<Relationships xmlns="http://schemas.openxmlformats.org/package/2006/relationships"><Relationship Id="rId8" Type="http://schemas.openxmlformats.org/officeDocument/2006/relationships/hyperlink" Target="https://learn.microsoft.com/en-us/azure/ai-foundry/openai/concepts/model-versions?view=foundry-classic" TargetMode="External"/><Relationship Id="rId3" Type="http://schemas.openxmlformats.org/officeDocument/2006/relationships/hyperlink" Target="https://learn.microsoft.com/en-us/azure/ai-foundry/foundry-models/concepts/model-versions?view=foundry-classic" TargetMode="External"/><Relationship Id="rId7" Type="http://schemas.openxmlformats.org/officeDocument/2006/relationships/hyperlink" Target="https://learn.microsoft.com/en-us/azure/ai-foundry/openai/concepts/model-retirements?view=foundry-classic&amp;viewFallbackFrom=foundry&amp;tabs=text" TargetMode="External"/><Relationship Id="rId2" Type="http://schemas.openxmlformats.org/officeDocument/2006/relationships/hyperlink" Target="https://learn.microsoft.com/en-us/azure/ai-foundry/concepts/model-lifecycle-retirement?view=foundry" TargetMode="External"/><Relationship Id="rId1" Type="http://schemas.openxmlformats.org/officeDocument/2006/relationships/slideLayout" Target="../slideLayouts/slideLayout2.xml"/><Relationship Id="rId6" Type="http://schemas.openxmlformats.org/officeDocument/2006/relationships/hyperlink" Target="https://learn.microsoft.com/en-us/azure/ai-foundry/openai/concepts/legacy-models?view=foundry-classic" TargetMode="External"/><Relationship Id="rId5" Type="http://schemas.openxmlformats.org/officeDocument/2006/relationships/hyperlink" Target="https://learn.microsoft.com/en-us/azure/ai-foundry/mcp/available-tools?view=foundry#model-monitoring-and-operations" TargetMode="External"/><Relationship Id="rId4" Type="http://schemas.openxmlformats.org/officeDocument/2006/relationships/hyperlink" Target="https://learn.microsoft.com/en-us/azure/ai-foundry/observability/how-to/optimization-model-upgrade?view=foundry" TargetMode="External"/><Relationship Id="rId9" Type="http://schemas.openxmlformats.org/officeDocument/2006/relationships/hyperlink" Target="https://learn.microsoft.com/en-us/azure/ai-foundry/openai/how-to/working-with-models?view=foundry-classic&amp;tabs=powershell"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B6E57-AD72-9C69-8301-479B6E37F020}"/>
              </a:ext>
            </a:extLst>
          </p:cNvPr>
          <p:cNvSpPr>
            <a:spLocks noGrp="1"/>
          </p:cNvSpPr>
          <p:nvPr>
            <p:ph type="title"/>
          </p:nvPr>
        </p:nvSpPr>
        <p:spPr>
          <a:xfrm>
            <a:off x="584200" y="2303463"/>
            <a:ext cx="7104380" cy="1230312"/>
          </a:xfrm>
        </p:spPr>
        <p:txBody>
          <a:bodyPr vert="horz" wrap="square" lIns="0" tIns="0" rIns="0" bIns="0" rtlCol="0" anchor="b" anchorCtr="0">
            <a:noAutofit/>
          </a:bodyPr>
          <a:lstStyle/>
          <a:p>
            <a:r>
              <a:rPr lang="en-US"/>
              <a:t>Solution Optimization for Microsoft Foundry Lifecycle</a:t>
            </a:r>
          </a:p>
          <a:p>
            <a:endParaRPr lang="en-US" b="1" dirty="0">
              <a:solidFill>
                <a:srgbClr val="1F2328"/>
              </a:solidFill>
              <a:highlight>
                <a:srgbClr val="FFFFFF"/>
              </a:highlight>
              <a:latin typeface="Segoe UI"/>
              <a:cs typeface="Segoe UI"/>
            </a:endParaRPr>
          </a:p>
        </p:txBody>
      </p:sp>
      <p:sp>
        <p:nvSpPr>
          <p:cNvPr id="9" name="Text Placeholder 2">
            <a:extLst>
              <a:ext uri="{FF2B5EF4-FFF2-40B4-BE49-F238E27FC236}">
                <a16:creationId xmlns:a16="http://schemas.microsoft.com/office/drawing/2014/main" id="{946DC26B-E440-0D8E-933C-2031447BFBB3}"/>
              </a:ext>
            </a:extLst>
          </p:cNvPr>
          <p:cNvSpPr>
            <a:spLocks noGrp="1"/>
          </p:cNvSpPr>
          <p:nvPr>
            <p:ph type="body" sz="quarter" idx="12"/>
          </p:nvPr>
        </p:nvSpPr>
        <p:spPr>
          <a:xfrm>
            <a:off x="574261" y="3962400"/>
            <a:ext cx="4978400" cy="492443"/>
          </a:xfrm>
        </p:spPr>
        <p:txBody>
          <a:bodyPr vert="horz" wrap="square" lIns="0" tIns="0" rIns="0" bIns="0" rtlCol="0" anchor="t">
            <a:spAutoFit/>
          </a:bodyPr>
          <a:lstStyle/>
          <a:p>
            <a:r>
              <a:rPr lang="en-US">
                <a:cs typeface="Segoe Sans Text"/>
              </a:rPr>
              <a:t>Name</a:t>
            </a:r>
            <a:endParaRPr lang="en-US"/>
          </a:p>
          <a:p>
            <a:r>
              <a:rPr lang="en-US">
                <a:cs typeface="Segoe Sans Text"/>
              </a:rPr>
              <a:t>Title</a:t>
            </a:r>
            <a:endParaRPr lang="en-US"/>
          </a:p>
        </p:txBody>
      </p:sp>
    </p:spTree>
    <p:extLst>
      <p:ext uri="{BB962C8B-B14F-4D97-AF65-F5344CB8AC3E}">
        <p14:creationId xmlns:p14="http://schemas.microsoft.com/office/powerpoint/2010/main" val="17286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a:solidFill>
                  <a:schemeClr val="tx1"/>
                </a:solidFill>
                <a:cs typeface="Segoe UI Semibold"/>
              </a:rPr>
              <a:t>1</a:t>
            </a:r>
            <a:endParaRPr lang="en-US" b="0" i="0" u="none" strike="noStrike" kern="1200" cap="none" spc="0" normalizeH="0" baseline="30000" noProof="0">
              <a:ln>
                <a:noFill/>
              </a:ln>
              <a:solidFill>
                <a:schemeClr val="tx1"/>
              </a:solidFill>
              <a:effectLst/>
              <a:uLnTx/>
              <a:uFillTx/>
              <a:cs typeface="Segoe UI Semibold"/>
            </a:endParaRPr>
          </a:p>
        </p:txBody>
      </p:sp>
      <p:grpSp>
        <p:nvGrpSpPr>
          <p:cNvPr id="8" name="Group 7">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box 1">
            <a:extLst>
              <a:ext uri="{FF2B5EF4-FFF2-40B4-BE49-F238E27FC236}">
                <a16:creationId xmlns:a16="http://schemas.microsoft.com/office/drawing/2014/main" id="{FC45ED12-04FB-5625-878D-D4C34AE58620}"/>
              </a:ext>
              <a:ext uri="{C183D7F6-B498-43B3-948B-1728B52AA6E4}">
                <adec:decorative xmlns:adec="http://schemas.microsoft.com/office/drawing/2017/decorative" val="1"/>
              </a:ext>
            </a:extLst>
          </p:cNvPr>
          <p:cNvSpPr txBox="1"/>
          <p:nvPr/>
        </p:nvSpPr>
        <p:spPr>
          <a:xfrm>
            <a:off x="3773214" y="-5456"/>
            <a:ext cx="8418786" cy="6858000"/>
          </a:xfrm>
          <a:prstGeom prst="roundRect">
            <a:avLst>
              <a:gd name="adj" fmla="val 1969"/>
            </a:avLst>
          </a:prstGeom>
          <a:gradFill>
            <a:gsLst>
              <a:gs pos="0">
                <a:srgbClr val="FCC7CD">
                  <a:alpha val="10000"/>
                </a:srgbClr>
              </a:gs>
              <a:gs pos="80000">
                <a:srgbClr val="A9D5ED">
                  <a:alpha val="10000"/>
                </a:srgbClr>
              </a:gs>
            </a:gsLst>
            <a:path path="circle">
              <a:fillToRect l="100000" t="100000"/>
            </a:path>
          </a:gradFill>
          <a:ln w="12700">
            <a:solidFill>
              <a:schemeClr val="tx1">
                <a:alpha val="1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defTabSz="914367">
              <a:defRPr kern="0">
                <a:solidFill>
                  <a:srgbClr val="000000"/>
                </a:solidFill>
                <a:latin typeface="Segoe UI"/>
                <a:cs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egoe UI"/>
              <a:ea typeface="+mn-ea"/>
              <a:cs typeface="Segoe UI"/>
            </a:endParaRPr>
          </a:p>
        </p:txBody>
      </p:sp>
      <p:sp>
        <p:nvSpPr>
          <p:cNvPr id="19" name="Rectangle 18">
            <a:extLst>
              <a:ext uri="{FF2B5EF4-FFF2-40B4-BE49-F238E27FC236}">
                <a16:creationId xmlns:a16="http://schemas.microsoft.com/office/drawing/2014/main" id="{D72271B3-8E69-E1F2-C98A-A0998A95CD5B}"/>
              </a:ext>
              <a:ext uri="{C183D7F6-B498-43B3-948B-1728B52AA6E4}">
                <adec:decorative xmlns:adec="http://schemas.microsoft.com/office/drawing/2017/decorative" val="1"/>
              </a:ext>
            </a:extLst>
          </p:cNvPr>
          <p:cNvSpPr/>
          <p:nvPr/>
        </p:nvSpPr>
        <p:spPr>
          <a:xfrm>
            <a:off x="0" y="0"/>
            <a:ext cx="3773214" cy="6858000"/>
          </a:xfrm>
          <a:prstGeom prst="rect">
            <a:avLst/>
          </a:prstGeom>
          <a:gradFill flip="none" rotWithShape="1">
            <a:gsLst>
              <a:gs pos="100000">
                <a:schemeClr val="accent3"/>
              </a:gs>
              <a:gs pos="32000">
                <a:schemeClr val="accent1"/>
              </a:gs>
            </a:gsLst>
            <a:path path="circle">
              <a:fillToRect r="100000" b="100000"/>
            </a:path>
            <a:tileRect l="-100000" t="-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sp>
        <p:nvSpPr>
          <p:cNvPr id="3" name="Title 2">
            <a:extLst>
              <a:ext uri="{FF2B5EF4-FFF2-40B4-BE49-F238E27FC236}">
                <a16:creationId xmlns:a16="http://schemas.microsoft.com/office/drawing/2014/main" id="{C92A792A-C15A-EB94-7567-FA37C0E44D0C}"/>
              </a:ext>
            </a:extLst>
          </p:cNvPr>
          <p:cNvSpPr>
            <a:spLocks noGrp="1"/>
          </p:cNvSpPr>
          <p:nvPr>
            <p:ph type="title"/>
          </p:nvPr>
        </p:nvSpPr>
        <p:spPr>
          <a:xfrm>
            <a:off x="577583" y="3365940"/>
            <a:ext cx="2427506" cy="554038"/>
          </a:xfrm>
        </p:spPr>
        <p:txBody>
          <a:bodyPr>
            <a:normAutofit/>
          </a:bodyPr>
          <a:lstStyle/>
          <a:p>
            <a:r>
              <a:rPr lang="en-US">
                <a:solidFill>
                  <a:schemeClr val="bg1"/>
                </a:solidFill>
              </a:rPr>
              <a:t>Agenda</a:t>
            </a:r>
          </a:p>
        </p:txBody>
      </p:sp>
      <p:cxnSp>
        <p:nvCxnSpPr>
          <p:cNvPr id="7" name="Straight Connector 6">
            <a:extLst>
              <a:ext uri="{FF2B5EF4-FFF2-40B4-BE49-F238E27FC236}">
                <a16:creationId xmlns:a16="http://schemas.microsoft.com/office/drawing/2014/main" id="{40063C92-0F41-F052-DAF0-A37796B1DC90}"/>
              </a:ext>
              <a:ext uri="{C183D7F6-B498-43B3-948B-1728B52AA6E4}">
                <adec:decorative xmlns:adec="http://schemas.microsoft.com/office/drawing/2017/decorative" val="1"/>
              </a:ext>
            </a:extLst>
          </p:cNvPr>
          <p:cNvCxnSpPr>
            <a:cxnSpLocks/>
          </p:cNvCxnSpPr>
          <p:nvPr/>
        </p:nvCxnSpPr>
        <p:spPr>
          <a:xfrm>
            <a:off x="588963" y="3228045"/>
            <a:ext cx="714320" cy="0"/>
          </a:xfrm>
          <a:prstGeom prst="line">
            <a:avLst/>
          </a:prstGeom>
          <a:ln w="635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ACDC0B9-DE68-6DCC-3747-6C360B05645C}"/>
              </a:ext>
            </a:extLst>
          </p:cNvPr>
          <p:cNvSpPr txBox="1">
            <a:spLocks/>
          </p:cNvSpPr>
          <p:nvPr/>
        </p:nvSpPr>
        <p:spPr>
          <a:xfrm>
            <a:off x="5372905" y="1918457"/>
            <a:ext cx="5120640" cy="369332"/>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78D4"/>
                </a:solidFill>
                <a:effectLst/>
                <a:uLnTx/>
                <a:uFillTx/>
                <a:latin typeface="Segoe Sans Text Semibold"/>
                <a:ea typeface="+mn-ea"/>
                <a:cs typeface="Segoe Sans Text"/>
              </a:rPr>
              <a:t>Microsoft Foundry models</a:t>
            </a:r>
            <a:endParaRPr kumimoji="0" lang="en-US" sz="2000" b="0" i="0" u="none" strike="noStrike" kern="1200" cap="none" spc="0" normalizeH="0" baseline="0" noProof="0">
              <a:ln>
                <a:noFill/>
              </a:ln>
              <a:solidFill>
                <a:srgbClr val="0078D4"/>
              </a:solidFill>
              <a:effectLst/>
              <a:uLnTx/>
              <a:uFillTx/>
              <a:latin typeface="Segoe Sans Text Semibold"/>
              <a:ea typeface="+mn-ea"/>
              <a:cs typeface="Segoe Sans Text"/>
            </a:endParaRPr>
          </a:p>
        </p:txBody>
      </p:sp>
      <p:sp>
        <p:nvSpPr>
          <p:cNvPr id="15" name="TextBox 14">
            <a:extLst>
              <a:ext uri="{FF2B5EF4-FFF2-40B4-BE49-F238E27FC236}">
                <a16:creationId xmlns:a16="http://schemas.microsoft.com/office/drawing/2014/main" id="{9F2C7C43-71E5-27FD-C5FA-5C06D057E6E3}"/>
              </a:ext>
            </a:extLst>
          </p:cNvPr>
          <p:cNvSpPr txBox="1">
            <a:spLocks/>
          </p:cNvSpPr>
          <p:nvPr/>
        </p:nvSpPr>
        <p:spPr>
          <a:xfrm>
            <a:off x="5372905" y="2917319"/>
            <a:ext cx="5120640" cy="369332"/>
          </a:xfrm>
          <a:prstGeom prst="rect">
            <a:avLst/>
          </a:prstGeom>
          <a:noFill/>
        </p:spPr>
        <p:txBody>
          <a:bodyPr wrap="square" lIns="0" tIns="0" rIns="0" bIns="0" rtlCol="0" anchor="ctr" anchorCtr="0">
            <a:spAutoFit/>
          </a:bodyPr>
          <a:lstStyle/>
          <a:p>
            <a:pPr marL="0" marR="0" lvl="0" indent="0" algn="l" defTabSz="932296" rtl="0" eaLnBrk="1" fontAlgn="auto" latinLnBrk="0" hangingPunct="1">
              <a:lnSpc>
                <a:spcPct val="100000"/>
              </a:lnSpc>
              <a:spcBef>
                <a:spcPts val="0"/>
              </a:spcBef>
              <a:spcAft>
                <a:spcPts val="400"/>
              </a:spcAft>
              <a:buClrTx/>
              <a:buSzTx/>
              <a:buFontTx/>
              <a:buNone/>
              <a:tabLst/>
              <a:defRPr/>
            </a:pPr>
            <a:r>
              <a:rPr kumimoji="0" lang="en-US" sz="2400" b="0" i="0" u="none" strike="noStrike" kern="1200" cap="none" spc="0" normalizeH="0" baseline="0" noProof="0">
                <a:ln>
                  <a:noFill/>
                </a:ln>
                <a:solidFill>
                  <a:srgbClr val="0078D4"/>
                </a:solidFill>
                <a:effectLst/>
                <a:uLnTx/>
                <a:uFillTx/>
                <a:latin typeface="Segoe Sans Text Semibold"/>
                <a:ea typeface="+mn-ea"/>
                <a:cs typeface="Segoe Sans Text"/>
              </a:rPr>
              <a:t>Model</a:t>
            </a:r>
            <a:r>
              <a:rPr kumimoji="0" lang="en-US" sz="2400" b="0" i="0" u="none" strike="noStrike" kern="1200" cap="none" spc="0" normalizeH="0" noProof="0">
                <a:ln>
                  <a:noFill/>
                </a:ln>
                <a:solidFill>
                  <a:srgbClr val="0078D4"/>
                </a:solidFill>
                <a:effectLst/>
                <a:uLnTx/>
                <a:uFillTx/>
                <a:latin typeface="Segoe Sans Text Semibold"/>
                <a:ea typeface="+mn-ea"/>
                <a:cs typeface="Segoe Sans Text"/>
              </a:rPr>
              <a:t> Lifecycle Guidance</a:t>
            </a:r>
            <a:endParaRPr kumimoji="0" lang="en-US" sz="2400" b="0" i="0" u="none" strike="noStrike" kern="1200" cap="none" spc="0" normalizeH="0" baseline="0" noProof="0">
              <a:ln>
                <a:noFill/>
              </a:ln>
              <a:solidFill>
                <a:srgbClr val="0078D4"/>
              </a:solidFill>
              <a:effectLst/>
              <a:uLnTx/>
              <a:uFillTx/>
              <a:latin typeface="Segoe Sans Text Semibold"/>
              <a:ea typeface="+mn-ea"/>
              <a:cs typeface="Segoe Sans Text"/>
            </a:endParaRPr>
          </a:p>
        </p:txBody>
      </p:sp>
      <p:sp>
        <p:nvSpPr>
          <p:cNvPr id="17" name="TextBox 16">
            <a:extLst>
              <a:ext uri="{FF2B5EF4-FFF2-40B4-BE49-F238E27FC236}">
                <a16:creationId xmlns:a16="http://schemas.microsoft.com/office/drawing/2014/main" id="{EFB8E0F0-D59D-4E37-9F8F-871A8A4D088D}"/>
              </a:ext>
            </a:extLst>
          </p:cNvPr>
          <p:cNvSpPr txBox="1">
            <a:spLocks/>
          </p:cNvSpPr>
          <p:nvPr/>
        </p:nvSpPr>
        <p:spPr>
          <a:xfrm>
            <a:off x="5372905" y="3882444"/>
            <a:ext cx="5120640" cy="369332"/>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78D4"/>
                </a:solidFill>
                <a:effectLst/>
                <a:uLnTx/>
                <a:uFillTx/>
                <a:latin typeface="Segoe Sans Text Semibold"/>
                <a:ea typeface="+mn-ea"/>
                <a:cs typeface="+mn-cs"/>
              </a:rPr>
              <a:t>Model Lifecycle FAQs</a:t>
            </a:r>
            <a:endParaRPr kumimoji="0" lang="en-US" sz="2400" b="0" i="0" u="none" strike="noStrike" kern="1200" cap="none" spc="0" normalizeH="0" baseline="0" noProof="0">
              <a:ln>
                <a:noFill/>
              </a:ln>
              <a:solidFill>
                <a:srgbClr val="0078D4"/>
              </a:solidFill>
              <a:effectLst/>
              <a:uLnTx/>
              <a:uFillTx/>
              <a:latin typeface="Segoe Sans Text Semibold"/>
              <a:ea typeface="+mn-ea"/>
              <a:cs typeface="Segoe Sans Text"/>
            </a:endParaRPr>
          </a:p>
        </p:txBody>
      </p:sp>
      <p:sp>
        <p:nvSpPr>
          <p:cNvPr id="18" name="TextBox 17">
            <a:extLst>
              <a:ext uri="{FF2B5EF4-FFF2-40B4-BE49-F238E27FC236}">
                <a16:creationId xmlns:a16="http://schemas.microsoft.com/office/drawing/2014/main" id="{BECA4684-1910-69C9-2D98-7FC671A96C49}"/>
              </a:ext>
            </a:extLst>
          </p:cNvPr>
          <p:cNvSpPr txBox="1">
            <a:spLocks/>
          </p:cNvSpPr>
          <p:nvPr/>
        </p:nvSpPr>
        <p:spPr>
          <a:xfrm>
            <a:off x="5372905" y="4762583"/>
            <a:ext cx="5120640" cy="369332"/>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78D4"/>
                </a:solidFill>
                <a:effectLst/>
                <a:uLnTx/>
                <a:uFillTx/>
                <a:latin typeface="Segoe Sans Text Semibold"/>
                <a:ea typeface="+mn-ea"/>
                <a:cs typeface="+mn-cs"/>
              </a:rPr>
              <a:t>Resources &amp; Next Steps</a:t>
            </a:r>
            <a:endParaRPr kumimoji="0" lang="en-US" sz="2000" b="0" i="0" u="none" strike="noStrike" kern="1200" cap="none" spc="0" normalizeH="0" baseline="0" noProof="0">
              <a:ln>
                <a:noFill/>
              </a:ln>
              <a:solidFill>
                <a:srgbClr val="0078D4"/>
              </a:solidFill>
              <a:effectLst/>
              <a:uLnTx/>
              <a:uFillTx/>
              <a:latin typeface="Segoe Sans Text Semibold"/>
              <a:ea typeface="+mn-ea"/>
              <a:cs typeface="+mn-cs"/>
            </a:endParaRPr>
          </a:p>
        </p:txBody>
      </p:sp>
      <p:grpSp>
        <p:nvGrpSpPr>
          <p:cNvPr id="33" name="Group 32">
            <a:extLst>
              <a:ext uri="{FF2B5EF4-FFF2-40B4-BE49-F238E27FC236}">
                <a16:creationId xmlns:a16="http://schemas.microsoft.com/office/drawing/2014/main" id="{C2390BB4-FB5B-F2BF-D5A6-2E2D5BF91D6F}"/>
              </a:ext>
              <a:ext uri="{C183D7F6-B498-43B3-948B-1728B52AA6E4}">
                <adec:decorative xmlns:adec="http://schemas.microsoft.com/office/drawing/2017/decorative" val="1"/>
              </a:ext>
            </a:extLst>
          </p:cNvPr>
          <p:cNvGrpSpPr/>
          <p:nvPr/>
        </p:nvGrpSpPr>
        <p:grpSpPr>
          <a:xfrm>
            <a:off x="4431717" y="3840160"/>
            <a:ext cx="549723" cy="523466"/>
            <a:chOff x="4690999" y="4625867"/>
            <a:chExt cx="1405001" cy="1337892"/>
          </a:xfrm>
        </p:grpSpPr>
        <p:sp>
          <p:nvSpPr>
            <p:cNvPr id="31" name="Free-form: Shape 30">
              <a:extLst>
                <a:ext uri="{FF2B5EF4-FFF2-40B4-BE49-F238E27FC236}">
                  <a16:creationId xmlns:a16="http://schemas.microsoft.com/office/drawing/2014/main" id="{3E92ECA5-1321-6ECD-B5C0-1996E8A1712A}"/>
                </a:ext>
              </a:extLst>
            </p:cNvPr>
            <p:cNvSpPr/>
            <p:nvPr/>
          </p:nvSpPr>
          <p:spPr>
            <a:xfrm>
              <a:off x="4690999" y="4625867"/>
              <a:ext cx="1344058" cy="1216840"/>
            </a:xfrm>
            <a:custGeom>
              <a:avLst/>
              <a:gdLst>
                <a:gd name="connsiteX0" fmla="*/ 729908 w 1344058"/>
                <a:gd name="connsiteY0" fmla="*/ 11556 h 1216840"/>
                <a:gd name="connsiteX1" fmla="*/ 740804 w 1344058"/>
                <a:gd name="connsiteY1" fmla="*/ 587 h 1216840"/>
                <a:gd name="connsiteX2" fmla="*/ 930692 w 1344058"/>
                <a:gd name="connsiteY2" fmla="*/ 587 h 1216840"/>
                <a:gd name="connsiteX3" fmla="*/ 933286 w 1344058"/>
                <a:gd name="connsiteY3" fmla="*/ 513 h 1216840"/>
                <a:gd name="connsiteX4" fmla="*/ 973680 w 1344058"/>
                <a:gd name="connsiteY4" fmla="*/ 513 h 1216840"/>
                <a:gd name="connsiteX5" fmla="*/ 976496 w 1344058"/>
                <a:gd name="connsiteY5" fmla="*/ 513 h 1216840"/>
                <a:gd name="connsiteX6" fmla="*/ 1098493 w 1344058"/>
                <a:gd name="connsiteY6" fmla="*/ 27862 h 1216840"/>
                <a:gd name="connsiteX7" fmla="*/ 1271927 w 1344058"/>
                <a:gd name="connsiteY7" fmla="*/ 162903 h 1216840"/>
                <a:gd name="connsiteX8" fmla="*/ 1331518 w 1344058"/>
                <a:gd name="connsiteY8" fmla="*/ 485165 h 1216840"/>
                <a:gd name="connsiteX9" fmla="*/ 1088339 w 1344058"/>
                <a:gd name="connsiteY9" fmla="*/ 245247 h 1216840"/>
                <a:gd name="connsiteX10" fmla="*/ 1049279 w 1344058"/>
                <a:gd name="connsiteY10" fmla="*/ 229238 h 1216840"/>
                <a:gd name="connsiteX11" fmla="*/ 697593 w 1344058"/>
                <a:gd name="connsiteY11" fmla="*/ 229238 h 1216840"/>
                <a:gd name="connsiteX12" fmla="*/ 664018 w 1344058"/>
                <a:gd name="connsiteY12" fmla="*/ 240504 h 1216840"/>
                <a:gd name="connsiteX13" fmla="*/ 524382 w 1344058"/>
                <a:gd name="connsiteY13" fmla="*/ 346343 h 1216840"/>
                <a:gd name="connsiteX14" fmla="*/ 423822 w 1344058"/>
                <a:gd name="connsiteY14" fmla="*/ 332827 h 1216840"/>
                <a:gd name="connsiteX15" fmla="*/ 423730 w 1344058"/>
                <a:gd name="connsiteY15" fmla="*/ 332706 h 1216840"/>
                <a:gd name="connsiteX16" fmla="*/ 436658 w 1344058"/>
                <a:gd name="connsiteY16" fmla="*/ 233760 h 1216840"/>
                <a:gd name="connsiteX17" fmla="*/ 437146 w 1344058"/>
                <a:gd name="connsiteY17" fmla="*/ 233389 h 1216840"/>
                <a:gd name="connsiteX18" fmla="*/ 729908 w 1344058"/>
                <a:gd name="connsiteY18" fmla="*/ 11556 h 1216840"/>
                <a:gd name="connsiteX19" fmla="*/ 363992 w 1344058"/>
                <a:gd name="connsiteY19" fmla="*/ 832330 h 1216840"/>
                <a:gd name="connsiteX20" fmla="*/ 363028 w 1344058"/>
                <a:gd name="connsiteY20" fmla="*/ 833293 h 1216840"/>
                <a:gd name="connsiteX21" fmla="*/ 290838 w 1344058"/>
                <a:gd name="connsiteY21" fmla="*/ 905039 h 1216840"/>
                <a:gd name="connsiteX22" fmla="*/ 289875 w 1344058"/>
                <a:gd name="connsiteY22" fmla="*/ 905928 h 1216840"/>
                <a:gd name="connsiteX23" fmla="*/ 196413 w 1344058"/>
                <a:gd name="connsiteY23" fmla="*/ 905039 h 1216840"/>
                <a:gd name="connsiteX24" fmla="*/ 196003 w 1344058"/>
                <a:gd name="connsiteY24" fmla="*/ 811542 h 1216840"/>
                <a:gd name="connsiteX25" fmla="*/ 196413 w 1344058"/>
                <a:gd name="connsiteY25" fmla="*/ 811132 h 1216840"/>
                <a:gd name="connsiteX26" fmla="*/ 268603 w 1344058"/>
                <a:gd name="connsiteY26" fmla="*/ 739387 h 1216840"/>
                <a:gd name="connsiteX27" fmla="*/ 363103 w 1344058"/>
                <a:gd name="connsiteY27" fmla="*/ 739387 h 1216840"/>
                <a:gd name="connsiteX28" fmla="*/ 363992 w 1344058"/>
                <a:gd name="connsiteY28" fmla="*/ 832330 h 1216840"/>
                <a:gd name="connsiteX29" fmla="*/ 342498 w 1344058"/>
                <a:gd name="connsiteY29" fmla="*/ 958181 h 1216840"/>
                <a:gd name="connsiteX30" fmla="*/ 343461 w 1344058"/>
                <a:gd name="connsiteY30" fmla="*/ 1051123 h 1216840"/>
                <a:gd name="connsiteX31" fmla="*/ 437961 w 1344058"/>
                <a:gd name="connsiteY31" fmla="*/ 1051123 h 1216840"/>
                <a:gd name="connsiteX32" fmla="*/ 510151 w 1344058"/>
                <a:gd name="connsiteY32" fmla="*/ 979452 h 1216840"/>
                <a:gd name="connsiteX33" fmla="*/ 510633 w 1344058"/>
                <a:gd name="connsiteY33" fmla="*/ 885956 h 1216840"/>
                <a:gd name="connsiteX34" fmla="*/ 499775 w 1344058"/>
                <a:gd name="connsiteY34" fmla="*/ 877096 h 1216840"/>
                <a:gd name="connsiteX35" fmla="*/ 416615 w 1344058"/>
                <a:gd name="connsiteY35" fmla="*/ 884508 h 1216840"/>
                <a:gd name="connsiteX36" fmla="*/ 415652 w 1344058"/>
                <a:gd name="connsiteY36" fmla="*/ 885546 h 1216840"/>
                <a:gd name="connsiteX37" fmla="*/ 343461 w 1344058"/>
                <a:gd name="connsiteY37" fmla="*/ 957217 h 1216840"/>
                <a:gd name="connsiteX38" fmla="*/ 342498 w 1344058"/>
                <a:gd name="connsiteY38" fmla="*/ 958181 h 1216840"/>
                <a:gd name="connsiteX39" fmla="*/ 186259 w 1344058"/>
                <a:gd name="connsiteY39" fmla="*/ 622726 h 1216840"/>
                <a:gd name="connsiteX40" fmla="*/ 186669 w 1344058"/>
                <a:gd name="connsiteY40" fmla="*/ 716223 h 1216840"/>
                <a:gd name="connsiteX41" fmla="*/ 186259 w 1344058"/>
                <a:gd name="connsiteY41" fmla="*/ 716633 h 1216840"/>
                <a:gd name="connsiteX42" fmla="*/ 114143 w 1344058"/>
                <a:gd name="connsiteY42" fmla="*/ 788378 h 1216840"/>
                <a:gd name="connsiteX43" fmla="*/ 19569 w 1344058"/>
                <a:gd name="connsiteY43" fmla="*/ 788378 h 1216840"/>
                <a:gd name="connsiteX44" fmla="*/ 19159 w 1344058"/>
                <a:gd name="connsiteY44" fmla="*/ 694882 h 1216840"/>
                <a:gd name="connsiteX45" fmla="*/ 19569 w 1344058"/>
                <a:gd name="connsiteY45" fmla="*/ 694472 h 1216840"/>
                <a:gd name="connsiteX46" fmla="*/ 91834 w 1344058"/>
                <a:gd name="connsiteY46" fmla="*/ 622726 h 1216840"/>
                <a:gd name="connsiteX47" fmla="*/ 186333 w 1344058"/>
                <a:gd name="connsiteY47" fmla="*/ 622726 h 1216840"/>
                <a:gd name="connsiteX48" fmla="*/ 657199 w 1344058"/>
                <a:gd name="connsiteY48" fmla="*/ 1031631 h 1216840"/>
                <a:gd name="connsiteX49" fmla="*/ 657610 w 1344058"/>
                <a:gd name="connsiteY49" fmla="*/ 1125127 h 1216840"/>
                <a:gd name="connsiteX50" fmla="*/ 657199 w 1344058"/>
                <a:gd name="connsiteY50" fmla="*/ 1125537 h 1216840"/>
                <a:gd name="connsiteX51" fmla="*/ 585009 w 1344058"/>
                <a:gd name="connsiteY51" fmla="*/ 1197283 h 1216840"/>
                <a:gd name="connsiteX52" fmla="*/ 490510 w 1344058"/>
                <a:gd name="connsiteY52" fmla="*/ 1197283 h 1216840"/>
                <a:gd name="connsiteX53" fmla="*/ 477762 w 1344058"/>
                <a:gd name="connsiteY53" fmla="*/ 1121090 h 1216840"/>
                <a:gd name="connsiteX54" fmla="*/ 477836 w 1344058"/>
                <a:gd name="connsiteY54" fmla="*/ 1120942 h 1216840"/>
                <a:gd name="connsiteX55" fmla="*/ 490510 w 1344058"/>
                <a:gd name="connsiteY55" fmla="*/ 1103376 h 1216840"/>
                <a:gd name="connsiteX56" fmla="*/ 562700 w 1344058"/>
                <a:gd name="connsiteY56" fmla="*/ 1031631 h 1216840"/>
                <a:gd name="connsiteX57" fmla="*/ 657199 w 1344058"/>
                <a:gd name="connsiteY57" fmla="*/ 1031631 h 121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344058" h="1216840">
                  <a:moveTo>
                    <a:pt x="729908" y="11556"/>
                  </a:moveTo>
                  <a:cubicBezTo>
                    <a:pt x="734035" y="8427"/>
                    <a:pt x="737703" y="4735"/>
                    <a:pt x="740804" y="587"/>
                  </a:cubicBezTo>
                  <a:lnTo>
                    <a:pt x="930692" y="587"/>
                  </a:lnTo>
                  <a:lnTo>
                    <a:pt x="933286" y="513"/>
                  </a:lnTo>
                  <a:cubicBezTo>
                    <a:pt x="946742" y="-171"/>
                    <a:pt x="960224" y="-171"/>
                    <a:pt x="973680" y="513"/>
                  </a:cubicBezTo>
                  <a:lnTo>
                    <a:pt x="976496" y="513"/>
                  </a:lnTo>
                  <a:cubicBezTo>
                    <a:pt x="1018692" y="419"/>
                    <a:pt x="1060375" y="9764"/>
                    <a:pt x="1098493" y="27862"/>
                  </a:cubicBezTo>
                  <a:cubicBezTo>
                    <a:pt x="1168138" y="55172"/>
                    <a:pt x="1228378" y="102077"/>
                    <a:pt x="1271927" y="162903"/>
                  </a:cubicBezTo>
                  <a:cubicBezTo>
                    <a:pt x="1338669" y="256141"/>
                    <a:pt x="1360505" y="374225"/>
                    <a:pt x="1331518" y="485165"/>
                  </a:cubicBezTo>
                  <a:lnTo>
                    <a:pt x="1088339" y="245247"/>
                  </a:lnTo>
                  <a:cubicBezTo>
                    <a:pt x="1077931" y="234983"/>
                    <a:pt x="1063898" y="229231"/>
                    <a:pt x="1049279" y="229238"/>
                  </a:cubicBezTo>
                  <a:lnTo>
                    <a:pt x="697593" y="229238"/>
                  </a:lnTo>
                  <a:cubicBezTo>
                    <a:pt x="685483" y="229297"/>
                    <a:pt x="673713" y="233246"/>
                    <a:pt x="664018" y="240504"/>
                  </a:cubicBezTo>
                  <a:lnTo>
                    <a:pt x="524382" y="346343"/>
                  </a:lnTo>
                  <a:cubicBezTo>
                    <a:pt x="492880" y="370379"/>
                    <a:pt x="447859" y="364328"/>
                    <a:pt x="423822" y="332827"/>
                  </a:cubicBezTo>
                  <a:cubicBezTo>
                    <a:pt x="423792" y="332786"/>
                    <a:pt x="423761" y="332746"/>
                    <a:pt x="423730" y="332706"/>
                  </a:cubicBezTo>
                  <a:cubicBezTo>
                    <a:pt x="399977" y="301813"/>
                    <a:pt x="405765" y="257514"/>
                    <a:pt x="436658" y="233760"/>
                  </a:cubicBezTo>
                  <a:cubicBezTo>
                    <a:pt x="436820" y="233636"/>
                    <a:pt x="436983" y="233512"/>
                    <a:pt x="437146" y="233389"/>
                  </a:cubicBezTo>
                  <a:lnTo>
                    <a:pt x="729908" y="11556"/>
                  </a:lnTo>
                  <a:close/>
                  <a:moveTo>
                    <a:pt x="363992" y="832330"/>
                  </a:moveTo>
                  <a:lnTo>
                    <a:pt x="363028" y="833293"/>
                  </a:lnTo>
                  <a:lnTo>
                    <a:pt x="290838" y="905039"/>
                  </a:lnTo>
                  <a:lnTo>
                    <a:pt x="289875" y="905928"/>
                  </a:lnTo>
                  <a:cubicBezTo>
                    <a:pt x="263592" y="930919"/>
                    <a:pt x="222215" y="930525"/>
                    <a:pt x="196413" y="905039"/>
                  </a:cubicBezTo>
                  <a:cubicBezTo>
                    <a:pt x="170481" y="879333"/>
                    <a:pt x="170298" y="837474"/>
                    <a:pt x="196003" y="811542"/>
                  </a:cubicBezTo>
                  <a:cubicBezTo>
                    <a:pt x="196139" y="811405"/>
                    <a:pt x="196276" y="811268"/>
                    <a:pt x="196413" y="811132"/>
                  </a:cubicBezTo>
                  <a:lnTo>
                    <a:pt x="268603" y="739387"/>
                  </a:lnTo>
                  <a:cubicBezTo>
                    <a:pt x="294773" y="713472"/>
                    <a:pt x="336933" y="713472"/>
                    <a:pt x="363103" y="739387"/>
                  </a:cubicBezTo>
                  <a:cubicBezTo>
                    <a:pt x="388802" y="764896"/>
                    <a:pt x="389198" y="806333"/>
                    <a:pt x="363992" y="832330"/>
                  </a:cubicBezTo>
                  <a:close/>
                  <a:moveTo>
                    <a:pt x="342498" y="958181"/>
                  </a:moveTo>
                  <a:cubicBezTo>
                    <a:pt x="317312" y="984197"/>
                    <a:pt x="317741" y="1025634"/>
                    <a:pt x="343461" y="1051123"/>
                  </a:cubicBezTo>
                  <a:cubicBezTo>
                    <a:pt x="369551" y="1077064"/>
                    <a:pt x="411798" y="1077064"/>
                    <a:pt x="437961" y="1051123"/>
                  </a:cubicBezTo>
                  <a:lnTo>
                    <a:pt x="510151" y="979452"/>
                  </a:lnTo>
                  <a:cubicBezTo>
                    <a:pt x="536102" y="953767"/>
                    <a:pt x="536318" y="911908"/>
                    <a:pt x="510633" y="885956"/>
                  </a:cubicBezTo>
                  <a:cubicBezTo>
                    <a:pt x="507338" y="882627"/>
                    <a:pt x="503698" y="879657"/>
                    <a:pt x="499775" y="877096"/>
                  </a:cubicBezTo>
                  <a:cubicBezTo>
                    <a:pt x="473701" y="859940"/>
                    <a:pt x="439244" y="863011"/>
                    <a:pt x="416615" y="884508"/>
                  </a:cubicBezTo>
                  <a:lnTo>
                    <a:pt x="415652" y="885546"/>
                  </a:lnTo>
                  <a:lnTo>
                    <a:pt x="343461" y="957217"/>
                  </a:lnTo>
                  <a:lnTo>
                    <a:pt x="342498" y="958181"/>
                  </a:lnTo>
                  <a:close/>
                  <a:moveTo>
                    <a:pt x="186259" y="622726"/>
                  </a:moveTo>
                  <a:cubicBezTo>
                    <a:pt x="212191" y="648431"/>
                    <a:pt x="212374" y="690291"/>
                    <a:pt x="186669" y="716223"/>
                  </a:cubicBezTo>
                  <a:cubicBezTo>
                    <a:pt x="186533" y="716360"/>
                    <a:pt x="186396" y="716497"/>
                    <a:pt x="186259" y="716633"/>
                  </a:cubicBezTo>
                  <a:lnTo>
                    <a:pt x="114143" y="788378"/>
                  </a:lnTo>
                  <a:cubicBezTo>
                    <a:pt x="87965" y="814342"/>
                    <a:pt x="45748" y="814342"/>
                    <a:pt x="19569" y="788378"/>
                  </a:cubicBezTo>
                  <a:cubicBezTo>
                    <a:pt x="-6362" y="762673"/>
                    <a:pt x="-6546" y="720813"/>
                    <a:pt x="19159" y="694882"/>
                  </a:cubicBezTo>
                  <a:cubicBezTo>
                    <a:pt x="19295" y="694744"/>
                    <a:pt x="19432" y="694608"/>
                    <a:pt x="19569" y="694472"/>
                  </a:cubicBezTo>
                  <a:lnTo>
                    <a:pt x="91834" y="622726"/>
                  </a:lnTo>
                  <a:cubicBezTo>
                    <a:pt x="118003" y="596811"/>
                    <a:pt x="160163" y="596811"/>
                    <a:pt x="186333" y="622726"/>
                  </a:cubicBezTo>
                  <a:close/>
                  <a:moveTo>
                    <a:pt x="657199" y="1031631"/>
                  </a:moveTo>
                  <a:cubicBezTo>
                    <a:pt x="683131" y="1057336"/>
                    <a:pt x="683315" y="1099195"/>
                    <a:pt x="657610" y="1125127"/>
                  </a:cubicBezTo>
                  <a:cubicBezTo>
                    <a:pt x="657473" y="1125264"/>
                    <a:pt x="657337" y="1125401"/>
                    <a:pt x="657199" y="1125537"/>
                  </a:cubicBezTo>
                  <a:lnTo>
                    <a:pt x="585009" y="1197283"/>
                  </a:lnTo>
                  <a:cubicBezTo>
                    <a:pt x="558907" y="1223360"/>
                    <a:pt x="516613" y="1223360"/>
                    <a:pt x="490510" y="1197283"/>
                  </a:cubicBezTo>
                  <a:cubicBezTo>
                    <a:pt x="470321" y="1177267"/>
                    <a:pt x="465188" y="1146587"/>
                    <a:pt x="477762" y="1121090"/>
                  </a:cubicBezTo>
                  <a:lnTo>
                    <a:pt x="477836" y="1120942"/>
                  </a:lnTo>
                  <a:cubicBezTo>
                    <a:pt x="481068" y="1114431"/>
                    <a:pt x="485350" y="1108496"/>
                    <a:pt x="490510" y="1103376"/>
                  </a:cubicBezTo>
                  <a:lnTo>
                    <a:pt x="562700" y="1031631"/>
                  </a:lnTo>
                  <a:cubicBezTo>
                    <a:pt x="588870" y="1005715"/>
                    <a:pt x="631030" y="1005715"/>
                    <a:pt x="657199" y="1031631"/>
                  </a:cubicBezTo>
                  <a:close/>
                </a:path>
              </a:pathLst>
            </a:custGeom>
            <a:gradFill flip="none" rotWithShape="1">
              <a:gsLst>
                <a:gs pos="0">
                  <a:schemeClr val="tx2"/>
                </a:gs>
                <a:gs pos="100000">
                  <a:schemeClr val="accent6"/>
                </a:gs>
                <a:gs pos="58000">
                  <a:srgbClr val="4363CE"/>
                </a:gs>
                <a:gs pos="0">
                  <a:schemeClr val="accent3"/>
                </a:gs>
              </a:gsLst>
              <a:lin ang="2700000" scaled="1"/>
              <a:tileRect/>
            </a:gradFill>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gradFill flip="none" rotWithShape="1">
                  <a:gsLst>
                    <a:gs pos="1629">
                      <a:srgbClr val="2F2F2F"/>
                    </a:gs>
                    <a:gs pos="39000">
                      <a:srgbClr val="2F2F2F"/>
                    </a:gs>
                  </a:gsLst>
                  <a:lin ang="2700000" scaled="1"/>
                  <a:tileRect/>
                </a:gradFill>
                <a:effectLst/>
                <a:uLnTx/>
                <a:uFillTx/>
                <a:latin typeface="Segoe UI Semibold"/>
                <a:ea typeface="+mn-ea"/>
                <a:cs typeface="+mn-cs"/>
              </a:endParaRPr>
            </a:p>
          </p:txBody>
        </p:sp>
        <p:sp>
          <p:nvSpPr>
            <p:cNvPr id="32" name="Free-form: Shape 31">
              <a:extLst>
                <a:ext uri="{FF2B5EF4-FFF2-40B4-BE49-F238E27FC236}">
                  <a16:creationId xmlns:a16="http://schemas.microsoft.com/office/drawing/2014/main" id="{BF57D882-BCAC-FE1B-B746-647CF2C6A07F}"/>
                </a:ext>
              </a:extLst>
            </p:cNvPr>
            <p:cNvSpPr/>
            <p:nvPr/>
          </p:nvSpPr>
          <p:spPr>
            <a:xfrm>
              <a:off x="4731773" y="4628040"/>
              <a:ext cx="1364227" cy="1335719"/>
            </a:xfrm>
            <a:custGeom>
              <a:avLst/>
              <a:gdLst>
                <a:gd name="connsiteX0" fmla="*/ 133923 w 1364227"/>
                <a:gd name="connsiteY0" fmla="*/ 133085 h 1335719"/>
                <a:gd name="connsiteX1" fmla="*/ 512810 w 1364227"/>
                <a:gd name="connsiteY1" fmla="*/ 3454 h 1335719"/>
                <a:gd name="connsiteX2" fmla="*/ 329222 w 1364227"/>
                <a:gd name="connsiteY2" fmla="*/ 142646 h 1335719"/>
                <a:gd name="connsiteX3" fmla="*/ 293939 w 1364227"/>
                <a:gd name="connsiteY3" fmla="*/ 397225 h 1335719"/>
                <a:gd name="connsiteX4" fmla="*/ 294683 w 1364227"/>
                <a:gd name="connsiteY4" fmla="*/ 398202 h 1335719"/>
                <a:gd name="connsiteX5" fmla="*/ 550684 w 1364227"/>
                <a:gd name="connsiteY5" fmla="*/ 432815 h 1335719"/>
                <a:gd name="connsiteX6" fmla="*/ 675497 w 1364227"/>
                <a:gd name="connsiteY6" fmla="*/ 338315 h 1335719"/>
                <a:gd name="connsiteX7" fmla="*/ 985677 w 1364227"/>
                <a:gd name="connsiteY7" fmla="*/ 338315 h 1335719"/>
                <a:gd name="connsiteX8" fmla="*/ 1245606 w 1364227"/>
                <a:gd name="connsiteY8" fmla="*/ 594761 h 1335719"/>
                <a:gd name="connsiteX9" fmla="*/ 1248275 w 1364227"/>
                <a:gd name="connsiteY9" fmla="*/ 597726 h 1335719"/>
                <a:gd name="connsiteX10" fmla="*/ 1333509 w 1364227"/>
                <a:gd name="connsiteY10" fmla="*/ 682960 h 1335719"/>
                <a:gd name="connsiteX11" fmla="*/ 1332466 w 1364227"/>
                <a:gd name="connsiteY11" fmla="*/ 833789 h 1335719"/>
                <a:gd name="connsiteX12" fmla="*/ 1190018 w 1364227"/>
                <a:gd name="connsiteY12" fmla="*/ 840385 h 1335719"/>
                <a:gd name="connsiteX13" fmla="*/ 1182903 w 1364227"/>
                <a:gd name="connsiteY13" fmla="*/ 833270 h 1335719"/>
                <a:gd name="connsiteX14" fmla="*/ 1178456 w 1364227"/>
                <a:gd name="connsiteY14" fmla="*/ 829416 h 1335719"/>
                <a:gd name="connsiteX15" fmla="*/ 1097446 w 1364227"/>
                <a:gd name="connsiteY15" fmla="*/ 748480 h 1335719"/>
                <a:gd name="connsiteX16" fmla="*/ 1045045 w 1364227"/>
                <a:gd name="connsiteY16" fmla="*/ 747569 h 1335719"/>
                <a:gd name="connsiteX17" fmla="*/ 1044134 w 1364227"/>
                <a:gd name="connsiteY17" fmla="*/ 799970 h 1335719"/>
                <a:gd name="connsiteX18" fmla="*/ 1045045 w 1364227"/>
                <a:gd name="connsiteY18" fmla="*/ 800881 h 1335719"/>
                <a:gd name="connsiteX19" fmla="*/ 1130280 w 1364227"/>
                <a:gd name="connsiteY19" fmla="*/ 886115 h 1335719"/>
                <a:gd name="connsiteX20" fmla="*/ 1139767 w 1364227"/>
                <a:gd name="connsiteY20" fmla="*/ 894935 h 1335719"/>
                <a:gd name="connsiteX21" fmla="*/ 1143028 w 1364227"/>
                <a:gd name="connsiteY21" fmla="*/ 898197 h 1335719"/>
                <a:gd name="connsiteX22" fmla="*/ 1138157 w 1364227"/>
                <a:gd name="connsiteY22" fmla="*/ 1004999 h 1335719"/>
                <a:gd name="connsiteX23" fmla="*/ 1036225 w 1364227"/>
                <a:gd name="connsiteY23" fmla="*/ 1004999 h 1335719"/>
                <a:gd name="connsiteX24" fmla="*/ 1023625 w 1364227"/>
                <a:gd name="connsiteY24" fmla="*/ 992474 h 1335719"/>
                <a:gd name="connsiteX25" fmla="*/ 971217 w 1364227"/>
                <a:gd name="connsiteY25" fmla="*/ 992544 h 1335719"/>
                <a:gd name="connsiteX26" fmla="*/ 960403 w 1364227"/>
                <a:gd name="connsiteY26" fmla="*/ 1019378 h 1335719"/>
                <a:gd name="connsiteX27" fmla="*/ 971299 w 1364227"/>
                <a:gd name="connsiteY27" fmla="*/ 1046431 h 1335719"/>
                <a:gd name="connsiteX28" fmla="*/ 987827 w 1364227"/>
                <a:gd name="connsiteY28" fmla="*/ 1062959 h 1335719"/>
                <a:gd name="connsiteX29" fmla="*/ 990800 w 1364227"/>
                <a:gd name="connsiteY29" fmla="*/ 1161757 h 1335719"/>
                <a:gd name="connsiteX30" fmla="*/ 892002 w 1364227"/>
                <a:gd name="connsiteY30" fmla="*/ 1164730 h 1335719"/>
                <a:gd name="connsiteX31" fmla="*/ 889028 w 1364227"/>
                <a:gd name="connsiteY31" fmla="*/ 1161757 h 1335719"/>
                <a:gd name="connsiteX32" fmla="*/ 888880 w 1364227"/>
                <a:gd name="connsiteY32" fmla="*/ 1161757 h 1335719"/>
                <a:gd name="connsiteX33" fmla="*/ 888065 w 1364227"/>
                <a:gd name="connsiteY33" fmla="*/ 1160794 h 1335719"/>
                <a:gd name="connsiteX34" fmla="*/ 872500 w 1364227"/>
                <a:gd name="connsiteY34" fmla="*/ 1145229 h 1335719"/>
                <a:gd name="connsiteX35" fmla="*/ 820100 w 1364227"/>
                <a:gd name="connsiteY35" fmla="*/ 1144318 h 1335719"/>
                <a:gd name="connsiteX36" fmla="*/ 819189 w 1364227"/>
                <a:gd name="connsiteY36" fmla="*/ 1196719 h 1335719"/>
                <a:gd name="connsiteX37" fmla="*/ 820100 w 1364227"/>
                <a:gd name="connsiteY37" fmla="*/ 1197630 h 1335719"/>
                <a:gd name="connsiteX38" fmla="*/ 836257 w 1364227"/>
                <a:gd name="connsiteY38" fmla="*/ 1213862 h 1335719"/>
                <a:gd name="connsiteX39" fmla="*/ 836887 w 1364227"/>
                <a:gd name="connsiteY39" fmla="*/ 1314550 h 1335719"/>
                <a:gd name="connsiteX40" fmla="*/ 736199 w 1364227"/>
                <a:gd name="connsiteY40" fmla="*/ 1315180 h 1335719"/>
                <a:gd name="connsiteX41" fmla="*/ 630137 w 1364227"/>
                <a:gd name="connsiteY41" fmla="*/ 1214380 h 1335719"/>
                <a:gd name="connsiteX42" fmla="*/ 668975 w 1364227"/>
                <a:gd name="connsiteY42" fmla="*/ 1175691 h 1335719"/>
                <a:gd name="connsiteX43" fmla="*/ 669838 w 1364227"/>
                <a:gd name="connsiteY43" fmla="*/ 978217 h 1335719"/>
                <a:gd name="connsiteX44" fmla="*/ 668975 w 1364227"/>
                <a:gd name="connsiteY44" fmla="*/ 977354 h 1335719"/>
                <a:gd name="connsiteX45" fmla="*/ 563135 w 1364227"/>
                <a:gd name="connsiteY45" fmla="*/ 936367 h 1335719"/>
                <a:gd name="connsiteX46" fmla="*/ 521926 w 1364227"/>
                <a:gd name="connsiteY46" fmla="*/ 831121 h 1335719"/>
                <a:gd name="connsiteX47" fmla="*/ 416087 w 1364227"/>
                <a:gd name="connsiteY47" fmla="*/ 790208 h 1335719"/>
                <a:gd name="connsiteX48" fmla="*/ 374878 w 1364227"/>
                <a:gd name="connsiteY48" fmla="*/ 685036 h 1335719"/>
                <a:gd name="connsiteX49" fmla="*/ 238206 w 1364227"/>
                <a:gd name="connsiteY49" fmla="*/ 648718 h 1335719"/>
                <a:gd name="connsiteX50" fmla="*/ 198108 w 1364227"/>
                <a:gd name="connsiteY50" fmla="*/ 568375 h 1335719"/>
                <a:gd name="connsiteX51" fmla="*/ 11778 w 1364227"/>
                <a:gd name="connsiteY51" fmla="*/ 556665 h 1335719"/>
                <a:gd name="connsiteX52" fmla="*/ 133923 w 1364227"/>
                <a:gd name="connsiteY52" fmla="*/ 133159 h 133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364227" h="1335719">
                  <a:moveTo>
                    <a:pt x="133923" y="133085"/>
                  </a:moveTo>
                  <a:cubicBezTo>
                    <a:pt x="233634" y="34022"/>
                    <a:pt x="373313" y="-13767"/>
                    <a:pt x="512810" y="3454"/>
                  </a:cubicBezTo>
                  <a:lnTo>
                    <a:pt x="329222" y="142646"/>
                  </a:lnTo>
                  <a:cubicBezTo>
                    <a:pt x="249178" y="203203"/>
                    <a:pt x="233382" y="317182"/>
                    <a:pt x="293939" y="397225"/>
                  </a:cubicBezTo>
                  <a:cubicBezTo>
                    <a:pt x="294186" y="397552"/>
                    <a:pt x="294434" y="397877"/>
                    <a:pt x="294683" y="398202"/>
                  </a:cubicBezTo>
                  <a:cubicBezTo>
                    <a:pt x="356004" y="478132"/>
                    <a:pt x="470339" y="493590"/>
                    <a:pt x="550684" y="432815"/>
                  </a:cubicBezTo>
                  <a:lnTo>
                    <a:pt x="675497" y="338315"/>
                  </a:lnTo>
                  <a:lnTo>
                    <a:pt x="985677" y="338315"/>
                  </a:lnTo>
                  <a:lnTo>
                    <a:pt x="1245606" y="594761"/>
                  </a:lnTo>
                  <a:cubicBezTo>
                    <a:pt x="1246444" y="595794"/>
                    <a:pt x="1247335" y="596784"/>
                    <a:pt x="1248275" y="597726"/>
                  </a:cubicBezTo>
                  <a:lnTo>
                    <a:pt x="1333509" y="682960"/>
                  </a:lnTo>
                  <a:cubicBezTo>
                    <a:pt x="1374871" y="724899"/>
                    <a:pt x="1374404" y="792427"/>
                    <a:pt x="1332466" y="833789"/>
                  </a:cubicBezTo>
                  <a:cubicBezTo>
                    <a:pt x="1293648" y="872073"/>
                    <a:pt x="1232208" y="874918"/>
                    <a:pt x="1190018" y="840385"/>
                  </a:cubicBezTo>
                  <a:lnTo>
                    <a:pt x="1182903" y="833270"/>
                  </a:lnTo>
                  <a:cubicBezTo>
                    <a:pt x="1181524" y="831871"/>
                    <a:pt x="1180037" y="830582"/>
                    <a:pt x="1178456" y="829416"/>
                  </a:cubicBezTo>
                  <a:lnTo>
                    <a:pt x="1097446" y="748480"/>
                  </a:lnTo>
                  <a:cubicBezTo>
                    <a:pt x="1083228" y="733758"/>
                    <a:pt x="1059767" y="733350"/>
                    <a:pt x="1045045" y="747569"/>
                  </a:cubicBezTo>
                  <a:cubicBezTo>
                    <a:pt x="1030324" y="761788"/>
                    <a:pt x="1029916" y="785248"/>
                    <a:pt x="1044134" y="799970"/>
                  </a:cubicBezTo>
                  <a:cubicBezTo>
                    <a:pt x="1044433" y="800279"/>
                    <a:pt x="1044736" y="800582"/>
                    <a:pt x="1045045" y="800881"/>
                  </a:cubicBezTo>
                  <a:lnTo>
                    <a:pt x="1130280" y="886115"/>
                  </a:lnTo>
                  <a:cubicBezTo>
                    <a:pt x="1133393" y="889154"/>
                    <a:pt x="1136506" y="892119"/>
                    <a:pt x="1139767" y="894935"/>
                  </a:cubicBezTo>
                  <a:lnTo>
                    <a:pt x="1143028" y="898197"/>
                  </a:lnTo>
                  <a:cubicBezTo>
                    <a:pt x="1171176" y="929034"/>
                    <a:pt x="1168995" y="976852"/>
                    <a:pt x="1138157" y="1004999"/>
                  </a:cubicBezTo>
                  <a:cubicBezTo>
                    <a:pt x="1109289" y="1031350"/>
                    <a:pt x="1065094" y="1031350"/>
                    <a:pt x="1036225" y="1004999"/>
                  </a:cubicBezTo>
                  <a:lnTo>
                    <a:pt x="1023625" y="992474"/>
                  </a:lnTo>
                  <a:cubicBezTo>
                    <a:pt x="1009134" y="978021"/>
                    <a:pt x="985669" y="978052"/>
                    <a:pt x="971217" y="992544"/>
                  </a:cubicBezTo>
                  <a:cubicBezTo>
                    <a:pt x="964125" y="999654"/>
                    <a:pt x="960223" y="1009338"/>
                    <a:pt x="960403" y="1019378"/>
                  </a:cubicBezTo>
                  <a:cubicBezTo>
                    <a:pt x="960176" y="1029507"/>
                    <a:pt x="964115" y="1039286"/>
                    <a:pt x="971299" y="1046431"/>
                  </a:cubicBezTo>
                  <a:lnTo>
                    <a:pt x="987827" y="1062959"/>
                  </a:lnTo>
                  <a:cubicBezTo>
                    <a:pt x="1015930" y="1089420"/>
                    <a:pt x="1017261" y="1133654"/>
                    <a:pt x="990800" y="1161757"/>
                  </a:cubicBezTo>
                  <a:cubicBezTo>
                    <a:pt x="964338" y="1189861"/>
                    <a:pt x="920105" y="1191192"/>
                    <a:pt x="892002" y="1164730"/>
                  </a:cubicBezTo>
                  <a:cubicBezTo>
                    <a:pt x="890981" y="1163769"/>
                    <a:pt x="889989" y="1162778"/>
                    <a:pt x="889028" y="1161757"/>
                  </a:cubicBezTo>
                  <a:lnTo>
                    <a:pt x="888880" y="1161757"/>
                  </a:lnTo>
                  <a:lnTo>
                    <a:pt x="888065" y="1160794"/>
                  </a:lnTo>
                  <a:lnTo>
                    <a:pt x="872500" y="1145229"/>
                  </a:lnTo>
                  <a:cubicBezTo>
                    <a:pt x="858282" y="1130507"/>
                    <a:pt x="834821" y="1130100"/>
                    <a:pt x="820100" y="1144318"/>
                  </a:cubicBezTo>
                  <a:cubicBezTo>
                    <a:pt x="805378" y="1158537"/>
                    <a:pt x="804970" y="1181997"/>
                    <a:pt x="819189" y="1196719"/>
                  </a:cubicBezTo>
                  <a:cubicBezTo>
                    <a:pt x="819487" y="1197028"/>
                    <a:pt x="819791" y="1197332"/>
                    <a:pt x="820100" y="1197630"/>
                  </a:cubicBezTo>
                  <a:lnTo>
                    <a:pt x="836257" y="1213862"/>
                  </a:lnTo>
                  <a:cubicBezTo>
                    <a:pt x="864235" y="1241492"/>
                    <a:pt x="864517" y="1286572"/>
                    <a:pt x="836887" y="1314550"/>
                  </a:cubicBezTo>
                  <a:cubicBezTo>
                    <a:pt x="809257" y="1342528"/>
                    <a:pt x="764177" y="1342810"/>
                    <a:pt x="736199" y="1315180"/>
                  </a:cubicBezTo>
                  <a:lnTo>
                    <a:pt x="630137" y="1214380"/>
                  </a:lnTo>
                  <a:lnTo>
                    <a:pt x="668975" y="1175691"/>
                  </a:lnTo>
                  <a:cubicBezTo>
                    <a:pt x="723744" y="1121399"/>
                    <a:pt x="724131" y="1032986"/>
                    <a:pt x="669838" y="978217"/>
                  </a:cubicBezTo>
                  <a:cubicBezTo>
                    <a:pt x="669551" y="977928"/>
                    <a:pt x="669264" y="977640"/>
                    <a:pt x="668975" y="977354"/>
                  </a:cubicBezTo>
                  <a:cubicBezTo>
                    <a:pt x="640976" y="949497"/>
                    <a:pt x="602594" y="934633"/>
                    <a:pt x="563135" y="936367"/>
                  </a:cubicBezTo>
                  <a:cubicBezTo>
                    <a:pt x="564883" y="897039"/>
                    <a:pt x="549913" y="858806"/>
                    <a:pt x="521926" y="831121"/>
                  </a:cubicBezTo>
                  <a:cubicBezTo>
                    <a:pt x="493915" y="803291"/>
                    <a:pt x="455534" y="788454"/>
                    <a:pt x="416087" y="790208"/>
                  </a:cubicBezTo>
                  <a:cubicBezTo>
                    <a:pt x="417804" y="750907"/>
                    <a:pt x="402837" y="712709"/>
                    <a:pt x="374878" y="685036"/>
                  </a:cubicBezTo>
                  <a:cubicBezTo>
                    <a:pt x="339047" y="649440"/>
                    <a:pt x="286980" y="635604"/>
                    <a:pt x="238206" y="648718"/>
                  </a:cubicBezTo>
                  <a:cubicBezTo>
                    <a:pt x="234072" y="618246"/>
                    <a:pt x="219973" y="589998"/>
                    <a:pt x="198108" y="568375"/>
                  </a:cubicBezTo>
                  <a:cubicBezTo>
                    <a:pt x="147681" y="518392"/>
                    <a:pt x="68067" y="513388"/>
                    <a:pt x="11778" y="556665"/>
                  </a:cubicBezTo>
                  <a:cubicBezTo>
                    <a:pt x="-23797" y="403864"/>
                    <a:pt x="22441" y="243547"/>
                    <a:pt x="133923" y="133159"/>
                  </a:cubicBezTo>
                  <a:close/>
                </a:path>
              </a:pathLst>
            </a:custGeom>
            <a:gradFill flip="none" rotWithShape="1">
              <a:gsLst>
                <a:gs pos="0">
                  <a:schemeClr val="tx2"/>
                </a:gs>
                <a:gs pos="100000">
                  <a:schemeClr val="accent6"/>
                </a:gs>
                <a:gs pos="58000">
                  <a:srgbClr val="4363CE"/>
                </a:gs>
                <a:gs pos="0">
                  <a:schemeClr val="accent3"/>
                </a:gs>
              </a:gsLst>
              <a:lin ang="2700000" scaled="1"/>
              <a:tileRect/>
            </a:gradFill>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gradFill flip="none" rotWithShape="1">
                  <a:gsLst>
                    <a:gs pos="1629">
                      <a:srgbClr val="2F2F2F"/>
                    </a:gs>
                    <a:gs pos="39000">
                      <a:srgbClr val="2F2F2F"/>
                    </a:gs>
                  </a:gsLst>
                  <a:lin ang="2700000" scaled="1"/>
                  <a:tileRect/>
                </a:gradFill>
                <a:effectLst/>
                <a:uLnTx/>
                <a:uFillTx/>
                <a:latin typeface="Segoe UI Semibold"/>
                <a:ea typeface="+mn-ea"/>
                <a:cs typeface="+mn-cs"/>
              </a:endParaRPr>
            </a:p>
          </p:txBody>
        </p:sp>
      </p:grpSp>
      <p:sp>
        <p:nvSpPr>
          <p:cNvPr id="37" name="Graphic 35">
            <a:extLst>
              <a:ext uri="{FF2B5EF4-FFF2-40B4-BE49-F238E27FC236}">
                <a16:creationId xmlns:a16="http://schemas.microsoft.com/office/drawing/2014/main" id="{15349D41-4839-34F5-7E29-6C3354D1CA53}"/>
              </a:ext>
              <a:ext uri="{C183D7F6-B498-43B3-948B-1728B52AA6E4}">
                <adec:decorative xmlns:adec="http://schemas.microsoft.com/office/drawing/2017/decorative" val="1"/>
              </a:ext>
            </a:extLst>
          </p:cNvPr>
          <p:cNvSpPr/>
          <p:nvPr/>
        </p:nvSpPr>
        <p:spPr>
          <a:xfrm>
            <a:off x="4454416" y="4716002"/>
            <a:ext cx="504324" cy="482982"/>
          </a:xfrm>
          <a:custGeom>
            <a:avLst/>
            <a:gdLst>
              <a:gd name="connsiteX0" fmla="*/ 221633 w 504324"/>
              <a:gd name="connsiteY0" fmla="*/ 18991 h 482982"/>
              <a:gd name="connsiteX1" fmla="*/ 282691 w 504324"/>
              <a:gd name="connsiteY1" fmla="*/ 18991 h 482982"/>
              <a:gd name="connsiteX2" fmla="*/ 342159 w 504324"/>
              <a:gd name="connsiteY2" fmla="*/ 139466 h 482982"/>
              <a:gd name="connsiteX3" fmla="*/ 475144 w 504324"/>
              <a:gd name="connsiteY3" fmla="*/ 158785 h 482982"/>
              <a:gd name="connsiteX4" fmla="*/ 494009 w 504324"/>
              <a:gd name="connsiteY4" fmla="*/ 216866 h 482982"/>
              <a:gd name="connsiteX5" fmla="*/ 397769 w 504324"/>
              <a:gd name="connsiteY5" fmla="*/ 310684 h 482982"/>
              <a:gd name="connsiteX6" fmla="*/ 420492 w 504324"/>
              <a:gd name="connsiteY6" fmla="*/ 443089 h 482982"/>
              <a:gd name="connsiteX7" fmla="*/ 371087 w 504324"/>
              <a:gd name="connsiteY7" fmla="*/ 479002 h 482982"/>
              <a:gd name="connsiteX8" fmla="*/ 252150 w 504324"/>
              <a:gd name="connsiteY8" fmla="*/ 416457 h 482982"/>
              <a:gd name="connsiteX9" fmla="*/ 133238 w 504324"/>
              <a:gd name="connsiteY9" fmla="*/ 479002 h 482982"/>
              <a:gd name="connsiteX10" fmla="*/ 83807 w 504324"/>
              <a:gd name="connsiteY10" fmla="*/ 443089 h 482982"/>
              <a:gd name="connsiteX11" fmla="*/ 106530 w 504324"/>
              <a:gd name="connsiteY11" fmla="*/ 310684 h 482982"/>
              <a:gd name="connsiteX12" fmla="*/ 10316 w 504324"/>
              <a:gd name="connsiteY12" fmla="*/ 216866 h 482982"/>
              <a:gd name="connsiteX13" fmla="*/ 29180 w 504324"/>
              <a:gd name="connsiteY13" fmla="*/ 158785 h 482982"/>
              <a:gd name="connsiteX14" fmla="*/ 162165 w 504324"/>
              <a:gd name="connsiteY14" fmla="*/ 139466 h 482982"/>
              <a:gd name="connsiteX15" fmla="*/ 221633 w 504324"/>
              <a:gd name="connsiteY15" fmla="*/ 18991 h 4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04324" h="482982">
                <a:moveTo>
                  <a:pt x="221633" y="18991"/>
                </a:moveTo>
                <a:cubicBezTo>
                  <a:pt x="234117" y="-6330"/>
                  <a:pt x="270207" y="-6330"/>
                  <a:pt x="282691" y="18991"/>
                </a:cubicBezTo>
                <a:lnTo>
                  <a:pt x="342159" y="139466"/>
                </a:lnTo>
                <a:lnTo>
                  <a:pt x="475144" y="158785"/>
                </a:lnTo>
                <a:cubicBezTo>
                  <a:pt x="503062" y="162845"/>
                  <a:pt x="514210" y="197169"/>
                  <a:pt x="494009" y="216866"/>
                </a:cubicBezTo>
                <a:lnTo>
                  <a:pt x="397769" y="310684"/>
                </a:lnTo>
                <a:lnTo>
                  <a:pt x="420492" y="443089"/>
                </a:lnTo>
                <a:cubicBezTo>
                  <a:pt x="425284" y="470906"/>
                  <a:pt x="396080" y="492116"/>
                  <a:pt x="371087" y="479002"/>
                </a:cubicBezTo>
                <a:lnTo>
                  <a:pt x="252150" y="416457"/>
                </a:lnTo>
                <a:lnTo>
                  <a:pt x="133238" y="479002"/>
                </a:lnTo>
                <a:cubicBezTo>
                  <a:pt x="108270" y="492116"/>
                  <a:pt x="79065" y="470932"/>
                  <a:pt x="83807" y="443089"/>
                </a:cubicBezTo>
                <a:lnTo>
                  <a:pt x="106530" y="310684"/>
                </a:lnTo>
                <a:lnTo>
                  <a:pt x="10316" y="216866"/>
                </a:lnTo>
                <a:cubicBezTo>
                  <a:pt x="-9885" y="197195"/>
                  <a:pt x="1262" y="162845"/>
                  <a:pt x="29180" y="158785"/>
                </a:cubicBezTo>
                <a:lnTo>
                  <a:pt x="162165" y="139466"/>
                </a:lnTo>
                <a:lnTo>
                  <a:pt x="221633" y="18991"/>
                </a:lnTo>
                <a:close/>
              </a:path>
            </a:pathLst>
          </a:custGeom>
          <a:gradFill flip="none" rotWithShape="1">
            <a:gsLst>
              <a:gs pos="0">
                <a:schemeClr val="tx2"/>
              </a:gs>
              <a:gs pos="100000">
                <a:schemeClr val="accent6"/>
              </a:gs>
              <a:gs pos="58000">
                <a:srgbClr val="4363CE"/>
              </a:gs>
              <a:gs pos="0">
                <a:schemeClr val="accent3"/>
              </a:gs>
            </a:gsLst>
            <a:lin ang="2700000" scaled="1"/>
            <a:tileRect/>
          </a:gradFill>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gradFill flip="none" rotWithShape="1">
                <a:gsLst>
                  <a:gs pos="1629">
                    <a:srgbClr val="2F2F2F"/>
                  </a:gs>
                  <a:gs pos="39000">
                    <a:srgbClr val="2F2F2F"/>
                  </a:gs>
                </a:gsLst>
                <a:lin ang="2700000" scaled="1"/>
                <a:tileRect/>
              </a:gradFill>
              <a:effectLst/>
              <a:uLnTx/>
              <a:uFillTx/>
              <a:latin typeface="Segoe UI Semibold"/>
              <a:ea typeface="+mn-ea"/>
              <a:cs typeface="+mn-cs"/>
            </a:endParaRPr>
          </a:p>
        </p:txBody>
      </p:sp>
      <p:sp>
        <p:nvSpPr>
          <p:cNvPr id="40" name="Graphic 38">
            <a:extLst>
              <a:ext uri="{FF2B5EF4-FFF2-40B4-BE49-F238E27FC236}">
                <a16:creationId xmlns:a16="http://schemas.microsoft.com/office/drawing/2014/main" id="{9C57FF63-D72F-5858-BF5A-47CED5F052F8}"/>
              </a:ext>
              <a:ext uri="{C183D7F6-B498-43B3-948B-1728B52AA6E4}">
                <adec:decorative xmlns:adec="http://schemas.microsoft.com/office/drawing/2017/decorative" val="1"/>
              </a:ext>
            </a:extLst>
          </p:cNvPr>
          <p:cNvSpPr/>
          <p:nvPr/>
        </p:nvSpPr>
        <p:spPr>
          <a:xfrm>
            <a:off x="4473073" y="1894624"/>
            <a:ext cx="467010" cy="466776"/>
          </a:xfrm>
          <a:custGeom>
            <a:avLst/>
            <a:gdLst>
              <a:gd name="connsiteX0" fmla="*/ 170663 w 419319"/>
              <a:gd name="connsiteY0" fmla="*/ 0 h 419109"/>
              <a:gd name="connsiteX1" fmla="*/ 193935 w 419319"/>
              <a:gd name="connsiteY1" fmla="*/ 29583 h 419109"/>
              <a:gd name="connsiteX2" fmla="*/ 193935 w 419319"/>
              <a:gd name="connsiteY2" fmla="*/ 120428 h 419109"/>
              <a:gd name="connsiteX3" fmla="*/ 175171 w 419319"/>
              <a:gd name="connsiteY3" fmla="*/ 120428 h 419109"/>
              <a:gd name="connsiteX4" fmla="*/ 120574 w 419319"/>
              <a:gd name="connsiteY4" fmla="*/ 97281 h 419109"/>
              <a:gd name="connsiteX5" fmla="*/ 97427 w 419319"/>
              <a:gd name="connsiteY5" fmla="*/ 151877 h 419109"/>
              <a:gd name="connsiteX6" fmla="*/ 152023 w 419319"/>
              <a:gd name="connsiteY6" fmla="*/ 175025 h 419109"/>
              <a:gd name="connsiteX7" fmla="*/ 175171 w 419319"/>
              <a:gd name="connsiteY7" fmla="*/ 151877 h 419109"/>
              <a:gd name="connsiteX8" fmla="*/ 193935 w 419319"/>
              <a:gd name="connsiteY8" fmla="*/ 151877 h 419109"/>
              <a:gd name="connsiteX9" fmla="*/ 193935 w 419319"/>
              <a:gd name="connsiteY9" fmla="*/ 380364 h 419109"/>
              <a:gd name="connsiteX10" fmla="*/ 177519 w 419319"/>
              <a:gd name="connsiteY10" fmla="*/ 410975 h 419109"/>
              <a:gd name="connsiteX11" fmla="*/ 144812 w 419319"/>
              <a:gd name="connsiteY11" fmla="*/ 419110 h 419109"/>
              <a:gd name="connsiteX12" fmla="*/ 74450 w 419319"/>
              <a:gd name="connsiteY12" fmla="*/ 384138 h 419109"/>
              <a:gd name="connsiteX13" fmla="*/ 53065 w 419319"/>
              <a:gd name="connsiteY13" fmla="*/ 339334 h 419109"/>
              <a:gd name="connsiteX14" fmla="*/ 26459 w 419319"/>
              <a:gd name="connsiteY14" fmla="*/ 324868 h 419109"/>
              <a:gd name="connsiteX15" fmla="*/ 0 w 419319"/>
              <a:gd name="connsiteY15" fmla="*/ 261236 h 419109"/>
              <a:gd name="connsiteX16" fmla="*/ 3984 w 419319"/>
              <a:gd name="connsiteY16" fmla="*/ 220017 h 419109"/>
              <a:gd name="connsiteX17" fmla="*/ 92250 w 419319"/>
              <a:gd name="connsiteY17" fmla="*/ 220017 h 419109"/>
              <a:gd name="connsiteX18" fmla="*/ 120240 w 419319"/>
              <a:gd name="connsiteY18" fmla="*/ 244149 h 419109"/>
              <a:gd name="connsiteX19" fmla="*/ 97523 w 419319"/>
              <a:gd name="connsiteY19" fmla="*/ 298925 h 419109"/>
              <a:gd name="connsiteX20" fmla="*/ 152299 w 419319"/>
              <a:gd name="connsiteY20" fmla="*/ 321643 h 419109"/>
              <a:gd name="connsiteX21" fmla="*/ 175017 w 419319"/>
              <a:gd name="connsiteY21" fmla="*/ 266866 h 419109"/>
              <a:gd name="connsiteX22" fmla="*/ 151835 w 419319"/>
              <a:gd name="connsiteY22" fmla="*/ 243960 h 419109"/>
              <a:gd name="connsiteX23" fmla="*/ 92250 w 419319"/>
              <a:gd name="connsiteY23" fmla="*/ 188568 h 419109"/>
              <a:gd name="connsiteX24" fmla="*/ 21805 w 419319"/>
              <a:gd name="connsiteY24" fmla="*/ 188568 h 419109"/>
              <a:gd name="connsiteX25" fmla="*/ 32183 w 419319"/>
              <a:gd name="connsiteY25" fmla="*/ 182236 h 419109"/>
              <a:gd name="connsiteX26" fmla="*/ 28451 w 419319"/>
              <a:gd name="connsiteY26" fmla="*/ 158607 h 419109"/>
              <a:gd name="connsiteX27" fmla="*/ 34636 w 419319"/>
              <a:gd name="connsiteY27" fmla="*/ 112881 h 419109"/>
              <a:gd name="connsiteX28" fmla="*/ 56398 w 419319"/>
              <a:gd name="connsiteY28" fmla="*/ 75687 h 419109"/>
              <a:gd name="connsiteX29" fmla="*/ 79377 w 419319"/>
              <a:gd name="connsiteY29" fmla="*/ 63799 h 419109"/>
              <a:gd name="connsiteX30" fmla="*/ 107744 w 419319"/>
              <a:gd name="connsiteY30" fmla="*/ 21092 h 419109"/>
              <a:gd name="connsiteX31" fmla="*/ 170642 w 419319"/>
              <a:gd name="connsiteY31" fmla="*/ 0 h 419109"/>
              <a:gd name="connsiteX32" fmla="*/ 225384 w 419319"/>
              <a:gd name="connsiteY32" fmla="*/ 314364 h 419109"/>
              <a:gd name="connsiteX33" fmla="*/ 259978 w 419319"/>
              <a:gd name="connsiteY33" fmla="*/ 314364 h 419109"/>
              <a:gd name="connsiteX34" fmla="*/ 319731 w 419319"/>
              <a:gd name="connsiteY34" fmla="*/ 254611 h 419109"/>
              <a:gd name="connsiteX35" fmla="*/ 319731 w 419319"/>
              <a:gd name="connsiteY35" fmla="*/ 216977 h 419109"/>
              <a:gd name="connsiteX36" fmla="*/ 342878 w 419319"/>
              <a:gd name="connsiteY36" fmla="*/ 162380 h 419109"/>
              <a:gd name="connsiteX37" fmla="*/ 288282 w 419319"/>
              <a:gd name="connsiteY37" fmla="*/ 139233 h 419109"/>
              <a:gd name="connsiteX38" fmla="*/ 265134 w 419319"/>
              <a:gd name="connsiteY38" fmla="*/ 193829 h 419109"/>
              <a:gd name="connsiteX39" fmla="*/ 288282 w 419319"/>
              <a:gd name="connsiteY39" fmla="*/ 216977 h 419109"/>
              <a:gd name="connsiteX40" fmla="*/ 288282 w 419319"/>
              <a:gd name="connsiteY40" fmla="*/ 254611 h 419109"/>
              <a:gd name="connsiteX41" fmla="*/ 259978 w 419319"/>
              <a:gd name="connsiteY41" fmla="*/ 282915 h 419109"/>
              <a:gd name="connsiteX42" fmla="*/ 225384 w 419319"/>
              <a:gd name="connsiteY42" fmla="*/ 282915 h 419109"/>
              <a:gd name="connsiteX43" fmla="*/ 225384 w 419319"/>
              <a:gd name="connsiteY43" fmla="*/ 29583 h 419109"/>
              <a:gd name="connsiteX44" fmla="*/ 248656 w 419319"/>
              <a:gd name="connsiteY44" fmla="*/ 0 h 419109"/>
              <a:gd name="connsiteX45" fmla="*/ 311575 w 419319"/>
              <a:gd name="connsiteY45" fmla="*/ 21092 h 419109"/>
              <a:gd name="connsiteX46" fmla="*/ 339942 w 419319"/>
              <a:gd name="connsiteY46" fmla="*/ 63799 h 419109"/>
              <a:gd name="connsiteX47" fmla="*/ 362921 w 419319"/>
              <a:gd name="connsiteY47" fmla="*/ 75687 h 419109"/>
              <a:gd name="connsiteX48" fmla="*/ 384683 w 419319"/>
              <a:gd name="connsiteY48" fmla="*/ 112881 h 419109"/>
              <a:gd name="connsiteX49" fmla="*/ 390868 w 419319"/>
              <a:gd name="connsiteY49" fmla="*/ 158607 h 419109"/>
              <a:gd name="connsiteX50" fmla="*/ 387136 w 419319"/>
              <a:gd name="connsiteY50" fmla="*/ 182236 h 419109"/>
              <a:gd name="connsiteX51" fmla="*/ 388520 w 419319"/>
              <a:gd name="connsiteY51" fmla="*/ 182865 h 419109"/>
              <a:gd name="connsiteX52" fmla="*/ 407264 w 419319"/>
              <a:gd name="connsiteY52" fmla="*/ 199848 h 419109"/>
              <a:gd name="connsiteX53" fmla="*/ 419319 w 419319"/>
              <a:gd name="connsiteY53" fmla="*/ 261236 h 419109"/>
              <a:gd name="connsiteX54" fmla="*/ 392860 w 419319"/>
              <a:gd name="connsiteY54" fmla="*/ 324868 h 419109"/>
              <a:gd name="connsiteX55" fmla="*/ 366233 w 419319"/>
              <a:gd name="connsiteY55" fmla="*/ 339334 h 419109"/>
              <a:gd name="connsiteX56" fmla="*/ 344869 w 419319"/>
              <a:gd name="connsiteY56" fmla="*/ 384138 h 419109"/>
              <a:gd name="connsiteX57" fmla="*/ 274486 w 419319"/>
              <a:gd name="connsiteY57" fmla="*/ 419110 h 419109"/>
              <a:gd name="connsiteX58" fmla="*/ 241779 w 419319"/>
              <a:gd name="connsiteY58" fmla="*/ 410996 h 419109"/>
              <a:gd name="connsiteX59" fmla="*/ 225384 w 419319"/>
              <a:gd name="connsiteY59" fmla="*/ 380364 h 419109"/>
              <a:gd name="connsiteX60" fmla="*/ 225384 w 419319"/>
              <a:gd name="connsiteY60" fmla="*/ 314364 h 419109"/>
              <a:gd name="connsiteX61" fmla="*/ 125796 w 419319"/>
              <a:gd name="connsiteY61" fmla="*/ 136153 h 419109"/>
              <a:gd name="connsiteX62" fmla="*/ 136279 w 419319"/>
              <a:gd name="connsiteY62" fmla="*/ 125670 h 419109"/>
              <a:gd name="connsiteX63" fmla="*/ 146762 w 419319"/>
              <a:gd name="connsiteY63" fmla="*/ 136153 h 419109"/>
              <a:gd name="connsiteX64" fmla="*/ 136279 w 419319"/>
              <a:gd name="connsiteY64" fmla="*/ 146636 h 419109"/>
              <a:gd name="connsiteX65" fmla="*/ 125796 w 419319"/>
              <a:gd name="connsiteY65" fmla="*/ 136153 h 419109"/>
              <a:gd name="connsiteX66" fmla="*/ 136279 w 419319"/>
              <a:gd name="connsiteY66" fmla="*/ 272432 h 419109"/>
              <a:gd name="connsiteX67" fmla="*/ 125796 w 419319"/>
              <a:gd name="connsiteY67" fmla="*/ 282915 h 419109"/>
              <a:gd name="connsiteX68" fmla="*/ 136279 w 419319"/>
              <a:gd name="connsiteY68" fmla="*/ 293398 h 419109"/>
              <a:gd name="connsiteX69" fmla="*/ 146762 w 419319"/>
              <a:gd name="connsiteY69" fmla="*/ 282915 h 419109"/>
              <a:gd name="connsiteX70" fmla="*/ 136279 w 419319"/>
              <a:gd name="connsiteY70" fmla="*/ 272432 h 419109"/>
              <a:gd name="connsiteX71" fmla="*/ 293523 w 419319"/>
              <a:gd name="connsiteY71" fmla="*/ 178085 h 419109"/>
              <a:gd name="connsiteX72" fmla="*/ 304006 w 419319"/>
              <a:gd name="connsiteY72" fmla="*/ 188568 h 419109"/>
              <a:gd name="connsiteX73" fmla="*/ 314489 w 419319"/>
              <a:gd name="connsiteY73" fmla="*/ 178085 h 419109"/>
              <a:gd name="connsiteX74" fmla="*/ 304006 w 419319"/>
              <a:gd name="connsiteY74" fmla="*/ 167602 h 419109"/>
              <a:gd name="connsiteX75" fmla="*/ 293523 w 419319"/>
              <a:gd name="connsiteY75" fmla="*/ 178085 h 41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19319" h="419109">
                <a:moveTo>
                  <a:pt x="170663" y="0"/>
                </a:moveTo>
                <a:cubicBezTo>
                  <a:pt x="185486" y="0"/>
                  <a:pt x="193935" y="14760"/>
                  <a:pt x="193935" y="29583"/>
                </a:cubicBezTo>
                <a:lnTo>
                  <a:pt x="193935" y="120428"/>
                </a:lnTo>
                <a:lnTo>
                  <a:pt x="175171" y="120428"/>
                </a:lnTo>
                <a:cubicBezTo>
                  <a:pt x="166486" y="98960"/>
                  <a:pt x="142043" y="88597"/>
                  <a:pt x="120574" y="97281"/>
                </a:cubicBezTo>
                <a:cubicBezTo>
                  <a:pt x="99106" y="105965"/>
                  <a:pt x="88742" y="130409"/>
                  <a:pt x="97427" y="151877"/>
                </a:cubicBezTo>
                <a:cubicBezTo>
                  <a:pt x="106111" y="173346"/>
                  <a:pt x="130555" y="183709"/>
                  <a:pt x="152023" y="175025"/>
                </a:cubicBezTo>
                <a:cubicBezTo>
                  <a:pt x="162556" y="170764"/>
                  <a:pt x="170910" y="162411"/>
                  <a:pt x="175171" y="151877"/>
                </a:cubicBezTo>
                <a:lnTo>
                  <a:pt x="193935" y="151877"/>
                </a:lnTo>
                <a:lnTo>
                  <a:pt x="193935" y="380364"/>
                </a:lnTo>
                <a:cubicBezTo>
                  <a:pt x="193935" y="392860"/>
                  <a:pt x="188652" y="405293"/>
                  <a:pt x="177519" y="410975"/>
                </a:cubicBezTo>
                <a:cubicBezTo>
                  <a:pt x="167424" y="416262"/>
                  <a:pt x="156208" y="419052"/>
                  <a:pt x="144812" y="419110"/>
                </a:cubicBezTo>
                <a:cubicBezTo>
                  <a:pt x="113153" y="419110"/>
                  <a:pt x="89609" y="403092"/>
                  <a:pt x="74450" y="384138"/>
                </a:cubicBezTo>
                <a:cubicBezTo>
                  <a:pt x="63952" y="371059"/>
                  <a:pt x="56632" y="355722"/>
                  <a:pt x="53065" y="339334"/>
                </a:cubicBezTo>
                <a:cubicBezTo>
                  <a:pt x="43274" y="336445"/>
                  <a:pt x="34206" y="331515"/>
                  <a:pt x="26459" y="324868"/>
                </a:cubicBezTo>
                <a:cubicBezTo>
                  <a:pt x="11573" y="312057"/>
                  <a:pt x="0" y="291511"/>
                  <a:pt x="0" y="261236"/>
                </a:cubicBezTo>
                <a:cubicBezTo>
                  <a:pt x="0" y="245407"/>
                  <a:pt x="1132" y="231611"/>
                  <a:pt x="3984" y="220017"/>
                </a:cubicBezTo>
                <a:lnTo>
                  <a:pt x="92250" y="220017"/>
                </a:lnTo>
                <a:cubicBezTo>
                  <a:pt x="106465" y="220017"/>
                  <a:pt x="118248" y="230500"/>
                  <a:pt x="120240" y="244149"/>
                </a:cubicBezTo>
                <a:cubicBezTo>
                  <a:pt x="98840" y="253002"/>
                  <a:pt x="88670" y="277526"/>
                  <a:pt x="97523" y="298925"/>
                </a:cubicBezTo>
                <a:cubicBezTo>
                  <a:pt x="106376" y="320325"/>
                  <a:pt x="130900" y="330496"/>
                  <a:pt x="152299" y="321643"/>
                </a:cubicBezTo>
                <a:cubicBezTo>
                  <a:pt x="173699" y="312790"/>
                  <a:pt x="183870" y="288265"/>
                  <a:pt x="175017" y="266866"/>
                </a:cubicBezTo>
                <a:cubicBezTo>
                  <a:pt x="170694" y="256417"/>
                  <a:pt x="162335" y="248157"/>
                  <a:pt x="151835" y="243960"/>
                </a:cubicBezTo>
                <a:cubicBezTo>
                  <a:pt x="149551" y="212738"/>
                  <a:pt x="123556" y="188572"/>
                  <a:pt x="92250" y="188568"/>
                </a:cubicBezTo>
                <a:lnTo>
                  <a:pt x="21805" y="188568"/>
                </a:lnTo>
                <a:cubicBezTo>
                  <a:pt x="24944" y="185973"/>
                  <a:pt x="28439" y="183841"/>
                  <a:pt x="32183" y="182236"/>
                </a:cubicBezTo>
                <a:cubicBezTo>
                  <a:pt x="30022" y="174532"/>
                  <a:pt x="28769" y="166602"/>
                  <a:pt x="28451" y="158607"/>
                </a:cubicBezTo>
                <a:cubicBezTo>
                  <a:pt x="27759" y="143198"/>
                  <a:pt x="30065" y="127159"/>
                  <a:pt x="34636" y="112881"/>
                </a:cubicBezTo>
                <a:cubicBezTo>
                  <a:pt x="39164" y="98834"/>
                  <a:pt x="46335" y="85143"/>
                  <a:pt x="56398" y="75687"/>
                </a:cubicBezTo>
                <a:cubicBezTo>
                  <a:pt x="62711" y="69536"/>
                  <a:pt x="70709" y="65398"/>
                  <a:pt x="79377" y="63799"/>
                </a:cubicBezTo>
                <a:cubicBezTo>
                  <a:pt x="83549" y="46188"/>
                  <a:pt x="94179" y="31638"/>
                  <a:pt x="107744" y="21092"/>
                </a:cubicBezTo>
                <a:cubicBezTo>
                  <a:pt x="125167" y="7506"/>
                  <a:pt x="147999" y="0"/>
                  <a:pt x="170642" y="0"/>
                </a:cubicBezTo>
                <a:close/>
                <a:moveTo>
                  <a:pt x="225384" y="314364"/>
                </a:moveTo>
                <a:lnTo>
                  <a:pt x="259978" y="314364"/>
                </a:lnTo>
                <a:cubicBezTo>
                  <a:pt x="292979" y="314364"/>
                  <a:pt x="319731" y="287611"/>
                  <a:pt x="319731" y="254611"/>
                </a:cubicBezTo>
                <a:lnTo>
                  <a:pt x="319731" y="216977"/>
                </a:lnTo>
                <a:cubicBezTo>
                  <a:pt x="341199" y="208292"/>
                  <a:pt x="351563" y="183849"/>
                  <a:pt x="342878" y="162380"/>
                </a:cubicBezTo>
                <a:cubicBezTo>
                  <a:pt x="334194" y="140912"/>
                  <a:pt x="309750" y="130548"/>
                  <a:pt x="288282" y="139233"/>
                </a:cubicBezTo>
                <a:cubicBezTo>
                  <a:pt x="266814" y="147917"/>
                  <a:pt x="256450" y="172361"/>
                  <a:pt x="265134" y="193829"/>
                </a:cubicBezTo>
                <a:cubicBezTo>
                  <a:pt x="269395" y="204363"/>
                  <a:pt x="277749" y="212716"/>
                  <a:pt x="288282" y="216977"/>
                </a:cubicBezTo>
                <a:lnTo>
                  <a:pt x="288282" y="254611"/>
                </a:lnTo>
                <a:cubicBezTo>
                  <a:pt x="288282" y="270242"/>
                  <a:pt x="275610" y="282915"/>
                  <a:pt x="259978" y="282915"/>
                </a:cubicBezTo>
                <a:lnTo>
                  <a:pt x="225384" y="282915"/>
                </a:lnTo>
                <a:lnTo>
                  <a:pt x="225384" y="29583"/>
                </a:lnTo>
                <a:cubicBezTo>
                  <a:pt x="225384" y="14760"/>
                  <a:pt x="233833" y="0"/>
                  <a:pt x="248656" y="0"/>
                </a:cubicBezTo>
                <a:cubicBezTo>
                  <a:pt x="271341" y="0"/>
                  <a:pt x="294152" y="7506"/>
                  <a:pt x="311575" y="21092"/>
                </a:cubicBezTo>
                <a:cubicBezTo>
                  <a:pt x="325140" y="31638"/>
                  <a:pt x="335770" y="46209"/>
                  <a:pt x="339942" y="63799"/>
                </a:cubicBezTo>
                <a:cubicBezTo>
                  <a:pt x="348748" y="65267"/>
                  <a:pt x="356589" y="69754"/>
                  <a:pt x="362921" y="75687"/>
                </a:cubicBezTo>
                <a:cubicBezTo>
                  <a:pt x="372984" y="85143"/>
                  <a:pt x="380155" y="98813"/>
                  <a:pt x="384683" y="112881"/>
                </a:cubicBezTo>
                <a:cubicBezTo>
                  <a:pt x="389254" y="127159"/>
                  <a:pt x="391560" y="143198"/>
                  <a:pt x="390868" y="158607"/>
                </a:cubicBezTo>
                <a:cubicBezTo>
                  <a:pt x="390512" y="166491"/>
                  <a:pt x="389359" y="174542"/>
                  <a:pt x="387136" y="182236"/>
                </a:cubicBezTo>
                <a:lnTo>
                  <a:pt x="388520" y="182865"/>
                </a:lnTo>
                <a:cubicBezTo>
                  <a:pt x="396278" y="186513"/>
                  <a:pt x="402567" y="192237"/>
                  <a:pt x="407264" y="199848"/>
                </a:cubicBezTo>
                <a:cubicBezTo>
                  <a:pt x="416174" y="214209"/>
                  <a:pt x="419319" y="234882"/>
                  <a:pt x="419319" y="261236"/>
                </a:cubicBezTo>
                <a:cubicBezTo>
                  <a:pt x="419319" y="291532"/>
                  <a:pt x="407746" y="312099"/>
                  <a:pt x="392860" y="324868"/>
                </a:cubicBezTo>
                <a:cubicBezTo>
                  <a:pt x="385107" y="331517"/>
                  <a:pt x="376032" y="336448"/>
                  <a:pt x="366233" y="339334"/>
                </a:cubicBezTo>
                <a:cubicBezTo>
                  <a:pt x="362672" y="355720"/>
                  <a:pt x="355359" y="371056"/>
                  <a:pt x="344869" y="384138"/>
                </a:cubicBezTo>
                <a:cubicBezTo>
                  <a:pt x="329711" y="403092"/>
                  <a:pt x="306166" y="419110"/>
                  <a:pt x="274486" y="419110"/>
                </a:cubicBezTo>
                <a:cubicBezTo>
                  <a:pt x="263092" y="419059"/>
                  <a:pt x="251876" y="416276"/>
                  <a:pt x="241779" y="410996"/>
                </a:cubicBezTo>
                <a:cubicBezTo>
                  <a:pt x="230667" y="405293"/>
                  <a:pt x="225384" y="392860"/>
                  <a:pt x="225384" y="380364"/>
                </a:cubicBezTo>
                <a:lnTo>
                  <a:pt x="225384" y="314364"/>
                </a:lnTo>
                <a:close/>
                <a:moveTo>
                  <a:pt x="125796" y="136153"/>
                </a:moveTo>
                <a:cubicBezTo>
                  <a:pt x="125796" y="130363"/>
                  <a:pt x="130489" y="125670"/>
                  <a:pt x="136279" y="125670"/>
                </a:cubicBezTo>
                <a:cubicBezTo>
                  <a:pt x="142068" y="125670"/>
                  <a:pt x="146762" y="130363"/>
                  <a:pt x="146762" y="136153"/>
                </a:cubicBezTo>
                <a:cubicBezTo>
                  <a:pt x="146762" y="141943"/>
                  <a:pt x="142068" y="146636"/>
                  <a:pt x="136279" y="146636"/>
                </a:cubicBezTo>
                <a:cubicBezTo>
                  <a:pt x="130489" y="146636"/>
                  <a:pt x="125796" y="141943"/>
                  <a:pt x="125796" y="136153"/>
                </a:cubicBezTo>
                <a:close/>
                <a:moveTo>
                  <a:pt x="136279" y="272432"/>
                </a:moveTo>
                <a:cubicBezTo>
                  <a:pt x="130489" y="272432"/>
                  <a:pt x="125796" y="277125"/>
                  <a:pt x="125796" y="282915"/>
                </a:cubicBezTo>
                <a:cubicBezTo>
                  <a:pt x="125796" y="288704"/>
                  <a:pt x="130489" y="293398"/>
                  <a:pt x="136279" y="293398"/>
                </a:cubicBezTo>
                <a:cubicBezTo>
                  <a:pt x="142068" y="293398"/>
                  <a:pt x="146762" y="288704"/>
                  <a:pt x="146762" y="282915"/>
                </a:cubicBezTo>
                <a:cubicBezTo>
                  <a:pt x="146762" y="277125"/>
                  <a:pt x="142068" y="272432"/>
                  <a:pt x="136279" y="272432"/>
                </a:cubicBezTo>
                <a:close/>
                <a:moveTo>
                  <a:pt x="293523" y="178085"/>
                </a:moveTo>
                <a:cubicBezTo>
                  <a:pt x="293523" y="183874"/>
                  <a:pt x="298217" y="188568"/>
                  <a:pt x="304006" y="188568"/>
                </a:cubicBezTo>
                <a:cubicBezTo>
                  <a:pt x="309796" y="188568"/>
                  <a:pt x="314489" y="183874"/>
                  <a:pt x="314489" y="178085"/>
                </a:cubicBezTo>
                <a:cubicBezTo>
                  <a:pt x="314489" y="172295"/>
                  <a:pt x="309796" y="167602"/>
                  <a:pt x="304006" y="167602"/>
                </a:cubicBezTo>
                <a:cubicBezTo>
                  <a:pt x="298217" y="167602"/>
                  <a:pt x="293523" y="172295"/>
                  <a:pt x="293523" y="178085"/>
                </a:cubicBezTo>
                <a:close/>
              </a:path>
            </a:pathLst>
          </a:custGeom>
          <a:gradFill flip="none" rotWithShape="1">
            <a:gsLst>
              <a:gs pos="0">
                <a:schemeClr val="tx2"/>
              </a:gs>
              <a:gs pos="100000">
                <a:schemeClr val="accent6"/>
              </a:gs>
              <a:gs pos="58000">
                <a:srgbClr val="4363CE"/>
              </a:gs>
              <a:gs pos="0">
                <a:schemeClr val="accent3"/>
              </a:gs>
            </a:gsLst>
            <a:lin ang="2700000" scaled="1"/>
            <a:tileRect/>
          </a:gradFill>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gradFill flip="none" rotWithShape="1">
                <a:gsLst>
                  <a:gs pos="1629">
                    <a:srgbClr val="2F2F2F"/>
                  </a:gs>
                  <a:gs pos="39000">
                    <a:srgbClr val="2F2F2F"/>
                  </a:gs>
                </a:gsLst>
                <a:lin ang="2700000" scaled="1"/>
                <a:tileRect/>
              </a:gradFill>
              <a:effectLst/>
              <a:uLnTx/>
              <a:uFillTx/>
              <a:latin typeface="Segoe UI Semibold"/>
              <a:ea typeface="+mn-ea"/>
              <a:cs typeface="+mn-cs"/>
            </a:endParaRPr>
          </a:p>
        </p:txBody>
      </p:sp>
      <p:sp>
        <p:nvSpPr>
          <p:cNvPr id="43" name="Graphic 41">
            <a:extLst>
              <a:ext uri="{FF2B5EF4-FFF2-40B4-BE49-F238E27FC236}">
                <a16:creationId xmlns:a16="http://schemas.microsoft.com/office/drawing/2014/main" id="{FDD470C5-DE00-39D4-06E9-1D20D13D90C2}"/>
              </a:ext>
              <a:ext uri="{C183D7F6-B498-43B3-948B-1728B52AA6E4}">
                <adec:decorative xmlns:adec="http://schemas.microsoft.com/office/drawing/2017/decorative" val="1"/>
              </a:ext>
            </a:extLst>
          </p:cNvPr>
          <p:cNvSpPr/>
          <p:nvPr/>
        </p:nvSpPr>
        <p:spPr>
          <a:xfrm>
            <a:off x="4473073" y="2917319"/>
            <a:ext cx="467010" cy="350284"/>
          </a:xfrm>
          <a:custGeom>
            <a:avLst/>
            <a:gdLst>
              <a:gd name="connsiteX0" fmla="*/ 33789 w 900902"/>
              <a:gd name="connsiteY0" fmla="*/ 45 h 675727"/>
              <a:gd name="connsiteX1" fmla="*/ 67263 w 900902"/>
              <a:gd name="connsiteY1" fmla="*/ 29239 h 675727"/>
              <a:gd name="connsiteX2" fmla="*/ 67578 w 900902"/>
              <a:gd name="connsiteY2" fmla="*/ 33834 h 675727"/>
              <a:gd name="connsiteX3" fmla="*/ 67578 w 900902"/>
              <a:gd name="connsiteY3" fmla="*/ 641993 h 675727"/>
              <a:gd name="connsiteX4" fmla="*/ 33734 w 900902"/>
              <a:gd name="connsiteY4" fmla="*/ 675727 h 675727"/>
              <a:gd name="connsiteX5" fmla="*/ 315 w 900902"/>
              <a:gd name="connsiteY5" fmla="*/ 646544 h 675727"/>
              <a:gd name="connsiteX6" fmla="*/ 0 w 900902"/>
              <a:gd name="connsiteY6" fmla="*/ 641993 h 675727"/>
              <a:gd name="connsiteX7" fmla="*/ 0 w 900902"/>
              <a:gd name="connsiteY7" fmla="*/ 33789 h 675727"/>
              <a:gd name="connsiteX8" fmla="*/ 33789 w 900902"/>
              <a:gd name="connsiteY8" fmla="*/ 0 h 675727"/>
              <a:gd name="connsiteX9" fmla="*/ 595139 w 900902"/>
              <a:gd name="connsiteY9" fmla="*/ 84878 h 675727"/>
              <a:gd name="connsiteX10" fmla="*/ 598878 w 900902"/>
              <a:gd name="connsiteY10" fmla="*/ 80643 h 675727"/>
              <a:gd name="connsiteX11" fmla="*/ 658347 w 900902"/>
              <a:gd name="connsiteY11" fmla="*/ 76904 h 675727"/>
              <a:gd name="connsiteX12" fmla="*/ 662582 w 900902"/>
              <a:gd name="connsiteY12" fmla="*/ 80643 h 675727"/>
              <a:gd name="connsiteX13" fmla="*/ 887708 w 900902"/>
              <a:gd name="connsiteY13" fmla="*/ 305814 h 675727"/>
              <a:gd name="connsiteX14" fmla="*/ 891447 w 900902"/>
              <a:gd name="connsiteY14" fmla="*/ 365283 h 675727"/>
              <a:gd name="connsiteX15" fmla="*/ 887708 w 900902"/>
              <a:gd name="connsiteY15" fmla="*/ 369473 h 675727"/>
              <a:gd name="connsiteX16" fmla="*/ 662627 w 900902"/>
              <a:gd name="connsiteY16" fmla="*/ 594914 h 675727"/>
              <a:gd name="connsiteX17" fmla="*/ 598918 w 900902"/>
              <a:gd name="connsiteY17" fmla="*/ 595673 h 675727"/>
              <a:gd name="connsiteX18" fmla="*/ 595094 w 900902"/>
              <a:gd name="connsiteY18" fmla="*/ 535445 h 675727"/>
              <a:gd name="connsiteX19" fmla="*/ 598833 w 900902"/>
              <a:gd name="connsiteY19" fmla="*/ 531210 h 675727"/>
              <a:gd name="connsiteX20" fmla="*/ 747010 w 900902"/>
              <a:gd name="connsiteY20" fmla="*/ 382808 h 675727"/>
              <a:gd name="connsiteX21" fmla="*/ 180209 w 900902"/>
              <a:gd name="connsiteY21" fmla="*/ 382808 h 675727"/>
              <a:gd name="connsiteX22" fmla="*/ 135472 w 900902"/>
              <a:gd name="connsiteY22" fmla="*/ 343027 h 675727"/>
              <a:gd name="connsiteX23" fmla="*/ 135157 w 900902"/>
              <a:gd name="connsiteY23" fmla="*/ 337756 h 675727"/>
              <a:gd name="connsiteX24" fmla="*/ 174938 w 900902"/>
              <a:gd name="connsiteY24" fmla="*/ 293019 h 675727"/>
              <a:gd name="connsiteX25" fmla="*/ 180209 w 900902"/>
              <a:gd name="connsiteY25" fmla="*/ 292704 h 675727"/>
              <a:gd name="connsiteX26" fmla="*/ 747145 w 900902"/>
              <a:gd name="connsiteY26" fmla="*/ 292704 h 675727"/>
              <a:gd name="connsiteX27" fmla="*/ 598878 w 900902"/>
              <a:gd name="connsiteY27" fmla="*/ 144347 h 675727"/>
              <a:gd name="connsiteX28" fmla="*/ 595139 w 900902"/>
              <a:gd name="connsiteY28" fmla="*/ 84878 h 675727"/>
              <a:gd name="connsiteX29" fmla="*/ 598878 w 900902"/>
              <a:gd name="connsiteY29" fmla="*/ 80643 h 675727"/>
              <a:gd name="connsiteX30" fmla="*/ 595139 w 900902"/>
              <a:gd name="connsiteY30" fmla="*/ 84878 h 675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0902" h="675727">
                <a:moveTo>
                  <a:pt x="33789" y="45"/>
                </a:moveTo>
                <a:cubicBezTo>
                  <a:pt x="50674" y="46"/>
                  <a:pt x="64967" y="12511"/>
                  <a:pt x="67263" y="29239"/>
                </a:cubicBezTo>
                <a:lnTo>
                  <a:pt x="67578" y="33834"/>
                </a:lnTo>
                <a:lnTo>
                  <a:pt x="67578" y="641993"/>
                </a:lnTo>
                <a:cubicBezTo>
                  <a:pt x="67548" y="660655"/>
                  <a:pt x="52395" y="675758"/>
                  <a:pt x="33734" y="675727"/>
                </a:cubicBezTo>
                <a:cubicBezTo>
                  <a:pt x="16873" y="675700"/>
                  <a:pt x="2613" y="663247"/>
                  <a:pt x="315" y="646544"/>
                </a:cubicBezTo>
                <a:lnTo>
                  <a:pt x="0" y="641993"/>
                </a:lnTo>
                <a:lnTo>
                  <a:pt x="0" y="33789"/>
                </a:lnTo>
                <a:cubicBezTo>
                  <a:pt x="0" y="15128"/>
                  <a:pt x="15128" y="0"/>
                  <a:pt x="33789" y="0"/>
                </a:cubicBezTo>
                <a:close/>
                <a:moveTo>
                  <a:pt x="595139" y="84878"/>
                </a:moveTo>
                <a:lnTo>
                  <a:pt x="598878" y="80643"/>
                </a:lnTo>
                <a:cubicBezTo>
                  <a:pt x="614929" y="64594"/>
                  <a:pt x="640413" y="62992"/>
                  <a:pt x="658347" y="76904"/>
                </a:cubicBezTo>
                <a:lnTo>
                  <a:pt x="662582" y="80643"/>
                </a:lnTo>
                <a:lnTo>
                  <a:pt x="887708" y="305814"/>
                </a:lnTo>
                <a:cubicBezTo>
                  <a:pt x="903757" y="321865"/>
                  <a:pt x="905359" y="347348"/>
                  <a:pt x="891447" y="365283"/>
                </a:cubicBezTo>
                <a:lnTo>
                  <a:pt x="887708" y="369473"/>
                </a:lnTo>
                <a:lnTo>
                  <a:pt x="662627" y="594914"/>
                </a:lnTo>
                <a:cubicBezTo>
                  <a:pt x="645244" y="612716"/>
                  <a:pt x="616721" y="613056"/>
                  <a:pt x="598918" y="595673"/>
                </a:cubicBezTo>
                <a:cubicBezTo>
                  <a:pt x="582399" y="579543"/>
                  <a:pt x="580748" y="553535"/>
                  <a:pt x="595094" y="535445"/>
                </a:cubicBezTo>
                <a:lnTo>
                  <a:pt x="598833" y="531210"/>
                </a:lnTo>
                <a:lnTo>
                  <a:pt x="747010" y="382808"/>
                </a:lnTo>
                <a:lnTo>
                  <a:pt x="180209" y="382808"/>
                </a:lnTo>
                <a:cubicBezTo>
                  <a:pt x="157368" y="382805"/>
                  <a:pt x="138144" y="365711"/>
                  <a:pt x="135472" y="343027"/>
                </a:cubicBezTo>
                <a:lnTo>
                  <a:pt x="135157" y="337756"/>
                </a:lnTo>
                <a:cubicBezTo>
                  <a:pt x="135160" y="314916"/>
                  <a:pt x="152254" y="295692"/>
                  <a:pt x="174938" y="293019"/>
                </a:cubicBezTo>
                <a:lnTo>
                  <a:pt x="180209" y="292704"/>
                </a:lnTo>
                <a:lnTo>
                  <a:pt x="747145" y="292704"/>
                </a:lnTo>
                <a:lnTo>
                  <a:pt x="598878" y="144347"/>
                </a:lnTo>
                <a:cubicBezTo>
                  <a:pt x="582829" y="128296"/>
                  <a:pt x="581227" y="102813"/>
                  <a:pt x="595139" y="84878"/>
                </a:cubicBezTo>
                <a:lnTo>
                  <a:pt x="598878" y="80643"/>
                </a:lnTo>
                <a:lnTo>
                  <a:pt x="595139" y="84878"/>
                </a:lnTo>
                <a:close/>
              </a:path>
            </a:pathLst>
          </a:custGeom>
          <a:gradFill flip="none" rotWithShape="1">
            <a:gsLst>
              <a:gs pos="0">
                <a:schemeClr val="tx2"/>
              </a:gs>
              <a:gs pos="100000">
                <a:schemeClr val="accent6"/>
              </a:gs>
              <a:gs pos="58000">
                <a:srgbClr val="4363CE"/>
              </a:gs>
              <a:gs pos="0">
                <a:schemeClr val="accent3"/>
              </a:gs>
            </a:gsLst>
            <a:lin ang="2700000" scaled="1"/>
            <a:tileRect/>
          </a:gradFill>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gradFill flip="none" rotWithShape="1">
                <a:gsLst>
                  <a:gs pos="1629">
                    <a:srgbClr val="2F2F2F"/>
                  </a:gs>
                  <a:gs pos="39000">
                    <a:srgbClr val="2F2F2F"/>
                  </a:gs>
                </a:gsLst>
                <a:lin ang="2700000" scaled="1"/>
                <a:tileRect/>
              </a:gradFill>
              <a:effectLst/>
              <a:uLnTx/>
              <a:uFillTx/>
              <a:latin typeface="Segoe UI Semibold"/>
              <a:ea typeface="+mn-ea"/>
              <a:cs typeface="+mn-cs"/>
            </a:endParaRPr>
          </a:p>
        </p:txBody>
      </p:sp>
    </p:spTree>
    <p:extLst>
      <p:ext uri="{BB962C8B-B14F-4D97-AF65-F5344CB8AC3E}">
        <p14:creationId xmlns:p14="http://schemas.microsoft.com/office/powerpoint/2010/main" val="33219231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42" presetClass="path" presetSubtype="0" decel="100000" fill="hold" grpId="1" nodeType="withEffect">
                                  <p:stCondLst>
                                    <p:cond delay="0"/>
                                  </p:stCondLst>
                                  <p:childTnLst>
                                    <p:animMotion origin="layout" path="M 0.02552 2.59259E-6 L -1.04167E-6 2.59259E-6 " pathEditMode="relative" rAng="0" ptsTypes="AA">
                                      <p:cBhvr>
                                        <p:cTn id="9" dur="600" fill="hold"/>
                                        <p:tgtEl>
                                          <p:spTgt spid="14"/>
                                        </p:tgtEl>
                                        <p:attrNameLst>
                                          <p:attrName>ppt_x</p:attrName>
                                          <p:attrName>ppt_y</p:attrName>
                                        </p:attrNameLst>
                                      </p:cBhvr>
                                      <p:rCtr x="-1276" y="0"/>
                                    </p:animMotion>
                                  </p:childTnLst>
                                </p:cTn>
                              </p:par>
                              <p:par>
                                <p:cTn id="10" presetID="10" presetClass="entr" presetSubtype="0" fill="hold" grpId="0" nodeType="withEffect">
                                  <p:stCondLst>
                                    <p:cond delay="2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42" presetClass="path" presetSubtype="0" decel="100000" fill="hold" grpId="1" nodeType="withEffect">
                                  <p:stCondLst>
                                    <p:cond delay="200"/>
                                  </p:stCondLst>
                                  <p:childTnLst>
                                    <p:animMotion origin="layout" path="M 0.02552 7.40741E-7 L -1.04167E-6 7.40741E-7 " pathEditMode="relative" rAng="0" ptsTypes="AA">
                                      <p:cBhvr>
                                        <p:cTn id="14" dur="600" fill="hold"/>
                                        <p:tgtEl>
                                          <p:spTgt spid="15"/>
                                        </p:tgtEl>
                                        <p:attrNameLst>
                                          <p:attrName>ppt_x</p:attrName>
                                          <p:attrName>ppt_y</p:attrName>
                                        </p:attrNameLst>
                                      </p:cBhvr>
                                      <p:rCtr x="-1276" y="0"/>
                                    </p:animMotion>
                                  </p:childTnLst>
                                </p:cTn>
                              </p:par>
                              <p:par>
                                <p:cTn id="15" presetID="10" presetClass="entr" presetSubtype="0" fill="hold" grpId="0" nodeType="withEffect">
                                  <p:stCondLst>
                                    <p:cond delay="40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42" presetClass="path" presetSubtype="0" decel="100000" fill="hold" grpId="1" nodeType="withEffect">
                                  <p:stCondLst>
                                    <p:cond delay="400"/>
                                  </p:stCondLst>
                                  <p:childTnLst>
                                    <p:animMotion origin="layout" path="M 0.02552 0 L -1.04167E-6 0 " pathEditMode="relative" rAng="0" ptsTypes="AA">
                                      <p:cBhvr>
                                        <p:cTn id="19" dur="600" fill="hold"/>
                                        <p:tgtEl>
                                          <p:spTgt spid="17"/>
                                        </p:tgtEl>
                                        <p:attrNameLst>
                                          <p:attrName>ppt_x</p:attrName>
                                          <p:attrName>ppt_y</p:attrName>
                                        </p:attrNameLst>
                                      </p:cBhvr>
                                      <p:rCtr x="-1276" y="0"/>
                                    </p:animMotion>
                                  </p:childTnLst>
                                </p:cTn>
                              </p:par>
                              <p:par>
                                <p:cTn id="20" presetID="10" presetClass="entr" presetSubtype="0" fill="hold" grpId="0" nodeType="withEffect">
                                  <p:stCondLst>
                                    <p:cond delay="6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42" presetClass="path" presetSubtype="0" decel="100000" fill="hold" grpId="1" nodeType="withEffect">
                                  <p:stCondLst>
                                    <p:cond delay="600"/>
                                  </p:stCondLst>
                                  <p:childTnLst>
                                    <p:animMotion origin="layout" path="M 0.02552 -7.40741E-7 L -1.04167E-6 -7.40741E-7 " pathEditMode="relative" rAng="0" ptsTypes="AA">
                                      <p:cBhvr>
                                        <p:cTn id="24" dur="600" fill="hold"/>
                                        <p:tgtEl>
                                          <p:spTgt spid="18"/>
                                        </p:tgtEl>
                                        <p:attrNameLst>
                                          <p:attrName>ppt_x</p:attrName>
                                          <p:attrName>ppt_y</p:attrName>
                                        </p:attrNameLst>
                                      </p:cBhvr>
                                      <p:rCtr x="-1276" y="0"/>
                                    </p:animMotion>
                                  </p:childTnLst>
                                </p:cTn>
                              </p:par>
                              <p:par>
                                <p:cTn id="25" presetID="10"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500"/>
                                        <p:tgtEl>
                                          <p:spTgt spid="40"/>
                                        </p:tgtEl>
                                      </p:cBhvr>
                                    </p:animEffect>
                                  </p:childTnLst>
                                </p:cTn>
                              </p:par>
                              <p:par>
                                <p:cTn id="28" presetID="42" presetClass="path" presetSubtype="0" decel="100000" fill="hold" grpId="1" nodeType="withEffect">
                                  <p:stCondLst>
                                    <p:cond delay="0"/>
                                  </p:stCondLst>
                                  <p:childTnLst>
                                    <p:animMotion origin="layout" path="M -0.03034 -1.11111E-6 L 2.29167E-6 -1.11111E-6 " pathEditMode="relative" rAng="0" ptsTypes="AA">
                                      <p:cBhvr>
                                        <p:cTn id="29" dur="600" fill="hold"/>
                                        <p:tgtEl>
                                          <p:spTgt spid="40"/>
                                        </p:tgtEl>
                                        <p:attrNameLst>
                                          <p:attrName>ppt_x</p:attrName>
                                          <p:attrName>ppt_y</p:attrName>
                                        </p:attrNameLst>
                                      </p:cBhvr>
                                      <p:rCtr x="1510" y="0"/>
                                    </p:animMotion>
                                  </p:childTnLst>
                                </p:cTn>
                              </p:par>
                              <p:par>
                                <p:cTn id="30" presetID="10" presetClass="entr" presetSubtype="0" fill="hold" grpId="0" nodeType="withEffect">
                                  <p:stCondLst>
                                    <p:cond delay="20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500"/>
                                        <p:tgtEl>
                                          <p:spTgt spid="43"/>
                                        </p:tgtEl>
                                      </p:cBhvr>
                                    </p:animEffect>
                                  </p:childTnLst>
                                </p:cTn>
                              </p:par>
                              <p:par>
                                <p:cTn id="33" presetID="42" presetClass="path" presetSubtype="0" decel="100000" fill="hold" grpId="1" nodeType="withEffect">
                                  <p:stCondLst>
                                    <p:cond delay="200"/>
                                  </p:stCondLst>
                                  <p:childTnLst>
                                    <p:animMotion origin="layout" path="M -0.03033 1.48148E-6 L -4.16667E-6 1.48148E-6 " pathEditMode="relative" rAng="0" ptsTypes="AA">
                                      <p:cBhvr>
                                        <p:cTn id="34" dur="600" fill="hold"/>
                                        <p:tgtEl>
                                          <p:spTgt spid="43"/>
                                        </p:tgtEl>
                                        <p:attrNameLst>
                                          <p:attrName>ppt_x</p:attrName>
                                          <p:attrName>ppt_y</p:attrName>
                                        </p:attrNameLst>
                                      </p:cBhvr>
                                      <p:rCtr x="1510" y="0"/>
                                    </p:animMotion>
                                  </p:childTnLst>
                                </p:cTn>
                              </p:par>
                              <p:par>
                                <p:cTn id="35" presetID="10" presetClass="entr" presetSubtype="0" fill="hold" nodeType="withEffect">
                                  <p:stCondLst>
                                    <p:cond delay="40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par>
                                <p:cTn id="38" presetID="42" presetClass="path" presetSubtype="0" decel="100000" fill="hold" nodeType="withEffect">
                                  <p:stCondLst>
                                    <p:cond delay="400"/>
                                  </p:stCondLst>
                                  <p:childTnLst>
                                    <p:animMotion origin="layout" path="M -0.03034 -2.59259E-6 L 2.29167E-6 -2.59259E-6 " pathEditMode="relative" rAng="0" ptsTypes="AA">
                                      <p:cBhvr>
                                        <p:cTn id="39" dur="600" fill="hold"/>
                                        <p:tgtEl>
                                          <p:spTgt spid="33"/>
                                        </p:tgtEl>
                                        <p:attrNameLst>
                                          <p:attrName>ppt_x</p:attrName>
                                          <p:attrName>ppt_y</p:attrName>
                                        </p:attrNameLst>
                                      </p:cBhvr>
                                      <p:rCtr x="1510" y="0"/>
                                    </p:animMotion>
                                  </p:childTnLst>
                                </p:cTn>
                              </p:par>
                              <p:par>
                                <p:cTn id="40" presetID="10" presetClass="entr" presetSubtype="0" fill="hold" grpId="0" nodeType="withEffect">
                                  <p:stCondLst>
                                    <p:cond delay="60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500"/>
                                        <p:tgtEl>
                                          <p:spTgt spid="37"/>
                                        </p:tgtEl>
                                      </p:cBhvr>
                                    </p:animEffect>
                                  </p:childTnLst>
                                </p:cTn>
                              </p:par>
                              <p:par>
                                <p:cTn id="43" presetID="42" presetClass="path" presetSubtype="0" decel="100000" fill="hold" grpId="1" nodeType="withEffect">
                                  <p:stCondLst>
                                    <p:cond delay="600"/>
                                  </p:stCondLst>
                                  <p:childTnLst>
                                    <p:animMotion origin="layout" path="M -0.03034 -1.11111E-6 L 2.29167E-6 -1.11111E-6 " pathEditMode="relative" rAng="0" ptsTypes="AA">
                                      <p:cBhvr>
                                        <p:cTn id="44" dur="600" fill="hold"/>
                                        <p:tgtEl>
                                          <p:spTgt spid="37"/>
                                        </p:tgtEl>
                                        <p:attrNameLst>
                                          <p:attrName>ppt_x</p:attrName>
                                          <p:attrName>ppt_y</p:attrName>
                                        </p:attrNameLst>
                                      </p:cBhvr>
                                      <p:rCtr x="151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p:bldP spid="15" grpId="1"/>
      <p:bldP spid="17" grpId="0"/>
      <p:bldP spid="17" grpId="1"/>
      <p:bldP spid="18" grpId="0"/>
      <p:bldP spid="18" grpId="1"/>
      <p:bldP spid="37" grpId="0" animBg="1"/>
      <p:bldP spid="37" grpId="1" animBg="1"/>
      <p:bldP spid="40" grpId="0" animBg="1"/>
      <p:bldP spid="40" grpId="1" animBg="1"/>
      <p:bldP spid="43" grpId="0" animBg="1"/>
      <p:bldP spid="43"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31D83-5AAB-A0D1-F3A7-CC1EFB06BD72}"/>
            </a:ext>
          </a:extLst>
        </p:cNvPr>
        <p:cNvGrpSpPr/>
        <p:nvPr/>
      </p:nvGrpSpPr>
      <p:grpSpPr>
        <a:xfrm>
          <a:off x="0" y="0"/>
          <a:ext cx="0" cy="0"/>
          <a:chOff x="0" y="0"/>
          <a:chExt cx="0" cy="0"/>
        </a:xfrm>
      </p:grpSpPr>
      <p:sp>
        <p:nvSpPr>
          <p:cNvPr id="5" name="Rounded Rectangle 2">
            <a:extLst>
              <a:ext uri="{FF2B5EF4-FFF2-40B4-BE49-F238E27FC236}">
                <a16:creationId xmlns:a16="http://schemas.microsoft.com/office/drawing/2014/main" id="{E7C7109D-B4AE-110F-3244-4E02C6A2140E}"/>
              </a:ext>
            </a:extLst>
          </p:cNvPr>
          <p:cNvSpPr/>
          <p:nvPr/>
        </p:nvSpPr>
        <p:spPr>
          <a:xfrm>
            <a:off x="649794" y="1081825"/>
            <a:ext cx="10892412" cy="818808"/>
          </a:xfrm>
          <a:prstGeom prst="roundRect">
            <a:avLst>
              <a:gd name="adj" fmla="val 27652"/>
            </a:avLst>
          </a:prstGeom>
          <a:solidFill>
            <a:schemeClr val="bg1"/>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594360" tIns="91440" r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           </a:t>
            </a:r>
          </a:p>
        </p:txBody>
      </p:sp>
      <p:sp>
        <p:nvSpPr>
          <p:cNvPr id="13" name="Rounded Rectangle 16">
            <a:extLst>
              <a:ext uri="{FF2B5EF4-FFF2-40B4-BE49-F238E27FC236}">
                <a16:creationId xmlns:a16="http://schemas.microsoft.com/office/drawing/2014/main" id="{22E1F5DF-5070-5C0C-5187-DC3669477092}"/>
              </a:ext>
              <a:ext uri="{C183D7F6-B498-43B3-948B-1728B52AA6E4}">
                <adec:decorative xmlns:adec="http://schemas.microsoft.com/office/drawing/2017/decorative" val="1"/>
              </a:ext>
            </a:extLst>
          </p:cNvPr>
          <p:cNvSpPr>
            <a:spLocks/>
          </p:cNvSpPr>
          <p:nvPr/>
        </p:nvSpPr>
        <p:spPr>
          <a:xfrm>
            <a:off x="649794" y="1996055"/>
            <a:ext cx="10892412" cy="4230177"/>
          </a:xfrm>
          <a:prstGeom prst="roundRect">
            <a:avLst>
              <a:gd name="adj" fmla="val 3468"/>
            </a:avLst>
          </a:prstGeom>
          <a:gradFill>
            <a:gsLst>
              <a:gs pos="1149">
                <a:srgbClr val="302EC9">
                  <a:alpha val="10000"/>
                </a:srgbClr>
              </a:gs>
              <a:gs pos="100000">
                <a:srgbClr val="8988E6">
                  <a:alpha val="10000"/>
                </a:srgbClr>
              </a:gs>
            </a:gsLst>
            <a:lin ang="2700000" scaled="0"/>
          </a:gradFill>
          <a:ln w="25400">
            <a:gradFill>
              <a:gsLst>
                <a:gs pos="95000">
                  <a:srgbClr val="8988E6"/>
                </a:gs>
                <a:gs pos="0">
                  <a:schemeClr val="accent2">
                    <a:lumMod val="50000"/>
                  </a:schemeClr>
                </a:gs>
                <a:gs pos="47000">
                  <a:srgbClr val="302EC9"/>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Text Semibold"/>
              <a:ea typeface="+mn-ea"/>
              <a:cs typeface="Segoe UI" panose="020B0502040204020203" pitchFamily="34" charset="0"/>
            </a:endParaRPr>
          </a:p>
        </p:txBody>
      </p:sp>
      <p:grpSp>
        <p:nvGrpSpPr>
          <p:cNvPr id="20" name="Group 19">
            <a:extLst>
              <a:ext uri="{FF2B5EF4-FFF2-40B4-BE49-F238E27FC236}">
                <a16:creationId xmlns:a16="http://schemas.microsoft.com/office/drawing/2014/main" id="{401450F7-ED67-A46C-FE5B-B83566FB79EF}"/>
              </a:ext>
            </a:extLst>
          </p:cNvPr>
          <p:cNvGrpSpPr/>
          <p:nvPr/>
        </p:nvGrpSpPr>
        <p:grpSpPr>
          <a:xfrm>
            <a:off x="846376" y="4347340"/>
            <a:ext cx="10501088" cy="640080"/>
            <a:chOff x="843267" y="4015099"/>
            <a:chExt cx="10501088" cy="640080"/>
          </a:xfrm>
        </p:grpSpPr>
        <p:sp>
          <p:nvSpPr>
            <p:cNvPr id="29" name="Rounded Rectangle 2">
              <a:extLst>
                <a:ext uri="{FF2B5EF4-FFF2-40B4-BE49-F238E27FC236}">
                  <a16:creationId xmlns:a16="http://schemas.microsoft.com/office/drawing/2014/main" id="{7D866B1A-2D1B-E480-0877-562D5306DD19}"/>
                </a:ext>
              </a:extLst>
            </p:cNvPr>
            <p:cNvSpPr/>
            <p:nvPr/>
          </p:nvSpPr>
          <p:spPr>
            <a:xfrm>
              <a:off x="843267" y="4015099"/>
              <a:ext cx="10501088" cy="640080"/>
            </a:xfrm>
            <a:prstGeom prst="roundRect">
              <a:avLst>
                <a:gd name="adj" fmla="val 27652"/>
              </a:avLst>
            </a:prstGeom>
            <a:solidFill>
              <a:schemeClr val="bg1"/>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594360" tIns="91440" r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           </a:t>
              </a:r>
            </a:p>
          </p:txBody>
        </p:sp>
        <p:grpSp>
          <p:nvGrpSpPr>
            <p:cNvPr id="30" name="Group 29">
              <a:extLst>
                <a:ext uri="{FF2B5EF4-FFF2-40B4-BE49-F238E27FC236}">
                  <a16:creationId xmlns:a16="http://schemas.microsoft.com/office/drawing/2014/main" id="{C20523BD-6350-1F4A-8013-2F09842551DF}"/>
                </a:ext>
              </a:extLst>
            </p:cNvPr>
            <p:cNvGrpSpPr/>
            <p:nvPr/>
          </p:nvGrpSpPr>
          <p:grpSpPr>
            <a:xfrm>
              <a:off x="5235283" y="4133705"/>
              <a:ext cx="2644505" cy="402868"/>
              <a:chOff x="5305297" y="4441675"/>
              <a:chExt cx="2644505" cy="402868"/>
            </a:xfrm>
          </p:grpSpPr>
          <p:pic>
            <p:nvPicPr>
              <p:cNvPr id="31" name="Picture 30">
                <a:extLst>
                  <a:ext uri="{FF2B5EF4-FFF2-40B4-BE49-F238E27FC236}">
                    <a16:creationId xmlns:a16="http://schemas.microsoft.com/office/drawing/2014/main" id="{C7F8BA04-1A2A-C092-6B8E-C63EF9103FA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305297" y="4441675"/>
                <a:ext cx="402175" cy="402868"/>
              </a:xfrm>
              <a:prstGeom prst="rect">
                <a:avLst/>
              </a:prstGeom>
            </p:spPr>
          </p:pic>
          <p:sp>
            <p:nvSpPr>
              <p:cNvPr id="32" name="TextBox 31">
                <a:extLst>
                  <a:ext uri="{FF2B5EF4-FFF2-40B4-BE49-F238E27FC236}">
                    <a16:creationId xmlns:a16="http://schemas.microsoft.com/office/drawing/2014/main" id="{76EABC9A-5011-1D08-1FE0-F187B0180E98}"/>
                  </a:ext>
                </a:extLst>
              </p:cNvPr>
              <p:cNvSpPr txBox="1"/>
              <p:nvPr/>
            </p:nvSpPr>
            <p:spPr>
              <a:xfrm>
                <a:off x="5848557" y="4507233"/>
                <a:ext cx="2101245"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Semibold"/>
                    <a:ea typeface="+mn-ea"/>
                    <a:cs typeface="+mn-cs"/>
                  </a:rPr>
                  <a:t>Control Plane</a:t>
                </a:r>
              </a:p>
            </p:txBody>
          </p:sp>
        </p:grpSp>
      </p:grpSp>
      <p:sp>
        <p:nvSpPr>
          <p:cNvPr id="33" name="Rounded Rectangle 25">
            <a:extLst>
              <a:ext uri="{FF2B5EF4-FFF2-40B4-BE49-F238E27FC236}">
                <a16:creationId xmlns:a16="http://schemas.microsoft.com/office/drawing/2014/main" id="{543661AA-0CC5-F7BF-5D77-7181A80E37A2}"/>
              </a:ext>
            </a:extLst>
          </p:cNvPr>
          <p:cNvSpPr/>
          <p:nvPr/>
        </p:nvSpPr>
        <p:spPr>
          <a:xfrm>
            <a:off x="4170356" y="6003558"/>
            <a:ext cx="3837986" cy="373523"/>
          </a:xfrm>
          <a:prstGeom prst="roundRect">
            <a:avLst>
              <a:gd name="adj" fmla="val 36011"/>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2874">
                      <a:srgbClr val="2A446F">
                        <a:lumMod val="50000"/>
                      </a:srgbClr>
                    </a:gs>
                    <a:gs pos="76000">
                      <a:srgbClr val="302EC9"/>
                    </a:gs>
                    <a:gs pos="100000">
                      <a:srgbClr val="8988E6"/>
                    </a:gs>
                  </a:gsLst>
                  <a:lin ang="2700000" scaled="0"/>
                </a:gradFill>
                <a:effectLst/>
                <a:uLnTx/>
                <a:uFillTx/>
                <a:latin typeface="Segoe Sans Text Semibold"/>
                <a:ea typeface="+mn-ea"/>
                <a:cs typeface="+mn-cs"/>
              </a:rPr>
              <a:t>Security, compliance, and governance</a:t>
            </a:r>
          </a:p>
        </p:txBody>
      </p:sp>
      <p:grpSp>
        <p:nvGrpSpPr>
          <p:cNvPr id="34" name="Group 33">
            <a:extLst>
              <a:ext uri="{FF2B5EF4-FFF2-40B4-BE49-F238E27FC236}">
                <a16:creationId xmlns:a16="http://schemas.microsoft.com/office/drawing/2014/main" id="{B6A79A9F-F12A-296C-6184-F91D312521E1}"/>
              </a:ext>
            </a:extLst>
          </p:cNvPr>
          <p:cNvGrpSpPr/>
          <p:nvPr/>
        </p:nvGrpSpPr>
        <p:grpSpPr>
          <a:xfrm>
            <a:off x="3289680" y="1491229"/>
            <a:ext cx="5611548" cy="316309"/>
            <a:chOff x="3482489" y="2050550"/>
            <a:chExt cx="5611548" cy="316309"/>
          </a:xfrm>
        </p:grpSpPr>
        <p:grpSp>
          <p:nvGrpSpPr>
            <p:cNvPr id="35" name="Group 34">
              <a:extLst>
                <a:ext uri="{FF2B5EF4-FFF2-40B4-BE49-F238E27FC236}">
                  <a16:creationId xmlns:a16="http://schemas.microsoft.com/office/drawing/2014/main" id="{96ED8BD5-7856-7362-3F99-683EDC789291}"/>
                </a:ext>
              </a:extLst>
            </p:cNvPr>
            <p:cNvGrpSpPr/>
            <p:nvPr/>
          </p:nvGrpSpPr>
          <p:grpSpPr>
            <a:xfrm>
              <a:off x="3482489" y="2055609"/>
              <a:ext cx="878237" cy="306939"/>
              <a:chOff x="3930940" y="4952181"/>
              <a:chExt cx="878237" cy="306939"/>
            </a:xfrm>
          </p:grpSpPr>
          <p:pic>
            <p:nvPicPr>
              <p:cNvPr id="45" name="Graphic 44">
                <a:extLst>
                  <a:ext uri="{FF2B5EF4-FFF2-40B4-BE49-F238E27FC236}">
                    <a16:creationId xmlns:a16="http://schemas.microsoft.com/office/drawing/2014/main" id="{F2DC3750-EF3D-6373-7E7D-1AF294824CE7}"/>
                  </a:ext>
                </a:extLst>
              </p:cNvPr>
              <p:cNvPicPr>
                <a:picLocks noChangeAspect="1"/>
              </p:cNvPicPr>
              <p:nvPr/>
            </p:nvPicPr>
            <p:blipFill>
              <a:blip>
                <a:lum bright="-100000"/>
                <a:extLst>
                  <a:ext uri="{96DAC541-7B7A-43D3-8B79-37D633B846F1}">
                    <asvg:svgBlip xmlns:asvg="http://schemas.microsoft.com/office/drawing/2016/SVG/main" r:embed="rId4"/>
                  </a:ext>
                </a:extLst>
              </a:blip>
              <a:stretch>
                <a:fillRect/>
              </a:stretch>
            </p:blipFill>
            <p:spPr>
              <a:xfrm>
                <a:off x="3930940" y="4952181"/>
                <a:ext cx="311204" cy="306939"/>
              </a:xfrm>
              <a:prstGeom prst="rect">
                <a:avLst/>
              </a:prstGeom>
            </p:spPr>
          </p:pic>
          <p:sp>
            <p:nvSpPr>
              <p:cNvPr id="46" name="TextBox 45">
                <a:extLst>
                  <a:ext uri="{FF2B5EF4-FFF2-40B4-BE49-F238E27FC236}">
                    <a16:creationId xmlns:a16="http://schemas.microsoft.com/office/drawing/2014/main" id="{BBC649D1-E8C8-A70D-2326-94013E440C29}"/>
                  </a:ext>
                </a:extLst>
              </p:cNvPr>
              <p:cNvSpPr txBox="1"/>
              <p:nvPr/>
            </p:nvSpPr>
            <p:spPr>
              <a:xfrm>
                <a:off x="4373117" y="5043596"/>
                <a:ext cx="436060"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GitHub</a:t>
                </a:r>
              </a:p>
            </p:txBody>
          </p:sp>
        </p:grpSp>
        <p:grpSp>
          <p:nvGrpSpPr>
            <p:cNvPr id="36" name="Group 35">
              <a:extLst>
                <a:ext uri="{FF2B5EF4-FFF2-40B4-BE49-F238E27FC236}">
                  <a16:creationId xmlns:a16="http://schemas.microsoft.com/office/drawing/2014/main" id="{472874BC-7B5E-144F-94F0-F0C73A79B778}"/>
                </a:ext>
              </a:extLst>
            </p:cNvPr>
            <p:cNvGrpSpPr/>
            <p:nvPr/>
          </p:nvGrpSpPr>
          <p:grpSpPr>
            <a:xfrm>
              <a:off x="5001482" y="2057975"/>
              <a:ext cx="1360506" cy="302124"/>
              <a:chOff x="5540566" y="4957903"/>
              <a:chExt cx="1360506" cy="302124"/>
            </a:xfrm>
          </p:grpSpPr>
          <p:pic>
            <p:nvPicPr>
              <p:cNvPr id="43" name="Picture 93">
                <a:extLst>
                  <a:ext uri="{FF2B5EF4-FFF2-40B4-BE49-F238E27FC236}">
                    <a16:creationId xmlns:a16="http://schemas.microsoft.com/office/drawing/2014/main" id="{4F879DFB-1279-5A42-EB31-E27B9F4246A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rcRect l="2769" r="2769"/>
              <a:stretch/>
            </p:blipFill>
            <p:spPr>
              <a:xfrm>
                <a:off x="6615679" y="4957903"/>
                <a:ext cx="285393" cy="302124"/>
              </a:xfrm>
              <a:prstGeom prst="rect">
                <a:avLst/>
              </a:prstGeom>
              <a:ln w="6657" cap="flat">
                <a:noFill/>
                <a:prstDash val="solid"/>
                <a:miter/>
              </a:ln>
              <a:effectLst/>
            </p:spPr>
          </p:pic>
          <p:sp>
            <p:nvSpPr>
              <p:cNvPr id="44" name="TextBox 43">
                <a:extLst>
                  <a:ext uri="{FF2B5EF4-FFF2-40B4-BE49-F238E27FC236}">
                    <a16:creationId xmlns:a16="http://schemas.microsoft.com/office/drawing/2014/main" id="{473641BE-B040-5D51-56DE-4E1769B35853}"/>
                  </a:ext>
                </a:extLst>
              </p:cNvPr>
              <p:cNvSpPr txBox="1"/>
              <p:nvPr/>
            </p:nvSpPr>
            <p:spPr>
              <a:xfrm>
                <a:off x="5540566" y="5043596"/>
                <a:ext cx="778311"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Visual Studio</a:t>
                </a:r>
              </a:p>
            </p:txBody>
          </p:sp>
        </p:grpSp>
        <p:grpSp>
          <p:nvGrpSpPr>
            <p:cNvPr id="37" name="Group 36">
              <a:extLst>
                <a:ext uri="{FF2B5EF4-FFF2-40B4-BE49-F238E27FC236}">
                  <a16:creationId xmlns:a16="http://schemas.microsoft.com/office/drawing/2014/main" id="{103786E8-F1AB-438C-198F-3B0935F2BA5A}"/>
                </a:ext>
              </a:extLst>
            </p:cNvPr>
            <p:cNvGrpSpPr/>
            <p:nvPr/>
          </p:nvGrpSpPr>
          <p:grpSpPr>
            <a:xfrm>
              <a:off x="4570407" y="2055199"/>
              <a:ext cx="2993918" cy="311660"/>
              <a:chOff x="3684629" y="5382972"/>
              <a:chExt cx="2993918" cy="311660"/>
            </a:xfrm>
          </p:grpSpPr>
          <p:pic>
            <p:nvPicPr>
              <p:cNvPr id="41" name="Picture 40">
                <a:extLst>
                  <a:ext uri="{FF2B5EF4-FFF2-40B4-BE49-F238E27FC236}">
                    <a16:creationId xmlns:a16="http://schemas.microsoft.com/office/drawing/2014/main" id="{BF0788EE-7103-DC6A-49D4-4A9AB9A062C9}"/>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rcRect l="20481" r="20481"/>
              <a:stretch/>
            </p:blipFill>
            <p:spPr>
              <a:xfrm>
                <a:off x="3684629" y="5382972"/>
                <a:ext cx="319622" cy="311660"/>
              </a:xfrm>
              <a:prstGeom prst="rect">
                <a:avLst/>
              </a:prstGeom>
              <a:ln w="6657" cap="flat">
                <a:noFill/>
                <a:prstDash val="solid"/>
                <a:miter/>
              </a:ln>
              <a:effectLst/>
            </p:spPr>
          </p:pic>
          <p:sp>
            <p:nvSpPr>
              <p:cNvPr id="42" name="TextBox 41">
                <a:extLst>
                  <a:ext uri="{FF2B5EF4-FFF2-40B4-BE49-F238E27FC236}">
                    <a16:creationId xmlns:a16="http://schemas.microsoft.com/office/drawing/2014/main" id="{609779A7-4BA5-EE43-C22A-EBFA029E8248}"/>
                  </a:ext>
                </a:extLst>
              </p:cNvPr>
              <p:cNvSpPr txBox="1"/>
              <p:nvPr/>
            </p:nvSpPr>
            <p:spPr>
              <a:xfrm>
                <a:off x="5547828" y="5450399"/>
                <a:ext cx="113071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Visual Studio Code</a:t>
                </a:r>
              </a:p>
            </p:txBody>
          </p:sp>
        </p:grpSp>
        <p:grpSp>
          <p:nvGrpSpPr>
            <p:cNvPr id="38" name="Group 37">
              <a:extLst>
                <a:ext uri="{FF2B5EF4-FFF2-40B4-BE49-F238E27FC236}">
                  <a16:creationId xmlns:a16="http://schemas.microsoft.com/office/drawing/2014/main" id="{523CBB96-E857-11D9-03FA-4BE6FE2AF770}"/>
                </a:ext>
              </a:extLst>
            </p:cNvPr>
            <p:cNvGrpSpPr/>
            <p:nvPr/>
          </p:nvGrpSpPr>
          <p:grpSpPr>
            <a:xfrm>
              <a:off x="7783295" y="2050550"/>
              <a:ext cx="1310742" cy="316309"/>
              <a:chOff x="4280826" y="5380597"/>
              <a:chExt cx="1310742" cy="316309"/>
            </a:xfrm>
          </p:grpSpPr>
          <p:pic>
            <p:nvPicPr>
              <p:cNvPr id="39" name="Picture 38">
                <a:extLst>
                  <a:ext uri="{FF2B5EF4-FFF2-40B4-BE49-F238E27FC236}">
                    <a16:creationId xmlns:a16="http://schemas.microsoft.com/office/drawing/2014/main" id="{A535C8EA-8C4D-CEEB-1626-AE264E6A542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4280826" y="5380597"/>
                <a:ext cx="313948" cy="316309"/>
              </a:xfrm>
              <a:prstGeom prst="rect">
                <a:avLst/>
              </a:prstGeom>
              <a:effectLst/>
            </p:spPr>
          </p:pic>
          <p:sp>
            <p:nvSpPr>
              <p:cNvPr id="40" name="TextBox 39">
                <a:extLst>
                  <a:ext uri="{FF2B5EF4-FFF2-40B4-BE49-F238E27FC236}">
                    <a16:creationId xmlns:a16="http://schemas.microsoft.com/office/drawing/2014/main" id="{6138A2E1-C6ED-7017-4CC1-C0B480082DCF}"/>
                  </a:ext>
                </a:extLst>
              </p:cNvPr>
              <p:cNvSpPr txBox="1"/>
              <p:nvPr/>
            </p:nvSpPr>
            <p:spPr>
              <a:xfrm>
                <a:off x="4723608" y="5453708"/>
                <a:ext cx="867960"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Copilot Studio</a:t>
                </a:r>
              </a:p>
            </p:txBody>
          </p:sp>
        </p:grpSp>
      </p:grpSp>
      <p:sp>
        <p:nvSpPr>
          <p:cNvPr id="47" name="Rounded Rectangle 25">
            <a:extLst>
              <a:ext uri="{FF2B5EF4-FFF2-40B4-BE49-F238E27FC236}">
                <a16:creationId xmlns:a16="http://schemas.microsoft.com/office/drawing/2014/main" id="{D1DEAE1E-B39C-EE32-0C31-1A8DC67E8F96}"/>
              </a:ext>
            </a:extLst>
          </p:cNvPr>
          <p:cNvSpPr/>
          <p:nvPr/>
        </p:nvSpPr>
        <p:spPr>
          <a:xfrm>
            <a:off x="1913049" y="3435570"/>
            <a:ext cx="8364811" cy="373523"/>
          </a:xfrm>
          <a:prstGeom prst="roundRect">
            <a:avLst>
              <a:gd name="adj" fmla="val 5000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bold"/>
                <a:ea typeface="+mn-ea"/>
                <a:cs typeface="+mn-cs"/>
              </a:rPr>
              <a:t>Build context-aware and action-oriented agents with 1,400+ pre-built connections and MCP tools</a:t>
            </a:r>
            <a:endParaRPr kumimoji="0" lang="en-US" sz="14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8" name="Rounded Rectangle 25">
            <a:extLst>
              <a:ext uri="{FF2B5EF4-FFF2-40B4-BE49-F238E27FC236}">
                <a16:creationId xmlns:a16="http://schemas.microsoft.com/office/drawing/2014/main" id="{31EB69F4-69E1-3FCD-1A05-2A36D75FC2E0}"/>
              </a:ext>
            </a:extLst>
          </p:cNvPr>
          <p:cNvSpPr/>
          <p:nvPr/>
        </p:nvSpPr>
        <p:spPr>
          <a:xfrm>
            <a:off x="3432163" y="1082843"/>
            <a:ext cx="5304867" cy="373523"/>
          </a:xfrm>
          <a:prstGeom prst="roundRect">
            <a:avLst>
              <a:gd name="adj" fmla="val 5000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bold"/>
                <a:ea typeface="+mn-ea"/>
                <a:cs typeface="+mn-cs"/>
              </a:rPr>
              <a:t>Streamline development with native IDE experiences</a:t>
            </a:r>
            <a:endParaRPr kumimoji="0" lang="en-US" sz="14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9" name="Rounded Rectangle 25">
            <a:extLst>
              <a:ext uri="{FF2B5EF4-FFF2-40B4-BE49-F238E27FC236}">
                <a16:creationId xmlns:a16="http://schemas.microsoft.com/office/drawing/2014/main" id="{853C1E3B-F88C-51BE-84A5-E91320552815}"/>
              </a:ext>
            </a:extLst>
          </p:cNvPr>
          <p:cNvSpPr/>
          <p:nvPr/>
        </p:nvSpPr>
        <p:spPr>
          <a:xfrm>
            <a:off x="1152620" y="5050408"/>
            <a:ext cx="9885671" cy="373523"/>
          </a:xfrm>
          <a:prstGeom prst="roundRect">
            <a:avLst>
              <a:gd name="adj" fmla="val 5000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bold"/>
                <a:ea typeface="+mn-ea"/>
                <a:cs typeface="+mn-cs"/>
              </a:rPr>
              <a:t>Leverage a complete signals management layer with Microsoft Security integrations</a:t>
            </a:r>
            <a:endParaRPr kumimoji="0" lang="en-US" sz="1400" b="0" i="0" u="none" strike="noStrike" kern="1200" cap="none" spc="0" normalizeH="0" baseline="0" noProof="0">
              <a:ln>
                <a:noFill/>
              </a:ln>
              <a:solidFill>
                <a:srgbClr val="000000"/>
              </a:solidFill>
              <a:effectLst/>
              <a:uLnTx/>
              <a:uFillTx/>
              <a:latin typeface="Segoe Sans Text"/>
              <a:ea typeface="+mn-ea"/>
              <a:cs typeface="+mn-cs"/>
            </a:endParaRPr>
          </a:p>
        </p:txBody>
      </p:sp>
      <p:grpSp>
        <p:nvGrpSpPr>
          <p:cNvPr id="50" name="Group 49">
            <a:extLst>
              <a:ext uri="{FF2B5EF4-FFF2-40B4-BE49-F238E27FC236}">
                <a16:creationId xmlns:a16="http://schemas.microsoft.com/office/drawing/2014/main" id="{297E279A-23ED-22C4-17FC-CE079A35B752}"/>
              </a:ext>
            </a:extLst>
          </p:cNvPr>
          <p:cNvGrpSpPr/>
          <p:nvPr/>
        </p:nvGrpSpPr>
        <p:grpSpPr>
          <a:xfrm>
            <a:off x="2649184" y="5498799"/>
            <a:ext cx="7020117" cy="353910"/>
            <a:chOff x="3353505" y="4428100"/>
            <a:chExt cx="7020117" cy="353910"/>
          </a:xfrm>
        </p:grpSpPr>
        <p:grpSp>
          <p:nvGrpSpPr>
            <p:cNvPr id="51" name="Group 50">
              <a:extLst>
                <a:ext uri="{FF2B5EF4-FFF2-40B4-BE49-F238E27FC236}">
                  <a16:creationId xmlns:a16="http://schemas.microsoft.com/office/drawing/2014/main" id="{BF6A3943-F9EC-76C0-3E51-7D25AC4DC3FB}"/>
                </a:ext>
              </a:extLst>
            </p:cNvPr>
            <p:cNvGrpSpPr/>
            <p:nvPr/>
          </p:nvGrpSpPr>
          <p:grpSpPr>
            <a:xfrm>
              <a:off x="3353505" y="4464712"/>
              <a:ext cx="1694835" cy="280686"/>
              <a:chOff x="3740424" y="4657232"/>
              <a:chExt cx="1694835" cy="280686"/>
            </a:xfrm>
          </p:grpSpPr>
          <p:pic>
            <p:nvPicPr>
              <p:cNvPr id="61" name="Picture 60" descr="A blue and pink logo&#10;&#10;AI-generated content may be incorrect.">
                <a:extLst>
                  <a:ext uri="{FF2B5EF4-FFF2-40B4-BE49-F238E27FC236}">
                    <a16:creationId xmlns:a16="http://schemas.microsoft.com/office/drawing/2014/main" id="{DD8275F2-8E88-61C7-2A8D-51FB592243A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40424" y="4657232"/>
                <a:ext cx="280688" cy="280686"/>
              </a:xfrm>
              <a:prstGeom prst="rect">
                <a:avLst/>
              </a:prstGeom>
            </p:spPr>
          </p:pic>
          <p:sp>
            <p:nvSpPr>
              <p:cNvPr id="62" name="TextBox 61">
                <a:extLst>
                  <a:ext uri="{FF2B5EF4-FFF2-40B4-BE49-F238E27FC236}">
                    <a16:creationId xmlns:a16="http://schemas.microsoft.com/office/drawing/2014/main" id="{8DDFE763-847E-4BF5-E4D4-D2E2AE6C171D}"/>
                  </a:ext>
                </a:extLst>
              </p:cNvPr>
              <p:cNvSpPr txBox="1"/>
              <p:nvPr/>
            </p:nvSpPr>
            <p:spPr>
              <a:xfrm>
                <a:off x="4123870" y="4712121"/>
                <a:ext cx="131138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Agent 365</a:t>
                </a:r>
              </a:p>
            </p:txBody>
          </p:sp>
        </p:grpSp>
        <p:grpSp>
          <p:nvGrpSpPr>
            <p:cNvPr id="52" name="Group 51">
              <a:extLst>
                <a:ext uri="{FF2B5EF4-FFF2-40B4-BE49-F238E27FC236}">
                  <a16:creationId xmlns:a16="http://schemas.microsoft.com/office/drawing/2014/main" id="{95C61766-DB7A-C78A-EDF1-5474FE94307D}"/>
                </a:ext>
              </a:extLst>
            </p:cNvPr>
            <p:cNvGrpSpPr/>
            <p:nvPr/>
          </p:nvGrpSpPr>
          <p:grpSpPr>
            <a:xfrm>
              <a:off x="5080688" y="4428100"/>
              <a:ext cx="1672938" cy="353910"/>
              <a:chOff x="4182969" y="5115348"/>
              <a:chExt cx="1672938" cy="353910"/>
            </a:xfrm>
          </p:grpSpPr>
          <p:pic>
            <p:nvPicPr>
              <p:cNvPr id="59" name="Picture 58" descr="A blue shield with black background&#10;&#10;AI-generated content may be incorrect.">
                <a:extLst>
                  <a:ext uri="{FF2B5EF4-FFF2-40B4-BE49-F238E27FC236}">
                    <a16:creationId xmlns:a16="http://schemas.microsoft.com/office/drawing/2014/main" id="{DED8AB29-E669-3B0E-13EC-157681008FA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82969" y="5115348"/>
                <a:ext cx="353912" cy="353910"/>
              </a:xfrm>
              <a:prstGeom prst="rect">
                <a:avLst/>
              </a:prstGeom>
            </p:spPr>
          </p:pic>
          <p:sp>
            <p:nvSpPr>
              <p:cNvPr id="60" name="TextBox 59">
                <a:extLst>
                  <a:ext uri="{FF2B5EF4-FFF2-40B4-BE49-F238E27FC236}">
                    <a16:creationId xmlns:a16="http://schemas.microsoft.com/office/drawing/2014/main" id="{B097A621-2EF4-AD69-163D-379365DA4B88}"/>
                  </a:ext>
                </a:extLst>
              </p:cNvPr>
              <p:cNvSpPr txBox="1"/>
              <p:nvPr/>
            </p:nvSpPr>
            <p:spPr>
              <a:xfrm>
                <a:off x="4651792" y="5206849"/>
                <a:ext cx="1204115"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Defender</a:t>
                </a:r>
              </a:p>
            </p:txBody>
          </p:sp>
        </p:grpSp>
        <p:grpSp>
          <p:nvGrpSpPr>
            <p:cNvPr id="53" name="Group 52">
              <a:extLst>
                <a:ext uri="{FF2B5EF4-FFF2-40B4-BE49-F238E27FC236}">
                  <a16:creationId xmlns:a16="http://schemas.microsoft.com/office/drawing/2014/main" id="{23324171-EDD6-1890-0404-8E0D1AF64D5B}"/>
                </a:ext>
              </a:extLst>
            </p:cNvPr>
            <p:cNvGrpSpPr/>
            <p:nvPr/>
          </p:nvGrpSpPr>
          <p:grpSpPr>
            <a:xfrm>
              <a:off x="7077354" y="4447007"/>
              <a:ext cx="1532634" cy="287634"/>
              <a:chOff x="7199783" y="4460770"/>
              <a:chExt cx="1532634" cy="287634"/>
            </a:xfrm>
          </p:grpSpPr>
          <p:pic>
            <p:nvPicPr>
              <p:cNvPr id="57" name="Picture 56">
                <a:extLst>
                  <a:ext uri="{FF2B5EF4-FFF2-40B4-BE49-F238E27FC236}">
                    <a16:creationId xmlns:a16="http://schemas.microsoft.com/office/drawing/2014/main" id="{50DD7580-63EC-2BED-8FA3-42266AB0874C}"/>
                  </a:ext>
                </a:extLst>
              </p:cNvPr>
              <p:cNvPicPr>
                <a:picLocks noChangeAspect="1"/>
              </p:cNvPicPr>
              <p:nvPr/>
            </p:nvPicPr>
            <p:blipFill>
              <a:blip r:embed="rId10"/>
              <a:stretch>
                <a:fillRect/>
              </a:stretch>
            </p:blipFill>
            <p:spPr>
              <a:xfrm>
                <a:off x="7199783" y="4460770"/>
                <a:ext cx="315786" cy="287634"/>
              </a:xfrm>
              <a:prstGeom prst="rect">
                <a:avLst/>
              </a:prstGeom>
            </p:spPr>
          </p:pic>
          <p:sp>
            <p:nvSpPr>
              <p:cNvPr id="58" name="TextBox 57">
                <a:extLst>
                  <a:ext uri="{FF2B5EF4-FFF2-40B4-BE49-F238E27FC236}">
                    <a16:creationId xmlns:a16="http://schemas.microsoft.com/office/drawing/2014/main" id="{60812855-502F-0A78-FB6A-5EFC3518CAA0}"/>
                  </a:ext>
                </a:extLst>
              </p:cNvPr>
              <p:cNvSpPr txBox="1"/>
              <p:nvPr/>
            </p:nvSpPr>
            <p:spPr>
              <a:xfrm>
                <a:off x="7630480" y="4541874"/>
                <a:ext cx="1101937"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Purview</a:t>
                </a:r>
              </a:p>
            </p:txBody>
          </p:sp>
        </p:grpSp>
        <p:grpSp>
          <p:nvGrpSpPr>
            <p:cNvPr id="54" name="Group 53">
              <a:extLst>
                <a:ext uri="{FF2B5EF4-FFF2-40B4-BE49-F238E27FC236}">
                  <a16:creationId xmlns:a16="http://schemas.microsoft.com/office/drawing/2014/main" id="{B5D3CD3E-750C-96B0-A2A9-1596D9FE4DE2}"/>
                </a:ext>
              </a:extLst>
            </p:cNvPr>
            <p:cNvGrpSpPr/>
            <p:nvPr/>
          </p:nvGrpSpPr>
          <p:grpSpPr>
            <a:xfrm>
              <a:off x="9013478" y="4446360"/>
              <a:ext cx="1360144" cy="295540"/>
              <a:chOff x="7871086" y="4992448"/>
              <a:chExt cx="1360144" cy="295540"/>
            </a:xfrm>
          </p:grpSpPr>
          <p:pic>
            <p:nvPicPr>
              <p:cNvPr id="55" name="Picture 54" descr="A blue and black logo&#10;&#10;AI-generated content may be incorrect.">
                <a:extLst>
                  <a:ext uri="{FF2B5EF4-FFF2-40B4-BE49-F238E27FC236}">
                    <a16:creationId xmlns:a16="http://schemas.microsoft.com/office/drawing/2014/main" id="{2D37ED92-ADFD-89F7-B3BD-743B54CE40E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871086" y="4992448"/>
                <a:ext cx="237377" cy="295540"/>
              </a:xfrm>
              <a:prstGeom prst="rect">
                <a:avLst/>
              </a:prstGeom>
            </p:spPr>
          </p:pic>
          <p:sp>
            <p:nvSpPr>
              <p:cNvPr id="56" name="TextBox 55">
                <a:extLst>
                  <a:ext uri="{FF2B5EF4-FFF2-40B4-BE49-F238E27FC236}">
                    <a16:creationId xmlns:a16="http://schemas.microsoft.com/office/drawing/2014/main" id="{AC04BFD7-CB6B-BA40-6447-DF596ECB8D5F}"/>
                  </a:ext>
                </a:extLst>
              </p:cNvPr>
              <p:cNvSpPr txBox="1"/>
              <p:nvPr/>
            </p:nvSpPr>
            <p:spPr>
              <a:xfrm>
                <a:off x="8229447" y="5060967"/>
                <a:ext cx="1001783"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Entra</a:t>
                </a:r>
              </a:p>
            </p:txBody>
          </p:sp>
        </p:grpSp>
      </p:grpSp>
      <p:grpSp>
        <p:nvGrpSpPr>
          <p:cNvPr id="63" name="Group 62">
            <a:extLst>
              <a:ext uri="{FF2B5EF4-FFF2-40B4-BE49-F238E27FC236}">
                <a16:creationId xmlns:a16="http://schemas.microsoft.com/office/drawing/2014/main" id="{CAE42E78-73A7-1A6A-AA83-E2224198E5CA}"/>
              </a:ext>
            </a:extLst>
          </p:cNvPr>
          <p:cNvGrpSpPr/>
          <p:nvPr/>
        </p:nvGrpSpPr>
        <p:grpSpPr>
          <a:xfrm>
            <a:off x="1110669" y="3876433"/>
            <a:ext cx="9969569" cy="379818"/>
            <a:chOff x="1199443" y="3892654"/>
            <a:chExt cx="9969569" cy="379818"/>
          </a:xfrm>
        </p:grpSpPr>
        <p:grpSp>
          <p:nvGrpSpPr>
            <p:cNvPr id="64" name="Group 63">
              <a:extLst>
                <a:ext uri="{FF2B5EF4-FFF2-40B4-BE49-F238E27FC236}">
                  <a16:creationId xmlns:a16="http://schemas.microsoft.com/office/drawing/2014/main" id="{212D981C-1538-A156-2835-F6B4F32D89CF}"/>
                </a:ext>
              </a:extLst>
            </p:cNvPr>
            <p:cNvGrpSpPr/>
            <p:nvPr/>
          </p:nvGrpSpPr>
          <p:grpSpPr>
            <a:xfrm>
              <a:off x="1199443" y="3892654"/>
              <a:ext cx="9969569" cy="379818"/>
              <a:chOff x="1412858" y="3881913"/>
              <a:chExt cx="9969569" cy="379818"/>
            </a:xfrm>
          </p:grpSpPr>
          <p:pic>
            <p:nvPicPr>
              <p:cNvPr id="67" name="Picture 20" descr="SAP Enterprise Threat Detection - Microsoft Sentinel - Integration icon">
                <a:extLst>
                  <a:ext uri="{FF2B5EF4-FFF2-40B4-BE49-F238E27FC236}">
                    <a16:creationId xmlns:a16="http://schemas.microsoft.com/office/drawing/2014/main" id="{0E58BC4D-DE81-648C-BD30-7D21556810F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62413" y="3882085"/>
                <a:ext cx="379646" cy="379646"/>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85">
                <a:extLst>
                  <a:ext uri="{FF2B5EF4-FFF2-40B4-BE49-F238E27FC236}">
                    <a16:creationId xmlns:a16="http://schemas.microsoft.com/office/drawing/2014/main" id="{08A0FFDB-FE82-9214-B99D-A96196A31CC7}"/>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5688608" y="3957350"/>
                <a:ext cx="574112" cy="187209"/>
              </a:xfrm>
              <a:prstGeom prst="rect">
                <a:avLst/>
              </a:prstGeom>
            </p:spPr>
          </p:pic>
          <p:pic>
            <p:nvPicPr>
              <p:cNvPr id="69" name="Picture 68">
                <a:extLst>
                  <a:ext uri="{FF2B5EF4-FFF2-40B4-BE49-F238E27FC236}">
                    <a16:creationId xmlns:a16="http://schemas.microsoft.com/office/drawing/2014/main" id="{B730718D-9952-1474-E1A9-4C7C191F262D}"/>
                  </a:ext>
                </a:extLst>
              </p:cNvPr>
              <p:cNvPicPr>
                <a:picLocks noChangeAspect="1"/>
              </p:cNvPicPr>
              <p:nvPr/>
            </p:nvPicPr>
            <p:blipFill>
              <a:blip r:embed="rId14"/>
              <a:stretch>
                <a:fillRect/>
              </a:stretch>
            </p:blipFill>
            <p:spPr>
              <a:xfrm>
                <a:off x="1412858" y="3969702"/>
                <a:ext cx="635498" cy="165538"/>
              </a:xfrm>
              <a:prstGeom prst="rect">
                <a:avLst/>
              </a:prstGeom>
            </p:spPr>
          </p:pic>
          <p:grpSp>
            <p:nvGrpSpPr>
              <p:cNvPr id="70" name="Group 69">
                <a:extLst>
                  <a:ext uri="{FF2B5EF4-FFF2-40B4-BE49-F238E27FC236}">
                    <a16:creationId xmlns:a16="http://schemas.microsoft.com/office/drawing/2014/main" id="{5A106692-6623-026F-06C8-7AB247858CE7}"/>
                  </a:ext>
                </a:extLst>
              </p:cNvPr>
              <p:cNvGrpSpPr/>
              <p:nvPr/>
            </p:nvGrpSpPr>
            <p:grpSpPr>
              <a:xfrm>
                <a:off x="8188588" y="3881913"/>
                <a:ext cx="1416015" cy="313000"/>
                <a:chOff x="9761400" y="7953785"/>
                <a:chExt cx="1416015" cy="313000"/>
              </a:xfrm>
            </p:grpSpPr>
            <p:pic>
              <p:nvPicPr>
                <p:cNvPr id="77" name="Graphic 76">
                  <a:extLst>
                    <a:ext uri="{FF2B5EF4-FFF2-40B4-BE49-F238E27FC236}">
                      <a16:creationId xmlns:a16="http://schemas.microsoft.com/office/drawing/2014/main" id="{A8E89EF9-8B46-C3F0-D1FC-D5C2265926B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761400" y="7953785"/>
                  <a:ext cx="313000" cy="313000"/>
                </a:xfrm>
                <a:prstGeom prst="rect">
                  <a:avLst/>
                </a:prstGeom>
              </p:spPr>
            </p:pic>
            <p:sp>
              <p:nvSpPr>
                <p:cNvPr id="78" name="TextBox 77">
                  <a:extLst>
                    <a:ext uri="{FF2B5EF4-FFF2-40B4-BE49-F238E27FC236}">
                      <a16:creationId xmlns:a16="http://schemas.microsoft.com/office/drawing/2014/main" id="{5EC2A12C-9EB8-0548-BCA8-CBACFB8851FD}"/>
                    </a:ext>
                  </a:extLst>
                </p:cNvPr>
                <p:cNvSpPr txBox="1"/>
                <p:nvPr/>
              </p:nvSpPr>
              <p:spPr>
                <a:xfrm>
                  <a:off x="10130393" y="8033340"/>
                  <a:ext cx="1047022"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Fabric</a:t>
                  </a:r>
                </a:p>
              </p:txBody>
            </p:sp>
          </p:grpSp>
          <p:grpSp>
            <p:nvGrpSpPr>
              <p:cNvPr id="71" name="Group 70">
                <a:extLst>
                  <a:ext uri="{FF2B5EF4-FFF2-40B4-BE49-F238E27FC236}">
                    <a16:creationId xmlns:a16="http://schemas.microsoft.com/office/drawing/2014/main" id="{BDFAD6AF-9DAB-6AF4-AC83-8150E36D1DC4}"/>
                  </a:ext>
                </a:extLst>
              </p:cNvPr>
              <p:cNvGrpSpPr/>
              <p:nvPr/>
            </p:nvGrpSpPr>
            <p:grpSpPr>
              <a:xfrm>
                <a:off x="9882716" y="3916267"/>
                <a:ext cx="1499711" cy="275440"/>
                <a:chOff x="11455528" y="7988139"/>
                <a:chExt cx="1499711" cy="275440"/>
              </a:xfrm>
            </p:grpSpPr>
            <p:pic>
              <p:nvPicPr>
                <p:cNvPr id="75" name="Graphic 91">
                  <a:extLst>
                    <a:ext uri="{FF2B5EF4-FFF2-40B4-BE49-F238E27FC236}">
                      <a16:creationId xmlns:a16="http://schemas.microsoft.com/office/drawing/2014/main" id="{CE0A6169-70FA-6C8A-62D3-04D1F93F503A}"/>
                    </a:ext>
                  </a:extLst>
                </p:cNvPr>
                <p:cNvPicPr>
                  <a:picLocks noChangeAspect="1"/>
                </p:cNvPicPr>
                <p:nvPr/>
              </p:nvPicPr>
              <p:blipFill>
                <a:blip r:embed="rId16">
                  <a:extLst>
                    <a:ext uri="{28A0092B-C50C-407E-A947-70E740481C1C}">
                      <a14:useLocalDpi xmlns:a14="http://schemas.microsoft.com/office/drawing/2010/main" val="0"/>
                    </a:ext>
                  </a:extLst>
                </a:blip>
                <a:srcRect/>
                <a:stretch/>
              </p:blipFill>
              <p:spPr>
                <a:xfrm>
                  <a:off x="11455528" y="7988139"/>
                  <a:ext cx="313000" cy="275440"/>
                </a:xfrm>
                <a:prstGeom prst="rect">
                  <a:avLst/>
                </a:prstGeom>
              </p:spPr>
            </p:pic>
            <p:sp>
              <p:nvSpPr>
                <p:cNvPr id="76" name="TextBox 75">
                  <a:extLst>
                    <a:ext uri="{FF2B5EF4-FFF2-40B4-BE49-F238E27FC236}">
                      <a16:creationId xmlns:a16="http://schemas.microsoft.com/office/drawing/2014/main" id="{015292FF-B75E-7173-AB55-491B8C4818B8}"/>
                    </a:ext>
                  </a:extLst>
                </p:cNvPr>
                <p:cNvSpPr txBox="1"/>
                <p:nvPr/>
              </p:nvSpPr>
              <p:spPr>
                <a:xfrm>
                  <a:off x="11824520" y="8048915"/>
                  <a:ext cx="113071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a:t>
                  </a:r>
                  <a:r>
                    <a:rPr kumimoji="0" lang="en-US" sz="1000" b="0" i="0" u="none" strike="noStrike" kern="1200" cap="none" spc="0" normalizeH="0" baseline="0" noProof="0" err="1">
                      <a:ln>
                        <a:noFill/>
                      </a:ln>
                      <a:solidFill>
                        <a:srgbClr val="000000"/>
                      </a:solidFill>
                      <a:effectLst/>
                      <a:uLnTx/>
                      <a:uFillTx/>
                      <a:latin typeface="Segoe Sans Text Semibold"/>
                      <a:ea typeface="+mn-ea"/>
                      <a:cs typeface="+mn-cs"/>
                    </a:rPr>
                    <a:t>OneLake</a:t>
                  </a:r>
                  <a:endParaRPr kumimoji="0" lang="en-US" sz="1000" b="0" i="0" u="none" strike="noStrike" kern="1200" cap="none" spc="0" normalizeH="0" baseline="0" noProof="0">
                    <a:ln>
                      <a:noFill/>
                    </a:ln>
                    <a:solidFill>
                      <a:srgbClr val="000000"/>
                    </a:solidFill>
                    <a:effectLst/>
                    <a:uLnTx/>
                    <a:uFillTx/>
                    <a:latin typeface="Segoe Sans Text Semibold"/>
                    <a:ea typeface="+mn-ea"/>
                    <a:cs typeface="+mn-cs"/>
                  </a:endParaRPr>
                </a:p>
              </p:txBody>
            </p:sp>
          </p:grpSp>
          <p:grpSp>
            <p:nvGrpSpPr>
              <p:cNvPr id="72" name="Group 71">
                <a:extLst>
                  <a:ext uri="{FF2B5EF4-FFF2-40B4-BE49-F238E27FC236}">
                    <a16:creationId xmlns:a16="http://schemas.microsoft.com/office/drawing/2014/main" id="{AA4B9459-1FDB-E43E-3627-DE8D1F7B41B1}"/>
                  </a:ext>
                </a:extLst>
              </p:cNvPr>
              <p:cNvGrpSpPr/>
              <p:nvPr/>
            </p:nvGrpSpPr>
            <p:grpSpPr>
              <a:xfrm>
                <a:off x="6644925" y="3894113"/>
                <a:ext cx="1268066" cy="313000"/>
                <a:chOff x="8181564" y="7976932"/>
                <a:chExt cx="1268066" cy="313000"/>
              </a:xfrm>
            </p:grpSpPr>
            <p:pic>
              <p:nvPicPr>
                <p:cNvPr id="73" name="Graphic 91">
                  <a:extLst>
                    <a:ext uri="{FF2B5EF4-FFF2-40B4-BE49-F238E27FC236}">
                      <a16:creationId xmlns:a16="http://schemas.microsoft.com/office/drawing/2014/main" id="{97F2E6AB-A5D7-E1B1-D203-85A95DF73AB7}"/>
                    </a:ext>
                  </a:extLst>
                </p:cNvPr>
                <p:cNvPicPr>
                  <a:picLocks noChangeAspect="1"/>
                </p:cNvPicPr>
                <p:nvPr/>
              </p:nvPicPr>
              <p:blipFill>
                <a:blip r:embed="rId17">
                  <a:extLst>
                    <a:ext uri="{28A0092B-C50C-407E-A947-70E740481C1C}">
                      <a14:useLocalDpi xmlns:a14="http://schemas.microsoft.com/office/drawing/2010/main" val="0"/>
                    </a:ext>
                  </a:extLst>
                </a:blip>
                <a:srcRect/>
                <a:stretch/>
              </p:blipFill>
              <p:spPr>
                <a:xfrm>
                  <a:off x="8181564" y="7976932"/>
                  <a:ext cx="236226" cy="313000"/>
                </a:xfrm>
                <a:prstGeom prst="rect">
                  <a:avLst/>
                </a:prstGeom>
              </p:spPr>
            </p:pic>
            <p:sp>
              <p:nvSpPr>
                <p:cNvPr id="74" name="TextBox 73">
                  <a:extLst>
                    <a:ext uri="{FF2B5EF4-FFF2-40B4-BE49-F238E27FC236}">
                      <a16:creationId xmlns:a16="http://schemas.microsoft.com/office/drawing/2014/main" id="{E0FA56A9-D8E1-AE42-1F48-D1DD1FA6590E}"/>
                    </a:ext>
                  </a:extLst>
                </p:cNvPr>
                <p:cNvSpPr txBox="1"/>
                <p:nvPr/>
              </p:nvSpPr>
              <p:spPr>
                <a:xfrm>
                  <a:off x="8543242" y="8063597"/>
                  <a:ext cx="90638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Bing</a:t>
                  </a:r>
                </a:p>
              </p:txBody>
            </p:sp>
          </p:grpSp>
        </p:grpSp>
        <p:pic>
          <p:nvPicPr>
            <p:cNvPr id="65" name="Picture 64">
              <a:extLst>
                <a:ext uri="{FF2B5EF4-FFF2-40B4-BE49-F238E27FC236}">
                  <a16:creationId xmlns:a16="http://schemas.microsoft.com/office/drawing/2014/main" id="{C36DEC96-2C44-3A7A-0E10-04CB095DAA21}"/>
                </a:ext>
              </a:extLst>
            </p:cNvPr>
            <p:cNvPicPr>
              <a:picLocks noChangeAspect="1"/>
            </p:cNvPicPr>
            <p:nvPr/>
          </p:nvPicPr>
          <p:blipFill>
            <a:blip r:embed="rId18"/>
            <a:stretch>
              <a:fillRect/>
            </a:stretch>
          </p:blipFill>
          <p:spPr>
            <a:xfrm>
              <a:off x="2136479" y="4026939"/>
              <a:ext cx="830234" cy="102159"/>
            </a:xfrm>
            <a:prstGeom prst="rect">
              <a:avLst/>
            </a:prstGeom>
          </p:spPr>
        </p:pic>
        <p:pic>
          <p:nvPicPr>
            <p:cNvPr id="66" name="Picture 65">
              <a:extLst>
                <a:ext uri="{FF2B5EF4-FFF2-40B4-BE49-F238E27FC236}">
                  <a16:creationId xmlns:a16="http://schemas.microsoft.com/office/drawing/2014/main" id="{0A4486E6-5D82-5A80-B1AE-A224588735BD}"/>
                </a:ext>
              </a:extLst>
            </p:cNvPr>
            <p:cNvPicPr>
              <a:picLocks noChangeAspect="1"/>
            </p:cNvPicPr>
            <p:nvPr/>
          </p:nvPicPr>
          <p:blipFill>
            <a:blip r:embed="rId19"/>
            <a:stretch>
              <a:fillRect/>
            </a:stretch>
          </p:blipFill>
          <p:spPr>
            <a:xfrm>
              <a:off x="4110929" y="3996063"/>
              <a:ext cx="975497" cy="144800"/>
            </a:xfrm>
            <a:prstGeom prst="rect">
              <a:avLst/>
            </a:prstGeom>
          </p:spPr>
        </p:pic>
      </p:grpSp>
      <p:sp>
        <p:nvSpPr>
          <p:cNvPr id="79" name="Rectangle: Rounded Corners 146">
            <a:extLst>
              <a:ext uri="{FF2B5EF4-FFF2-40B4-BE49-F238E27FC236}">
                <a16:creationId xmlns:a16="http://schemas.microsoft.com/office/drawing/2014/main" id="{E9DC38D4-9965-4007-E4AC-97F4208393A1}"/>
              </a:ext>
              <a:ext uri="{C183D7F6-B498-43B3-948B-1728B52AA6E4}">
                <adec:decorative xmlns:adec="http://schemas.microsoft.com/office/drawing/2017/decorative" val="0"/>
              </a:ext>
            </a:extLst>
          </p:cNvPr>
          <p:cNvSpPr/>
          <p:nvPr/>
        </p:nvSpPr>
        <p:spPr bwMode="auto">
          <a:xfrm>
            <a:off x="2966713" y="2095540"/>
            <a:ext cx="2011680" cy="1248937"/>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541895" rtl="0" eaLnBrk="1" fontAlgn="auto" latinLnBrk="0" hangingPunct="1">
              <a:lnSpc>
                <a:spcPct val="100000"/>
              </a:lnSpc>
              <a:spcBef>
                <a:spcPct val="0"/>
              </a:spcBef>
              <a:spcAft>
                <a:spcPct val="0"/>
              </a:spcAft>
              <a:buClrTx/>
              <a:buSzTx/>
              <a:buFontTx/>
              <a:buNone/>
              <a:tabLst>
                <a:tab pos="881290" algn="l"/>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Agent Service</a:t>
            </a:r>
          </a:p>
        </p:txBody>
      </p:sp>
      <p:sp>
        <p:nvSpPr>
          <p:cNvPr id="80" name="Rectangle: Rounded Corners 146">
            <a:extLst>
              <a:ext uri="{FF2B5EF4-FFF2-40B4-BE49-F238E27FC236}">
                <a16:creationId xmlns:a16="http://schemas.microsoft.com/office/drawing/2014/main" id="{8C947E4B-E00F-95E2-E272-004B49A5EB6C}"/>
              </a:ext>
              <a:ext uri="{C183D7F6-B498-43B3-948B-1728B52AA6E4}">
                <adec:decorative xmlns:adec="http://schemas.microsoft.com/office/drawing/2017/decorative" val="0"/>
              </a:ext>
            </a:extLst>
          </p:cNvPr>
          <p:cNvSpPr/>
          <p:nvPr/>
        </p:nvSpPr>
        <p:spPr bwMode="auto">
          <a:xfrm>
            <a:off x="5090160" y="2098062"/>
            <a:ext cx="2011680" cy="1248936"/>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541895" rtl="0" eaLnBrk="1" fontAlgn="auto" latinLnBrk="0" hangingPunct="1">
              <a:lnSpc>
                <a:spcPct val="100000"/>
              </a:lnSpc>
              <a:spcBef>
                <a:spcPct val="0"/>
              </a:spcBef>
              <a:spcAft>
                <a:spcPct val="0"/>
              </a:spcAft>
              <a:buClrTx/>
              <a:buSzTx/>
              <a:buFontTx/>
              <a:buNone/>
              <a:tabLst>
                <a:tab pos="881290" algn="l"/>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IQ</a:t>
            </a:r>
          </a:p>
        </p:txBody>
      </p:sp>
      <p:sp>
        <p:nvSpPr>
          <p:cNvPr id="81" name="Rectangle: Rounded Corners 146">
            <a:extLst>
              <a:ext uri="{FF2B5EF4-FFF2-40B4-BE49-F238E27FC236}">
                <a16:creationId xmlns:a16="http://schemas.microsoft.com/office/drawing/2014/main" id="{2311B4BD-A32B-3BC6-DE67-9E29F7222E44}"/>
              </a:ext>
              <a:ext uri="{C183D7F6-B498-43B3-948B-1728B52AA6E4}">
                <adec:decorative xmlns:adec="http://schemas.microsoft.com/office/drawing/2017/decorative" val="0"/>
              </a:ext>
            </a:extLst>
          </p:cNvPr>
          <p:cNvSpPr/>
          <p:nvPr/>
        </p:nvSpPr>
        <p:spPr bwMode="auto">
          <a:xfrm>
            <a:off x="7212371" y="2095540"/>
            <a:ext cx="2011680" cy="1241431"/>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541895" rtl="0" eaLnBrk="1" fontAlgn="auto" latinLnBrk="0" hangingPunct="1">
              <a:lnSpc>
                <a:spcPct val="100000"/>
              </a:lnSpc>
              <a:spcBef>
                <a:spcPct val="0"/>
              </a:spcBef>
              <a:spcAft>
                <a:spcPct val="0"/>
              </a:spcAft>
              <a:buClrTx/>
              <a:buSzTx/>
              <a:buFontTx/>
              <a:buNone/>
              <a:tabLst>
                <a:tab pos="881290" algn="l"/>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Tools</a:t>
            </a:r>
          </a:p>
        </p:txBody>
      </p:sp>
      <p:sp>
        <p:nvSpPr>
          <p:cNvPr id="82" name="Rectangle: Rounded Corners 146">
            <a:extLst>
              <a:ext uri="{FF2B5EF4-FFF2-40B4-BE49-F238E27FC236}">
                <a16:creationId xmlns:a16="http://schemas.microsoft.com/office/drawing/2014/main" id="{E9FC6299-421E-2B1E-ECC7-17661942F180}"/>
              </a:ext>
              <a:ext uri="{C183D7F6-B498-43B3-948B-1728B52AA6E4}">
                <adec:decorative xmlns:adec="http://schemas.microsoft.com/office/drawing/2017/decorative" val="0"/>
              </a:ext>
            </a:extLst>
          </p:cNvPr>
          <p:cNvSpPr/>
          <p:nvPr/>
        </p:nvSpPr>
        <p:spPr bwMode="auto">
          <a:xfrm>
            <a:off x="9332675" y="2095539"/>
            <a:ext cx="2011680" cy="1241431"/>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Machine Learning</a:t>
            </a:r>
          </a:p>
        </p:txBody>
      </p:sp>
      <p:pic>
        <p:nvPicPr>
          <p:cNvPr id="83" name="Picture 82">
            <a:extLst>
              <a:ext uri="{FF2B5EF4-FFF2-40B4-BE49-F238E27FC236}">
                <a16:creationId xmlns:a16="http://schemas.microsoft.com/office/drawing/2014/main" id="{26284AE5-1863-2761-ED18-18B611439558}"/>
              </a:ext>
              <a:ext uri="{C183D7F6-B498-43B3-948B-1728B52AA6E4}">
                <adec:decorative xmlns:adec="http://schemas.microsoft.com/office/drawing/2017/decorative" val="1"/>
              </a:ext>
            </a:extLst>
          </p:cNvPr>
          <p:cNvPicPr>
            <a:picLocks noChangeAspect="1"/>
          </p:cNvPicPr>
          <p:nvPr/>
        </p:nvPicPr>
        <p:blipFill>
          <a:blip r:embed="rId20">
            <a:extLst>
              <a:ext uri="{28A0092B-C50C-407E-A947-70E740481C1C}">
                <a14:useLocalDpi xmlns:a14="http://schemas.microsoft.com/office/drawing/2010/main" val="0"/>
              </a:ext>
            </a:extLst>
          </a:blip>
          <a:srcRect/>
          <a:stretch/>
        </p:blipFill>
        <p:spPr>
          <a:xfrm>
            <a:off x="5760185" y="2228010"/>
            <a:ext cx="667251" cy="667251"/>
          </a:xfrm>
          <a:prstGeom prst="rect">
            <a:avLst/>
          </a:prstGeom>
          <a:ln>
            <a:noFill/>
          </a:ln>
        </p:spPr>
      </p:pic>
      <p:sp>
        <p:nvSpPr>
          <p:cNvPr id="84" name="Rectangle: Rounded Corners 146">
            <a:extLst>
              <a:ext uri="{FF2B5EF4-FFF2-40B4-BE49-F238E27FC236}">
                <a16:creationId xmlns:a16="http://schemas.microsoft.com/office/drawing/2014/main" id="{F50B8F55-D1F9-EDF5-EE44-15BD10252E9A}"/>
              </a:ext>
              <a:ext uri="{C183D7F6-B498-43B3-948B-1728B52AA6E4}">
                <adec:decorative xmlns:adec="http://schemas.microsoft.com/office/drawing/2017/decorative" val="0"/>
              </a:ext>
            </a:extLst>
          </p:cNvPr>
          <p:cNvSpPr/>
          <p:nvPr/>
        </p:nvSpPr>
        <p:spPr bwMode="auto">
          <a:xfrm>
            <a:off x="843266" y="2066838"/>
            <a:ext cx="2011680" cy="1280160"/>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541895" rtl="0" eaLnBrk="1" fontAlgn="auto" latinLnBrk="0" hangingPunct="1">
              <a:lnSpc>
                <a:spcPct val="100000"/>
              </a:lnSpc>
              <a:spcBef>
                <a:spcPct val="0"/>
              </a:spcBef>
              <a:spcAft>
                <a:spcPct val="0"/>
              </a:spcAft>
              <a:buClrTx/>
              <a:buSzTx/>
              <a:buFontTx/>
              <a:buNone/>
              <a:tabLst>
                <a:tab pos="881290" algn="l"/>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Models</a:t>
            </a:r>
          </a:p>
        </p:txBody>
      </p:sp>
      <p:pic>
        <p:nvPicPr>
          <p:cNvPr id="85" name="Picture 84" descr="A blue triangle logo on a black background&#10;&#10;AI-generated content may be incorrect.">
            <a:extLst>
              <a:ext uri="{FF2B5EF4-FFF2-40B4-BE49-F238E27FC236}">
                <a16:creationId xmlns:a16="http://schemas.microsoft.com/office/drawing/2014/main" id="{041DE65A-A5E5-AD7D-0D2E-545451AF1741}"/>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515504" y="2235916"/>
            <a:ext cx="605206" cy="605206"/>
          </a:xfrm>
          <a:prstGeom prst="rect">
            <a:avLst/>
          </a:prstGeom>
        </p:spPr>
      </p:pic>
      <p:pic>
        <p:nvPicPr>
          <p:cNvPr id="86" name="Picture 85" descr="A blue logo with a black background&#10;&#10;AI-generated content may be incorrect.">
            <a:extLst>
              <a:ext uri="{FF2B5EF4-FFF2-40B4-BE49-F238E27FC236}">
                <a16:creationId xmlns:a16="http://schemas.microsoft.com/office/drawing/2014/main" id="{6EE738BA-92D3-63BC-C30D-0CC8212CEDAE}"/>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0039457" y="2235916"/>
            <a:ext cx="598115" cy="598115"/>
          </a:xfrm>
          <a:prstGeom prst="rect">
            <a:avLst/>
          </a:prstGeom>
        </p:spPr>
      </p:pic>
      <p:pic>
        <p:nvPicPr>
          <p:cNvPr id="87" name="Picture 86" descr="A blue ribbon in a shape of a star&#10;&#10;AI-generated content may be incorrect.">
            <a:extLst>
              <a:ext uri="{FF2B5EF4-FFF2-40B4-BE49-F238E27FC236}">
                <a16:creationId xmlns:a16="http://schemas.microsoft.com/office/drawing/2014/main" id="{9B2221B9-3F48-37B3-E32F-EE3E33935FB5}"/>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948038" y="2259804"/>
            <a:ext cx="540345" cy="540345"/>
          </a:xfrm>
          <a:prstGeom prst="rect">
            <a:avLst/>
          </a:prstGeom>
        </p:spPr>
      </p:pic>
      <p:pic>
        <p:nvPicPr>
          <p:cNvPr id="88" name="Picture 87" descr="A blue logo with a black background&#10;&#10;AI-generated content may be incorrect.">
            <a:extLst>
              <a:ext uri="{FF2B5EF4-FFF2-40B4-BE49-F238E27FC236}">
                <a16:creationId xmlns:a16="http://schemas.microsoft.com/office/drawing/2014/main" id="{A02B0872-4B3B-42ED-FE8C-36CA393B5638}"/>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3671306" y="2228010"/>
            <a:ext cx="598115" cy="598115"/>
          </a:xfrm>
          <a:prstGeom prst="rect">
            <a:avLst/>
          </a:prstGeom>
        </p:spPr>
      </p:pic>
      <p:sp>
        <p:nvSpPr>
          <p:cNvPr id="91" name="Title 1">
            <a:extLst>
              <a:ext uri="{FF2B5EF4-FFF2-40B4-BE49-F238E27FC236}">
                <a16:creationId xmlns:a16="http://schemas.microsoft.com/office/drawing/2014/main" id="{F95419CA-9017-AF72-3B1E-125DB54213BA}"/>
              </a:ext>
            </a:extLst>
          </p:cNvPr>
          <p:cNvSpPr txBox="1">
            <a:spLocks/>
          </p:cNvSpPr>
          <p:nvPr/>
        </p:nvSpPr>
        <p:spPr>
          <a:xfrm>
            <a:off x="4269975" y="284155"/>
            <a:ext cx="4119477" cy="547159"/>
          </a:xfrm>
          <a:prstGeom prst="rect">
            <a:avLst/>
          </a:prstGeom>
          <a:noFill/>
          <a:ln>
            <a:noFill/>
            <a:prstDash/>
          </a:ln>
          <a:effectLst/>
        </p:spPr>
        <p:txBody>
          <a:bodyPr rot="0" spcFirstLastPara="0" vertOverflow="overflow" horzOverflow="overflow" vert="horz" wrap="square" lIns="54187" tIns="0" rIns="54187" bIns="54187" numCol="1" spcCol="0" rtlCol="0" fromWordArt="0" anchor="ctr" anchorCtr="0" forceAA="0" compatLnSpc="1">
            <a:prstTxWarp prst="textNoShape">
              <a:avLst/>
            </a:prstTxWarp>
            <a:spAutoFit/>
          </a:bodyPr>
          <a:lstStyle>
            <a:defPPr>
              <a:defRPr lang="en-US"/>
            </a:defPPr>
            <a:lvl1pPr algn="ctr" defTabSz="2413689" fontAlgn="base">
              <a:lnSpc>
                <a:spcPct val="100000"/>
              </a:lnSpc>
              <a:spcBef>
                <a:spcPct val="0"/>
              </a:spcBef>
              <a:spcAft>
                <a:spcPct val="0"/>
              </a:spcAft>
              <a:buNone/>
              <a:tabLst>
                <a:tab pos="2455604" algn="l"/>
              </a:tabLst>
              <a:defRPr lang="en-US" sz="11500" b="0" cap="none" spc="-50" baseline="0" dirty="0" smtClean="0">
                <a:ln w="3175">
                  <a:noFill/>
                </a:ln>
                <a:gradFill>
                  <a:gsLst>
                    <a:gs pos="94406">
                      <a:srgbClr val="FFFFFF">
                        <a:lumMod val="75000"/>
                        <a:lumOff val="25000"/>
                      </a:srgbClr>
                    </a:gs>
                    <a:gs pos="80000">
                      <a:srgbClr val="FFFFFF">
                        <a:lumMod val="75000"/>
                        <a:lumOff val="25000"/>
                      </a:srgbClr>
                    </a:gs>
                  </a:gsLst>
                  <a:path path="circle">
                    <a:fillToRect l="100000" t="100000"/>
                  </a:path>
                </a:gradFill>
                <a:effectLst/>
                <a:latin typeface="Segoe UI Variable Display Semib" pitchFamily="2" charset="0"/>
              </a:defRPr>
            </a:lvl1pPr>
          </a:lstStyle>
          <a:p>
            <a:pPr marL="0" marR="0" lvl="0" indent="0" algn="ctr" defTabSz="536254" rtl="0" eaLnBrk="1" fontAlgn="base" latinLnBrk="0" hangingPunct="1">
              <a:lnSpc>
                <a:spcPct val="100000"/>
              </a:lnSpc>
              <a:spcBef>
                <a:spcPct val="0"/>
              </a:spcBef>
              <a:spcAft>
                <a:spcPct val="0"/>
              </a:spcAft>
              <a:buClrTx/>
              <a:buSzTx/>
              <a:buFontTx/>
              <a:buNone/>
              <a:tabLst>
                <a:tab pos="545566" algn="l"/>
              </a:tabLst>
              <a:defRPr/>
            </a:pPr>
            <a:r>
              <a:rPr kumimoji="0" lang="en-US" sz="3200" b="0" i="0" u="none" strike="noStrike" kern="1200" cap="none" spc="0" normalizeH="0" baseline="0" noProof="0">
                <a:ln w="3175">
                  <a:noFill/>
                </a:ln>
                <a:solidFill>
                  <a:srgbClr val="000000"/>
                </a:solidFill>
                <a:effectLst/>
                <a:uLnTx/>
                <a:uFillTx/>
                <a:latin typeface="Segoe Sans Text Semibold"/>
                <a:ea typeface="+mn-ea"/>
                <a:cs typeface="Segoe Sans Display Semibold"/>
              </a:rPr>
              <a:t>Microsoft Foundry</a:t>
            </a:r>
            <a:endParaRPr kumimoji="0" lang="en-CA" sz="3200" b="0" i="0" u="none" strike="noStrike" kern="1200" cap="none" spc="0" normalizeH="0" baseline="0" noProof="0">
              <a:ln w="3175">
                <a:noFill/>
              </a:ln>
              <a:solidFill>
                <a:srgbClr val="000000"/>
              </a:solidFill>
              <a:effectLst/>
              <a:uLnTx/>
              <a:uFillTx/>
              <a:latin typeface="Segoe Sans Text Semibold"/>
              <a:ea typeface="+mn-ea"/>
              <a:cs typeface="Segoe Sans Display Semibold"/>
            </a:endParaRPr>
          </a:p>
        </p:txBody>
      </p:sp>
      <p:pic>
        <p:nvPicPr>
          <p:cNvPr id="4" name="Picture 3" descr="A blue ribbon on a black background&#10;&#10;AI-generated content may be incorrect.">
            <a:extLst>
              <a:ext uri="{FF2B5EF4-FFF2-40B4-BE49-F238E27FC236}">
                <a16:creationId xmlns:a16="http://schemas.microsoft.com/office/drawing/2014/main" id="{00204E68-635F-7C6A-1DD0-9EBF2484F396}"/>
              </a:ext>
            </a:extLst>
          </p:cNvPr>
          <p:cNvPicPr>
            <a:picLocks noChangeAspect="1"/>
          </p:cNvPicPr>
          <p:nvPr/>
        </p:nvPicPr>
        <p:blipFill>
          <a:blip r:embed="rId25"/>
          <a:stretch>
            <a:fillRect/>
          </a:stretch>
        </p:blipFill>
        <p:spPr>
          <a:xfrm>
            <a:off x="3737722" y="222157"/>
            <a:ext cx="1238250" cy="676275"/>
          </a:xfrm>
          <a:prstGeom prst="rect">
            <a:avLst/>
          </a:prstGeom>
        </p:spPr>
      </p:pic>
    </p:spTree>
    <p:extLst>
      <p:ext uri="{BB962C8B-B14F-4D97-AF65-F5344CB8AC3E}">
        <p14:creationId xmlns:p14="http://schemas.microsoft.com/office/powerpoint/2010/main" val="1159595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6CF5C1E-624A-C633-4C28-27388D0165F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612F0CC-B13D-AB9B-C811-71367561D882}"/>
              </a:ext>
              <a:ext uri="{C183D7F6-B498-43B3-948B-1728B52AA6E4}">
                <adec:decorative xmlns:adec="http://schemas.microsoft.com/office/drawing/2017/decorative" val="1"/>
              </a:ext>
            </a:extLst>
          </p:cNvPr>
          <p:cNvSpPr/>
          <p:nvPr/>
        </p:nvSpPr>
        <p:spPr>
          <a:xfrm>
            <a:off x="0" y="0"/>
            <a:ext cx="3582673" cy="6858000"/>
          </a:xfrm>
          <a:prstGeom prst="rect">
            <a:avLst/>
          </a:prstGeom>
          <a:gradFill>
            <a:gsLst>
              <a:gs pos="50000">
                <a:schemeClr val="tx2"/>
              </a:gs>
              <a:gs pos="100000">
                <a:schemeClr val="accent6"/>
              </a:gs>
              <a:gs pos="0">
                <a:schemeClr val="accent3"/>
              </a:gs>
            </a:gsLst>
            <a:lin ang="18900000" scaled="1"/>
          </a:gradFill>
          <a:ln>
            <a:gradFill flip="none" rotWithShape="1">
              <a:gsLst>
                <a:gs pos="50000">
                  <a:schemeClr val="tx2"/>
                </a:gs>
                <a:gs pos="100000">
                  <a:schemeClr val="accent6"/>
                </a:gs>
                <a:gs pos="0">
                  <a:schemeClr val="accent3"/>
                </a:gs>
              </a:gsLst>
              <a:lin ang="189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Sans Text"/>
              <a:ea typeface="+mn-ea"/>
              <a:cs typeface="Segoe UI" pitchFamily="34" charset="0"/>
            </a:endParaRPr>
          </a:p>
        </p:txBody>
      </p:sp>
      <p:sp>
        <p:nvSpPr>
          <p:cNvPr id="10" name="Title 2">
            <a:extLst>
              <a:ext uri="{FF2B5EF4-FFF2-40B4-BE49-F238E27FC236}">
                <a16:creationId xmlns:a16="http://schemas.microsoft.com/office/drawing/2014/main" id="{BB5BFC32-D8B0-543E-9DA1-BF898F58207C}"/>
              </a:ext>
            </a:extLst>
          </p:cNvPr>
          <p:cNvSpPr txBox="1">
            <a:spLocks/>
          </p:cNvSpPr>
          <p:nvPr/>
        </p:nvSpPr>
        <p:spPr>
          <a:xfrm>
            <a:off x="585788" y="457200"/>
            <a:ext cx="2743077" cy="1292662"/>
          </a:xfrm>
          <a:prstGeom prst="rect">
            <a:avLst/>
          </a:prstGeom>
        </p:spPr>
        <p:txBody>
          <a:bodyPr vert="horz" wrap="square" lIns="0" tIns="0" rIns="0" bIns="0" rtlCol="0" anchor="t">
            <a:spAutoFit/>
          </a:bodyPr>
          <a:lstStyle>
            <a:lvl1pPr algn="ctr" defTabSz="932742">
              <a:lnSpc>
                <a:spcPct val="100000"/>
              </a:lnSpc>
              <a:spcBef>
                <a:spcPct val="0"/>
              </a:spcBef>
              <a:buNone/>
              <a:defRPr lang="en-US" sz="3600" b="0" cap="none" spc="-50" baseline="0" dirty="0" smtClean="0">
                <a:ln w="3175">
                  <a:noFill/>
                </a:ln>
                <a:solidFill>
                  <a:schemeClr val="tx2"/>
                </a:solidFill>
                <a:effectLst/>
                <a:latin typeface="+mj-lt"/>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50" normalizeH="0" baseline="0" noProof="0">
                <a:ln w="3175">
                  <a:noFill/>
                </a:ln>
                <a:solidFill>
                  <a:srgbClr val="FFFFFF"/>
                </a:solidFill>
                <a:effectLst/>
                <a:uLnTx/>
                <a:uFillTx/>
                <a:latin typeface="Segoe Sans Text Semibold"/>
                <a:ea typeface="+mn-ea"/>
                <a:cs typeface="Segoe Sans Text" pitchFamily="2" charset="0"/>
              </a:rPr>
              <a:t>Every model. Every use case.</a:t>
            </a:r>
            <a:br>
              <a:rPr kumimoji="0" lang="en-US" sz="2800" b="0" i="0" u="none" strike="noStrike" kern="1200" cap="none" spc="-50" normalizeH="0" baseline="0" noProof="0">
                <a:ln w="3175">
                  <a:noFill/>
                </a:ln>
                <a:solidFill>
                  <a:srgbClr val="FFFFFF"/>
                </a:solidFill>
                <a:effectLst/>
                <a:uLnTx/>
                <a:uFillTx/>
                <a:latin typeface="Segoe Sans Text Semibold"/>
                <a:ea typeface="+mn-ea"/>
                <a:cs typeface="Segoe Sans Text" pitchFamily="2" charset="0"/>
              </a:rPr>
            </a:br>
            <a:r>
              <a:rPr kumimoji="0" lang="en-US" sz="2800" b="0" i="0" u="none" strike="noStrike" kern="1200" cap="none" spc="-50" normalizeH="0" baseline="0" noProof="0">
                <a:ln w="3175">
                  <a:noFill/>
                </a:ln>
                <a:solidFill>
                  <a:srgbClr val="FFFFFF"/>
                </a:solidFill>
                <a:effectLst/>
                <a:uLnTx/>
                <a:uFillTx/>
                <a:latin typeface="Segoe Sans Text Semibold"/>
                <a:ea typeface="+mn-ea"/>
                <a:cs typeface="Segoe Sans Text" pitchFamily="2" charset="0"/>
              </a:rPr>
              <a:t>One platform.</a:t>
            </a:r>
          </a:p>
        </p:txBody>
      </p:sp>
      <p:cxnSp>
        <p:nvCxnSpPr>
          <p:cNvPr id="11" name="Straight Connector 10">
            <a:extLst>
              <a:ext uri="{FF2B5EF4-FFF2-40B4-BE49-F238E27FC236}">
                <a16:creationId xmlns:a16="http://schemas.microsoft.com/office/drawing/2014/main" id="{CA380CCD-4DD3-3A36-32B4-6D44CC565583}"/>
              </a:ext>
              <a:ext uri="{C183D7F6-B498-43B3-948B-1728B52AA6E4}">
                <adec:decorative xmlns:adec="http://schemas.microsoft.com/office/drawing/2017/decorative" val="1"/>
              </a:ext>
            </a:extLst>
          </p:cNvPr>
          <p:cNvCxnSpPr>
            <a:cxnSpLocks/>
          </p:cNvCxnSpPr>
          <p:nvPr/>
        </p:nvCxnSpPr>
        <p:spPr>
          <a:xfrm>
            <a:off x="585788" y="4339269"/>
            <a:ext cx="798512" cy="0"/>
          </a:xfrm>
          <a:prstGeom prst="line">
            <a:avLst/>
          </a:prstGeom>
          <a:ln w="1270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Title 2">
            <a:extLst>
              <a:ext uri="{FF2B5EF4-FFF2-40B4-BE49-F238E27FC236}">
                <a16:creationId xmlns:a16="http://schemas.microsoft.com/office/drawing/2014/main" id="{C7785013-34C8-C7F4-161E-717514E2DC47}"/>
              </a:ext>
            </a:extLst>
          </p:cNvPr>
          <p:cNvSpPr txBox="1">
            <a:spLocks/>
          </p:cNvSpPr>
          <p:nvPr/>
        </p:nvSpPr>
        <p:spPr>
          <a:xfrm>
            <a:off x="585788" y="4432242"/>
            <a:ext cx="2743077" cy="1323439"/>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marL="0" marR="0" lvl="0" indent="0" algn="l" defTabSz="932472" rtl="0" eaLnBrk="1" fontAlgn="base" latinLnBrk="0" hangingPunct="1">
              <a:lnSpc>
                <a:spcPct val="100000"/>
              </a:lnSpc>
              <a:spcBef>
                <a:spcPct val="0"/>
              </a:spcBef>
              <a:spcAft>
                <a:spcPts val="400"/>
              </a:spcAft>
              <a:buClrTx/>
              <a:buSzTx/>
              <a:buFontTx/>
              <a:buNone/>
              <a:tabLst/>
              <a:defRPr/>
            </a:pPr>
            <a:r>
              <a:rPr kumimoji="0" lang="en-US" sz="1400" b="0" i="0" u="none" strike="noStrike" kern="0" cap="none" spc="0" normalizeH="0" baseline="0" noProof="0">
                <a:ln w="3175">
                  <a:noFill/>
                </a:ln>
                <a:solidFill>
                  <a:srgbClr val="FFFFFF"/>
                </a:solidFill>
                <a:effectLst/>
                <a:uLnTx/>
                <a:uFillTx/>
                <a:latin typeface="Segoe Sans Text Semibold"/>
                <a:ea typeface="+mn-ea"/>
                <a:cs typeface="Segoe Sans Text"/>
              </a:rPr>
              <a:t>Avoid model lock-in:</a:t>
            </a:r>
          </a:p>
          <a:p>
            <a:pPr marL="177800" marR="0" lvl="1" indent="-177800" algn="l" defTabSz="932472" rtl="0" eaLnBrk="1" fontAlgn="base" latinLnBrk="0" hangingPunct="1">
              <a:lnSpc>
                <a:spcPct val="100000"/>
              </a:lnSpc>
              <a:spcBef>
                <a:spcPct val="0"/>
              </a:spcBef>
              <a:spcAft>
                <a:spcPts val="400"/>
              </a:spcAft>
              <a:buClr>
                <a:srgbClr val="8DE971"/>
              </a:buClr>
              <a:buSzTx/>
              <a:buFont typeface="Arial" panose="020B0604020202020204" pitchFamily="34" charset="0"/>
              <a:buChar char="•"/>
              <a:tabLst/>
              <a:defRPr/>
            </a:pPr>
            <a:r>
              <a:rPr kumimoji="0" lang="en-US" sz="1400" b="0" i="0" u="none" strike="noStrike" kern="0" cap="none" spc="0" normalizeH="0" baseline="0" noProof="0">
                <a:ln w="3175">
                  <a:noFill/>
                </a:ln>
                <a:solidFill>
                  <a:srgbClr val="FFFFFF"/>
                </a:solidFill>
                <a:effectLst/>
                <a:uLnTx/>
                <a:uFillTx/>
                <a:latin typeface="Segoe Sans Text"/>
                <a:ea typeface="+mn-ea"/>
                <a:cs typeface="Segoe Sans Text"/>
              </a:rPr>
              <a:t>Flexible model selection</a:t>
            </a:r>
          </a:p>
          <a:p>
            <a:pPr marL="177800" marR="0" lvl="1" indent="-177800" algn="l" defTabSz="932472" rtl="0" eaLnBrk="1" fontAlgn="auto" latinLnBrk="0" hangingPunct="1">
              <a:lnSpc>
                <a:spcPct val="100000"/>
              </a:lnSpc>
              <a:spcBef>
                <a:spcPct val="0"/>
              </a:spcBef>
              <a:spcAft>
                <a:spcPts val="400"/>
              </a:spcAft>
              <a:buClr>
                <a:srgbClr val="8DE971"/>
              </a:buClr>
              <a:buSzTx/>
              <a:buFont typeface="Arial" panose="020B0604020202020204" pitchFamily="34" charset="0"/>
              <a:buChar char="•"/>
              <a:tabLst/>
              <a:defRPr/>
            </a:pPr>
            <a:r>
              <a:rPr kumimoji="0" lang="en-US" sz="1400" b="0" i="0" u="none" strike="noStrike" kern="0" cap="none" spc="0" normalizeH="0" baseline="0" noProof="0">
                <a:ln w="3175">
                  <a:noFill/>
                </a:ln>
                <a:solidFill>
                  <a:srgbClr val="FFFFFF"/>
                </a:solidFill>
                <a:effectLst/>
                <a:uLnTx/>
                <a:uFillTx/>
                <a:latin typeface="Segoe Sans Text"/>
                <a:ea typeface="+mn-ea"/>
                <a:cs typeface="Segoe Sans Text"/>
              </a:rPr>
              <a:t>Curated for organizations</a:t>
            </a:r>
            <a:endParaRPr kumimoji="0" lang="en-US" sz="1400" b="0" i="0" u="none" strike="noStrike" kern="1200" cap="none" spc="0" normalizeH="0" baseline="0" noProof="0">
              <a:ln w="3175">
                <a:noFill/>
              </a:ln>
              <a:solidFill>
                <a:srgbClr val="243A5E"/>
              </a:solidFill>
              <a:effectLst/>
              <a:uLnTx/>
              <a:uFillTx/>
              <a:latin typeface="Segoe Sans Text"/>
              <a:ea typeface="+mn-ea"/>
              <a:cs typeface="Segoe Sans Text"/>
            </a:endParaRPr>
          </a:p>
          <a:p>
            <a:pPr marL="177800" marR="0" lvl="1" indent="-177800" algn="l" defTabSz="932472" rtl="0" eaLnBrk="1" fontAlgn="auto" latinLnBrk="0" hangingPunct="1">
              <a:lnSpc>
                <a:spcPct val="100000"/>
              </a:lnSpc>
              <a:spcBef>
                <a:spcPct val="0"/>
              </a:spcBef>
              <a:spcAft>
                <a:spcPts val="400"/>
              </a:spcAft>
              <a:buClr>
                <a:srgbClr val="8DE971"/>
              </a:buClr>
              <a:buSzTx/>
              <a:buFont typeface="Arial" panose="020B0604020202020204" pitchFamily="34" charset="0"/>
              <a:buChar char="•"/>
              <a:tabLst/>
              <a:defRPr/>
            </a:pPr>
            <a:r>
              <a:rPr kumimoji="0" lang="en-US" sz="1400" b="0" i="0" u="none" strike="noStrike" kern="0" cap="none" spc="0" normalizeH="0" baseline="0" noProof="0">
                <a:ln w="3175">
                  <a:noFill/>
                </a:ln>
                <a:solidFill>
                  <a:srgbClr val="FFFFFF"/>
                </a:solidFill>
                <a:effectLst/>
                <a:uLnTx/>
                <a:uFillTx/>
                <a:latin typeface="Segoe Sans Text"/>
                <a:ea typeface="+mn-ea"/>
                <a:cs typeface="Segoe Sans Text"/>
              </a:rPr>
              <a:t>Explore, compare, evaluate and</a:t>
            </a:r>
            <a:br>
              <a:rPr kumimoji="0" lang="en-US" sz="1400" b="0" i="0" u="none" strike="noStrike" kern="0" cap="none" spc="0" normalizeH="0" baseline="0" noProof="0">
                <a:ln w="3175">
                  <a:noFill/>
                </a:ln>
                <a:solidFill>
                  <a:srgbClr val="000000"/>
                </a:solidFill>
                <a:effectLst/>
                <a:uLnTx/>
                <a:uFillTx/>
                <a:latin typeface="Segoe Sans Text"/>
                <a:ea typeface="+mn-ea"/>
                <a:cs typeface="Segoe Sans Text" pitchFamily="2" charset="0"/>
              </a:rPr>
            </a:br>
            <a:r>
              <a:rPr kumimoji="0" lang="en-US" sz="1400" b="0" i="0" u="none" strike="noStrike" kern="0" cap="none" spc="0" normalizeH="0" baseline="0" noProof="0">
                <a:ln w="3175">
                  <a:noFill/>
                </a:ln>
                <a:solidFill>
                  <a:srgbClr val="FFFFFF"/>
                </a:solidFill>
                <a:effectLst/>
                <a:uLnTx/>
                <a:uFillTx/>
                <a:latin typeface="Segoe Sans Text"/>
                <a:ea typeface="+mn-ea"/>
                <a:cs typeface="Segoe Sans Text"/>
              </a:rPr>
              <a:t>swap  models with ease</a:t>
            </a:r>
          </a:p>
        </p:txBody>
      </p:sp>
      <p:sp>
        <p:nvSpPr>
          <p:cNvPr id="14" name="Title 2">
            <a:extLst>
              <a:ext uri="{FF2B5EF4-FFF2-40B4-BE49-F238E27FC236}">
                <a16:creationId xmlns:a16="http://schemas.microsoft.com/office/drawing/2014/main" id="{BF147863-F24B-4EDD-A1EE-1817E9B3A563}"/>
              </a:ext>
            </a:extLst>
          </p:cNvPr>
          <p:cNvSpPr txBox="1">
            <a:spLocks/>
          </p:cNvSpPr>
          <p:nvPr/>
        </p:nvSpPr>
        <p:spPr>
          <a:xfrm>
            <a:off x="4026795" y="1347355"/>
            <a:ext cx="7169373" cy="719440"/>
          </a:xfrm>
          <a:prstGeom prst="roundRect">
            <a:avLst>
              <a:gd name="adj" fmla="val 50000"/>
            </a:avLst>
          </a:prstGeom>
          <a:gradFill flip="none" rotWithShape="1">
            <a:gsLst>
              <a:gs pos="0">
                <a:schemeClr val="accent3"/>
              </a:gs>
              <a:gs pos="66000">
                <a:schemeClr val="tx2"/>
              </a:gs>
              <a:gs pos="100000">
                <a:schemeClr val="accent6"/>
              </a:gs>
            </a:gsLst>
            <a:path path="circle">
              <a:fillToRect l="100000" t="100000"/>
            </a:path>
            <a:tileRect r="-100000" b="-100000"/>
          </a:gradFill>
          <a:ln w="12700">
            <a:noFill/>
            <a:headEnd type="none" w="med" len="med"/>
            <a:tailEnd type="none" w="med" len="med"/>
          </a:ln>
          <a:effectLst>
            <a:outerShdw blurRad="152400" dist="38100" dir="2700000" algn="tl" rotWithShape="0">
              <a:prstClr val="black">
                <a:alpha val="39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defTabSz="491019" fontAlgn="base">
              <a:spcAft>
                <a:spcPct val="0"/>
              </a:spcAft>
              <a:defRPr b="1">
                <a:solidFill>
                  <a:schemeClr val="bg1"/>
                </a:solidFill>
                <a:latin typeface="Segoe UI Semibold" panose="020B0502040204020203"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91019" rtl="0" eaLnBrk="1" fontAlgn="base" latinLnBrk="0" hangingPunct="1">
              <a:lnSpc>
                <a:spcPct val="90000"/>
              </a:lnSpc>
              <a:spcBef>
                <a:spcPts val="0"/>
              </a:spcBef>
              <a:spcAft>
                <a:spcPct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Segoe Sans Text Semibold"/>
                <a:ea typeface="+mn-ea"/>
                <a:cs typeface="Segoe Sans Text" pitchFamily="2" charset="0"/>
              </a:rPr>
              <a:t>11,000+ Frontier, specialized and open models </a:t>
            </a:r>
            <a:br>
              <a:rPr kumimoji="0" lang="en-US" sz="1800" b="1" i="0" u="none" strike="noStrike" kern="1200" cap="none" spc="0" normalizeH="0" baseline="0" noProof="0">
                <a:ln>
                  <a:noFill/>
                </a:ln>
                <a:solidFill>
                  <a:srgbClr val="FFFFFF"/>
                </a:solidFill>
                <a:effectLst/>
                <a:uLnTx/>
                <a:uFillTx/>
                <a:latin typeface="Segoe Sans Text Semibold"/>
                <a:ea typeface="+mn-ea"/>
                <a:cs typeface="Segoe Sans Text" pitchFamily="2" charset="0"/>
              </a:rPr>
            </a:br>
            <a:r>
              <a:rPr kumimoji="0" lang="en-US" sz="1800" b="1" i="0" u="none" strike="noStrike" kern="1200" cap="none" spc="0" normalizeH="0" baseline="0" noProof="0">
                <a:ln>
                  <a:noFill/>
                </a:ln>
                <a:solidFill>
                  <a:srgbClr val="FFFFFF"/>
                </a:solidFill>
                <a:effectLst/>
                <a:uLnTx/>
                <a:uFillTx/>
                <a:latin typeface="Segoe Sans Text Semibold"/>
                <a:ea typeface="+mn-ea"/>
                <a:cs typeface="Segoe Sans Text" pitchFamily="2" charset="0"/>
              </a:rPr>
              <a:t>in Microsoft Foundry Models</a:t>
            </a:r>
          </a:p>
        </p:txBody>
      </p:sp>
      <p:pic>
        <p:nvPicPr>
          <p:cNvPr id="15" name="Picture 14">
            <a:extLst>
              <a:ext uri="{FF2B5EF4-FFF2-40B4-BE49-F238E27FC236}">
                <a16:creationId xmlns:a16="http://schemas.microsoft.com/office/drawing/2014/main" id="{22266B3F-74EE-2A4C-CBB6-0C7D402529D0}"/>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391809" y="1472394"/>
            <a:ext cx="436993" cy="469362"/>
          </a:xfrm>
          <a:prstGeom prst="rect">
            <a:avLst/>
          </a:prstGeom>
        </p:spPr>
      </p:pic>
      <p:sp>
        <p:nvSpPr>
          <p:cNvPr id="18" name="Title 17">
            <a:extLst>
              <a:ext uri="{FF2B5EF4-FFF2-40B4-BE49-F238E27FC236}">
                <a16:creationId xmlns:a16="http://schemas.microsoft.com/office/drawing/2014/main" id="{DD284E55-66E1-2840-4BCA-6C7C0D177BD2}"/>
              </a:ext>
            </a:extLst>
          </p:cNvPr>
          <p:cNvSpPr>
            <a:spLocks noGrp="1"/>
          </p:cNvSpPr>
          <p:nvPr>
            <p:ph type="title"/>
          </p:nvPr>
        </p:nvSpPr>
        <p:spPr>
          <a:xfrm>
            <a:off x="4071972" y="391656"/>
            <a:ext cx="7435277" cy="554038"/>
          </a:xfrm>
        </p:spPr>
        <p:txBody>
          <a:bodyPr/>
          <a:lstStyle/>
          <a:p>
            <a:pPr algn="ctr"/>
            <a:r>
              <a:rPr lang="en-US">
                <a:solidFill>
                  <a:schemeClr val="tx1"/>
                </a:solidFill>
              </a:rPr>
              <a:t>Microsoft Foundry Models</a:t>
            </a:r>
          </a:p>
        </p:txBody>
      </p:sp>
      <p:pic>
        <p:nvPicPr>
          <p:cNvPr id="3" name="Picture 2" descr="Grok color icon in PNG, SVG">
            <a:extLst>
              <a:ext uri="{FF2B5EF4-FFF2-40B4-BE49-F238E27FC236}">
                <a16:creationId xmlns:a16="http://schemas.microsoft.com/office/drawing/2014/main" id="{EA2A2081-90F3-9D5F-EA2F-EAADCFCC2C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2240" y="2745301"/>
            <a:ext cx="465040" cy="43891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zure Open AI Service Icon">
            <a:extLst>
              <a:ext uri="{FF2B5EF4-FFF2-40B4-BE49-F238E27FC236}">
                <a16:creationId xmlns:a16="http://schemas.microsoft.com/office/drawing/2014/main" id="{73E2499C-1C64-0208-426E-606D779620B9}"/>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4101713" y="2722794"/>
            <a:ext cx="597383" cy="563821"/>
          </a:xfrm>
          <a:prstGeom prst="rect">
            <a:avLst/>
          </a:prstGeom>
        </p:spPr>
      </p:pic>
      <p:pic>
        <p:nvPicPr>
          <p:cNvPr id="7" name="Picture 6">
            <a:extLst>
              <a:ext uri="{FF2B5EF4-FFF2-40B4-BE49-F238E27FC236}">
                <a16:creationId xmlns:a16="http://schemas.microsoft.com/office/drawing/2014/main" id="{DEF2BA35-D448-A3FF-BD2B-BFCE776E9ABD}"/>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9649" b="89474" l="9910" r="93694">
                        <a14:foregroundMark x1="93694" y1="28947" x2="92793" y2="28947"/>
                      </a14:backgroundRemoval>
                    </a14:imgEffect>
                  </a14:imgLayer>
                </a14:imgProps>
              </a:ext>
            </a:extLst>
          </a:blip>
          <a:stretch>
            <a:fillRect/>
          </a:stretch>
        </p:blipFill>
        <p:spPr>
          <a:xfrm>
            <a:off x="6074596" y="2697369"/>
            <a:ext cx="584869" cy="566928"/>
          </a:xfrm>
          <a:prstGeom prst="rect">
            <a:avLst/>
          </a:prstGeom>
        </p:spPr>
      </p:pic>
      <p:pic>
        <p:nvPicPr>
          <p:cNvPr id="8" name="Picture 7" descr="A white letter on a red and yellow background&#10;&#10;AI-generated content may be incorrect.">
            <a:extLst>
              <a:ext uri="{FF2B5EF4-FFF2-40B4-BE49-F238E27FC236}">
                <a16:creationId xmlns:a16="http://schemas.microsoft.com/office/drawing/2014/main" id="{AD155522-7A89-64EB-3407-276BD0ADFD72}"/>
              </a:ext>
            </a:extLst>
          </p:cNvPr>
          <p:cNvPicPr>
            <a:picLocks noChangeAspect="1"/>
          </p:cNvPicPr>
          <p:nvPr/>
        </p:nvPicPr>
        <p:blipFill>
          <a:blip r:embed="rId8"/>
          <a:stretch>
            <a:fillRect/>
          </a:stretch>
        </p:blipFill>
        <p:spPr>
          <a:xfrm>
            <a:off x="7100213" y="2765313"/>
            <a:ext cx="454060" cy="438912"/>
          </a:xfrm>
          <a:prstGeom prst="rect">
            <a:avLst/>
          </a:prstGeom>
        </p:spPr>
      </p:pic>
      <p:pic>
        <p:nvPicPr>
          <p:cNvPr id="9" name="Graphic 8">
            <a:extLst>
              <a:ext uri="{FF2B5EF4-FFF2-40B4-BE49-F238E27FC236}">
                <a16:creationId xmlns:a16="http://schemas.microsoft.com/office/drawing/2014/main" id="{338624B4-596A-7BE5-0261-89048CEDC5A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989477" y="2721136"/>
            <a:ext cx="690206" cy="512064"/>
          </a:xfrm>
          <a:prstGeom prst="rect">
            <a:avLst/>
          </a:prstGeom>
        </p:spPr>
      </p:pic>
      <p:sp>
        <p:nvSpPr>
          <p:cNvPr id="20" name="TextBox 19">
            <a:extLst>
              <a:ext uri="{FF2B5EF4-FFF2-40B4-BE49-F238E27FC236}">
                <a16:creationId xmlns:a16="http://schemas.microsoft.com/office/drawing/2014/main" id="{BD892359-081F-0820-F688-F6E5C80146A0}"/>
              </a:ext>
            </a:extLst>
          </p:cNvPr>
          <p:cNvSpPr txBox="1"/>
          <p:nvPr/>
        </p:nvSpPr>
        <p:spPr>
          <a:xfrm>
            <a:off x="4101713" y="3373991"/>
            <a:ext cx="597383" cy="64633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Azure OpenAI</a:t>
            </a:r>
            <a:br>
              <a:rPr kumimoji="0" lang="en-US" sz="1400" b="0" i="0" u="none" strike="noStrike" kern="0" cap="none" spc="0" normalizeH="0" baseline="0" noProof="0">
                <a:ln>
                  <a:noFill/>
                </a:ln>
                <a:solidFill>
                  <a:srgbClr val="000000"/>
                </a:solidFill>
                <a:effectLst/>
                <a:uLnTx/>
                <a:uFillTx/>
                <a:latin typeface="Segoe Sans Text"/>
                <a:ea typeface="+mn-ea"/>
                <a:cs typeface="+mn-cs"/>
              </a:rPr>
            </a:br>
            <a:endParaRPr kumimoji="0" lang="en-US" sz="1400" b="0" i="0" u="none" strike="noStrike" kern="0" cap="none" spc="0" normalizeH="0" baseline="0" noProof="0">
              <a:ln>
                <a:noFill/>
              </a:ln>
              <a:solidFill>
                <a:srgbClr val="000000"/>
              </a:solidFill>
              <a:effectLst/>
              <a:uLnTx/>
              <a:uFillTx/>
              <a:latin typeface="Segoe Sans Text"/>
              <a:ea typeface="+mn-ea"/>
              <a:cs typeface="+mn-cs"/>
            </a:endParaRPr>
          </a:p>
        </p:txBody>
      </p:sp>
      <p:grpSp>
        <p:nvGrpSpPr>
          <p:cNvPr id="25" name="Group 24">
            <a:extLst>
              <a:ext uri="{FF2B5EF4-FFF2-40B4-BE49-F238E27FC236}">
                <a16:creationId xmlns:a16="http://schemas.microsoft.com/office/drawing/2014/main" id="{19E1B30F-9900-F635-6D06-A4AD85190FFF}"/>
              </a:ext>
            </a:extLst>
          </p:cNvPr>
          <p:cNvGrpSpPr/>
          <p:nvPr/>
        </p:nvGrpSpPr>
        <p:grpSpPr>
          <a:xfrm>
            <a:off x="4706757" y="5000989"/>
            <a:ext cx="6165693" cy="644092"/>
            <a:chOff x="4888002" y="5649133"/>
            <a:chExt cx="5797989" cy="555876"/>
          </a:xfrm>
        </p:grpSpPr>
        <p:sp>
          <p:nvSpPr>
            <p:cNvPr id="49" name="TextBox 48">
              <a:extLst>
                <a:ext uri="{FF2B5EF4-FFF2-40B4-BE49-F238E27FC236}">
                  <a16:creationId xmlns:a16="http://schemas.microsoft.com/office/drawing/2014/main" id="{80748AC2-EFD0-3CB4-672F-91C235CF207C}"/>
                </a:ext>
              </a:extLst>
            </p:cNvPr>
            <p:cNvSpPr txBox="1"/>
            <p:nvPr/>
          </p:nvSpPr>
          <p:spPr>
            <a:xfrm>
              <a:off x="6406170" y="5915753"/>
              <a:ext cx="739982" cy="245700"/>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Text"/>
                  <a:ea typeface="+mn-ea"/>
                  <a:cs typeface="+mn-cs"/>
                </a:rPr>
                <a:t>Databricks</a:t>
              </a:r>
              <a:br>
                <a:rPr kumimoji="0" lang="en-US" sz="1050" b="0" i="0" u="none" strike="noStrike" kern="0" cap="none" spc="0" normalizeH="0" baseline="0" noProof="0">
                  <a:ln>
                    <a:noFill/>
                  </a:ln>
                  <a:solidFill>
                    <a:srgbClr val="000000"/>
                  </a:solidFill>
                  <a:effectLst/>
                  <a:uLnTx/>
                  <a:uFillTx/>
                  <a:latin typeface="Segoe Sans Text"/>
                  <a:ea typeface="+mn-ea"/>
                  <a:cs typeface="+mn-cs"/>
                </a:rPr>
              </a:br>
              <a:endParaRPr kumimoji="0" lang="en-US" sz="1050" b="0" i="0" u="none" strike="noStrike" kern="0" cap="none" spc="0" normalizeH="0" baseline="0" noProof="0">
                <a:ln>
                  <a:noFill/>
                </a:ln>
                <a:solidFill>
                  <a:srgbClr val="000000"/>
                </a:solidFill>
                <a:effectLst/>
                <a:uLnTx/>
                <a:uFillTx/>
                <a:latin typeface="Segoe Sans Text"/>
                <a:ea typeface="+mn-ea"/>
                <a:cs typeface="+mn-cs"/>
              </a:endParaRPr>
            </a:p>
          </p:txBody>
        </p:sp>
        <p:sp>
          <p:nvSpPr>
            <p:cNvPr id="51" name="TextBox 50">
              <a:extLst>
                <a:ext uri="{FF2B5EF4-FFF2-40B4-BE49-F238E27FC236}">
                  <a16:creationId xmlns:a16="http://schemas.microsoft.com/office/drawing/2014/main" id="{A1CF3FB5-5C26-ABBB-935C-48CB3C2ADE04}"/>
                </a:ext>
              </a:extLst>
            </p:cNvPr>
            <p:cNvSpPr txBox="1"/>
            <p:nvPr/>
          </p:nvSpPr>
          <p:spPr>
            <a:xfrm>
              <a:off x="4888002" y="5920316"/>
              <a:ext cx="739982" cy="284693"/>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Text"/>
                  <a:ea typeface="+mn-ea"/>
                  <a:cs typeface="+mn-cs"/>
                </a:rPr>
                <a:t>Hugging Face</a:t>
              </a:r>
              <a:br>
                <a:rPr kumimoji="0" lang="en-US" sz="1050" b="0" i="0" u="none" strike="noStrike" kern="0" cap="none" spc="0" normalizeH="0" baseline="0" noProof="0">
                  <a:ln>
                    <a:noFill/>
                  </a:ln>
                  <a:solidFill>
                    <a:srgbClr val="000000"/>
                  </a:solidFill>
                  <a:effectLst/>
                  <a:uLnTx/>
                  <a:uFillTx/>
                  <a:latin typeface="Segoe Sans Text"/>
                  <a:ea typeface="+mn-ea"/>
                  <a:cs typeface="+mn-cs"/>
                </a:rPr>
              </a:br>
              <a:endParaRPr kumimoji="0" lang="en-US" sz="1050" b="0" i="0" u="none" strike="noStrike" kern="0" cap="none" spc="0" normalizeH="0" baseline="0" noProof="0">
                <a:ln>
                  <a:noFill/>
                </a:ln>
                <a:solidFill>
                  <a:srgbClr val="000000"/>
                </a:solidFill>
                <a:effectLst/>
                <a:uLnTx/>
                <a:uFillTx/>
                <a:latin typeface="Segoe Sans Text"/>
                <a:ea typeface="+mn-ea"/>
                <a:cs typeface="+mn-cs"/>
              </a:endParaRPr>
            </a:p>
          </p:txBody>
        </p:sp>
        <p:grpSp>
          <p:nvGrpSpPr>
            <p:cNvPr id="24" name="Group 23">
              <a:extLst>
                <a:ext uri="{FF2B5EF4-FFF2-40B4-BE49-F238E27FC236}">
                  <a16:creationId xmlns:a16="http://schemas.microsoft.com/office/drawing/2014/main" id="{E4CA951C-EEF6-AC04-9831-4BB658436374}"/>
                </a:ext>
              </a:extLst>
            </p:cNvPr>
            <p:cNvGrpSpPr/>
            <p:nvPr/>
          </p:nvGrpSpPr>
          <p:grpSpPr>
            <a:xfrm>
              <a:off x="5121922" y="5649133"/>
              <a:ext cx="5564069" cy="395565"/>
              <a:chOff x="5121922" y="5649133"/>
              <a:chExt cx="5564069" cy="395565"/>
            </a:xfrm>
          </p:grpSpPr>
          <p:pic>
            <p:nvPicPr>
              <p:cNvPr id="40" name="Graphic 39">
                <a:extLst>
                  <a:ext uri="{FF2B5EF4-FFF2-40B4-BE49-F238E27FC236}">
                    <a16:creationId xmlns:a16="http://schemas.microsoft.com/office/drawing/2014/main" id="{4A2320BD-9F72-C63E-FEE1-874CA2396DD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686006" y="5697898"/>
                <a:ext cx="203478" cy="134834"/>
              </a:xfrm>
              <a:prstGeom prst="rect">
                <a:avLst/>
              </a:prstGeom>
            </p:spPr>
          </p:pic>
          <p:pic>
            <p:nvPicPr>
              <p:cNvPr id="41" name="Picture 2">
                <a:extLst>
                  <a:ext uri="{FF2B5EF4-FFF2-40B4-BE49-F238E27FC236}">
                    <a16:creationId xmlns:a16="http://schemas.microsoft.com/office/drawing/2014/main" id="{3DABD1A4-BCBF-0EC9-FE84-93D9BCB5FB86}"/>
                  </a:ext>
                  <a:ext uri="{C183D7F6-B498-43B3-948B-1728B52AA6E4}">
                    <adec:decorative xmlns:adec="http://schemas.microsoft.com/office/drawing/2017/decorative" val="1"/>
                  </a:ext>
                </a:extLst>
              </p:cNvPr>
              <p:cNvPicPr>
                <a:picLocks noChangeAspect="1" noChangeArrowheads="1"/>
              </p:cNvPicPr>
              <p:nvPr/>
            </p:nvPicPr>
            <p:blipFill rotWithShape="1">
              <a:blip r:embed="rId11" cstate="screen">
                <a:clrChange>
                  <a:clrFrom>
                    <a:srgbClr val="F8F8F8"/>
                  </a:clrFrom>
                  <a:clrTo>
                    <a:srgbClr val="F8F8F8">
                      <a:alpha val="0"/>
                    </a:srgbClr>
                  </a:clrTo>
                </a:clrChange>
                <a:extLst>
                  <a:ext uri="{28A0092B-C50C-407E-A947-70E740481C1C}">
                    <a14:useLocalDpi xmlns:a14="http://schemas.microsoft.com/office/drawing/2010/main"/>
                  </a:ext>
                </a:extLst>
              </a:blip>
              <a:srcRect l="14476" t="24955" r="14476" b="24955"/>
              <a:stretch/>
            </p:blipFill>
            <p:spPr bwMode="auto">
              <a:xfrm>
                <a:off x="6156267" y="5666964"/>
                <a:ext cx="305275" cy="202565"/>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a:extLst>
                  <a:ext uri="{FF2B5EF4-FFF2-40B4-BE49-F238E27FC236}">
                    <a16:creationId xmlns:a16="http://schemas.microsoft.com/office/drawing/2014/main" id="{23FAD18B-0001-A466-D5E8-D1C35CDB56B2}"/>
                  </a:ext>
                  <a:ext uri="{C183D7F6-B498-43B3-948B-1728B52AA6E4}">
                    <adec:decorative xmlns:adec="http://schemas.microsoft.com/office/drawing/2017/decorative" val="1"/>
                  </a:ext>
                </a:extLst>
              </p:cNvPr>
              <p:cNvPicPr>
                <a:picLocks noChangeAspect="1" noChangeArrowheads="1"/>
              </p:cNvPicPr>
              <p:nvPr/>
            </p:nvPicPr>
            <p:blipFill rotWithShape="1">
              <a:blip r:embed="rId12" cstate="screen">
                <a:extLst>
                  <a:ext uri="{28A0092B-C50C-407E-A947-70E740481C1C}">
                    <a14:useLocalDpi xmlns:a14="http://schemas.microsoft.com/office/drawing/2010/main"/>
                  </a:ext>
                </a:extLst>
              </a:blip>
              <a:srcRect l="10477" t="36119" r="75600" b="36385"/>
              <a:stretch/>
            </p:blipFill>
            <p:spPr bwMode="auto">
              <a:xfrm>
                <a:off x="6616797" y="5667697"/>
                <a:ext cx="257911" cy="21286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14" descr="Sight Machine">
                <a:extLst>
                  <a:ext uri="{FF2B5EF4-FFF2-40B4-BE49-F238E27FC236}">
                    <a16:creationId xmlns:a16="http://schemas.microsoft.com/office/drawing/2014/main" id="{33597485-5046-EE01-9E7D-EAA5846ABE23}"/>
                  </a:ext>
                </a:extLst>
              </p:cNvPr>
              <p:cNvPicPr>
                <a:picLocks noChangeAspect="1" noChangeArrowheads="1"/>
              </p:cNvPicPr>
              <p:nvPr/>
            </p:nvPicPr>
            <p:blipFill>
              <a:blip r:embed="rId1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146152" y="5696844"/>
                <a:ext cx="712495" cy="203594"/>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descr="saifr">
                <a:extLst>
                  <a:ext uri="{FF2B5EF4-FFF2-40B4-BE49-F238E27FC236}">
                    <a16:creationId xmlns:a16="http://schemas.microsoft.com/office/drawing/2014/main" id="{A05CDF61-E210-34A3-752E-B09027AE2D7F}"/>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7935084" y="5678291"/>
                <a:ext cx="649486" cy="199784"/>
              </a:xfrm>
              <a:prstGeom prst="rect">
                <a:avLst/>
              </a:prstGeom>
            </p:spPr>
          </p:pic>
          <p:pic>
            <p:nvPicPr>
              <p:cNvPr id="45" name="Picture 44" descr="bayer">
                <a:extLst>
                  <a:ext uri="{FF2B5EF4-FFF2-40B4-BE49-F238E27FC236}">
                    <a16:creationId xmlns:a16="http://schemas.microsoft.com/office/drawing/2014/main" id="{4B746E56-54BA-14AE-72C8-9251CC2754B6}"/>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8679239" y="5657098"/>
                <a:ext cx="239784" cy="240619"/>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2" descr="Rockwell Automation">
                <a:extLst>
                  <a:ext uri="{FF2B5EF4-FFF2-40B4-BE49-F238E27FC236}">
                    <a16:creationId xmlns:a16="http://schemas.microsoft.com/office/drawing/2014/main" id="{190C2A7B-C946-5A4D-32E4-1174A36F1640}"/>
                  </a:ext>
                </a:extLst>
              </p:cNvPr>
              <p:cNvPicPr>
                <a:picLocks noChangeAspect="1" noChangeArrowheads="1"/>
              </p:cNvPicPr>
              <p:nvPr/>
            </p:nvPicPr>
            <p:blipFill rotWithShape="1">
              <a:blip r:embed="rId16"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9055321" y="5657098"/>
                <a:ext cx="847536" cy="21963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descr="Paige">
                <a:extLst>
                  <a:ext uri="{FF2B5EF4-FFF2-40B4-BE49-F238E27FC236}">
                    <a16:creationId xmlns:a16="http://schemas.microsoft.com/office/drawing/2014/main" id="{CFC055B3-DE5E-B39F-52FB-40D4A177BB5E}"/>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10058112" y="5672813"/>
                <a:ext cx="627879" cy="193049"/>
              </a:xfrm>
              <a:prstGeom prst="rect">
                <a:avLst/>
              </a:prstGeom>
            </p:spPr>
          </p:pic>
          <p:sp>
            <p:nvSpPr>
              <p:cNvPr id="48" name="TextBox 47">
                <a:extLst>
                  <a:ext uri="{FF2B5EF4-FFF2-40B4-BE49-F238E27FC236}">
                    <a16:creationId xmlns:a16="http://schemas.microsoft.com/office/drawing/2014/main" id="{D46830CC-4A5E-30EC-9C8E-FA3089443B14}"/>
                  </a:ext>
                </a:extLst>
              </p:cNvPr>
              <p:cNvSpPr txBox="1"/>
              <p:nvPr/>
            </p:nvSpPr>
            <p:spPr>
              <a:xfrm>
                <a:off x="5935871" y="5920316"/>
                <a:ext cx="739982" cy="12311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err="1">
                    <a:ln>
                      <a:noFill/>
                    </a:ln>
                    <a:solidFill>
                      <a:srgbClr val="000000"/>
                    </a:solidFill>
                    <a:effectLst/>
                    <a:uLnTx/>
                    <a:uFillTx/>
                    <a:latin typeface="Segoe Sans Text"/>
                    <a:ea typeface="+mn-ea"/>
                    <a:cs typeface="+mn-cs"/>
                  </a:rPr>
                  <a:t>Nixtla</a:t>
                </a:r>
                <a:endParaRPr kumimoji="0" lang="en-US" sz="800" b="0" i="0" u="none" strike="noStrike" kern="0" cap="none" spc="0" normalizeH="0" baseline="0" noProof="0">
                  <a:ln>
                    <a:noFill/>
                  </a:ln>
                  <a:solidFill>
                    <a:srgbClr val="000000"/>
                  </a:solidFill>
                  <a:effectLst/>
                  <a:uLnTx/>
                  <a:uFillTx/>
                  <a:latin typeface="Segoe Sans Text"/>
                  <a:ea typeface="+mn-ea"/>
                  <a:cs typeface="+mn-cs"/>
                </a:endParaRPr>
              </a:p>
            </p:txBody>
          </p:sp>
          <p:sp>
            <p:nvSpPr>
              <p:cNvPr id="52" name="TextBox 51">
                <a:extLst>
                  <a:ext uri="{FF2B5EF4-FFF2-40B4-BE49-F238E27FC236}">
                    <a16:creationId xmlns:a16="http://schemas.microsoft.com/office/drawing/2014/main" id="{0F63452F-FC0D-DD66-EA23-CAB74A218A6C}"/>
                  </a:ext>
                </a:extLst>
              </p:cNvPr>
              <p:cNvSpPr txBox="1"/>
              <p:nvPr/>
            </p:nvSpPr>
            <p:spPr>
              <a:xfrm>
                <a:off x="5444019" y="5921587"/>
                <a:ext cx="739982"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Text"/>
                    <a:ea typeface="+mn-ea"/>
                    <a:cs typeface="+mn-cs"/>
                  </a:rPr>
                  <a:t>NVIDIA</a:t>
                </a:r>
              </a:p>
            </p:txBody>
          </p:sp>
          <p:pic>
            <p:nvPicPr>
              <p:cNvPr id="53" name="Graphic 52">
                <a:extLst>
                  <a:ext uri="{FF2B5EF4-FFF2-40B4-BE49-F238E27FC236}">
                    <a16:creationId xmlns:a16="http://schemas.microsoft.com/office/drawing/2014/main" id="{3A10876F-FB6B-0B15-C8FC-80CA962BB7E2}"/>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121922" y="5649133"/>
                <a:ext cx="203477" cy="203477"/>
              </a:xfrm>
              <a:prstGeom prst="rect">
                <a:avLst/>
              </a:prstGeom>
            </p:spPr>
          </p:pic>
        </p:grpSp>
      </p:grpSp>
      <p:pic>
        <p:nvPicPr>
          <p:cNvPr id="1026" name="Picture 2" descr="Claude Logo 免費下載 SVG, PNG, 矢量圖標 · LobeHub">
            <a:extLst>
              <a:ext uri="{FF2B5EF4-FFF2-40B4-BE49-F238E27FC236}">
                <a16:creationId xmlns:a16="http://schemas.microsoft.com/office/drawing/2014/main" id="{56A9FE74-32F8-09EA-9A86-029A2926C23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45896" y="2766353"/>
            <a:ext cx="520262" cy="520262"/>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693EEEED-F98F-017F-20B7-08487635669A}"/>
              </a:ext>
            </a:extLst>
          </p:cNvPr>
          <p:cNvSpPr txBox="1"/>
          <p:nvPr/>
        </p:nvSpPr>
        <p:spPr>
          <a:xfrm>
            <a:off x="4905003" y="3373990"/>
            <a:ext cx="1002048" cy="64633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Claude in Microsoft Foundry</a:t>
            </a:r>
          </a:p>
        </p:txBody>
      </p:sp>
      <p:sp>
        <p:nvSpPr>
          <p:cNvPr id="27" name="TextBox 26">
            <a:extLst>
              <a:ext uri="{FF2B5EF4-FFF2-40B4-BE49-F238E27FC236}">
                <a16:creationId xmlns:a16="http://schemas.microsoft.com/office/drawing/2014/main" id="{237913A6-DD4A-DBAD-A2D5-DF6A9B272A78}"/>
              </a:ext>
            </a:extLst>
          </p:cNvPr>
          <p:cNvSpPr txBox="1"/>
          <p:nvPr/>
        </p:nvSpPr>
        <p:spPr>
          <a:xfrm>
            <a:off x="5921160" y="3373991"/>
            <a:ext cx="891740" cy="43088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Azure DeepSeek</a:t>
            </a:r>
          </a:p>
        </p:txBody>
      </p:sp>
      <p:sp>
        <p:nvSpPr>
          <p:cNvPr id="28" name="TextBox 27">
            <a:extLst>
              <a:ext uri="{FF2B5EF4-FFF2-40B4-BE49-F238E27FC236}">
                <a16:creationId xmlns:a16="http://schemas.microsoft.com/office/drawing/2014/main" id="{CAA45343-2ACF-7B1E-9F69-2D612ABDF230}"/>
              </a:ext>
            </a:extLst>
          </p:cNvPr>
          <p:cNvSpPr txBox="1"/>
          <p:nvPr/>
        </p:nvSpPr>
        <p:spPr>
          <a:xfrm>
            <a:off x="6881373" y="3360041"/>
            <a:ext cx="891740" cy="43088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Azure Mistral</a:t>
            </a:r>
          </a:p>
        </p:txBody>
      </p:sp>
      <p:sp>
        <p:nvSpPr>
          <p:cNvPr id="29" name="TextBox 28">
            <a:extLst>
              <a:ext uri="{FF2B5EF4-FFF2-40B4-BE49-F238E27FC236}">
                <a16:creationId xmlns:a16="http://schemas.microsoft.com/office/drawing/2014/main" id="{15610C4D-4DBC-C12B-951F-42FD9B8E1599}"/>
              </a:ext>
            </a:extLst>
          </p:cNvPr>
          <p:cNvSpPr txBox="1"/>
          <p:nvPr/>
        </p:nvSpPr>
        <p:spPr>
          <a:xfrm>
            <a:off x="7841586" y="3360040"/>
            <a:ext cx="847537" cy="43088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Azure Grok</a:t>
            </a:r>
          </a:p>
        </p:txBody>
      </p:sp>
      <p:sp>
        <p:nvSpPr>
          <p:cNvPr id="30" name="TextBox 29">
            <a:extLst>
              <a:ext uri="{FF2B5EF4-FFF2-40B4-BE49-F238E27FC236}">
                <a16:creationId xmlns:a16="http://schemas.microsoft.com/office/drawing/2014/main" id="{2D648E4C-6997-FB3A-7B2A-DCF834DF10B7}"/>
              </a:ext>
            </a:extLst>
          </p:cNvPr>
          <p:cNvSpPr txBox="1"/>
          <p:nvPr/>
        </p:nvSpPr>
        <p:spPr>
          <a:xfrm>
            <a:off x="9772588" y="3348663"/>
            <a:ext cx="1021152" cy="43088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Azure Black Forest Labs</a:t>
            </a:r>
          </a:p>
        </p:txBody>
      </p:sp>
      <p:sp>
        <p:nvSpPr>
          <p:cNvPr id="31" name="TextBox 30">
            <a:extLst>
              <a:ext uri="{FF2B5EF4-FFF2-40B4-BE49-F238E27FC236}">
                <a16:creationId xmlns:a16="http://schemas.microsoft.com/office/drawing/2014/main" id="{4283DC48-732A-A365-3709-613615A2E3B9}"/>
              </a:ext>
            </a:extLst>
          </p:cNvPr>
          <p:cNvSpPr txBox="1"/>
          <p:nvPr/>
        </p:nvSpPr>
        <p:spPr>
          <a:xfrm>
            <a:off x="10954707" y="3358118"/>
            <a:ext cx="776124" cy="43088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Azure Llama</a:t>
            </a:r>
          </a:p>
        </p:txBody>
      </p:sp>
      <p:sp>
        <p:nvSpPr>
          <p:cNvPr id="32" name="TextBox 31">
            <a:extLst>
              <a:ext uri="{FF2B5EF4-FFF2-40B4-BE49-F238E27FC236}">
                <a16:creationId xmlns:a16="http://schemas.microsoft.com/office/drawing/2014/main" id="{93891E10-83E9-0077-7DA9-57BD2DB5BF8B}"/>
              </a:ext>
            </a:extLst>
          </p:cNvPr>
          <p:cNvSpPr txBox="1"/>
          <p:nvPr/>
        </p:nvSpPr>
        <p:spPr>
          <a:xfrm>
            <a:off x="7259611" y="4513347"/>
            <a:ext cx="1511897"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a:ea typeface="+mn-ea"/>
                <a:cs typeface="+mn-cs"/>
              </a:rPr>
              <a:t>and models from</a:t>
            </a:r>
          </a:p>
        </p:txBody>
      </p:sp>
      <p:pic>
        <p:nvPicPr>
          <p:cNvPr id="2" name="Picture 1" descr="A black triangle with stripes&#10;&#10;AI-generated content may be incorrect.">
            <a:extLst>
              <a:ext uri="{FF2B5EF4-FFF2-40B4-BE49-F238E27FC236}">
                <a16:creationId xmlns:a16="http://schemas.microsoft.com/office/drawing/2014/main" id="{2075B823-453E-77C6-22E7-844E01A74DAA}"/>
              </a:ext>
            </a:extLst>
          </p:cNvPr>
          <p:cNvPicPr>
            <a:picLocks noChangeAspect="1"/>
          </p:cNvPicPr>
          <p:nvPr/>
        </p:nvPicPr>
        <p:blipFill>
          <a:blip r:embed="rId20"/>
          <a:stretch>
            <a:fillRect/>
          </a:stretch>
        </p:blipFill>
        <p:spPr>
          <a:xfrm>
            <a:off x="9929205" y="2700067"/>
            <a:ext cx="704850" cy="498475"/>
          </a:xfrm>
          <a:prstGeom prst="rect">
            <a:avLst/>
          </a:prstGeom>
        </p:spPr>
      </p:pic>
      <p:pic>
        <p:nvPicPr>
          <p:cNvPr id="21" name="Graphic 20">
            <a:extLst>
              <a:ext uri="{FF2B5EF4-FFF2-40B4-BE49-F238E27FC236}">
                <a16:creationId xmlns:a16="http://schemas.microsoft.com/office/drawing/2014/main" id="{5B6E17B1-F3F3-87B8-9A54-C15CD1205FE4}"/>
              </a:ext>
            </a:extLst>
          </p:cNvPr>
          <p:cNvPicPr>
            <a:picLocks noChangeAspect="1"/>
          </p:cNvPicPr>
          <p:nvPr/>
        </p:nvPicPr>
        <p:blipFill>
          <a:blip>
            <a:extLst>
              <a:ext uri="{96DAC541-7B7A-43D3-8B79-37D633B846F1}">
                <asvg:svgBlip xmlns:asvg="http://schemas.microsoft.com/office/drawing/2016/SVG/main" r:embed="rId21"/>
              </a:ext>
            </a:extLst>
          </a:blip>
          <a:srcRect t="1" r="80033" b="2005"/>
          <a:stretch>
            <a:fillRect/>
          </a:stretch>
        </p:blipFill>
        <p:spPr>
          <a:xfrm>
            <a:off x="8951567" y="2761724"/>
            <a:ext cx="517997" cy="430888"/>
          </a:xfrm>
          <a:prstGeom prst="rect">
            <a:avLst/>
          </a:prstGeom>
        </p:spPr>
      </p:pic>
      <p:sp>
        <p:nvSpPr>
          <p:cNvPr id="22" name="TextBox 21">
            <a:extLst>
              <a:ext uri="{FF2B5EF4-FFF2-40B4-BE49-F238E27FC236}">
                <a16:creationId xmlns:a16="http://schemas.microsoft.com/office/drawing/2014/main" id="{C30CA903-E2FA-7B14-9521-C1EA5D3E9DE4}"/>
              </a:ext>
            </a:extLst>
          </p:cNvPr>
          <p:cNvSpPr txBox="1"/>
          <p:nvPr/>
        </p:nvSpPr>
        <p:spPr>
          <a:xfrm>
            <a:off x="8738438" y="3358118"/>
            <a:ext cx="847537" cy="43088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Azure Cohere</a:t>
            </a:r>
          </a:p>
        </p:txBody>
      </p:sp>
    </p:spTree>
    <p:extLst>
      <p:ext uri="{BB962C8B-B14F-4D97-AF65-F5344CB8AC3E}">
        <p14:creationId xmlns:p14="http://schemas.microsoft.com/office/powerpoint/2010/main" val="16177503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AB2E3-D365-C75B-5793-1123B273A8CE}"/>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CB00FC4F-CC5B-0161-E3E3-D0E11A717655}"/>
              </a:ext>
            </a:extLst>
          </p:cNvPr>
          <p:cNvSpPr>
            <a:spLocks noGrp="1"/>
          </p:cNvSpPr>
          <p:nvPr>
            <p:ph type="title"/>
          </p:nvPr>
        </p:nvSpPr>
        <p:spPr>
          <a:xfrm>
            <a:off x="584200" y="457200"/>
            <a:ext cx="10439400" cy="433965"/>
          </a:xfrm>
        </p:spPr>
        <p:txBody>
          <a:bodyPr/>
          <a:lstStyle/>
          <a:p>
            <a:r>
              <a:rPr lang="en-US" sz="2400"/>
              <a:t>Microsoft Foundry Models Offering 11,000+ frontier and open models</a:t>
            </a:r>
          </a:p>
        </p:txBody>
      </p:sp>
      <p:sp>
        <p:nvSpPr>
          <p:cNvPr id="151" name="TextBox 150">
            <a:extLst>
              <a:ext uri="{FF2B5EF4-FFF2-40B4-BE49-F238E27FC236}">
                <a16:creationId xmlns:a16="http://schemas.microsoft.com/office/drawing/2014/main" id="{2C75B7F2-FE73-D510-8F84-68E12F4A6085}"/>
              </a:ext>
            </a:extLst>
          </p:cNvPr>
          <p:cNvSpPr txBox="1"/>
          <p:nvPr/>
        </p:nvSpPr>
        <p:spPr>
          <a:xfrm>
            <a:off x="9624671" y="6572976"/>
            <a:ext cx="2188100" cy="161583"/>
          </a:xfrm>
          <a:prstGeom prst="rect">
            <a:avLst/>
          </a:prstGeom>
          <a:noFill/>
        </p:spPr>
        <p:txBody>
          <a:bodyPr wrap="square" lIns="0" tIns="0" rIns="0" bIns="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C03BC4"/>
                </a:solidFill>
                <a:effectLst/>
                <a:uLnTx/>
                <a:uFillTx/>
                <a:latin typeface="Segoe Sans Text"/>
                <a:ea typeface="+mn-ea"/>
                <a:cs typeface="+mn-cs"/>
              </a:rPr>
              <a:t>*Direct from Azure Models</a:t>
            </a:r>
          </a:p>
        </p:txBody>
      </p:sp>
      <p:grpSp>
        <p:nvGrpSpPr>
          <p:cNvPr id="171" name="Group 170">
            <a:extLst>
              <a:ext uri="{FF2B5EF4-FFF2-40B4-BE49-F238E27FC236}">
                <a16:creationId xmlns:a16="http://schemas.microsoft.com/office/drawing/2014/main" id="{55769E96-0177-6EDA-7F9D-7955E25F48E1}"/>
              </a:ext>
            </a:extLst>
          </p:cNvPr>
          <p:cNvGrpSpPr/>
          <p:nvPr/>
        </p:nvGrpSpPr>
        <p:grpSpPr>
          <a:xfrm>
            <a:off x="443694" y="892833"/>
            <a:ext cx="11455181" cy="5507990"/>
            <a:chOff x="357556" y="949743"/>
            <a:chExt cx="11455216" cy="5507970"/>
          </a:xfrm>
        </p:grpSpPr>
        <p:sp>
          <p:nvSpPr>
            <p:cNvPr id="130" name="Rectangle: Rounded Corners 16">
              <a:extLst>
                <a:ext uri="{FF2B5EF4-FFF2-40B4-BE49-F238E27FC236}">
                  <a16:creationId xmlns:a16="http://schemas.microsoft.com/office/drawing/2014/main" id="{13AF5395-3418-DDC4-8C52-C571C4956B0D}"/>
                </a:ext>
              </a:extLst>
            </p:cNvPr>
            <p:cNvSpPr/>
            <p:nvPr/>
          </p:nvSpPr>
          <p:spPr bwMode="auto">
            <a:xfrm>
              <a:off x="10147369" y="949743"/>
              <a:ext cx="1665403" cy="2773239"/>
            </a:xfrm>
            <a:prstGeom prst="roundRect">
              <a:avLst>
                <a:gd name="adj" fmla="val 5315"/>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Cohere</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Command R+</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Command R</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Command A</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Cohere </a:t>
              </a:r>
              <a:r>
                <a:rPr kumimoji="0" lang="en-US" sz="1000" b="1" i="0" u="none" strike="noStrike" kern="1200" cap="none" spc="0" normalizeH="0" baseline="0" noProof="0" err="1">
                  <a:ln>
                    <a:noFill/>
                  </a:ln>
                  <a:solidFill>
                    <a:srgbClr val="C03BC4"/>
                  </a:solidFill>
                  <a:effectLst/>
                  <a:uLnTx/>
                  <a:uFillTx/>
                  <a:latin typeface="Segoe Sans Display" pitchFamily="2" charset="0"/>
                  <a:ea typeface="+mn-ea"/>
                  <a:cs typeface="Segoe Sans Display" pitchFamily="2" charset="0"/>
                </a:rPr>
                <a:t>Rerank</a:t>
              </a:r>
              <a:r>
                <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 4</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Embed v3-Multilingual</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Embed v3-English</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Embed 4</a:t>
              </a:r>
            </a:p>
          </p:txBody>
        </p:sp>
        <p:sp>
          <p:nvSpPr>
            <p:cNvPr id="131" name="Rectangle: Rounded Corners 16">
              <a:extLst>
                <a:ext uri="{FF2B5EF4-FFF2-40B4-BE49-F238E27FC236}">
                  <a16:creationId xmlns:a16="http://schemas.microsoft.com/office/drawing/2014/main" id="{0EC6A31E-8AAB-B627-6B7D-6D398665863A}"/>
                </a:ext>
              </a:extLst>
            </p:cNvPr>
            <p:cNvSpPr/>
            <p:nvPr/>
          </p:nvSpPr>
          <p:spPr bwMode="auto">
            <a:xfrm>
              <a:off x="6613009" y="949743"/>
              <a:ext cx="1665403" cy="2751161"/>
            </a:xfrm>
            <a:prstGeom prst="roundRect">
              <a:avLst>
                <a:gd name="adj" fmla="val 3249"/>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Meta</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Meta-Llama-3</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Meta-Llama-3.1-405B</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Llama-3.2</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Llama-3.3</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Llama4-Scout</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Llama4-Maverick</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CodeLlama</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Llama-Guard</a:t>
              </a:r>
            </a:p>
          </p:txBody>
        </p:sp>
        <p:sp>
          <p:nvSpPr>
            <p:cNvPr id="132" name="Rectangle: Rounded Corners 16">
              <a:extLst>
                <a:ext uri="{FF2B5EF4-FFF2-40B4-BE49-F238E27FC236}">
                  <a16:creationId xmlns:a16="http://schemas.microsoft.com/office/drawing/2014/main" id="{6F89B062-A8F3-910B-5BF3-39FC9E98FA0F}"/>
                </a:ext>
              </a:extLst>
            </p:cNvPr>
            <p:cNvSpPr/>
            <p:nvPr/>
          </p:nvSpPr>
          <p:spPr bwMode="auto">
            <a:xfrm>
              <a:off x="357556" y="3816165"/>
              <a:ext cx="1818552" cy="2641547"/>
            </a:xfrm>
            <a:prstGeom prst="roundRect">
              <a:avLst>
                <a:gd name="adj" fmla="val 4531"/>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Hugging Face</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Qwen </a:t>
              </a: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QwQ</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 32b</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DeepCogito</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Seethal Sentiment</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Roberta</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Google Flan</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Intel Bert</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Cross Encoder</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Intfloat</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 Multilingual E5</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Cerebras</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sp>
          <p:nvSpPr>
            <p:cNvPr id="133" name="Rectangle: Rounded Corners 16">
              <a:extLst>
                <a:ext uri="{FF2B5EF4-FFF2-40B4-BE49-F238E27FC236}">
                  <a16:creationId xmlns:a16="http://schemas.microsoft.com/office/drawing/2014/main" id="{090BACE2-4B94-9077-4D1F-72D6F8569913}"/>
                </a:ext>
              </a:extLst>
            </p:cNvPr>
            <p:cNvSpPr/>
            <p:nvPr/>
          </p:nvSpPr>
          <p:spPr bwMode="auto">
            <a:xfrm>
              <a:off x="6207067" y="3816165"/>
              <a:ext cx="1920617" cy="924667"/>
            </a:xfrm>
            <a:prstGeom prst="roundRect">
              <a:avLst>
                <a:gd name="adj" fmla="val 10267"/>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Databricks</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Databricks/</a:t>
              </a: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dbrx</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-base</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Databricks/</a:t>
              </a: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dbrx</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-instruct</a:t>
              </a:r>
            </a:p>
          </p:txBody>
        </p:sp>
        <p:sp>
          <p:nvSpPr>
            <p:cNvPr id="134" name="Rectangle: Rounded Corners 133">
              <a:extLst>
                <a:ext uri="{FF2B5EF4-FFF2-40B4-BE49-F238E27FC236}">
                  <a16:creationId xmlns:a16="http://schemas.microsoft.com/office/drawing/2014/main" id="{6FE0BCC5-BA00-3B06-2A4A-89C2CFBE76D4}"/>
                </a:ext>
              </a:extLst>
            </p:cNvPr>
            <p:cNvSpPr/>
            <p:nvPr/>
          </p:nvSpPr>
          <p:spPr bwMode="auto">
            <a:xfrm>
              <a:off x="2300937" y="3816165"/>
              <a:ext cx="1902716" cy="2641547"/>
            </a:xfrm>
            <a:prstGeom prst="roundRect">
              <a:avLst>
                <a:gd name="adj" fmla="val 5297"/>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NVIDIA</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Nemotron-3-8B-4k</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Nemotron-3-8B-Chat-SFT/</a:t>
              </a:r>
              <a:b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b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RLHF/</a:t>
              </a: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SteerLM</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Nemotron-3-8B-QA</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NIMS microservices </a:t>
              </a: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inc</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Mistral 7B Instruct v0.3</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DeepSeek R1 Distill Llama</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Mixtral</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 8x7B Instruct</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Llama 3.2 NV </a:t>
              </a: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Rerank</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 QA</a:t>
              </a:r>
            </a:p>
            <a:p>
              <a:pPr marL="0" marR="0" lvl="0" indent="0" algn="l" defTabSz="812459" rtl="0" eaLnBrk="1" fontAlgn="auto" latinLnBrk="0" hangingPunct="1">
                <a:lnSpc>
                  <a:spcPct val="85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sp>
          <p:nvSpPr>
            <p:cNvPr id="135" name="Rectangle: Rounded Corners 16">
              <a:extLst>
                <a:ext uri="{FF2B5EF4-FFF2-40B4-BE49-F238E27FC236}">
                  <a16:creationId xmlns:a16="http://schemas.microsoft.com/office/drawing/2014/main" id="{1DEE89F5-2378-7E18-9DC6-D8C18DF1C7E1}"/>
                </a:ext>
              </a:extLst>
            </p:cNvPr>
            <p:cNvSpPr/>
            <p:nvPr/>
          </p:nvSpPr>
          <p:spPr bwMode="auto">
            <a:xfrm>
              <a:off x="6215256" y="4829669"/>
              <a:ext cx="1920615" cy="944836"/>
            </a:xfrm>
            <a:prstGeom prst="roundRect">
              <a:avLst>
                <a:gd name="adj" fmla="val 6037"/>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Snowflake</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Snowflake/arctic-base</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Snowflake/arctic-instruct</a:t>
              </a:r>
            </a:p>
          </p:txBody>
        </p:sp>
        <p:sp>
          <p:nvSpPr>
            <p:cNvPr id="136" name="Rectangle: Rounded Corners 16">
              <a:extLst>
                <a:ext uri="{FF2B5EF4-FFF2-40B4-BE49-F238E27FC236}">
                  <a16:creationId xmlns:a16="http://schemas.microsoft.com/office/drawing/2014/main" id="{1C11DCCD-529B-12B5-D0F8-C188B4491715}"/>
                </a:ext>
              </a:extLst>
            </p:cNvPr>
            <p:cNvSpPr/>
            <p:nvPr/>
          </p:nvSpPr>
          <p:spPr bwMode="auto">
            <a:xfrm>
              <a:off x="10147368" y="3816165"/>
              <a:ext cx="1665403" cy="638917"/>
            </a:xfrm>
            <a:prstGeom prst="roundRect">
              <a:avLst>
                <a:gd name="adj" fmla="val 13636"/>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50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Core 42</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JAIS</a:t>
              </a:r>
            </a:p>
          </p:txBody>
        </p:sp>
        <p:sp>
          <p:nvSpPr>
            <p:cNvPr id="137" name="Rectangle: Rounded Corners 16">
              <a:extLst>
                <a:ext uri="{FF2B5EF4-FFF2-40B4-BE49-F238E27FC236}">
                  <a16:creationId xmlns:a16="http://schemas.microsoft.com/office/drawing/2014/main" id="{87CADA06-8FED-2CE2-D3D0-5056618429BF}"/>
                </a:ext>
              </a:extLst>
            </p:cNvPr>
            <p:cNvSpPr/>
            <p:nvPr/>
          </p:nvSpPr>
          <p:spPr bwMode="auto">
            <a:xfrm>
              <a:off x="8387917" y="949743"/>
              <a:ext cx="1665403" cy="2751161"/>
            </a:xfrm>
            <a:prstGeom prst="roundRect">
              <a:avLst>
                <a:gd name="adj" fmla="val 4865"/>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Mistral AI</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a:ea typeface="+mn-ea"/>
                  <a:cs typeface="Segoe Sans Display"/>
                </a:rPr>
                <a:t>Mistral Document AI</a:t>
              </a:r>
              <a:endPar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a:ea typeface="+mn-ea"/>
                  <a:cs typeface="Segoe Sans Display"/>
                </a:rPr>
                <a:t>Mistral Large 3</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Mistral Medium 3</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Mistral Nemo</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Mistral Small</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Mistral 7B</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err="1">
                  <a:ln>
                    <a:noFill/>
                  </a:ln>
                  <a:solidFill>
                    <a:srgbClr val="000000"/>
                  </a:solidFill>
                  <a:effectLst/>
                  <a:uLnTx/>
                  <a:uFillTx/>
                  <a:latin typeface="Segoe Sans Display"/>
                  <a:ea typeface="+mn-ea"/>
                  <a:cs typeface="Segoe Sans Display"/>
                </a:rPr>
                <a:t>Mixtral</a:t>
              </a: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 8x7B – </a:t>
              </a:r>
              <a:br>
                <a:rPr kumimoji="0" lang="en-US" sz="1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b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Mixture of Experts</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err="1">
                  <a:ln>
                    <a:noFill/>
                  </a:ln>
                  <a:solidFill>
                    <a:srgbClr val="000000"/>
                  </a:solidFill>
                  <a:effectLst/>
                  <a:uLnTx/>
                  <a:uFillTx/>
                  <a:latin typeface="Segoe Sans Display"/>
                  <a:ea typeface="+mn-ea"/>
                  <a:cs typeface="Segoe Sans Display"/>
                </a:rPr>
                <a:t>Codestral</a:t>
              </a:r>
              <a:endParaRPr kumimoji="0" lang="en-US" sz="1000" b="0" i="0" u="none" strike="noStrike" kern="1200" cap="none" spc="0" normalizeH="0" baseline="0" noProof="0">
                <a:ln>
                  <a:noFill/>
                </a:ln>
                <a:solidFill>
                  <a:srgbClr val="000000"/>
                </a:solidFill>
                <a:effectLst/>
                <a:uLnTx/>
                <a:uFillTx/>
                <a:latin typeface="Segoe Sans Display"/>
                <a:ea typeface="+mn-ea"/>
                <a:cs typeface="Segoe Sans Display"/>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Mistral OCR</a:t>
              </a:r>
            </a:p>
            <a:p>
              <a:pPr marL="0" marR="0" lvl="0" indent="0" algn="l" defTabSz="812304" rtl="0" eaLnBrk="1" fontAlgn="auto" latinLnBrk="0" hangingPunct="1">
                <a:lnSpc>
                  <a:spcPct val="85000"/>
                </a:lnSpc>
                <a:spcBef>
                  <a:spcPts val="60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a:p>
              <a:pPr marL="0" marR="0" lvl="0" indent="0" algn="l" defTabSz="812459" rtl="0" eaLnBrk="1" fontAlgn="auto" latinLnBrk="0" hangingPunct="1">
                <a:lnSpc>
                  <a:spcPct val="85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sp>
          <p:nvSpPr>
            <p:cNvPr id="138" name="Rectangle: Rounded Corners 16">
              <a:extLst>
                <a:ext uri="{FF2B5EF4-FFF2-40B4-BE49-F238E27FC236}">
                  <a16:creationId xmlns:a16="http://schemas.microsoft.com/office/drawing/2014/main" id="{F1347DF5-127E-6CA9-18AB-209963AFDBCA}"/>
                </a:ext>
              </a:extLst>
            </p:cNvPr>
            <p:cNvSpPr/>
            <p:nvPr/>
          </p:nvSpPr>
          <p:spPr bwMode="auto">
            <a:xfrm>
              <a:off x="357556" y="949743"/>
              <a:ext cx="2276278" cy="2751161"/>
            </a:xfrm>
            <a:prstGeom prst="roundRect">
              <a:avLst>
                <a:gd name="adj" fmla="val 4319"/>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60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a:ea typeface="+mn-ea"/>
                  <a:cs typeface="Segoe Sans Display Semibold"/>
                </a:rPr>
                <a:t>Azure OpenAI </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a:ea typeface="+mn-ea"/>
                  <a:cs typeface="Segoe Sans Display"/>
                </a:rPr>
                <a:t>GPT-5</a:t>
              </a:r>
              <a:endPar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GPT-4o/GPT-4o mini</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GPT-Image-1</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a:ea typeface="+mn-ea"/>
                  <a:cs typeface="Segoe Sans Display"/>
                </a:rPr>
                <a:t>o1/o1-mini </a:t>
              </a:r>
              <a:endParaRPr kumimoji="0" lang="en-US" sz="1000" b="0" i="0" u="none" strike="noStrike" kern="1200" cap="none" spc="0" normalizeH="0" baseline="0" noProof="0">
                <a:ln>
                  <a:noFill/>
                </a:ln>
                <a:solidFill>
                  <a:srgbClr val="000000"/>
                </a:solidFill>
                <a:effectLst/>
                <a:uLnTx/>
                <a:uFillTx/>
                <a:latin typeface="Segoe Sans Display"/>
                <a:ea typeface="+mn-ea"/>
                <a:cs typeface="Segoe Sans Display"/>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a:ea typeface="+mn-ea"/>
                  <a:cs typeface="Segoe Sans Display"/>
                </a:rPr>
                <a:t>o3/o3-mini</a:t>
              </a:r>
              <a:endParaRPr kumimoji="0" lang="en-US" sz="1000" b="0" i="0" u="none" strike="noStrike" kern="1200" cap="none" spc="0" normalizeH="0" baseline="0" noProof="0">
                <a:ln>
                  <a:noFill/>
                </a:ln>
                <a:solidFill>
                  <a:srgbClr val="000000"/>
                </a:solidFill>
                <a:effectLst/>
                <a:uLnTx/>
                <a:uFillTx/>
                <a:latin typeface="Segoe Sans Display"/>
                <a:ea typeface="+mn-ea"/>
                <a:cs typeface="Segoe Sans Display"/>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a:ea typeface="+mn-ea"/>
                  <a:cs typeface="Segoe Sans Display"/>
                </a:rPr>
                <a:t>o4-mini</a:t>
              </a:r>
              <a:endParaRPr kumimoji="0" lang="en-US" sz="1800" b="0" i="0" u="none" strike="noStrike" kern="1200" cap="none" spc="0" normalizeH="0" baseline="0" noProof="0">
                <a:ln>
                  <a:noFill/>
                </a:ln>
                <a:solidFill>
                  <a:srgbClr val="FFFFFF"/>
                </a:solidFill>
                <a:effectLst/>
                <a:uLnTx/>
                <a:uFillTx/>
                <a:latin typeface="Segoe Sans Text"/>
                <a:ea typeface="+mn-ea"/>
                <a:cs typeface="+mn-cs"/>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Sora</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GPT-4.1/ 4.1-mini/4.1-nano</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Dall*E-3</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Whisper</a:t>
              </a:r>
            </a:p>
            <a:p>
              <a:pPr marL="0" marR="0" lvl="0" indent="0" algn="l" defTabSz="812304" rtl="0" eaLnBrk="1" fontAlgn="auto" latinLnBrk="0" hangingPunct="1">
                <a:lnSpc>
                  <a:spcPct val="85000"/>
                </a:lnSpc>
                <a:spcBef>
                  <a:spcPts val="600"/>
                </a:spcBef>
                <a:spcAft>
                  <a:spcPts val="0"/>
                </a:spcAft>
                <a:buClrTx/>
                <a:buSzTx/>
                <a:buFontTx/>
                <a:buNone/>
                <a:tabLst/>
                <a:defRPr/>
              </a:pPr>
              <a:endPar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endParaRPr>
            </a:p>
          </p:txBody>
        </p:sp>
        <p:sp>
          <p:nvSpPr>
            <p:cNvPr id="139" name="Rectangle: Rounded Corners 16">
              <a:extLst>
                <a:ext uri="{FF2B5EF4-FFF2-40B4-BE49-F238E27FC236}">
                  <a16:creationId xmlns:a16="http://schemas.microsoft.com/office/drawing/2014/main" id="{56810D06-D362-9E78-5DD8-046F68EE3FEA}"/>
                </a:ext>
              </a:extLst>
            </p:cNvPr>
            <p:cNvSpPr/>
            <p:nvPr/>
          </p:nvSpPr>
          <p:spPr bwMode="auto">
            <a:xfrm>
              <a:off x="2743338" y="949744"/>
              <a:ext cx="2024492" cy="971600"/>
            </a:xfrm>
            <a:prstGeom prst="roundRect">
              <a:avLst>
                <a:gd name="adj" fmla="val 4721"/>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60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a:ea typeface="+mn-ea"/>
                  <a:cs typeface="Segoe Sans Display Semibold"/>
                </a:rPr>
                <a:t> Anthropic</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Claude Haiku 4.5</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Claude Sonnet 4.5</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Claude Opus  4.5/4.1</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sp>
          <p:nvSpPr>
            <p:cNvPr id="140" name="Rectangle: Rounded Corners 16">
              <a:extLst>
                <a:ext uri="{FF2B5EF4-FFF2-40B4-BE49-F238E27FC236}">
                  <a16:creationId xmlns:a16="http://schemas.microsoft.com/office/drawing/2014/main" id="{0D502010-E0E0-1993-FE2E-F4CAF3703183}"/>
                </a:ext>
              </a:extLst>
            </p:cNvPr>
            <p:cNvSpPr/>
            <p:nvPr/>
          </p:nvSpPr>
          <p:spPr bwMode="auto">
            <a:xfrm>
              <a:off x="4877336" y="949743"/>
              <a:ext cx="1626168" cy="971600"/>
            </a:xfrm>
            <a:prstGeom prst="roundRect">
              <a:avLst>
                <a:gd name="adj" fmla="val 7217"/>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60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DeepSeek</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9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DeepSeek-R1</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900" b="1" i="0" u="none" strike="noStrike" kern="1200" cap="none" spc="0" normalizeH="0" baseline="0" noProof="0">
                  <a:ln>
                    <a:noFill/>
                  </a:ln>
                  <a:solidFill>
                    <a:srgbClr val="C03BC4"/>
                  </a:solidFill>
                  <a:effectLst/>
                  <a:uLnTx/>
                  <a:uFillTx/>
                  <a:latin typeface="Segoe Sans Display"/>
                  <a:ea typeface="+mn-ea"/>
                  <a:cs typeface="Segoe Sans Display"/>
                </a:rPr>
                <a:t>DeepSeek-V3 0324, V3.1</a:t>
              </a:r>
              <a:endParaRPr kumimoji="0" lang="en-US" sz="9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8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MAI-DS-R1 (Microsoft AI)</a:t>
              </a:r>
            </a:p>
          </p:txBody>
        </p:sp>
        <p:sp>
          <p:nvSpPr>
            <p:cNvPr id="141" name="Rectangle: Rounded Corners 16">
              <a:extLst>
                <a:ext uri="{FF2B5EF4-FFF2-40B4-BE49-F238E27FC236}">
                  <a16:creationId xmlns:a16="http://schemas.microsoft.com/office/drawing/2014/main" id="{6B2B6D1F-BB09-A7CD-7B9D-CC3B85EC52B2}"/>
                </a:ext>
              </a:extLst>
            </p:cNvPr>
            <p:cNvSpPr/>
            <p:nvPr/>
          </p:nvSpPr>
          <p:spPr bwMode="auto">
            <a:xfrm>
              <a:off x="8229919" y="3816166"/>
              <a:ext cx="1823401" cy="2641547"/>
            </a:xfrm>
            <a:prstGeom prst="roundRect">
              <a:avLst>
                <a:gd name="adj" fmla="val 5787"/>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50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Industry Models</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Fidelity/</a:t>
              </a: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Saifr</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Sight Machine</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Bayer</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Cerence</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Paige AI</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Prism</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Rockwell</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Virchow</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RA-FT-Optix</a:t>
              </a:r>
            </a:p>
          </p:txBody>
        </p:sp>
        <p:sp>
          <p:nvSpPr>
            <p:cNvPr id="142" name="Rectangle: Rounded Corners 16">
              <a:extLst>
                <a:ext uri="{FF2B5EF4-FFF2-40B4-BE49-F238E27FC236}">
                  <a16:creationId xmlns:a16="http://schemas.microsoft.com/office/drawing/2014/main" id="{AE0DAD76-6406-1EBD-1C41-452E9B41B47B}"/>
                </a:ext>
              </a:extLst>
            </p:cNvPr>
            <p:cNvSpPr/>
            <p:nvPr/>
          </p:nvSpPr>
          <p:spPr bwMode="auto">
            <a:xfrm>
              <a:off x="4875637" y="2988922"/>
              <a:ext cx="1638920" cy="711982"/>
            </a:xfrm>
            <a:prstGeom prst="roundRect">
              <a:avLst>
                <a:gd name="adj" fmla="val 10908"/>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a:ea typeface="+mn-ea"/>
                  <a:cs typeface="Segoe Sans Display Semibold"/>
                </a:rPr>
                <a:t>Black Forest </a:t>
              </a:r>
            </a:p>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a:ea typeface="+mn-ea"/>
                  <a:cs typeface="Segoe Sans Display Semibold"/>
                </a:rPr>
                <a:t>Labs</a:t>
              </a:r>
            </a:p>
            <a:p>
              <a:pPr marL="0" marR="0" lvl="0" indent="0" algn="l" defTabSz="812304" rtl="0" eaLnBrk="1" fontAlgn="auto" latinLnBrk="0" hangingPunct="1">
                <a:lnSpc>
                  <a:spcPct val="85000"/>
                </a:lnSpc>
                <a:spcBef>
                  <a:spcPts val="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a:ea typeface="+mn-ea"/>
                  <a:cs typeface="Segoe Sans Display"/>
                </a:rPr>
                <a:t>Flux Pro 1.1, Flux.1 </a:t>
              </a:r>
              <a:r>
                <a:rPr kumimoji="0" lang="en-US" sz="1000" b="1" i="0" u="none" strike="noStrike" kern="1200" cap="none" spc="0" normalizeH="0" baseline="0" noProof="0" err="1">
                  <a:ln>
                    <a:noFill/>
                  </a:ln>
                  <a:solidFill>
                    <a:srgbClr val="C03BC4"/>
                  </a:solidFill>
                  <a:effectLst/>
                  <a:uLnTx/>
                  <a:uFillTx/>
                  <a:latin typeface="Segoe Sans Display"/>
                  <a:ea typeface="+mn-ea"/>
                  <a:cs typeface="Segoe Sans Display"/>
                </a:rPr>
                <a:t>Kontext</a:t>
              </a:r>
              <a:r>
                <a:rPr kumimoji="0" lang="en-US" sz="1000" b="1" i="0" u="none" strike="noStrike" kern="1200" cap="none" spc="0" normalizeH="0" baseline="0" noProof="0">
                  <a:ln>
                    <a:noFill/>
                  </a:ln>
                  <a:solidFill>
                    <a:srgbClr val="C03BC4"/>
                  </a:solidFill>
                  <a:effectLst/>
                  <a:uLnTx/>
                  <a:uFillTx/>
                  <a:latin typeface="Segoe Sans Display"/>
                  <a:ea typeface="+mn-ea"/>
                  <a:cs typeface="Segoe Sans Display"/>
                </a:rPr>
                <a:t> Pro</a:t>
              </a:r>
              <a:endPar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endParaRPr>
            </a:p>
          </p:txBody>
        </p:sp>
        <p:sp>
          <p:nvSpPr>
            <p:cNvPr id="143" name="Rectangle: Rounded Corners 16">
              <a:extLst>
                <a:ext uri="{FF2B5EF4-FFF2-40B4-BE49-F238E27FC236}">
                  <a16:creationId xmlns:a16="http://schemas.microsoft.com/office/drawing/2014/main" id="{E45020CD-6448-F8AF-1A4C-BE15CF4584C6}"/>
                </a:ext>
              </a:extLst>
            </p:cNvPr>
            <p:cNvSpPr/>
            <p:nvPr/>
          </p:nvSpPr>
          <p:spPr bwMode="auto">
            <a:xfrm>
              <a:off x="4297703" y="3816165"/>
              <a:ext cx="1818654" cy="858953"/>
            </a:xfrm>
            <a:prstGeom prst="roundRect">
              <a:avLst>
                <a:gd name="adj" fmla="val 8097"/>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Stability</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Stable Diffusion</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Stable Image Ultra</a:t>
              </a:r>
            </a:p>
          </p:txBody>
        </p:sp>
        <p:sp>
          <p:nvSpPr>
            <p:cNvPr id="144" name="Rectangle: Rounded Corners 16">
              <a:extLst>
                <a:ext uri="{FF2B5EF4-FFF2-40B4-BE49-F238E27FC236}">
                  <a16:creationId xmlns:a16="http://schemas.microsoft.com/office/drawing/2014/main" id="{581CDB20-5BE6-C1BF-E59E-B45DA450DD48}"/>
                </a:ext>
              </a:extLst>
            </p:cNvPr>
            <p:cNvSpPr/>
            <p:nvPr/>
          </p:nvSpPr>
          <p:spPr bwMode="auto">
            <a:xfrm>
              <a:off x="4870016" y="2012655"/>
              <a:ext cx="1633490" cy="884952"/>
            </a:xfrm>
            <a:prstGeom prst="roundRect">
              <a:avLst>
                <a:gd name="adj" fmla="val 8128"/>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err="1">
                  <a:ln>
                    <a:noFill/>
                  </a:ln>
                  <a:solidFill>
                    <a:srgbClr val="000000"/>
                  </a:solidFill>
                  <a:effectLst/>
                  <a:uLnTx/>
                  <a:uFillTx/>
                  <a:latin typeface="Segoe Sans Display Semibold"/>
                  <a:ea typeface="+mn-ea"/>
                  <a:cs typeface="Segoe Sans Display Semibold"/>
                </a:rPr>
                <a:t>xAI</a:t>
              </a:r>
              <a:endParaRPr kumimoji="0" lang="en-US" sz="1400" b="1" i="0" u="none" strike="noStrike" kern="1200" cap="none" spc="0" normalizeH="0" baseline="0" noProof="0">
                <a:ln>
                  <a:noFill/>
                </a:ln>
                <a:solidFill>
                  <a:srgbClr val="000000"/>
                </a:solidFill>
                <a:effectLst/>
                <a:uLnTx/>
                <a:uFillTx/>
                <a:latin typeface="Segoe Sans Display Semibold"/>
                <a:ea typeface="+mn-ea"/>
                <a:cs typeface="Segoe Sans Display Semibold"/>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a:ea typeface="+mn-ea"/>
                  <a:cs typeface="Segoe Sans Display"/>
                </a:rPr>
                <a:t>Grok 3,Grok 3 mini</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a:ea typeface="+mn-ea"/>
                  <a:cs typeface="Segoe Sans Display"/>
                </a:rPr>
                <a:t>Grok Code Fast 1</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C03BC4"/>
                  </a:solidFill>
                  <a:effectLst/>
                  <a:uLnTx/>
                  <a:uFillTx/>
                  <a:latin typeface="Segoe Sans Display"/>
                  <a:ea typeface="+mn-ea"/>
                  <a:cs typeface="Segoe Sans Display"/>
                </a:rPr>
                <a:t>Grok 4, Grok 4 Fast </a:t>
              </a:r>
              <a:endParaRPr kumimoji="0" lang="en-US" sz="10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endParaRPr>
            </a:p>
          </p:txBody>
        </p:sp>
        <p:sp>
          <p:nvSpPr>
            <p:cNvPr id="145" name="Rectangle: Rounded Corners 16">
              <a:extLst>
                <a:ext uri="{FF2B5EF4-FFF2-40B4-BE49-F238E27FC236}">
                  <a16:creationId xmlns:a16="http://schemas.microsoft.com/office/drawing/2014/main" id="{78F727A5-44B6-9C8B-A69E-766F6DC01E2F}"/>
                </a:ext>
              </a:extLst>
            </p:cNvPr>
            <p:cNvSpPr/>
            <p:nvPr/>
          </p:nvSpPr>
          <p:spPr bwMode="auto">
            <a:xfrm>
              <a:off x="4298083" y="4769715"/>
              <a:ext cx="1823401" cy="671996"/>
            </a:xfrm>
            <a:prstGeom prst="roundRect">
              <a:avLst>
                <a:gd name="adj" fmla="val 10204"/>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Bria</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Bria 2.3 Fast</a:t>
              </a:r>
            </a:p>
          </p:txBody>
        </p:sp>
        <p:sp>
          <p:nvSpPr>
            <p:cNvPr id="146" name="Rectangle: Rounded Corners 16">
              <a:extLst>
                <a:ext uri="{FF2B5EF4-FFF2-40B4-BE49-F238E27FC236}">
                  <a16:creationId xmlns:a16="http://schemas.microsoft.com/office/drawing/2014/main" id="{ABF4D41A-BF23-314C-7251-6C1A4D9A5A42}"/>
                </a:ext>
              </a:extLst>
            </p:cNvPr>
            <p:cNvSpPr/>
            <p:nvPr/>
          </p:nvSpPr>
          <p:spPr bwMode="auto">
            <a:xfrm>
              <a:off x="6202657" y="5854529"/>
              <a:ext cx="1920615" cy="603183"/>
            </a:xfrm>
            <a:prstGeom prst="roundRect">
              <a:avLst>
                <a:gd name="adj" fmla="val 13575"/>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err="1">
                  <a:ln>
                    <a:noFill/>
                  </a:ln>
                  <a:solidFill>
                    <a:srgbClr val="000000"/>
                  </a:solidFill>
                  <a:effectLst/>
                  <a:uLnTx/>
                  <a:uFillTx/>
                  <a:latin typeface="Segoe Sans Display Semibold" pitchFamily="2" charset="0"/>
                  <a:ea typeface="+mn-ea"/>
                  <a:cs typeface="Segoe Sans Display Semibold" pitchFamily="2" charset="0"/>
                </a:rPr>
                <a:t>Nixtla</a:t>
              </a:r>
              <a:endPar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Time GEN-1</a:t>
              </a:r>
            </a:p>
          </p:txBody>
        </p:sp>
        <p:sp>
          <p:nvSpPr>
            <p:cNvPr id="147" name="Rectangle: Rounded Corners 16">
              <a:extLst>
                <a:ext uri="{FF2B5EF4-FFF2-40B4-BE49-F238E27FC236}">
                  <a16:creationId xmlns:a16="http://schemas.microsoft.com/office/drawing/2014/main" id="{3F583B3C-DF25-4C80-D95E-90584B88C96D}"/>
                </a:ext>
              </a:extLst>
            </p:cNvPr>
            <p:cNvSpPr/>
            <p:nvPr/>
          </p:nvSpPr>
          <p:spPr bwMode="auto">
            <a:xfrm>
              <a:off x="10147369" y="5864278"/>
              <a:ext cx="1665403" cy="593435"/>
            </a:xfrm>
            <a:prstGeom prst="roundRect">
              <a:avLst>
                <a:gd name="adj" fmla="val 8163"/>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NTT DATA</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Data </a:t>
              </a: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Tsuzumi</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sp>
          <p:nvSpPr>
            <p:cNvPr id="148" name="Rectangle: Rounded Corners 16">
              <a:extLst>
                <a:ext uri="{FF2B5EF4-FFF2-40B4-BE49-F238E27FC236}">
                  <a16:creationId xmlns:a16="http://schemas.microsoft.com/office/drawing/2014/main" id="{75EE1062-E17C-4776-FBD1-0D7469A52FD7}"/>
                </a:ext>
              </a:extLst>
            </p:cNvPr>
            <p:cNvSpPr/>
            <p:nvPr/>
          </p:nvSpPr>
          <p:spPr bwMode="auto">
            <a:xfrm>
              <a:off x="10147369" y="4535065"/>
              <a:ext cx="1665403" cy="593435"/>
            </a:xfrm>
            <a:prstGeom prst="roundRect">
              <a:avLst>
                <a:gd name="adj" fmla="val 14997"/>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Gretel</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Navigator</a:t>
              </a:r>
            </a:p>
          </p:txBody>
        </p:sp>
        <p:sp>
          <p:nvSpPr>
            <p:cNvPr id="149" name="Rectangle: Rounded Corners 16">
              <a:extLst>
                <a:ext uri="{FF2B5EF4-FFF2-40B4-BE49-F238E27FC236}">
                  <a16:creationId xmlns:a16="http://schemas.microsoft.com/office/drawing/2014/main" id="{C0BCF1EA-D0B7-00BB-B3D1-C1F644B959C7}"/>
                </a:ext>
              </a:extLst>
            </p:cNvPr>
            <p:cNvSpPr/>
            <p:nvPr/>
          </p:nvSpPr>
          <p:spPr bwMode="auto">
            <a:xfrm>
              <a:off x="10147369" y="5199671"/>
              <a:ext cx="1665403" cy="593435"/>
            </a:xfrm>
            <a:prstGeom prst="roundRect">
              <a:avLst>
                <a:gd name="adj" fmla="val 12951"/>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SDAIA</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ALLaM-2-7b-instruct</a:t>
              </a:r>
            </a:p>
          </p:txBody>
        </p:sp>
        <p:sp>
          <p:nvSpPr>
            <p:cNvPr id="150" name="Rectangle: Rounded Corners 16">
              <a:extLst>
                <a:ext uri="{FF2B5EF4-FFF2-40B4-BE49-F238E27FC236}">
                  <a16:creationId xmlns:a16="http://schemas.microsoft.com/office/drawing/2014/main" id="{EFF25102-7369-3CF0-74EC-107863D962FD}"/>
                </a:ext>
              </a:extLst>
            </p:cNvPr>
            <p:cNvSpPr/>
            <p:nvPr/>
          </p:nvSpPr>
          <p:spPr bwMode="auto">
            <a:xfrm>
              <a:off x="4298083" y="5522074"/>
              <a:ext cx="1823402" cy="935639"/>
            </a:xfrm>
            <a:prstGeom prst="roundRect">
              <a:avLst>
                <a:gd name="adj" fmla="val 8574"/>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Deci</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DeciCoder</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DeciDiffusion</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pic>
          <p:nvPicPr>
            <p:cNvPr id="118" name="Picture 117" descr="A black and green logo&#10;&#10;Description automatically generated">
              <a:extLst>
                <a:ext uri="{FF2B5EF4-FFF2-40B4-BE49-F238E27FC236}">
                  <a16:creationId xmlns:a16="http://schemas.microsoft.com/office/drawing/2014/main" id="{A66BF3EA-DBD4-F962-CDCA-B59139FF64C2}"/>
                </a:ext>
              </a:extLst>
            </p:cNvPr>
            <p:cNvPicPr>
              <a:picLocks noChangeAspect="1"/>
            </p:cNvPicPr>
            <p:nvPr/>
          </p:nvPicPr>
          <p:blipFill rotWithShape="1">
            <a:blip r:embed="rId3">
              <a:extLst>
                <a:ext uri="{28A0092B-C50C-407E-A947-70E740481C1C}">
                  <a14:useLocalDpi xmlns:a14="http://schemas.microsoft.com/office/drawing/2010/main" val="0"/>
                </a:ext>
              </a:extLst>
            </a:blip>
            <a:srcRect t="-7491" r="80121"/>
            <a:stretch/>
          </p:blipFill>
          <p:spPr>
            <a:xfrm>
              <a:off x="11482293" y="1011885"/>
              <a:ext cx="191834" cy="169131"/>
            </a:xfrm>
            <a:prstGeom prst="rect">
              <a:avLst/>
            </a:prstGeom>
            <a:effectLst/>
          </p:spPr>
        </p:pic>
        <p:pic>
          <p:nvPicPr>
            <p:cNvPr id="120" name="Picture 2" descr="Hugging Face logo">
              <a:extLst>
                <a:ext uri="{FF2B5EF4-FFF2-40B4-BE49-F238E27FC236}">
                  <a16:creationId xmlns:a16="http://schemas.microsoft.com/office/drawing/2014/main" id="{54C05030-4BBE-0EEF-FF90-A4B3C09DFE32}"/>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6733" r="74273" b="17698"/>
            <a:stretch/>
          </p:blipFill>
          <p:spPr bwMode="auto">
            <a:xfrm>
              <a:off x="1890494" y="3881373"/>
              <a:ext cx="215921" cy="198164"/>
            </a:xfrm>
            <a:prstGeom prst="roundRect">
              <a:avLst/>
            </a:prstGeom>
            <a:noFill/>
            <a:effectLst/>
            <a:extLst>
              <a:ext uri="{909E8E84-426E-40DD-AFC4-6F175D3DCCD1}">
                <a14:hiddenFill xmlns:a14="http://schemas.microsoft.com/office/drawing/2010/main">
                  <a:solidFill>
                    <a:srgbClr val="FFFFFF"/>
                  </a:solidFill>
                </a14:hiddenFill>
              </a:ext>
            </a:extLst>
          </p:spPr>
        </p:pic>
        <p:pic>
          <p:nvPicPr>
            <p:cNvPr id="121" name="Picture 2" descr="Databricks - Battery Ventures">
              <a:extLst>
                <a:ext uri="{FF2B5EF4-FFF2-40B4-BE49-F238E27FC236}">
                  <a16:creationId xmlns:a16="http://schemas.microsoft.com/office/drawing/2014/main" id="{756D6C05-A9D0-D748-634F-C0CCF46B12F3}"/>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Effect>
                        <a14:brightnessContrast bright="-100000"/>
                      </a14:imgEffect>
                    </a14:imgLayer>
                  </a14:imgProps>
                </a:ext>
                <a:ext uri="{28A0092B-C50C-407E-A947-70E740481C1C}">
                  <a14:useLocalDpi xmlns:a14="http://schemas.microsoft.com/office/drawing/2010/main" val="0"/>
                </a:ext>
              </a:extLst>
            </a:blip>
            <a:srcRect/>
            <a:stretch/>
          </p:blipFill>
          <p:spPr bwMode="auto">
            <a:xfrm>
              <a:off x="7886899" y="3907688"/>
              <a:ext cx="168960" cy="203484"/>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22" name="Picture 121" descr="A blue logo with black background&#10;&#10;Description automatically generated">
              <a:extLst>
                <a:ext uri="{FF2B5EF4-FFF2-40B4-BE49-F238E27FC236}">
                  <a16:creationId xmlns:a16="http://schemas.microsoft.com/office/drawing/2014/main" id="{BA85305E-3597-9D16-F4F4-3BF67EBBF841}"/>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7885908" y="4897938"/>
              <a:ext cx="170942" cy="170942"/>
            </a:xfrm>
            <a:prstGeom prst="rect">
              <a:avLst/>
            </a:prstGeom>
            <a:effectLst/>
          </p:spPr>
        </p:pic>
        <p:pic>
          <p:nvPicPr>
            <p:cNvPr id="123" name="Picture 2">
              <a:extLst>
                <a:ext uri="{FF2B5EF4-FFF2-40B4-BE49-F238E27FC236}">
                  <a16:creationId xmlns:a16="http://schemas.microsoft.com/office/drawing/2014/main" id="{20D26806-7CCB-A40E-9833-8E47FEB64E47}"/>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a:stretch/>
          </p:blipFill>
          <p:spPr bwMode="auto">
            <a:xfrm>
              <a:off x="7998181" y="1027518"/>
              <a:ext cx="196343" cy="130359"/>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24" name="Picture 123" descr="A blue square with a black star&#10;&#10;Description automatically generated">
              <a:extLst>
                <a:ext uri="{FF2B5EF4-FFF2-40B4-BE49-F238E27FC236}">
                  <a16:creationId xmlns:a16="http://schemas.microsoft.com/office/drawing/2014/main" id="{F1C768DD-7CCF-0945-308B-6B8B511E1FF9}"/>
                </a:ext>
              </a:extLst>
            </p:cNvPr>
            <p:cNvPicPr>
              <a:picLocks noChangeAspect="1"/>
            </p:cNvPicPr>
            <p:nvPr/>
          </p:nvPicPr>
          <p:blipFill>
            <a:blip r:embed="rId10">
              <a:extLst>
                <a:ext uri="{28A0092B-C50C-407E-A947-70E740481C1C}">
                  <a14:useLocalDpi xmlns:a14="http://schemas.microsoft.com/office/drawing/2010/main" val="0"/>
                </a:ext>
              </a:extLst>
            </a:blip>
            <a:srcRect l="13137" t="12941" r="13137" b="12941"/>
            <a:stretch/>
          </p:blipFill>
          <p:spPr>
            <a:xfrm>
              <a:off x="2381397" y="1033998"/>
              <a:ext cx="158733" cy="159576"/>
            </a:xfrm>
            <a:prstGeom prst="rect">
              <a:avLst/>
            </a:prstGeom>
            <a:effectLst/>
          </p:spPr>
        </p:pic>
        <p:pic>
          <p:nvPicPr>
            <p:cNvPr id="125" name="Picture 2" descr="Nvidia Logo PNG Transparent &amp; SVG Vector - Freebie Supply">
              <a:extLst>
                <a:ext uri="{FF2B5EF4-FFF2-40B4-BE49-F238E27FC236}">
                  <a16:creationId xmlns:a16="http://schemas.microsoft.com/office/drawing/2014/main" id="{3E61BA18-C61E-BB84-8A0A-3258BD20431E}"/>
                </a:ext>
              </a:extLst>
            </p:cNvPr>
            <p:cNvPicPr>
              <a:picLocks noChangeAspect="1" noChangeArrowheads="1"/>
            </p:cNvPicPr>
            <p:nvPr/>
          </p:nvPicPr>
          <p:blipFill rotWithShape="1">
            <a:blip r:embed="rId11">
              <a:extLst>
                <a:ext uri="{BEBA8EAE-BF5A-486C-A8C5-ECC9F3942E4B}">
                  <a14:imgProps xmlns:a14="http://schemas.microsoft.com/office/drawing/2010/main">
                    <a14:imgLayer r:embed="rId12">
                      <a14:imgEffect>
                        <a14:brightnessContrast bright="-100000" contrast="100000"/>
                      </a14:imgEffect>
                    </a14:imgLayer>
                  </a14:imgProps>
                </a:ext>
                <a:ext uri="{28A0092B-C50C-407E-A947-70E740481C1C}">
                  <a14:useLocalDpi xmlns:a14="http://schemas.microsoft.com/office/drawing/2010/main" val="0"/>
                </a:ext>
              </a:extLst>
            </a:blip>
            <a:srcRect/>
            <a:stretch/>
          </p:blipFill>
          <p:spPr bwMode="auto">
            <a:xfrm>
              <a:off x="3793256" y="3881373"/>
              <a:ext cx="371908" cy="203514"/>
            </a:xfrm>
            <a:prstGeom prst="rect">
              <a:avLst/>
            </a:prstGeom>
            <a:noFill/>
            <a:extLst>
              <a:ext uri="{909E8E84-426E-40DD-AFC4-6F175D3DCCD1}">
                <a14:hiddenFill xmlns:a14="http://schemas.microsoft.com/office/drawing/2010/main">
                  <a:solidFill>
                    <a:srgbClr val="FFFFFF"/>
                  </a:solidFill>
                </a14:hiddenFill>
              </a:ext>
            </a:extLst>
          </p:spPr>
        </p:pic>
        <p:pic>
          <p:nvPicPr>
            <p:cNvPr id="126" name="Picture 125" descr="Grok Logo and symbol, meaning, history, PNG, brand">
              <a:extLst>
                <a:ext uri="{FF2B5EF4-FFF2-40B4-BE49-F238E27FC236}">
                  <a16:creationId xmlns:a16="http://schemas.microsoft.com/office/drawing/2014/main" id="{54152E62-BD9B-EFDA-347B-82D4FC494C8E}"/>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t="22311" r="60426" b="12855"/>
            <a:stretch>
              <a:fillRect/>
            </a:stretch>
          </p:blipFill>
          <p:spPr bwMode="auto">
            <a:xfrm>
              <a:off x="6162563" y="2066412"/>
              <a:ext cx="256557" cy="236434"/>
            </a:xfrm>
            <a:prstGeom prst="rect">
              <a:avLst/>
            </a:prstGeom>
            <a:noFill/>
            <a:extLst>
              <a:ext uri="{909E8E84-426E-40DD-AFC4-6F175D3DCCD1}">
                <a14:hiddenFill xmlns:a14="http://schemas.microsoft.com/office/drawing/2010/main">
                  <a:solidFill>
                    <a:srgbClr val="FFFFFF"/>
                  </a:solidFill>
                </a14:hiddenFill>
              </a:ext>
            </a:extLst>
          </p:spPr>
        </p:pic>
        <p:pic>
          <p:nvPicPr>
            <p:cNvPr id="128" name="Picture 127" descr="A white letter on a red and yellow background&#10;&#10;AI-generated content may be incorrect.">
              <a:extLst>
                <a:ext uri="{FF2B5EF4-FFF2-40B4-BE49-F238E27FC236}">
                  <a16:creationId xmlns:a16="http://schemas.microsoft.com/office/drawing/2014/main" id="{EAC61F0C-9B1C-F210-603A-5020A41CDD8A}"/>
                </a:ext>
              </a:extLst>
            </p:cNvPr>
            <p:cNvPicPr>
              <a:picLocks noChangeAspect="1"/>
            </p:cNvPicPr>
            <p:nvPr/>
          </p:nvPicPr>
          <p:blipFill>
            <a:blip r:embed="rId14"/>
            <a:stretch>
              <a:fillRect/>
            </a:stretch>
          </p:blipFill>
          <p:spPr>
            <a:xfrm>
              <a:off x="9844074" y="1002785"/>
              <a:ext cx="154890" cy="182026"/>
            </a:xfrm>
            <a:prstGeom prst="rect">
              <a:avLst/>
            </a:prstGeom>
          </p:spPr>
        </p:pic>
        <p:pic>
          <p:nvPicPr>
            <p:cNvPr id="129" name="Picture 128">
              <a:extLst>
                <a:ext uri="{FF2B5EF4-FFF2-40B4-BE49-F238E27FC236}">
                  <a16:creationId xmlns:a16="http://schemas.microsoft.com/office/drawing/2014/main" id="{43DEDE7F-ED9B-44BA-32A0-077DF7E08466}"/>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9649" b="89474" l="9910" r="93694">
                          <a14:foregroundMark x1="93694" y1="28947" x2="92793" y2="28947"/>
                        </a14:backgroundRemoval>
                      </a14:imgEffect>
                    </a14:imgLayer>
                  </a14:imgProps>
                </a:ext>
              </a:extLst>
            </a:blip>
            <a:stretch>
              <a:fillRect/>
            </a:stretch>
          </p:blipFill>
          <p:spPr>
            <a:xfrm>
              <a:off x="6162563" y="959000"/>
              <a:ext cx="293667" cy="305498"/>
            </a:xfrm>
            <a:prstGeom prst="rect">
              <a:avLst/>
            </a:prstGeom>
          </p:spPr>
        </p:pic>
        <p:sp>
          <p:nvSpPr>
            <p:cNvPr id="152" name="Graphic 42">
              <a:extLst>
                <a:ext uri="{FF2B5EF4-FFF2-40B4-BE49-F238E27FC236}">
                  <a16:creationId xmlns:a16="http://schemas.microsoft.com/office/drawing/2014/main" id="{FB5584C2-E760-1216-E058-7BB3655BCF49}"/>
                </a:ext>
              </a:extLst>
            </p:cNvPr>
            <p:cNvSpPr/>
            <p:nvPr/>
          </p:nvSpPr>
          <p:spPr>
            <a:xfrm>
              <a:off x="911312" y="1272117"/>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53" name="Graphic 42">
              <a:extLst>
                <a:ext uri="{FF2B5EF4-FFF2-40B4-BE49-F238E27FC236}">
                  <a16:creationId xmlns:a16="http://schemas.microsoft.com/office/drawing/2014/main" id="{804F799B-F571-07FB-2712-140D5DBA6D58}"/>
                </a:ext>
              </a:extLst>
            </p:cNvPr>
            <p:cNvSpPr/>
            <p:nvPr/>
          </p:nvSpPr>
          <p:spPr>
            <a:xfrm>
              <a:off x="1775292" y="1478623"/>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54" name="Graphic 42">
              <a:extLst>
                <a:ext uri="{FF2B5EF4-FFF2-40B4-BE49-F238E27FC236}">
                  <a16:creationId xmlns:a16="http://schemas.microsoft.com/office/drawing/2014/main" id="{D1E4B8C9-555E-2C24-F283-7039BFBD2AB8}"/>
                </a:ext>
              </a:extLst>
            </p:cNvPr>
            <p:cNvSpPr/>
            <p:nvPr/>
          </p:nvSpPr>
          <p:spPr>
            <a:xfrm>
              <a:off x="1304931" y="1685130"/>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55" name="Graphic 42">
              <a:extLst>
                <a:ext uri="{FF2B5EF4-FFF2-40B4-BE49-F238E27FC236}">
                  <a16:creationId xmlns:a16="http://schemas.microsoft.com/office/drawing/2014/main" id="{0C6CF6F5-BD57-C374-48F9-B86EDFB942C9}"/>
                </a:ext>
              </a:extLst>
            </p:cNvPr>
            <p:cNvSpPr/>
            <p:nvPr/>
          </p:nvSpPr>
          <p:spPr>
            <a:xfrm>
              <a:off x="1154053" y="1891635"/>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56" name="Graphic 42">
              <a:extLst>
                <a:ext uri="{FF2B5EF4-FFF2-40B4-BE49-F238E27FC236}">
                  <a16:creationId xmlns:a16="http://schemas.microsoft.com/office/drawing/2014/main" id="{BD903877-F226-6780-39DE-A47147017AF3}"/>
                </a:ext>
              </a:extLst>
            </p:cNvPr>
            <p:cNvSpPr/>
            <p:nvPr/>
          </p:nvSpPr>
          <p:spPr>
            <a:xfrm>
              <a:off x="1207355" y="2098141"/>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57" name="Graphic 42">
              <a:extLst>
                <a:ext uri="{FF2B5EF4-FFF2-40B4-BE49-F238E27FC236}">
                  <a16:creationId xmlns:a16="http://schemas.microsoft.com/office/drawing/2014/main" id="{7611BA4D-1DEA-3631-2676-FC52C826967F}"/>
                </a:ext>
              </a:extLst>
            </p:cNvPr>
            <p:cNvSpPr/>
            <p:nvPr/>
          </p:nvSpPr>
          <p:spPr>
            <a:xfrm>
              <a:off x="1010372" y="2304647"/>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58" name="Graphic 42">
              <a:extLst>
                <a:ext uri="{FF2B5EF4-FFF2-40B4-BE49-F238E27FC236}">
                  <a16:creationId xmlns:a16="http://schemas.microsoft.com/office/drawing/2014/main" id="{6FFB1A7C-C171-E540-E317-2197EA12D6E1}"/>
                </a:ext>
              </a:extLst>
            </p:cNvPr>
            <p:cNvSpPr/>
            <p:nvPr/>
          </p:nvSpPr>
          <p:spPr>
            <a:xfrm>
              <a:off x="800623" y="2511154"/>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59" name="Graphic 42">
              <a:extLst>
                <a:ext uri="{FF2B5EF4-FFF2-40B4-BE49-F238E27FC236}">
                  <a16:creationId xmlns:a16="http://schemas.microsoft.com/office/drawing/2014/main" id="{94ED6A64-03A2-5CCB-0240-AA987583FF5E}"/>
                </a:ext>
              </a:extLst>
            </p:cNvPr>
            <p:cNvSpPr/>
            <p:nvPr/>
          </p:nvSpPr>
          <p:spPr>
            <a:xfrm>
              <a:off x="2106416" y="2717659"/>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60" name="Graphic 42">
              <a:extLst>
                <a:ext uri="{FF2B5EF4-FFF2-40B4-BE49-F238E27FC236}">
                  <a16:creationId xmlns:a16="http://schemas.microsoft.com/office/drawing/2014/main" id="{77C98357-64E2-260A-7468-72F2245962AA}"/>
                </a:ext>
              </a:extLst>
            </p:cNvPr>
            <p:cNvSpPr/>
            <p:nvPr/>
          </p:nvSpPr>
          <p:spPr>
            <a:xfrm>
              <a:off x="1010372" y="2924165"/>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61" name="Graphic 42">
              <a:extLst>
                <a:ext uri="{FF2B5EF4-FFF2-40B4-BE49-F238E27FC236}">
                  <a16:creationId xmlns:a16="http://schemas.microsoft.com/office/drawing/2014/main" id="{092CA6AA-8AF7-84FA-11D4-78DF5540470B}"/>
                </a:ext>
              </a:extLst>
            </p:cNvPr>
            <p:cNvSpPr/>
            <p:nvPr/>
          </p:nvSpPr>
          <p:spPr>
            <a:xfrm>
              <a:off x="1010372" y="3130672"/>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62" name="Graphic 42">
              <a:extLst>
                <a:ext uri="{FF2B5EF4-FFF2-40B4-BE49-F238E27FC236}">
                  <a16:creationId xmlns:a16="http://schemas.microsoft.com/office/drawing/2014/main" id="{954967BF-07D0-2E7E-61DF-F910AA3702E1}"/>
                </a:ext>
              </a:extLst>
            </p:cNvPr>
            <p:cNvSpPr/>
            <p:nvPr/>
          </p:nvSpPr>
          <p:spPr>
            <a:xfrm>
              <a:off x="5757596" y="1264982"/>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63" name="Graphic 42">
              <a:extLst>
                <a:ext uri="{FF2B5EF4-FFF2-40B4-BE49-F238E27FC236}">
                  <a16:creationId xmlns:a16="http://schemas.microsoft.com/office/drawing/2014/main" id="{49926AAF-5DE7-7512-03C3-347861F8DE71}"/>
                </a:ext>
              </a:extLst>
            </p:cNvPr>
            <p:cNvSpPr/>
            <p:nvPr/>
          </p:nvSpPr>
          <p:spPr>
            <a:xfrm>
              <a:off x="6334213" y="1437417"/>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64" name="Graphic 42">
              <a:extLst>
                <a:ext uri="{FF2B5EF4-FFF2-40B4-BE49-F238E27FC236}">
                  <a16:creationId xmlns:a16="http://schemas.microsoft.com/office/drawing/2014/main" id="{652823D3-D926-C86B-BCFE-ABEABFAF1EC7}"/>
                </a:ext>
              </a:extLst>
            </p:cNvPr>
            <p:cNvSpPr/>
            <p:nvPr/>
          </p:nvSpPr>
          <p:spPr>
            <a:xfrm>
              <a:off x="6267440" y="1643271"/>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65" name="Graphic 42">
              <a:extLst>
                <a:ext uri="{FF2B5EF4-FFF2-40B4-BE49-F238E27FC236}">
                  <a16:creationId xmlns:a16="http://schemas.microsoft.com/office/drawing/2014/main" id="{CC4C1A61-2BB5-403D-1B32-C4B7A1ACB753}"/>
                </a:ext>
              </a:extLst>
            </p:cNvPr>
            <p:cNvSpPr/>
            <p:nvPr/>
          </p:nvSpPr>
          <p:spPr>
            <a:xfrm>
              <a:off x="6146433" y="2339310"/>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66" name="Graphic 42">
              <a:extLst>
                <a:ext uri="{FF2B5EF4-FFF2-40B4-BE49-F238E27FC236}">
                  <a16:creationId xmlns:a16="http://schemas.microsoft.com/office/drawing/2014/main" id="{9C00C95D-3D73-813F-9754-7CDCC1187C34}"/>
                </a:ext>
              </a:extLst>
            </p:cNvPr>
            <p:cNvSpPr/>
            <p:nvPr/>
          </p:nvSpPr>
          <p:spPr>
            <a:xfrm>
              <a:off x="6026438" y="2534014"/>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68" name="Graphic 42">
              <a:extLst>
                <a:ext uri="{FF2B5EF4-FFF2-40B4-BE49-F238E27FC236}">
                  <a16:creationId xmlns:a16="http://schemas.microsoft.com/office/drawing/2014/main" id="{1C1A754C-B4E8-5BE8-11BA-E2E9640CEBD7}"/>
                </a:ext>
              </a:extLst>
            </p:cNvPr>
            <p:cNvSpPr/>
            <p:nvPr/>
          </p:nvSpPr>
          <p:spPr>
            <a:xfrm>
              <a:off x="7354642" y="1889338"/>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69" name="Graphic 42">
              <a:extLst>
                <a:ext uri="{FF2B5EF4-FFF2-40B4-BE49-F238E27FC236}">
                  <a16:creationId xmlns:a16="http://schemas.microsoft.com/office/drawing/2014/main" id="{E9777B63-4592-6102-88FE-A2326ABCA248}"/>
                </a:ext>
              </a:extLst>
            </p:cNvPr>
            <p:cNvSpPr/>
            <p:nvPr/>
          </p:nvSpPr>
          <p:spPr>
            <a:xfrm>
              <a:off x="7795163" y="2289979"/>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70" name="Graphic 42">
              <a:extLst>
                <a:ext uri="{FF2B5EF4-FFF2-40B4-BE49-F238E27FC236}">
                  <a16:creationId xmlns:a16="http://schemas.microsoft.com/office/drawing/2014/main" id="{BC602B0C-B8D7-C0DE-17F0-ECF0951466DE}"/>
                </a:ext>
              </a:extLst>
            </p:cNvPr>
            <p:cNvSpPr/>
            <p:nvPr/>
          </p:nvSpPr>
          <p:spPr>
            <a:xfrm>
              <a:off x="9808710" y="1281076"/>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grpSp>
      <p:pic>
        <p:nvPicPr>
          <p:cNvPr id="3" name="Picture 2">
            <a:extLst>
              <a:ext uri="{FF2B5EF4-FFF2-40B4-BE49-F238E27FC236}">
                <a16:creationId xmlns:a16="http://schemas.microsoft.com/office/drawing/2014/main" id="{F513C309-6BC7-2465-D89C-C60CDEA8FF32}"/>
              </a:ext>
            </a:extLst>
          </p:cNvPr>
          <p:cNvPicPr>
            <a:picLocks noChangeAspect="1"/>
          </p:cNvPicPr>
          <p:nvPr/>
        </p:nvPicPr>
        <p:blipFill>
          <a:blip r:embed="rId17"/>
          <a:stretch>
            <a:fillRect/>
          </a:stretch>
        </p:blipFill>
        <p:spPr>
          <a:xfrm>
            <a:off x="5572001" y="3837288"/>
            <a:ext cx="540559" cy="107345"/>
          </a:xfrm>
          <a:prstGeom prst="rect">
            <a:avLst/>
          </a:prstGeom>
        </p:spPr>
      </p:pic>
      <p:pic>
        <p:nvPicPr>
          <p:cNvPr id="5" name="Picture 4">
            <a:extLst>
              <a:ext uri="{FF2B5EF4-FFF2-40B4-BE49-F238E27FC236}">
                <a16:creationId xmlns:a16="http://schemas.microsoft.com/office/drawing/2014/main" id="{0A186739-A693-DD57-805D-77682510DB26}"/>
              </a:ext>
            </a:extLst>
          </p:cNvPr>
          <p:cNvPicPr>
            <a:picLocks noChangeAspect="1"/>
          </p:cNvPicPr>
          <p:nvPr/>
        </p:nvPicPr>
        <p:blipFill>
          <a:blip r:embed="rId18"/>
          <a:stretch>
            <a:fillRect/>
          </a:stretch>
        </p:blipFill>
        <p:spPr>
          <a:xfrm>
            <a:off x="5759786" y="4806067"/>
            <a:ext cx="273245" cy="171415"/>
          </a:xfrm>
          <a:prstGeom prst="rect">
            <a:avLst/>
          </a:prstGeom>
        </p:spPr>
      </p:pic>
      <p:pic>
        <p:nvPicPr>
          <p:cNvPr id="7" name="Picture 6">
            <a:extLst>
              <a:ext uri="{FF2B5EF4-FFF2-40B4-BE49-F238E27FC236}">
                <a16:creationId xmlns:a16="http://schemas.microsoft.com/office/drawing/2014/main" id="{AA940930-41FF-98CB-2544-1B8B04D6C687}"/>
              </a:ext>
            </a:extLst>
          </p:cNvPr>
          <p:cNvPicPr>
            <a:picLocks noChangeAspect="1"/>
          </p:cNvPicPr>
          <p:nvPr/>
        </p:nvPicPr>
        <p:blipFill>
          <a:blip r:embed="rId19"/>
          <a:stretch>
            <a:fillRect/>
          </a:stretch>
        </p:blipFill>
        <p:spPr>
          <a:xfrm>
            <a:off x="5810020" y="5554838"/>
            <a:ext cx="271896" cy="264395"/>
          </a:xfrm>
          <a:prstGeom prst="rect">
            <a:avLst/>
          </a:prstGeom>
        </p:spPr>
      </p:pic>
      <p:pic>
        <p:nvPicPr>
          <p:cNvPr id="9" name="Picture 8">
            <a:extLst>
              <a:ext uri="{FF2B5EF4-FFF2-40B4-BE49-F238E27FC236}">
                <a16:creationId xmlns:a16="http://schemas.microsoft.com/office/drawing/2014/main" id="{34EFC859-E610-F4A9-ABB3-7EC9410C9AB7}"/>
              </a:ext>
            </a:extLst>
          </p:cNvPr>
          <p:cNvPicPr>
            <a:picLocks noChangeAspect="1"/>
          </p:cNvPicPr>
          <p:nvPr/>
        </p:nvPicPr>
        <p:blipFill>
          <a:blip r:embed="rId20"/>
          <a:stretch>
            <a:fillRect/>
          </a:stretch>
        </p:blipFill>
        <p:spPr>
          <a:xfrm>
            <a:off x="7824349" y="5819233"/>
            <a:ext cx="272902" cy="214683"/>
          </a:xfrm>
          <a:prstGeom prst="rect">
            <a:avLst/>
          </a:prstGeom>
        </p:spPr>
      </p:pic>
      <p:pic>
        <p:nvPicPr>
          <p:cNvPr id="11" name="Picture 10">
            <a:extLst>
              <a:ext uri="{FF2B5EF4-FFF2-40B4-BE49-F238E27FC236}">
                <a16:creationId xmlns:a16="http://schemas.microsoft.com/office/drawing/2014/main" id="{FCBBF02F-C564-82C1-8005-EA945B2B70B4}"/>
              </a:ext>
            </a:extLst>
          </p:cNvPr>
          <p:cNvPicPr>
            <a:picLocks noChangeAspect="1"/>
          </p:cNvPicPr>
          <p:nvPr/>
        </p:nvPicPr>
        <p:blipFill>
          <a:blip r:embed="rId21"/>
          <a:stretch>
            <a:fillRect/>
          </a:stretch>
        </p:blipFill>
        <p:spPr>
          <a:xfrm>
            <a:off x="11476276" y="3837288"/>
            <a:ext cx="336495" cy="199002"/>
          </a:xfrm>
          <a:prstGeom prst="rect">
            <a:avLst/>
          </a:prstGeom>
        </p:spPr>
      </p:pic>
      <p:pic>
        <p:nvPicPr>
          <p:cNvPr id="13" name="Picture 12">
            <a:extLst>
              <a:ext uri="{FF2B5EF4-FFF2-40B4-BE49-F238E27FC236}">
                <a16:creationId xmlns:a16="http://schemas.microsoft.com/office/drawing/2014/main" id="{2C2D0A37-A504-1A98-0441-AF99FB2C6047}"/>
              </a:ext>
            </a:extLst>
          </p:cNvPr>
          <p:cNvPicPr>
            <a:picLocks noChangeAspect="1"/>
          </p:cNvPicPr>
          <p:nvPr/>
        </p:nvPicPr>
        <p:blipFill>
          <a:blip r:embed="rId22"/>
          <a:stretch>
            <a:fillRect/>
          </a:stretch>
        </p:blipFill>
        <p:spPr>
          <a:xfrm>
            <a:off x="11343361" y="4570337"/>
            <a:ext cx="469410" cy="177083"/>
          </a:xfrm>
          <a:prstGeom prst="rect">
            <a:avLst/>
          </a:prstGeom>
        </p:spPr>
      </p:pic>
      <p:pic>
        <p:nvPicPr>
          <p:cNvPr id="15" name="Picture 14">
            <a:extLst>
              <a:ext uri="{FF2B5EF4-FFF2-40B4-BE49-F238E27FC236}">
                <a16:creationId xmlns:a16="http://schemas.microsoft.com/office/drawing/2014/main" id="{FB2E4708-EEB5-C147-3752-291C4DE723A5}"/>
              </a:ext>
            </a:extLst>
          </p:cNvPr>
          <p:cNvPicPr>
            <a:picLocks noChangeAspect="1"/>
          </p:cNvPicPr>
          <p:nvPr/>
        </p:nvPicPr>
        <p:blipFill>
          <a:blip r:embed="rId23"/>
          <a:stretch>
            <a:fillRect/>
          </a:stretch>
        </p:blipFill>
        <p:spPr>
          <a:xfrm>
            <a:off x="11340719" y="5234947"/>
            <a:ext cx="455360" cy="122305"/>
          </a:xfrm>
          <a:prstGeom prst="rect">
            <a:avLst/>
          </a:prstGeom>
        </p:spPr>
      </p:pic>
      <p:pic>
        <p:nvPicPr>
          <p:cNvPr id="17" name="Picture 16">
            <a:extLst>
              <a:ext uri="{FF2B5EF4-FFF2-40B4-BE49-F238E27FC236}">
                <a16:creationId xmlns:a16="http://schemas.microsoft.com/office/drawing/2014/main" id="{B0794682-C885-8466-1C25-4F80517F1D17}"/>
              </a:ext>
            </a:extLst>
          </p:cNvPr>
          <p:cNvPicPr>
            <a:picLocks noChangeAspect="1"/>
          </p:cNvPicPr>
          <p:nvPr/>
        </p:nvPicPr>
        <p:blipFill>
          <a:blip r:embed="rId24"/>
          <a:stretch>
            <a:fillRect/>
          </a:stretch>
        </p:blipFill>
        <p:spPr>
          <a:xfrm>
            <a:off x="11238512" y="5908366"/>
            <a:ext cx="611781" cy="186093"/>
          </a:xfrm>
          <a:prstGeom prst="rect">
            <a:avLst/>
          </a:prstGeom>
        </p:spPr>
      </p:pic>
      <p:sp>
        <p:nvSpPr>
          <p:cNvPr id="8" name="Graphic 42">
            <a:extLst>
              <a:ext uri="{FF2B5EF4-FFF2-40B4-BE49-F238E27FC236}">
                <a16:creationId xmlns:a16="http://schemas.microsoft.com/office/drawing/2014/main" id="{873CE294-4F50-8D07-A2CB-4450F6AFCC4F}"/>
              </a:ext>
            </a:extLst>
          </p:cNvPr>
          <p:cNvSpPr/>
          <p:nvPr/>
        </p:nvSpPr>
        <p:spPr>
          <a:xfrm>
            <a:off x="6251604" y="2663405"/>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pic>
        <p:nvPicPr>
          <p:cNvPr id="2050" name="Picture 2" descr="Anthropic Icon icon - Free Download PNG &amp; SVG | Streamline">
            <a:extLst>
              <a:ext uri="{FF2B5EF4-FFF2-40B4-BE49-F238E27FC236}">
                <a16:creationId xmlns:a16="http://schemas.microsoft.com/office/drawing/2014/main" id="{F8BA2245-8EF7-D68E-648C-3A57AAF0ED99}"/>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543047" y="978770"/>
            <a:ext cx="182880" cy="1828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6">
            <a:extLst>
              <a:ext uri="{FF2B5EF4-FFF2-40B4-BE49-F238E27FC236}">
                <a16:creationId xmlns:a16="http://schemas.microsoft.com/office/drawing/2014/main" id="{607FB710-8587-8434-3B35-8CBCDDD7ABEB}"/>
              </a:ext>
            </a:extLst>
          </p:cNvPr>
          <p:cNvSpPr/>
          <p:nvPr/>
        </p:nvSpPr>
        <p:spPr bwMode="auto">
          <a:xfrm>
            <a:off x="2817602" y="1959036"/>
            <a:ext cx="2024486" cy="1684968"/>
          </a:xfrm>
          <a:prstGeom prst="roundRect">
            <a:avLst>
              <a:gd name="adj" fmla="val 4721"/>
            </a:avLst>
          </a:prstGeom>
          <a:solidFill>
            <a:schemeClr val="bg1"/>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0" bIns="109728" numCol="1" spcCol="0" rtlCol="0" fromWordArt="0" anchor="t" anchorCtr="0" forceAA="0" compatLnSpc="1">
            <a:prstTxWarp prst="textNoShape">
              <a:avLst/>
            </a:prstTxWarp>
            <a:noAutofit/>
          </a:bodyPr>
          <a:lstStyle/>
          <a:p>
            <a:pPr marL="0" marR="0" lvl="0" indent="0" algn="l" defTabSz="812459" rtl="0" eaLnBrk="1" fontAlgn="auto" latinLnBrk="0" hangingPunct="1">
              <a:lnSpc>
                <a:spcPct val="85000"/>
              </a:lnSpc>
              <a:spcBef>
                <a:spcPts val="60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Semibold"/>
                <a:ea typeface="+mn-ea"/>
                <a:cs typeface="Segoe Sans Display Semibold"/>
              </a:rPr>
              <a:t> Microsoft</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Phi-4</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Phi-4-mini</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Phi-4-mini-reasoning</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Bitnet, Magma</a:t>
            </a: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Aurora, </a:t>
            </a: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BioEmu</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a:p>
            <a:pPr marL="0" marR="0" lvl="0" indent="0" algn="l" defTabSz="812304" rtl="0" eaLnBrk="1" fontAlgn="auto" latinLnBrk="0" hangingPunct="1">
              <a:lnSpc>
                <a:spcPct val="85000"/>
              </a:lnSpc>
              <a:spcBef>
                <a:spcPts val="600"/>
              </a:spcBef>
              <a:spcAft>
                <a:spcPts val="0"/>
              </a:spcAft>
              <a:buClrTx/>
              <a:buSzTx/>
              <a:buFontTx/>
              <a:buNone/>
              <a:tabLst/>
              <a:defRPr/>
            </a:pPr>
            <a:r>
              <a:rPr kumimoji="0" lang="en-US" sz="1000" b="0" i="0" u="none" strike="noStrike" kern="1200" cap="none" spc="0" normalizeH="0" baseline="0" noProof="0" err="1">
                <a:ln>
                  <a:noFill/>
                </a:ln>
                <a:solidFill>
                  <a:srgbClr val="000000"/>
                </a:solidFill>
                <a:effectLst/>
                <a:uLnTx/>
                <a:uFillTx/>
                <a:latin typeface="Segoe Sans Display" pitchFamily="2" charset="0"/>
                <a:ea typeface="+mn-ea"/>
                <a:cs typeface="Segoe Sans Display" pitchFamily="2" charset="0"/>
              </a:rPr>
              <a:t>OmniParser</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 v2</a:t>
            </a:r>
          </a:p>
        </p:txBody>
      </p:sp>
      <p:pic>
        <p:nvPicPr>
          <p:cNvPr id="2052" name="Picture 4">
            <a:extLst>
              <a:ext uri="{FF2B5EF4-FFF2-40B4-BE49-F238E27FC236}">
                <a16:creationId xmlns:a16="http://schemas.microsoft.com/office/drawing/2014/main" id="{748EA017-0C49-1CD4-660B-8F3E31E7E064}"/>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543809" y="2008062"/>
            <a:ext cx="182118" cy="171405"/>
          </a:xfrm>
          <a:prstGeom prst="rect">
            <a:avLst/>
          </a:prstGeom>
          <a:noFill/>
          <a:extLst>
            <a:ext uri="{909E8E84-426E-40DD-AFC4-6F175D3DCCD1}">
              <a14:hiddenFill xmlns:a14="http://schemas.microsoft.com/office/drawing/2010/main">
                <a:solidFill>
                  <a:srgbClr val="FFFFFF"/>
                </a:solidFill>
              </a14:hiddenFill>
            </a:ext>
          </a:extLst>
        </p:spPr>
      </p:pic>
      <p:sp>
        <p:nvSpPr>
          <p:cNvPr id="4" name="Graphic 42">
            <a:extLst>
              <a:ext uri="{FF2B5EF4-FFF2-40B4-BE49-F238E27FC236}">
                <a16:creationId xmlns:a16="http://schemas.microsoft.com/office/drawing/2014/main" id="{F4B22C7E-5CEE-0A56-140B-69C59B214DA5}"/>
              </a:ext>
            </a:extLst>
          </p:cNvPr>
          <p:cNvSpPr/>
          <p:nvPr/>
        </p:nvSpPr>
        <p:spPr>
          <a:xfrm>
            <a:off x="11143088" y="1628222"/>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6" name="Graphic 42">
            <a:extLst>
              <a:ext uri="{FF2B5EF4-FFF2-40B4-BE49-F238E27FC236}">
                <a16:creationId xmlns:a16="http://schemas.microsoft.com/office/drawing/2014/main" id="{D21DCC72-8036-5C79-6985-BC74638419FE}"/>
              </a:ext>
            </a:extLst>
          </p:cNvPr>
          <p:cNvSpPr/>
          <p:nvPr/>
        </p:nvSpPr>
        <p:spPr>
          <a:xfrm>
            <a:off x="11419887" y="1832430"/>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
        <p:nvSpPr>
          <p:cNvPr id="12" name="Graphic 42">
            <a:extLst>
              <a:ext uri="{FF2B5EF4-FFF2-40B4-BE49-F238E27FC236}">
                <a16:creationId xmlns:a16="http://schemas.microsoft.com/office/drawing/2014/main" id="{97E87EA4-5FD9-316E-66BE-EC91D8849376}"/>
              </a:ext>
            </a:extLst>
          </p:cNvPr>
          <p:cNvSpPr/>
          <p:nvPr/>
        </p:nvSpPr>
        <p:spPr>
          <a:xfrm>
            <a:off x="10910822" y="2454250"/>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pic>
        <p:nvPicPr>
          <p:cNvPr id="14" name="Picture 13" descr="A black triangle with stripes&#10;&#10;AI-generated content may be incorrect.">
            <a:extLst>
              <a:ext uri="{FF2B5EF4-FFF2-40B4-BE49-F238E27FC236}">
                <a16:creationId xmlns:a16="http://schemas.microsoft.com/office/drawing/2014/main" id="{A97761DD-6723-D2B0-A8B1-C29DDB08C5FF}"/>
              </a:ext>
            </a:extLst>
          </p:cNvPr>
          <p:cNvPicPr>
            <a:picLocks noChangeAspect="1"/>
          </p:cNvPicPr>
          <p:nvPr/>
        </p:nvPicPr>
        <p:blipFill>
          <a:blip r:embed="rId27"/>
          <a:stretch>
            <a:fillRect/>
          </a:stretch>
        </p:blipFill>
        <p:spPr>
          <a:xfrm>
            <a:off x="6232554" y="2961566"/>
            <a:ext cx="295899" cy="209262"/>
          </a:xfrm>
          <a:prstGeom prst="rect">
            <a:avLst/>
          </a:prstGeom>
        </p:spPr>
      </p:pic>
      <p:sp>
        <p:nvSpPr>
          <p:cNvPr id="10" name="Graphic 42">
            <a:extLst>
              <a:ext uri="{FF2B5EF4-FFF2-40B4-BE49-F238E27FC236}">
                <a16:creationId xmlns:a16="http://schemas.microsoft.com/office/drawing/2014/main" id="{2821362F-5473-D10E-6C7C-CF7F6D743877}"/>
              </a:ext>
            </a:extLst>
          </p:cNvPr>
          <p:cNvSpPr/>
          <p:nvPr/>
        </p:nvSpPr>
        <p:spPr>
          <a:xfrm>
            <a:off x="9568282" y="1424058"/>
            <a:ext cx="112778" cy="108005"/>
          </a:xfrm>
          <a:custGeom>
            <a:avLst/>
            <a:gdLst>
              <a:gd name="connsiteX0" fmla="*/ 83706 w 190472"/>
              <a:gd name="connsiteY0" fmla="*/ 7172 h 182411"/>
              <a:gd name="connsiteX1" fmla="*/ 106766 w 190472"/>
              <a:gd name="connsiteY1" fmla="*/ 7172 h 182411"/>
              <a:gd name="connsiteX2" fmla="*/ 129226 w 190472"/>
              <a:gd name="connsiteY2" fmla="*/ 52673 h 182411"/>
              <a:gd name="connsiteX3" fmla="*/ 179451 w 190472"/>
              <a:gd name="connsiteY3" fmla="*/ 59969 h 182411"/>
              <a:gd name="connsiteX4" fmla="*/ 186576 w 190472"/>
              <a:gd name="connsiteY4" fmla="*/ 81905 h 182411"/>
              <a:gd name="connsiteX5" fmla="*/ 150229 w 190472"/>
              <a:gd name="connsiteY5" fmla="*/ 117338 h 182411"/>
              <a:gd name="connsiteX6" fmla="*/ 158811 w 190472"/>
              <a:gd name="connsiteY6" fmla="*/ 167345 h 182411"/>
              <a:gd name="connsiteX7" fmla="*/ 140151 w 190472"/>
              <a:gd name="connsiteY7" fmla="*/ 180908 h 182411"/>
              <a:gd name="connsiteX8" fmla="*/ 95231 w 190472"/>
              <a:gd name="connsiteY8" fmla="*/ 157286 h 182411"/>
              <a:gd name="connsiteX9" fmla="*/ 50321 w 190472"/>
              <a:gd name="connsiteY9" fmla="*/ 180908 h 182411"/>
              <a:gd name="connsiteX10" fmla="*/ 31652 w 190472"/>
              <a:gd name="connsiteY10" fmla="*/ 167345 h 182411"/>
              <a:gd name="connsiteX11" fmla="*/ 40234 w 190472"/>
              <a:gd name="connsiteY11" fmla="*/ 117338 h 182411"/>
              <a:gd name="connsiteX12" fmla="*/ 3896 w 190472"/>
              <a:gd name="connsiteY12" fmla="*/ 81905 h 182411"/>
              <a:gd name="connsiteX13" fmla="*/ 11021 w 190472"/>
              <a:gd name="connsiteY13" fmla="*/ 59969 h 182411"/>
              <a:gd name="connsiteX14" fmla="*/ 61246 w 190472"/>
              <a:gd name="connsiteY14" fmla="*/ 52673 h 182411"/>
              <a:gd name="connsiteX15" fmla="*/ 83706 w 190472"/>
              <a:gd name="connsiteY15" fmla="*/ 7172 h 1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2" h="182411">
                <a:moveTo>
                  <a:pt x="83706" y="7172"/>
                </a:moveTo>
                <a:cubicBezTo>
                  <a:pt x="88421" y="-2391"/>
                  <a:pt x="102051" y="-2391"/>
                  <a:pt x="106766" y="7172"/>
                </a:cubicBezTo>
                <a:lnTo>
                  <a:pt x="129226" y="52673"/>
                </a:lnTo>
                <a:lnTo>
                  <a:pt x="179451" y="59969"/>
                </a:lnTo>
                <a:cubicBezTo>
                  <a:pt x="189995" y="61503"/>
                  <a:pt x="194206" y="74466"/>
                  <a:pt x="186576" y="81905"/>
                </a:cubicBezTo>
                <a:lnTo>
                  <a:pt x="150229" y="117338"/>
                </a:lnTo>
                <a:lnTo>
                  <a:pt x="158811" y="167345"/>
                </a:lnTo>
                <a:cubicBezTo>
                  <a:pt x="160620" y="177851"/>
                  <a:pt x="149590" y="185861"/>
                  <a:pt x="140151" y="180908"/>
                </a:cubicBezTo>
                <a:lnTo>
                  <a:pt x="95231" y="157286"/>
                </a:lnTo>
                <a:lnTo>
                  <a:pt x="50321" y="180908"/>
                </a:lnTo>
                <a:cubicBezTo>
                  <a:pt x="40891" y="185861"/>
                  <a:pt x="29861" y="177860"/>
                  <a:pt x="31652" y="167345"/>
                </a:cubicBezTo>
                <a:lnTo>
                  <a:pt x="40234" y="117338"/>
                </a:lnTo>
                <a:lnTo>
                  <a:pt x="3896" y="81905"/>
                </a:lnTo>
                <a:cubicBezTo>
                  <a:pt x="-3734" y="74476"/>
                  <a:pt x="477" y="61503"/>
                  <a:pt x="11021" y="59969"/>
                </a:cubicBezTo>
                <a:lnTo>
                  <a:pt x="61246" y="52673"/>
                </a:lnTo>
                <a:lnTo>
                  <a:pt x="83706" y="7172"/>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2413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GB"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Sans Text Semibold" pitchFamily="2" charset="0"/>
              <a:ea typeface="+mn-ea"/>
              <a:cs typeface="Segoe Sans Text" pitchFamily="2" charset="0"/>
            </a:endParaRPr>
          </a:p>
        </p:txBody>
      </p:sp>
    </p:spTree>
    <p:extLst>
      <p:ext uri="{BB962C8B-B14F-4D97-AF65-F5344CB8AC3E}">
        <p14:creationId xmlns:p14="http://schemas.microsoft.com/office/powerpoint/2010/main" val="375780002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E947B-6B04-909B-C557-5ABA553CDEB1}"/>
            </a:ext>
          </a:extLst>
        </p:cNvPr>
        <p:cNvGrpSpPr/>
        <p:nvPr/>
      </p:nvGrpSpPr>
      <p:grpSpPr>
        <a:xfrm>
          <a:off x="0" y="0"/>
          <a:ext cx="0" cy="0"/>
          <a:chOff x="0" y="0"/>
          <a:chExt cx="0" cy="0"/>
        </a:xfrm>
      </p:grpSpPr>
      <p:sp>
        <p:nvSpPr>
          <p:cNvPr id="21" name="Rounded Rectangle 12">
            <a:extLst>
              <a:ext uri="{FF2B5EF4-FFF2-40B4-BE49-F238E27FC236}">
                <a16:creationId xmlns:a16="http://schemas.microsoft.com/office/drawing/2014/main" id="{0F731107-9866-D53F-4731-6E15FD9E5DC4}"/>
              </a:ext>
              <a:ext uri="{C183D7F6-B498-43B3-948B-1728B52AA6E4}">
                <adec:decorative xmlns:adec="http://schemas.microsoft.com/office/drawing/2017/decorative" val="1"/>
              </a:ext>
            </a:extLst>
          </p:cNvPr>
          <p:cNvSpPr/>
          <p:nvPr/>
        </p:nvSpPr>
        <p:spPr bwMode="auto">
          <a:xfrm>
            <a:off x="1231289" y="4516157"/>
            <a:ext cx="3030647" cy="1228725"/>
          </a:xfrm>
          <a:prstGeom prst="roundRect">
            <a:avLst>
              <a:gd name="adj" fmla="val 19649"/>
            </a:avLst>
          </a:prstGeom>
          <a:gradFill flip="none" rotWithShape="1">
            <a:gsLst>
              <a:gs pos="72000">
                <a:schemeClr val="tx2"/>
              </a:gs>
              <a:gs pos="0">
                <a:schemeClr val="accent3"/>
              </a:gs>
            </a:gsLst>
            <a:path path="circle">
              <a:fillToRect l="100000" t="100000"/>
            </a:path>
            <a:tileRect r="-100000" b="-100000"/>
          </a:gra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491019" rtl="0" eaLnBrk="1" fontAlgn="auto" latinLnBrk="0" hangingPunct="1">
              <a:lnSpc>
                <a:spcPct val="100000"/>
              </a:lnSpc>
              <a:spcBef>
                <a:spcPts val="0"/>
              </a:spcBef>
              <a:spcAft>
                <a:spcPct val="0"/>
              </a:spcAft>
              <a:buClrTx/>
              <a:buSzTx/>
              <a:buFontTx/>
              <a:buNone/>
              <a:tabLst/>
              <a:defRPr/>
            </a:pPr>
            <a:r>
              <a:rPr kumimoji="0" lang="en-US" sz="1800" b="1" i="0" u="none" strike="noStrike" kern="1200" cap="none" spc="0" normalizeH="0" baseline="0" noProof="0">
                <a:ln>
                  <a:noFill/>
                </a:ln>
                <a:gradFill>
                  <a:gsLst>
                    <a:gs pos="11189">
                      <a:srgbClr val="FFFFFF"/>
                    </a:gs>
                    <a:gs pos="39000">
                      <a:srgbClr val="FFFFFF"/>
                    </a:gs>
                  </a:gsLst>
                  <a:path path="circle">
                    <a:fillToRect l="100000" t="100000"/>
                  </a:path>
                </a:gradFill>
                <a:effectLst/>
                <a:uLnTx/>
                <a:uFillTx/>
                <a:latin typeface="Segoe Sans Text Semibold"/>
                <a:ea typeface="+mn-ea"/>
                <a:cs typeface="Segoe Sans Text"/>
              </a:rPr>
              <a:t>Unified access</a:t>
            </a:r>
          </a:p>
          <a:p>
            <a:pPr marL="0" marR="0" lvl="0" indent="0" algn="ctr" defTabSz="491019" rtl="0" eaLnBrk="1" fontAlgn="auto" latinLnBrk="0" hangingPunct="1">
              <a:lnSpc>
                <a:spcPct val="100000"/>
              </a:lnSpc>
              <a:spcBef>
                <a:spcPts val="0"/>
              </a:spcBef>
              <a:spcAft>
                <a:spcPct val="0"/>
              </a:spcAft>
              <a:buClrTx/>
              <a:buSzTx/>
              <a:buFontTx/>
              <a:buNone/>
              <a:tabLst/>
              <a:defRPr/>
            </a:pPr>
            <a:r>
              <a:rPr kumimoji="0" lang="en-US" sz="1600" b="0" i="1" u="none" strike="noStrike" kern="1200" cap="none" spc="0" normalizeH="0" baseline="0" noProof="0">
                <a:ln>
                  <a:noFill/>
                </a:ln>
                <a:gradFill>
                  <a:gsLst>
                    <a:gs pos="11189">
                      <a:srgbClr val="FFFFFF"/>
                    </a:gs>
                    <a:gs pos="39000">
                      <a:srgbClr val="FFFFFF"/>
                    </a:gs>
                  </a:gsLst>
                  <a:path path="circle">
                    <a:fillToRect l="100000" t="100000"/>
                  </a:path>
                </a:gradFill>
                <a:effectLst/>
                <a:uLnTx/>
                <a:uFillTx/>
                <a:latin typeface="Segoe Sans Text"/>
                <a:ea typeface="+mn-lt"/>
                <a:cs typeface="Segoe Sans Text"/>
              </a:rPr>
              <a:t>One portal for all models, billing, and governance</a:t>
            </a:r>
            <a:endParaRPr kumimoji="0" lang="en-US" sz="1600" b="0" i="1" u="none" strike="noStrike" kern="1200" cap="none" spc="0" normalizeH="0" baseline="0" noProof="0">
              <a:ln>
                <a:noFill/>
              </a:ln>
              <a:solidFill>
                <a:srgbClr val="FFFFFF"/>
              </a:solidFill>
              <a:effectLst/>
              <a:uLnTx/>
              <a:uFillTx/>
              <a:latin typeface="Segoe Sans Text"/>
              <a:ea typeface="+mn-ea"/>
              <a:cs typeface="+mn-cs"/>
            </a:endParaRPr>
          </a:p>
        </p:txBody>
      </p:sp>
      <p:sp>
        <p:nvSpPr>
          <p:cNvPr id="29" name="Rounded Rectangle 12">
            <a:extLst>
              <a:ext uri="{FF2B5EF4-FFF2-40B4-BE49-F238E27FC236}">
                <a16:creationId xmlns:a16="http://schemas.microsoft.com/office/drawing/2014/main" id="{CD90DAE7-59E7-3F25-3637-90866D445C03}"/>
              </a:ext>
              <a:ext uri="{C183D7F6-B498-43B3-948B-1728B52AA6E4}">
                <adec:decorative xmlns:adec="http://schemas.microsoft.com/office/drawing/2017/decorative" val="1"/>
              </a:ext>
            </a:extLst>
          </p:cNvPr>
          <p:cNvSpPr/>
          <p:nvPr/>
        </p:nvSpPr>
        <p:spPr bwMode="auto">
          <a:xfrm>
            <a:off x="4589590" y="4516157"/>
            <a:ext cx="3030647" cy="1228725"/>
          </a:xfrm>
          <a:prstGeom prst="roundRect">
            <a:avLst>
              <a:gd name="adj" fmla="val 19649"/>
            </a:avLst>
          </a:prstGeom>
          <a:gradFill flip="none" rotWithShape="1">
            <a:gsLst>
              <a:gs pos="72000">
                <a:schemeClr val="tx2"/>
              </a:gs>
              <a:gs pos="0">
                <a:schemeClr val="accent3"/>
              </a:gs>
            </a:gsLst>
            <a:path path="circle">
              <a:fillToRect l="100000" t="100000"/>
            </a:path>
            <a:tileRect r="-100000" b="-100000"/>
          </a:gra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491019" rtl="0" eaLnBrk="1" fontAlgn="auto" latinLnBrk="0" hangingPunct="1">
              <a:lnSpc>
                <a:spcPct val="100000"/>
              </a:lnSpc>
              <a:spcBef>
                <a:spcPts val="0"/>
              </a:spcBef>
              <a:spcAft>
                <a:spcPct val="0"/>
              </a:spcAft>
              <a:buClrTx/>
              <a:buSzTx/>
              <a:buFontTx/>
              <a:buNone/>
              <a:tabLst/>
              <a:defRPr/>
            </a:pPr>
            <a:r>
              <a:rPr kumimoji="0" lang="en-US" sz="1800" b="1" i="0" u="none" strike="noStrike" kern="1200" cap="none" spc="0" normalizeH="0" baseline="0" noProof="0">
                <a:ln>
                  <a:noFill/>
                </a:ln>
                <a:gradFill>
                  <a:gsLst>
                    <a:gs pos="11189">
                      <a:srgbClr val="FFFFFF"/>
                    </a:gs>
                    <a:gs pos="39000">
                      <a:srgbClr val="FFFFFF"/>
                    </a:gs>
                  </a:gsLst>
                  <a:path path="circle">
                    <a:fillToRect l="100000" t="100000"/>
                  </a:path>
                </a:gradFill>
                <a:effectLst/>
                <a:uLnTx/>
                <a:uFillTx/>
                <a:latin typeface="Segoe Sans Text Semibold"/>
                <a:ea typeface="+mn-ea"/>
                <a:cs typeface="Segoe Sans Text"/>
              </a:rPr>
              <a:t>Scalable deployment</a:t>
            </a:r>
          </a:p>
          <a:p>
            <a:pPr marL="0" marR="0" lvl="0" indent="0" algn="ctr" defTabSz="491019" rtl="0" eaLnBrk="1" fontAlgn="auto" latinLnBrk="0" hangingPunct="1">
              <a:lnSpc>
                <a:spcPct val="100000"/>
              </a:lnSpc>
              <a:spcBef>
                <a:spcPts val="0"/>
              </a:spcBef>
              <a:spcAft>
                <a:spcPct val="0"/>
              </a:spcAft>
              <a:buClrTx/>
              <a:buSzTx/>
              <a:buFontTx/>
              <a:buNone/>
              <a:tabLst/>
              <a:defRPr/>
            </a:pPr>
            <a:r>
              <a:rPr kumimoji="0" lang="en-US" sz="1600" b="0" i="1" u="none" strike="noStrike" kern="1200" cap="none" spc="0" normalizeH="0" baseline="0" noProof="0">
                <a:ln>
                  <a:noFill/>
                </a:ln>
                <a:gradFill>
                  <a:gsLst>
                    <a:gs pos="11189">
                      <a:srgbClr val="FFFFFF"/>
                    </a:gs>
                    <a:gs pos="39000">
                      <a:srgbClr val="FFFFFF"/>
                    </a:gs>
                  </a:gsLst>
                  <a:path path="circle">
                    <a:fillToRect l="100000" t="100000"/>
                  </a:path>
                </a:gradFill>
                <a:effectLst/>
                <a:uLnTx/>
                <a:uFillTx/>
                <a:latin typeface="Segoe Sans Text"/>
                <a:ea typeface="+mn-lt"/>
                <a:cs typeface="Segoe Sans Text"/>
              </a:rPr>
              <a:t>Flexible options including Provisioned Throughput</a:t>
            </a:r>
            <a:endParaRPr kumimoji="0" lang="en-US" sz="1600" b="0" i="1" u="none" strike="noStrike" kern="1200" cap="none" spc="0" normalizeH="0" baseline="0" noProof="0">
              <a:ln>
                <a:noFill/>
              </a:ln>
              <a:solidFill>
                <a:srgbClr val="FFFFFF"/>
              </a:solidFill>
              <a:effectLst/>
              <a:uLnTx/>
              <a:uFillTx/>
              <a:latin typeface="Segoe Sans Text"/>
              <a:ea typeface="+mn-ea"/>
              <a:cs typeface="+mn-cs"/>
            </a:endParaRPr>
          </a:p>
        </p:txBody>
      </p:sp>
      <p:sp>
        <p:nvSpPr>
          <p:cNvPr id="36" name="Rounded Rectangle 12">
            <a:extLst>
              <a:ext uri="{FF2B5EF4-FFF2-40B4-BE49-F238E27FC236}">
                <a16:creationId xmlns:a16="http://schemas.microsoft.com/office/drawing/2014/main" id="{1E2F7B67-4426-1417-0E5C-CF64605488EE}"/>
              </a:ext>
              <a:ext uri="{C183D7F6-B498-43B3-948B-1728B52AA6E4}">
                <adec:decorative xmlns:adec="http://schemas.microsoft.com/office/drawing/2017/decorative" val="1"/>
              </a:ext>
            </a:extLst>
          </p:cNvPr>
          <p:cNvSpPr/>
          <p:nvPr/>
        </p:nvSpPr>
        <p:spPr bwMode="auto">
          <a:xfrm>
            <a:off x="7947891" y="4497107"/>
            <a:ext cx="3030647" cy="1247775"/>
          </a:xfrm>
          <a:prstGeom prst="roundRect">
            <a:avLst>
              <a:gd name="adj" fmla="val 18098"/>
            </a:avLst>
          </a:prstGeom>
          <a:gradFill flip="none" rotWithShape="1">
            <a:gsLst>
              <a:gs pos="72000">
                <a:schemeClr val="tx2"/>
              </a:gs>
              <a:gs pos="0">
                <a:schemeClr val="accent3"/>
              </a:gs>
            </a:gsLst>
            <a:path path="circle">
              <a:fillToRect l="100000" t="100000"/>
            </a:path>
            <a:tileRect r="-100000" b="-100000"/>
          </a:gra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491019" rtl="0" eaLnBrk="1" fontAlgn="auto" latinLnBrk="0" hangingPunct="1">
              <a:lnSpc>
                <a:spcPct val="100000"/>
              </a:lnSpc>
              <a:spcBef>
                <a:spcPts val="0"/>
              </a:spcBef>
              <a:spcAft>
                <a:spcPct val="0"/>
              </a:spcAft>
              <a:buClrTx/>
              <a:buSzTx/>
              <a:buFontTx/>
              <a:buNone/>
              <a:tabLst/>
              <a:defRPr/>
            </a:pPr>
            <a:r>
              <a:rPr kumimoji="0" lang="en-US" sz="1800" b="1" i="0" u="none" strike="noStrike" kern="1200" cap="none" spc="0" normalizeH="0" baseline="0" noProof="0">
                <a:ln>
                  <a:noFill/>
                </a:ln>
                <a:gradFill>
                  <a:gsLst>
                    <a:gs pos="11189">
                      <a:srgbClr val="FFFFFF"/>
                    </a:gs>
                    <a:gs pos="39000">
                      <a:srgbClr val="FFFFFF"/>
                    </a:gs>
                  </a:gsLst>
                  <a:path path="circle">
                    <a:fillToRect l="100000" t="100000"/>
                  </a:path>
                </a:gradFill>
                <a:effectLst/>
                <a:uLnTx/>
                <a:uFillTx/>
                <a:latin typeface="Segoe Sans Text Semibold"/>
                <a:ea typeface="+mn-ea"/>
                <a:cs typeface="Segoe Sans Text"/>
              </a:rPr>
              <a:t>Enterprise-ready</a:t>
            </a:r>
          </a:p>
          <a:p>
            <a:pPr marL="0" marR="0" lvl="0" indent="0" algn="ctr" defTabSz="491019" rtl="0" eaLnBrk="1" fontAlgn="auto" latinLnBrk="0" hangingPunct="1">
              <a:lnSpc>
                <a:spcPct val="100000"/>
              </a:lnSpc>
              <a:spcBef>
                <a:spcPts val="0"/>
              </a:spcBef>
              <a:spcAft>
                <a:spcPct val="0"/>
              </a:spcAft>
              <a:buClrTx/>
              <a:buSzTx/>
              <a:buFontTx/>
              <a:buNone/>
              <a:tabLst/>
              <a:defRPr/>
            </a:pPr>
            <a:r>
              <a:rPr kumimoji="0" lang="en-US" sz="1600" b="0" i="1" u="none" strike="noStrike" kern="1200" cap="none" spc="0" normalizeH="0" baseline="0" noProof="0">
                <a:ln>
                  <a:noFill/>
                </a:ln>
                <a:gradFill>
                  <a:gsLst>
                    <a:gs pos="11189">
                      <a:srgbClr val="FFFFFF"/>
                    </a:gs>
                    <a:gs pos="39000">
                      <a:srgbClr val="FFFFFF"/>
                    </a:gs>
                  </a:gsLst>
                  <a:path path="circle">
                    <a:fillToRect l="100000" t="100000"/>
                  </a:path>
                </a:gradFill>
                <a:effectLst/>
                <a:uLnTx/>
                <a:uFillTx/>
                <a:latin typeface="Segoe Sans Text"/>
                <a:ea typeface="+mn-lt"/>
                <a:cs typeface="Segoe Sans Text"/>
              </a:rPr>
              <a:t>Compliance, security, and SLA-backed reliability</a:t>
            </a:r>
            <a:endParaRPr kumimoji="0" lang="en-US" sz="1600" b="0" i="1" u="none" strike="noStrike" kern="1200" cap="none" spc="0" normalizeH="0" baseline="0" noProof="0">
              <a:ln>
                <a:noFill/>
              </a:ln>
              <a:solidFill>
                <a:srgbClr val="FFFFFF"/>
              </a:solidFill>
              <a:effectLst/>
              <a:uLnTx/>
              <a:uFillTx/>
              <a:latin typeface="Segoe Sans Text"/>
              <a:ea typeface="+mn-ea"/>
              <a:cs typeface="+mn-cs"/>
            </a:endParaRPr>
          </a:p>
        </p:txBody>
      </p:sp>
      <p:grpSp>
        <p:nvGrpSpPr>
          <p:cNvPr id="66" name="Group 65">
            <a:extLst>
              <a:ext uri="{FF2B5EF4-FFF2-40B4-BE49-F238E27FC236}">
                <a16:creationId xmlns:a16="http://schemas.microsoft.com/office/drawing/2014/main" id="{2081AB83-B91E-2447-435A-AA5B50F55D89}"/>
              </a:ext>
            </a:extLst>
          </p:cNvPr>
          <p:cNvGrpSpPr/>
          <p:nvPr/>
        </p:nvGrpSpPr>
        <p:grpSpPr>
          <a:xfrm>
            <a:off x="4737294" y="-6677"/>
            <a:ext cx="2717412" cy="479061"/>
            <a:chOff x="4737294" y="-6677"/>
            <a:chExt cx="2717412" cy="479061"/>
          </a:xfrm>
        </p:grpSpPr>
        <p:sp>
          <p:nvSpPr>
            <p:cNvPr id="42" name="Round Same Side Corner Rectangle 4">
              <a:extLst>
                <a:ext uri="{FF2B5EF4-FFF2-40B4-BE49-F238E27FC236}">
                  <a16:creationId xmlns:a16="http://schemas.microsoft.com/office/drawing/2014/main" id="{2BDD4A7D-0F08-3623-A500-A103450E3DEE}"/>
                </a:ext>
                <a:ext uri="{C183D7F6-B498-43B3-948B-1728B52AA6E4}">
                  <adec:decorative xmlns:adec="http://schemas.microsoft.com/office/drawing/2017/decorative" val="1"/>
                </a:ext>
              </a:extLst>
            </p:cNvPr>
            <p:cNvSpPr/>
            <p:nvPr/>
          </p:nvSpPr>
          <p:spPr bwMode="auto">
            <a:xfrm rot="10800000">
              <a:off x="4737294" y="-6677"/>
              <a:ext cx="2717412" cy="479061"/>
            </a:xfrm>
            <a:prstGeom prst="round2SameRect">
              <a:avLst>
                <a:gd name="adj1" fmla="val 50000"/>
                <a:gd name="adj2" fmla="val 0"/>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765"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sp>
          <p:nvSpPr>
            <p:cNvPr id="43" name="Title 6">
              <a:extLst>
                <a:ext uri="{FF2B5EF4-FFF2-40B4-BE49-F238E27FC236}">
                  <a16:creationId xmlns:a16="http://schemas.microsoft.com/office/drawing/2014/main" id="{16FFAF7A-4A36-EF77-81EA-2453A8522AE3}"/>
                </a:ext>
                <a:ext uri="{C183D7F6-B498-43B3-948B-1728B52AA6E4}">
                  <adec:decorative xmlns:adec="http://schemas.microsoft.com/office/drawing/2017/decorative" val="1"/>
                </a:ext>
              </a:extLst>
            </p:cNvPr>
            <p:cNvSpPr txBox="1">
              <a:spLocks/>
            </p:cNvSpPr>
            <p:nvPr/>
          </p:nvSpPr>
          <p:spPr>
            <a:xfrm>
              <a:off x="5260716" y="75302"/>
              <a:ext cx="2040939" cy="276999"/>
            </a:xfrm>
            <a:prstGeom prst="rect">
              <a:avLst/>
            </a:prstGeom>
            <a:noFill/>
            <a:ln w="9525" cap="flat" cmpd="sng" algn="ctr">
              <a:noFill/>
              <a:prstDash val="solid"/>
              <a:headEnd type="none" w="med" len="med"/>
              <a:tailEnd type="none" w="med" len="med"/>
            </a:ln>
            <a:effectLst/>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ctr" defTabSz="491019" rtl="0" eaLnBrk="1" fontAlgn="base" latinLnBrk="0" hangingPunct="1">
                <a:lnSpc>
                  <a:spcPct val="100000"/>
                </a:lnSpc>
                <a:spcBef>
                  <a:spcPct val="0"/>
                </a:spcBef>
                <a:spcAft>
                  <a:spcPct val="0"/>
                </a:spcAft>
                <a:buNone/>
                <a:defRPr lang="en-US" sz="4800" b="0" kern="1200" cap="none" spc="-50" baseline="0">
                  <a:ln w="3175">
                    <a:noFill/>
                  </a:ln>
                  <a:gradFill>
                    <a:gsLst>
                      <a:gs pos="1399">
                        <a:srgbClr val="FFFFFF"/>
                      </a:gs>
                      <a:gs pos="12587">
                        <a:srgbClr val="FFFFFF"/>
                      </a:gs>
                    </a:gsLst>
                    <a:path path="circle">
                      <a:fillToRect l="100000" t="100000"/>
                    </a:path>
                  </a:gradFill>
                  <a:effectLst/>
                  <a:latin typeface="Segoe UI Variable Display Semib" pitchFamily="2" charset="0"/>
                  <a:ea typeface="+mn-ea"/>
                  <a:cs typeface="Segoe UI" pitchFamily="34" charset="0"/>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928098"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Segoe Sans Text Semibold" pitchFamily="2" charset="0"/>
                  <a:ea typeface="+mn-ea"/>
                  <a:cs typeface="Segoe Sans Text" pitchFamily="2" charset="0"/>
                </a:rPr>
                <a:t>Microsoft Foundry</a:t>
              </a:r>
              <a:endParaRPr kumimoji="0" lang="en-CA" sz="1800" b="1" i="0" u="none" strike="noStrike" kern="1200" cap="none" spc="0" normalizeH="0" baseline="0" noProof="0">
                <a:ln>
                  <a:noFill/>
                </a:ln>
                <a:solidFill>
                  <a:srgbClr val="FFFFFF"/>
                </a:solidFill>
                <a:effectLst/>
                <a:uLnTx/>
                <a:uFillTx/>
                <a:latin typeface="Segoe Sans Text Semibold" pitchFamily="2" charset="0"/>
                <a:ea typeface="+mn-ea"/>
                <a:cs typeface="Segoe Sans Text" pitchFamily="2" charset="0"/>
              </a:endParaRPr>
            </a:p>
          </p:txBody>
        </p:sp>
        <p:pic>
          <p:nvPicPr>
            <p:cNvPr id="41" name="Graphic 9">
              <a:extLst>
                <a:ext uri="{FF2B5EF4-FFF2-40B4-BE49-F238E27FC236}">
                  <a16:creationId xmlns:a16="http://schemas.microsoft.com/office/drawing/2014/main" id="{6E18EC20-7E11-8892-7AFE-19422C5D988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00760" y="109017"/>
              <a:ext cx="247674" cy="247673"/>
            </a:xfrm>
            <a:prstGeom prst="rect">
              <a:avLst/>
            </a:prstGeom>
            <a:effectLst/>
          </p:spPr>
        </p:pic>
      </p:grpSp>
      <p:sp>
        <p:nvSpPr>
          <p:cNvPr id="44" name="Title 17">
            <a:extLst>
              <a:ext uri="{FF2B5EF4-FFF2-40B4-BE49-F238E27FC236}">
                <a16:creationId xmlns:a16="http://schemas.microsoft.com/office/drawing/2014/main" id="{0F98EE5C-5868-4D40-CBC9-C269009A3040}"/>
              </a:ext>
            </a:extLst>
          </p:cNvPr>
          <p:cNvSpPr txBox="1">
            <a:spLocks/>
          </p:cNvSpPr>
          <p:nvPr/>
        </p:nvSpPr>
        <p:spPr>
          <a:xfrm>
            <a:off x="587375" y="1145497"/>
            <a:ext cx="11017250" cy="738664"/>
          </a:xfrm>
          <a:prstGeom prst="rect">
            <a:avLst/>
          </a:prstGeom>
          <a:noFill/>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4800" b="1" i="0" u="none" strike="noStrike" kern="1200" cap="none" spc="-50" normalizeH="0" baseline="0" noProof="0">
                <a:ln w="3175">
                  <a:noFill/>
                </a:ln>
                <a:solidFill>
                  <a:srgbClr val="0078D4"/>
                </a:solidFill>
                <a:effectLst/>
                <a:uLnTx/>
                <a:uFillTx/>
                <a:latin typeface="Segoe Sans Text Semibold"/>
                <a:ea typeface="+mn-ea"/>
                <a:cs typeface="Segoe Sans Text Semibold"/>
              </a:rPr>
              <a:t>Models Direct From Azure</a:t>
            </a:r>
          </a:p>
        </p:txBody>
      </p:sp>
      <p:sp>
        <p:nvSpPr>
          <p:cNvPr id="45" name="Text Placeholder 18">
            <a:extLst>
              <a:ext uri="{FF2B5EF4-FFF2-40B4-BE49-F238E27FC236}">
                <a16:creationId xmlns:a16="http://schemas.microsoft.com/office/drawing/2014/main" id="{28CFA5A6-B160-131E-E003-61CA27130F76}"/>
              </a:ext>
            </a:extLst>
          </p:cNvPr>
          <p:cNvSpPr txBox="1">
            <a:spLocks/>
          </p:cNvSpPr>
          <p:nvPr/>
        </p:nvSpPr>
        <p:spPr>
          <a:xfrm>
            <a:off x="587375" y="2014689"/>
            <a:ext cx="11017250" cy="677108"/>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ctr" defTabSz="2682317"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w="3175">
                  <a:noFill/>
                </a:ln>
                <a:solidFill>
                  <a:srgbClr val="0078D4"/>
                </a:solidFill>
                <a:effectLst/>
                <a:uLnTx/>
                <a:uFillTx/>
                <a:latin typeface="Segoe UI Semibold"/>
                <a:ea typeface="+mn-lt"/>
                <a:cs typeface="Segoe UI Semibold"/>
              </a:rPr>
              <a:t>Azure-hosted, Azure-sold, licensed and supported directly by Microsoft</a:t>
            </a:r>
          </a:p>
          <a:p>
            <a:pPr marL="0" marR="0" lvl="0" indent="0" algn="ctr" defTabSz="2682317" rtl="0" eaLnBrk="1" fontAlgn="auto" latinLnBrk="0" hangingPunct="1">
              <a:lnSpc>
                <a:spcPct val="100000"/>
              </a:lnSpc>
              <a:spcBef>
                <a:spcPct val="0"/>
              </a:spcBef>
              <a:spcAft>
                <a:spcPts val="3520"/>
              </a:spcAft>
              <a:buClrTx/>
              <a:buSzPct val="90000"/>
              <a:buFont typeface="Wingdings" panose="05000000000000000000" pitchFamily="2" charset="2"/>
              <a:buNone/>
              <a:tabLst/>
              <a:defRPr/>
            </a:pPr>
            <a:endParaRPr kumimoji="0" lang="en-US" sz="2400" b="0" i="0" u="none" strike="noStrike" kern="1200" cap="none" spc="0" normalizeH="0" baseline="0" noProof="0">
              <a:ln w="3175">
                <a:noFill/>
              </a:ln>
              <a:solidFill>
                <a:srgbClr val="000000"/>
              </a:solidFill>
              <a:effectLst/>
              <a:uLnTx/>
              <a:uFillTx/>
              <a:latin typeface="Segoe Sans Text" pitchFamily="2" charset="0"/>
              <a:ea typeface="+mn-ea"/>
              <a:cs typeface="Segoe Sans Display" pitchFamily="2" charset="0"/>
            </a:endParaRPr>
          </a:p>
        </p:txBody>
      </p:sp>
      <p:grpSp>
        <p:nvGrpSpPr>
          <p:cNvPr id="5" name="Group 4">
            <a:extLst>
              <a:ext uri="{FF2B5EF4-FFF2-40B4-BE49-F238E27FC236}">
                <a16:creationId xmlns:a16="http://schemas.microsoft.com/office/drawing/2014/main" id="{925CC267-79B3-7EB9-2F67-2C3CB93B4F5F}"/>
              </a:ext>
            </a:extLst>
          </p:cNvPr>
          <p:cNvGrpSpPr/>
          <p:nvPr/>
        </p:nvGrpSpPr>
        <p:grpSpPr>
          <a:xfrm>
            <a:off x="2651251" y="2890710"/>
            <a:ext cx="6889497" cy="817811"/>
            <a:chOff x="3113706" y="2840786"/>
            <a:chExt cx="6889497" cy="817811"/>
          </a:xfrm>
        </p:grpSpPr>
        <p:pic>
          <p:nvPicPr>
            <p:cNvPr id="52" name="Picture 2" descr="Grok color icon in PNG, SVG">
              <a:extLst>
                <a:ext uri="{FF2B5EF4-FFF2-40B4-BE49-F238E27FC236}">
                  <a16:creationId xmlns:a16="http://schemas.microsoft.com/office/drawing/2014/main" id="{E6CA937B-99EE-0654-7665-9A93108D13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31" y="2863932"/>
              <a:ext cx="400373" cy="40037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0" descr="Azure Open AI Service Icon">
              <a:extLst>
                <a:ext uri="{FF2B5EF4-FFF2-40B4-BE49-F238E27FC236}">
                  <a16:creationId xmlns:a16="http://schemas.microsoft.com/office/drawing/2014/main" id="{F58859FF-6595-0104-3670-C5CA60DB5D0E}"/>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3351245" y="2840786"/>
              <a:ext cx="439323" cy="439323"/>
            </a:xfrm>
            <a:prstGeom prst="rect">
              <a:avLst/>
            </a:prstGeom>
          </p:spPr>
        </p:pic>
        <p:pic>
          <p:nvPicPr>
            <p:cNvPr id="60" name="Picture 59">
              <a:extLst>
                <a:ext uri="{FF2B5EF4-FFF2-40B4-BE49-F238E27FC236}">
                  <a16:creationId xmlns:a16="http://schemas.microsoft.com/office/drawing/2014/main" id="{BBA8B6B7-84A3-E05F-5746-0693B242C2BE}"/>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9649" b="89474" l="9910" r="93694">
                          <a14:foregroundMark x1="93694" y1="28947" x2="92793" y2="28947"/>
                        </a14:backgroundRemoval>
                      </a14:imgEffect>
                    </a14:imgLayer>
                  </a14:imgProps>
                </a:ext>
              </a:extLst>
            </a:blip>
            <a:stretch>
              <a:fillRect/>
            </a:stretch>
          </p:blipFill>
          <p:spPr>
            <a:xfrm>
              <a:off x="4358339" y="2846671"/>
              <a:ext cx="445208" cy="457241"/>
            </a:xfrm>
            <a:prstGeom prst="rect">
              <a:avLst/>
            </a:prstGeom>
          </p:spPr>
        </p:pic>
        <p:pic>
          <p:nvPicPr>
            <p:cNvPr id="55" name="Picture 54" descr="A white letter on a red and yellow background&#10;&#10;AI-generated content may be incorrect.">
              <a:extLst>
                <a:ext uri="{FF2B5EF4-FFF2-40B4-BE49-F238E27FC236}">
                  <a16:creationId xmlns:a16="http://schemas.microsoft.com/office/drawing/2014/main" id="{F11F75BC-0880-2544-E1B1-5B289BC1C3B6}"/>
                </a:ext>
              </a:extLst>
            </p:cNvPr>
            <p:cNvPicPr>
              <a:picLocks noChangeAspect="1"/>
            </p:cNvPicPr>
            <p:nvPr/>
          </p:nvPicPr>
          <p:blipFill>
            <a:blip r:embed="rId8"/>
            <a:stretch>
              <a:fillRect/>
            </a:stretch>
          </p:blipFill>
          <p:spPr>
            <a:xfrm>
              <a:off x="5433179" y="2897271"/>
              <a:ext cx="315603" cy="323234"/>
            </a:xfrm>
            <a:prstGeom prst="rect">
              <a:avLst/>
            </a:prstGeom>
          </p:spPr>
        </p:pic>
        <p:pic>
          <p:nvPicPr>
            <p:cNvPr id="64" name="Graphic 63">
              <a:extLst>
                <a:ext uri="{FF2B5EF4-FFF2-40B4-BE49-F238E27FC236}">
                  <a16:creationId xmlns:a16="http://schemas.microsoft.com/office/drawing/2014/main" id="{5B4DBF0E-C882-EBB3-2DAA-6C3EE7EEF03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5817" y="2939080"/>
              <a:ext cx="400372" cy="314717"/>
            </a:xfrm>
            <a:prstGeom prst="rect">
              <a:avLst/>
            </a:prstGeom>
          </p:spPr>
        </p:pic>
        <p:sp>
          <p:nvSpPr>
            <p:cNvPr id="51" name="TextBox 50">
              <a:extLst>
                <a:ext uri="{FF2B5EF4-FFF2-40B4-BE49-F238E27FC236}">
                  <a16:creationId xmlns:a16="http://schemas.microsoft.com/office/drawing/2014/main" id="{97C10E41-2CDB-03BC-4645-A052190BF801}"/>
                </a:ext>
              </a:extLst>
            </p:cNvPr>
            <p:cNvSpPr txBox="1"/>
            <p:nvPr/>
          </p:nvSpPr>
          <p:spPr>
            <a:xfrm>
              <a:off x="6143817" y="3317643"/>
              <a:ext cx="914400" cy="323165"/>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mn-cs"/>
                </a:rPr>
                <a:t>Azure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mn-cs"/>
                </a:rPr>
                <a:t>Grok</a:t>
              </a:r>
              <a:endParaRPr kumimoji="0" lang="en-US" sz="1050" b="0" i="0" u="none" strike="noStrike" kern="0" cap="none" spc="0" normalizeH="0" baseline="0" noProof="0">
                <a:ln>
                  <a:noFill/>
                </a:ln>
                <a:solidFill>
                  <a:srgbClr val="000000"/>
                </a:solidFill>
                <a:effectLst/>
                <a:uLnTx/>
                <a:uFillTx/>
                <a:latin typeface="Segoe Sans Text"/>
                <a:ea typeface="+mn-ea"/>
                <a:cs typeface="Segoe Sans Text"/>
              </a:endParaRPr>
            </a:p>
          </p:txBody>
        </p:sp>
        <p:sp>
          <p:nvSpPr>
            <p:cNvPr id="49" name="TextBox 48">
              <a:extLst>
                <a:ext uri="{FF2B5EF4-FFF2-40B4-BE49-F238E27FC236}">
                  <a16:creationId xmlns:a16="http://schemas.microsoft.com/office/drawing/2014/main" id="{4DB5149E-473E-4C76-C6D0-BDE3AFC9AB7A}"/>
                </a:ext>
              </a:extLst>
            </p:cNvPr>
            <p:cNvSpPr txBox="1"/>
            <p:nvPr/>
          </p:nvSpPr>
          <p:spPr>
            <a:xfrm>
              <a:off x="8078764" y="3317643"/>
              <a:ext cx="914400" cy="323165"/>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mn-cs"/>
                </a:rPr>
                <a:t>Azure Black </a:t>
              </a:r>
              <a:br>
                <a:rPr kumimoji="0" lang="en-US" sz="1050" b="0" i="0" u="none" strike="noStrike" kern="0" cap="none" spc="0" normalizeH="0" baseline="0" noProof="0">
                  <a:ln>
                    <a:noFill/>
                  </a:ln>
                  <a:solidFill>
                    <a:srgbClr val="000000"/>
                  </a:solidFill>
                  <a:effectLst/>
                  <a:uLnTx/>
                  <a:uFillTx/>
                  <a:latin typeface="Segoe Sans Text"/>
                  <a:ea typeface="+mn-ea"/>
                  <a:cs typeface="+mn-cs"/>
                </a:rPr>
              </a:br>
              <a:r>
                <a:rPr kumimoji="0" lang="en-US" sz="1050" b="0" i="0" u="none" strike="noStrike" kern="0" cap="none" spc="0" normalizeH="0" baseline="0" noProof="0">
                  <a:ln>
                    <a:noFill/>
                  </a:ln>
                  <a:solidFill>
                    <a:srgbClr val="000000"/>
                  </a:solidFill>
                  <a:effectLst/>
                  <a:uLnTx/>
                  <a:uFillTx/>
                  <a:latin typeface="Segoe Sans Text"/>
                  <a:ea typeface="+mn-ea"/>
                  <a:cs typeface="+mn-cs"/>
                </a:rPr>
                <a:t>Forest Labs</a:t>
              </a:r>
            </a:p>
          </p:txBody>
        </p:sp>
        <p:sp>
          <p:nvSpPr>
            <p:cNvPr id="63" name="TextBox 62">
              <a:extLst>
                <a:ext uri="{FF2B5EF4-FFF2-40B4-BE49-F238E27FC236}">
                  <a16:creationId xmlns:a16="http://schemas.microsoft.com/office/drawing/2014/main" id="{25F147CE-05F3-BD6A-3B7E-31CA073340BF}"/>
                </a:ext>
              </a:extLst>
            </p:cNvPr>
            <p:cNvSpPr txBox="1"/>
            <p:nvPr/>
          </p:nvSpPr>
          <p:spPr>
            <a:xfrm>
              <a:off x="3113706" y="3317643"/>
              <a:ext cx="914400" cy="323165"/>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mn-cs"/>
                </a:rPr>
                <a:t>Azure </a:t>
              </a: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mn-cs"/>
                </a:rPr>
                <a:t>OpenAI</a:t>
              </a:r>
              <a:endParaRPr kumimoji="0" lang="en-US" sz="1800" b="0" i="0" u="none" strike="noStrike" kern="1200" cap="none" spc="0" normalizeH="0" baseline="0" noProof="0">
                <a:ln>
                  <a:noFill/>
                </a:ln>
                <a:solidFill>
                  <a:srgbClr val="000000"/>
                </a:solidFill>
                <a:effectLst/>
                <a:uLnTx/>
                <a:uFillTx/>
                <a:latin typeface="Segoe Sans Text"/>
                <a:ea typeface="+mn-ea"/>
                <a:cs typeface="Segoe Sans Text"/>
              </a:endParaRPr>
            </a:p>
          </p:txBody>
        </p:sp>
        <p:sp>
          <p:nvSpPr>
            <p:cNvPr id="59" name="TextBox 58">
              <a:extLst>
                <a:ext uri="{FF2B5EF4-FFF2-40B4-BE49-F238E27FC236}">
                  <a16:creationId xmlns:a16="http://schemas.microsoft.com/office/drawing/2014/main" id="{065FC801-95EF-F8EC-101F-04B3F79FF4A9}"/>
                </a:ext>
              </a:extLst>
            </p:cNvPr>
            <p:cNvSpPr txBox="1"/>
            <p:nvPr/>
          </p:nvSpPr>
          <p:spPr>
            <a:xfrm>
              <a:off x="4123743" y="3317643"/>
              <a:ext cx="914400" cy="323165"/>
            </a:xfrm>
            <a:prstGeom prst="rect">
              <a:avLst/>
            </a:prstGeom>
            <a:noFill/>
          </p:spPr>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mn-cs"/>
                </a:rPr>
                <a:t>Azure DeepSeek</a:t>
              </a: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8" name="TextBox 57">
              <a:extLst>
                <a:ext uri="{FF2B5EF4-FFF2-40B4-BE49-F238E27FC236}">
                  <a16:creationId xmlns:a16="http://schemas.microsoft.com/office/drawing/2014/main" id="{AEFFAFBA-CB02-FF2B-E7F7-9C605A514ABE}"/>
                </a:ext>
              </a:extLst>
            </p:cNvPr>
            <p:cNvSpPr txBox="1"/>
            <p:nvPr/>
          </p:nvSpPr>
          <p:spPr>
            <a:xfrm>
              <a:off x="5133780" y="3317643"/>
              <a:ext cx="914400" cy="323165"/>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mn-cs"/>
                </a:rPr>
                <a:t>Azure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mn-cs"/>
                </a:rPr>
                <a:t>Mistral AI</a:t>
              </a:r>
              <a:endParaRPr kumimoji="0" lang="en-US" sz="1050" b="0" i="0" u="none" strike="noStrike" kern="0" cap="none" spc="0" normalizeH="0" baseline="0" noProof="0">
                <a:ln>
                  <a:noFill/>
                </a:ln>
                <a:solidFill>
                  <a:srgbClr val="000000"/>
                </a:solidFill>
                <a:effectLst/>
                <a:uLnTx/>
                <a:uFillTx/>
                <a:latin typeface="Segoe Sans Text"/>
                <a:ea typeface="+mn-ea"/>
                <a:cs typeface="Segoe Sans Text"/>
              </a:endParaRPr>
            </a:p>
          </p:txBody>
        </p:sp>
        <p:sp>
          <p:nvSpPr>
            <p:cNvPr id="65" name="TextBox 64">
              <a:extLst>
                <a:ext uri="{FF2B5EF4-FFF2-40B4-BE49-F238E27FC236}">
                  <a16:creationId xmlns:a16="http://schemas.microsoft.com/office/drawing/2014/main" id="{95A9E0FF-5EA1-5FA4-B221-9EA605508BEE}"/>
                </a:ext>
              </a:extLst>
            </p:cNvPr>
            <p:cNvSpPr txBox="1"/>
            <p:nvPr/>
          </p:nvSpPr>
          <p:spPr>
            <a:xfrm>
              <a:off x="9088803" y="3317643"/>
              <a:ext cx="914400" cy="323165"/>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mn-cs"/>
                </a:rPr>
                <a:t>Azure</a:t>
              </a:r>
              <a:br>
                <a:rPr kumimoji="0" lang="en-US" sz="1050" b="0" i="0" u="none" strike="noStrike" kern="0" cap="none" spc="0" normalizeH="0" baseline="0" noProof="0">
                  <a:ln>
                    <a:noFill/>
                  </a:ln>
                  <a:solidFill>
                    <a:srgbClr val="000000"/>
                  </a:solidFill>
                  <a:effectLst/>
                  <a:uLnTx/>
                  <a:uFillTx/>
                  <a:latin typeface="Segoe Sans Text"/>
                  <a:ea typeface="+mn-ea"/>
                  <a:cs typeface="+mn-cs"/>
                </a:rPr>
              </a:br>
              <a:r>
                <a:rPr kumimoji="0" lang="en-US" sz="1050" b="0" i="0" u="none" strike="noStrike" kern="0" cap="none" spc="0" normalizeH="0" baseline="0" noProof="0">
                  <a:ln>
                    <a:noFill/>
                  </a:ln>
                  <a:solidFill>
                    <a:srgbClr val="000000"/>
                  </a:solidFill>
                  <a:effectLst/>
                  <a:uLnTx/>
                  <a:uFillTx/>
                  <a:latin typeface="Segoe Sans Text"/>
                  <a:ea typeface="+mn-ea"/>
                  <a:cs typeface="+mn-cs"/>
                </a:rPr>
                <a:t>Llama</a:t>
              </a: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pic>
          <p:nvPicPr>
            <p:cNvPr id="3" name="Picture 2" descr="A black triangle with stripes&#10;&#10;AI-generated content may be incorrect.">
              <a:extLst>
                <a:ext uri="{FF2B5EF4-FFF2-40B4-BE49-F238E27FC236}">
                  <a16:creationId xmlns:a16="http://schemas.microsoft.com/office/drawing/2014/main" id="{8BB4992C-14E7-6C0C-60C2-579A64AF1487}"/>
                </a:ext>
              </a:extLst>
            </p:cNvPr>
            <p:cNvPicPr>
              <a:picLocks noChangeAspect="1"/>
            </p:cNvPicPr>
            <p:nvPr/>
          </p:nvPicPr>
          <p:blipFill>
            <a:blip r:embed="rId10"/>
            <a:stretch>
              <a:fillRect/>
            </a:stretch>
          </p:blipFill>
          <p:spPr>
            <a:xfrm>
              <a:off x="8284560" y="2843213"/>
              <a:ext cx="520700" cy="396875"/>
            </a:xfrm>
            <a:prstGeom prst="rect">
              <a:avLst/>
            </a:prstGeom>
          </p:spPr>
        </p:pic>
        <p:pic>
          <p:nvPicPr>
            <p:cNvPr id="2" name="Graphic 1">
              <a:extLst>
                <a:ext uri="{FF2B5EF4-FFF2-40B4-BE49-F238E27FC236}">
                  <a16:creationId xmlns:a16="http://schemas.microsoft.com/office/drawing/2014/main" id="{B7A0AEF1-5067-FC35-B744-8C7BA7ECE12C}"/>
                </a:ext>
              </a:extLst>
            </p:cNvPr>
            <p:cNvPicPr>
              <a:picLocks noChangeAspect="1"/>
            </p:cNvPicPr>
            <p:nvPr/>
          </p:nvPicPr>
          <p:blipFill>
            <a:blip>
              <a:extLst>
                <a:ext uri="{96DAC541-7B7A-43D3-8B79-37D633B846F1}">
                  <asvg:svgBlip xmlns:asvg="http://schemas.microsoft.com/office/drawing/2016/SVG/main" r:embed="rId11"/>
                </a:ext>
              </a:extLst>
            </a:blip>
            <a:srcRect t="1" r="80033" b="2005"/>
            <a:stretch>
              <a:fillRect/>
            </a:stretch>
          </p:blipFill>
          <p:spPr>
            <a:xfrm>
              <a:off x="7347077" y="2896683"/>
              <a:ext cx="396925" cy="330176"/>
            </a:xfrm>
            <a:prstGeom prst="rect">
              <a:avLst/>
            </a:prstGeom>
          </p:spPr>
        </p:pic>
        <p:sp>
          <p:nvSpPr>
            <p:cNvPr id="4" name="TextBox 3">
              <a:extLst>
                <a:ext uri="{FF2B5EF4-FFF2-40B4-BE49-F238E27FC236}">
                  <a16:creationId xmlns:a16="http://schemas.microsoft.com/office/drawing/2014/main" id="{0A504059-6F14-5249-1409-633197C21D5F}"/>
                </a:ext>
              </a:extLst>
            </p:cNvPr>
            <p:cNvSpPr txBox="1"/>
            <p:nvPr/>
          </p:nvSpPr>
          <p:spPr>
            <a:xfrm>
              <a:off x="7241466" y="3335432"/>
              <a:ext cx="551510" cy="323165"/>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mn-cs"/>
                </a:rPr>
                <a:t>Azure Cohere</a:t>
              </a:r>
            </a:p>
          </p:txBody>
        </p:sp>
      </p:grpSp>
    </p:spTree>
    <p:extLst>
      <p:ext uri="{BB962C8B-B14F-4D97-AF65-F5344CB8AC3E}">
        <p14:creationId xmlns:p14="http://schemas.microsoft.com/office/powerpoint/2010/main" val="8880486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42" presetClass="path" presetSubtype="0" decel="100000" fill="hold" grpId="1" nodeType="withEffect">
                                  <p:stCondLst>
                                    <p:cond delay="100"/>
                                  </p:stCondLst>
                                  <p:childTnLst>
                                    <p:animMotion origin="layout" path="M -2.29167E-6 -2.59259E-6 L -2.29167E-6 0.03542 " pathEditMode="relative" rAng="0" ptsTypes="AA">
                                      <p:cBhvr>
                                        <p:cTn id="9" dur="700" spd="-100000" fill="hold"/>
                                        <p:tgtEl>
                                          <p:spTgt spid="44"/>
                                        </p:tgtEl>
                                        <p:attrNameLst>
                                          <p:attrName>ppt_x</p:attrName>
                                          <p:attrName>ppt_y</p:attrName>
                                        </p:attrNameLst>
                                      </p:cBhvr>
                                      <p:rCtr x="0" y="1759"/>
                                    </p:animMotion>
                                  </p:childTnLst>
                                </p:cTn>
                              </p:par>
                              <p:par>
                                <p:cTn id="10" presetID="10" presetClass="entr" presetSubtype="0" fill="hold" grpId="0" nodeType="withEffect">
                                  <p:stCondLst>
                                    <p:cond delay="10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childTnLst>
                                </p:cTn>
                              </p:par>
                              <p:par>
                                <p:cTn id="13" presetID="42" presetClass="path" presetSubtype="0" decel="100000" fill="hold" grpId="1" nodeType="withEffect">
                                  <p:stCondLst>
                                    <p:cond delay="100"/>
                                  </p:stCondLst>
                                  <p:childTnLst>
                                    <p:animMotion origin="layout" path="M -2.29167E-6 -1.85185E-6 L -2.29167E-6 0.03542 " pathEditMode="relative" rAng="0" ptsTypes="AA">
                                      <p:cBhvr>
                                        <p:cTn id="14" dur="700" spd="-100000" fill="hold"/>
                                        <p:tgtEl>
                                          <p:spTgt spid="45"/>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4" grpId="1"/>
      <p:bldP spid="45" grpId="0"/>
      <p:bldP spid="45"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D6561-6D18-32A2-5357-F96EFFA31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E72268-CAA6-6B7E-F3FA-40B0B3050C8C}"/>
              </a:ext>
            </a:extLst>
          </p:cNvPr>
          <p:cNvSpPr>
            <a:spLocks noGrp="1"/>
          </p:cNvSpPr>
          <p:nvPr>
            <p:ph type="title"/>
          </p:nvPr>
        </p:nvSpPr>
        <p:spPr>
          <a:xfrm>
            <a:off x="588963" y="457200"/>
            <a:ext cx="11017250" cy="554038"/>
          </a:xfrm>
        </p:spPr>
        <p:txBody>
          <a:bodyPr/>
          <a:lstStyle/>
          <a:p>
            <a:pPr algn="ctr"/>
            <a:r>
              <a:rPr lang="en-US">
                <a:cs typeface="Segoe Sans Text"/>
              </a:rPr>
              <a:t>Models Direct from Azure</a:t>
            </a:r>
          </a:p>
        </p:txBody>
      </p:sp>
      <p:cxnSp>
        <p:nvCxnSpPr>
          <p:cNvPr id="4" name="Straight Connector 3">
            <a:extLst>
              <a:ext uri="{FF2B5EF4-FFF2-40B4-BE49-F238E27FC236}">
                <a16:creationId xmlns:a16="http://schemas.microsoft.com/office/drawing/2014/main" id="{39F74718-28EE-B1FE-6B34-90401E94EA4B}"/>
              </a:ext>
              <a:ext uri="{C183D7F6-B498-43B3-948B-1728B52AA6E4}">
                <adec:decorative xmlns:adec="http://schemas.microsoft.com/office/drawing/2017/decorative" val="1"/>
              </a:ext>
            </a:extLst>
          </p:cNvPr>
          <p:cNvCxnSpPr>
            <a:cxnSpLocks/>
            <a:stCxn id="19" idx="2"/>
            <a:endCxn id="24" idx="0"/>
          </p:cNvCxnSpPr>
          <p:nvPr/>
        </p:nvCxnSpPr>
        <p:spPr>
          <a:xfrm>
            <a:off x="7104299" y="2743140"/>
            <a:ext cx="0" cy="473098"/>
          </a:xfrm>
          <a:prstGeom prst="line">
            <a:avLst/>
          </a:prstGeom>
          <a:ln w="19050">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EBAFEF3-8947-1A19-E73E-952E2ED93D00}"/>
              </a:ext>
              <a:ext uri="{C183D7F6-B498-43B3-948B-1728B52AA6E4}">
                <adec:decorative xmlns:adec="http://schemas.microsoft.com/office/drawing/2017/decorative" val="1"/>
              </a:ext>
            </a:extLst>
          </p:cNvPr>
          <p:cNvCxnSpPr/>
          <p:nvPr/>
        </p:nvCxnSpPr>
        <p:spPr>
          <a:xfrm>
            <a:off x="571500" y="4655671"/>
            <a:ext cx="11035283" cy="0"/>
          </a:xfrm>
          <a:prstGeom prst="line">
            <a:avLst/>
          </a:prstGeom>
          <a:ln>
            <a:solidFill>
              <a:srgbClr val="D9D9D6"/>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EDF6953-B10B-650A-C6A9-ACAFDAB2A3C3}"/>
              </a:ext>
              <a:ext uri="{C183D7F6-B498-43B3-948B-1728B52AA6E4}">
                <adec:decorative xmlns:adec="http://schemas.microsoft.com/office/drawing/2017/decorative" val="1"/>
              </a:ext>
            </a:extLst>
          </p:cNvPr>
          <p:cNvCxnSpPr/>
          <p:nvPr/>
        </p:nvCxnSpPr>
        <p:spPr>
          <a:xfrm>
            <a:off x="571500" y="2893427"/>
            <a:ext cx="11035283" cy="0"/>
          </a:xfrm>
          <a:prstGeom prst="line">
            <a:avLst/>
          </a:prstGeom>
          <a:ln>
            <a:solidFill>
              <a:srgbClr val="D9D9D6"/>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D2DFACD-4CC9-C941-680F-0BD7AE4EFFC4}"/>
              </a:ext>
              <a:ext uri="{C183D7F6-B498-43B3-948B-1728B52AA6E4}">
                <adec:decorative xmlns:adec="http://schemas.microsoft.com/office/drawing/2017/decorative" val="1"/>
              </a:ext>
            </a:extLst>
          </p:cNvPr>
          <p:cNvCxnSpPr>
            <a:cxnSpLocks/>
            <a:stCxn id="23" idx="2"/>
            <a:endCxn id="30" idx="0"/>
          </p:cNvCxnSpPr>
          <p:nvPr/>
        </p:nvCxnSpPr>
        <p:spPr>
          <a:xfrm>
            <a:off x="4234403" y="4514005"/>
            <a:ext cx="0" cy="473098"/>
          </a:xfrm>
          <a:prstGeom prst="line">
            <a:avLst/>
          </a:prstGeom>
          <a:ln w="19050">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0551D5B-37D3-003D-163B-3A9F3D46A67D}"/>
              </a:ext>
              <a:ext uri="{C183D7F6-B498-43B3-948B-1728B52AA6E4}">
                <adec:decorative xmlns:adec="http://schemas.microsoft.com/office/drawing/2017/decorative" val="1"/>
              </a:ext>
            </a:extLst>
          </p:cNvPr>
          <p:cNvCxnSpPr>
            <a:cxnSpLocks/>
            <a:stCxn id="25" idx="2"/>
            <a:endCxn id="50" idx="0"/>
          </p:cNvCxnSpPr>
          <p:nvPr/>
        </p:nvCxnSpPr>
        <p:spPr>
          <a:xfrm flipH="1">
            <a:off x="9974193" y="4514253"/>
            <a:ext cx="1" cy="472850"/>
          </a:xfrm>
          <a:prstGeom prst="line">
            <a:avLst/>
          </a:prstGeom>
          <a:ln w="19050">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360F5EB4-6518-3D5B-FE18-6CF3B946902F}"/>
              </a:ext>
              <a:ext uri="{C183D7F6-B498-43B3-948B-1728B52AA6E4}">
                <adec:decorative xmlns:adec="http://schemas.microsoft.com/office/drawing/2017/decorative" val="1"/>
              </a:ext>
            </a:extLst>
          </p:cNvPr>
          <p:cNvCxnSpPr>
            <a:cxnSpLocks/>
            <a:stCxn id="19" idx="2"/>
            <a:endCxn id="25" idx="0"/>
          </p:cNvCxnSpPr>
          <p:nvPr/>
        </p:nvCxnSpPr>
        <p:spPr>
          <a:xfrm rot="16200000" flipH="1">
            <a:off x="8302573" y="1544865"/>
            <a:ext cx="473346" cy="2869895"/>
          </a:xfrm>
          <a:prstGeom prst="bentConnector3">
            <a:avLst>
              <a:gd name="adj1" fmla="val 50000"/>
            </a:avLst>
          </a:prstGeom>
          <a:ln w="19050">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1FF32426-E48C-79EE-CA4A-EE554019C308}"/>
              </a:ext>
              <a:ext uri="{C183D7F6-B498-43B3-948B-1728B52AA6E4}">
                <adec:decorative xmlns:adec="http://schemas.microsoft.com/office/drawing/2017/decorative" val="1"/>
              </a:ext>
            </a:extLst>
          </p:cNvPr>
          <p:cNvCxnSpPr>
            <a:cxnSpLocks/>
            <a:stCxn id="23" idx="0"/>
            <a:endCxn id="19" idx="2"/>
          </p:cNvCxnSpPr>
          <p:nvPr/>
        </p:nvCxnSpPr>
        <p:spPr>
          <a:xfrm rot="5400000" flipH="1" flipV="1">
            <a:off x="5432802" y="1544741"/>
            <a:ext cx="473098" cy="2869896"/>
          </a:xfrm>
          <a:prstGeom prst="bentConnector3">
            <a:avLst>
              <a:gd name="adj1" fmla="val 50000"/>
            </a:avLst>
          </a:prstGeom>
          <a:ln w="19050">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FDFE9A62-12C0-C97A-AFC1-6F77E5E71523}"/>
              </a:ext>
              <a:ext uri="{C183D7F6-B498-43B3-948B-1728B52AA6E4}">
                <adec:decorative xmlns:adec="http://schemas.microsoft.com/office/drawing/2017/decorative" val="1"/>
              </a:ext>
            </a:extLst>
          </p:cNvPr>
          <p:cNvCxnSpPr>
            <a:cxnSpLocks/>
            <a:stCxn id="28" idx="0"/>
            <a:endCxn id="23" idx="2"/>
          </p:cNvCxnSpPr>
          <p:nvPr/>
        </p:nvCxnSpPr>
        <p:spPr>
          <a:xfrm rot="5400000" flipH="1" flipV="1">
            <a:off x="3423875" y="4176575"/>
            <a:ext cx="473098" cy="1147958"/>
          </a:xfrm>
          <a:prstGeom prst="bentConnector3">
            <a:avLst/>
          </a:prstGeom>
          <a:ln w="19050">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FEA2B832-1263-E2FD-AC37-44AA219E7FE0}"/>
              </a:ext>
              <a:ext uri="{C183D7F6-B498-43B3-948B-1728B52AA6E4}">
                <adec:decorative xmlns:adec="http://schemas.microsoft.com/office/drawing/2017/decorative" val="1"/>
              </a:ext>
            </a:extLst>
          </p:cNvPr>
          <p:cNvCxnSpPr>
            <a:cxnSpLocks/>
            <a:stCxn id="23" idx="2"/>
            <a:endCxn id="34" idx="0"/>
          </p:cNvCxnSpPr>
          <p:nvPr/>
        </p:nvCxnSpPr>
        <p:spPr>
          <a:xfrm rot="16200000" flipH="1">
            <a:off x="4571833" y="4176575"/>
            <a:ext cx="473098" cy="1147958"/>
          </a:xfrm>
          <a:prstGeom prst="bentConnector3">
            <a:avLst>
              <a:gd name="adj1" fmla="val 50000"/>
            </a:avLst>
          </a:prstGeom>
          <a:ln w="19050">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2CC9F827-16A0-8EED-D41D-9F0A1DF09DEB}"/>
              </a:ext>
              <a:ext uri="{C183D7F6-B498-43B3-948B-1728B52AA6E4}">
                <adec:decorative xmlns:adec="http://schemas.microsoft.com/office/drawing/2017/decorative" val="1"/>
              </a:ext>
            </a:extLst>
          </p:cNvPr>
          <p:cNvCxnSpPr>
            <a:cxnSpLocks/>
            <a:stCxn id="48" idx="0"/>
            <a:endCxn id="25" idx="2"/>
          </p:cNvCxnSpPr>
          <p:nvPr/>
        </p:nvCxnSpPr>
        <p:spPr>
          <a:xfrm rot="5400000" flipH="1" flipV="1">
            <a:off x="9163789" y="4176699"/>
            <a:ext cx="472850" cy="1147959"/>
          </a:xfrm>
          <a:prstGeom prst="bentConnector3">
            <a:avLst>
              <a:gd name="adj1" fmla="val 50000"/>
            </a:avLst>
          </a:prstGeom>
          <a:ln w="19050">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400B74AD-0602-F083-732C-DB618FF98DF4}"/>
              </a:ext>
              <a:ext uri="{C183D7F6-B498-43B3-948B-1728B52AA6E4}">
                <adec:decorative xmlns:adec="http://schemas.microsoft.com/office/drawing/2017/decorative" val="1"/>
              </a:ext>
            </a:extLst>
          </p:cNvPr>
          <p:cNvCxnSpPr>
            <a:cxnSpLocks/>
            <a:stCxn id="25" idx="2"/>
            <a:endCxn id="51" idx="0"/>
          </p:cNvCxnSpPr>
          <p:nvPr/>
        </p:nvCxnSpPr>
        <p:spPr>
          <a:xfrm rot="16200000" flipH="1">
            <a:off x="10311748" y="4176699"/>
            <a:ext cx="472850" cy="1147958"/>
          </a:xfrm>
          <a:prstGeom prst="bentConnector3">
            <a:avLst>
              <a:gd name="adj1" fmla="val 50000"/>
            </a:avLst>
          </a:prstGeom>
          <a:ln w="19050">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B7B00E84-C8A1-2E23-C43B-12C3D24CA1D1}"/>
              </a:ext>
              <a:ext uri="{C183D7F6-B498-43B3-948B-1728B52AA6E4}">
                <adec:decorative xmlns:adec="http://schemas.microsoft.com/office/drawing/2017/decorative" val="1"/>
              </a:ext>
            </a:extLst>
          </p:cNvPr>
          <p:cNvCxnSpPr>
            <a:cxnSpLocks/>
            <a:stCxn id="46" idx="0"/>
            <a:endCxn id="24" idx="2"/>
          </p:cNvCxnSpPr>
          <p:nvPr/>
        </p:nvCxnSpPr>
        <p:spPr>
          <a:xfrm rot="5400000" flipH="1" flipV="1">
            <a:off x="6580760" y="4463564"/>
            <a:ext cx="473098" cy="573980"/>
          </a:xfrm>
          <a:prstGeom prst="bentConnector3">
            <a:avLst>
              <a:gd name="adj1" fmla="val 50000"/>
            </a:avLst>
          </a:prstGeom>
          <a:ln w="19050">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1FD6617C-4C92-F773-445F-249FFEDF0B35}"/>
              </a:ext>
              <a:ext uri="{C183D7F6-B498-43B3-948B-1728B52AA6E4}">
                <adec:decorative xmlns:adec="http://schemas.microsoft.com/office/drawing/2017/decorative" val="1"/>
              </a:ext>
            </a:extLst>
          </p:cNvPr>
          <p:cNvCxnSpPr>
            <a:cxnSpLocks/>
            <a:stCxn id="24" idx="2"/>
            <a:endCxn id="47" idx="0"/>
          </p:cNvCxnSpPr>
          <p:nvPr/>
        </p:nvCxnSpPr>
        <p:spPr>
          <a:xfrm rot="16200000" flipH="1">
            <a:off x="7154739" y="4463565"/>
            <a:ext cx="473098" cy="573978"/>
          </a:xfrm>
          <a:prstGeom prst="bentConnector3">
            <a:avLst>
              <a:gd name="adj1" fmla="val 50000"/>
            </a:avLst>
          </a:prstGeom>
          <a:ln w="19050">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A108893-45CE-C6BC-3A07-5779B3DCF074}"/>
              </a:ext>
            </a:extLst>
          </p:cNvPr>
          <p:cNvSpPr txBox="1"/>
          <p:nvPr/>
        </p:nvSpPr>
        <p:spPr>
          <a:xfrm>
            <a:off x="588963" y="1896711"/>
            <a:ext cx="1047274" cy="276999"/>
          </a:xfrm>
          <a:prstGeom prst="rect">
            <a:avLst/>
          </a:prstGeom>
          <a:noFill/>
        </p:spPr>
        <p:txBody>
          <a:bodyPr wrap="none" lIns="0" tIns="0" rIns="292608" bIns="0" rtlCol="0" anchor="ctr" anchorCtr="0">
            <a:spAutoFit/>
          </a:bodyPr>
          <a:lstStyle>
            <a:defPPr>
              <a:defRPr lang="en-US"/>
            </a:defPPr>
            <a:lvl1pPr marR="0" lvl="0" indent="0" fontAlgn="auto">
              <a:lnSpc>
                <a:spcPct val="100000"/>
              </a:lnSpc>
              <a:spcBef>
                <a:spcPts val="0"/>
              </a:spcBef>
              <a:spcAft>
                <a:spcPts val="0"/>
              </a:spcAft>
              <a:buClrTx/>
              <a:buSzTx/>
              <a:buFontTx/>
              <a:buNone/>
              <a:tabLst/>
              <a:defRPr>
                <a:solidFill>
                  <a:schemeClr val="tx2"/>
                </a:solidFill>
                <a:latin typeface="Segoe Sans Text Semibold"/>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Text Semibold"/>
                <a:ea typeface="+mn-ea"/>
                <a:cs typeface="+mn-cs"/>
              </a:rPr>
              <a:t>Service</a:t>
            </a:r>
          </a:p>
        </p:txBody>
      </p:sp>
      <p:sp>
        <p:nvSpPr>
          <p:cNvPr id="19" name="Rectangle: Rounded Corners 44">
            <a:extLst>
              <a:ext uri="{FF2B5EF4-FFF2-40B4-BE49-F238E27FC236}">
                <a16:creationId xmlns:a16="http://schemas.microsoft.com/office/drawing/2014/main" id="{C32B5862-9702-809C-A763-8D79A6C6BC4B}"/>
              </a:ext>
            </a:extLst>
          </p:cNvPr>
          <p:cNvSpPr/>
          <p:nvPr/>
        </p:nvSpPr>
        <p:spPr bwMode="auto">
          <a:xfrm>
            <a:off x="5676898" y="1445373"/>
            <a:ext cx="2854801" cy="1297767"/>
          </a:xfrm>
          <a:custGeom>
            <a:avLst/>
            <a:gdLst>
              <a:gd name="connsiteX0" fmla="*/ 0 w 2854801"/>
              <a:gd name="connsiteY0" fmla="*/ 95243 h 1297767"/>
              <a:gd name="connsiteX1" fmla="*/ 95243 w 2854801"/>
              <a:gd name="connsiteY1" fmla="*/ 0 h 1297767"/>
              <a:gd name="connsiteX2" fmla="*/ 2759558 w 2854801"/>
              <a:gd name="connsiteY2" fmla="*/ 0 h 1297767"/>
              <a:gd name="connsiteX3" fmla="*/ 2854801 w 2854801"/>
              <a:gd name="connsiteY3" fmla="*/ 95243 h 1297767"/>
              <a:gd name="connsiteX4" fmla="*/ 2854801 w 2854801"/>
              <a:gd name="connsiteY4" fmla="*/ 1202524 h 1297767"/>
              <a:gd name="connsiteX5" fmla="*/ 2759558 w 2854801"/>
              <a:gd name="connsiteY5" fmla="*/ 1297767 h 1297767"/>
              <a:gd name="connsiteX6" fmla="*/ 95243 w 2854801"/>
              <a:gd name="connsiteY6" fmla="*/ 1297767 h 1297767"/>
              <a:gd name="connsiteX7" fmla="*/ 0 w 2854801"/>
              <a:gd name="connsiteY7" fmla="*/ 1202524 h 1297767"/>
              <a:gd name="connsiteX8" fmla="*/ 0 w 2854801"/>
              <a:gd name="connsiteY8" fmla="*/ 95243 h 1297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4801" h="1297767">
                <a:moveTo>
                  <a:pt x="0" y="95243"/>
                </a:moveTo>
                <a:cubicBezTo>
                  <a:pt x="0" y="42642"/>
                  <a:pt x="42642" y="0"/>
                  <a:pt x="95243" y="0"/>
                </a:cubicBezTo>
                <a:lnTo>
                  <a:pt x="2759558" y="0"/>
                </a:lnTo>
                <a:cubicBezTo>
                  <a:pt x="2812159" y="0"/>
                  <a:pt x="2854801" y="42642"/>
                  <a:pt x="2854801" y="95243"/>
                </a:cubicBezTo>
                <a:lnTo>
                  <a:pt x="2854801" y="1202524"/>
                </a:lnTo>
                <a:cubicBezTo>
                  <a:pt x="2854801" y="1255125"/>
                  <a:pt x="2812159" y="1297767"/>
                  <a:pt x="2759558" y="1297767"/>
                </a:cubicBezTo>
                <a:lnTo>
                  <a:pt x="95243" y="1297767"/>
                </a:lnTo>
                <a:cubicBezTo>
                  <a:pt x="42642" y="1297767"/>
                  <a:pt x="0" y="1255125"/>
                  <a:pt x="0" y="1202524"/>
                </a:cubicBezTo>
                <a:lnTo>
                  <a:pt x="0" y="95243"/>
                </a:lnTo>
                <a:close/>
              </a:path>
            </a:pathLst>
          </a:custGeom>
          <a:solidFill>
            <a:schemeClr val="bg1"/>
          </a:solidFill>
          <a:ln w="19050">
            <a:noFill/>
            <a:headEnd type="none" w="med" len="med"/>
            <a:tailEnd type="none" w="med" len="med"/>
          </a:ln>
          <a:effectLst>
            <a:outerShdw blurRad="63500" dist="63500" dir="2700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Sans Text"/>
                <a:ea typeface="+mn-ea"/>
                <a:cs typeface="Segoe Sans Text"/>
              </a:rPr>
              <a:t>Models Direct </a:t>
            </a:r>
            <a:br>
              <a:rPr kumimoji="0" lang="en-US" sz="2000" b="0" i="0" u="none" strike="noStrike" kern="1200" cap="none" spc="0" normalizeH="0" baseline="0" noProof="0">
                <a:ln>
                  <a:noFill/>
                </a:ln>
                <a:solidFill>
                  <a:srgbClr val="FFFFFF"/>
                </a:solidFill>
                <a:effectLst/>
                <a:uLnTx/>
                <a:uFillTx/>
                <a:latin typeface="Segoe Sans Text"/>
                <a:ea typeface="+mn-ea"/>
                <a:cs typeface="Segoe Sans Text" pitchFamily="2" charset="0"/>
              </a:rPr>
            </a:br>
            <a:r>
              <a:rPr kumimoji="0" lang="en-US" sz="2000" b="0" i="0" u="none" strike="noStrike" kern="1200" cap="none" spc="0" normalizeH="0" baseline="0" noProof="0">
                <a:ln>
                  <a:noFill/>
                </a:ln>
                <a:solidFill>
                  <a:srgbClr val="000000"/>
                </a:solidFill>
                <a:effectLst/>
                <a:uLnTx/>
                <a:uFillTx/>
                <a:latin typeface="Segoe Sans Text"/>
                <a:ea typeface="+mn-ea"/>
                <a:cs typeface="Segoe Sans Text"/>
              </a:rPr>
              <a:t>from Azure</a:t>
            </a:r>
          </a:p>
        </p:txBody>
      </p:sp>
      <p:sp>
        <p:nvSpPr>
          <p:cNvPr id="20" name="TextBox 19">
            <a:extLst>
              <a:ext uri="{FF2B5EF4-FFF2-40B4-BE49-F238E27FC236}">
                <a16:creationId xmlns:a16="http://schemas.microsoft.com/office/drawing/2014/main" id="{BEC689ED-51E6-E9F5-6CF6-7EFE0E6AA9B9}"/>
              </a:ext>
            </a:extLst>
          </p:cNvPr>
          <p:cNvSpPr txBox="1"/>
          <p:nvPr/>
        </p:nvSpPr>
        <p:spPr>
          <a:xfrm>
            <a:off x="588963" y="3713921"/>
            <a:ext cx="1767022" cy="276999"/>
          </a:xfrm>
          <a:prstGeom prst="rect">
            <a:avLst/>
          </a:prstGeom>
          <a:noFill/>
        </p:spPr>
        <p:txBody>
          <a:bodyPr wrap="none" lIns="0" tIns="0" rIns="292608"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Text Semibold"/>
                <a:ea typeface="+mn-ea"/>
                <a:cs typeface="+mn-cs"/>
              </a:rPr>
              <a:t>Purchase type</a:t>
            </a:r>
          </a:p>
        </p:txBody>
      </p:sp>
      <p:sp>
        <p:nvSpPr>
          <p:cNvPr id="23" name="Rectangle: Rounded Corners 42">
            <a:extLst>
              <a:ext uri="{FF2B5EF4-FFF2-40B4-BE49-F238E27FC236}">
                <a16:creationId xmlns:a16="http://schemas.microsoft.com/office/drawing/2014/main" id="{60780A91-0D38-87D3-784E-53FD54A8521C}"/>
              </a:ext>
            </a:extLst>
          </p:cNvPr>
          <p:cNvSpPr/>
          <p:nvPr/>
        </p:nvSpPr>
        <p:spPr bwMode="auto">
          <a:xfrm>
            <a:off x="3162076" y="3216238"/>
            <a:ext cx="2144654" cy="1297767"/>
          </a:xfrm>
          <a:custGeom>
            <a:avLst/>
            <a:gdLst>
              <a:gd name="connsiteX0" fmla="*/ 0 w 2144654"/>
              <a:gd name="connsiteY0" fmla="*/ 95243 h 1297767"/>
              <a:gd name="connsiteX1" fmla="*/ 95243 w 2144654"/>
              <a:gd name="connsiteY1" fmla="*/ 0 h 1297767"/>
              <a:gd name="connsiteX2" fmla="*/ 2049411 w 2144654"/>
              <a:gd name="connsiteY2" fmla="*/ 0 h 1297767"/>
              <a:gd name="connsiteX3" fmla="*/ 2144654 w 2144654"/>
              <a:gd name="connsiteY3" fmla="*/ 95243 h 1297767"/>
              <a:gd name="connsiteX4" fmla="*/ 2144654 w 2144654"/>
              <a:gd name="connsiteY4" fmla="*/ 1202524 h 1297767"/>
              <a:gd name="connsiteX5" fmla="*/ 2049411 w 2144654"/>
              <a:gd name="connsiteY5" fmla="*/ 1297767 h 1297767"/>
              <a:gd name="connsiteX6" fmla="*/ 95243 w 2144654"/>
              <a:gd name="connsiteY6" fmla="*/ 1297767 h 1297767"/>
              <a:gd name="connsiteX7" fmla="*/ 0 w 2144654"/>
              <a:gd name="connsiteY7" fmla="*/ 1202524 h 1297767"/>
              <a:gd name="connsiteX8" fmla="*/ 0 w 2144654"/>
              <a:gd name="connsiteY8" fmla="*/ 95243 h 1297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44654" h="1297767">
                <a:moveTo>
                  <a:pt x="0" y="95243"/>
                </a:moveTo>
                <a:cubicBezTo>
                  <a:pt x="0" y="42642"/>
                  <a:pt x="42642" y="0"/>
                  <a:pt x="95243" y="0"/>
                </a:cubicBezTo>
                <a:lnTo>
                  <a:pt x="2049411" y="0"/>
                </a:lnTo>
                <a:cubicBezTo>
                  <a:pt x="2102012" y="0"/>
                  <a:pt x="2144654" y="42642"/>
                  <a:pt x="2144654" y="95243"/>
                </a:cubicBezTo>
                <a:lnTo>
                  <a:pt x="2144654" y="1202524"/>
                </a:lnTo>
                <a:cubicBezTo>
                  <a:pt x="2144654" y="1255125"/>
                  <a:pt x="2102012" y="1297767"/>
                  <a:pt x="2049411" y="1297767"/>
                </a:cubicBezTo>
                <a:lnTo>
                  <a:pt x="95243" y="1297767"/>
                </a:lnTo>
                <a:cubicBezTo>
                  <a:pt x="42642" y="1297767"/>
                  <a:pt x="0" y="1255125"/>
                  <a:pt x="0" y="1202524"/>
                </a:cubicBezTo>
                <a:lnTo>
                  <a:pt x="0" y="95243"/>
                </a:lnTo>
                <a:close/>
              </a:path>
            </a:pathLst>
          </a:custGeom>
          <a:solidFill>
            <a:schemeClr val="bg1"/>
          </a:solidFill>
          <a:ln w="19050">
            <a:noFill/>
            <a:headEnd type="none" w="med" len="med"/>
            <a:tailEnd type="none" w="med" len="med"/>
          </a:ln>
          <a:effectLst>
            <a:outerShdw blurRad="63500" dist="63500" dir="2700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Sans Text"/>
                <a:ea typeface="+mn-ea"/>
                <a:cs typeface="Segoe Sans Text" pitchFamily="2" charset="0"/>
              </a:rPr>
              <a:t>Standard</a:t>
            </a:r>
          </a:p>
        </p:txBody>
      </p:sp>
      <p:sp>
        <p:nvSpPr>
          <p:cNvPr id="24" name="Rectangle: Rounded Corners 41">
            <a:extLst>
              <a:ext uri="{FF2B5EF4-FFF2-40B4-BE49-F238E27FC236}">
                <a16:creationId xmlns:a16="http://schemas.microsoft.com/office/drawing/2014/main" id="{1C2DB9CC-F67C-AB6C-CAA7-2D626916DAE4}"/>
              </a:ext>
            </a:extLst>
          </p:cNvPr>
          <p:cNvSpPr/>
          <p:nvPr/>
        </p:nvSpPr>
        <p:spPr bwMode="auto">
          <a:xfrm>
            <a:off x="6031972" y="3216238"/>
            <a:ext cx="2144654" cy="1297767"/>
          </a:xfrm>
          <a:custGeom>
            <a:avLst/>
            <a:gdLst>
              <a:gd name="connsiteX0" fmla="*/ 0 w 2144654"/>
              <a:gd name="connsiteY0" fmla="*/ 95243 h 1297767"/>
              <a:gd name="connsiteX1" fmla="*/ 95243 w 2144654"/>
              <a:gd name="connsiteY1" fmla="*/ 0 h 1297767"/>
              <a:gd name="connsiteX2" fmla="*/ 2049411 w 2144654"/>
              <a:gd name="connsiteY2" fmla="*/ 0 h 1297767"/>
              <a:gd name="connsiteX3" fmla="*/ 2144654 w 2144654"/>
              <a:gd name="connsiteY3" fmla="*/ 95243 h 1297767"/>
              <a:gd name="connsiteX4" fmla="*/ 2144654 w 2144654"/>
              <a:gd name="connsiteY4" fmla="*/ 1202524 h 1297767"/>
              <a:gd name="connsiteX5" fmla="*/ 2049411 w 2144654"/>
              <a:gd name="connsiteY5" fmla="*/ 1297767 h 1297767"/>
              <a:gd name="connsiteX6" fmla="*/ 95243 w 2144654"/>
              <a:gd name="connsiteY6" fmla="*/ 1297767 h 1297767"/>
              <a:gd name="connsiteX7" fmla="*/ 0 w 2144654"/>
              <a:gd name="connsiteY7" fmla="*/ 1202524 h 1297767"/>
              <a:gd name="connsiteX8" fmla="*/ 0 w 2144654"/>
              <a:gd name="connsiteY8" fmla="*/ 95243 h 1297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44654" h="1297767">
                <a:moveTo>
                  <a:pt x="0" y="95243"/>
                </a:moveTo>
                <a:cubicBezTo>
                  <a:pt x="0" y="42642"/>
                  <a:pt x="42642" y="0"/>
                  <a:pt x="95243" y="0"/>
                </a:cubicBezTo>
                <a:lnTo>
                  <a:pt x="2049411" y="0"/>
                </a:lnTo>
                <a:cubicBezTo>
                  <a:pt x="2102012" y="0"/>
                  <a:pt x="2144654" y="42642"/>
                  <a:pt x="2144654" y="95243"/>
                </a:cubicBezTo>
                <a:lnTo>
                  <a:pt x="2144654" y="1202524"/>
                </a:lnTo>
                <a:cubicBezTo>
                  <a:pt x="2144654" y="1255125"/>
                  <a:pt x="2102012" y="1297767"/>
                  <a:pt x="2049411" y="1297767"/>
                </a:cubicBezTo>
                <a:lnTo>
                  <a:pt x="95243" y="1297767"/>
                </a:lnTo>
                <a:cubicBezTo>
                  <a:pt x="42642" y="1297767"/>
                  <a:pt x="0" y="1255125"/>
                  <a:pt x="0" y="1202524"/>
                </a:cubicBezTo>
                <a:lnTo>
                  <a:pt x="0" y="95243"/>
                </a:lnTo>
                <a:close/>
              </a:path>
            </a:pathLst>
          </a:custGeom>
          <a:solidFill>
            <a:schemeClr val="bg1"/>
          </a:solidFill>
          <a:ln w="19050">
            <a:noFill/>
            <a:headEnd type="none" w="med" len="med"/>
            <a:tailEnd type="none" w="med" len="med"/>
          </a:ln>
          <a:effectLst>
            <a:outerShdw blurRad="63500" dist="63500" dir="2700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Sans Text"/>
                <a:ea typeface="+mn-ea"/>
                <a:cs typeface="Segoe Sans Text" pitchFamily="2" charset="0"/>
              </a:rPr>
              <a:t>Batch</a:t>
            </a:r>
          </a:p>
        </p:txBody>
      </p:sp>
      <p:sp>
        <p:nvSpPr>
          <p:cNvPr id="25" name="Rectangle: Rounded Corners 43">
            <a:extLst>
              <a:ext uri="{FF2B5EF4-FFF2-40B4-BE49-F238E27FC236}">
                <a16:creationId xmlns:a16="http://schemas.microsoft.com/office/drawing/2014/main" id="{E2CCDDCB-2094-F46A-6972-E96729C98064}"/>
              </a:ext>
            </a:extLst>
          </p:cNvPr>
          <p:cNvSpPr/>
          <p:nvPr/>
        </p:nvSpPr>
        <p:spPr bwMode="auto">
          <a:xfrm>
            <a:off x="8901867" y="3216486"/>
            <a:ext cx="2144654" cy="1297767"/>
          </a:xfrm>
          <a:custGeom>
            <a:avLst/>
            <a:gdLst>
              <a:gd name="connsiteX0" fmla="*/ 0 w 2144654"/>
              <a:gd name="connsiteY0" fmla="*/ 95243 h 1297767"/>
              <a:gd name="connsiteX1" fmla="*/ 95243 w 2144654"/>
              <a:gd name="connsiteY1" fmla="*/ 0 h 1297767"/>
              <a:gd name="connsiteX2" fmla="*/ 2049411 w 2144654"/>
              <a:gd name="connsiteY2" fmla="*/ 0 h 1297767"/>
              <a:gd name="connsiteX3" fmla="*/ 2144654 w 2144654"/>
              <a:gd name="connsiteY3" fmla="*/ 95243 h 1297767"/>
              <a:gd name="connsiteX4" fmla="*/ 2144654 w 2144654"/>
              <a:gd name="connsiteY4" fmla="*/ 1202524 h 1297767"/>
              <a:gd name="connsiteX5" fmla="*/ 2049411 w 2144654"/>
              <a:gd name="connsiteY5" fmla="*/ 1297767 h 1297767"/>
              <a:gd name="connsiteX6" fmla="*/ 95243 w 2144654"/>
              <a:gd name="connsiteY6" fmla="*/ 1297767 h 1297767"/>
              <a:gd name="connsiteX7" fmla="*/ 0 w 2144654"/>
              <a:gd name="connsiteY7" fmla="*/ 1202524 h 1297767"/>
              <a:gd name="connsiteX8" fmla="*/ 0 w 2144654"/>
              <a:gd name="connsiteY8" fmla="*/ 95243 h 1297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44654" h="1297767">
                <a:moveTo>
                  <a:pt x="0" y="95243"/>
                </a:moveTo>
                <a:cubicBezTo>
                  <a:pt x="0" y="42642"/>
                  <a:pt x="42642" y="0"/>
                  <a:pt x="95243" y="0"/>
                </a:cubicBezTo>
                <a:lnTo>
                  <a:pt x="2049411" y="0"/>
                </a:lnTo>
                <a:cubicBezTo>
                  <a:pt x="2102012" y="0"/>
                  <a:pt x="2144654" y="42642"/>
                  <a:pt x="2144654" y="95243"/>
                </a:cubicBezTo>
                <a:lnTo>
                  <a:pt x="2144654" y="1202524"/>
                </a:lnTo>
                <a:cubicBezTo>
                  <a:pt x="2144654" y="1255125"/>
                  <a:pt x="2102012" y="1297767"/>
                  <a:pt x="2049411" y="1297767"/>
                </a:cubicBezTo>
                <a:lnTo>
                  <a:pt x="95243" y="1297767"/>
                </a:lnTo>
                <a:cubicBezTo>
                  <a:pt x="42642" y="1297767"/>
                  <a:pt x="0" y="1255125"/>
                  <a:pt x="0" y="1202524"/>
                </a:cubicBezTo>
                <a:lnTo>
                  <a:pt x="0" y="95243"/>
                </a:lnTo>
                <a:close/>
              </a:path>
            </a:pathLst>
          </a:custGeom>
          <a:solidFill>
            <a:schemeClr val="bg1"/>
          </a:solidFill>
          <a:ln w="19050">
            <a:noFill/>
            <a:headEnd type="none" w="med" len="med"/>
            <a:tailEnd type="none" w="med" len="med"/>
          </a:ln>
          <a:effectLst>
            <a:outerShdw blurRad="63500" dist="63500" dir="2700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Sans Text"/>
                <a:ea typeface="+mn-ea"/>
                <a:cs typeface="Segoe Sans Text" pitchFamily="2" charset="0"/>
              </a:rPr>
              <a:t>Provisioned</a:t>
            </a:r>
          </a:p>
        </p:txBody>
      </p:sp>
      <p:sp>
        <p:nvSpPr>
          <p:cNvPr id="27" name="TextBox 26">
            <a:extLst>
              <a:ext uri="{FF2B5EF4-FFF2-40B4-BE49-F238E27FC236}">
                <a16:creationId xmlns:a16="http://schemas.microsoft.com/office/drawing/2014/main" id="{8E9D343A-30C3-8777-C19F-80E527AB15E3}"/>
              </a:ext>
            </a:extLst>
          </p:cNvPr>
          <p:cNvSpPr txBox="1"/>
          <p:nvPr/>
        </p:nvSpPr>
        <p:spPr>
          <a:xfrm>
            <a:off x="588963" y="5165698"/>
            <a:ext cx="1653209" cy="553998"/>
          </a:xfrm>
          <a:prstGeom prst="rect">
            <a:avLst/>
          </a:prstGeom>
          <a:noFill/>
        </p:spPr>
        <p:txBody>
          <a:bodyPr wrap="none" lIns="0" tIns="0" rIns="292608"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Text Semibold"/>
                <a:ea typeface="+mn-ea"/>
                <a:cs typeface="+mn-cs"/>
              </a:rPr>
              <a:t>Deployment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Text Semibold"/>
                <a:ea typeface="+mn-ea"/>
                <a:cs typeface="+mn-cs"/>
              </a:rPr>
              <a:t>location   </a:t>
            </a:r>
          </a:p>
        </p:txBody>
      </p:sp>
      <p:sp>
        <p:nvSpPr>
          <p:cNvPr id="28" name="Rectangle: Rounded Corners 32">
            <a:extLst>
              <a:ext uri="{FF2B5EF4-FFF2-40B4-BE49-F238E27FC236}">
                <a16:creationId xmlns:a16="http://schemas.microsoft.com/office/drawing/2014/main" id="{CCC0FB21-C532-F318-6AC8-1B21E9586353}"/>
              </a:ext>
            </a:extLst>
          </p:cNvPr>
          <p:cNvSpPr/>
          <p:nvPr/>
        </p:nvSpPr>
        <p:spPr bwMode="auto">
          <a:xfrm>
            <a:off x="2588097" y="4987103"/>
            <a:ext cx="996696" cy="996696"/>
          </a:xfrm>
          <a:custGeom>
            <a:avLst/>
            <a:gdLst>
              <a:gd name="connsiteX0" fmla="*/ 0 w 996696"/>
              <a:gd name="connsiteY0" fmla="*/ 157388 h 996696"/>
              <a:gd name="connsiteX1" fmla="*/ 157388 w 996696"/>
              <a:gd name="connsiteY1" fmla="*/ 0 h 996696"/>
              <a:gd name="connsiteX2" fmla="*/ 839308 w 996696"/>
              <a:gd name="connsiteY2" fmla="*/ 0 h 996696"/>
              <a:gd name="connsiteX3" fmla="*/ 996696 w 996696"/>
              <a:gd name="connsiteY3" fmla="*/ 157388 h 996696"/>
              <a:gd name="connsiteX4" fmla="*/ 996696 w 996696"/>
              <a:gd name="connsiteY4" fmla="*/ 839308 h 996696"/>
              <a:gd name="connsiteX5" fmla="*/ 839308 w 996696"/>
              <a:gd name="connsiteY5" fmla="*/ 996696 h 996696"/>
              <a:gd name="connsiteX6" fmla="*/ 157388 w 996696"/>
              <a:gd name="connsiteY6" fmla="*/ 996696 h 996696"/>
              <a:gd name="connsiteX7" fmla="*/ 0 w 996696"/>
              <a:gd name="connsiteY7" fmla="*/ 839308 h 996696"/>
              <a:gd name="connsiteX8" fmla="*/ 0 w 996696"/>
              <a:gd name="connsiteY8" fmla="*/ 157388 h 99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6696" h="996696">
                <a:moveTo>
                  <a:pt x="0" y="157388"/>
                </a:moveTo>
                <a:cubicBezTo>
                  <a:pt x="0" y="70465"/>
                  <a:pt x="70465" y="0"/>
                  <a:pt x="157388" y="0"/>
                </a:cubicBezTo>
                <a:lnTo>
                  <a:pt x="839308" y="0"/>
                </a:lnTo>
                <a:cubicBezTo>
                  <a:pt x="926231" y="0"/>
                  <a:pt x="996696" y="70465"/>
                  <a:pt x="996696" y="157388"/>
                </a:cubicBezTo>
                <a:lnTo>
                  <a:pt x="996696" y="839308"/>
                </a:lnTo>
                <a:cubicBezTo>
                  <a:pt x="996696" y="926231"/>
                  <a:pt x="926231" y="996696"/>
                  <a:pt x="839308" y="996696"/>
                </a:cubicBezTo>
                <a:lnTo>
                  <a:pt x="157388" y="996696"/>
                </a:lnTo>
                <a:cubicBezTo>
                  <a:pt x="70465" y="996696"/>
                  <a:pt x="0" y="926231"/>
                  <a:pt x="0" y="839308"/>
                </a:cubicBezTo>
                <a:lnTo>
                  <a:pt x="0" y="157388"/>
                </a:lnTo>
                <a:close/>
              </a:path>
            </a:pathLst>
          </a:custGeom>
          <a:solidFill>
            <a:schemeClr val="bg1"/>
          </a:solidFill>
          <a:ln w="19050">
            <a:noFill/>
            <a:headEnd type="none" w="med" len="med"/>
            <a:tailEnd type="none" w="med" len="med"/>
          </a:ln>
          <a:effectLst>
            <a:outerShdw blurRad="63500" dist="63500" dir="2700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Segoe Sans Text" pitchFamily="2" charset="0"/>
              </a:rPr>
              <a:t>Global</a:t>
            </a:r>
          </a:p>
        </p:txBody>
      </p:sp>
      <p:sp>
        <p:nvSpPr>
          <p:cNvPr id="30" name="Rectangle: Rounded Corners 34">
            <a:extLst>
              <a:ext uri="{FF2B5EF4-FFF2-40B4-BE49-F238E27FC236}">
                <a16:creationId xmlns:a16="http://schemas.microsoft.com/office/drawing/2014/main" id="{25B5F052-660E-B7A3-342C-EE8AAFBF7090}"/>
              </a:ext>
            </a:extLst>
          </p:cNvPr>
          <p:cNvSpPr/>
          <p:nvPr/>
        </p:nvSpPr>
        <p:spPr bwMode="auto">
          <a:xfrm>
            <a:off x="3736055" y="4987103"/>
            <a:ext cx="996696" cy="996696"/>
          </a:xfrm>
          <a:custGeom>
            <a:avLst/>
            <a:gdLst>
              <a:gd name="connsiteX0" fmla="*/ 0 w 996696"/>
              <a:gd name="connsiteY0" fmla="*/ 157388 h 996696"/>
              <a:gd name="connsiteX1" fmla="*/ 157388 w 996696"/>
              <a:gd name="connsiteY1" fmla="*/ 0 h 996696"/>
              <a:gd name="connsiteX2" fmla="*/ 839308 w 996696"/>
              <a:gd name="connsiteY2" fmla="*/ 0 h 996696"/>
              <a:gd name="connsiteX3" fmla="*/ 996696 w 996696"/>
              <a:gd name="connsiteY3" fmla="*/ 157388 h 996696"/>
              <a:gd name="connsiteX4" fmla="*/ 996696 w 996696"/>
              <a:gd name="connsiteY4" fmla="*/ 839308 h 996696"/>
              <a:gd name="connsiteX5" fmla="*/ 839308 w 996696"/>
              <a:gd name="connsiteY5" fmla="*/ 996696 h 996696"/>
              <a:gd name="connsiteX6" fmla="*/ 157388 w 996696"/>
              <a:gd name="connsiteY6" fmla="*/ 996696 h 996696"/>
              <a:gd name="connsiteX7" fmla="*/ 0 w 996696"/>
              <a:gd name="connsiteY7" fmla="*/ 839308 h 996696"/>
              <a:gd name="connsiteX8" fmla="*/ 0 w 996696"/>
              <a:gd name="connsiteY8" fmla="*/ 157388 h 99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6696" h="996696">
                <a:moveTo>
                  <a:pt x="0" y="157388"/>
                </a:moveTo>
                <a:cubicBezTo>
                  <a:pt x="0" y="70465"/>
                  <a:pt x="70465" y="0"/>
                  <a:pt x="157388" y="0"/>
                </a:cubicBezTo>
                <a:lnTo>
                  <a:pt x="839308" y="0"/>
                </a:lnTo>
                <a:cubicBezTo>
                  <a:pt x="926231" y="0"/>
                  <a:pt x="996696" y="70465"/>
                  <a:pt x="996696" y="157388"/>
                </a:cubicBezTo>
                <a:lnTo>
                  <a:pt x="996696" y="839308"/>
                </a:lnTo>
                <a:cubicBezTo>
                  <a:pt x="996696" y="926231"/>
                  <a:pt x="926231" y="996696"/>
                  <a:pt x="839308" y="996696"/>
                </a:cubicBezTo>
                <a:lnTo>
                  <a:pt x="157388" y="996696"/>
                </a:lnTo>
                <a:cubicBezTo>
                  <a:pt x="70465" y="996696"/>
                  <a:pt x="0" y="926231"/>
                  <a:pt x="0" y="839308"/>
                </a:cubicBezTo>
                <a:lnTo>
                  <a:pt x="0" y="157388"/>
                </a:lnTo>
                <a:close/>
              </a:path>
            </a:pathLst>
          </a:custGeom>
          <a:solidFill>
            <a:schemeClr val="bg1"/>
          </a:solidFill>
          <a:ln w="19050">
            <a:noFill/>
            <a:headEnd type="none" w="med" len="med"/>
            <a:tailEnd type="none" w="med" len="med"/>
          </a:ln>
          <a:effectLst>
            <a:outerShdw blurRad="63500" dist="63500" dir="2700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Segoe Sans Text" pitchFamily="2" charset="0"/>
              </a:rPr>
              <a:t>Data Zones</a:t>
            </a:r>
          </a:p>
        </p:txBody>
      </p:sp>
      <p:sp>
        <p:nvSpPr>
          <p:cNvPr id="34" name="Rectangle: Rounded Corners 35">
            <a:extLst>
              <a:ext uri="{FF2B5EF4-FFF2-40B4-BE49-F238E27FC236}">
                <a16:creationId xmlns:a16="http://schemas.microsoft.com/office/drawing/2014/main" id="{E0E76C6F-96F6-611E-0B22-8701C97121C1}"/>
              </a:ext>
            </a:extLst>
          </p:cNvPr>
          <p:cNvSpPr/>
          <p:nvPr/>
        </p:nvSpPr>
        <p:spPr bwMode="auto">
          <a:xfrm>
            <a:off x="4884013" y="4987103"/>
            <a:ext cx="996696" cy="996696"/>
          </a:xfrm>
          <a:custGeom>
            <a:avLst/>
            <a:gdLst>
              <a:gd name="connsiteX0" fmla="*/ 0 w 996696"/>
              <a:gd name="connsiteY0" fmla="*/ 157388 h 996696"/>
              <a:gd name="connsiteX1" fmla="*/ 157388 w 996696"/>
              <a:gd name="connsiteY1" fmla="*/ 0 h 996696"/>
              <a:gd name="connsiteX2" fmla="*/ 839308 w 996696"/>
              <a:gd name="connsiteY2" fmla="*/ 0 h 996696"/>
              <a:gd name="connsiteX3" fmla="*/ 996696 w 996696"/>
              <a:gd name="connsiteY3" fmla="*/ 157388 h 996696"/>
              <a:gd name="connsiteX4" fmla="*/ 996696 w 996696"/>
              <a:gd name="connsiteY4" fmla="*/ 839308 h 996696"/>
              <a:gd name="connsiteX5" fmla="*/ 839308 w 996696"/>
              <a:gd name="connsiteY5" fmla="*/ 996696 h 996696"/>
              <a:gd name="connsiteX6" fmla="*/ 157388 w 996696"/>
              <a:gd name="connsiteY6" fmla="*/ 996696 h 996696"/>
              <a:gd name="connsiteX7" fmla="*/ 0 w 996696"/>
              <a:gd name="connsiteY7" fmla="*/ 839308 h 996696"/>
              <a:gd name="connsiteX8" fmla="*/ 0 w 996696"/>
              <a:gd name="connsiteY8" fmla="*/ 157388 h 99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6696" h="996696">
                <a:moveTo>
                  <a:pt x="0" y="157388"/>
                </a:moveTo>
                <a:cubicBezTo>
                  <a:pt x="0" y="70465"/>
                  <a:pt x="70465" y="0"/>
                  <a:pt x="157388" y="0"/>
                </a:cubicBezTo>
                <a:lnTo>
                  <a:pt x="839308" y="0"/>
                </a:lnTo>
                <a:cubicBezTo>
                  <a:pt x="926231" y="0"/>
                  <a:pt x="996696" y="70465"/>
                  <a:pt x="996696" y="157388"/>
                </a:cubicBezTo>
                <a:lnTo>
                  <a:pt x="996696" y="839308"/>
                </a:lnTo>
                <a:cubicBezTo>
                  <a:pt x="996696" y="926231"/>
                  <a:pt x="926231" y="996696"/>
                  <a:pt x="839308" y="996696"/>
                </a:cubicBezTo>
                <a:lnTo>
                  <a:pt x="157388" y="996696"/>
                </a:lnTo>
                <a:cubicBezTo>
                  <a:pt x="70465" y="996696"/>
                  <a:pt x="0" y="926231"/>
                  <a:pt x="0" y="839308"/>
                </a:cubicBezTo>
                <a:lnTo>
                  <a:pt x="0" y="157388"/>
                </a:lnTo>
                <a:close/>
              </a:path>
            </a:pathLst>
          </a:custGeom>
          <a:solidFill>
            <a:schemeClr val="bg1"/>
          </a:solidFill>
          <a:ln w="19050">
            <a:noFill/>
            <a:headEnd type="none" w="med" len="med"/>
            <a:tailEnd type="none" w="med" len="med"/>
          </a:ln>
          <a:effectLst>
            <a:outerShdw blurRad="63500" dist="63500" dir="2700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Segoe Sans Text" pitchFamily="2" charset="0"/>
              </a:rPr>
              <a:t>Regional</a:t>
            </a:r>
          </a:p>
        </p:txBody>
      </p:sp>
      <p:sp>
        <p:nvSpPr>
          <p:cNvPr id="46" name="Rectangle: Rounded Corners 36">
            <a:extLst>
              <a:ext uri="{FF2B5EF4-FFF2-40B4-BE49-F238E27FC236}">
                <a16:creationId xmlns:a16="http://schemas.microsoft.com/office/drawing/2014/main" id="{94FA7F66-6744-B06E-2B8E-85A313448BF7}"/>
              </a:ext>
            </a:extLst>
          </p:cNvPr>
          <p:cNvSpPr/>
          <p:nvPr/>
        </p:nvSpPr>
        <p:spPr bwMode="auto">
          <a:xfrm>
            <a:off x="6031971" y="4987103"/>
            <a:ext cx="996696" cy="996696"/>
          </a:xfrm>
          <a:custGeom>
            <a:avLst/>
            <a:gdLst>
              <a:gd name="connsiteX0" fmla="*/ 0 w 996696"/>
              <a:gd name="connsiteY0" fmla="*/ 157388 h 996696"/>
              <a:gd name="connsiteX1" fmla="*/ 157388 w 996696"/>
              <a:gd name="connsiteY1" fmla="*/ 0 h 996696"/>
              <a:gd name="connsiteX2" fmla="*/ 839308 w 996696"/>
              <a:gd name="connsiteY2" fmla="*/ 0 h 996696"/>
              <a:gd name="connsiteX3" fmla="*/ 996696 w 996696"/>
              <a:gd name="connsiteY3" fmla="*/ 157388 h 996696"/>
              <a:gd name="connsiteX4" fmla="*/ 996696 w 996696"/>
              <a:gd name="connsiteY4" fmla="*/ 839308 h 996696"/>
              <a:gd name="connsiteX5" fmla="*/ 839308 w 996696"/>
              <a:gd name="connsiteY5" fmla="*/ 996696 h 996696"/>
              <a:gd name="connsiteX6" fmla="*/ 157388 w 996696"/>
              <a:gd name="connsiteY6" fmla="*/ 996696 h 996696"/>
              <a:gd name="connsiteX7" fmla="*/ 0 w 996696"/>
              <a:gd name="connsiteY7" fmla="*/ 839308 h 996696"/>
              <a:gd name="connsiteX8" fmla="*/ 0 w 996696"/>
              <a:gd name="connsiteY8" fmla="*/ 157388 h 99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6696" h="996696">
                <a:moveTo>
                  <a:pt x="0" y="157388"/>
                </a:moveTo>
                <a:cubicBezTo>
                  <a:pt x="0" y="70465"/>
                  <a:pt x="70465" y="0"/>
                  <a:pt x="157388" y="0"/>
                </a:cubicBezTo>
                <a:lnTo>
                  <a:pt x="839308" y="0"/>
                </a:lnTo>
                <a:cubicBezTo>
                  <a:pt x="926231" y="0"/>
                  <a:pt x="996696" y="70465"/>
                  <a:pt x="996696" y="157388"/>
                </a:cubicBezTo>
                <a:lnTo>
                  <a:pt x="996696" y="839308"/>
                </a:lnTo>
                <a:cubicBezTo>
                  <a:pt x="996696" y="926231"/>
                  <a:pt x="926231" y="996696"/>
                  <a:pt x="839308" y="996696"/>
                </a:cubicBezTo>
                <a:lnTo>
                  <a:pt x="157388" y="996696"/>
                </a:lnTo>
                <a:cubicBezTo>
                  <a:pt x="70465" y="996696"/>
                  <a:pt x="0" y="926231"/>
                  <a:pt x="0" y="839308"/>
                </a:cubicBezTo>
                <a:lnTo>
                  <a:pt x="0" y="157388"/>
                </a:lnTo>
                <a:close/>
              </a:path>
            </a:pathLst>
          </a:custGeom>
          <a:solidFill>
            <a:schemeClr val="bg1"/>
          </a:solidFill>
          <a:ln w="19050">
            <a:noFill/>
            <a:headEnd type="none" w="med" len="med"/>
            <a:tailEnd type="none" w="med" len="med"/>
          </a:ln>
          <a:effectLst>
            <a:outerShdw blurRad="63500" dist="63500" dir="2700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Segoe Sans Text" pitchFamily="2" charset="0"/>
              </a:rPr>
              <a:t>Global</a:t>
            </a:r>
          </a:p>
        </p:txBody>
      </p:sp>
      <p:sp>
        <p:nvSpPr>
          <p:cNvPr id="47" name="Rectangle: Rounded Corners 37">
            <a:extLst>
              <a:ext uri="{FF2B5EF4-FFF2-40B4-BE49-F238E27FC236}">
                <a16:creationId xmlns:a16="http://schemas.microsoft.com/office/drawing/2014/main" id="{350D14B1-DB2C-B72B-66D4-22BFA43CE425}"/>
              </a:ext>
            </a:extLst>
          </p:cNvPr>
          <p:cNvSpPr/>
          <p:nvPr/>
        </p:nvSpPr>
        <p:spPr bwMode="auto">
          <a:xfrm>
            <a:off x="7179929" y="4987103"/>
            <a:ext cx="996696" cy="996696"/>
          </a:xfrm>
          <a:custGeom>
            <a:avLst/>
            <a:gdLst>
              <a:gd name="connsiteX0" fmla="*/ 0 w 996696"/>
              <a:gd name="connsiteY0" fmla="*/ 157388 h 996696"/>
              <a:gd name="connsiteX1" fmla="*/ 157388 w 996696"/>
              <a:gd name="connsiteY1" fmla="*/ 0 h 996696"/>
              <a:gd name="connsiteX2" fmla="*/ 839308 w 996696"/>
              <a:gd name="connsiteY2" fmla="*/ 0 h 996696"/>
              <a:gd name="connsiteX3" fmla="*/ 996696 w 996696"/>
              <a:gd name="connsiteY3" fmla="*/ 157388 h 996696"/>
              <a:gd name="connsiteX4" fmla="*/ 996696 w 996696"/>
              <a:gd name="connsiteY4" fmla="*/ 839308 h 996696"/>
              <a:gd name="connsiteX5" fmla="*/ 839308 w 996696"/>
              <a:gd name="connsiteY5" fmla="*/ 996696 h 996696"/>
              <a:gd name="connsiteX6" fmla="*/ 157388 w 996696"/>
              <a:gd name="connsiteY6" fmla="*/ 996696 h 996696"/>
              <a:gd name="connsiteX7" fmla="*/ 0 w 996696"/>
              <a:gd name="connsiteY7" fmla="*/ 839308 h 996696"/>
              <a:gd name="connsiteX8" fmla="*/ 0 w 996696"/>
              <a:gd name="connsiteY8" fmla="*/ 157388 h 99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6696" h="996696">
                <a:moveTo>
                  <a:pt x="0" y="157388"/>
                </a:moveTo>
                <a:cubicBezTo>
                  <a:pt x="0" y="70465"/>
                  <a:pt x="70465" y="0"/>
                  <a:pt x="157388" y="0"/>
                </a:cubicBezTo>
                <a:lnTo>
                  <a:pt x="839308" y="0"/>
                </a:lnTo>
                <a:cubicBezTo>
                  <a:pt x="926231" y="0"/>
                  <a:pt x="996696" y="70465"/>
                  <a:pt x="996696" y="157388"/>
                </a:cubicBezTo>
                <a:lnTo>
                  <a:pt x="996696" y="839308"/>
                </a:lnTo>
                <a:cubicBezTo>
                  <a:pt x="996696" y="926231"/>
                  <a:pt x="926231" y="996696"/>
                  <a:pt x="839308" y="996696"/>
                </a:cubicBezTo>
                <a:lnTo>
                  <a:pt x="157388" y="996696"/>
                </a:lnTo>
                <a:cubicBezTo>
                  <a:pt x="70465" y="996696"/>
                  <a:pt x="0" y="926231"/>
                  <a:pt x="0" y="839308"/>
                </a:cubicBezTo>
                <a:lnTo>
                  <a:pt x="0" y="157388"/>
                </a:lnTo>
                <a:close/>
              </a:path>
            </a:pathLst>
          </a:custGeom>
          <a:solidFill>
            <a:schemeClr val="bg1"/>
          </a:solidFill>
          <a:ln w="19050">
            <a:noFill/>
            <a:headEnd type="none" w="med" len="med"/>
            <a:tailEnd type="none" w="med" len="med"/>
          </a:ln>
          <a:effectLst>
            <a:outerShdw blurRad="63500" dist="63500" dir="2700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Segoe UI" pitchFamily="34" charset="0"/>
                <a:cs typeface="Segoe Sans Text" pitchFamily="2" charset="0"/>
              </a:rPr>
              <a:t>Data Zones</a:t>
            </a:r>
          </a:p>
        </p:txBody>
      </p:sp>
      <p:sp>
        <p:nvSpPr>
          <p:cNvPr id="48" name="Rectangle: Rounded Corners 38">
            <a:extLst>
              <a:ext uri="{FF2B5EF4-FFF2-40B4-BE49-F238E27FC236}">
                <a16:creationId xmlns:a16="http://schemas.microsoft.com/office/drawing/2014/main" id="{7435ED60-80CC-446E-EDDB-8A8351CDE303}"/>
              </a:ext>
            </a:extLst>
          </p:cNvPr>
          <p:cNvSpPr/>
          <p:nvPr/>
        </p:nvSpPr>
        <p:spPr bwMode="auto">
          <a:xfrm>
            <a:off x="8327887" y="4987103"/>
            <a:ext cx="996696" cy="996696"/>
          </a:xfrm>
          <a:custGeom>
            <a:avLst/>
            <a:gdLst>
              <a:gd name="connsiteX0" fmla="*/ 0 w 996696"/>
              <a:gd name="connsiteY0" fmla="*/ 157388 h 996696"/>
              <a:gd name="connsiteX1" fmla="*/ 157388 w 996696"/>
              <a:gd name="connsiteY1" fmla="*/ 0 h 996696"/>
              <a:gd name="connsiteX2" fmla="*/ 839308 w 996696"/>
              <a:gd name="connsiteY2" fmla="*/ 0 h 996696"/>
              <a:gd name="connsiteX3" fmla="*/ 996696 w 996696"/>
              <a:gd name="connsiteY3" fmla="*/ 157388 h 996696"/>
              <a:gd name="connsiteX4" fmla="*/ 996696 w 996696"/>
              <a:gd name="connsiteY4" fmla="*/ 839308 h 996696"/>
              <a:gd name="connsiteX5" fmla="*/ 839308 w 996696"/>
              <a:gd name="connsiteY5" fmla="*/ 996696 h 996696"/>
              <a:gd name="connsiteX6" fmla="*/ 157388 w 996696"/>
              <a:gd name="connsiteY6" fmla="*/ 996696 h 996696"/>
              <a:gd name="connsiteX7" fmla="*/ 0 w 996696"/>
              <a:gd name="connsiteY7" fmla="*/ 839308 h 996696"/>
              <a:gd name="connsiteX8" fmla="*/ 0 w 996696"/>
              <a:gd name="connsiteY8" fmla="*/ 157388 h 99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6696" h="996696">
                <a:moveTo>
                  <a:pt x="0" y="157388"/>
                </a:moveTo>
                <a:cubicBezTo>
                  <a:pt x="0" y="70465"/>
                  <a:pt x="70465" y="0"/>
                  <a:pt x="157388" y="0"/>
                </a:cubicBezTo>
                <a:lnTo>
                  <a:pt x="839308" y="0"/>
                </a:lnTo>
                <a:cubicBezTo>
                  <a:pt x="926231" y="0"/>
                  <a:pt x="996696" y="70465"/>
                  <a:pt x="996696" y="157388"/>
                </a:cubicBezTo>
                <a:lnTo>
                  <a:pt x="996696" y="839308"/>
                </a:lnTo>
                <a:cubicBezTo>
                  <a:pt x="996696" y="926231"/>
                  <a:pt x="926231" y="996696"/>
                  <a:pt x="839308" y="996696"/>
                </a:cubicBezTo>
                <a:lnTo>
                  <a:pt x="157388" y="996696"/>
                </a:lnTo>
                <a:cubicBezTo>
                  <a:pt x="70465" y="996696"/>
                  <a:pt x="0" y="926231"/>
                  <a:pt x="0" y="839308"/>
                </a:cubicBezTo>
                <a:lnTo>
                  <a:pt x="0" y="157388"/>
                </a:lnTo>
                <a:close/>
              </a:path>
            </a:pathLst>
          </a:custGeom>
          <a:solidFill>
            <a:schemeClr val="bg1"/>
          </a:solidFill>
          <a:ln w="19050">
            <a:noFill/>
            <a:headEnd type="none" w="med" len="med"/>
            <a:tailEnd type="none" w="med" len="med"/>
          </a:ln>
          <a:effectLst>
            <a:outerShdw blurRad="63500" dist="63500" dir="2700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Segoe UI" pitchFamily="34" charset="0"/>
                <a:cs typeface="Segoe Sans Text" pitchFamily="2" charset="0"/>
              </a:rPr>
              <a:t>Global</a:t>
            </a:r>
          </a:p>
        </p:txBody>
      </p:sp>
      <p:sp>
        <p:nvSpPr>
          <p:cNvPr id="50" name="Rectangle: Rounded Corners 39">
            <a:extLst>
              <a:ext uri="{FF2B5EF4-FFF2-40B4-BE49-F238E27FC236}">
                <a16:creationId xmlns:a16="http://schemas.microsoft.com/office/drawing/2014/main" id="{9ABF5FF1-0C58-B99C-D7D2-4016A093B627}"/>
              </a:ext>
            </a:extLst>
          </p:cNvPr>
          <p:cNvSpPr/>
          <p:nvPr/>
        </p:nvSpPr>
        <p:spPr bwMode="auto">
          <a:xfrm>
            <a:off x="9475845" y="4987103"/>
            <a:ext cx="996696" cy="996696"/>
          </a:xfrm>
          <a:custGeom>
            <a:avLst/>
            <a:gdLst>
              <a:gd name="connsiteX0" fmla="*/ 0 w 996696"/>
              <a:gd name="connsiteY0" fmla="*/ 157388 h 996696"/>
              <a:gd name="connsiteX1" fmla="*/ 157388 w 996696"/>
              <a:gd name="connsiteY1" fmla="*/ 0 h 996696"/>
              <a:gd name="connsiteX2" fmla="*/ 839308 w 996696"/>
              <a:gd name="connsiteY2" fmla="*/ 0 h 996696"/>
              <a:gd name="connsiteX3" fmla="*/ 996696 w 996696"/>
              <a:gd name="connsiteY3" fmla="*/ 157388 h 996696"/>
              <a:gd name="connsiteX4" fmla="*/ 996696 w 996696"/>
              <a:gd name="connsiteY4" fmla="*/ 839308 h 996696"/>
              <a:gd name="connsiteX5" fmla="*/ 839308 w 996696"/>
              <a:gd name="connsiteY5" fmla="*/ 996696 h 996696"/>
              <a:gd name="connsiteX6" fmla="*/ 157388 w 996696"/>
              <a:gd name="connsiteY6" fmla="*/ 996696 h 996696"/>
              <a:gd name="connsiteX7" fmla="*/ 0 w 996696"/>
              <a:gd name="connsiteY7" fmla="*/ 839308 h 996696"/>
              <a:gd name="connsiteX8" fmla="*/ 0 w 996696"/>
              <a:gd name="connsiteY8" fmla="*/ 157388 h 99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6696" h="996696">
                <a:moveTo>
                  <a:pt x="0" y="157388"/>
                </a:moveTo>
                <a:cubicBezTo>
                  <a:pt x="0" y="70465"/>
                  <a:pt x="70465" y="0"/>
                  <a:pt x="157388" y="0"/>
                </a:cubicBezTo>
                <a:lnTo>
                  <a:pt x="839308" y="0"/>
                </a:lnTo>
                <a:cubicBezTo>
                  <a:pt x="926231" y="0"/>
                  <a:pt x="996696" y="70465"/>
                  <a:pt x="996696" y="157388"/>
                </a:cubicBezTo>
                <a:lnTo>
                  <a:pt x="996696" y="839308"/>
                </a:lnTo>
                <a:cubicBezTo>
                  <a:pt x="996696" y="926231"/>
                  <a:pt x="926231" y="996696"/>
                  <a:pt x="839308" y="996696"/>
                </a:cubicBezTo>
                <a:lnTo>
                  <a:pt x="157388" y="996696"/>
                </a:lnTo>
                <a:cubicBezTo>
                  <a:pt x="70465" y="996696"/>
                  <a:pt x="0" y="926231"/>
                  <a:pt x="0" y="839308"/>
                </a:cubicBezTo>
                <a:lnTo>
                  <a:pt x="0" y="157388"/>
                </a:lnTo>
                <a:close/>
              </a:path>
            </a:pathLst>
          </a:custGeom>
          <a:solidFill>
            <a:schemeClr val="bg1"/>
          </a:solidFill>
          <a:ln w="19050">
            <a:noFill/>
            <a:headEnd type="none" w="med" len="med"/>
            <a:tailEnd type="none" w="med" len="med"/>
          </a:ln>
          <a:effectLst>
            <a:outerShdw blurRad="63500" dist="63500" dir="2700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Segoe Sans Text" pitchFamily="2" charset="0"/>
              </a:rPr>
              <a:t>Data Zones</a:t>
            </a:r>
          </a:p>
        </p:txBody>
      </p:sp>
      <p:sp>
        <p:nvSpPr>
          <p:cNvPr id="51" name="Rectangle: Rounded Corners 40">
            <a:extLst>
              <a:ext uri="{FF2B5EF4-FFF2-40B4-BE49-F238E27FC236}">
                <a16:creationId xmlns:a16="http://schemas.microsoft.com/office/drawing/2014/main" id="{21CFBED8-CA15-7742-E95E-2C5C167C5C4B}"/>
              </a:ext>
            </a:extLst>
          </p:cNvPr>
          <p:cNvSpPr/>
          <p:nvPr/>
        </p:nvSpPr>
        <p:spPr bwMode="auto">
          <a:xfrm>
            <a:off x="10623804" y="4987103"/>
            <a:ext cx="996696" cy="996696"/>
          </a:xfrm>
          <a:custGeom>
            <a:avLst/>
            <a:gdLst>
              <a:gd name="connsiteX0" fmla="*/ 0 w 996696"/>
              <a:gd name="connsiteY0" fmla="*/ 157388 h 996696"/>
              <a:gd name="connsiteX1" fmla="*/ 157388 w 996696"/>
              <a:gd name="connsiteY1" fmla="*/ 0 h 996696"/>
              <a:gd name="connsiteX2" fmla="*/ 839308 w 996696"/>
              <a:gd name="connsiteY2" fmla="*/ 0 h 996696"/>
              <a:gd name="connsiteX3" fmla="*/ 996696 w 996696"/>
              <a:gd name="connsiteY3" fmla="*/ 157388 h 996696"/>
              <a:gd name="connsiteX4" fmla="*/ 996696 w 996696"/>
              <a:gd name="connsiteY4" fmla="*/ 839308 h 996696"/>
              <a:gd name="connsiteX5" fmla="*/ 839308 w 996696"/>
              <a:gd name="connsiteY5" fmla="*/ 996696 h 996696"/>
              <a:gd name="connsiteX6" fmla="*/ 157388 w 996696"/>
              <a:gd name="connsiteY6" fmla="*/ 996696 h 996696"/>
              <a:gd name="connsiteX7" fmla="*/ 0 w 996696"/>
              <a:gd name="connsiteY7" fmla="*/ 839308 h 996696"/>
              <a:gd name="connsiteX8" fmla="*/ 0 w 996696"/>
              <a:gd name="connsiteY8" fmla="*/ 157388 h 99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6696" h="996696">
                <a:moveTo>
                  <a:pt x="0" y="157388"/>
                </a:moveTo>
                <a:cubicBezTo>
                  <a:pt x="0" y="70465"/>
                  <a:pt x="70465" y="0"/>
                  <a:pt x="157388" y="0"/>
                </a:cubicBezTo>
                <a:lnTo>
                  <a:pt x="839308" y="0"/>
                </a:lnTo>
                <a:cubicBezTo>
                  <a:pt x="926231" y="0"/>
                  <a:pt x="996696" y="70465"/>
                  <a:pt x="996696" y="157388"/>
                </a:cubicBezTo>
                <a:lnTo>
                  <a:pt x="996696" y="839308"/>
                </a:lnTo>
                <a:cubicBezTo>
                  <a:pt x="996696" y="926231"/>
                  <a:pt x="926231" y="996696"/>
                  <a:pt x="839308" y="996696"/>
                </a:cubicBezTo>
                <a:lnTo>
                  <a:pt x="157388" y="996696"/>
                </a:lnTo>
                <a:cubicBezTo>
                  <a:pt x="70465" y="996696"/>
                  <a:pt x="0" y="926231"/>
                  <a:pt x="0" y="839308"/>
                </a:cubicBezTo>
                <a:lnTo>
                  <a:pt x="0" y="157388"/>
                </a:lnTo>
                <a:close/>
              </a:path>
            </a:pathLst>
          </a:custGeom>
          <a:solidFill>
            <a:schemeClr val="bg1"/>
          </a:solidFill>
          <a:ln w="19050">
            <a:noFill/>
            <a:headEnd type="none" w="med" len="med"/>
            <a:tailEnd type="none" w="med" len="med"/>
          </a:ln>
          <a:effectLst>
            <a:outerShdw blurRad="63500" dist="63500" dir="2700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Segoe Sans Text" pitchFamily="2" charset="0"/>
              </a:rPr>
              <a:t>Regional</a:t>
            </a:r>
          </a:p>
        </p:txBody>
      </p:sp>
      <p:cxnSp>
        <p:nvCxnSpPr>
          <p:cNvPr id="52" name="Straight Connector 51">
            <a:extLst>
              <a:ext uri="{FF2B5EF4-FFF2-40B4-BE49-F238E27FC236}">
                <a16:creationId xmlns:a16="http://schemas.microsoft.com/office/drawing/2014/main" id="{EFC39ECB-BA97-1F82-B0BF-63DCC1D60828}"/>
              </a:ext>
              <a:ext uri="{C183D7F6-B498-43B3-948B-1728B52AA6E4}">
                <adec:decorative xmlns:adec="http://schemas.microsoft.com/office/drawing/2017/decorative" val="1"/>
              </a:ext>
            </a:extLst>
          </p:cNvPr>
          <p:cNvCxnSpPr>
            <a:cxnSpLocks/>
            <a:stCxn id="51" idx="1"/>
            <a:endCxn id="51" idx="2"/>
          </p:cNvCxnSpPr>
          <p:nvPr/>
        </p:nvCxnSpPr>
        <p:spPr>
          <a:xfrm>
            <a:off x="10781192" y="4987103"/>
            <a:ext cx="681920" cy="0"/>
          </a:xfrm>
          <a:prstGeom prst="line">
            <a:avLst/>
          </a:prstGeom>
          <a:solidFill>
            <a:schemeClr val="bg1"/>
          </a:solidFill>
          <a:ln w="101600" cap="rnd">
            <a:gradFill>
              <a:gsLst>
                <a:gs pos="0">
                  <a:srgbClr val="49C5B1"/>
                </a:gs>
                <a:gs pos="100000">
                  <a:srgbClr val="0078D4"/>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53" name="Straight Connector 52">
            <a:extLst>
              <a:ext uri="{FF2B5EF4-FFF2-40B4-BE49-F238E27FC236}">
                <a16:creationId xmlns:a16="http://schemas.microsoft.com/office/drawing/2014/main" id="{C2FD54DA-EC34-5149-8F34-E5563EE69780}"/>
              </a:ext>
              <a:ext uri="{C183D7F6-B498-43B3-948B-1728B52AA6E4}">
                <adec:decorative xmlns:adec="http://schemas.microsoft.com/office/drawing/2017/decorative" val="1"/>
              </a:ext>
            </a:extLst>
          </p:cNvPr>
          <p:cNvCxnSpPr>
            <a:cxnSpLocks/>
            <a:stCxn id="34" idx="1"/>
            <a:endCxn id="34" idx="2"/>
          </p:cNvCxnSpPr>
          <p:nvPr/>
        </p:nvCxnSpPr>
        <p:spPr>
          <a:xfrm>
            <a:off x="5041401" y="4987103"/>
            <a:ext cx="681920" cy="0"/>
          </a:xfrm>
          <a:prstGeom prst="line">
            <a:avLst/>
          </a:prstGeom>
          <a:solidFill>
            <a:schemeClr val="bg1"/>
          </a:solidFill>
          <a:ln w="101600" cap="rnd">
            <a:gradFill>
              <a:gsLst>
                <a:gs pos="0">
                  <a:srgbClr val="49C5B1"/>
                </a:gs>
                <a:gs pos="100000">
                  <a:srgbClr val="0078D4"/>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54" name="Straight Connector 53">
            <a:extLst>
              <a:ext uri="{FF2B5EF4-FFF2-40B4-BE49-F238E27FC236}">
                <a16:creationId xmlns:a16="http://schemas.microsoft.com/office/drawing/2014/main" id="{1CB5D36D-1C1C-4F9F-7804-AAC64F01297F}"/>
              </a:ext>
              <a:ext uri="{C183D7F6-B498-43B3-948B-1728B52AA6E4}">
                <adec:decorative xmlns:adec="http://schemas.microsoft.com/office/drawing/2017/decorative" val="1"/>
              </a:ext>
            </a:extLst>
          </p:cNvPr>
          <p:cNvCxnSpPr>
            <a:cxnSpLocks/>
            <a:stCxn id="46" idx="1"/>
            <a:endCxn id="46" idx="2"/>
          </p:cNvCxnSpPr>
          <p:nvPr/>
        </p:nvCxnSpPr>
        <p:spPr>
          <a:xfrm>
            <a:off x="6189359" y="4987103"/>
            <a:ext cx="681920" cy="0"/>
          </a:xfrm>
          <a:prstGeom prst="line">
            <a:avLst/>
          </a:prstGeom>
          <a:solidFill>
            <a:schemeClr val="bg1"/>
          </a:solidFill>
          <a:ln w="101600" cap="rnd">
            <a:gradFill>
              <a:gsLst>
                <a:gs pos="0">
                  <a:srgbClr val="49C5B1"/>
                </a:gs>
                <a:gs pos="100000">
                  <a:srgbClr val="0078D4"/>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56" name="Straight Connector 55">
            <a:extLst>
              <a:ext uri="{FF2B5EF4-FFF2-40B4-BE49-F238E27FC236}">
                <a16:creationId xmlns:a16="http://schemas.microsoft.com/office/drawing/2014/main" id="{455AC5F2-0299-EC47-1B52-2CF1631F4695}"/>
              </a:ext>
              <a:ext uri="{C183D7F6-B498-43B3-948B-1728B52AA6E4}">
                <adec:decorative xmlns:adec="http://schemas.microsoft.com/office/drawing/2017/decorative" val="1"/>
              </a:ext>
            </a:extLst>
          </p:cNvPr>
          <p:cNvCxnSpPr>
            <a:cxnSpLocks/>
            <a:stCxn id="28" idx="1"/>
            <a:endCxn id="28" idx="2"/>
          </p:cNvCxnSpPr>
          <p:nvPr/>
        </p:nvCxnSpPr>
        <p:spPr>
          <a:xfrm>
            <a:off x="2745485" y="4987103"/>
            <a:ext cx="681920" cy="0"/>
          </a:xfrm>
          <a:prstGeom prst="line">
            <a:avLst/>
          </a:prstGeom>
          <a:solidFill>
            <a:schemeClr val="bg1"/>
          </a:solidFill>
          <a:ln w="101600" cap="rnd">
            <a:gradFill>
              <a:gsLst>
                <a:gs pos="0">
                  <a:srgbClr val="49C5B1"/>
                </a:gs>
                <a:gs pos="100000">
                  <a:srgbClr val="0078D4"/>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57" name="Straight Connector 56">
            <a:extLst>
              <a:ext uri="{FF2B5EF4-FFF2-40B4-BE49-F238E27FC236}">
                <a16:creationId xmlns:a16="http://schemas.microsoft.com/office/drawing/2014/main" id="{A20550EE-8306-F756-4F30-2ED35F68859A}"/>
              </a:ext>
              <a:ext uri="{C183D7F6-B498-43B3-948B-1728B52AA6E4}">
                <adec:decorative xmlns:adec="http://schemas.microsoft.com/office/drawing/2017/decorative" val="1"/>
              </a:ext>
            </a:extLst>
          </p:cNvPr>
          <p:cNvCxnSpPr>
            <a:cxnSpLocks/>
            <a:stCxn id="30" idx="1"/>
            <a:endCxn id="30" idx="2"/>
          </p:cNvCxnSpPr>
          <p:nvPr/>
        </p:nvCxnSpPr>
        <p:spPr>
          <a:xfrm>
            <a:off x="3893443" y="4987103"/>
            <a:ext cx="681920" cy="0"/>
          </a:xfrm>
          <a:prstGeom prst="line">
            <a:avLst/>
          </a:prstGeom>
          <a:solidFill>
            <a:schemeClr val="bg1"/>
          </a:solidFill>
          <a:ln w="101600" cap="rnd">
            <a:gradFill>
              <a:gsLst>
                <a:gs pos="0">
                  <a:srgbClr val="49C5B1"/>
                </a:gs>
                <a:gs pos="100000">
                  <a:srgbClr val="0078D4"/>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60" name="Straight Connector 59">
            <a:extLst>
              <a:ext uri="{FF2B5EF4-FFF2-40B4-BE49-F238E27FC236}">
                <a16:creationId xmlns:a16="http://schemas.microsoft.com/office/drawing/2014/main" id="{C1B2AC91-746E-546C-D346-DC60E4E295EC}"/>
              </a:ext>
              <a:ext uri="{C183D7F6-B498-43B3-948B-1728B52AA6E4}">
                <adec:decorative xmlns:adec="http://schemas.microsoft.com/office/drawing/2017/decorative" val="1"/>
              </a:ext>
            </a:extLst>
          </p:cNvPr>
          <p:cNvCxnSpPr>
            <a:cxnSpLocks/>
            <a:stCxn id="47" idx="1"/>
            <a:endCxn id="47" idx="2"/>
          </p:cNvCxnSpPr>
          <p:nvPr/>
        </p:nvCxnSpPr>
        <p:spPr>
          <a:xfrm>
            <a:off x="7337317" y="4987103"/>
            <a:ext cx="681920" cy="0"/>
          </a:xfrm>
          <a:prstGeom prst="line">
            <a:avLst/>
          </a:prstGeom>
          <a:solidFill>
            <a:schemeClr val="bg1"/>
          </a:solidFill>
          <a:ln w="101600" cap="rnd">
            <a:gradFill>
              <a:gsLst>
                <a:gs pos="0">
                  <a:srgbClr val="49C5B1"/>
                </a:gs>
                <a:gs pos="100000">
                  <a:srgbClr val="0078D4"/>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61" name="Straight Connector 60">
            <a:extLst>
              <a:ext uri="{FF2B5EF4-FFF2-40B4-BE49-F238E27FC236}">
                <a16:creationId xmlns:a16="http://schemas.microsoft.com/office/drawing/2014/main" id="{B9357CE8-2A62-5B86-45C4-2306DEDF8565}"/>
              </a:ext>
              <a:ext uri="{C183D7F6-B498-43B3-948B-1728B52AA6E4}">
                <adec:decorative xmlns:adec="http://schemas.microsoft.com/office/drawing/2017/decorative" val="1"/>
              </a:ext>
            </a:extLst>
          </p:cNvPr>
          <p:cNvCxnSpPr>
            <a:cxnSpLocks/>
            <a:stCxn id="25" idx="1"/>
            <a:endCxn id="25" idx="2"/>
          </p:cNvCxnSpPr>
          <p:nvPr/>
        </p:nvCxnSpPr>
        <p:spPr>
          <a:xfrm>
            <a:off x="8997110" y="3216486"/>
            <a:ext cx="1954168" cy="0"/>
          </a:xfrm>
          <a:prstGeom prst="line">
            <a:avLst/>
          </a:prstGeom>
          <a:solidFill>
            <a:schemeClr val="bg1"/>
          </a:solidFill>
          <a:ln w="101600" cap="rnd">
            <a:gradFill>
              <a:gsLst>
                <a:gs pos="0">
                  <a:srgbClr val="49C5B1"/>
                </a:gs>
                <a:gs pos="100000">
                  <a:srgbClr val="0078D4"/>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62" name="Straight Connector 61">
            <a:extLst>
              <a:ext uri="{FF2B5EF4-FFF2-40B4-BE49-F238E27FC236}">
                <a16:creationId xmlns:a16="http://schemas.microsoft.com/office/drawing/2014/main" id="{7006A3D0-DA94-9085-9DD7-D103F18327FB}"/>
              </a:ext>
              <a:ext uri="{C183D7F6-B498-43B3-948B-1728B52AA6E4}">
                <adec:decorative xmlns:adec="http://schemas.microsoft.com/office/drawing/2017/decorative" val="1"/>
              </a:ext>
            </a:extLst>
          </p:cNvPr>
          <p:cNvCxnSpPr>
            <a:cxnSpLocks/>
            <a:stCxn id="24" idx="1"/>
            <a:endCxn id="24" idx="2"/>
          </p:cNvCxnSpPr>
          <p:nvPr/>
        </p:nvCxnSpPr>
        <p:spPr>
          <a:xfrm>
            <a:off x="6127215" y="3216238"/>
            <a:ext cx="1954168" cy="0"/>
          </a:xfrm>
          <a:prstGeom prst="line">
            <a:avLst/>
          </a:prstGeom>
          <a:solidFill>
            <a:schemeClr val="bg1"/>
          </a:solidFill>
          <a:ln w="101600" cap="rnd">
            <a:gradFill>
              <a:gsLst>
                <a:gs pos="0">
                  <a:srgbClr val="49C5B1"/>
                </a:gs>
                <a:gs pos="100000">
                  <a:srgbClr val="0078D4"/>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64" name="Straight Connector 63">
            <a:extLst>
              <a:ext uri="{FF2B5EF4-FFF2-40B4-BE49-F238E27FC236}">
                <a16:creationId xmlns:a16="http://schemas.microsoft.com/office/drawing/2014/main" id="{C19A73FE-AF34-4E0F-5F5C-F6DCC90165D0}"/>
              </a:ext>
              <a:ext uri="{C183D7F6-B498-43B3-948B-1728B52AA6E4}">
                <adec:decorative xmlns:adec="http://schemas.microsoft.com/office/drawing/2017/decorative" val="1"/>
              </a:ext>
            </a:extLst>
          </p:cNvPr>
          <p:cNvCxnSpPr>
            <a:cxnSpLocks/>
            <a:stCxn id="23" idx="1"/>
            <a:endCxn id="23" idx="2"/>
          </p:cNvCxnSpPr>
          <p:nvPr/>
        </p:nvCxnSpPr>
        <p:spPr>
          <a:xfrm>
            <a:off x="3257319" y="3216238"/>
            <a:ext cx="1954168" cy="0"/>
          </a:xfrm>
          <a:prstGeom prst="line">
            <a:avLst/>
          </a:prstGeom>
          <a:solidFill>
            <a:schemeClr val="bg1"/>
          </a:solidFill>
          <a:ln w="101600" cap="rnd">
            <a:gradFill>
              <a:gsLst>
                <a:gs pos="0">
                  <a:srgbClr val="49C5B1"/>
                </a:gs>
                <a:gs pos="100000">
                  <a:srgbClr val="0078D4"/>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65" name="Straight Connector 64">
            <a:extLst>
              <a:ext uri="{FF2B5EF4-FFF2-40B4-BE49-F238E27FC236}">
                <a16:creationId xmlns:a16="http://schemas.microsoft.com/office/drawing/2014/main" id="{ED6BEDA9-611F-5EB0-2C65-484614BB0DF4}"/>
              </a:ext>
              <a:ext uri="{C183D7F6-B498-43B3-948B-1728B52AA6E4}">
                <adec:decorative xmlns:adec="http://schemas.microsoft.com/office/drawing/2017/decorative" val="1"/>
              </a:ext>
            </a:extLst>
          </p:cNvPr>
          <p:cNvCxnSpPr>
            <a:cxnSpLocks/>
            <a:stCxn id="19" idx="1"/>
            <a:endCxn id="19" idx="2"/>
          </p:cNvCxnSpPr>
          <p:nvPr/>
        </p:nvCxnSpPr>
        <p:spPr>
          <a:xfrm>
            <a:off x="5772141" y="1445373"/>
            <a:ext cx="2664315" cy="0"/>
          </a:xfrm>
          <a:prstGeom prst="line">
            <a:avLst/>
          </a:prstGeom>
          <a:solidFill>
            <a:schemeClr val="bg1"/>
          </a:solidFill>
          <a:ln w="101600" cap="rnd">
            <a:gradFill>
              <a:gsLst>
                <a:gs pos="0">
                  <a:srgbClr val="49C5B1"/>
                </a:gs>
                <a:gs pos="100000">
                  <a:srgbClr val="0078D4"/>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66" name="Straight Connector 65">
            <a:extLst>
              <a:ext uri="{FF2B5EF4-FFF2-40B4-BE49-F238E27FC236}">
                <a16:creationId xmlns:a16="http://schemas.microsoft.com/office/drawing/2014/main" id="{60BF62C9-F5DF-EB97-785A-42EBE72210FE}"/>
              </a:ext>
              <a:ext uri="{C183D7F6-B498-43B3-948B-1728B52AA6E4}">
                <adec:decorative xmlns:adec="http://schemas.microsoft.com/office/drawing/2017/decorative" val="1"/>
              </a:ext>
            </a:extLst>
          </p:cNvPr>
          <p:cNvCxnSpPr>
            <a:cxnSpLocks/>
            <a:stCxn id="50" idx="1"/>
            <a:endCxn id="50" idx="2"/>
          </p:cNvCxnSpPr>
          <p:nvPr/>
        </p:nvCxnSpPr>
        <p:spPr>
          <a:xfrm>
            <a:off x="9633233" y="4987103"/>
            <a:ext cx="681920" cy="0"/>
          </a:xfrm>
          <a:prstGeom prst="line">
            <a:avLst/>
          </a:prstGeom>
          <a:solidFill>
            <a:schemeClr val="bg1"/>
          </a:solidFill>
          <a:ln w="101600" cap="rnd">
            <a:gradFill>
              <a:gsLst>
                <a:gs pos="0">
                  <a:srgbClr val="49C5B1"/>
                </a:gs>
                <a:gs pos="100000">
                  <a:srgbClr val="0078D4"/>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68" name="Straight Connector 67">
            <a:extLst>
              <a:ext uri="{FF2B5EF4-FFF2-40B4-BE49-F238E27FC236}">
                <a16:creationId xmlns:a16="http://schemas.microsoft.com/office/drawing/2014/main" id="{737F1114-D2C6-F6FA-9973-87549DA0A7CC}"/>
              </a:ext>
              <a:ext uri="{C183D7F6-B498-43B3-948B-1728B52AA6E4}">
                <adec:decorative xmlns:adec="http://schemas.microsoft.com/office/drawing/2017/decorative" val="1"/>
              </a:ext>
            </a:extLst>
          </p:cNvPr>
          <p:cNvCxnSpPr>
            <a:cxnSpLocks/>
            <a:stCxn id="48" idx="1"/>
            <a:endCxn id="48" idx="2"/>
          </p:cNvCxnSpPr>
          <p:nvPr/>
        </p:nvCxnSpPr>
        <p:spPr>
          <a:xfrm>
            <a:off x="8485275" y="4987103"/>
            <a:ext cx="681920" cy="0"/>
          </a:xfrm>
          <a:prstGeom prst="line">
            <a:avLst/>
          </a:prstGeom>
          <a:solidFill>
            <a:schemeClr val="bg1"/>
          </a:solidFill>
          <a:ln w="101600" cap="rnd">
            <a:gradFill>
              <a:gsLst>
                <a:gs pos="0">
                  <a:srgbClr val="49C5B1"/>
                </a:gs>
                <a:gs pos="100000">
                  <a:srgbClr val="0078D4"/>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94442650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6908A-CCB1-46E8-56AC-10F4A683F3C3}"/>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497C9247-3C81-4F30-B62B-7AE2B6C346F5}"/>
              </a:ext>
            </a:extLst>
          </p:cNvPr>
          <p:cNvSpPr>
            <a:spLocks noGrp="1"/>
          </p:cNvSpPr>
          <p:nvPr>
            <p:ph type="title"/>
          </p:nvPr>
        </p:nvSpPr>
        <p:spPr>
          <a:xfrm>
            <a:off x="588263" y="457200"/>
            <a:ext cx="11018520" cy="553998"/>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pPr algn="ctr"/>
            <a:r>
              <a:rPr lang="en-US" dirty="0">
                <a:latin typeface="Segoe UI Semibold" panose="020B0702040204020203" pitchFamily="34" charset="0"/>
              </a:rPr>
              <a:t>Deployment Types</a:t>
            </a:r>
            <a:endParaRPr lang="en-US" dirty="0">
              <a:highlight>
                <a:srgbClr val="FFFF00"/>
              </a:highlight>
              <a:latin typeface="Segoe UI Semibold" panose="020B0702040204020203" pitchFamily="34" charset="0"/>
            </a:endParaRPr>
          </a:p>
        </p:txBody>
      </p:sp>
      <p:sp>
        <p:nvSpPr>
          <p:cNvPr id="13" name="Rectangle: Rounded Corners 11">
            <a:extLst>
              <a:ext uri="{FF2B5EF4-FFF2-40B4-BE49-F238E27FC236}">
                <a16:creationId xmlns:a16="http://schemas.microsoft.com/office/drawing/2014/main" id="{616DF536-2753-5EFC-A0FF-EA7F709D24D5}"/>
              </a:ext>
            </a:extLst>
          </p:cNvPr>
          <p:cNvSpPr/>
          <p:nvPr/>
        </p:nvSpPr>
        <p:spPr>
          <a:xfrm>
            <a:off x="585218" y="3913838"/>
            <a:ext cx="11021566" cy="1067737"/>
          </a:xfrm>
          <a:prstGeom prst="roundRect">
            <a:avLst>
              <a:gd name="adj" fmla="val 21870"/>
            </a:avLst>
          </a:prstGeom>
          <a:solidFill>
            <a:schemeClr val="tx1">
              <a:alpha val="7000"/>
            </a:schemeClr>
          </a:solidFill>
          <a:ln w="12700">
            <a:noFill/>
          </a:ln>
        </p:spPr>
        <p:style>
          <a:lnRef idx="0">
            <a:schemeClr val="dk1">
              <a:hueOff val="0"/>
              <a:satOff val="0"/>
              <a:lumOff val="0"/>
              <a:alphaOff val="0"/>
            </a:schemeClr>
          </a:lnRef>
          <a:fillRef idx="1">
            <a:schemeClr val="accent3">
              <a:tint val="40000"/>
              <a:hueOff val="0"/>
              <a:satOff val="0"/>
              <a:lumOff val="0"/>
              <a:alphaOff val="0"/>
            </a:schemeClr>
          </a:fillRef>
          <a:effectRef idx="0">
            <a:schemeClr val="accent3">
              <a:tint val="40000"/>
              <a:hueOff val="0"/>
              <a:satOff val="0"/>
              <a:lumOff val="0"/>
              <a:alphaOff val="0"/>
            </a:schemeClr>
          </a:effectRef>
          <a:fontRef idx="minor">
            <a:schemeClr val="dk1">
              <a:hueOff val="0"/>
              <a:satOff val="0"/>
              <a:lumOff val="0"/>
              <a:alphaOff val="0"/>
            </a:schemeClr>
          </a:fontRef>
        </p:style>
        <p:txBody>
          <a:bodyPr spcFirstLastPara="0" vert="horz" wrap="square" lIns="142240" tIns="142240" rIns="8125548" bIns="142240" numCol="1" spcCol="1270" anchor="ctr" anchorCtr="0">
            <a:noAutofit/>
          </a:bodyPr>
          <a:lstStyle/>
          <a:p>
            <a:pPr marL="0" marR="0" lvl="0" indent="0" algn="l" defTabSz="889000"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Segoe UI Semibold"/>
                <a:ea typeface="+mn-ea"/>
                <a:cs typeface="+mn-cs"/>
              </a:rPr>
              <a:t>Deployment</a:t>
            </a:r>
          </a:p>
        </p:txBody>
      </p:sp>
      <p:sp>
        <p:nvSpPr>
          <p:cNvPr id="14" name="Rectangle: Rounded Corners 12">
            <a:extLst>
              <a:ext uri="{FF2B5EF4-FFF2-40B4-BE49-F238E27FC236}">
                <a16:creationId xmlns:a16="http://schemas.microsoft.com/office/drawing/2014/main" id="{FD5D1162-8CC6-D5B4-026A-C87FA54CADBE}"/>
              </a:ext>
            </a:extLst>
          </p:cNvPr>
          <p:cNvSpPr/>
          <p:nvPr/>
        </p:nvSpPr>
        <p:spPr>
          <a:xfrm>
            <a:off x="585218" y="2770154"/>
            <a:ext cx="11021566" cy="986961"/>
          </a:xfrm>
          <a:prstGeom prst="roundRect">
            <a:avLst>
              <a:gd name="adj" fmla="val 21498"/>
            </a:avLst>
          </a:prstGeom>
          <a:solidFill>
            <a:schemeClr val="bg1"/>
          </a:solidFill>
          <a:ln w="19050" cap="rnd">
            <a:gradFill flip="none" rotWithShape="1">
              <a:gsLst>
                <a:gs pos="0">
                  <a:srgbClr val="F65567"/>
                </a:gs>
                <a:gs pos="32000">
                  <a:srgbClr val="7656AD"/>
                </a:gs>
                <a:gs pos="100000">
                  <a:srgbClr val="318581"/>
                </a:gs>
                <a:gs pos="68000">
                  <a:srgbClr val="0A6BBA"/>
                </a:gs>
              </a:gsLst>
              <a:path path="circle">
                <a:fillToRect l="100000" t="100000"/>
              </a:path>
              <a:tileRect r="-100000" b="-100000"/>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spcFirstLastPara="0" vert="horz" wrap="square" lIns="144000" tIns="144000" rIns="144000" bIns="144000" numCol="1" spcCol="1270" anchor="ctr" anchorCtr="0">
            <a:noAutofit/>
          </a:bodyPr>
          <a:lstStyle/>
          <a:p>
            <a:pPr marL="0" marR="0" lvl="0" indent="0" algn="l" defTabSz="444500"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a:ln>
                  <a:noFill/>
                </a:ln>
                <a:gradFill flip="none" rotWithShape="1">
                  <a:gsLst>
                    <a:gs pos="0">
                      <a:srgbClr val="F65567"/>
                    </a:gs>
                    <a:gs pos="100000">
                      <a:srgbClr val="318581"/>
                    </a:gs>
                    <a:gs pos="68000">
                      <a:srgbClr val="0A6BBA"/>
                    </a:gs>
                    <a:gs pos="31000">
                      <a:srgbClr val="7656AD"/>
                    </a:gs>
                  </a:gsLst>
                  <a:path path="circle">
                    <a:fillToRect l="100000" t="100000"/>
                  </a:path>
                  <a:tileRect r="-100000" b="-100000"/>
                </a:gradFill>
                <a:effectLst/>
                <a:uLnTx/>
                <a:uFillTx/>
                <a:latin typeface="Segoe UI Semibold"/>
                <a:ea typeface="+mn-ea"/>
                <a:cs typeface="+mn-cs"/>
              </a:rPr>
              <a:t>Offer</a:t>
            </a:r>
          </a:p>
        </p:txBody>
      </p:sp>
      <p:sp>
        <p:nvSpPr>
          <p:cNvPr id="15" name="Rectangle: Rounded Corners 13">
            <a:extLst>
              <a:ext uri="{FF2B5EF4-FFF2-40B4-BE49-F238E27FC236}">
                <a16:creationId xmlns:a16="http://schemas.microsoft.com/office/drawing/2014/main" id="{ABDFDD43-F39F-CF4E-F88A-BCE08C5FF6D9}"/>
              </a:ext>
            </a:extLst>
          </p:cNvPr>
          <p:cNvSpPr/>
          <p:nvPr/>
        </p:nvSpPr>
        <p:spPr>
          <a:xfrm>
            <a:off x="585217" y="1626470"/>
            <a:ext cx="11024171" cy="986961"/>
          </a:xfrm>
          <a:prstGeom prst="roundRect">
            <a:avLst>
              <a:gd name="adj" fmla="val 21127"/>
            </a:avLst>
          </a:prstGeom>
          <a:solidFill>
            <a:schemeClr val="tx1">
              <a:alpha val="7000"/>
            </a:schemeClr>
          </a:solidFill>
          <a:ln w="12700">
            <a:noFill/>
          </a:ln>
        </p:spPr>
        <p:style>
          <a:lnRef idx="0">
            <a:schemeClr val="dk1">
              <a:hueOff val="0"/>
              <a:satOff val="0"/>
              <a:lumOff val="0"/>
              <a:alphaOff val="0"/>
            </a:schemeClr>
          </a:lnRef>
          <a:fillRef idx="1">
            <a:schemeClr val="accent3">
              <a:tint val="40000"/>
              <a:hueOff val="0"/>
              <a:satOff val="0"/>
              <a:lumOff val="0"/>
              <a:alphaOff val="0"/>
            </a:schemeClr>
          </a:fillRef>
          <a:effectRef idx="0">
            <a:schemeClr val="accent3">
              <a:tint val="40000"/>
              <a:hueOff val="0"/>
              <a:satOff val="0"/>
              <a:lumOff val="0"/>
              <a:alphaOff val="0"/>
            </a:schemeClr>
          </a:effectRef>
          <a:fontRef idx="minor">
            <a:schemeClr val="dk1">
              <a:hueOff val="0"/>
              <a:satOff val="0"/>
              <a:lumOff val="0"/>
              <a:alphaOff val="0"/>
            </a:schemeClr>
          </a:fontRef>
        </p:style>
        <p:txBody>
          <a:bodyPr spcFirstLastPara="0" vert="horz" wrap="square" lIns="142240" tIns="142240" rIns="144000" bIns="142240" numCol="1" spcCol="1270" anchor="ctr" anchorCtr="0">
            <a:noAutofit/>
          </a:bodyPr>
          <a:lstStyle/>
          <a:p>
            <a:pPr marL="0" marR="0" lvl="0" indent="0" algn="l" defTabSz="889000"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a:ln>
                  <a:noFill/>
                </a:ln>
                <a:solidFill>
                  <a:schemeClr val="tx1"/>
                </a:solidFill>
                <a:effectLst/>
                <a:uLnTx/>
                <a:uFillTx/>
                <a:latin typeface="Segoe UI Semibold"/>
                <a:ea typeface="+mn-ea"/>
                <a:cs typeface="+mn-cs"/>
              </a:rPr>
              <a:t>Platform</a:t>
            </a:r>
          </a:p>
        </p:txBody>
      </p:sp>
      <p:sp>
        <p:nvSpPr>
          <p:cNvPr id="16" name="Rectangle: Rounded Corners 14">
            <a:extLst>
              <a:ext uri="{FF2B5EF4-FFF2-40B4-BE49-F238E27FC236}">
                <a16:creationId xmlns:a16="http://schemas.microsoft.com/office/drawing/2014/main" id="{8670AF9A-64A6-7816-B2AB-526A05FC37E1}"/>
              </a:ext>
            </a:extLst>
          </p:cNvPr>
          <p:cNvSpPr/>
          <p:nvPr/>
        </p:nvSpPr>
        <p:spPr>
          <a:xfrm>
            <a:off x="5507665" y="1743740"/>
            <a:ext cx="2674060" cy="592210"/>
          </a:xfrm>
          <a:prstGeom prst="roundRect">
            <a:avLst/>
          </a:prstGeom>
          <a:ln w="12700" cap="rnd">
            <a:gradFill flip="none" rotWithShape="1">
              <a:gsLst>
                <a:gs pos="0">
                  <a:srgbClr val="F65567"/>
                </a:gs>
                <a:gs pos="32000">
                  <a:srgbClr val="7656AD"/>
                </a:gs>
                <a:gs pos="100000">
                  <a:srgbClr val="318581"/>
                </a:gs>
                <a:gs pos="68000">
                  <a:srgbClr val="0A6BBA"/>
                </a:gs>
              </a:gsLst>
              <a:lin ang="10800000" scaled="1"/>
              <a:tileRect/>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spcFirstLastPara="0" vert="horz" wrap="square" lIns="53078" tIns="53078" rIns="53078" bIns="53078"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US" sz="2000" b="0" i="0" u="none" strike="noStrike" kern="1200" cap="none" spc="0" normalizeH="0" baseline="0" noProof="0">
                <a:ln>
                  <a:noFill/>
                </a:ln>
                <a:gradFill flip="none" rotWithShape="1">
                  <a:gsLst>
                    <a:gs pos="0">
                      <a:srgbClr val="F65567"/>
                    </a:gs>
                    <a:gs pos="100000">
                      <a:srgbClr val="318581"/>
                    </a:gs>
                    <a:gs pos="68000">
                      <a:srgbClr val="0A6BBA"/>
                    </a:gs>
                    <a:gs pos="31000">
                      <a:srgbClr val="7656AD"/>
                    </a:gs>
                  </a:gsLst>
                  <a:path path="circle">
                    <a:fillToRect l="100000" t="100000"/>
                  </a:path>
                  <a:tileRect r="-100000" b="-100000"/>
                </a:gradFill>
                <a:effectLst/>
                <a:uLnTx/>
                <a:uFillTx/>
                <a:latin typeface="Segoe UI Semibold"/>
                <a:ea typeface="+mn-ea"/>
                <a:cs typeface="+mn-cs"/>
              </a:rPr>
              <a:t>Microsoft Foundry</a:t>
            </a:r>
          </a:p>
        </p:txBody>
      </p:sp>
      <p:sp>
        <p:nvSpPr>
          <p:cNvPr id="19" name="Rectangle: Rounded Corners 18">
            <a:extLst>
              <a:ext uri="{FF2B5EF4-FFF2-40B4-BE49-F238E27FC236}">
                <a16:creationId xmlns:a16="http://schemas.microsoft.com/office/drawing/2014/main" id="{8F596691-BBF4-78FC-DB43-AD39402FDD01}"/>
              </a:ext>
            </a:extLst>
          </p:cNvPr>
          <p:cNvSpPr/>
          <p:nvPr/>
        </p:nvSpPr>
        <p:spPr>
          <a:xfrm>
            <a:off x="2397218" y="4105067"/>
            <a:ext cx="741454" cy="497822"/>
          </a:xfrm>
          <a:prstGeom prst="roundRect">
            <a:avLst/>
          </a:prstGeom>
          <a:solidFill>
            <a:schemeClr val="bg1"/>
          </a:solidFill>
          <a:ln w="12700" cap="rnd">
            <a:solidFill>
              <a:schemeClr val="tx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r>
              <a:rPr kumimoji="0" lang="en-US" sz="1100" b="0" i="0" u="none" strike="noStrike" kern="1200" cap="none" spc="0" normalizeH="0" baseline="0" noProof="0">
                <a:ln>
                  <a:noFill/>
                </a:ln>
                <a:effectLst/>
                <a:uLnTx/>
                <a:uFillTx/>
                <a:latin typeface="Segoe UI"/>
                <a:ea typeface="+mn-ea"/>
                <a:cs typeface="+mn-cs"/>
              </a:rPr>
              <a:t>Global</a:t>
            </a:r>
          </a:p>
        </p:txBody>
      </p:sp>
      <p:sp>
        <p:nvSpPr>
          <p:cNvPr id="20" name="Rectangle: Rounded Corners 22">
            <a:extLst>
              <a:ext uri="{FF2B5EF4-FFF2-40B4-BE49-F238E27FC236}">
                <a16:creationId xmlns:a16="http://schemas.microsoft.com/office/drawing/2014/main" id="{682EB123-9DBC-BB11-09C2-CA61ED5A0AC7}"/>
              </a:ext>
            </a:extLst>
          </p:cNvPr>
          <p:cNvSpPr/>
          <p:nvPr/>
        </p:nvSpPr>
        <p:spPr>
          <a:xfrm>
            <a:off x="3196448" y="4105067"/>
            <a:ext cx="741454" cy="497822"/>
          </a:xfrm>
          <a:prstGeom prst="roundRect">
            <a:avLst/>
          </a:prstGeom>
          <a:solidFill>
            <a:schemeClr val="bg1"/>
          </a:solidFill>
          <a:ln w="12700" cap="rnd">
            <a:solidFill>
              <a:schemeClr val="tx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r>
              <a:rPr kumimoji="0" lang="en-US" sz="1100" b="0" i="0" u="none" strike="noStrike" kern="1200" cap="none" spc="0" normalizeH="0" baseline="0" noProof="0">
                <a:ln>
                  <a:noFill/>
                </a:ln>
                <a:effectLst/>
                <a:uLnTx/>
                <a:uFillTx/>
                <a:latin typeface="Segoe UI"/>
                <a:ea typeface="+mn-ea"/>
                <a:cs typeface="+mn-cs"/>
              </a:rPr>
              <a:t>Data Zones</a:t>
            </a:r>
          </a:p>
        </p:txBody>
      </p:sp>
      <p:sp>
        <p:nvSpPr>
          <p:cNvPr id="21" name="Rectangle: Rounded Corners 26">
            <a:extLst>
              <a:ext uri="{FF2B5EF4-FFF2-40B4-BE49-F238E27FC236}">
                <a16:creationId xmlns:a16="http://schemas.microsoft.com/office/drawing/2014/main" id="{56E92582-CD77-0529-BCC6-7B6F2CAFDFBF}"/>
              </a:ext>
            </a:extLst>
          </p:cNvPr>
          <p:cNvSpPr/>
          <p:nvPr/>
        </p:nvSpPr>
        <p:spPr>
          <a:xfrm>
            <a:off x="3987240" y="4105067"/>
            <a:ext cx="741454" cy="497822"/>
          </a:xfrm>
          <a:prstGeom prst="roundRect">
            <a:avLst/>
          </a:prstGeom>
          <a:solidFill>
            <a:schemeClr val="bg1"/>
          </a:solidFill>
          <a:ln w="12700" cap="rnd">
            <a:solidFill>
              <a:schemeClr val="tx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r>
              <a:rPr kumimoji="0" lang="en-US" sz="1100" b="0" i="0" u="none" strike="noStrike" kern="1200" cap="none" spc="0" normalizeH="0" baseline="0" noProof="0">
                <a:ln>
                  <a:noFill/>
                </a:ln>
                <a:effectLst/>
                <a:uLnTx/>
                <a:uFillTx/>
                <a:latin typeface="Segoe UI"/>
                <a:ea typeface="+mn-ea"/>
                <a:cs typeface="+mn-cs"/>
              </a:rPr>
              <a:t>Regional</a:t>
            </a:r>
          </a:p>
        </p:txBody>
      </p:sp>
      <p:grpSp>
        <p:nvGrpSpPr>
          <p:cNvPr id="22" name="Group 21">
            <a:extLst>
              <a:ext uri="{FF2B5EF4-FFF2-40B4-BE49-F238E27FC236}">
                <a16:creationId xmlns:a16="http://schemas.microsoft.com/office/drawing/2014/main" id="{29F9FE22-54AF-973B-7B48-6B6695368F8B}"/>
              </a:ext>
            </a:extLst>
          </p:cNvPr>
          <p:cNvGrpSpPr/>
          <p:nvPr/>
        </p:nvGrpSpPr>
        <p:grpSpPr>
          <a:xfrm>
            <a:off x="9578143" y="4105067"/>
            <a:ext cx="1579517" cy="497822"/>
            <a:chOff x="9607186" y="3906460"/>
            <a:chExt cx="1579517" cy="622154"/>
          </a:xfrm>
          <a:solidFill>
            <a:schemeClr val="bg1"/>
          </a:solidFill>
        </p:grpSpPr>
        <p:sp>
          <p:nvSpPr>
            <p:cNvPr id="23" name="Freeform: Shape 30">
              <a:extLst>
                <a:ext uri="{FF2B5EF4-FFF2-40B4-BE49-F238E27FC236}">
                  <a16:creationId xmlns:a16="http://schemas.microsoft.com/office/drawing/2014/main" id="{21CB81C1-EED6-E216-D363-BA33418D7F49}"/>
                </a:ext>
              </a:extLst>
            </p:cNvPr>
            <p:cNvSpPr/>
            <p:nvPr/>
          </p:nvSpPr>
          <p:spPr>
            <a:xfrm>
              <a:off x="9607186" y="3906460"/>
              <a:ext cx="741454" cy="622154"/>
            </a:xfrm>
            <a:prstGeom prst="roundRect">
              <a:avLst/>
            </a:prstGeom>
            <a:grpFill/>
            <a:ln w="12700" cap="rnd">
              <a:solidFill>
                <a:schemeClr val="tx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r>
                <a:rPr kumimoji="0" lang="en-US" sz="1100" b="0" i="0" u="none" strike="noStrike" kern="1200" cap="none" spc="-20" normalizeH="0" baseline="0" noProof="0">
                  <a:ln>
                    <a:noFill/>
                  </a:ln>
                  <a:effectLst/>
                  <a:uLnTx/>
                  <a:uFillTx/>
                  <a:latin typeface="Segoe UI"/>
                  <a:ea typeface="+mn-ea"/>
                  <a:cs typeface="+mn-cs"/>
                </a:rPr>
                <a:t>Global</a:t>
              </a:r>
            </a:p>
          </p:txBody>
        </p:sp>
        <p:sp>
          <p:nvSpPr>
            <p:cNvPr id="24" name="Freeform: Shape 32">
              <a:extLst>
                <a:ext uri="{FF2B5EF4-FFF2-40B4-BE49-F238E27FC236}">
                  <a16:creationId xmlns:a16="http://schemas.microsoft.com/office/drawing/2014/main" id="{6853093E-4403-A75F-28D3-49811E142940}"/>
                </a:ext>
              </a:extLst>
            </p:cNvPr>
            <p:cNvSpPr/>
            <p:nvPr/>
          </p:nvSpPr>
          <p:spPr>
            <a:xfrm>
              <a:off x="10445249" y="3906460"/>
              <a:ext cx="741454" cy="622154"/>
            </a:xfrm>
            <a:prstGeom prst="roundRect">
              <a:avLst/>
            </a:prstGeom>
            <a:grpFill/>
            <a:ln w="12700" cap="rnd">
              <a:solidFill>
                <a:schemeClr val="tx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r>
                <a:rPr kumimoji="0" lang="en-US" sz="1100" b="0" i="0" u="none" strike="noStrike" kern="1200" cap="none" spc="-20" normalizeH="0" baseline="0" noProof="0">
                  <a:ln>
                    <a:noFill/>
                  </a:ln>
                  <a:effectLst/>
                  <a:uLnTx/>
                  <a:uFillTx/>
                  <a:latin typeface="Segoe UI"/>
                  <a:ea typeface="+mn-ea"/>
                  <a:cs typeface="+mn-cs"/>
                </a:rPr>
                <a:t>Data</a:t>
              </a:r>
              <a:r>
                <a:rPr kumimoji="0" lang="en-US" sz="1100" b="0" i="0" u="none" strike="noStrike" kern="1200" cap="none" spc="-20" normalizeH="0" baseline="0" noProof="0">
                  <a:ln>
                    <a:noFill/>
                  </a:ln>
                  <a:solidFill>
                    <a:srgbClr val="000000"/>
                  </a:solidFill>
                  <a:effectLst/>
                  <a:uLnTx/>
                  <a:uFillTx/>
                  <a:latin typeface="Segoe UI"/>
                  <a:ea typeface="+mn-ea"/>
                  <a:cs typeface="+mn-cs"/>
                </a:rPr>
                <a:t> </a:t>
              </a:r>
              <a:r>
                <a:rPr kumimoji="0" lang="en-US" sz="1100" b="0" i="0" u="none" strike="noStrike" kern="1200" cap="none" spc="-20" normalizeH="0" baseline="0" noProof="0">
                  <a:ln>
                    <a:noFill/>
                  </a:ln>
                  <a:effectLst/>
                  <a:uLnTx/>
                  <a:uFillTx/>
                  <a:latin typeface="Segoe UI"/>
                  <a:ea typeface="+mn-ea"/>
                  <a:cs typeface="+mn-cs"/>
                </a:rPr>
                <a:t>Zones</a:t>
              </a:r>
            </a:p>
          </p:txBody>
        </p:sp>
      </p:grpSp>
      <p:sp>
        <p:nvSpPr>
          <p:cNvPr id="25" name="Freeform: Shape 36">
            <a:extLst>
              <a:ext uri="{FF2B5EF4-FFF2-40B4-BE49-F238E27FC236}">
                <a16:creationId xmlns:a16="http://schemas.microsoft.com/office/drawing/2014/main" id="{96F251BC-CD0F-B4C7-8C42-2B652F8E46BD}"/>
              </a:ext>
            </a:extLst>
          </p:cNvPr>
          <p:cNvSpPr/>
          <p:nvPr/>
        </p:nvSpPr>
        <p:spPr>
          <a:xfrm>
            <a:off x="6923953" y="4105067"/>
            <a:ext cx="741454" cy="497822"/>
          </a:xfrm>
          <a:prstGeom prst="roundRect">
            <a:avLst/>
          </a:prstGeom>
          <a:solidFill>
            <a:schemeClr val="bg1"/>
          </a:solidFill>
          <a:ln w="12700" cap="rnd">
            <a:solidFill>
              <a:schemeClr val="tx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r>
              <a:rPr kumimoji="0" lang="en-US" sz="1100" b="0" i="0" u="none" strike="noStrike" kern="1200" cap="none" spc="0" normalizeH="0" baseline="0" noProof="0">
                <a:ln>
                  <a:noFill/>
                </a:ln>
                <a:effectLst/>
                <a:uLnTx/>
                <a:uFillTx/>
                <a:latin typeface="Segoe UI"/>
                <a:ea typeface="+mn-ea"/>
                <a:cs typeface="+mn-cs"/>
              </a:rPr>
              <a:t>Global</a:t>
            </a:r>
          </a:p>
        </p:txBody>
      </p:sp>
      <p:sp>
        <p:nvSpPr>
          <p:cNvPr id="26" name="Freeform: Shape 38">
            <a:extLst>
              <a:ext uri="{FF2B5EF4-FFF2-40B4-BE49-F238E27FC236}">
                <a16:creationId xmlns:a16="http://schemas.microsoft.com/office/drawing/2014/main" id="{269C4B18-F4E5-26C5-929D-DE114730E580}"/>
              </a:ext>
            </a:extLst>
          </p:cNvPr>
          <p:cNvSpPr/>
          <p:nvPr/>
        </p:nvSpPr>
        <p:spPr>
          <a:xfrm>
            <a:off x="7730265" y="4105067"/>
            <a:ext cx="741454" cy="497822"/>
          </a:xfrm>
          <a:prstGeom prst="roundRect">
            <a:avLst/>
          </a:prstGeom>
          <a:solidFill>
            <a:schemeClr val="bg1"/>
          </a:solidFill>
          <a:ln w="12700" cap="rnd">
            <a:solidFill>
              <a:schemeClr val="tx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r>
              <a:rPr kumimoji="0" lang="en-US" sz="1100" b="0" i="0" u="none" strike="noStrike" kern="1200" cap="none" spc="0" normalizeH="0" baseline="0" noProof="0">
                <a:ln>
                  <a:noFill/>
                </a:ln>
                <a:effectLst/>
                <a:uLnTx/>
                <a:uFillTx/>
                <a:latin typeface="Segoe UI"/>
                <a:ea typeface="+mn-ea"/>
                <a:cs typeface="+mn-cs"/>
              </a:rPr>
              <a:t>Data</a:t>
            </a:r>
            <a:r>
              <a:rPr kumimoji="0" lang="en-US" sz="1100" b="0" i="0" u="none" strike="noStrike" kern="1200" cap="none" spc="0" normalizeH="0" baseline="0" noProof="0">
                <a:ln>
                  <a:noFill/>
                </a:ln>
                <a:solidFill>
                  <a:srgbClr val="000000"/>
                </a:solidFill>
                <a:effectLst/>
                <a:uLnTx/>
                <a:uFillTx/>
                <a:latin typeface="Segoe UI"/>
                <a:ea typeface="+mn-ea"/>
                <a:cs typeface="+mn-cs"/>
              </a:rPr>
              <a:t> </a:t>
            </a:r>
            <a:r>
              <a:rPr kumimoji="0" lang="en-US" sz="1100" b="0" i="0" u="none" strike="noStrike" kern="1200" cap="none" spc="0" normalizeH="0" baseline="0" noProof="0">
                <a:ln>
                  <a:noFill/>
                </a:ln>
                <a:effectLst/>
                <a:uLnTx/>
                <a:uFillTx/>
                <a:latin typeface="Segoe UI"/>
                <a:ea typeface="+mn-ea"/>
                <a:cs typeface="+mn-cs"/>
              </a:rPr>
              <a:t>Zones</a:t>
            </a:r>
          </a:p>
        </p:txBody>
      </p:sp>
      <p:sp>
        <p:nvSpPr>
          <p:cNvPr id="27" name="Freeform: Shape 40">
            <a:extLst>
              <a:ext uri="{FF2B5EF4-FFF2-40B4-BE49-F238E27FC236}">
                <a16:creationId xmlns:a16="http://schemas.microsoft.com/office/drawing/2014/main" id="{E69B1633-B04A-0E10-35C1-FC9E191E8960}"/>
              </a:ext>
            </a:extLst>
          </p:cNvPr>
          <p:cNvSpPr/>
          <p:nvPr/>
        </p:nvSpPr>
        <p:spPr>
          <a:xfrm>
            <a:off x="8536578" y="4105067"/>
            <a:ext cx="741454" cy="497822"/>
          </a:xfrm>
          <a:prstGeom prst="roundRect">
            <a:avLst/>
          </a:prstGeom>
          <a:solidFill>
            <a:schemeClr val="bg1"/>
          </a:solidFill>
          <a:ln w="12700" cap="rnd">
            <a:solidFill>
              <a:schemeClr val="tx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r>
              <a:rPr kumimoji="0" lang="en-US" sz="1100" b="0" i="0" u="none" strike="noStrike" kern="1200" cap="none" spc="0" normalizeH="0" baseline="0" noProof="0">
                <a:ln>
                  <a:noFill/>
                </a:ln>
                <a:effectLst/>
                <a:uLnTx/>
                <a:uFillTx/>
                <a:latin typeface="Segoe UI"/>
                <a:ea typeface="+mn-ea"/>
                <a:cs typeface="+mn-cs"/>
              </a:rPr>
              <a:t>Regional</a:t>
            </a:r>
          </a:p>
        </p:txBody>
      </p:sp>
      <p:sp>
        <p:nvSpPr>
          <p:cNvPr id="28" name="Rectangle: Rounded Corners 16">
            <a:extLst>
              <a:ext uri="{FF2B5EF4-FFF2-40B4-BE49-F238E27FC236}">
                <a16:creationId xmlns:a16="http://schemas.microsoft.com/office/drawing/2014/main" id="{E4F0E5FC-B51C-7166-D807-2AA6591C3B9A}"/>
              </a:ext>
            </a:extLst>
          </p:cNvPr>
          <p:cNvSpPr/>
          <p:nvPr/>
        </p:nvSpPr>
        <p:spPr>
          <a:xfrm>
            <a:off x="2593976" y="2957634"/>
            <a:ext cx="1946398" cy="612000"/>
          </a:xfrm>
          <a:prstGeom prst="roundRect">
            <a:avLst/>
          </a:prstGeom>
          <a:gradFill>
            <a:gsLst>
              <a:gs pos="100000">
                <a:srgbClr val="1C77A0"/>
              </a:gs>
              <a:gs pos="0">
                <a:srgbClr val="2C8288"/>
              </a:gs>
            </a:gsLst>
            <a:path path="circle">
              <a:fillToRect r="100000" b="100000"/>
            </a:path>
          </a:gradFill>
          <a:ln w="1905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r>
              <a:rPr kumimoji="0" lang="en-US" sz="1400" b="0" i="0" u="none" strike="noStrike" kern="1200" cap="none" spc="0" normalizeH="0" baseline="0" noProof="0">
                <a:ln>
                  <a:noFill/>
                </a:ln>
                <a:solidFill>
                  <a:srgbClr val="F4F3F5"/>
                </a:solidFill>
                <a:effectLst/>
                <a:uLnTx/>
                <a:uFillTx/>
                <a:latin typeface="Segoe UI Semibold"/>
                <a:ea typeface="+mn-ea"/>
                <a:cs typeface="+mn-cs"/>
              </a:rPr>
              <a:t>Standard</a:t>
            </a:r>
          </a:p>
        </p:txBody>
      </p:sp>
      <p:sp>
        <p:nvSpPr>
          <p:cNvPr id="29" name="Rectangle: Rounded Corners 28">
            <a:extLst>
              <a:ext uri="{FF2B5EF4-FFF2-40B4-BE49-F238E27FC236}">
                <a16:creationId xmlns:a16="http://schemas.microsoft.com/office/drawing/2014/main" id="{813E6152-B271-534F-EEE5-02697B475AE7}"/>
              </a:ext>
            </a:extLst>
          </p:cNvPr>
          <p:cNvSpPr/>
          <p:nvPr/>
        </p:nvSpPr>
        <p:spPr>
          <a:xfrm>
            <a:off x="9394702" y="2957634"/>
            <a:ext cx="1946398" cy="612000"/>
          </a:xfrm>
          <a:prstGeom prst="roundRect">
            <a:avLst/>
          </a:prstGeom>
          <a:gradFill>
            <a:gsLst>
              <a:gs pos="0">
                <a:srgbClr val="E25572"/>
              </a:gs>
              <a:gs pos="100000">
                <a:srgbClr val="9E5697"/>
              </a:gs>
            </a:gsLst>
            <a:path path="circle">
              <a:fillToRect l="100000" t="100000"/>
            </a:path>
          </a:gradFill>
          <a:ln w="1905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r>
              <a:rPr kumimoji="0" lang="en-US" sz="1400" b="0" i="0" u="none" strike="noStrike" kern="1200" cap="none" spc="-20" normalizeH="0" baseline="0" noProof="0">
                <a:ln>
                  <a:noFill/>
                </a:ln>
                <a:solidFill>
                  <a:srgbClr val="F4F3F5"/>
                </a:solidFill>
                <a:effectLst/>
                <a:uLnTx/>
                <a:uFillTx/>
                <a:latin typeface="Segoe UI Semibold"/>
                <a:ea typeface="+mn-ea"/>
                <a:cs typeface="+mn-cs"/>
              </a:rPr>
              <a:t>Batch</a:t>
            </a:r>
          </a:p>
        </p:txBody>
      </p:sp>
      <p:sp>
        <p:nvSpPr>
          <p:cNvPr id="30" name="Rectangle: Rounded Corners 34">
            <a:extLst>
              <a:ext uri="{FF2B5EF4-FFF2-40B4-BE49-F238E27FC236}">
                <a16:creationId xmlns:a16="http://schemas.microsoft.com/office/drawing/2014/main" id="{AE5D9DD3-71AC-2424-B772-FEAF1F626C41}"/>
              </a:ext>
            </a:extLst>
          </p:cNvPr>
          <p:cNvSpPr/>
          <p:nvPr/>
        </p:nvSpPr>
        <p:spPr>
          <a:xfrm>
            <a:off x="7127794" y="2957634"/>
            <a:ext cx="1946398" cy="612000"/>
          </a:xfrm>
          <a:prstGeom prst="roundRect">
            <a:avLst/>
          </a:prstGeom>
          <a:gradFill>
            <a:gsLst>
              <a:gs pos="100000">
                <a:srgbClr val="4E65A7"/>
              </a:gs>
              <a:gs pos="35000">
                <a:srgbClr val="7756AC"/>
              </a:gs>
            </a:gsLst>
            <a:path path="circle">
              <a:fillToRect l="100000" t="100000"/>
            </a:path>
          </a:gradFill>
          <a:ln w="1905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r>
              <a:rPr kumimoji="0" lang="en-US" sz="1400" b="0" i="0" u="none" strike="noStrike" kern="1200" cap="none" spc="0" normalizeH="0" baseline="0" noProof="0">
                <a:ln>
                  <a:noFill/>
                </a:ln>
                <a:solidFill>
                  <a:srgbClr val="F4F3F5"/>
                </a:solidFill>
                <a:effectLst/>
                <a:uLnTx/>
                <a:uFillTx/>
                <a:latin typeface="Segoe UI Semibold"/>
                <a:ea typeface="+mn-ea"/>
                <a:cs typeface="+mn-cs"/>
              </a:rPr>
              <a:t>Provisioned</a:t>
            </a:r>
          </a:p>
        </p:txBody>
      </p:sp>
      <p:sp>
        <p:nvSpPr>
          <p:cNvPr id="31" name="Rectangle: Rounded Corners 41">
            <a:extLst>
              <a:ext uri="{FF2B5EF4-FFF2-40B4-BE49-F238E27FC236}">
                <a16:creationId xmlns:a16="http://schemas.microsoft.com/office/drawing/2014/main" id="{EB247E22-5D9E-6F74-6F8F-64ADBB4F0823}"/>
              </a:ext>
            </a:extLst>
          </p:cNvPr>
          <p:cNvSpPr/>
          <p:nvPr/>
        </p:nvSpPr>
        <p:spPr>
          <a:xfrm>
            <a:off x="4860885" y="2957634"/>
            <a:ext cx="1946398" cy="612000"/>
          </a:xfrm>
          <a:prstGeom prst="roundRect">
            <a:avLst/>
          </a:prstGeom>
          <a:gradFill>
            <a:gsLst>
              <a:gs pos="50000">
                <a:srgbClr val="0C6CB8"/>
              </a:gs>
              <a:gs pos="99000">
                <a:srgbClr val="1C77A0"/>
              </a:gs>
            </a:gsLst>
            <a:path path="circle">
              <a:fillToRect l="100000" t="100000"/>
            </a:path>
          </a:gradFill>
          <a:ln w="1905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r>
              <a:rPr kumimoji="0" lang="en-US" sz="1400" b="0" i="0" u="none" strike="noStrike" kern="1200" cap="none" spc="0" normalizeH="0" baseline="0" noProof="0">
                <a:ln>
                  <a:noFill/>
                </a:ln>
                <a:solidFill>
                  <a:srgbClr val="F4F3F5"/>
                </a:solidFill>
                <a:effectLst/>
                <a:uLnTx/>
                <a:uFillTx/>
                <a:latin typeface="Segoe UI Semibold"/>
                <a:ea typeface="+mn-ea"/>
                <a:cs typeface="+mn-cs"/>
              </a:rPr>
              <a:t>Priority Processing</a:t>
            </a:r>
          </a:p>
        </p:txBody>
      </p:sp>
      <p:sp>
        <p:nvSpPr>
          <p:cNvPr id="32" name="Freeform: Shape 43">
            <a:extLst>
              <a:ext uri="{FF2B5EF4-FFF2-40B4-BE49-F238E27FC236}">
                <a16:creationId xmlns:a16="http://schemas.microsoft.com/office/drawing/2014/main" id="{DB470F1B-B586-EF4C-7263-BCD2558CD6DE}"/>
              </a:ext>
            </a:extLst>
          </p:cNvPr>
          <p:cNvSpPr/>
          <p:nvPr/>
        </p:nvSpPr>
        <p:spPr>
          <a:xfrm>
            <a:off x="4904019" y="4105067"/>
            <a:ext cx="783559" cy="497822"/>
          </a:xfrm>
          <a:prstGeom prst="roundRect">
            <a:avLst/>
          </a:prstGeom>
          <a:solidFill>
            <a:schemeClr val="bg1"/>
          </a:solidFill>
          <a:ln w="12700" cap="rnd">
            <a:solidFill>
              <a:schemeClr val="tx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r>
              <a:rPr kumimoji="0" lang="en-US" sz="1100" b="0" i="0" u="none" strike="noStrike" kern="1200" cap="none" spc="0" normalizeH="0" baseline="0" noProof="0">
                <a:ln>
                  <a:noFill/>
                </a:ln>
                <a:effectLst/>
                <a:uLnTx/>
                <a:uFillTx/>
                <a:latin typeface="Segoe UI"/>
                <a:ea typeface="+mn-ea"/>
                <a:cs typeface="+mn-cs"/>
              </a:rPr>
              <a:t>Standard Global</a:t>
            </a:r>
          </a:p>
        </p:txBody>
      </p:sp>
      <p:sp>
        <p:nvSpPr>
          <p:cNvPr id="33" name="Freeform: Shape 47">
            <a:extLst>
              <a:ext uri="{FF2B5EF4-FFF2-40B4-BE49-F238E27FC236}">
                <a16:creationId xmlns:a16="http://schemas.microsoft.com/office/drawing/2014/main" id="{E29EB884-F466-A810-86F1-BE6F5BFD6816}"/>
              </a:ext>
            </a:extLst>
          </p:cNvPr>
          <p:cNvSpPr/>
          <p:nvPr/>
        </p:nvSpPr>
        <p:spPr>
          <a:xfrm>
            <a:off x="5870376" y="4105067"/>
            <a:ext cx="988718" cy="497822"/>
          </a:xfrm>
          <a:prstGeom prst="roundRect">
            <a:avLst/>
          </a:prstGeom>
          <a:solidFill>
            <a:schemeClr val="bg1"/>
          </a:solidFill>
          <a:ln w="12700" cap="rnd">
            <a:solidFill>
              <a:schemeClr val="tx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811670" rtl="0" eaLnBrk="1" fontAlgn="auto" latinLnBrk="0" hangingPunct="1">
              <a:lnSpc>
                <a:spcPct val="100000"/>
              </a:lnSpc>
              <a:spcBef>
                <a:spcPts val="174"/>
              </a:spcBef>
              <a:spcAft>
                <a:spcPts val="0"/>
              </a:spcAft>
              <a:buClrTx/>
              <a:buSzTx/>
              <a:buFontTx/>
              <a:buNone/>
              <a:tabLst/>
              <a:defRPr/>
            </a:pPr>
            <a:r>
              <a:rPr kumimoji="0" lang="en-US" sz="1100" b="0" i="0" u="none" strike="noStrike" kern="1200" cap="none" spc="0" normalizeH="0" baseline="0" noProof="0">
                <a:ln>
                  <a:noFill/>
                </a:ln>
                <a:effectLst/>
                <a:uLnTx/>
                <a:uFillTx/>
                <a:latin typeface="Segoe UI"/>
                <a:ea typeface="+mn-ea"/>
                <a:cs typeface="+mn-cs"/>
              </a:rPr>
              <a:t>Standard Data Zones</a:t>
            </a:r>
          </a:p>
        </p:txBody>
      </p:sp>
      <p:cxnSp>
        <p:nvCxnSpPr>
          <p:cNvPr id="34" name="Connector: Elbow 73">
            <a:extLst>
              <a:ext uri="{FF2B5EF4-FFF2-40B4-BE49-F238E27FC236}">
                <a16:creationId xmlns:a16="http://schemas.microsoft.com/office/drawing/2014/main" id="{F6837FA8-D5BD-55A8-7AD9-0DA3A1D34F8B}"/>
              </a:ext>
            </a:extLst>
          </p:cNvPr>
          <p:cNvCxnSpPr>
            <a:cxnSpLocks/>
            <a:stCxn id="16" idx="2"/>
            <a:endCxn id="28" idx="0"/>
          </p:cNvCxnSpPr>
          <p:nvPr/>
        </p:nvCxnSpPr>
        <p:spPr>
          <a:xfrm rot="5400000">
            <a:off x="4895093" y="1008032"/>
            <a:ext cx="621684" cy="3277520"/>
          </a:xfrm>
          <a:prstGeom prst="bentConnector3">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Connector: Elbow 74">
            <a:extLst>
              <a:ext uri="{FF2B5EF4-FFF2-40B4-BE49-F238E27FC236}">
                <a16:creationId xmlns:a16="http://schemas.microsoft.com/office/drawing/2014/main" id="{87B267A8-7591-6B3C-5B2B-23CB3AD3BE46}"/>
              </a:ext>
            </a:extLst>
          </p:cNvPr>
          <p:cNvCxnSpPr>
            <a:cxnSpLocks/>
            <a:stCxn id="16" idx="2"/>
            <a:endCxn id="31" idx="0"/>
          </p:cNvCxnSpPr>
          <p:nvPr/>
        </p:nvCxnSpPr>
        <p:spPr>
          <a:xfrm rot="5400000">
            <a:off x="6028548" y="2141487"/>
            <a:ext cx="621684" cy="1010611"/>
          </a:xfrm>
          <a:prstGeom prst="bentConnector3">
            <a:avLst>
              <a:gd name="adj1" fmla="val 50000"/>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Connector: Elbow 77">
            <a:extLst>
              <a:ext uri="{FF2B5EF4-FFF2-40B4-BE49-F238E27FC236}">
                <a16:creationId xmlns:a16="http://schemas.microsoft.com/office/drawing/2014/main" id="{A49A4D8A-B5B7-04BB-A460-C1368C7456D0}"/>
              </a:ext>
            </a:extLst>
          </p:cNvPr>
          <p:cNvCxnSpPr>
            <a:cxnSpLocks/>
            <a:stCxn id="16" idx="2"/>
            <a:endCxn id="30" idx="0"/>
          </p:cNvCxnSpPr>
          <p:nvPr/>
        </p:nvCxnSpPr>
        <p:spPr>
          <a:xfrm rot="16200000" flipH="1">
            <a:off x="7162002" y="2018643"/>
            <a:ext cx="621684" cy="1256298"/>
          </a:xfrm>
          <a:prstGeom prst="bentConnector3">
            <a:avLst>
              <a:gd name="adj1" fmla="val 50000"/>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Connector: Elbow 80">
            <a:extLst>
              <a:ext uri="{FF2B5EF4-FFF2-40B4-BE49-F238E27FC236}">
                <a16:creationId xmlns:a16="http://schemas.microsoft.com/office/drawing/2014/main" id="{E7583191-1D5E-9AFA-0545-1E1704BD515D}"/>
              </a:ext>
            </a:extLst>
          </p:cNvPr>
          <p:cNvCxnSpPr>
            <a:cxnSpLocks/>
            <a:stCxn id="16" idx="2"/>
            <a:endCxn id="29" idx="0"/>
          </p:cNvCxnSpPr>
          <p:nvPr/>
        </p:nvCxnSpPr>
        <p:spPr>
          <a:xfrm rot="16200000" flipH="1">
            <a:off x="8295456" y="885189"/>
            <a:ext cx="621684" cy="3523206"/>
          </a:xfrm>
          <a:prstGeom prst="bentConnector3">
            <a:avLst>
              <a:gd name="adj1" fmla="val 50000"/>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Connector: Elbow 89">
            <a:extLst>
              <a:ext uri="{FF2B5EF4-FFF2-40B4-BE49-F238E27FC236}">
                <a16:creationId xmlns:a16="http://schemas.microsoft.com/office/drawing/2014/main" id="{87511AEA-FD3C-C2E8-A3BB-99DCB4FCE935}"/>
              </a:ext>
            </a:extLst>
          </p:cNvPr>
          <p:cNvCxnSpPr>
            <a:cxnSpLocks/>
            <a:stCxn id="28" idx="2"/>
            <a:endCxn id="19" idx="0"/>
          </p:cNvCxnSpPr>
          <p:nvPr/>
        </p:nvCxnSpPr>
        <p:spPr>
          <a:xfrm rot="5400000">
            <a:off x="2899844" y="3437735"/>
            <a:ext cx="535433" cy="799230"/>
          </a:xfrm>
          <a:prstGeom prst="bentConnector3">
            <a:avLst>
              <a:gd name="adj1" fmla="val 50000"/>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Connector: Elbow 93">
            <a:extLst>
              <a:ext uri="{FF2B5EF4-FFF2-40B4-BE49-F238E27FC236}">
                <a16:creationId xmlns:a16="http://schemas.microsoft.com/office/drawing/2014/main" id="{3C6B7BBB-9CA2-7B8B-EAE5-08B022695260}"/>
              </a:ext>
            </a:extLst>
          </p:cNvPr>
          <p:cNvCxnSpPr>
            <a:cxnSpLocks/>
            <a:stCxn id="28" idx="2"/>
            <a:endCxn id="21" idx="0"/>
          </p:cNvCxnSpPr>
          <p:nvPr/>
        </p:nvCxnSpPr>
        <p:spPr>
          <a:xfrm rot="16200000" flipH="1">
            <a:off x="3694855" y="3441954"/>
            <a:ext cx="535433" cy="790792"/>
          </a:xfrm>
          <a:prstGeom prst="bentConnector3">
            <a:avLst>
              <a:gd name="adj1" fmla="val 50000"/>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C060A1-A351-AAFE-306B-8F2B7986A9BA}"/>
              </a:ext>
            </a:extLst>
          </p:cNvPr>
          <p:cNvCxnSpPr>
            <a:cxnSpLocks/>
            <a:stCxn id="28" idx="2"/>
            <a:endCxn id="20" idx="0"/>
          </p:cNvCxnSpPr>
          <p:nvPr/>
        </p:nvCxnSpPr>
        <p:spPr>
          <a:xfrm>
            <a:off x="3567175" y="3569634"/>
            <a:ext cx="0" cy="535433"/>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1" name="Connector: Elbow 103">
            <a:extLst>
              <a:ext uri="{FF2B5EF4-FFF2-40B4-BE49-F238E27FC236}">
                <a16:creationId xmlns:a16="http://schemas.microsoft.com/office/drawing/2014/main" id="{479B2A51-A004-D219-F3FD-D0E9F2E58FA7}"/>
              </a:ext>
            </a:extLst>
          </p:cNvPr>
          <p:cNvCxnSpPr>
            <a:cxnSpLocks/>
            <a:stCxn id="31" idx="2"/>
            <a:endCxn id="32" idx="0"/>
          </p:cNvCxnSpPr>
          <p:nvPr/>
        </p:nvCxnSpPr>
        <p:spPr>
          <a:xfrm rot="5400000">
            <a:off x="5297226" y="3568208"/>
            <a:ext cx="535433" cy="538285"/>
          </a:xfrm>
          <a:prstGeom prst="bentConnector3">
            <a:avLst>
              <a:gd name="adj1" fmla="val 50000"/>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2" name="Connector: Elbow 106">
            <a:extLst>
              <a:ext uri="{FF2B5EF4-FFF2-40B4-BE49-F238E27FC236}">
                <a16:creationId xmlns:a16="http://schemas.microsoft.com/office/drawing/2014/main" id="{693D51FE-0A15-18DD-93EF-C3734160A341}"/>
              </a:ext>
            </a:extLst>
          </p:cNvPr>
          <p:cNvCxnSpPr>
            <a:cxnSpLocks/>
            <a:stCxn id="31" idx="2"/>
            <a:endCxn id="33" idx="0"/>
          </p:cNvCxnSpPr>
          <p:nvPr/>
        </p:nvCxnSpPr>
        <p:spPr>
          <a:xfrm rot="16200000" flipH="1">
            <a:off x="5831693" y="3572024"/>
            <a:ext cx="535433" cy="530651"/>
          </a:xfrm>
          <a:prstGeom prst="bentConnector3">
            <a:avLst>
              <a:gd name="adj1" fmla="val 50000"/>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3" name="Connector: Elbow 110">
            <a:extLst>
              <a:ext uri="{FF2B5EF4-FFF2-40B4-BE49-F238E27FC236}">
                <a16:creationId xmlns:a16="http://schemas.microsoft.com/office/drawing/2014/main" id="{A45D2697-F314-AB45-5B62-099BB2E4F366}"/>
              </a:ext>
            </a:extLst>
          </p:cNvPr>
          <p:cNvCxnSpPr>
            <a:cxnSpLocks/>
            <a:stCxn id="30" idx="2"/>
            <a:endCxn id="25" idx="0"/>
          </p:cNvCxnSpPr>
          <p:nvPr/>
        </p:nvCxnSpPr>
        <p:spPr>
          <a:xfrm rot="5400000">
            <a:off x="7430121" y="3434194"/>
            <a:ext cx="535433" cy="806313"/>
          </a:xfrm>
          <a:prstGeom prst="bentConnector3">
            <a:avLst>
              <a:gd name="adj1" fmla="val 50000"/>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6" name="Connector: Elbow 121">
            <a:extLst>
              <a:ext uri="{FF2B5EF4-FFF2-40B4-BE49-F238E27FC236}">
                <a16:creationId xmlns:a16="http://schemas.microsoft.com/office/drawing/2014/main" id="{6281B08E-F788-145E-1A80-578866F1FA19}"/>
              </a:ext>
            </a:extLst>
          </p:cNvPr>
          <p:cNvCxnSpPr>
            <a:cxnSpLocks/>
            <a:stCxn id="30" idx="2"/>
            <a:endCxn id="27" idx="0"/>
          </p:cNvCxnSpPr>
          <p:nvPr/>
        </p:nvCxnSpPr>
        <p:spPr>
          <a:xfrm rot="16200000" flipH="1">
            <a:off x="8236433" y="3434194"/>
            <a:ext cx="535433" cy="806312"/>
          </a:xfrm>
          <a:prstGeom prst="bentConnector3">
            <a:avLst>
              <a:gd name="adj1" fmla="val 50000"/>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D480CC7-0B55-F0C5-25CF-CA77CFC6C4EE}"/>
              </a:ext>
            </a:extLst>
          </p:cNvPr>
          <p:cNvCxnSpPr>
            <a:cxnSpLocks/>
            <a:stCxn id="30" idx="2"/>
            <a:endCxn id="26" idx="0"/>
          </p:cNvCxnSpPr>
          <p:nvPr/>
        </p:nvCxnSpPr>
        <p:spPr>
          <a:xfrm flipH="1">
            <a:off x="8100992" y="3569634"/>
            <a:ext cx="1" cy="535433"/>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Connector: Elbow 129">
            <a:extLst>
              <a:ext uri="{FF2B5EF4-FFF2-40B4-BE49-F238E27FC236}">
                <a16:creationId xmlns:a16="http://schemas.microsoft.com/office/drawing/2014/main" id="{F0D1834C-8C81-2D51-01A5-180D4A0FD770}"/>
              </a:ext>
            </a:extLst>
          </p:cNvPr>
          <p:cNvCxnSpPr>
            <a:cxnSpLocks/>
            <a:stCxn id="29" idx="2"/>
            <a:endCxn id="23" idx="0"/>
          </p:cNvCxnSpPr>
          <p:nvPr/>
        </p:nvCxnSpPr>
        <p:spPr>
          <a:xfrm rot="5400000">
            <a:off x="9890670" y="3627835"/>
            <a:ext cx="535433" cy="419031"/>
          </a:xfrm>
          <a:prstGeom prst="bentConnector3">
            <a:avLst>
              <a:gd name="adj1" fmla="val 50000"/>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Connector: Elbow 132">
            <a:extLst>
              <a:ext uri="{FF2B5EF4-FFF2-40B4-BE49-F238E27FC236}">
                <a16:creationId xmlns:a16="http://schemas.microsoft.com/office/drawing/2014/main" id="{18430C65-3889-9DAD-06F0-FD5F008635AB}"/>
              </a:ext>
            </a:extLst>
          </p:cNvPr>
          <p:cNvCxnSpPr>
            <a:cxnSpLocks/>
            <a:stCxn id="29" idx="2"/>
            <a:endCxn id="24" idx="0"/>
          </p:cNvCxnSpPr>
          <p:nvPr/>
        </p:nvCxnSpPr>
        <p:spPr>
          <a:xfrm rot="16200000" flipH="1">
            <a:off x="10309701" y="3627834"/>
            <a:ext cx="535433" cy="419032"/>
          </a:xfrm>
          <a:prstGeom prst="bentConnector3">
            <a:avLst>
              <a:gd name="adj1" fmla="val 50000"/>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0" name="Rectangle: Rounded Corners 142">
            <a:extLst>
              <a:ext uri="{FF2B5EF4-FFF2-40B4-BE49-F238E27FC236}">
                <a16:creationId xmlns:a16="http://schemas.microsoft.com/office/drawing/2014/main" id="{A2378563-3B05-16C6-7CB7-9B0529C3875D}"/>
              </a:ext>
            </a:extLst>
          </p:cNvPr>
          <p:cNvSpPr/>
          <p:nvPr/>
        </p:nvSpPr>
        <p:spPr>
          <a:xfrm>
            <a:off x="5259938" y="4654686"/>
            <a:ext cx="334258" cy="151966"/>
          </a:xfrm>
          <a:prstGeom prst="roundRect">
            <a:avLst/>
          </a:prstGeom>
          <a:solidFill>
            <a:srgbClr val="F4F3F5"/>
          </a:solidFill>
          <a:ln w="12700" cap="rnd">
            <a:gradFill flip="none" rotWithShape="1">
              <a:gsLst>
                <a:gs pos="0">
                  <a:srgbClr val="F65567"/>
                </a:gs>
                <a:gs pos="32000">
                  <a:srgbClr val="7656AD"/>
                </a:gs>
                <a:gs pos="100000">
                  <a:srgbClr val="318581"/>
                </a:gs>
                <a:gs pos="68000">
                  <a:srgbClr val="0A6BBA"/>
                </a:gs>
              </a:gsLst>
              <a:lin ang="10800000" scaled="1"/>
              <a:tileRect/>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spcFirstLastPara="0" vert="horz" wrap="square" lIns="0" tIns="0" rIns="0" bIns="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US" sz="800" b="0" i="0" u="none" strike="noStrike" kern="1200" cap="none" spc="0" normalizeH="0" baseline="0" noProof="0">
                <a:ln>
                  <a:noFill/>
                </a:ln>
                <a:gradFill flip="none" rotWithShape="1">
                  <a:gsLst>
                    <a:gs pos="0">
                      <a:srgbClr val="F65567"/>
                    </a:gs>
                    <a:gs pos="100000">
                      <a:srgbClr val="318581"/>
                    </a:gs>
                    <a:gs pos="68000">
                      <a:srgbClr val="0A6BBA"/>
                    </a:gs>
                    <a:gs pos="31000">
                      <a:srgbClr val="7656AD"/>
                    </a:gs>
                  </a:gsLst>
                  <a:path path="circle">
                    <a:fillToRect l="100000" t="100000"/>
                  </a:path>
                  <a:tileRect r="-100000" b="-100000"/>
                </a:gradFill>
                <a:effectLst/>
                <a:uLnTx/>
                <a:uFillTx/>
                <a:latin typeface="Segoe UI Semibold"/>
                <a:ea typeface="+mn-ea"/>
                <a:cs typeface="+mn-cs"/>
              </a:rPr>
              <a:t>New</a:t>
            </a:r>
          </a:p>
        </p:txBody>
      </p:sp>
      <p:sp>
        <p:nvSpPr>
          <p:cNvPr id="52" name="Rectangle: Rounded Corners 144">
            <a:extLst>
              <a:ext uri="{FF2B5EF4-FFF2-40B4-BE49-F238E27FC236}">
                <a16:creationId xmlns:a16="http://schemas.microsoft.com/office/drawing/2014/main" id="{DFA6F7CA-D802-CC05-6023-DC7763FABF7A}"/>
              </a:ext>
            </a:extLst>
          </p:cNvPr>
          <p:cNvSpPr/>
          <p:nvPr/>
        </p:nvSpPr>
        <p:spPr>
          <a:xfrm>
            <a:off x="7990529" y="4012940"/>
            <a:ext cx="285790" cy="151966"/>
          </a:xfrm>
          <a:prstGeom prst="roundRect">
            <a:avLst>
              <a:gd name="adj" fmla="val 29203"/>
            </a:avLst>
          </a:prstGeom>
          <a:solidFill>
            <a:srgbClr val="F4F3F5"/>
          </a:solidFill>
          <a:ln w="12700" cap="rnd">
            <a:gradFill flip="none" rotWithShape="1">
              <a:gsLst>
                <a:gs pos="0">
                  <a:srgbClr val="F65567"/>
                </a:gs>
                <a:gs pos="32000">
                  <a:srgbClr val="7656AD"/>
                </a:gs>
                <a:gs pos="100000">
                  <a:srgbClr val="318581"/>
                </a:gs>
                <a:gs pos="68000">
                  <a:srgbClr val="0A6BBA"/>
                </a:gs>
              </a:gsLst>
              <a:lin ang="10800000" scaled="1"/>
              <a:tileRect/>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spcFirstLastPara="0" vert="horz" wrap="square" lIns="0" tIns="0" rIns="0" bIns="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US" sz="800" b="0" i="0" u="none" strike="noStrike" kern="1200" cap="none" spc="0" normalizeH="0" baseline="0" noProof="0">
                <a:ln>
                  <a:noFill/>
                </a:ln>
                <a:gradFill flip="none" rotWithShape="1">
                  <a:gsLst>
                    <a:gs pos="0">
                      <a:srgbClr val="F65567"/>
                    </a:gs>
                    <a:gs pos="100000">
                      <a:srgbClr val="318581"/>
                    </a:gs>
                    <a:gs pos="68000">
                      <a:srgbClr val="0A6BBA"/>
                    </a:gs>
                    <a:gs pos="31000">
                      <a:srgbClr val="7656AD"/>
                    </a:gs>
                  </a:gsLst>
                  <a:path path="circle">
                    <a:fillToRect l="100000" t="100000"/>
                  </a:path>
                  <a:tileRect r="-100000" b="-100000"/>
                </a:gradFill>
                <a:effectLst/>
                <a:uLnTx/>
                <a:uFillTx/>
                <a:latin typeface="Segoe UI Semibold"/>
                <a:ea typeface="+mn-ea"/>
                <a:cs typeface="+mn-cs"/>
              </a:rPr>
              <a:t>SLA</a:t>
            </a:r>
          </a:p>
        </p:txBody>
      </p:sp>
      <p:sp>
        <p:nvSpPr>
          <p:cNvPr id="53" name="Rectangle: Rounded Corners 145">
            <a:extLst>
              <a:ext uri="{FF2B5EF4-FFF2-40B4-BE49-F238E27FC236}">
                <a16:creationId xmlns:a16="http://schemas.microsoft.com/office/drawing/2014/main" id="{9BE0BD17-AB39-0385-F276-D7804C50B4AB}"/>
              </a:ext>
            </a:extLst>
          </p:cNvPr>
          <p:cNvSpPr/>
          <p:nvPr/>
        </p:nvSpPr>
        <p:spPr>
          <a:xfrm>
            <a:off x="8796841" y="4059004"/>
            <a:ext cx="285790" cy="151966"/>
          </a:xfrm>
          <a:prstGeom prst="roundRect">
            <a:avLst>
              <a:gd name="adj" fmla="val 29203"/>
            </a:avLst>
          </a:prstGeom>
          <a:solidFill>
            <a:srgbClr val="F4F3F5"/>
          </a:solidFill>
          <a:ln w="12700" cap="rnd">
            <a:gradFill flip="none" rotWithShape="1">
              <a:gsLst>
                <a:gs pos="0">
                  <a:srgbClr val="F65567"/>
                </a:gs>
                <a:gs pos="32000">
                  <a:srgbClr val="7656AD"/>
                </a:gs>
                <a:gs pos="100000">
                  <a:srgbClr val="318581"/>
                </a:gs>
                <a:gs pos="68000">
                  <a:srgbClr val="0A6BBA"/>
                </a:gs>
              </a:gsLst>
              <a:lin ang="10800000" scaled="1"/>
              <a:tileRect/>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spcFirstLastPara="0" vert="horz" wrap="square" lIns="0" tIns="0" rIns="0" bIns="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US" sz="800" b="0" i="0" u="none" strike="noStrike" kern="1200" cap="none" spc="0" normalizeH="0" baseline="0" noProof="0">
                <a:ln>
                  <a:noFill/>
                </a:ln>
                <a:gradFill flip="none" rotWithShape="1">
                  <a:gsLst>
                    <a:gs pos="0">
                      <a:srgbClr val="F65567"/>
                    </a:gs>
                    <a:gs pos="100000">
                      <a:srgbClr val="318581"/>
                    </a:gs>
                    <a:gs pos="68000">
                      <a:srgbClr val="0A6BBA"/>
                    </a:gs>
                    <a:gs pos="31000">
                      <a:srgbClr val="7656AD"/>
                    </a:gs>
                  </a:gsLst>
                  <a:path path="circle">
                    <a:fillToRect l="100000" t="100000"/>
                  </a:path>
                  <a:tileRect r="-100000" b="-100000"/>
                </a:gradFill>
                <a:effectLst/>
                <a:uLnTx/>
                <a:uFillTx/>
                <a:latin typeface="Segoe UI Semibold"/>
                <a:ea typeface="+mn-ea"/>
                <a:cs typeface="+mn-cs"/>
              </a:rPr>
              <a:t>SLA</a:t>
            </a:r>
          </a:p>
        </p:txBody>
      </p:sp>
      <p:sp>
        <p:nvSpPr>
          <p:cNvPr id="54" name="Rectangle: Rounded Corners 146">
            <a:extLst>
              <a:ext uri="{FF2B5EF4-FFF2-40B4-BE49-F238E27FC236}">
                <a16:creationId xmlns:a16="http://schemas.microsoft.com/office/drawing/2014/main" id="{65B5DC2A-1558-AE3E-90CF-7D8F6E96A465}"/>
              </a:ext>
            </a:extLst>
          </p:cNvPr>
          <p:cNvSpPr/>
          <p:nvPr/>
        </p:nvSpPr>
        <p:spPr>
          <a:xfrm>
            <a:off x="7168338" y="4006217"/>
            <a:ext cx="285790" cy="151966"/>
          </a:xfrm>
          <a:prstGeom prst="roundRect">
            <a:avLst>
              <a:gd name="adj" fmla="val 29203"/>
            </a:avLst>
          </a:prstGeom>
          <a:solidFill>
            <a:srgbClr val="F4F3F5"/>
          </a:solidFill>
          <a:ln w="12700" cap="rnd">
            <a:gradFill flip="none" rotWithShape="1">
              <a:gsLst>
                <a:gs pos="0">
                  <a:srgbClr val="F65567"/>
                </a:gs>
                <a:gs pos="32000">
                  <a:srgbClr val="7656AD"/>
                </a:gs>
                <a:gs pos="100000">
                  <a:srgbClr val="318581"/>
                </a:gs>
                <a:gs pos="68000">
                  <a:srgbClr val="0A6BBA"/>
                </a:gs>
              </a:gsLst>
              <a:lin ang="10800000" scaled="1"/>
              <a:tileRect/>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spcFirstLastPara="0" vert="horz" wrap="square" lIns="0" tIns="0" rIns="0" bIns="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US" sz="800" b="0" i="0" u="none" strike="noStrike" kern="1200" cap="none" spc="0" normalizeH="0" baseline="0" noProof="0">
                <a:ln>
                  <a:noFill/>
                </a:ln>
                <a:gradFill flip="none" rotWithShape="1">
                  <a:gsLst>
                    <a:gs pos="0">
                      <a:srgbClr val="F65567"/>
                    </a:gs>
                    <a:gs pos="100000">
                      <a:srgbClr val="318581"/>
                    </a:gs>
                    <a:gs pos="68000">
                      <a:srgbClr val="0A6BBA"/>
                    </a:gs>
                    <a:gs pos="31000">
                      <a:srgbClr val="7656AD"/>
                    </a:gs>
                  </a:gsLst>
                  <a:path path="circle">
                    <a:fillToRect l="100000" t="100000"/>
                  </a:path>
                  <a:tileRect r="-100000" b="-100000"/>
                </a:gradFill>
                <a:effectLst/>
                <a:uLnTx/>
                <a:uFillTx/>
                <a:latin typeface="Segoe UI Semibold"/>
                <a:ea typeface="+mn-ea"/>
                <a:cs typeface="+mn-cs"/>
              </a:rPr>
              <a:t>SLA</a:t>
            </a:r>
          </a:p>
        </p:txBody>
      </p:sp>
      <p:sp>
        <p:nvSpPr>
          <p:cNvPr id="55" name="Rectangle: Rounded Corners 147">
            <a:extLst>
              <a:ext uri="{FF2B5EF4-FFF2-40B4-BE49-F238E27FC236}">
                <a16:creationId xmlns:a16="http://schemas.microsoft.com/office/drawing/2014/main" id="{02305EA2-E10D-EA4D-B1DF-E83229BB435D}"/>
              </a:ext>
            </a:extLst>
          </p:cNvPr>
          <p:cNvSpPr/>
          <p:nvPr/>
        </p:nvSpPr>
        <p:spPr>
          <a:xfrm>
            <a:off x="5139171" y="4029083"/>
            <a:ext cx="285790" cy="151966"/>
          </a:xfrm>
          <a:prstGeom prst="roundRect">
            <a:avLst>
              <a:gd name="adj" fmla="val 29203"/>
            </a:avLst>
          </a:prstGeom>
          <a:solidFill>
            <a:srgbClr val="F4F3F5"/>
          </a:solidFill>
          <a:ln w="12700" cap="rnd">
            <a:gradFill flip="none" rotWithShape="1">
              <a:gsLst>
                <a:gs pos="0">
                  <a:srgbClr val="F65567"/>
                </a:gs>
                <a:gs pos="32000">
                  <a:srgbClr val="7656AD"/>
                </a:gs>
                <a:gs pos="100000">
                  <a:srgbClr val="318581"/>
                </a:gs>
                <a:gs pos="68000">
                  <a:srgbClr val="0A6BBA"/>
                </a:gs>
              </a:gsLst>
              <a:lin ang="10800000" scaled="1"/>
              <a:tileRect/>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spcFirstLastPara="0" vert="horz" wrap="square" lIns="0" tIns="0" rIns="0" bIns="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US" sz="800" b="0" i="0" u="none" strike="noStrike" kern="1200" cap="none" spc="0" normalizeH="0" baseline="0" noProof="0">
                <a:ln>
                  <a:noFill/>
                </a:ln>
                <a:gradFill flip="none" rotWithShape="1">
                  <a:gsLst>
                    <a:gs pos="0">
                      <a:srgbClr val="F65567"/>
                    </a:gs>
                    <a:gs pos="100000">
                      <a:srgbClr val="318581"/>
                    </a:gs>
                    <a:gs pos="68000">
                      <a:srgbClr val="0A6BBA"/>
                    </a:gs>
                    <a:gs pos="31000">
                      <a:srgbClr val="7656AD"/>
                    </a:gs>
                  </a:gsLst>
                  <a:path path="circle">
                    <a:fillToRect l="100000" t="100000"/>
                  </a:path>
                  <a:tileRect r="-100000" b="-100000"/>
                </a:gradFill>
                <a:effectLst/>
                <a:uLnTx/>
                <a:uFillTx/>
                <a:latin typeface="Segoe UI Semibold"/>
                <a:ea typeface="+mn-ea"/>
                <a:cs typeface="+mn-cs"/>
              </a:rPr>
              <a:t>SLA</a:t>
            </a:r>
          </a:p>
        </p:txBody>
      </p:sp>
      <p:sp>
        <p:nvSpPr>
          <p:cNvPr id="56" name="Rectangle: Rounded Corners 148">
            <a:extLst>
              <a:ext uri="{FF2B5EF4-FFF2-40B4-BE49-F238E27FC236}">
                <a16:creationId xmlns:a16="http://schemas.microsoft.com/office/drawing/2014/main" id="{32810EFB-40EC-AD92-820B-CF84B0909C24}"/>
              </a:ext>
            </a:extLst>
          </p:cNvPr>
          <p:cNvSpPr/>
          <p:nvPr/>
        </p:nvSpPr>
        <p:spPr>
          <a:xfrm>
            <a:off x="6231272" y="4029083"/>
            <a:ext cx="285790" cy="151966"/>
          </a:xfrm>
          <a:prstGeom prst="roundRect">
            <a:avLst>
              <a:gd name="adj" fmla="val 29203"/>
            </a:avLst>
          </a:prstGeom>
          <a:solidFill>
            <a:srgbClr val="F4F3F5"/>
          </a:solidFill>
          <a:ln w="12700" cap="rnd">
            <a:gradFill flip="none" rotWithShape="1">
              <a:gsLst>
                <a:gs pos="0">
                  <a:srgbClr val="F65567"/>
                </a:gs>
                <a:gs pos="32000">
                  <a:srgbClr val="7656AD"/>
                </a:gs>
                <a:gs pos="100000">
                  <a:srgbClr val="318581"/>
                </a:gs>
                <a:gs pos="68000">
                  <a:srgbClr val="0A6BBA"/>
                </a:gs>
              </a:gsLst>
              <a:lin ang="10800000" scaled="1"/>
              <a:tileRect/>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spcFirstLastPara="0" vert="horz" wrap="square" lIns="0" tIns="0" rIns="0" bIns="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US" sz="800" b="0" i="0" u="none" strike="noStrike" kern="1200" cap="none" spc="0" normalizeH="0" baseline="0" noProof="0">
                <a:ln>
                  <a:noFill/>
                </a:ln>
                <a:gradFill flip="none" rotWithShape="1">
                  <a:gsLst>
                    <a:gs pos="0">
                      <a:srgbClr val="F65567"/>
                    </a:gs>
                    <a:gs pos="100000">
                      <a:srgbClr val="318581"/>
                    </a:gs>
                    <a:gs pos="68000">
                      <a:srgbClr val="0A6BBA"/>
                    </a:gs>
                    <a:gs pos="31000">
                      <a:srgbClr val="7656AD"/>
                    </a:gs>
                  </a:gsLst>
                  <a:path path="circle">
                    <a:fillToRect l="100000" t="100000"/>
                  </a:path>
                  <a:tileRect r="-100000" b="-100000"/>
                </a:gradFill>
                <a:effectLst/>
                <a:uLnTx/>
                <a:uFillTx/>
                <a:latin typeface="Segoe UI Semibold"/>
                <a:ea typeface="+mn-ea"/>
                <a:cs typeface="+mn-cs"/>
              </a:rPr>
              <a:t>SLA</a:t>
            </a:r>
          </a:p>
        </p:txBody>
      </p:sp>
      <p:sp>
        <p:nvSpPr>
          <p:cNvPr id="3" name="Rectangle: Rounded Corners 142">
            <a:extLst>
              <a:ext uri="{FF2B5EF4-FFF2-40B4-BE49-F238E27FC236}">
                <a16:creationId xmlns:a16="http://schemas.microsoft.com/office/drawing/2014/main" id="{FDE3B4A4-8EE3-B8E0-2EBF-04399BF943D5}"/>
              </a:ext>
            </a:extLst>
          </p:cNvPr>
          <p:cNvSpPr/>
          <p:nvPr/>
        </p:nvSpPr>
        <p:spPr>
          <a:xfrm>
            <a:off x="6172261" y="4654686"/>
            <a:ext cx="334258" cy="151966"/>
          </a:xfrm>
          <a:prstGeom prst="roundRect">
            <a:avLst/>
          </a:prstGeom>
          <a:solidFill>
            <a:srgbClr val="F4F3F5"/>
          </a:solidFill>
          <a:ln w="12700" cap="rnd">
            <a:gradFill flip="none" rotWithShape="1">
              <a:gsLst>
                <a:gs pos="0">
                  <a:srgbClr val="F65567"/>
                </a:gs>
                <a:gs pos="32000">
                  <a:srgbClr val="7656AD"/>
                </a:gs>
                <a:gs pos="100000">
                  <a:srgbClr val="318581"/>
                </a:gs>
                <a:gs pos="68000">
                  <a:srgbClr val="0A6BBA"/>
                </a:gs>
              </a:gsLst>
              <a:lin ang="10800000" scaled="1"/>
              <a:tileRect/>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spcFirstLastPara="0" vert="horz" wrap="square" lIns="0" tIns="0" rIns="0" bIns="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US" sz="800" b="0" i="0" u="none" strike="noStrike" kern="1200" cap="none" spc="0" normalizeH="0" baseline="0" noProof="0">
                <a:ln>
                  <a:noFill/>
                </a:ln>
                <a:gradFill flip="none" rotWithShape="1">
                  <a:gsLst>
                    <a:gs pos="0">
                      <a:srgbClr val="F65567"/>
                    </a:gs>
                    <a:gs pos="100000">
                      <a:srgbClr val="318581"/>
                    </a:gs>
                    <a:gs pos="68000">
                      <a:srgbClr val="0A6BBA"/>
                    </a:gs>
                    <a:gs pos="31000">
                      <a:srgbClr val="7656AD"/>
                    </a:gs>
                  </a:gsLst>
                  <a:path path="circle">
                    <a:fillToRect l="100000" t="100000"/>
                  </a:path>
                  <a:tileRect r="-100000" b="-100000"/>
                </a:gradFill>
                <a:effectLst/>
                <a:uLnTx/>
                <a:uFillTx/>
                <a:latin typeface="Segoe UI Semibold"/>
                <a:ea typeface="+mn-ea"/>
                <a:cs typeface="+mn-cs"/>
              </a:rPr>
              <a:t>New</a:t>
            </a:r>
          </a:p>
        </p:txBody>
      </p:sp>
    </p:spTree>
    <p:extLst>
      <p:ext uri="{BB962C8B-B14F-4D97-AF65-F5344CB8AC3E}">
        <p14:creationId xmlns:p14="http://schemas.microsoft.com/office/powerpoint/2010/main" val="313455605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F0E88C7-19D6-D624-826C-3D758A4B0F3D}"/>
              </a:ext>
            </a:extLst>
          </p:cNvPr>
          <p:cNvSpPr>
            <a:spLocks noGrp="1"/>
          </p:cNvSpPr>
          <p:nvPr>
            <p:ph type="title"/>
          </p:nvPr>
        </p:nvSpPr>
        <p:spPr/>
        <p:txBody>
          <a:bodyPr/>
          <a:lstStyle/>
          <a:p>
            <a:pPr algn="ctr"/>
            <a:r>
              <a:rPr lang="en-US">
                <a:cs typeface="Segoe Sans Text"/>
              </a:rPr>
              <a:t>Choosing the best offer type</a:t>
            </a:r>
          </a:p>
        </p:txBody>
      </p:sp>
      <p:sp>
        <p:nvSpPr>
          <p:cNvPr id="6" name="Rounded Rectangle 6">
            <a:extLst>
              <a:ext uri="{FF2B5EF4-FFF2-40B4-BE49-F238E27FC236}">
                <a16:creationId xmlns:a16="http://schemas.microsoft.com/office/drawing/2014/main" id="{B863829A-F93D-D4D6-92C7-ACFA7A62BCB2}"/>
              </a:ext>
              <a:ext uri="{C183D7F6-B498-43B3-948B-1728B52AA6E4}">
                <adec:decorative xmlns:adec="http://schemas.microsoft.com/office/drawing/2017/decorative" val="1"/>
              </a:ext>
            </a:extLst>
          </p:cNvPr>
          <p:cNvSpPr/>
          <p:nvPr/>
        </p:nvSpPr>
        <p:spPr>
          <a:xfrm>
            <a:off x="571500" y="1433763"/>
            <a:ext cx="3590803" cy="434363"/>
          </a:xfrm>
          <a:prstGeom prst="roundRect">
            <a:avLst>
              <a:gd name="adj" fmla="val 50000"/>
            </a:avLst>
          </a:prstGeom>
          <a:gradFill>
            <a:gsLst>
              <a:gs pos="0">
                <a:schemeClr val="accent4"/>
              </a:gs>
              <a:gs pos="100000">
                <a:srgbClr val="48C4B1"/>
              </a:gs>
            </a:gsLst>
            <a:lin ang="2700000" scaled="0"/>
          </a:gradFill>
          <a:ln w="19050" cap="flat" cmpd="sng" algn="ctr">
            <a:noFill/>
            <a:prstDash val="solid"/>
            <a:miter lim="800000"/>
          </a:ln>
          <a:effectLst>
            <a:outerShdw blurRad="63500" dist="63500" dir="2400000" algn="ctr" rotWithShape="0">
              <a:srgbClr val="454142">
                <a:alpha val="20000"/>
              </a:srgbClr>
            </a:outerShdw>
          </a:effectLst>
        </p:spPr>
        <p:txBody>
          <a:bodyPr lIns="182880" tIns="0" rIns="182880" rtlCol="0" anchor="ctr" anchorCtr="0"/>
          <a:lstStyle/>
          <a:p>
            <a:pPr marL="0" marR="0" lvl="0" indent="0" algn="ctr" defTabSz="914400" rtl="0" eaLnBrk="1" fontAlgn="auto" latinLnBrk="0" hangingPunct="1">
              <a:lnSpc>
                <a:spcPct val="100000"/>
              </a:lnSpc>
              <a:spcBef>
                <a:spcPts val="0"/>
              </a:spcBef>
              <a:spcAft>
                <a:spcPts val="3000"/>
              </a:spcAft>
              <a:buClrTx/>
              <a:buSzTx/>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Standard</a:t>
            </a:r>
          </a:p>
        </p:txBody>
      </p:sp>
      <p:sp>
        <p:nvSpPr>
          <p:cNvPr id="8" name="Rounded Rectangle 6">
            <a:extLst>
              <a:ext uri="{FF2B5EF4-FFF2-40B4-BE49-F238E27FC236}">
                <a16:creationId xmlns:a16="http://schemas.microsoft.com/office/drawing/2014/main" id="{13418B92-C7AF-8984-89F3-A931B45580AF}"/>
              </a:ext>
              <a:ext uri="{C183D7F6-B498-43B3-948B-1728B52AA6E4}">
                <adec:decorative xmlns:adec="http://schemas.microsoft.com/office/drawing/2017/decorative" val="1"/>
              </a:ext>
            </a:extLst>
          </p:cNvPr>
          <p:cNvSpPr/>
          <p:nvPr/>
        </p:nvSpPr>
        <p:spPr>
          <a:xfrm>
            <a:off x="4308607" y="1433763"/>
            <a:ext cx="3590803" cy="434363"/>
          </a:xfrm>
          <a:prstGeom prst="roundRect">
            <a:avLst>
              <a:gd name="adj" fmla="val 50000"/>
            </a:avLst>
          </a:prstGeom>
          <a:gradFill>
            <a:gsLst>
              <a:gs pos="0">
                <a:srgbClr val="48C4B1"/>
              </a:gs>
              <a:gs pos="100000">
                <a:srgbClr val="0077D3"/>
              </a:gs>
            </a:gsLst>
            <a:lin ang="2700000" scaled="0"/>
          </a:gradFill>
          <a:ln w="19050" cap="flat" cmpd="sng" algn="ctr">
            <a:noFill/>
            <a:prstDash val="solid"/>
            <a:miter lim="800000"/>
          </a:ln>
          <a:effectLst>
            <a:outerShdw blurRad="63500" dist="63500" dir="2400000" algn="ctr" rotWithShape="0">
              <a:srgbClr val="454142">
                <a:alpha val="20000"/>
              </a:srgbClr>
            </a:outerShdw>
          </a:effectLst>
        </p:spPr>
        <p:txBody>
          <a:bodyPr lIns="182880" tIns="0" rIns="182880" rtlCol="0" anchor="ctr" anchorCtr="0"/>
          <a:lstStyle/>
          <a:p>
            <a:pPr marL="0" marR="0" lvl="0" indent="0" algn="ctr" defTabSz="914400" rtl="0" eaLnBrk="1" fontAlgn="auto" latinLnBrk="0" hangingPunct="1">
              <a:lnSpc>
                <a:spcPct val="100000"/>
              </a:lnSpc>
              <a:spcBef>
                <a:spcPts val="0"/>
              </a:spcBef>
              <a:spcAft>
                <a:spcPts val="3000"/>
              </a:spcAft>
              <a:buClrTx/>
              <a:buSzTx/>
              <a:buFont typeface="Wingdings" panose="05000000000000000000" pitchFamily="2" charset="2"/>
              <a:buNone/>
              <a:tabLst/>
              <a:defRPr/>
            </a:pPr>
            <a:r>
              <a:rPr kumimoji="0" lang="en-US" sz="18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Provisioned</a:t>
            </a:r>
          </a:p>
        </p:txBody>
      </p:sp>
      <p:sp>
        <p:nvSpPr>
          <p:cNvPr id="9" name="Rounded Rectangle 6">
            <a:extLst>
              <a:ext uri="{FF2B5EF4-FFF2-40B4-BE49-F238E27FC236}">
                <a16:creationId xmlns:a16="http://schemas.microsoft.com/office/drawing/2014/main" id="{9148BADF-1E19-2B95-B9D2-499677274EB8}"/>
              </a:ext>
              <a:ext uri="{C183D7F6-B498-43B3-948B-1728B52AA6E4}">
                <adec:decorative xmlns:adec="http://schemas.microsoft.com/office/drawing/2017/decorative" val="1"/>
              </a:ext>
            </a:extLst>
          </p:cNvPr>
          <p:cNvSpPr/>
          <p:nvPr/>
        </p:nvSpPr>
        <p:spPr>
          <a:xfrm>
            <a:off x="8045714" y="1433763"/>
            <a:ext cx="3590803" cy="434363"/>
          </a:xfrm>
          <a:prstGeom prst="roundRect">
            <a:avLst>
              <a:gd name="adj" fmla="val 50000"/>
            </a:avLst>
          </a:prstGeom>
          <a:gradFill>
            <a:gsLst>
              <a:gs pos="0">
                <a:srgbClr val="0077D3"/>
              </a:gs>
              <a:gs pos="100000">
                <a:schemeClr val="accent2"/>
              </a:gs>
            </a:gsLst>
            <a:lin ang="2700000" scaled="0"/>
          </a:gradFill>
          <a:ln w="19050" cap="flat" cmpd="sng" algn="ctr">
            <a:noFill/>
            <a:prstDash val="solid"/>
            <a:miter lim="800000"/>
          </a:ln>
          <a:effectLst>
            <a:outerShdw blurRad="63500" dist="63500" dir="2400000" algn="ctr" rotWithShape="0">
              <a:srgbClr val="454142">
                <a:alpha val="20000"/>
              </a:srgbClr>
            </a:outerShdw>
          </a:effectLst>
        </p:spPr>
        <p:txBody>
          <a:bodyPr lIns="182880" tIns="0" rIns="182880" rtlCol="0" anchor="ctr" anchorCtr="0"/>
          <a:lstStyle/>
          <a:p>
            <a:pPr marL="0" marR="0" lvl="0" indent="0" algn="ctr" defTabSz="914400" rtl="0" eaLnBrk="1" fontAlgn="auto" latinLnBrk="0" hangingPunct="1">
              <a:lnSpc>
                <a:spcPct val="100000"/>
              </a:lnSpc>
              <a:spcBef>
                <a:spcPts val="0"/>
              </a:spcBef>
              <a:spcAft>
                <a:spcPts val="3000"/>
              </a:spcAft>
              <a:buClrTx/>
              <a:buSzTx/>
              <a:buFont typeface="Wingdings" panose="05000000000000000000" pitchFamily="2" charset="2"/>
              <a:buNone/>
              <a:tabLst/>
              <a:defRPr/>
            </a:pPr>
            <a:r>
              <a:rPr kumimoji="0" lang="en-US" sz="18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Batch </a:t>
            </a:r>
          </a:p>
        </p:txBody>
      </p:sp>
      <p:graphicFrame>
        <p:nvGraphicFramePr>
          <p:cNvPr id="11" name="Table 10">
            <a:extLst>
              <a:ext uri="{FF2B5EF4-FFF2-40B4-BE49-F238E27FC236}">
                <a16:creationId xmlns:a16="http://schemas.microsoft.com/office/drawing/2014/main" id="{C39D7C1C-C8D0-B70D-7339-2C4D2DDF457E}"/>
              </a:ext>
            </a:extLst>
          </p:cNvPr>
          <p:cNvGraphicFramePr>
            <a:graphicFrameLocks noGrp="1"/>
          </p:cNvGraphicFramePr>
          <p:nvPr/>
        </p:nvGraphicFramePr>
        <p:xfrm>
          <a:off x="546766" y="1885657"/>
          <a:ext cx="11073384" cy="4216400"/>
        </p:xfrm>
        <a:graphic>
          <a:graphicData uri="http://schemas.openxmlformats.org/drawingml/2006/table">
            <a:tbl>
              <a:tblPr firstRow="1" bandRow="1"/>
              <a:tblGrid>
                <a:gridCol w="3593592">
                  <a:extLst>
                    <a:ext uri="{9D8B030D-6E8A-4147-A177-3AD203B41FA5}">
                      <a16:colId xmlns:a16="http://schemas.microsoft.com/office/drawing/2014/main" val="1641213347"/>
                    </a:ext>
                  </a:extLst>
                </a:gridCol>
                <a:gridCol w="146304">
                  <a:extLst>
                    <a:ext uri="{9D8B030D-6E8A-4147-A177-3AD203B41FA5}">
                      <a16:colId xmlns:a16="http://schemas.microsoft.com/office/drawing/2014/main" val="2615979645"/>
                    </a:ext>
                  </a:extLst>
                </a:gridCol>
                <a:gridCol w="3593592">
                  <a:extLst>
                    <a:ext uri="{9D8B030D-6E8A-4147-A177-3AD203B41FA5}">
                      <a16:colId xmlns:a16="http://schemas.microsoft.com/office/drawing/2014/main" val="3565202699"/>
                    </a:ext>
                  </a:extLst>
                </a:gridCol>
                <a:gridCol w="146304">
                  <a:extLst>
                    <a:ext uri="{9D8B030D-6E8A-4147-A177-3AD203B41FA5}">
                      <a16:colId xmlns:a16="http://schemas.microsoft.com/office/drawing/2014/main" val="1367412395"/>
                    </a:ext>
                  </a:extLst>
                </a:gridCol>
                <a:gridCol w="3593592">
                  <a:extLst>
                    <a:ext uri="{9D8B030D-6E8A-4147-A177-3AD203B41FA5}">
                      <a16:colId xmlns:a16="http://schemas.microsoft.com/office/drawing/2014/main" val="1700044975"/>
                    </a:ext>
                  </a:extLst>
                </a:gridCol>
              </a:tblGrid>
              <a:tr h="0">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231775" lvl="0" indent="-231775" algn="l" defTabSz="932742" rtl="0" eaLnBrk="1" latinLnBrk="0" hangingPunct="1">
                        <a:spcBef>
                          <a:spcPts val="960"/>
                        </a:spcBef>
                        <a:buClr>
                          <a:srgbClr val="49C5B1"/>
                        </a:buClr>
                        <a:buFont typeface="Arial" panose="020B0604020202020204" pitchFamily="34" charset="0"/>
                        <a:buChar char="•"/>
                      </a:pPr>
                      <a:r>
                        <a:rPr lang="en-US" sz="1600" kern="1200">
                          <a:solidFill>
                            <a:schemeClr val="tx1"/>
                          </a:solidFill>
                          <a:latin typeface="+mn-lt"/>
                          <a:ea typeface="+mn-ea"/>
                          <a:cs typeface="+mn-cs"/>
                        </a:rPr>
                        <a:t>Ideal for most use cases</a:t>
                      </a:r>
                    </a:p>
                  </a:txBody>
                  <a:tcPr marL="137160" marR="137160" marT="137160" marB="137160">
                    <a:lnL w="12700" cmpd="sng">
                      <a:noFill/>
                    </a:lnL>
                    <a:lnR w="12700" cap="flat" cmpd="sng" algn="ctr">
                      <a:noFill/>
                      <a:prstDash val="solid"/>
                      <a:round/>
                      <a:headEnd type="none" w="med" len="med"/>
                      <a:tailEnd type="none" w="med" len="med"/>
                    </a:lnR>
                    <a:lnT w="38100" cmpd="sng">
                      <a:noFill/>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endParaRPr lang="en-US" sz="1600">
                        <a:latin typeface="Segoe Sans Text" pitchFamily="2" charset="0"/>
                      </a:endParaRPr>
                    </a:p>
                  </a:txBody>
                  <a:tcPr marL="0" marR="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231775" indent="-231775" algn="l" defTabSz="932742" rtl="0" eaLnBrk="1" latinLnBrk="0" hangingPunct="1">
                        <a:spcBef>
                          <a:spcPts val="960"/>
                        </a:spcBef>
                        <a:buClr>
                          <a:schemeClr val="accent1"/>
                        </a:buClr>
                        <a:buFont typeface="Arial" panose="020B0604020202020204" pitchFamily="34" charset="0"/>
                        <a:buChar char="•"/>
                      </a:pPr>
                      <a:r>
                        <a:rPr lang="en-US" sz="1600" kern="1200">
                          <a:solidFill>
                            <a:schemeClr val="tx1"/>
                          </a:solidFill>
                          <a:latin typeface="+mn-lt"/>
                          <a:ea typeface="+mn-ea"/>
                          <a:cs typeface="+mn-cs"/>
                        </a:rPr>
                        <a:t>Easy access with high and </a:t>
                      </a:r>
                      <a:br>
                        <a:rPr lang="en-US" sz="1600" kern="1200">
                          <a:solidFill>
                            <a:schemeClr val="tx1"/>
                          </a:solidFill>
                          <a:latin typeface="+mn-lt"/>
                          <a:ea typeface="+mn-ea"/>
                          <a:cs typeface="+mn-cs"/>
                        </a:rPr>
                      </a:br>
                      <a:r>
                        <a:rPr lang="en-US" sz="1600" kern="1200">
                          <a:solidFill>
                            <a:schemeClr val="tx1"/>
                          </a:solidFill>
                          <a:latin typeface="+mn-lt"/>
                          <a:ea typeface="+mn-ea"/>
                          <a:cs typeface="+mn-cs"/>
                        </a:rPr>
                        <a:t>predictable throughput</a:t>
                      </a:r>
                    </a:p>
                  </a:txBody>
                  <a:tcPr marL="137160" marR="137160" marT="137160" marB="137160">
                    <a:lnL w="12700" cap="flat" cmpd="sng" algn="ctr">
                      <a:noFill/>
                      <a:prstDash val="solid"/>
                      <a:round/>
                      <a:headEnd type="none" w="med" len="med"/>
                      <a:tailEnd type="none" w="med" len="med"/>
                    </a:lnL>
                    <a:lnR w="12700" cmpd="sng">
                      <a:noFill/>
                    </a:lnR>
                    <a:lnT w="38100" cmpd="sng">
                      <a:noFill/>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0" marR="0" marT="137160" marB="137160">
                    <a:lnL w="12700" cap="flat" cmpd="sng" algn="ctr">
                      <a:noFill/>
                      <a:prstDash val="solid"/>
                      <a:round/>
                      <a:headEnd type="none" w="med" len="med"/>
                      <a:tailEnd type="none" w="med" len="med"/>
                    </a:lnL>
                    <a:lnR w="12700" cmpd="sng">
                      <a:noFill/>
                    </a:lnR>
                    <a:lnT w="38100" cmpd="sng">
                      <a:noFill/>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1775" indent="-231775" algn="l" rtl="0" eaLnBrk="1" latinLnBrk="0" hangingPunct="1">
                        <a:spcBef>
                          <a:spcPts val="960"/>
                        </a:spcBef>
                        <a:buClr>
                          <a:schemeClr val="accent2"/>
                        </a:buClr>
                        <a:buFont typeface="Arial" panose="020B0604020202020204" pitchFamily="34" charset="0"/>
                        <a:buChar char="•"/>
                      </a:pPr>
                      <a:r>
                        <a:rPr lang="en-US" sz="1600" kern="1200">
                          <a:solidFill>
                            <a:schemeClr val="tx1"/>
                          </a:solidFill>
                          <a:latin typeface="+mn-lt"/>
                          <a:ea typeface="+mn-ea"/>
                          <a:cs typeface="+mn-cs"/>
                        </a:rPr>
                        <a:t>Lower cost processing of large volumes of data</a:t>
                      </a:r>
                    </a:p>
                  </a:txBody>
                  <a:tcPr marL="137160" marR="137160" marT="137160" marB="137160">
                    <a:lnL w="12700" cap="flat" cmpd="sng" algn="ctr">
                      <a:noFill/>
                      <a:prstDash val="solid"/>
                      <a:round/>
                      <a:headEnd type="none" w="med" len="med"/>
                      <a:tailEnd type="none" w="med" len="med"/>
                    </a:lnL>
                    <a:lnR w="12700" cmpd="sng">
                      <a:noFill/>
                    </a:lnR>
                    <a:lnT w="38100" cmpd="sng">
                      <a:noFill/>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307396"/>
                  </a:ext>
                </a:extLst>
              </a:tr>
              <a:tr h="0">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231775" lvl="0" indent="-231775" algn="l" defTabSz="932742" rtl="0" eaLnBrk="1" latinLnBrk="0" hangingPunct="1">
                        <a:spcBef>
                          <a:spcPts val="960"/>
                        </a:spcBef>
                        <a:buClr>
                          <a:srgbClr val="49C5B1"/>
                        </a:buClr>
                        <a:buFont typeface="Arial" panose="020B0604020202020204" pitchFamily="34" charset="0"/>
                        <a:buChar char="•"/>
                      </a:pPr>
                      <a:r>
                        <a:rPr lang="en-US" sz="1600" kern="1200">
                          <a:solidFill>
                            <a:schemeClr val="tx1"/>
                          </a:solidFill>
                          <a:latin typeface="+mn-lt"/>
                          <a:ea typeface="+mn-ea"/>
                          <a:cs typeface="+mn-cs"/>
                        </a:rPr>
                        <a:t>Easy to get started and scale up </a:t>
                      </a:r>
                      <a:br>
                        <a:rPr lang="en-US" sz="1600" kern="1200">
                          <a:solidFill>
                            <a:schemeClr val="tx1"/>
                          </a:solidFill>
                          <a:latin typeface="+mn-lt"/>
                          <a:ea typeface="+mn-ea"/>
                          <a:cs typeface="+mn-cs"/>
                        </a:rPr>
                      </a:br>
                      <a:r>
                        <a:rPr lang="en-US" sz="1600" kern="1200">
                          <a:solidFill>
                            <a:schemeClr val="tx1"/>
                          </a:solidFill>
                          <a:latin typeface="+mn-lt"/>
                          <a:ea typeface="+mn-ea"/>
                          <a:cs typeface="+mn-cs"/>
                        </a:rPr>
                        <a:t>to production</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endParaRPr lang="en-US" sz="1600">
                        <a:latin typeface="Segoe Sans Text" pitchFamily="2" charset="0"/>
                      </a:endParaRPr>
                    </a:p>
                  </a:txBody>
                  <a:tcPr marL="0" marR="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231775" indent="-231775" algn="l" defTabSz="932742" rtl="0" eaLnBrk="1" latinLnBrk="0" hangingPunct="1">
                        <a:spcBef>
                          <a:spcPts val="960"/>
                        </a:spcBef>
                        <a:buClr>
                          <a:schemeClr val="accent1"/>
                        </a:buClr>
                        <a:buFont typeface="Arial" panose="020B0604020202020204" pitchFamily="34" charset="0"/>
                        <a:buChar char="•"/>
                      </a:pPr>
                      <a:r>
                        <a:rPr lang="en-US" sz="1600" kern="1200">
                          <a:solidFill>
                            <a:schemeClr val="tx1"/>
                          </a:solidFill>
                          <a:latin typeface="+mn-lt"/>
                          <a:ea typeface="+mn-ea"/>
                          <a:cs typeface="+mn-cs"/>
                        </a:rPr>
                        <a:t>Real-time scoring for large consistent volume</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1775" indent="-231775" algn="l" defTabSz="914400" rtl="0" eaLnBrk="1" latinLnBrk="0" hangingPunct="1">
                        <a:buClr>
                          <a:schemeClr val="accent6"/>
                        </a:buClr>
                        <a:buFont typeface="Arial" panose="020B0604020202020204" pitchFamily="34" charset="0"/>
                        <a:buChar char="•"/>
                      </a:pPr>
                      <a:endParaRPr lang="en-US" sz="1600" kern="1200">
                        <a:solidFill>
                          <a:schemeClr val="tx1"/>
                        </a:solidFill>
                        <a:latin typeface="Segoe Sans Text"/>
                        <a:ea typeface="+mn-ea"/>
                        <a:cs typeface="+mn-cs"/>
                      </a:endParaRPr>
                    </a:p>
                  </a:txBody>
                  <a:tcPr marL="0" marR="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1775" indent="-231775" algn="l" defTabSz="932742" rtl="0" eaLnBrk="1" latinLnBrk="0" hangingPunct="1">
                        <a:spcBef>
                          <a:spcPts val="960"/>
                        </a:spcBef>
                        <a:buClr>
                          <a:schemeClr val="accent2"/>
                        </a:buClr>
                        <a:buFont typeface="Arial" panose="020B0604020202020204" pitchFamily="34" charset="0"/>
                        <a:buChar char="•"/>
                      </a:pPr>
                      <a:r>
                        <a:rPr lang="en-US" sz="1600" kern="1200">
                          <a:solidFill>
                            <a:schemeClr val="tx1"/>
                          </a:solidFill>
                          <a:latin typeface="+mn-lt"/>
                          <a:ea typeface="+mn-ea"/>
                          <a:cs typeface="+mn-cs"/>
                        </a:rPr>
                        <a:t>Scalable to handle varying workloads </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217805"/>
                  </a:ext>
                </a:extLst>
              </a:tr>
              <a:tr h="0">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231775" lvl="0" indent="-231775" algn="l">
                        <a:spcBef>
                          <a:spcPts val="960"/>
                        </a:spcBef>
                        <a:buClr>
                          <a:srgbClr val="49C5B1"/>
                        </a:buClr>
                        <a:buFont typeface="Arial" panose="020B0604020202020204" pitchFamily="34" charset="0"/>
                        <a:buChar char="•"/>
                      </a:pPr>
                      <a:r>
                        <a:rPr lang="en-US" sz="1600" kern="1200">
                          <a:solidFill>
                            <a:schemeClr val="tx1"/>
                          </a:solidFill>
                          <a:latin typeface="+mn-lt"/>
                          <a:ea typeface="+mn-ea"/>
                          <a:cs typeface="+mn-cs"/>
                        </a:rPr>
                        <a:t>Cost-effective for low to medium scale deployments</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endParaRPr lang="en-US" sz="1600">
                        <a:latin typeface="Segoe Sans Text" pitchFamily="2" charset="0"/>
                      </a:endParaRPr>
                    </a:p>
                  </a:txBody>
                  <a:tcPr marL="0" marR="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231775" indent="-231775" algn="l" defTabSz="932742" rtl="0" eaLnBrk="1" latinLnBrk="0" hangingPunct="1">
                        <a:spcBef>
                          <a:spcPts val="960"/>
                        </a:spcBef>
                        <a:buClr>
                          <a:schemeClr val="accent1"/>
                        </a:buClr>
                        <a:buFont typeface="Arial" panose="020B0604020202020204" pitchFamily="34" charset="0"/>
                        <a:buChar char="•"/>
                      </a:pPr>
                      <a:r>
                        <a:rPr lang="en-US" sz="1600" kern="1200">
                          <a:solidFill>
                            <a:schemeClr val="tx1"/>
                          </a:solidFill>
                          <a:latin typeface="+mn-lt"/>
                          <a:ea typeface="+mn-ea"/>
                          <a:cs typeface="+mn-cs"/>
                        </a:rPr>
                        <a:t>Cost effective for large-scale deployments</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1775" indent="-231775" algn="l" defTabSz="914400" rtl="0" eaLnBrk="1" latinLnBrk="0" hangingPunct="1">
                        <a:buClr>
                          <a:schemeClr val="accent6"/>
                        </a:buClr>
                        <a:buFont typeface="Arial" panose="020B0604020202020204" pitchFamily="34" charset="0"/>
                        <a:buChar char="•"/>
                      </a:pPr>
                      <a:endParaRPr lang="en-US" sz="1600" kern="1200">
                        <a:solidFill>
                          <a:schemeClr val="tx1"/>
                        </a:solidFill>
                        <a:latin typeface="Segoe Sans Text"/>
                        <a:ea typeface="+mn-ea"/>
                        <a:cs typeface="+mn-cs"/>
                      </a:endParaRPr>
                    </a:p>
                  </a:txBody>
                  <a:tcPr marL="0" marR="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1775" indent="-231775" algn="l" defTabSz="932742" rtl="0" eaLnBrk="1" latinLnBrk="0" hangingPunct="1">
                        <a:spcBef>
                          <a:spcPts val="960"/>
                        </a:spcBef>
                        <a:buClr>
                          <a:schemeClr val="accent2"/>
                        </a:buClr>
                        <a:buFont typeface="Arial" panose="020B0604020202020204" pitchFamily="34" charset="0"/>
                        <a:buChar char="•"/>
                      </a:pPr>
                      <a:r>
                        <a:rPr lang="en-US" sz="1600" kern="1200">
                          <a:solidFill>
                            <a:schemeClr val="tx1"/>
                          </a:solidFill>
                          <a:latin typeface="+mn-lt"/>
                          <a:ea typeface="+mn-ea"/>
                          <a:cs typeface="+mn-cs"/>
                        </a:rPr>
                        <a:t>Cost-effective for large-scale deployments</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2308548"/>
                  </a:ext>
                </a:extLst>
              </a:tr>
              <a:tr h="0">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0" marR="0" lvl="0" indent="0" algn="l" defTabSz="932742" rtl="0" eaLnBrk="1" fontAlgn="auto" latinLnBrk="0" hangingPunct="1">
                        <a:lnSpc>
                          <a:spcPct val="100000"/>
                        </a:lnSpc>
                        <a:spcBef>
                          <a:spcPct val="20000"/>
                        </a:spcBef>
                        <a:spcAft>
                          <a:spcPts val="0"/>
                        </a:spcAft>
                        <a:buClr>
                          <a:schemeClr val="accent6"/>
                        </a:buClr>
                        <a:buSzPct val="80000"/>
                        <a:buFont typeface="Wingdings" pitchFamily="2" charset="77"/>
                        <a:buNone/>
                        <a:tabLst/>
                        <a:defRPr/>
                      </a:pPr>
                      <a:r>
                        <a:rPr kumimoji="0" lang="en-US" sz="1200" b="0" i="0" u="none" strike="noStrike" kern="1200" cap="none" spc="300" normalizeH="0" baseline="0">
                          <a:ln>
                            <a:noFill/>
                          </a:ln>
                          <a:solidFill>
                            <a:schemeClr val="accent3"/>
                          </a:solidFill>
                          <a:effectLst/>
                          <a:uLnTx/>
                          <a:uFillTx/>
                          <a:latin typeface="+mj-lt"/>
                          <a:ea typeface="+mn-ea"/>
                          <a:cs typeface="Segoe Sans Text"/>
                        </a:rPr>
                        <a:t>GOOD FOR:</a:t>
                      </a:r>
                    </a:p>
                    <a:p>
                      <a:pPr marL="231775" indent="-231775">
                        <a:spcBef>
                          <a:spcPts val="480"/>
                        </a:spcBef>
                        <a:spcAft>
                          <a:spcPts val="0"/>
                        </a:spcAft>
                        <a:buClr>
                          <a:srgbClr val="49C5B1"/>
                        </a:buClr>
                        <a:buSzPct val="100000"/>
                        <a:buFont typeface="Wingdings" pitchFamily="2" charset="77"/>
                        <a:buChar char="ü"/>
                      </a:pPr>
                      <a:r>
                        <a:rPr lang="en-US" sz="1600">
                          <a:latin typeface="Segoe Sans Text"/>
                        </a:rPr>
                        <a:t>Production workloads </a:t>
                      </a:r>
                    </a:p>
                    <a:p>
                      <a:pPr marL="231775" lvl="0" indent="-231775">
                        <a:spcBef>
                          <a:spcPts val="480"/>
                        </a:spcBef>
                        <a:spcAft>
                          <a:spcPts val="0"/>
                        </a:spcAft>
                        <a:buClr>
                          <a:srgbClr val="49C5B1"/>
                        </a:buClr>
                        <a:buSzPct val="100000"/>
                        <a:buFont typeface="Wingdings" pitchFamily="2" charset="77"/>
                        <a:buChar char="ü"/>
                        <a:tabLst/>
                      </a:pPr>
                      <a:r>
                        <a:rPr lang="en-US" sz="1600">
                          <a:latin typeface="Segoe Sans Text"/>
                        </a:rPr>
                        <a:t>Development and testing</a:t>
                      </a:r>
                      <a:endParaRPr lang="en-US">
                        <a:latin typeface="Segoe Sans Text" pitchFamily="2" charset="0"/>
                      </a:endParaRPr>
                    </a:p>
                    <a:p>
                      <a:pPr marL="231775" lvl="0" indent="-231775">
                        <a:spcBef>
                          <a:spcPts val="480"/>
                        </a:spcBef>
                        <a:spcAft>
                          <a:spcPts val="0"/>
                        </a:spcAft>
                        <a:buClr>
                          <a:srgbClr val="49C5B1"/>
                        </a:buClr>
                        <a:buSzPct val="100000"/>
                        <a:buFont typeface="Wingdings" pitchFamily="2" charset="77"/>
                        <a:buChar char="ü"/>
                        <a:tabLst/>
                      </a:pPr>
                      <a:r>
                        <a:rPr lang="en-US" sz="1600">
                          <a:latin typeface="Segoe Sans Text"/>
                        </a:rPr>
                        <a:t>Prototyping and proof of concept</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endParaRPr lang="en-US" sz="1600">
                        <a:latin typeface="Segoe Sans Text" pitchFamily="2" charset="0"/>
                      </a:endParaRPr>
                    </a:p>
                  </a:txBody>
                  <a:tcPr marL="0" marR="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0" marR="0" lvl="0" indent="0" algn="l" defTabSz="932742" rtl="0" eaLnBrk="1" fontAlgn="auto" latinLnBrk="0" hangingPunct="1">
                        <a:lnSpc>
                          <a:spcPct val="100000"/>
                        </a:lnSpc>
                        <a:spcBef>
                          <a:spcPct val="20000"/>
                        </a:spcBef>
                        <a:spcAft>
                          <a:spcPts val="0"/>
                        </a:spcAft>
                        <a:buClr>
                          <a:schemeClr val="accent6"/>
                        </a:buClr>
                        <a:buSzPct val="80000"/>
                        <a:buFont typeface="Wingdings" pitchFamily="2" charset="77"/>
                        <a:buNone/>
                        <a:tabLst/>
                        <a:defRPr/>
                      </a:pPr>
                      <a:r>
                        <a:rPr kumimoji="0" lang="en-US" sz="1200" b="0" i="0" u="none" strike="noStrike" kern="1200" cap="none" spc="300" normalizeH="0" baseline="0">
                          <a:ln>
                            <a:noFill/>
                          </a:ln>
                          <a:solidFill>
                            <a:schemeClr val="tx2"/>
                          </a:solidFill>
                          <a:effectLst/>
                          <a:uLnTx/>
                          <a:uFillTx/>
                          <a:latin typeface="+mj-lt"/>
                          <a:ea typeface="+mn-ea"/>
                          <a:cs typeface="Segoe Sans Text"/>
                        </a:rPr>
                        <a:t>RECOMMENDED FOR:</a:t>
                      </a:r>
                    </a:p>
                    <a:p>
                      <a:pPr marL="231775" indent="-231775" algn="l" defTabSz="932742" rtl="0" eaLnBrk="1" latinLnBrk="0" hangingPunct="1">
                        <a:spcBef>
                          <a:spcPts val="480"/>
                        </a:spcBef>
                        <a:spcAft>
                          <a:spcPts val="0"/>
                        </a:spcAft>
                        <a:buClr>
                          <a:schemeClr val="accent1"/>
                        </a:buClr>
                        <a:buSzPct val="100000"/>
                        <a:buFont typeface="Wingdings" pitchFamily="2" charset="77"/>
                        <a:buChar char="ü"/>
                        <a:tabLst/>
                      </a:pPr>
                      <a:r>
                        <a:rPr lang="en-US" sz="1600" kern="1200">
                          <a:solidFill>
                            <a:schemeClr val="dk1"/>
                          </a:solidFill>
                          <a:latin typeface="Segoe Sans Text"/>
                          <a:ea typeface="+mn-ea"/>
                          <a:cs typeface="+mn-cs"/>
                        </a:rPr>
                        <a:t>Production workloads</a:t>
                      </a:r>
                    </a:p>
                    <a:p>
                      <a:pPr marL="231775" indent="-231775" algn="l" defTabSz="932742" rtl="0" eaLnBrk="1" latinLnBrk="0" hangingPunct="1">
                        <a:spcBef>
                          <a:spcPts val="480"/>
                        </a:spcBef>
                        <a:spcAft>
                          <a:spcPts val="0"/>
                        </a:spcAft>
                        <a:buClr>
                          <a:schemeClr val="accent1"/>
                        </a:buClr>
                        <a:buSzPct val="100000"/>
                        <a:buFont typeface="Wingdings" pitchFamily="2" charset="77"/>
                        <a:buChar char="ü"/>
                        <a:tabLst/>
                      </a:pPr>
                      <a:r>
                        <a:rPr lang="en-US" sz="1600" kern="1200">
                          <a:solidFill>
                            <a:schemeClr val="dk1"/>
                          </a:solidFill>
                          <a:latin typeface="Segoe Sans Text"/>
                          <a:ea typeface="+mn-ea"/>
                          <a:cs typeface="+mn-cs"/>
                        </a:rPr>
                        <a:t>High volume data processing</a:t>
                      </a:r>
                    </a:p>
                    <a:p>
                      <a:pPr marL="231775" indent="-231775" algn="l" defTabSz="932742" rtl="0" eaLnBrk="1" latinLnBrk="0" hangingPunct="1">
                        <a:spcBef>
                          <a:spcPts val="480"/>
                        </a:spcBef>
                        <a:spcAft>
                          <a:spcPts val="0"/>
                        </a:spcAft>
                        <a:buClr>
                          <a:schemeClr val="accent1"/>
                        </a:buClr>
                        <a:buSzPct val="100000"/>
                        <a:buFont typeface="Wingdings" pitchFamily="2" charset="77"/>
                        <a:buChar char="ü"/>
                        <a:tabLst/>
                      </a:pPr>
                      <a:r>
                        <a:rPr lang="en-US" sz="1600" kern="1200">
                          <a:solidFill>
                            <a:schemeClr val="dk1"/>
                          </a:solidFill>
                          <a:latin typeface="Segoe Sans Text"/>
                          <a:ea typeface="+mn-ea"/>
                          <a:cs typeface="+mn-cs"/>
                        </a:rPr>
                        <a:t>Throughput heavy workloads</a:t>
                      </a:r>
                    </a:p>
                    <a:p>
                      <a:pPr marL="231775" indent="-231775" algn="l" defTabSz="932742" rtl="0" eaLnBrk="1" latinLnBrk="0" hangingPunct="1">
                        <a:spcBef>
                          <a:spcPts val="480"/>
                        </a:spcBef>
                        <a:spcAft>
                          <a:spcPts val="0"/>
                        </a:spcAft>
                        <a:buClr>
                          <a:schemeClr val="accent1"/>
                        </a:buClr>
                        <a:buSzPct val="100000"/>
                        <a:buFont typeface="Wingdings" pitchFamily="2" charset="77"/>
                        <a:buChar char="ü"/>
                        <a:tabLst/>
                      </a:pPr>
                      <a:r>
                        <a:rPr lang="en-US" sz="1600" kern="1200">
                          <a:solidFill>
                            <a:schemeClr val="dk1"/>
                          </a:solidFill>
                          <a:latin typeface="Segoe Sans Text"/>
                          <a:ea typeface="+mn-ea"/>
                          <a:cs typeface="+mn-cs"/>
                        </a:rPr>
                        <a:t>Real-time applications with minimal latency</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1775" indent="-231775" algn="l" defTabSz="914400" rtl="0" eaLnBrk="1" latinLnBrk="0" hangingPunct="1">
                        <a:buClr>
                          <a:schemeClr val="accent6"/>
                        </a:buClr>
                        <a:buFont typeface="Arial" panose="020B0604020202020204" pitchFamily="34" charset="0"/>
                        <a:buChar char="•"/>
                      </a:pPr>
                      <a:endParaRPr lang="en-US" sz="1600" kern="1200">
                        <a:solidFill>
                          <a:schemeClr val="tx1"/>
                        </a:solidFill>
                        <a:latin typeface="Segoe Sans Text"/>
                        <a:ea typeface="+mn-ea"/>
                        <a:cs typeface="+mn-cs"/>
                      </a:endParaRPr>
                    </a:p>
                  </a:txBody>
                  <a:tcPr marL="0" marR="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32742" rtl="0" eaLnBrk="1" latinLnBrk="0" hangingPunct="1">
                        <a:spcAft>
                          <a:spcPts val="0"/>
                        </a:spcAft>
                        <a:buClr>
                          <a:schemeClr val="accent6"/>
                        </a:buClr>
                        <a:buSzPct val="80000"/>
                        <a:buFont typeface="Wingdings" pitchFamily="2" charset="77"/>
                        <a:buNone/>
                        <a:tabLst/>
                      </a:pPr>
                      <a:r>
                        <a:rPr kumimoji="0" lang="en-US" sz="1200" b="0" i="0" u="none" strike="noStrike" kern="1200" cap="none" spc="300" normalizeH="0" baseline="0">
                          <a:ln>
                            <a:noFill/>
                          </a:ln>
                          <a:solidFill>
                            <a:schemeClr val="accent2"/>
                          </a:solidFill>
                          <a:effectLst/>
                          <a:uLnTx/>
                          <a:uFillTx/>
                          <a:latin typeface="+mj-lt"/>
                          <a:ea typeface="+mn-ea"/>
                          <a:cs typeface="Segoe Sans Text"/>
                        </a:rPr>
                        <a:t>RECOMMENDED FOR:</a:t>
                      </a:r>
                    </a:p>
                    <a:p>
                      <a:pPr marL="231775" indent="-231775" algn="l" defTabSz="932742" rtl="0" eaLnBrk="1" latinLnBrk="0" hangingPunct="1">
                        <a:spcBef>
                          <a:spcPts val="480"/>
                        </a:spcBef>
                        <a:spcAft>
                          <a:spcPts val="0"/>
                        </a:spcAft>
                        <a:buClr>
                          <a:schemeClr val="accent2"/>
                        </a:buClr>
                        <a:buSzPct val="100000"/>
                        <a:buFont typeface="Wingdings" pitchFamily="2" charset="77"/>
                        <a:buChar char="ü"/>
                        <a:tabLst/>
                      </a:pPr>
                      <a:r>
                        <a:rPr lang="en-US" sz="1600" kern="1200">
                          <a:solidFill>
                            <a:schemeClr val="dk1"/>
                          </a:solidFill>
                          <a:latin typeface="Segoe Sans Text"/>
                          <a:ea typeface="+mn-ea"/>
                          <a:cs typeface="+mn-cs"/>
                        </a:rPr>
                        <a:t>Large-scale data processing</a:t>
                      </a:r>
                    </a:p>
                    <a:p>
                      <a:pPr marL="231775" indent="-231775" algn="l" defTabSz="932742" rtl="0" eaLnBrk="1" latinLnBrk="0" hangingPunct="1">
                        <a:spcBef>
                          <a:spcPts val="480"/>
                        </a:spcBef>
                        <a:spcAft>
                          <a:spcPts val="0"/>
                        </a:spcAft>
                        <a:buClr>
                          <a:schemeClr val="accent2"/>
                        </a:buClr>
                        <a:buSzPct val="100000"/>
                        <a:buFont typeface="Wingdings" pitchFamily="2" charset="77"/>
                        <a:buChar char="ü"/>
                        <a:tabLst/>
                      </a:pPr>
                      <a:r>
                        <a:rPr lang="en-US" sz="1600" kern="1200">
                          <a:solidFill>
                            <a:schemeClr val="dk1"/>
                          </a:solidFill>
                          <a:latin typeface="Segoe Sans Text"/>
                          <a:ea typeface="+mn-ea"/>
                          <a:cs typeface="+mn-cs"/>
                        </a:rPr>
                        <a:t>Generate large volumes of content Transforming data at scale</a:t>
                      </a:r>
                    </a:p>
                    <a:p>
                      <a:pPr marL="231775" indent="-231775" algn="l" defTabSz="932742" rtl="0" eaLnBrk="1" latinLnBrk="0" hangingPunct="1">
                        <a:spcBef>
                          <a:spcPts val="480"/>
                        </a:spcBef>
                        <a:spcAft>
                          <a:spcPts val="0"/>
                        </a:spcAft>
                        <a:buClr>
                          <a:schemeClr val="accent2"/>
                        </a:buClr>
                        <a:buSzPct val="100000"/>
                        <a:buFont typeface="Wingdings" pitchFamily="2" charset="77"/>
                        <a:buChar char="ü"/>
                        <a:tabLst/>
                      </a:pPr>
                      <a:r>
                        <a:rPr lang="en-US" sz="1600" kern="1200">
                          <a:solidFill>
                            <a:schemeClr val="dk1"/>
                          </a:solidFill>
                          <a:latin typeface="Segoe Sans Text"/>
                          <a:ea typeface="+mn-ea"/>
                          <a:cs typeface="+mn-cs"/>
                        </a:rPr>
                        <a:t>Evaluate LLM models and assess comprehensive performance </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2857371"/>
                  </a:ext>
                </a:extLst>
              </a:tr>
            </a:tbl>
          </a:graphicData>
        </a:graphic>
      </p:graphicFrame>
    </p:spTree>
    <p:extLst>
      <p:ext uri="{BB962C8B-B14F-4D97-AF65-F5344CB8AC3E}">
        <p14:creationId xmlns:p14="http://schemas.microsoft.com/office/powerpoint/2010/main" val="114515573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12FB07-0F3B-6ADE-029A-A976F66AE241}"/>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1EE17AC8-A46F-BDF0-791B-F88066CDB6B1}"/>
              </a:ext>
            </a:extLst>
          </p:cNvPr>
          <p:cNvSpPr>
            <a:spLocks noGrp="1"/>
          </p:cNvSpPr>
          <p:nvPr>
            <p:ph type="title"/>
          </p:nvPr>
        </p:nvSpPr>
        <p:spPr>
          <a:xfrm>
            <a:off x="588263" y="457200"/>
            <a:ext cx="11018520" cy="553998"/>
          </a:xfrm>
        </p:spPr>
        <p:txBody>
          <a:bodyPr/>
          <a:lstStyle/>
          <a:p>
            <a:pPr algn="ctr"/>
            <a:r>
              <a:rPr lang="en-US"/>
              <a:t>Choosing the best deployment location </a:t>
            </a:r>
          </a:p>
        </p:txBody>
      </p:sp>
      <p:sp>
        <p:nvSpPr>
          <p:cNvPr id="12" name="Rounded Rectangle 6">
            <a:extLst>
              <a:ext uri="{FF2B5EF4-FFF2-40B4-BE49-F238E27FC236}">
                <a16:creationId xmlns:a16="http://schemas.microsoft.com/office/drawing/2014/main" id="{4FB208E0-220E-9C8C-BD6B-574684D62BFB}"/>
              </a:ext>
              <a:ext uri="{C183D7F6-B498-43B3-948B-1728B52AA6E4}">
                <adec:decorative xmlns:adec="http://schemas.microsoft.com/office/drawing/2017/decorative" val="1"/>
              </a:ext>
            </a:extLst>
          </p:cNvPr>
          <p:cNvSpPr/>
          <p:nvPr/>
        </p:nvSpPr>
        <p:spPr>
          <a:xfrm>
            <a:off x="571500" y="1433763"/>
            <a:ext cx="3590803" cy="434363"/>
          </a:xfrm>
          <a:prstGeom prst="roundRect">
            <a:avLst>
              <a:gd name="adj" fmla="val 50000"/>
            </a:avLst>
          </a:prstGeom>
          <a:gradFill>
            <a:gsLst>
              <a:gs pos="0">
                <a:schemeClr val="accent2"/>
              </a:gs>
              <a:gs pos="100000">
                <a:srgbClr val="0077D3"/>
              </a:gs>
            </a:gsLst>
            <a:lin ang="2700000" scaled="0"/>
          </a:gradFill>
          <a:ln w="19050" cap="flat" cmpd="sng" algn="ctr">
            <a:noFill/>
            <a:prstDash val="solid"/>
            <a:miter lim="800000"/>
          </a:ln>
          <a:effectLst>
            <a:outerShdw blurRad="63500" dist="63500" dir="2400000" algn="ctr" rotWithShape="0">
              <a:srgbClr val="454142">
                <a:alpha val="20000"/>
              </a:srgbClr>
            </a:outerShdw>
          </a:effectLst>
        </p:spPr>
        <p:txBody>
          <a:bodyPr lIns="182880" tIns="0" rIns="182880" rtlCol="0" anchor="ctr" anchorCtr="0"/>
          <a:lstStyle/>
          <a:p>
            <a:pPr marL="0" marR="0" lvl="0" indent="0" algn="ctr" defTabSz="914400" rtl="0" eaLnBrk="1" fontAlgn="auto" latinLnBrk="0" hangingPunct="1">
              <a:lnSpc>
                <a:spcPct val="100000"/>
              </a:lnSpc>
              <a:spcBef>
                <a:spcPts val="0"/>
              </a:spcBef>
              <a:spcAft>
                <a:spcPts val="3000"/>
              </a:spcAft>
              <a:buClrTx/>
              <a:buSzTx/>
              <a:buFont typeface="Wingdings" panose="05000000000000000000" pitchFamily="2" charset="2"/>
              <a:buNone/>
              <a:tabLst/>
              <a:defRPr/>
            </a:pPr>
            <a:r>
              <a:rPr kumimoji="0" lang="en-US" sz="1800" b="0" i="0" u="none" strike="noStrike" kern="1200" cap="none" spc="0" normalizeH="0" baseline="0" noProof="0">
                <a:ln>
                  <a:noFill/>
                </a:ln>
                <a:solidFill>
                  <a:prstClr val="white"/>
                </a:solidFill>
                <a:effectLst/>
                <a:uLnTx/>
                <a:uFillTx/>
                <a:latin typeface="Segoe Sans Text Semibold"/>
                <a:ea typeface="+mn-ea"/>
                <a:cs typeface="Segoe Sans Text" pitchFamily="2" charset="0"/>
              </a:rPr>
              <a:t>Global</a:t>
            </a:r>
          </a:p>
        </p:txBody>
      </p:sp>
      <p:sp>
        <p:nvSpPr>
          <p:cNvPr id="13" name="Rounded Rectangle 6">
            <a:extLst>
              <a:ext uri="{FF2B5EF4-FFF2-40B4-BE49-F238E27FC236}">
                <a16:creationId xmlns:a16="http://schemas.microsoft.com/office/drawing/2014/main" id="{55CD95ED-838A-A667-57F2-7CE28B63B63C}"/>
              </a:ext>
              <a:ext uri="{C183D7F6-B498-43B3-948B-1728B52AA6E4}">
                <adec:decorative xmlns:adec="http://schemas.microsoft.com/office/drawing/2017/decorative" val="1"/>
              </a:ext>
            </a:extLst>
          </p:cNvPr>
          <p:cNvSpPr/>
          <p:nvPr/>
        </p:nvSpPr>
        <p:spPr>
          <a:xfrm>
            <a:off x="4308607" y="1433763"/>
            <a:ext cx="3590803" cy="434363"/>
          </a:xfrm>
          <a:prstGeom prst="roundRect">
            <a:avLst>
              <a:gd name="adj" fmla="val 50000"/>
            </a:avLst>
          </a:prstGeom>
          <a:gradFill>
            <a:gsLst>
              <a:gs pos="0">
                <a:srgbClr val="0077D3"/>
              </a:gs>
              <a:gs pos="100000">
                <a:srgbClr val="48C4B1"/>
              </a:gs>
            </a:gsLst>
            <a:lin ang="2700000" scaled="0"/>
          </a:gradFill>
          <a:ln w="19050" cap="flat" cmpd="sng" algn="ctr">
            <a:noFill/>
            <a:prstDash val="solid"/>
            <a:miter lim="800000"/>
          </a:ln>
          <a:effectLst>
            <a:outerShdw blurRad="63500" dist="63500" dir="2400000" algn="ctr" rotWithShape="0">
              <a:srgbClr val="454142">
                <a:alpha val="20000"/>
              </a:srgbClr>
            </a:outerShdw>
          </a:effectLst>
        </p:spPr>
        <p:txBody>
          <a:bodyPr lIns="182880" tIns="0" rIns="182880" rtlCol="0" anchor="ctr" anchorCtr="0"/>
          <a:lstStyle/>
          <a:p>
            <a:pPr marL="0" marR="0" lvl="0" indent="0" algn="ctr" defTabSz="914400" rtl="0" eaLnBrk="1" fontAlgn="auto" latinLnBrk="0" hangingPunct="1">
              <a:lnSpc>
                <a:spcPct val="100000"/>
              </a:lnSpc>
              <a:spcBef>
                <a:spcPts val="0"/>
              </a:spcBef>
              <a:spcAft>
                <a:spcPts val="3000"/>
              </a:spcAft>
              <a:buClrTx/>
              <a:buSzTx/>
              <a:buFont typeface="Wingdings" panose="05000000000000000000" pitchFamily="2" charset="2"/>
              <a:buNone/>
              <a:tabLst/>
              <a:defRPr/>
            </a:pPr>
            <a:r>
              <a:rPr kumimoji="0" lang="en-US" sz="1800" b="0" i="0" u="none" strike="noStrike" kern="1200" cap="none" spc="0" normalizeH="0" baseline="0" noProof="0">
                <a:ln>
                  <a:noFill/>
                </a:ln>
                <a:solidFill>
                  <a:prstClr val="white"/>
                </a:solidFill>
                <a:effectLst/>
                <a:uLnTx/>
                <a:uFillTx/>
                <a:latin typeface="Segoe Sans Text Semibold"/>
                <a:ea typeface="+mn-ea"/>
                <a:cs typeface="Segoe Sans Text" pitchFamily="2" charset="0"/>
              </a:rPr>
              <a:t>Data Zone</a:t>
            </a:r>
          </a:p>
        </p:txBody>
      </p:sp>
      <p:sp>
        <p:nvSpPr>
          <p:cNvPr id="14" name="Rounded Rectangle 6">
            <a:extLst>
              <a:ext uri="{FF2B5EF4-FFF2-40B4-BE49-F238E27FC236}">
                <a16:creationId xmlns:a16="http://schemas.microsoft.com/office/drawing/2014/main" id="{578CAF3C-9D52-AC2A-162D-2F0E58525A09}"/>
              </a:ext>
              <a:ext uri="{C183D7F6-B498-43B3-948B-1728B52AA6E4}">
                <adec:decorative xmlns:adec="http://schemas.microsoft.com/office/drawing/2017/decorative" val="1"/>
              </a:ext>
            </a:extLst>
          </p:cNvPr>
          <p:cNvSpPr/>
          <p:nvPr/>
        </p:nvSpPr>
        <p:spPr>
          <a:xfrm>
            <a:off x="8045714" y="1433763"/>
            <a:ext cx="3590803" cy="434363"/>
          </a:xfrm>
          <a:prstGeom prst="roundRect">
            <a:avLst>
              <a:gd name="adj" fmla="val 50000"/>
            </a:avLst>
          </a:prstGeom>
          <a:gradFill>
            <a:gsLst>
              <a:gs pos="0">
                <a:srgbClr val="48C4B1"/>
              </a:gs>
              <a:gs pos="100000">
                <a:schemeClr val="accent4"/>
              </a:gs>
            </a:gsLst>
            <a:lin ang="2700000" scaled="0"/>
          </a:gradFill>
          <a:ln w="19050" cap="flat" cmpd="sng" algn="ctr">
            <a:noFill/>
            <a:prstDash val="solid"/>
            <a:miter lim="800000"/>
          </a:ln>
          <a:effectLst>
            <a:outerShdw blurRad="63500" dist="63500" dir="2400000" algn="ctr" rotWithShape="0">
              <a:srgbClr val="454142">
                <a:alpha val="20000"/>
              </a:srgbClr>
            </a:outerShdw>
          </a:effectLst>
        </p:spPr>
        <p:txBody>
          <a:bodyPr lIns="182880" tIns="0" rIns="182880" rtlCol="0" anchor="ctr" anchorCtr="0"/>
          <a:lstStyle/>
          <a:p>
            <a:pPr marL="0" marR="0" lvl="0" indent="0" algn="ctr" defTabSz="914400" rtl="0" eaLnBrk="1" fontAlgn="auto" latinLnBrk="0" hangingPunct="1">
              <a:lnSpc>
                <a:spcPct val="100000"/>
              </a:lnSpc>
              <a:spcBef>
                <a:spcPts val="0"/>
              </a:spcBef>
              <a:spcAft>
                <a:spcPts val="3000"/>
              </a:spcAft>
              <a:buClrTx/>
              <a:buSzTx/>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Regional </a:t>
            </a:r>
          </a:p>
        </p:txBody>
      </p:sp>
      <p:graphicFrame>
        <p:nvGraphicFramePr>
          <p:cNvPr id="15" name="Table 14">
            <a:extLst>
              <a:ext uri="{FF2B5EF4-FFF2-40B4-BE49-F238E27FC236}">
                <a16:creationId xmlns:a16="http://schemas.microsoft.com/office/drawing/2014/main" id="{1E1F15BE-6478-FE20-33D9-A0D94815F6DA}"/>
              </a:ext>
            </a:extLst>
          </p:cNvPr>
          <p:cNvGraphicFramePr>
            <a:graphicFrameLocks noGrp="1"/>
          </p:cNvGraphicFramePr>
          <p:nvPr/>
        </p:nvGraphicFramePr>
        <p:xfrm>
          <a:off x="546766" y="1885657"/>
          <a:ext cx="11073384" cy="4460240"/>
        </p:xfrm>
        <a:graphic>
          <a:graphicData uri="http://schemas.openxmlformats.org/drawingml/2006/table">
            <a:tbl>
              <a:tblPr firstRow="1" bandRow="1"/>
              <a:tblGrid>
                <a:gridCol w="3593592">
                  <a:extLst>
                    <a:ext uri="{9D8B030D-6E8A-4147-A177-3AD203B41FA5}">
                      <a16:colId xmlns:a16="http://schemas.microsoft.com/office/drawing/2014/main" val="1641213347"/>
                    </a:ext>
                  </a:extLst>
                </a:gridCol>
                <a:gridCol w="146304">
                  <a:extLst>
                    <a:ext uri="{9D8B030D-6E8A-4147-A177-3AD203B41FA5}">
                      <a16:colId xmlns:a16="http://schemas.microsoft.com/office/drawing/2014/main" val="2615979645"/>
                    </a:ext>
                  </a:extLst>
                </a:gridCol>
                <a:gridCol w="3593592">
                  <a:extLst>
                    <a:ext uri="{9D8B030D-6E8A-4147-A177-3AD203B41FA5}">
                      <a16:colId xmlns:a16="http://schemas.microsoft.com/office/drawing/2014/main" val="3565202699"/>
                    </a:ext>
                  </a:extLst>
                </a:gridCol>
                <a:gridCol w="146304">
                  <a:extLst>
                    <a:ext uri="{9D8B030D-6E8A-4147-A177-3AD203B41FA5}">
                      <a16:colId xmlns:a16="http://schemas.microsoft.com/office/drawing/2014/main" val="1367412395"/>
                    </a:ext>
                  </a:extLst>
                </a:gridCol>
                <a:gridCol w="3593592">
                  <a:extLst>
                    <a:ext uri="{9D8B030D-6E8A-4147-A177-3AD203B41FA5}">
                      <a16:colId xmlns:a16="http://schemas.microsoft.com/office/drawing/2014/main" val="1700044975"/>
                    </a:ext>
                  </a:extLst>
                </a:gridCol>
              </a:tblGrid>
              <a:tr h="444055">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231775" indent="-231775" algn="l" rtl="0" eaLnBrk="1" latinLnBrk="0" hangingPunct="1">
                        <a:spcBef>
                          <a:spcPts val="960"/>
                        </a:spcBef>
                        <a:buClr>
                          <a:schemeClr val="accent2"/>
                        </a:buClr>
                        <a:buFont typeface="Arial" panose="020B0604020202020204" pitchFamily="34" charset="0"/>
                        <a:buChar char="•"/>
                      </a:pPr>
                      <a:r>
                        <a:rPr lang="en-US" sz="1600" kern="1200">
                          <a:solidFill>
                            <a:schemeClr val="tx1"/>
                          </a:solidFill>
                          <a:latin typeface="+mn-lt"/>
                          <a:ea typeface="+mn-ea"/>
                          <a:cs typeface="+mn-cs"/>
                        </a:rPr>
                        <a:t>Lowest price with highest throughput</a:t>
                      </a:r>
                    </a:p>
                  </a:txBody>
                  <a:tcPr marL="137160" marR="137160" marT="137160" marB="137160">
                    <a:lnL w="12700" cmpd="sng">
                      <a:noFill/>
                    </a:lnL>
                    <a:lnR w="12700" cap="flat" cmpd="sng" algn="ctr">
                      <a:noFill/>
                      <a:prstDash val="solid"/>
                      <a:round/>
                      <a:headEnd type="none" w="med" len="med"/>
                      <a:tailEnd type="none" w="med" len="med"/>
                    </a:lnR>
                    <a:lnT w="38100" cmpd="sng">
                      <a:noFill/>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endParaRPr lang="en-US" sz="1600">
                        <a:latin typeface="Segoe Sans Text" pitchFamily="2" charset="0"/>
                      </a:endParaRPr>
                    </a:p>
                  </a:txBody>
                  <a:tcPr marL="0" marR="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231775" indent="-231775" algn="l" defTabSz="932742" rtl="0" eaLnBrk="1" latinLnBrk="0" hangingPunct="1">
                        <a:spcBef>
                          <a:spcPts val="960"/>
                        </a:spcBef>
                        <a:buClr>
                          <a:schemeClr val="accent1"/>
                        </a:buClr>
                        <a:buFont typeface="Arial" panose="020B0604020202020204" pitchFamily="34" charset="0"/>
                        <a:buChar char="•"/>
                      </a:pPr>
                      <a:r>
                        <a:rPr lang="en-US" sz="1600" kern="1200" spc="-10">
                          <a:solidFill>
                            <a:schemeClr val="tx1"/>
                          </a:solidFill>
                          <a:latin typeface="+mn-lt"/>
                          <a:ea typeface="+mn-ea"/>
                          <a:cs typeface="+mn-cs"/>
                        </a:rPr>
                        <a:t>Cross region load balancing within a geographic boundary (US or EU)</a:t>
                      </a:r>
                    </a:p>
                  </a:txBody>
                  <a:tcPr marL="137160" marR="137160" marT="137160" marB="137160">
                    <a:lnL w="12700" cap="flat" cmpd="sng" algn="ctr">
                      <a:noFill/>
                      <a:prstDash val="solid"/>
                      <a:round/>
                      <a:headEnd type="none" w="med" len="med"/>
                      <a:tailEnd type="none" w="med" len="med"/>
                    </a:lnL>
                    <a:lnR w="12700" cmpd="sng">
                      <a:noFill/>
                    </a:lnR>
                    <a:lnT w="38100" cmpd="sng">
                      <a:noFill/>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0" marR="0" marT="137160" marB="137160">
                    <a:lnL w="12700" cap="flat" cmpd="sng" algn="ctr">
                      <a:noFill/>
                      <a:prstDash val="solid"/>
                      <a:round/>
                      <a:headEnd type="none" w="med" len="med"/>
                      <a:tailEnd type="none" w="med" len="med"/>
                    </a:lnL>
                    <a:lnR w="12700" cmpd="sng">
                      <a:noFill/>
                    </a:lnR>
                    <a:lnT w="38100" cmpd="sng">
                      <a:noFill/>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1775" indent="-231775" algn="l" defTabSz="932742" rtl="0" eaLnBrk="1" latinLnBrk="0" hangingPunct="1">
                        <a:spcBef>
                          <a:spcPts val="960"/>
                        </a:spcBef>
                        <a:buClr>
                          <a:schemeClr val="accent3"/>
                        </a:buClr>
                        <a:buFont typeface="Arial" panose="020B0604020202020204" pitchFamily="34" charset="0"/>
                        <a:buChar char="•"/>
                      </a:pPr>
                      <a:r>
                        <a:rPr lang="en-US" sz="1600" kern="1200">
                          <a:solidFill>
                            <a:schemeClr val="tx1"/>
                          </a:solidFill>
                          <a:latin typeface="+mn-lt"/>
                          <a:ea typeface="+mn-ea"/>
                          <a:cs typeface="+mn-cs"/>
                        </a:rPr>
                        <a:t>Specifical data processing</a:t>
                      </a:r>
                    </a:p>
                  </a:txBody>
                  <a:tcPr marL="137160" marR="137160" marT="137160" marB="137160">
                    <a:lnL w="12700" cap="flat" cmpd="sng" algn="ctr">
                      <a:noFill/>
                      <a:prstDash val="solid"/>
                      <a:round/>
                      <a:headEnd type="none" w="med" len="med"/>
                      <a:tailEnd type="none" w="med" len="med"/>
                    </a:lnL>
                    <a:lnR w="12700" cmpd="sng">
                      <a:noFill/>
                    </a:lnR>
                    <a:lnT w="38100" cmpd="sng">
                      <a:noFill/>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307396"/>
                  </a:ext>
                </a:extLst>
              </a:tr>
              <a:tr h="0">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231775" indent="-231775" algn="l" defTabSz="932742" rtl="0" eaLnBrk="1" latinLnBrk="0" hangingPunct="1">
                        <a:spcBef>
                          <a:spcPts val="960"/>
                        </a:spcBef>
                        <a:buClr>
                          <a:schemeClr val="accent2"/>
                        </a:buClr>
                        <a:buFont typeface="Arial" panose="020B0604020202020204" pitchFamily="34" charset="0"/>
                        <a:buChar char="•"/>
                      </a:pPr>
                      <a:r>
                        <a:rPr lang="en-US" sz="1600" kern="1200">
                          <a:solidFill>
                            <a:schemeClr val="tx1"/>
                          </a:solidFill>
                          <a:latin typeface="+mn-lt"/>
                          <a:ea typeface="+mn-ea"/>
                          <a:cs typeface="+mn-cs"/>
                        </a:rPr>
                        <a:t>Broadest model availability </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endParaRPr lang="en-US" sz="1600">
                        <a:latin typeface="Segoe Sans Text" pitchFamily="2" charset="0"/>
                      </a:endParaRPr>
                    </a:p>
                  </a:txBody>
                  <a:tcPr marL="0" marR="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231775" indent="-231775" algn="l" defTabSz="932742" rtl="0" eaLnBrk="1" latinLnBrk="0" hangingPunct="1">
                        <a:spcBef>
                          <a:spcPts val="960"/>
                        </a:spcBef>
                        <a:buClr>
                          <a:schemeClr val="accent1"/>
                        </a:buClr>
                        <a:buFont typeface="Arial" panose="020B0604020202020204" pitchFamily="34" charset="0"/>
                        <a:buChar char="•"/>
                      </a:pPr>
                      <a:r>
                        <a:rPr lang="en-US" sz="1600" kern="1200">
                          <a:solidFill>
                            <a:schemeClr val="tx1"/>
                          </a:solidFill>
                          <a:latin typeface="+mn-lt"/>
                          <a:ea typeface="+mn-ea"/>
                          <a:cs typeface="+mn-cs"/>
                        </a:rPr>
                        <a:t>Broader model availability</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1775" indent="-231775" algn="l" defTabSz="914400" rtl="0" eaLnBrk="1" latinLnBrk="0" hangingPunct="1">
                        <a:buClr>
                          <a:schemeClr val="accent6"/>
                        </a:buClr>
                        <a:buFont typeface="Arial" panose="020B0604020202020204" pitchFamily="34" charset="0"/>
                        <a:buChar char="•"/>
                      </a:pPr>
                      <a:endParaRPr lang="en-US" sz="1600" kern="1200">
                        <a:solidFill>
                          <a:schemeClr val="tx1"/>
                        </a:solidFill>
                        <a:latin typeface="Segoe Sans Text"/>
                        <a:ea typeface="+mn-ea"/>
                        <a:cs typeface="+mn-cs"/>
                      </a:endParaRPr>
                    </a:p>
                  </a:txBody>
                  <a:tcPr marL="0" marR="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1775" indent="-231775" algn="l" defTabSz="932742" rtl="0" eaLnBrk="1" latinLnBrk="0" hangingPunct="1">
                        <a:spcBef>
                          <a:spcPts val="960"/>
                        </a:spcBef>
                        <a:buClr>
                          <a:schemeClr val="accent3"/>
                        </a:buClr>
                        <a:buFont typeface="Arial" panose="020B0604020202020204" pitchFamily="34" charset="0"/>
                        <a:buChar char="•"/>
                      </a:pPr>
                      <a:r>
                        <a:rPr lang="en-US" sz="1600" kern="1200">
                          <a:solidFill>
                            <a:schemeClr val="tx1"/>
                          </a:solidFill>
                          <a:latin typeface="+mn-lt"/>
                          <a:ea typeface="+mn-ea"/>
                          <a:cs typeface="+mn-cs"/>
                        </a:rPr>
                        <a:t>Limited model availability </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217805"/>
                  </a:ext>
                </a:extLst>
              </a:tr>
              <a:tr h="0">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231775" indent="-231775" algn="l" defTabSz="932742" rtl="0" eaLnBrk="1" latinLnBrk="0" hangingPunct="1">
                        <a:spcBef>
                          <a:spcPts val="960"/>
                        </a:spcBef>
                        <a:buClr>
                          <a:schemeClr val="accent2"/>
                        </a:buClr>
                        <a:buFont typeface="Arial" panose="020B0604020202020204" pitchFamily="34" charset="0"/>
                        <a:buChar char="•"/>
                      </a:pPr>
                      <a:r>
                        <a:rPr lang="en-US" sz="1600" kern="1200">
                          <a:solidFill>
                            <a:schemeClr val="tx1"/>
                          </a:solidFill>
                          <a:latin typeface="+mn-lt"/>
                          <a:ea typeface="+mn-ea"/>
                          <a:cs typeface="+mn-cs"/>
                        </a:rPr>
                        <a:t>Broadest capacity  availability </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endParaRPr lang="en-US" sz="1600">
                        <a:latin typeface="Segoe Sans Text" pitchFamily="2" charset="0"/>
                      </a:endParaRPr>
                    </a:p>
                  </a:txBody>
                  <a:tcPr marL="0" marR="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231775" indent="-231775" algn="l" defTabSz="932742" rtl="0" eaLnBrk="1" latinLnBrk="0" hangingPunct="1">
                        <a:spcBef>
                          <a:spcPts val="960"/>
                        </a:spcBef>
                        <a:buClr>
                          <a:schemeClr val="accent1"/>
                        </a:buClr>
                        <a:buFont typeface="Arial" panose="020B0604020202020204" pitchFamily="34" charset="0"/>
                        <a:buChar char="•"/>
                      </a:pPr>
                      <a:r>
                        <a:rPr lang="en-US" sz="1600" kern="1200">
                          <a:solidFill>
                            <a:schemeClr val="tx1"/>
                          </a:solidFill>
                          <a:latin typeface="+mn-lt"/>
                          <a:ea typeface="+mn-ea"/>
                          <a:cs typeface="+mn-cs"/>
                        </a:rPr>
                        <a:t>Broader capacity  availability </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1775" indent="-231775" algn="l" defTabSz="914400" rtl="0" eaLnBrk="1" latinLnBrk="0" hangingPunct="1">
                        <a:buClr>
                          <a:schemeClr val="accent6"/>
                        </a:buClr>
                        <a:buFont typeface="Arial" panose="020B0604020202020204" pitchFamily="34" charset="0"/>
                        <a:buChar char="•"/>
                      </a:pPr>
                      <a:endParaRPr lang="en-US" sz="1600" kern="1200">
                        <a:solidFill>
                          <a:schemeClr val="tx1"/>
                        </a:solidFill>
                        <a:latin typeface="Segoe Sans Text"/>
                        <a:ea typeface="+mn-ea"/>
                        <a:cs typeface="+mn-cs"/>
                      </a:endParaRPr>
                    </a:p>
                  </a:txBody>
                  <a:tcPr marL="0" marR="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1775" indent="-231775" algn="l" defTabSz="932742" rtl="0" eaLnBrk="1" latinLnBrk="0" hangingPunct="1">
                        <a:spcBef>
                          <a:spcPts val="960"/>
                        </a:spcBef>
                        <a:buClr>
                          <a:schemeClr val="accent3"/>
                        </a:buClr>
                        <a:buFont typeface="Arial" panose="020B0604020202020204" pitchFamily="34" charset="0"/>
                        <a:buChar char="•"/>
                      </a:pPr>
                      <a:r>
                        <a:rPr lang="en-US" sz="1600" kern="1200">
                          <a:solidFill>
                            <a:schemeClr val="tx1"/>
                          </a:solidFill>
                          <a:latin typeface="+mn-lt"/>
                          <a:ea typeface="+mn-ea"/>
                          <a:cs typeface="+mn-cs"/>
                        </a:rPr>
                        <a:t>Limited capacity availability </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2308548"/>
                  </a:ext>
                </a:extLst>
              </a:tr>
              <a:tr h="1175176">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0" marR="0" lvl="0" indent="0" algn="l" defTabSz="932742" rtl="0" eaLnBrk="1" fontAlgn="auto" latinLnBrk="0" hangingPunct="1">
                        <a:lnSpc>
                          <a:spcPct val="100000"/>
                        </a:lnSpc>
                        <a:spcBef>
                          <a:spcPct val="20000"/>
                        </a:spcBef>
                        <a:spcAft>
                          <a:spcPts val="0"/>
                        </a:spcAft>
                        <a:buClr>
                          <a:schemeClr val="accent6"/>
                        </a:buClr>
                        <a:buSzPct val="80000"/>
                        <a:buFont typeface="Wingdings" pitchFamily="2" charset="77"/>
                        <a:buNone/>
                        <a:tabLst/>
                        <a:defRPr/>
                      </a:pPr>
                      <a:r>
                        <a:rPr kumimoji="0" lang="en-US" sz="1200" b="0" i="0" u="none" strike="noStrike" kern="1200" cap="none" spc="300" normalizeH="0" baseline="0">
                          <a:ln>
                            <a:noFill/>
                          </a:ln>
                          <a:solidFill>
                            <a:schemeClr val="accent2"/>
                          </a:solidFill>
                          <a:effectLst/>
                          <a:uLnTx/>
                          <a:uFillTx/>
                          <a:latin typeface="+mj-lt"/>
                          <a:ea typeface="+mn-ea"/>
                          <a:cs typeface="Segoe Sans Text"/>
                        </a:rPr>
                        <a:t>BEST FOR:</a:t>
                      </a:r>
                    </a:p>
                    <a:p>
                      <a:pPr marL="231775" indent="-231775">
                        <a:spcBef>
                          <a:spcPts val="480"/>
                        </a:spcBef>
                        <a:spcAft>
                          <a:spcPts val="0"/>
                        </a:spcAft>
                        <a:buClr>
                          <a:schemeClr val="accent2"/>
                        </a:buClr>
                        <a:buSzPct val="100000"/>
                        <a:buFont typeface="Wingdings" pitchFamily="2" charset="77"/>
                        <a:buChar char="ü"/>
                        <a:tabLst/>
                      </a:pPr>
                      <a:r>
                        <a:rPr lang="en-US" sz="1600">
                          <a:latin typeface="Segoe Sans Text"/>
                        </a:rPr>
                        <a:t>Applications requiring a consistent experience across multiple regions</a:t>
                      </a:r>
                    </a:p>
                    <a:p>
                      <a:pPr marL="231775" indent="-231775">
                        <a:spcBef>
                          <a:spcPts val="480"/>
                        </a:spcBef>
                        <a:spcAft>
                          <a:spcPts val="0"/>
                        </a:spcAft>
                        <a:buClr>
                          <a:schemeClr val="accent2"/>
                        </a:buClr>
                        <a:buSzPct val="100000"/>
                        <a:buFont typeface="Wingdings" pitchFamily="2" charset="77"/>
                        <a:buChar char="ü"/>
                        <a:tabLst/>
                      </a:pPr>
                      <a:r>
                        <a:rPr lang="en-US" sz="1600">
                          <a:latin typeface="Segoe Sans Text"/>
                        </a:rPr>
                        <a:t>Services needing to be available globally with low latency</a:t>
                      </a:r>
                    </a:p>
                    <a:p>
                      <a:pPr marL="231775" indent="-231775">
                        <a:spcBef>
                          <a:spcPts val="480"/>
                        </a:spcBef>
                        <a:spcAft>
                          <a:spcPts val="0"/>
                        </a:spcAft>
                        <a:buClr>
                          <a:schemeClr val="accent2"/>
                        </a:buClr>
                        <a:buSzPct val="100000"/>
                        <a:buFont typeface="Wingdings" pitchFamily="2" charset="77"/>
                        <a:buChar char="ü"/>
                        <a:tabLst/>
                      </a:pPr>
                      <a:r>
                        <a:rPr lang="en-US" sz="1600">
                          <a:latin typeface="Segoe Sans Text"/>
                        </a:rPr>
                        <a:t>Cost savings is a priority </a:t>
                      </a:r>
                    </a:p>
                    <a:p>
                      <a:pPr marL="231775" indent="-231775">
                        <a:spcBef>
                          <a:spcPts val="480"/>
                        </a:spcBef>
                        <a:spcAft>
                          <a:spcPts val="0"/>
                        </a:spcAft>
                        <a:buClr>
                          <a:schemeClr val="accent2"/>
                        </a:buClr>
                        <a:buSzPct val="100000"/>
                        <a:buFont typeface="Wingdings" pitchFamily="2" charset="77"/>
                        <a:buChar char="ü"/>
                        <a:tabLst/>
                      </a:pPr>
                      <a:r>
                        <a:rPr lang="en-US" sz="1600" spc="0">
                          <a:latin typeface="Segoe Sans Text"/>
                        </a:rPr>
                        <a:t>Data residency independent of deployment</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endParaRPr lang="en-US" sz="1600">
                        <a:latin typeface="Segoe Sans Text" pitchFamily="2" charset="0"/>
                      </a:endParaRPr>
                    </a:p>
                  </a:txBody>
                  <a:tcPr marL="0" marR="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Aptos" panose="02110004020202020204"/>
                        </a:defRPr>
                      </a:lvl1pPr>
                      <a:lvl2pPr marL="466371" algn="l" defTabSz="932742" rtl="0" eaLnBrk="1" latinLnBrk="0" hangingPunct="1">
                        <a:defRPr sz="1800" kern="1200">
                          <a:solidFill>
                            <a:schemeClr val="dk1"/>
                          </a:solidFill>
                          <a:latin typeface="Aptos" panose="02110004020202020204"/>
                        </a:defRPr>
                      </a:lvl2pPr>
                      <a:lvl3pPr marL="932742" algn="l" defTabSz="932742" rtl="0" eaLnBrk="1" latinLnBrk="0" hangingPunct="1">
                        <a:defRPr sz="1800" kern="1200">
                          <a:solidFill>
                            <a:schemeClr val="dk1"/>
                          </a:solidFill>
                          <a:latin typeface="Aptos" panose="02110004020202020204"/>
                        </a:defRPr>
                      </a:lvl3pPr>
                      <a:lvl4pPr marL="1399113" algn="l" defTabSz="932742" rtl="0" eaLnBrk="1" latinLnBrk="0" hangingPunct="1">
                        <a:defRPr sz="1800" kern="1200">
                          <a:solidFill>
                            <a:schemeClr val="dk1"/>
                          </a:solidFill>
                          <a:latin typeface="Aptos" panose="02110004020202020204"/>
                        </a:defRPr>
                      </a:lvl4pPr>
                      <a:lvl5pPr marL="1865484" algn="l" defTabSz="932742" rtl="0" eaLnBrk="1" latinLnBrk="0" hangingPunct="1">
                        <a:defRPr sz="1800" kern="1200">
                          <a:solidFill>
                            <a:schemeClr val="dk1"/>
                          </a:solidFill>
                          <a:latin typeface="Aptos" panose="02110004020202020204"/>
                        </a:defRPr>
                      </a:lvl5pPr>
                      <a:lvl6pPr marL="2331856" algn="l" defTabSz="932742" rtl="0" eaLnBrk="1" latinLnBrk="0" hangingPunct="1">
                        <a:defRPr sz="1800" kern="1200">
                          <a:solidFill>
                            <a:schemeClr val="dk1"/>
                          </a:solidFill>
                          <a:latin typeface="Aptos" panose="02110004020202020204"/>
                        </a:defRPr>
                      </a:lvl6pPr>
                      <a:lvl7pPr marL="2798226" algn="l" defTabSz="932742" rtl="0" eaLnBrk="1" latinLnBrk="0" hangingPunct="1">
                        <a:defRPr sz="1800" kern="1200">
                          <a:solidFill>
                            <a:schemeClr val="dk1"/>
                          </a:solidFill>
                          <a:latin typeface="Aptos" panose="02110004020202020204"/>
                        </a:defRPr>
                      </a:lvl7pPr>
                      <a:lvl8pPr marL="3264597" algn="l" defTabSz="932742" rtl="0" eaLnBrk="1" latinLnBrk="0" hangingPunct="1">
                        <a:defRPr sz="1800" kern="1200">
                          <a:solidFill>
                            <a:schemeClr val="dk1"/>
                          </a:solidFill>
                          <a:latin typeface="Aptos" panose="02110004020202020204"/>
                        </a:defRPr>
                      </a:lvl8pPr>
                      <a:lvl9pPr marL="3730969" algn="l" defTabSz="932742" rtl="0" eaLnBrk="1" latinLnBrk="0" hangingPunct="1">
                        <a:defRPr sz="1800" kern="1200">
                          <a:solidFill>
                            <a:schemeClr val="dk1"/>
                          </a:solidFill>
                          <a:latin typeface="Aptos" panose="02110004020202020204"/>
                        </a:defRPr>
                      </a:lvl9pPr>
                    </a:lstStyle>
                    <a:p>
                      <a:pPr marL="0" marR="0" lvl="0" indent="0" algn="l" defTabSz="932742" rtl="0" eaLnBrk="1" fontAlgn="auto" latinLnBrk="0" hangingPunct="1">
                        <a:lnSpc>
                          <a:spcPct val="100000"/>
                        </a:lnSpc>
                        <a:spcBef>
                          <a:spcPct val="20000"/>
                        </a:spcBef>
                        <a:spcAft>
                          <a:spcPts val="0"/>
                        </a:spcAft>
                        <a:buClr>
                          <a:schemeClr val="accent6"/>
                        </a:buClr>
                        <a:buSzPct val="80000"/>
                        <a:buFont typeface="Wingdings" pitchFamily="2" charset="77"/>
                        <a:buNone/>
                        <a:tabLst/>
                        <a:defRPr/>
                      </a:pPr>
                      <a:r>
                        <a:rPr kumimoji="0" lang="en-US" sz="1200" b="0" i="0" u="none" strike="noStrike" kern="1200" cap="none" spc="300" normalizeH="0" baseline="0">
                          <a:ln>
                            <a:noFill/>
                          </a:ln>
                          <a:solidFill>
                            <a:schemeClr val="accent1"/>
                          </a:solidFill>
                          <a:effectLst/>
                          <a:uLnTx/>
                          <a:uFillTx/>
                          <a:latin typeface="+mj-lt"/>
                          <a:ea typeface="+mn-ea"/>
                          <a:cs typeface="Segoe Sans Text"/>
                        </a:rPr>
                        <a:t>BEST FOR:</a:t>
                      </a:r>
                    </a:p>
                    <a:p>
                      <a:pPr marL="231775" indent="-231775" algn="l" defTabSz="932742" rtl="0" eaLnBrk="1" latinLnBrk="0" hangingPunct="1">
                        <a:spcBef>
                          <a:spcPts val="480"/>
                        </a:spcBef>
                        <a:spcAft>
                          <a:spcPts val="0"/>
                        </a:spcAft>
                        <a:buClr>
                          <a:schemeClr val="accent1"/>
                        </a:buClr>
                        <a:buSzPct val="100000"/>
                        <a:buFont typeface="Wingdings" pitchFamily="2" charset="77"/>
                        <a:buChar char="ü"/>
                        <a:tabLst/>
                      </a:pPr>
                      <a:r>
                        <a:rPr lang="en-US" sz="1600" kern="1200">
                          <a:solidFill>
                            <a:schemeClr val="dk1"/>
                          </a:solidFill>
                          <a:latin typeface="Segoe Sans Text"/>
                          <a:ea typeface="+mn-ea"/>
                          <a:cs typeface="+mn-cs"/>
                        </a:rPr>
                        <a:t>Applications needing more processing capacity with data residency required</a:t>
                      </a:r>
                    </a:p>
                    <a:p>
                      <a:pPr marL="231775" indent="-231775" algn="l" defTabSz="932742" rtl="0" eaLnBrk="1" latinLnBrk="0" hangingPunct="1">
                        <a:spcBef>
                          <a:spcPts val="480"/>
                        </a:spcBef>
                        <a:spcAft>
                          <a:spcPts val="0"/>
                        </a:spcAft>
                        <a:buClr>
                          <a:schemeClr val="accent1"/>
                        </a:buClr>
                        <a:buSzPct val="100000"/>
                        <a:buFont typeface="Wingdings" pitchFamily="2" charset="77"/>
                        <a:buChar char="ü"/>
                        <a:tabLst/>
                      </a:pPr>
                      <a:r>
                        <a:rPr lang="en-US" sz="1600" kern="1200">
                          <a:solidFill>
                            <a:schemeClr val="dk1"/>
                          </a:solidFill>
                          <a:latin typeface="Segoe Sans Text"/>
                          <a:ea typeface="+mn-ea"/>
                          <a:cs typeface="+mn-cs"/>
                        </a:rPr>
                        <a:t>Cost saving with meeting compliance requirements</a:t>
                      </a:r>
                    </a:p>
                    <a:p>
                      <a:pPr marL="231775" indent="-231775" algn="l" defTabSz="932742" rtl="0" eaLnBrk="1" latinLnBrk="0" hangingPunct="1">
                        <a:spcBef>
                          <a:spcPts val="480"/>
                        </a:spcBef>
                        <a:spcAft>
                          <a:spcPts val="0"/>
                        </a:spcAft>
                        <a:buClr>
                          <a:schemeClr val="accent1"/>
                        </a:buClr>
                        <a:buSzPct val="100000"/>
                        <a:buFont typeface="Wingdings" pitchFamily="2" charset="77"/>
                        <a:buChar char="ü"/>
                        <a:tabLst/>
                      </a:pPr>
                      <a:r>
                        <a:rPr lang="en-US" sz="1600" kern="1200">
                          <a:solidFill>
                            <a:schemeClr val="dk1"/>
                          </a:solidFill>
                          <a:latin typeface="Segoe Sans Text"/>
                          <a:ea typeface="+mn-ea"/>
                          <a:cs typeface="+mn-cs"/>
                        </a:rPr>
                        <a:t>Optimal access to latest AI models and innovations</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1775" indent="-231775" algn="l" defTabSz="914400" rtl="0" eaLnBrk="1" latinLnBrk="0" hangingPunct="1">
                        <a:buClr>
                          <a:schemeClr val="accent6"/>
                        </a:buClr>
                        <a:buFont typeface="Arial" panose="020B0604020202020204" pitchFamily="34" charset="0"/>
                        <a:buChar char="•"/>
                      </a:pPr>
                      <a:endParaRPr lang="en-US" sz="1600" kern="1200">
                        <a:solidFill>
                          <a:schemeClr val="tx1"/>
                        </a:solidFill>
                        <a:latin typeface="Segoe Sans Text"/>
                        <a:ea typeface="+mn-ea"/>
                        <a:cs typeface="+mn-cs"/>
                      </a:endParaRPr>
                    </a:p>
                  </a:txBody>
                  <a:tcPr marL="0" marR="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32742" rtl="0" eaLnBrk="1" latinLnBrk="0" hangingPunct="1">
                        <a:spcAft>
                          <a:spcPts val="0"/>
                        </a:spcAft>
                        <a:buClr>
                          <a:schemeClr val="accent6"/>
                        </a:buClr>
                        <a:buSzPct val="80000"/>
                        <a:buFont typeface="Wingdings" pitchFamily="2" charset="77"/>
                        <a:buNone/>
                        <a:tabLst/>
                      </a:pPr>
                      <a:r>
                        <a:rPr kumimoji="0" lang="en-US" sz="1200" b="0" i="0" u="none" strike="noStrike" kern="1200" cap="none" spc="300" normalizeH="0" baseline="0">
                          <a:ln>
                            <a:noFill/>
                          </a:ln>
                          <a:solidFill>
                            <a:schemeClr val="accent3"/>
                          </a:solidFill>
                          <a:effectLst/>
                          <a:uLnTx/>
                          <a:uFillTx/>
                          <a:latin typeface="+mj-lt"/>
                          <a:ea typeface="+mn-ea"/>
                          <a:cs typeface="Segoe Sans Text"/>
                        </a:rPr>
                        <a:t>BEST FOR:</a:t>
                      </a:r>
                    </a:p>
                    <a:p>
                      <a:pPr marL="231775" indent="-231775" algn="l" defTabSz="932742" rtl="0" eaLnBrk="1" latinLnBrk="0" hangingPunct="1">
                        <a:spcBef>
                          <a:spcPts val="480"/>
                        </a:spcBef>
                        <a:spcAft>
                          <a:spcPts val="0"/>
                        </a:spcAft>
                        <a:buClr>
                          <a:schemeClr val="accent3"/>
                        </a:buClr>
                        <a:buSzPct val="100000"/>
                        <a:buFont typeface="Wingdings" pitchFamily="2" charset="77"/>
                        <a:buChar char="ü"/>
                        <a:tabLst/>
                      </a:pPr>
                      <a:r>
                        <a:rPr lang="en-US" sz="1600" kern="1200">
                          <a:solidFill>
                            <a:schemeClr val="dk1"/>
                          </a:solidFill>
                          <a:latin typeface="+mn-lt"/>
                          <a:ea typeface="+mn-ea"/>
                          <a:cs typeface="+mn-cs"/>
                        </a:rPr>
                        <a:t>Applications required to meet data residency compliance globally with low latency</a:t>
                      </a:r>
                    </a:p>
                    <a:p>
                      <a:pPr marL="231775" indent="-231775" algn="l" defTabSz="932742" rtl="0" eaLnBrk="1" latinLnBrk="0" hangingPunct="1">
                        <a:spcBef>
                          <a:spcPts val="480"/>
                        </a:spcBef>
                        <a:spcAft>
                          <a:spcPts val="0"/>
                        </a:spcAft>
                        <a:buClr>
                          <a:schemeClr val="accent3"/>
                        </a:buClr>
                        <a:buSzPct val="100000"/>
                        <a:buFont typeface="Wingdings" pitchFamily="2" charset="77"/>
                        <a:buChar char="ü"/>
                        <a:tabLst/>
                      </a:pPr>
                      <a:r>
                        <a:rPr lang="en-US" sz="1600" kern="1200">
                          <a:solidFill>
                            <a:schemeClr val="dk1"/>
                          </a:solidFill>
                          <a:latin typeface="+mn-lt"/>
                          <a:ea typeface="+mn-ea"/>
                          <a:cs typeface="+mn-cs"/>
                        </a:rPr>
                        <a:t>Services needing to be closer to the end-users to reduce latency</a:t>
                      </a:r>
                    </a:p>
                    <a:p>
                      <a:pPr marL="231775" indent="-231775" algn="l" defTabSz="932742" rtl="0" eaLnBrk="1" latinLnBrk="0" hangingPunct="1">
                        <a:spcBef>
                          <a:spcPts val="480"/>
                        </a:spcBef>
                        <a:spcAft>
                          <a:spcPts val="0"/>
                        </a:spcAft>
                        <a:buClr>
                          <a:schemeClr val="accent3"/>
                        </a:buClr>
                        <a:buSzPct val="100000"/>
                        <a:buFont typeface="Wingdings" pitchFamily="2" charset="77"/>
                        <a:buChar char="ü"/>
                        <a:tabLst/>
                      </a:pPr>
                      <a:r>
                        <a:rPr lang="en-US" sz="1600" kern="1200">
                          <a:solidFill>
                            <a:schemeClr val="dk1"/>
                          </a:solidFill>
                          <a:latin typeface="+mn-lt"/>
                          <a:ea typeface="+mn-ea"/>
                          <a:cs typeface="+mn-cs"/>
                        </a:rPr>
                        <a:t>Applications requiring localized data processing and storage</a:t>
                      </a:r>
                    </a:p>
                  </a:txBody>
                  <a:tcPr marL="137160" marR="137160" marT="137160" marB="137160">
                    <a:lnL w="12700" cmpd="sng">
                      <a:noFill/>
                    </a:lnL>
                    <a:lnR w="12700" cmpd="sng">
                      <a:noFill/>
                    </a:lnR>
                    <a:lnT w="12700" cap="flat" cmpd="sng" algn="ctr">
                      <a:solidFill>
                        <a:srgbClr val="D9D9D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2857371"/>
                  </a:ext>
                </a:extLst>
              </a:tr>
            </a:tbl>
          </a:graphicData>
        </a:graphic>
      </p:graphicFrame>
    </p:spTree>
    <p:extLst>
      <p:ext uri="{BB962C8B-B14F-4D97-AF65-F5344CB8AC3E}">
        <p14:creationId xmlns:p14="http://schemas.microsoft.com/office/powerpoint/2010/main" val="261480234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72FAD-BE23-33A8-C04D-73CC63E11347}"/>
            </a:ext>
          </a:extLst>
        </p:cNvPr>
        <p:cNvGrpSpPr/>
        <p:nvPr/>
      </p:nvGrpSpPr>
      <p:grpSpPr>
        <a:xfrm>
          <a:off x="0" y="0"/>
          <a:ext cx="0" cy="0"/>
          <a:chOff x="0" y="0"/>
          <a:chExt cx="0" cy="0"/>
        </a:xfrm>
      </p:grpSpPr>
      <p:pic>
        <p:nvPicPr>
          <p:cNvPr id="21" name="Picture 2">
            <a:extLst>
              <a:ext uri="{FF2B5EF4-FFF2-40B4-BE49-F238E27FC236}">
                <a16:creationId xmlns:a16="http://schemas.microsoft.com/office/drawing/2014/main" id="{C718CA7D-009F-7318-7127-1E1CD645FF0E}"/>
              </a:ext>
              <a:ext uri="{C183D7F6-B498-43B3-948B-1728B52AA6E4}">
                <adec:decorative xmlns:adec="http://schemas.microsoft.com/office/drawing/2017/decorative" val="1"/>
              </a:ext>
            </a:extLst>
          </p:cNvPr>
          <p:cNvPicPr>
            <a:picLocks noChangeAspect="1" noChangeArrowheads="1"/>
          </p:cNvPicPr>
          <p:nvPr/>
        </p:nvPicPr>
        <p:blipFill>
          <a:blip r:embed="rId3" cstate="screen">
            <a:extLst>
              <a:ext uri="{BEBA8EAE-BF5A-486C-A8C5-ECC9F3942E4B}">
                <a14:imgProps xmlns:a14="http://schemas.microsoft.com/office/drawing/2010/main">
                  <a14:imgLayer r:embed="rId4">
                    <a14:imgEffect>
                      <a14:backgroundRemoval t="10000" b="90000" l="10000" r="90000">
                        <a14:foregroundMark x1="31013" y1="68313" x2="31013" y2="68313"/>
                        <a14:foregroundMark x1="60338" y1="68313" x2="60338" y2="68313"/>
                        <a14:foregroundMark x1="63924" y1="59259" x2="63924" y2="59259"/>
                        <a14:foregroundMark x1="46203" y1="62551" x2="46203" y2="62551"/>
                      </a14:backgroundRemoval>
                    </a14:imgEffect>
                  </a14:imgLayer>
                </a14:imgProps>
              </a:ext>
              <a:ext uri="{28A0092B-C50C-407E-A947-70E740481C1C}">
                <a14:useLocalDpi xmlns:a14="http://schemas.microsoft.com/office/drawing/2010/main"/>
              </a:ext>
            </a:extLst>
          </a:blip>
          <a:srcRect/>
          <a:stretch>
            <a:fillRect/>
          </a:stretch>
        </p:blipFill>
        <p:spPr bwMode="auto">
          <a:xfrm>
            <a:off x="4003950" y="2445236"/>
            <a:ext cx="526532" cy="539861"/>
          </a:xfrm>
          <a:prstGeom prst="rect">
            <a:avLst/>
          </a:prstGeom>
          <a:noFill/>
          <a:extLst>
            <a:ext uri="{909E8E84-426E-40DD-AFC4-6F175D3DCCD1}">
              <a14:hiddenFill xmlns:a14="http://schemas.microsoft.com/office/drawing/2010/main">
                <a:solidFill>
                  <a:srgbClr val="FFFFFF"/>
                </a:solidFill>
              </a14:hiddenFill>
            </a:ext>
          </a:extLst>
        </p:spPr>
      </p:pic>
      <p:pic>
        <p:nvPicPr>
          <p:cNvPr id="25" name="Graphic 24">
            <a:extLst>
              <a:ext uri="{FF2B5EF4-FFF2-40B4-BE49-F238E27FC236}">
                <a16:creationId xmlns:a16="http://schemas.microsoft.com/office/drawing/2014/main" id="{F2DC7CAD-72DC-1C30-C976-F2AB485DAD3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21958" y="2604041"/>
            <a:ext cx="403727" cy="267528"/>
          </a:xfrm>
          <a:prstGeom prst="rect">
            <a:avLst/>
          </a:prstGeom>
        </p:spPr>
      </p:pic>
      <p:pic>
        <p:nvPicPr>
          <p:cNvPr id="31" name="Picture 2">
            <a:extLst>
              <a:ext uri="{FF2B5EF4-FFF2-40B4-BE49-F238E27FC236}">
                <a16:creationId xmlns:a16="http://schemas.microsoft.com/office/drawing/2014/main" id="{07107D6A-A4F4-2483-F510-92EB7C950FA3}"/>
              </a:ext>
              <a:ext uri="{C183D7F6-B498-43B3-948B-1728B52AA6E4}">
                <adec:decorative xmlns:adec="http://schemas.microsoft.com/office/drawing/2017/decorative" val="1"/>
              </a:ext>
            </a:extLst>
          </p:cNvPr>
          <p:cNvPicPr>
            <a:picLocks noChangeAspect="1" noChangeArrowheads="1"/>
          </p:cNvPicPr>
          <p:nvPr/>
        </p:nvPicPr>
        <p:blipFill rotWithShape="1">
          <a:blip r:embed="rId6" cstate="screen">
            <a:clrChange>
              <a:clrFrom>
                <a:srgbClr val="F8F8F8"/>
              </a:clrFrom>
              <a:clrTo>
                <a:srgbClr val="F8F8F8">
                  <a:alpha val="0"/>
                </a:srgbClr>
              </a:clrTo>
            </a:clrChange>
            <a:extLst>
              <a:ext uri="{28A0092B-C50C-407E-A947-70E740481C1C}">
                <a14:useLocalDpi xmlns:a14="http://schemas.microsoft.com/office/drawing/2010/main"/>
              </a:ext>
            </a:extLst>
          </a:blip>
          <a:srcRect l="14476" t="24955" r="14476" b="24955"/>
          <a:stretch/>
        </p:blipFill>
        <p:spPr bwMode="auto">
          <a:xfrm>
            <a:off x="7839888" y="2620374"/>
            <a:ext cx="429932" cy="28528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a:extLst>
              <a:ext uri="{FF2B5EF4-FFF2-40B4-BE49-F238E27FC236}">
                <a16:creationId xmlns:a16="http://schemas.microsoft.com/office/drawing/2014/main" id="{4B72D623-E78C-FB75-B120-CAC85536911C}"/>
              </a:ext>
              <a:ext uri="{C183D7F6-B498-43B3-948B-1728B52AA6E4}">
                <adec:decorative xmlns:adec="http://schemas.microsoft.com/office/drawing/2017/decorative" val="1"/>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l="10477" t="36119" r="75600" b="36385"/>
          <a:stretch/>
        </p:blipFill>
        <p:spPr bwMode="auto">
          <a:xfrm>
            <a:off x="9136806" y="2520185"/>
            <a:ext cx="361190" cy="37785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4" descr="Sight Machine">
            <a:extLst>
              <a:ext uri="{FF2B5EF4-FFF2-40B4-BE49-F238E27FC236}">
                <a16:creationId xmlns:a16="http://schemas.microsoft.com/office/drawing/2014/main" id="{1C812490-F130-DADA-5DAE-2EEFECDEF6C5}"/>
              </a:ext>
            </a:extLst>
          </p:cNvPr>
          <p:cNvPicPr>
            <a:picLocks noChangeAspect="1" noChangeArrowheads="1"/>
          </p:cNvPicPr>
          <p:nvPr/>
        </p:nvPicPr>
        <p:blipFill>
          <a:blip r:embed="rId8"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130688" y="3951194"/>
            <a:ext cx="880436" cy="25158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saifr">
            <a:extLst>
              <a:ext uri="{FF2B5EF4-FFF2-40B4-BE49-F238E27FC236}">
                <a16:creationId xmlns:a16="http://schemas.microsoft.com/office/drawing/2014/main" id="{3EB452B4-F65A-BF84-E52F-1E24E70FCB9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4606753" y="3953548"/>
            <a:ext cx="802574" cy="246874"/>
          </a:xfrm>
          <a:prstGeom prst="rect">
            <a:avLst/>
          </a:prstGeom>
        </p:spPr>
      </p:pic>
      <p:pic>
        <p:nvPicPr>
          <p:cNvPr id="30" name="Picture 29" descr="bayer">
            <a:extLst>
              <a:ext uri="{FF2B5EF4-FFF2-40B4-BE49-F238E27FC236}">
                <a16:creationId xmlns:a16="http://schemas.microsoft.com/office/drawing/2014/main" id="{C035FC9D-3CE5-20BC-18C0-F37061C8965F}"/>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5947847" y="3928318"/>
            <a:ext cx="296302" cy="29733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2" descr="Rockwell Automation">
            <a:extLst>
              <a:ext uri="{FF2B5EF4-FFF2-40B4-BE49-F238E27FC236}">
                <a16:creationId xmlns:a16="http://schemas.microsoft.com/office/drawing/2014/main" id="{B13F9A8C-AD39-42A6-D515-B04CBDB3B436}"/>
              </a:ext>
            </a:extLst>
          </p:cNvPr>
          <p:cNvPicPr>
            <a:picLocks noChangeAspect="1" noChangeArrowheads="1"/>
          </p:cNvPicPr>
          <p:nvPr/>
        </p:nvPicPr>
        <p:blipFill rotWithShape="1">
          <a:blip r:embed="rId11"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6714998" y="3941284"/>
            <a:ext cx="1047306" cy="27140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Paige">
            <a:extLst>
              <a:ext uri="{FF2B5EF4-FFF2-40B4-BE49-F238E27FC236}">
                <a16:creationId xmlns:a16="http://schemas.microsoft.com/office/drawing/2014/main" id="{5E9351B3-56E8-1811-DCF7-2396E725AE0D}"/>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8233154" y="3957709"/>
            <a:ext cx="775874" cy="238552"/>
          </a:xfrm>
          <a:prstGeom prst="rect">
            <a:avLst/>
          </a:prstGeom>
        </p:spPr>
      </p:pic>
      <p:sp>
        <p:nvSpPr>
          <p:cNvPr id="6" name="Rounded Rectangle 12">
            <a:extLst>
              <a:ext uri="{FF2B5EF4-FFF2-40B4-BE49-F238E27FC236}">
                <a16:creationId xmlns:a16="http://schemas.microsoft.com/office/drawing/2014/main" id="{E88E1591-D442-5D67-EF2D-E63BD946014E}"/>
              </a:ext>
              <a:ext uri="{C183D7F6-B498-43B3-948B-1728B52AA6E4}">
                <adec:decorative xmlns:adec="http://schemas.microsoft.com/office/drawing/2017/decorative" val="1"/>
              </a:ext>
            </a:extLst>
          </p:cNvPr>
          <p:cNvSpPr/>
          <p:nvPr/>
        </p:nvSpPr>
        <p:spPr bwMode="auto">
          <a:xfrm>
            <a:off x="1231289" y="4949143"/>
            <a:ext cx="3030647" cy="914400"/>
          </a:xfrm>
          <a:prstGeom prst="roundRect">
            <a:avLst>
              <a:gd name="adj" fmla="val 19649"/>
            </a:avLst>
          </a:prstGeom>
          <a:gradFill flip="none" rotWithShape="1">
            <a:gsLst>
              <a:gs pos="72000">
                <a:schemeClr val="tx2"/>
              </a:gs>
              <a:gs pos="0">
                <a:schemeClr val="accent3"/>
              </a:gs>
            </a:gsLst>
            <a:path path="circle">
              <a:fillToRect l="100000" t="100000"/>
            </a:path>
            <a:tileRect r="-100000" b="-100000"/>
          </a:gra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491019" rtl="0" eaLnBrk="1" fontAlgn="auto" latinLnBrk="0" hangingPunct="1">
              <a:lnSpc>
                <a:spcPct val="100000"/>
              </a:lnSpc>
              <a:spcBef>
                <a:spcPts val="0"/>
              </a:spcBef>
              <a:spcAft>
                <a:spcPct val="0"/>
              </a:spcAft>
              <a:buClrTx/>
              <a:buSzTx/>
              <a:buFontTx/>
              <a:buNone/>
              <a:tabLst/>
              <a:defRPr/>
            </a:pPr>
            <a:r>
              <a:rPr kumimoji="0" lang="en-US" sz="1800" b="1" i="0" u="none" strike="noStrike" kern="1200" cap="none" spc="0" normalizeH="0" baseline="0" noProof="0">
                <a:ln>
                  <a:noFill/>
                </a:ln>
                <a:gradFill>
                  <a:gsLst>
                    <a:gs pos="11189">
                      <a:srgbClr val="FFFFFF"/>
                    </a:gs>
                    <a:gs pos="39000">
                      <a:srgbClr val="FFFFFF"/>
                    </a:gs>
                  </a:gsLst>
                  <a:path path="circle">
                    <a:fillToRect l="100000" t="100000"/>
                  </a:path>
                </a:gradFill>
                <a:effectLst/>
                <a:uLnTx/>
                <a:uFillTx/>
                <a:latin typeface="Segoe Sans Text Semibold" pitchFamily="2" charset="0"/>
                <a:ea typeface="+mn-ea"/>
                <a:cs typeface="Segoe Sans Text" pitchFamily="2" charset="0"/>
              </a:rPr>
              <a:t>Unmatched breadth</a:t>
            </a:r>
          </a:p>
        </p:txBody>
      </p:sp>
      <p:sp>
        <p:nvSpPr>
          <p:cNvPr id="7" name="Rounded Rectangle 12">
            <a:extLst>
              <a:ext uri="{FF2B5EF4-FFF2-40B4-BE49-F238E27FC236}">
                <a16:creationId xmlns:a16="http://schemas.microsoft.com/office/drawing/2014/main" id="{44766976-967D-F620-99BD-A488755891A6}"/>
              </a:ext>
              <a:ext uri="{C183D7F6-B498-43B3-948B-1728B52AA6E4}">
                <adec:decorative xmlns:adec="http://schemas.microsoft.com/office/drawing/2017/decorative" val="1"/>
              </a:ext>
            </a:extLst>
          </p:cNvPr>
          <p:cNvSpPr/>
          <p:nvPr/>
        </p:nvSpPr>
        <p:spPr bwMode="auto">
          <a:xfrm>
            <a:off x="4589590" y="4949143"/>
            <a:ext cx="3030647" cy="914400"/>
          </a:xfrm>
          <a:prstGeom prst="roundRect">
            <a:avLst>
              <a:gd name="adj" fmla="val 19649"/>
            </a:avLst>
          </a:prstGeom>
          <a:gradFill flip="none" rotWithShape="1">
            <a:gsLst>
              <a:gs pos="72000">
                <a:schemeClr val="tx2"/>
              </a:gs>
              <a:gs pos="0">
                <a:schemeClr val="accent3"/>
              </a:gs>
            </a:gsLst>
            <a:path path="circle">
              <a:fillToRect l="100000" t="100000"/>
            </a:path>
            <a:tileRect r="-100000" b="-100000"/>
          </a:gra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491019" rtl="0" eaLnBrk="1" fontAlgn="auto" latinLnBrk="0" hangingPunct="1">
              <a:lnSpc>
                <a:spcPct val="100000"/>
              </a:lnSpc>
              <a:spcBef>
                <a:spcPts val="0"/>
              </a:spcBef>
              <a:spcAft>
                <a:spcPct val="0"/>
              </a:spcAft>
              <a:buClrTx/>
              <a:buSzTx/>
              <a:buFontTx/>
              <a:buNone/>
              <a:tabLst/>
              <a:defRPr/>
            </a:pPr>
            <a:r>
              <a:rPr kumimoji="0" lang="en-US" sz="1800" b="1" i="0" u="none" strike="noStrike" kern="1200" cap="none" spc="0" normalizeH="0" baseline="0" noProof="0">
                <a:ln>
                  <a:noFill/>
                </a:ln>
                <a:gradFill>
                  <a:gsLst>
                    <a:gs pos="11189">
                      <a:srgbClr val="FFFFFF"/>
                    </a:gs>
                    <a:gs pos="39000">
                      <a:srgbClr val="FFFFFF"/>
                    </a:gs>
                  </a:gsLst>
                  <a:path path="circle">
                    <a:fillToRect l="100000" t="100000"/>
                  </a:path>
                </a:gradFill>
                <a:effectLst/>
                <a:uLnTx/>
                <a:uFillTx/>
                <a:latin typeface="Segoe Sans Text Semibold" pitchFamily="2" charset="0"/>
                <a:ea typeface="+mn-ea"/>
                <a:cs typeface="Segoe Sans Text" pitchFamily="2" charset="0"/>
              </a:rPr>
              <a:t>Innovate with the best</a:t>
            </a:r>
          </a:p>
        </p:txBody>
      </p:sp>
      <p:sp>
        <p:nvSpPr>
          <p:cNvPr id="8" name="Rounded Rectangle 12">
            <a:extLst>
              <a:ext uri="{FF2B5EF4-FFF2-40B4-BE49-F238E27FC236}">
                <a16:creationId xmlns:a16="http://schemas.microsoft.com/office/drawing/2014/main" id="{1F354A88-4558-BB29-E139-6AEA9B962407}"/>
              </a:ext>
              <a:ext uri="{C183D7F6-B498-43B3-948B-1728B52AA6E4}">
                <adec:decorative xmlns:adec="http://schemas.microsoft.com/office/drawing/2017/decorative" val="1"/>
              </a:ext>
            </a:extLst>
          </p:cNvPr>
          <p:cNvSpPr/>
          <p:nvPr/>
        </p:nvSpPr>
        <p:spPr bwMode="auto">
          <a:xfrm>
            <a:off x="7947891" y="4949143"/>
            <a:ext cx="3030647" cy="914400"/>
          </a:xfrm>
          <a:prstGeom prst="roundRect">
            <a:avLst>
              <a:gd name="adj" fmla="val 18098"/>
            </a:avLst>
          </a:prstGeom>
          <a:gradFill flip="none" rotWithShape="1">
            <a:gsLst>
              <a:gs pos="72000">
                <a:schemeClr val="tx2"/>
              </a:gs>
              <a:gs pos="0">
                <a:schemeClr val="accent3"/>
              </a:gs>
            </a:gsLst>
            <a:path path="circle">
              <a:fillToRect l="100000" t="100000"/>
            </a:path>
            <a:tileRect r="-100000" b="-100000"/>
          </a:gra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491019" rtl="0" eaLnBrk="1" fontAlgn="auto" latinLnBrk="0" hangingPunct="1">
              <a:lnSpc>
                <a:spcPct val="100000"/>
              </a:lnSpc>
              <a:spcBef>
                <a:spcPts val="0"/>
              </a:spcBef>
              <a:spcAft>
                <a:spcPct val="0"/>
              </a:spcAft>
              <a:buClrTx/>
              <a:buSzTx/>
              <a:buFontTx/>
              <a:buNone/>
              <a:tabLst/>
              <a:defRPr/>
            </a:pPr>
            <a:r>
              <a:rPr kumimoji="0" lang="en-US" sz="1800" b="1" i="0" u="none" strike="noStrike" kern="1200" cap="none" spc="0" normalizeH="0" baseline="0" noProof="0">
                <a:ln>
                  <a:noFill/>
                </a:ln>
                <a:gradFill>
                  <a:gsLst>
                    <a:gs pos="11189">
                      <a:srgbClr val="FFFFFF"/>
                    </a:gs>
                    <a:gs pos="39000">
                      <a:srgbClr val="FFFFFF"/>
                    </a:gs>
                  </a:gsLst>
                  <a:path path="circle">
                    <a:fillToRect l="100000" t="100000"/>
                  </a:path>
                </a:gradFill>
                <a:effectLst/>
                <a:uLnTx/>
                <a:uFillTx/>
                <a:latin typeface="Segoe Sans Text Semibold" pitchFamily="2" charset="0"/>
                <a:ea typeface="+mn-ea"/>
                <a:cs typeface="Segoe Sans Text" pitchFamily="2" charset="0"/>
              </a:rPr>
              <a:t>Enterprise-grade </a:t>
            </a:r>
            <a:br>
              <a:rPr kumimoji="0" lang="en-US" sz="1800" b="1" i="0" u="none" strike="noStrike" kern="1200" cap="none" spc="0" normalizeH="0" baseline="0" noProof="0">
                <a:ln>
                  <a:noFill/>
                </a:ln>
                <a:gradFill>
                  <a:gsLst>
                    <a:gs pos="11189">
                      <a:srgbClr val="FFFFFF"/>
                    </a:gs>
                    <a:gs pos="39000">
                      <a:srgbClr val="FFFFFF"/>
                    </a:gs>
                  </a:gsLst>
                  <a:path path="circle">
                    <a:fillToRect l="100000" t="100000"/>
                  </a:path>
                </a:gradFill>
                <a:effectLst/>
                <a:uLnTx/>
                <a:uFillTx/>
                <a:latin typeface="Segoe Sans Text Semibold" pitchFamily="2" charset="0"/>
                <a:ea typeface="+mn-ea"/>
                <a:cs typeface="Segoe Sans Text" pitchFamily="2" charset="0"/>
              </a:rPr>
            </a:br>
            <a:r>
              <a:rPr kumimoji="0" lang="en-US" sz="1800" b="1" i="0" u="none" strike="noStrike" kern="1200" cap="none" spc="0" normalizeH="0" baseline="0" noProof="0">
                <a:ln>
                  <a:noFill/>
                </a:ln>
                <a:gradFill>
                  <a:gsLst>
                    <a:gs pos="11189">
                      <a:srgbClr val="FFFFFF"/>
                    </a:gs>
                    <a:gs pos="39000">
                      <a:srgbClr val="FFFFFF"/>
                    </a:gs>
                  </a:gsLst>
                  <a:path path="circle">
                    <a:fillToRect l="100000" t="100000"/>
                  </a:path>
                </a:gradFill>
                <a:effectLst/>
                <a:uLnTx/>
                <a:uFillTx/>
                <a:latin typeface="Segoe Sans Text Semibold" pitchFamily="2" charset="0"/>
                <a:ea typeface="+mn-ea"/>
                <a:cs typeface="Segoe Sans Text" pitchFamily="2" charset="0"/>
              </a:rPr>
              <a:t>reliability</a:t>
            </a:r>
          </a:p>
        </p:txBody>
      </p:sp>
      <p:sp>
        <p:nvSpPr>
          <p:cNvPr id="13" name="Title 17">
            <a:extLst>
              <a:ext uri="{FF2B5EF4-FFF2-40B4-BE49-F238E27FC236}">
                <a16:creationId xmlns:a16="http://schemas.microsoft.com/office/drawing/2014/main" id="{598E92A0-9FFD-82C5-43B8-EC32E990C8ED}"/>
              </a:ext>
            </a:extLst>
          </p:cNvPr>
          <p:cNvSpPr txBox="1">
            <a:spLocks/>
          </p:cNvSpPr>
          <p:nvPr/>
        </p:nvSpPr>
        <p:spPr>
          <a:xfrm>
            <a:off x="587375" y="651653"/>
            <a:ext cx="11017250" cy="738664"/>
          </a:xfrm>
          <a:prstGeom prst="rect">
            <a:avLst/>
          </a:prstGeom>
          <a:noFill/>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4800" b="1" i="0" u="none" strike="noStrike" kern="1200" cap="none" spc="-50" normalizeH="0" baseline="0" noProof="0">
                <a:ln w="3175">
                  <a:noFill/>
                </a:ln>
                <a:solidFill>
                  <a:srgbClr val="0078D4"/>
                </a:solidFill>
                <a:effectLst/>
                <a:uLnTx/>
                <a:uFillTx/>
                <a:latin typeface="Segoe Sans Text Semibold" pitchFamily="2" charset="0"/>
                <a:ea typeface="+mn-ea"/>
                <a:cs typeface="Segoe Sans Text Semibold" pitchFamily="2" charset="0"/>
              </a:rPr>
              <a:t>Models from partners and community</a:t>
            </a:r>
          </a:p>
        </p:txBody>
      </p:sp>
      <p:sp>
        <p:nvSpPr>
          <p:cNvPr id="14" name="Text Placeholder 18">
            <a:extLst>
              <a:ext uri="{FF2B5EF4-FFF2-40B4-BE49-F238E27FC236}">
                <a16:creationId xmlns:a16="http://schemas.microsoft.com/office/drawing/2014/main" id="{3A85B30B-41D4-E322-2D20-1C2478BE296A}"/>
              </a:ext>
            </a:extLst>
          </p:cNvPr>
          <p:cNvSpPr txBox="1">
            <a:spLocks/>
          </p:cNvSpPr>
          <p:nvPr/>
        </p:nvSpPr>
        <p:spPr>
          <a:xfrm>
            <a:off x="587375" y="1520845"/>
            <a:ext cx="11017250" cy="369332"/>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2682317" rtl="0" eaLnBrk="1" fontAlgn="auto" latinLnBrk="0" hangingPunct="1">
              <a:lnSpc>
                <a:spcPct val="100000"/>
              </a:lnSpc>
              <a:spcBef>
                <a:spcPct val="0"/>
              </a:spcBef>
              <a:spcAft>
                <a:spcPts val="3520"/>
              </a:spcAft>
              <a:buClrTx/>
              <a:buSzPct val="90000"/>
              <a:buFont typeface="Wingdings" panose="05000000000000000000" pitchFamily="2" charset="2"/>
              <a:buNone/>
              <a:tabLst/>
              <a:defRPr/>
            </a:pPr>
            <a:r>
              <a:rPr kumimoji="0" lang="en-US" sz="2400" b="0" i="0" u="none" strike="noStrike" kern="1200" cap="none" spc="0" normalizeH="0" baseline="0" noProof="0">
                <a:ln w="3175">
                  <a:noFill/>
                </a:ln>
                <a:solidFill>
                  <a:srgbClr val="000000"/>
                </a:solidFill>
                <a:effectLst/>
                <a:uLnTx/>
                <a:uFillTx/>
                <a:latin typeface="Segoe Sans Text" pitchFamily="2" charset="0"/>
                <a:ea typeface="+mn-lt"/>
                <a:cs typeface="Segoe Sans Display"/>
              </a:rPr>
              <a:t>From agile prototyping to high-scale production</a:t>
            </a:r>
            <a:endParaRPr kumimoji="0" lang="en-US" sz="2400" b="0" i="0" u="none" strike="noStrike" kern="1200" cap="none" spc="0" normalizeH="0" baseline="0" noProof="0">
              <a:ln>
                <a:noFill/>
              </a:ln>
              <a:solidFill>
                <a:srgbClr val="000000"/>
              </a:solidFill>
              <a:effectLst/>
              <a:uLnTx/>
              <a:uFillTx/>
              <a:latin typeface="Segoe Sans Text" pitchFamily="2" charset="0"/>
              <a:ea typeface="+mn-ea"/>
              <a:cs typeface="Segoe Sans Display" pitchFamily="2" charset="0"/>
            </a:endParaRPr>
          </a:p>
        </p:txBody>
      </p:sp>
      <p:sp>
        <p:nvSpPr>
          <p:cNvPr id="67" name="TextBox 66">
            <a:extLst>
              <a:ext uri="{FF2B5EF4-FFF2-40B4-BE49-F238E27FC236}">
                <a16:creationId xmlns:a16="http://schemas.microsoft.com/office/drawing/2014/main" id="{5D0D129B-F601-01D5-301B-75DDC8F6C9A8}"/>
              </a:ext>
            </a:extLst>
          </p:cNvPr>
          <p:cNvSpPr txBox="1"/>
          <p:nvPr/>
        </p:nvSpPr>
        <p:spPr>
          <a:xfrm>
            <a:off x="7597654" y="2968707"/>
            <a:ext cx="914400" cy="323165"/>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err="1">
                <a:ln>
                  <a:noFill/>
                </a:ln>
                <a:solidFill>
                  <a:srgbClr val="000000"/>
                </a:solidFill>
                <a:effectLst/>
                <a:uLnTx/>
                <a:uFillTx/>
                <a:latin typeface="Segoe Sans Text"/>
                <a:ea typeface="+mn-ea"/>
                <a:cs typeface="+mn-cs"/>
              </a:rPr>
              <a:t>Nixtla</a:t>
            </a:r>
            <a:r>
              <a:rPr kumimoji="0" lang="en-US" sz="1050" b="0" i="0" u="none" strike="noStrike" kern="0" cap="none" spc="0" normalizeH="0" baseline="0" noProof="0">
                <a:ln>
                  <a:noFill/>
                </a:ln>
                <a:solidFill>
                  <a:srgbClr val="000000"/>
                </a:solidFill>
                <a:effectLst/>
                <a:uLnTx/>
                <a:uFillTx/>
                <a:latin typeface="Segoe Sans Text"/>
                <a:ea typeface="+mn-ea"/>
                <a:cs typeface="+mn-cs"/>
              </a:rPr>
              <a:t> Time-Gen1 Model</a:t>
            </a:r>
          </a:p>
        </p:txBody>
      </p:sp>
      <p:sp>
        <p:nvSpPr>
          <p:cNvPr id="68" name="TextBox 67">
            <a:extLst>
              <a:ext uri="{FF2B5EF4-FFF2-40B4-BE49-F238E27FC236}">
                <a16:creationId xmlns:a16="http://schemas.microsoft.com/office/drawing/2014/main" id="{540427A4-2FA8-4D3E-6F05-403213A3BDA4}"/>
              </a:ext>
            </a:extLst>
          </p:cNvPr>
          <p:cNvSpPr txBox="1"/>
          <p:nvPr/>
        </p:nvSpPr>
        <p:spPr>
          <a:xfrm>
            <a:off x="8860201" y="2968707"/>
            <a:ext cx="914400" cy="323165"/>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mn-cs"/>
              </a:rPr>
              <a:t>Databricks</a:t>
            </a:r>
            <a:br>
              <a:rPr kumimoji="0" lang="en-US" sz="1050" b="0" i="0" u="none" strike="noStrike" kern="0" cap="none" spc="0" normalizeH="0" baseline="0" noProof="0">
                <a:ln>
                  <a:noFill/>
                </a:ln>
                <a:solidFill>
                  <a:srgbClr val="000000"/>
                </a:solidFill>
                <a:effectLst/>
                <a:uLnTx/>
                <a:uFillTx/>
                <a:latin typeface="Segoe Sans Text"/>
                <a:ea typeface="+mn-ea"/>
                <a:cs typeface="+mn-cs"/>
              </a:rPr>
            </a:br>
            <a:r>
              <a:rPr kumimoji="0" lang="en-US" sz="1050" b="0" i="0" u="none" strike="noStrike" kern="0" cap="none" spc="0" normalizeH="0" baseline="0" noProof="0">
                <a:ln>
                  <a:noFill/>
                </a:ln>
                <a:solidFill>
                  <a:srgbClr val="000000"/>
                </a:solidFill>
                <a:effectLst/>
                <a:uLnTx/>
                <a:uFillTx/>
                <a:latin typeface="Segoe Sans Text"/>
                <a:ea typeface="+mn-ea"/>
                <a:cs typeface="+mn-cs"/>
              </a:rPr>
              <a:t>Model Family</a:t>
            </a:r>
          </a:p>
        </p:txBody>
      </p:sp>
      <p:sp>
        <p:nvSpPr>
          <p:cNvPr id="69" name="TextBox 68">
            <a:extLst>
              <a:ext uri="{FF2B5EF4-FFF2-40B4-BE49-F238E27FC236}">
                <a16:creationId xmlns:a16="http://schemas.microsoft.com/office/drawing/2014/main" id="{1B14586B-9DE6-4D87-2D13-9897425C1C2B}"/>
              </a:ext>
            </a:extLst>
          </p:cNvPr>
          <p:cNvSpPr txBox="1"/>
          <p:nvPr/>
        </p:nvSpPr>
        <p:spPr>
          <a:xfrm>
            <a:off x="3810016" y="2968707"/>
            <a:ext cx="914400"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mn-cs"/>
              </a:rPr>
              <a:t>Cohere</a:t>
            </a:r>
            <a:br>
              <a:rPr kumimoji="0" lang="en-US" sz="1050" b="0" i="0" u="none" strike="noStrike" kern="0" cap="none" spc="0" normalizeH="0" baseline="0" noProof="0">
                <a:ln>
                  <a:noFill/>
                </a:ln>
                <a:solidFill>
                  <a:srgbClr val="000000"/>
                </a:solidFill>
                <a:effectLst/>
                <a:uLnTx/>
                <a:uFillTx/>
                <a:latin typeface="Segoe Sans Text"/>
                <a:ea typeface="+mn-ea"/>
                <a:cs typeface="+mn-cs"/>
              </a:rPr>
            </a:br>
            <a:r>
              <a:rPr kumimoji="0" lang="en-US" sz="1050" b="0" i="0" u="none" strike="noStrike" kern="0" cap="none" spc="0" normalizeH="0" baseline="0" noProof="0">
                <a:ln>
                  <a:noFill/>
                </a:ln>
                <a:solidFill>
                  <a:srgbClr val="000000"/>
                </a:solidFill>
                <a:effectLst/>
                <a:uLnTx/>
                <a:uFillTx/>
                <a:latin typeface="Segoe Sans Text"/>
                <a:ea typeface="+mn-ea"/>
                <a:cs typeface="+mn-cs"/>
              </a:rPr>
              <a:t>Model Family</a:t>
            </a:r>
          </a:p>
        </p:txBody>
      </p:sp>
      <p:sp>
        <p:nvSpPr>
          <p:cNvPr id="70" name="TextBox 69">
            <a:extLst>
              <a:ext uri="{FF2B5EF4-FFF2-40B4-BE49-F238E27FC236}">
                <a16:creationId xmlns:a16="http://schemas.microsoft.com/office/drawing/2014/main" id="{3C0B24F5-02DF-1F27-4E58-90CD94AA71B0}"/>
              </a:ext>
            </a:extLst>
          </p:cNvPr>
          <p:cNvSpPr txBox="1"/>
          <p:nvPr/>
        </p:nvSpPr>
        <p:spPr>
          <a:xfrm>
            <a:off x="5072562" y="2968707"/>
            <a:ext cx="914400" cy="323165"/>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mn-cs"/>
              </a:rPr>
              <a:t>Hugging Face</a:t>
            </a:r>
            <a:br>
              <a:rPr kumimoji="0" lang="en-US" sz="1050" b="0" i="0" u="none" strike="noStrike" kern="0" cap="none" spc="0" normalizeH="0" baseline="0" noProof="0">
                <a:ln>
                  <a:noFill/>
                </a:ln>
                <a:solidFill>
                  <a:srgbClr val="000000"/>
                </a:solidFill>
                <a:effectLst/>
                <a:uLnTx/>
                <a:uFillTx/>
                <a:latin typeface="Segoe Sans Text"/>
                <a:ea typeface="+mn-ea"/>
                <a:cs typeface="+mn-cs"/>
              </a:rPr>
            </a:br>
            <a:r>
              <a:rPr kumimoji="0" lang="en-US" sz="1050" b="0" i="0" u="none" strike="noStrike" kern="0" cap="none" spc="0" normalizeH="0" baseline="0" noProof="0">
                <a:ln>
                  <a:noFill/>
                </a:ln>
                <a:solidFill>
                  <a:srgbClr val="000000"/>
                </a:solidFill>
                <a:effectLst/>
                <a:uLnTx/>
                <a:uFillTx/>
                <a:latin typeface="Segoe Sans Text"/>
                <a:ea typeface="+mn-ea"/>
                <a:cs typeface="+mn-cs"/>
              </a:rPr>
              <a:t>Collection</a:t>
            </a:r>
          </a:p>
        </p:txBody>
      </p:sp>
      <p:sp>
        <p:nvSpPr>
          <p:cNvPr id="71" name="TextBox 70">
            <a:extLst>
              <a:ext uri="{FF2B5EF4-FFF2-40B4-BE49-F238E27FC236}">
                <a16:creationId xmlns:a16="http://schemas.microsoft.com/office/drawing/2014/main" id="{11AB9508-A159-3EEE-611E-F4E5AAEE0AEF}"/>
              </a:ext>
            </a:extLst>
          </p:cNvPr>
          <p:cNvSpPr txBox="1"/>
          <p:nvPr/>
        </p:nvSpPr>
        <p:spPr>
          <a:xfrm>
            <a:off x="6335108" y="2968707"/>
            <a:ext cx="914400"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mn-cs"/>
              </a:rPr>
              <a:t>NVIDIA Model Family</a:t>
            </a:r>
          </a:p>
        </p:txBody>
      </p:sp>
      <p:pic>
        <p:nvPicPr>
          <p:cNvPr id="75" name="Graphic 74">
            <a:extLst>
              <a:ext uri="{FF2B5EF4-FFF2-40B4-BE49-F238E27FC236}">
                <a16:creationId xmlns:a16="http://schemas.microsoft.com/office/drawing/2014/main" id="{80740F57-A6A1-DC92-BFFF-9A5A4B5FD7B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342623" y="2541453"/>
            <a:ext cx="374278" cy="374278"/>
          </a:xfrm>
          <a:prstGeom prst="rect">
            <a:avLst/>
          </a:prstGeom>
        </p:spPr>
      </p:pic>
      <p:pic>
        <p:nvPicPr>
          <p:cNvPr id="3" name="Picture 2" descr="Claude Logo 免費下載 SVG, PNG, 矢量圖標 · LobeHub">
            <a:extLst>
              <a:ext uri="{FF2B5EF4-FFF2-40B4-BE49-F238E27FC236}">
                <a16:creationId xmlns:a16="http://schemas.microsoft.com/office/drawing/2014/main" id="{770B23B9-52DD-3BC8-794E-F1B5802C546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36484" y="2509303"/>
            <a:ext cx="408590" cy="38888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66AE3C-2740-126A-8183-8BD873764E77}"/>
              </a:ext>
            </a:extLst>
          </p:cNvPr>
          <p:cNvSpPr txBox="1"/>
          <p:nvPr/>
        </p:nvSpPr>
        <p:spPr>
          <a:xfrm>
            <a:off x="2344504" y="2985563"/>
            <a:ext cx="1179410" cy="30777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Text"/>
                <a:ea typeface="+mn-ea"/>
                <a:cs typeface="+mn-cs"/>
              </a:rPr>
              <a:t>Claude in Microsoft Foundry</a:t>
            </a:r>
          </a:p>
        </p:txBody>
      </p:sp>
    </p:spTree>
    <p:extLst>
      <p:ext uri="{BB962C8B-B14F-4D97-AF65-F5344CB8AC3E}">
        <p14:creationId xmlns:p14="http://schemas.microsoft.com/office/powerpoint/2010/main" val="41823304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42" presetClass="path" presetSubtype="0" decel="100000" fill="hold" grpId="1" nodeType="withEffect">
                                  <p:stCondLst>
                                    <p:cond delay="100"/>
                                  </p:stCondLst>
                                  <p:childTnLst>
                                    <p:animMotion origin="layout" path="M -2.29167E-6 -2.59259E-6 L -2.29167E-6 0.03542 " pathEditMode="relative" rAng="0" ptsTypes="AA">
                                      <p:cBhvr>
                                        <p:cTn id="9" dur="700" spd="-100000" fill="hold"/>
                                        <p:tgtEl>
                                          <p:spTgt spid="13"/>
                                        </p:tgtEl>
                                        <p:attrNameLst>
                                          <p:attrName>ppt_x</p:attrName>
                                          <p:attrName>ppt_y</p:attrName>
                                        </p:attrNameLst>
                                      </p:cBhvr>
                                      <p:rCtr x="0" y="1759"/>
                                    </p:animMotion>
                                  </p:childTnLst>
                                </p:cTn>
                              </p:par>
                              <p:par>
                                <p:cTn id="10" presetID="10" presetClass="entr" presetSubtype="0" fill="hold" grpId="0" nodeType="withEffect">
                                  <p:stCondLst>
                                    <p:cond delay="10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42" presetClass="path" presetSubtype="0" decel="100000" fill="hold" grpId="1" nodeType="withEffect">
                                  <p:stCondLst>
                                    <p:cond delay="100"/>
                                  </p:stCondLst>
                                  <p:childTnLst>
                                    <p:animMotion origin="layout" path="M -2.29167E-6 -1.85185E-6 L -2.29167E-6 0.03542 " pathEditMode="relative" rAng="0" ptsTypes="AA">
                                      <p:cBhvr>
                                        <p:cTn id="14" dur="700" spd="-100000" fill="hold"/>
                                        <p:tgtEl>
                                          <p:spTgt spid="14"/>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4" grpId="0"/>
      <p:bldP spid="14" grpId="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ACBE569-B59C-16C0-D2E4-443CFF31B98E}"/>
            </a:ext>
          </a:extLst>
        </p:cNvPr>
        <p:cNvGrpSpPr/>
        <p:nvPr/>
      </p:nvGrpSpPr>
      <p:grpSpPr>
        <a:xfrm>
          <a:off x="0" y="0"/>
          <a:ext cx="0" cy="0"/>
          <a:chOff x="0" y="0"/>
          <a:chExt cx="0" cy="0"/>
        </a:xfrm>
      </p:grpSpPr>
      <p:sp>
        <p:nvSpPr>
          <p:cNvPr id="37" name="Title 36">
            <a:extLst>
              <a:ext uri="{FF2B5EF4-FFF2-40B4-BE49-F238E27FC236}">
                <a16:creationId xmlns:a16="http://schemas.microsoft.com/office/drawing/2014/main" id="{3BF4D25F-D77E-7E25-50C9-E0E0B2C766FB}"/>
              </a:ext>
            </a:extLst>
          </p:cNvPr>
          <p:cNvSpPr>
            <a:spLocks noGrp="1"/>
          </p:cNvSpPr>
          <p:nvPr>
            <p:ph type="title"/>
          </p:nvPr>
        </p:nvSpPr>
        <p:spPr>
          <a:xfrm>
            <a:off x="588263" y="457200"/>
            <a:ext cx="11018520" cy="1138773"/>
          </a:xfrm>
        </p:spPr>
        <p:txBody>
          <a:bodyPr/>
          <a:lstStyle/>
          <a:p>
            <a:r>
              <a:rPr lang="en-US">
                <a:solidFill>
                  <a:srgbClr val="0070C0"/>
                </a:solidFill>
              </a:rPr>
              <a:t>Models from Partner and Community</a:t>
            </a:r>
            <a:br>
              <a:rPr lang="en-US">
                <a:solidFill>
                  <a:srgbClr val="0070C0"/>
                </a:solidFill>
              </a:rPr>
            </a:br>
            <a:br>
              <a:rPr lang="en-US" sz="1800" i="1"/>
            </a:br>
            <a:endParaRPr lang="en-US" sz="1800" b="1" i="1">
              <a:latin typeface="Segoe Sans Display Semibold" pitchFamily="2" charset="0"/>
              <a:cs typeface="Segoe Sans Display Semibold" pitchFamily="2" charset="0"/>
            </a:endParaRPr>
          </a:p>
        </p:txBody>
      </p:sp>
      <p:sp>
        <p:nvSpPr>
          <p:cNvPr id="6156" name="TextBox 6155">
            <a:extLst>
              <a:ext uri="{FF2B5EF4-FFF2-40B4-BE49-F238E27FC236}">
                <a16:creationId xmlns:a16="http://schemas.microsoft.com/office/drawing/2014/main" id="{DD3AA1BA-1654-3886-C5CF-4B79A254C4CB}"/>
              </a:ext>
            </a:extLst>
          </p:cNvPr>
          <p:cNvSpPr txBox="1"/>
          <p:nvPr/>
        </p:nvSpPr>
        <p:spPr>
          <a:xfrm>
            <a:off x="879883" y="2747443"/>
            <a:ext cx="5573326" cy="2769989"/>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              Managed compute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mn-cs"/>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Customers deploy models on their own Azure compute​</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Suitable for those with dedicated GPU investments or custom stacks​</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Supports workload predictability and governance</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Enables monetized model usage directly via Microsoft Foundry</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100s of open models</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p:txBody>
      </p:sp>
      <p:grpSp>
        <p:nvGrpSpPr>
          <p:cNvPr id="6157" name="Group 6156">
            <a:extLst>
              <a:ext uri="{FF2B5EF4-FFF2-40B4-BE49-F238E27FC236}">
                <a16:creationId xmlns:a16="http://schemas.microsoft.com/office/drawing/2014/main" id="{F7AE7D9C-EEF4-8580-454C-46231AD633F3}"/>
              </a:ext>
              <a:ext uri="{C183D7F6-B498-43B3-948B-1728B52AA6E4}">
                <adec:decorative xmlns:adec="http://schemas.microsoft.com/office/drawing/2017/decorative" val="1"/>
              </a:ext>
            </a:extLst>
          </p:cNvPr>
          <p:cNvGrpSpPr/>
          <p:nvPr/>
        </p:nvGrpSpPr>
        <p:grpSpPr>
          <a:xfrm>
            <a:off x="2725938" y="1639905"/>
            <a:ext cx="914400" cy="914400"/>
            <a:chOff x="3478213" y="1639905"/>
            <a:chExt cx="914400" cy="914400"/>
          </a:xfrm>
        </p:grpSpPr>
        <p:sp>
          <p:nvSpPr>
            <p:cNvPr id="6158" name="Oval 6157">
              <a:extLst>
                <a:ext uri="{FF2B5EF4-FFF2-40B4-BE49-F238E27FC236}">
                  <a16:creationId xmlns:a16="http://schemas.microsoft.com/office/drawing/2014/main" id="{36932D6E-D8D6-F70F-AEE9-9B7C84BE9782}"/>
                </a:ext>
                <a:ext uri="{C183D7F6-B498-43B3-948B-1728B52AA6E4}">
                  <adec:decorative xmlns:adec="http://schemas.microsoft.com/office/drawing/2017/decorative" val="1"/>
                </a:ext>
              </a:extLst>
            </p:cNvPr>
            <p:cNvSpPr/>
            <p:nvPr/>
          </p:nvSpPr>
          <p:spPr bwMode="auto">
            <a:xfrm>
              <a:off x="3478213" y="1639905"/>
              <a:ext cx="914400" cy="914400"/>
            </a:xfrm>
            <a:prstGeom prst="ellipse">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solidFill>
                <a:effectLst/>
                <a:uLnTx/>
                <a:uFillTx/>
                <a:latin typeface="Segoe UI Semibold"/>
                <a:ea typeface="+mn-ea"/>
                <a:cs typeface="+mn-cs"/>
              </a:endParaRPr>
            </a:p>
          </p:txBody>
        </p:sp>
        <p:pic>
          <p:nvPicPr>
            <p:cNvPr id="6159" name="Graphic 6158">
              <a:extLst>
                <a:ext uri="{FF2B5EF4-FFF2-40B4-BE49-F238E27FC236}">
                  <a16:creationId xmlns:a16="http://schemas.microsoft.com/office/drawing/2014/main" id="{B439D20B-1F57-6FA5-28E5-3738862238E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59643" y="1827105"/>
              <a:ext cx="540000" cy="540000"/>
            </a:xfrm>
            <a:prstGeom prst="rect">
              <a:avLst/>
            </a:prstGeom>
          </p:spPr>
        </p:pic>
      </p:grpSp>
      <p:sp>
        <p:nvSpPr>
          <p:cNvPr id="6160" name="TextBox 6159">
            <a:extLst>
              <a:ext uri="{FF2B5EF4-FFF2-40B4-BE49-F238E27FC236}">
                <a16:creationId xmlns:a16="http://schemas.microsoft.com/office/drawing/2014/main" id="{438C367A-C985-39A1-30DB-1C3AAD60EA7F}"/>
              </a:ext>
            </a:extLst>
          </p:cNvPr>
          <p:cNvSpPr txBox="1"/>
          <p:nvPr/>
        </p:nvSpPr>
        <p:spPr>
          <a:xfrm>
            <a:off x="6550884" y="2640580"/>
            <a:ext cx="5573326" cy="2339102"/>
          </a:xfrm>
          <a:prstGeom prst="rect">
            <a:avLst/>
          </a:prstGeom>
          <a:noFill/>
        </p:spPr>
        <p:txBody>
          <a:bodyPr wrap="square" lIns="0" tIns="0" rIns="0" bIns="0" rtlCol="0" anchor="t">
            <a:spAutoFit/>
          </a:bodyPr>
          <a:lstStyle/>
          <a:p>
            <a:pPr marL="1371600" marR="0" lvl="3"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Segoe UI"/>
                <a:ea typeface="+mn-ea"/>
                <a:cs typeface="+mn-cs"/>
              </a:rPr>
              <a:t>Standard </a:t>
            </a:r>
          </a:p>
          <a:p>
            <a:pPr marL="1371600" marR="0" lvl="3"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mn-cs"/>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On-demand (pay-go) compute with flexible billing​</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Great for customers without pre-allocated GPU/VM quota​</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Ideal for teams evaluating models or experimenting with use cases</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30+ flagship models</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p:txBody>
      </p:sp>
      <p:grpSp>
        <p:nvGrpSpPr>
          <p:cNvPr id="6161" name="Group 6160">
            <a:extLst>
              <a:ext uri="{FF2B5EF4-FFF2-40B4-BE49-F238E27FC236}">
                <a16:creationId xmlns:a16="http://schemas.microsoft.com/office/drawing/2014/main" id="{B75A640C-269B-4490-ECB0-3F3C1DE6F6C5}"/>
              </a:ext>
              <a:ext uri="{C183D7F6-B498-43B3-948B-1728B52AA6E4}">
                <adec:decorative xmlns:adec="http://schemas.microsoft.com/office/drawing/2017/decorative" val="1"/>
              </a:ext>
            </a:extLst>
          </p:cNvPr>
          <p:cNvGrpSpPr/>
          <p:nvPr/>
        </p:nvGrpSpPr>
        <p:grpSpPr>
          <a:xfrm>
            <a:off x="8059009" y="1639905"/>
            <a:ext cx="914400" cy="914400"/>
            <a:chOff x="7611745" y="1639905"/>
            <a:chExt cx="914400" cy="914400"/>
          </a:xfrm>
        </p:grpSpPr>
        <p:sp>
          <p:nvSpPr>
            <p:cNvPr id="6162" name="Oval 6161">
              <a:extLst>
                <a:ext uri="{FF2B5EF4-FFF2-40B4-BE49-F238E27FC236}">
                  <a16:creationId xmlns:a16="http://schemas.microsoft.com/office/drawing/2014/main" id="{2DE98146-AE69-8589-4249-77DFA35EFE03}"/>
                </a:ext>
                <a:ext uri="{C183D7F6-B498-43B3-948B-1728B52AA6E4}">
                  <adec:decorative xmlns:adec="http://schemas.microsoft.com/office/drawing/2017/decorative" val="1"/>
                </a:ext>
              </a:extLst>
            </p:cNvPr>
            <p:cNvSpPr/>
            <p:nvPr/>
          </p:nvSpPr>
          <p:spPr bwMode="auto">
            <a:xfrm>
              <a:off x="7611745" y="1639905"/>
              <a:ext cx="914400" cy="914400"/>
            </a:xfrm>
            <a:prstGeom prst="ellipse">
              <a:avLst/>
            </a:prstGeom>
            <a:gradFill flip="none" rotWithShape="1">
              <a:gsLst>
                <a:gs pos="0">
                  <a:srgbClr val="C03BC4"/>
                </a:gs>
                <a:gs pos="80000">
                  <a:srgbClr val="0078D4"/>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solidFill>
                <a:effectLst/>
                <a:uLnTx/>
                <a:uFillTx/>
                <a:latin typeface="Segoe UI Semibold"/>
                <a:ea typeface="+mn-ea"/>
                <a:cs typeface="+mn-cs"/>
              </a:endParaRPr>
            </a:p>
          </p:txBody>
        </p:sp>
        <p:pic>
          <p:nvPicPr>
            <p:cNvPr id="6163" name="Graphic 6162">
              <a:extLst>
                <a:ext uri="{FF2B5EF4-FFF2-40B4-BE49-F238E27FC236}">
                  <a16:creationId xmlns:a16="http://schemas.microsoft.com/office/drawing/2014/main" id="{93F46CD4-0B05-FDFB-9754-6DBC6F8F49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98945" y="1827105"/>
              <a:ext cx="540000" cy="540000"/>
            </a:xfrm>
            <a:prstGeom prst="rect">
              <a:avLst/>
            </a:prstGeom>
          </p:spPr>
        </p:pic>
      </p:grpSp>
    </p:spTree>
    <p:extLst>
      <p:ext uri="{BB962C8B-B14F-4D97-AF65-F5344CB8AC3E}">
        <p14:creationId xmlns:p14="http://schemas.microsoft.com/office/powerpoint/2010/main" val="376504742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E4E4B-4698-3ADE-0418-5A6714262862}"/>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EC269C47-9073-7DE9-E036-9C06560D29CA}"/>
              </a:ext>
            </a:extLst>
          </p:cNvPr>
          <p:cNvSpPr>
            <a:spLocks noGrp="1"/>
          </p:cNvSpPr>
          <p:nvPr>
            <p:ph type="title"/>
          </p:nvPr>
        </p:nvSpPr>
        <p:spPr/>
        <p:txBody>
          <a:bodyPr/>
          <a:lstStyle/>
          <a:p>
            <a:pPr algn="ctr"/>
            <a:r>
              <a:rPr lang="en-US">
                <a:solidFill>
                  <a:srgbClr val="0070C0"/>
                </a:solidFill>
              </a:rPr>
              <a:t>Models from Partner and Community</a:t>
            </a:r>
          </a:p>
        </p:txBody>
      </p:sp>
      <p:pic>
        <p:nvPicPr>
          <p:cNvPr id="2052" name="Picture 4" descr="A diagram showing the platform service life cycle.">
            <a:extLst>
              <a:ext uri="{FF2B5EF4-FFF2-40B4-BE49-F238E27FC236}">
                <a16:creationId xmlns:a16="http://schemas.microsoft.com/office/drawing/2014/main" id="{69A73607-4FF0-9262-23F5-127BA1F3AB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1338410" y="2340425"/>
            <a:ext cx="3499008" cy="2889290"/>
          </a:xfrm>
          <a:prstGeom prst="roundRect">
            <a:avLst>
              <a:gd name="adj" fmla="val 3956"/>
            </a:avLst>
          </a:prstGeom>
          <a:solidFill>
            <a:srgbClr val="091F2C"/>
          </a:solidFill>
          <a:ln>
            <a:noFill/>
            <a:headEnd type="none" w="med" len="med"/>
            <a:tailEnd type="none" w="med" len="med"/>
          </a:ln>
          <a:effectLst>
            <a:outerShdw blurRad="127000" dist="38100" dir="2700000" algn="tl" rotWithShape="0">
              <a:prstClr val="black">
                <a:alpha val="25000"/>
              </a:prstClr>
            </a:outerShdw>
          </a:effectLst>
        </p:spPr>
      </p:pic>
      <p:pic>
        <p:nvPicPr>
          <p:cNvPr id="2050" name="Picture 2" descr="A diagram showing model publisher service cycle.">
            <a:extLst>
              <a:ext uri="{FF2B5EF4-FFF2-40B4-BE49-F238E27FC236}">
                <a16:creationId xmlns:a16="http://schemas.microsoft.com/office/drawing/2014/main" id="{510B5230-3DA4-6117-E06B-7156E021B1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3047" y="2340425"/>
            <a:ext cx="4430740" cy="2889290"/>
          </a:xfrm>
          <a:prstGeom prst="roundRect">
            <a:avLst>
              <a:gd name="adj" fmla="val 3956"/>
            </a:avLst>
          </a:prstGeom>
          <a:solidFill>
            <a:srgbClr val="091F2C"/>
          </a:solidFill>
          <a:ln>
            <a:noFill/>
            <a:headEnd type="none" w="med" len="med"/>
            <a:tailEnd type="none" w="med" len="med"/>
          </a:ln>
          <a:effectLst>
            <a:outerShdw blurRad="127000" dist="38100" dir="2700000" algn="tl" rotWithShape="0">
              <a:prstClr val="black">
                <a:alpha val="25000"/>
              </a:prstClr>
            </a:outerShdw>
          </a:effectLst>
        </p:spPr>
      </p:pic>
      <p:sp>
        <p:nvSpPr>
          <p:cNvPr id="3" name="Rounded Rectangle 12">
            <a:extLst>
              <a:ext uri="{FF2B5EF4-FFF2-40B4-BE49-F238E27FC236}">
                <a16:creationId xmlns:a16="http://schemas.microsoft.com/office/drawing/2014/main" id="{BE030411-3322-9E68-1885-77176F0F2266}"/>
              </a:ext>
              <a:ext uri="{C183D7F6-B498-43B3-948B-1728B52AA6E4}">
                <adec:decorative xmlns:adec="http://schemas.microsoft.com/office/drawing/2017/decorative" val="1"/>
              </a:ext>
            </a:extLst>
          </p:cNvPr>
          <p:cNvSpPr/>
          <p:nvPr/>
        </p:nvSpPr>
        <p:spPr bwMode="auto">
          <a:xfrm>
            <a:off x="379548" y="1457776"/>
            <a:ext cx="5416732" cy="723900"/>
          </a:xfrm>
          <a:prstGeom prst="roundRect">
            <a:avLst>
              <a:gd name="adj" fmla="val 19649"/>
            </a:avLst>
          </a:prstGeom>
          <a:gradFill flip="none" rotWithShape="1">
            <a:gsLst>
              <a:gs pos="72000">
                <a:schemeClr val="tx2"/>
              </a:gs>
              <a:gs pos="0">
                <a:schemeClr val="accent3"/>
              </a:gs>
            </a:gsLst>
            <a:path path="circle">
              <a:fillToRect l="100000" t="100000"/>
            </a:path>
            <a:tileRect r="-100000" b="-100000"/>
          </a:gra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0" bIns="45720" numCol="1" spcCol="0" rtlCol="0" fromWordArt="0" anchor="ctr" anchorCtr="0" forceAA="0" compatLnSpc="1">
            <a:prstTxWarp prst="textNoShape">
              <a:avLst/>
            </a:prstTxWarp>
            <a:noAutofit/>
          </a:bodyPr>
          <a:lstStyle/>
          <a:p>
            <a:pPr marL="0" marR="0" lvl="0" indent="0" algn="l" defTabSz="491019" rtl="0" eaLnBrk="1" fontAlgn="auto" latinLnBrk="0" hangingPunct="1">
              <a:lnSpc>
                <a:spcPct val="100000"/>
              </a:lnSpc>
              <a:spcBef>
                <a:spcPts val="0"/>
              </a:spcBef>
              <a:spcAft>
                <a:spcPct val="0"/>
              </a:spcAft>
              <a:buClrTx/>
              <a:buSzTx/>
              <a:buFontTx/>
              <a:buNone/>
              <a:tabLst/>
              <a:defRPr/>
            </a:pPr>
            <a:r>
              <a:rPr kumimoji="0" lang="en-US" sz="2000" b="1" i="0" u="none" strike="noStrike" kern="1200" cap="none" spc="0" normalizeH="0" baseline="0" noProof="0">
                <a:ln>
                  <a:noFill/>
                </a:ln>
                <a:gradFill>
                  <a:gsLst>
                    <a:gs pos="11189">
                      <a:srgbClr val="FFFFFF"/>
                    </a:gs>
                    <a:gs pos="39000">
                      <a:srgbClr val="FFFFFF"/>
                    </a:gs>
                  </a:gsLst>
                  <a:path path="circle">
                    <a:fillToRect l="100000" t="100000"/>
                  </a:path>
                </a:gradFill>
                <a:effectLst/>
                <a:uLnTx/>
                <a:uFillTx/>
                <a:latin typeface="Segoe Sans Text Semibold" pitchFamily="2" charset="0"/>
                <a:ea typeface="+mn-ea"/>
                <a:cs typeface="Segoe Sans Text" pitchFamily="2" charset="0"/>
              </a:rPr>
              <a:t>Managed compute</a:t>
            </a:r>
          </a:p>
        </p:txBody>
      </p:sp>
      <p:sp>
        <p:nvSpPr>
          <p:cNvPr id="4" name="Rounded Rectangle 12">
            <a:extLst>
              <a:ext uri="{FF2B5EF4-FFF2-40B4-BE49-F238E27FC236}">
                <a16:creationId xmlns:a16="http://schemas.microsoft.com/office/drawing/2014/main" id="{6F2FC37D-D9E6-D6BC-4C0D-4C59839DC74B}"/>
              </a:ext>
              <a:ext uri="{C183D7F6-B498-43B3-948B-1728B52AA6E4}">
                <adec:decorative xmlns:adec="http://schemas.microsoft.com/office/drawing/2017/decorative" val="1"/>
              </a:ext>
            </a:extLst>
          </p:cNvPr>
          <p:cNvSpPr/>
          <p:nvPr/>
        </p:nvSpPr>
        <p:spPr bwMode="auto">
          <a:xfrm>
            <a:off x="6190051" y="1457776"/>
            <a:ext cx="5416732" cy="723900"/>
          </a:xfrm>
          <a:prstGeom prst="roundRect">
            <a:avLst>
              <a:gd name="adj" fmla="val 19649"/>
            </a:avLst>
          </a:prstGeom>
          <a:gradFill flip="none" rotWithShape="1">
            <a:gsLst>
              <a:gs pos="72000">
                <a:schemeClr val="tx2"/>
              </a:gs>
              <a:gs pos="0">
                <a:schemeClr val="accent3"/>
              </a:gs>
            </a:gsLst>
            <a:path path="circle">
              <a:fillToRect l="100000" t="100000"/>
            </a:path>
            <a:tileRect r="-100000" b="-100000"/>
          </a:gra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0" bIns="45720" numCol="1" spcCol="0" rtlCol="0" fromWordArt="0" anchor="ctr" anchorCtr="0" forceAA="0" compatLnSpc="1">
            <a:prstTxWarp prst="textNoShape">
              <a:avLst/>
            </a:prstTxWarp>
            <a:noAutofit/>
          </a:bodyPr>
          <a:lstStyle/>
          <a:p>
            <a:pPr marL="0" marR="0" lvl="0" indent="0" algn="l" defTabSz="491019" rtl="0" eaLnBrk="1" fontAlgn="auto" latinLnBrk="0" hangingPunct="1">
              <a:lnSpc>
                <a:spcPct val="100000"/>
              </a:lnSpc>
              <a:spcBef>
                <a:spcPts val="0"/>
              </a:spcBef>
              <a:spcAft>
                <a:spcPct val="0"/>
              </a:spcAft>
              <a:buClrTx/>
              <a:buSzTx/>
              <a:buFontTx/>
              <a:buNone/>
              <a:tabLst/>
              <a:defRPr/>
            </a:pPr>
            <a:r>
              <a:rPr kumimoji="0" lang="en-US" sz="2000" b="1" i="0" u="none" strike="noStrike" kern="1200" cap="none" spc="0" normalizeH="0" baseline="0" noProof="0">
                <a:ln>
                  <a:noFill/>
                </a:ln>
                <a:gradFill>
                  <a:gsLst>
                    <a:gs pos="11189">
                      <a:srgbClr val="FFFFFF"/>
                    </a:gs>
                    <a:gs pos="39000">
                      <a:srgbClr val="FFFFFF"/>
                    </a:gs>
                  </a:gsLst>
                  <a:path path="circle">
                    <a:fillToRect l="100000" t="100000"/>
                  </a:path>
                </a:gradFill>
                <a:effectLst/>
                <a:uLnTx/>
                <a:uFillTx/>
                <a:latin typeface="Segoe Sans Text Semibold" pitchFamily="2" charset="0"/>
                <a:ea typeface="+mn-ea"/>
                <a:cs typeface="Segoe Sans Text" pitchFamily="2" charset="0"/>
              </a:rPr>
              <a:t>Standard</a:t>
            </a:r>
          </a:p>
        </p:txBody>
      </p:sp>
      <p:pic>
        <p:nvPicPr>
          <p:cNvPr id="5" name="Graphic 4">
            <a:extLst>
              <a:ext uri="{FF2B5EF4-FFF2-40B4-BE49-F238E27FC236}">
                <a16:creationId xmlns:a16="http://schemas.microsoft.com/office/drawing/2014/main" id="{6284DE9F-658D-F27C-3CE3-5D74E0311C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56280" y="1549726"/>
            <a:ext cx="540000" cy="540000"/>
          </a:xfrm>
          <a:prstGeom prst="rect">
            <a:avLst/>
          </a:prstGeom>
        </p:spPr>
      </p:pic>
      <p:pic>
        <p:nvPicPr>
          <p:cNvPr id="6" name="Graphic 5">
            <a:extLst>
              <a:ext uri="{FF2B5EF4-FFF2-40B4-BE49-F238E27FC236}">
                <a16:creationId xmlns:a16="http://schemas.microsoft.com/office/drawing/2014/main" id="{5CDC4B13-D6EB-F8C5-10B4-8ACAC73232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85758" y="1549726"/>
            <a:ext cx="540000" cy="540000"/>
          </a:xfrm>
          <a:prstGeom prst="rect">
            <a:avLst/>
          </a:prstGeom>
        </p:spPr>
      </p:pic>
      <p:sp>
        <p:nvSpPr>
          <p:cNvPr id="2" name="TextBox 1">
            <a:extLst>
              <a:ext uri="{FF2B5EF4-FFF2-40B4-BE49-F238E27FC236}">
                <a16:creationId xmlns:a16="http://schemas.microsoft.com/office/drawing/2014/main" id="{108DE6E3-863C-F2F7-3718-6B3A893B809A}"/>
              </a:ext>
            </a:extLst>
          </p:cNvPr>
          <p:cNvSpPr txBox="1"/>
          <p:nvPr/>
        </p:nvSpPr>
        <p:spPr>
          <a:xfrm>
            <a:off x="616725" y="5400224"/>
            <a:ext cx="5573326" cy="1292662"/>
          </a:xfrm>
          <a:prstGeom prst="rect">
            <a:avLst/>
          </a:prstGeom>
          <a:noFill/>
        </p:spPr>
        <p:txBody>
          <a:bodyPr wrap="square" lIns="0" tIns="0" rIns="0" bIns="0" rtlCol="0" anchor="t">
            <a:spAutoFit/>
          </a:bodyPr>
          <a:lstStyle/>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Customers deploy models on their own Azure compute​</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Suitable for those with dedicated GPU investments or custom stacks​</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Supports workload predictability and governance</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Enables monetized model usage directly via Microsoft Foundry</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100s of open models</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p:txBody>
      </p:sp>
      <p:sp>
        <p:nvSpPr>
          <p:cNvPr id="7" name="TextBox 6">
            <a:extLst>
              <a:ext uri="{FF2B5EF4-FFF2-40B4-BE49-F238E27FC236}">
                <a16:creationId xmlns:a16="http://schemas.microsoft.com/office/drawing/2014/main" id="{5FB8221D-C7BF-5814-3871-C61851415CDE}"/>
              </a:ext>
            </a:extLst>
          </p:cNvPr>
          <p:cNvSpPr txBox="1"/>
          <p:nvPr/>
        </p:nvSpPr>
        <p:spPr>
          <a:xfrm>
            <a:off x="6351591" y="5539026"/>
            <a:ext cx="5573326" cy="861774"/>
          </a:xfrm>
          <a:prstGeom prst="rect">
            <a:avLst/>
          </a:prstGeom>
          <a:noFill/>
        </p:spPr>
        <p:txBody>
          <a:bodyPr wrap="square" lIns="0" tIns="0" rIns="0" bIns="0" rtlCol="0" anchor="t">
            <a:spAutoFit/>
          </a:bodyPr>
          <a:lstStyle/>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On-demand (pay-go) compute with flexible billing​</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Great for customers without pre-allocated GPU/VM quota​</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Ideal for teams evaluating models or experimenting with use cases</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30+ flagship models</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p:txBody>
      </p:sp>
    </p:spTree>
    <p:extLst>
      <p:ext uri="{BB962C8B-B14F-4D97-AF65-F5344CB8AC3E}">
        <p14:creationId xmlns:p14="http://schemas.microsoft.com/office/powerpoint/2010/main" val="60000094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A76C4-82E6-6C61-A0A5-BCDE957E854A}"/>
            </a:ext>
          </a:extLst>
        </p:cNvPr>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8ED7419F-9F7D-83DA-4D89-70F1F2BA2C22}"/>
              </a:ext>
              <a:ext uri="{C183D7F6-B498-43B3-948B-1728B52AA6E4}">
                <adec:decorative xmlns:adec="http://schemas.microsoft.com/office/drawing/2017/decorative" val="1"/>
              </a:ext>
            </a:extLst>
          </p:cNvPr>
          <p:cNvCxnSpPr>
            <a:cxnSpLocks/>
          </p:cNvCxnSpPr>
          <p:nvPr/>
        </p:nvCxnSpPr>
        <p:spPr>
          <a:xfrm>
            <a:off x="7136354" y="4166731"/>
            <a:ext cx="480951" cy="0"/>
          </a:xfrm>
          <a:prstGeom prst="straightConnector1">
            <a:avLst/>
          </a:prstGeom>
          <a:noFill/>
          <a:ln w="19050" cap="flat" cmpd="sng" algn="ctr">
            <a:solidFill>
              <a:srgbClr val="000000"/>
            </a:solidFill>
            <a:prstDash val="solid"/>
            <a:headEnd type="none" w="lg" len="med"/>
            <a:tailEnd type="arrow" w="lg" len="sm"/>
          </a:ln>
          <a:effectLst/>
        </p:spPr>
      </p:cxnSp>
      <p:sp>
        <p:nvSpPr>
          <p:cNvPr id="3430" name="Text Placeholder 34">
            <a:extLst>
              <a:ext uri="{FF2B5EF4-FFF2-40B4-BE49-F238E27FC236}">
                <a16:creationId xmlns:a16="http://schemas.microsoft.com/office/drawing/2014/main" id="{4501D732-710C-BD68-11B7-513ABFBD41A9}"/>
              </a:ext>
            </a:extLst>
          </p:cNvPr>
          <p:cNvSpPr txBox="1">
            <a:spLocks/>
          </p:cNvSpPr>
          <p:nvPr/>
        </p:nvSpPr>
        <p:spPr>
          <a:xfrm>
            <a:off x="1470186" y="3241902"/>
            <a:ext cx="2798064" cy="393192"/>
          </a:xfrm>
          <a:prstGeom prst="roundRect">
            <a:avLst>
              <a:gd name="adj" fmla="val 50000"/>
            </a:avLst>
          </a:prstGeom>
          <a:solidFill>
            <a:schemeClr val="bg1"/>
          </a:solidFill>
          <a:effectLst>
            <a:outerShdw blurRad="127000" dist="63500" dir="2700000" algn="tl" rotWithShape="0">
              <a:prstClr val="black">
                <a:alpha val="50000"/>
              </a:prstClr>
            </a:outerShdw>
          </a:effectLst>
        </p:spPr>
        <p:txBody>
          <a:bodyPr vert="horz" wrap="square" lIns="0" tIns="0" rIns="0" bIns="0" rtlCol="0" anchor="ctr" anchorCtr="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800" b="1" kern="1200" spc="0" baseline="0" dirty="0" smtClean="0">
                <a:ln w="3175">
                  <a:noFill/>
                </a:ln>
                <a:gradFill>
                  <a:gsLst>
                    <a:gs pos="53147">
                      <a:srgbClr val="FFFFFF"/>
                    </a:gs>
                    <a:gs pos="28000">
                      <a:srgbClr val="FFFFFF"/>
                    </a:gs>
                  </a:gsLst>
                  <a:path path="circle">
                    <a:fillToRect l="100000" b="100000"/>
                  </a:path>
                </a:gradFill>
                <a:latin typeface="Segoe UI Variable Display Semib" pitchFamily="2" charset="0"/>
                <a:ea typeface="+mn-ea"/>
                <a:cs typeface="Segoe UI"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w="3175">
                  <a:noFill/>
                </a:ln>
                <a:solidFill>
                  <a:srgbClr val="000000"/>
                </a:solidFill>
                <a:effectLst/>
                <a:uLnTx/>
                <a:uFillTx/>
                <a:latin typeface="Segoe Sans Text"/>
                <a:ea typeface="+mn-ea"/>
                <a:cs typeface="Segoe Sans Text" pitchFamily="2" charset="0"/>
              </a:rPr>
              <a:t>Model benchmarks</a:t>
            </a:r>
          </a:p>
        </p:txBody>
      </p:sp>
      <p:sp>
        <p:nvSpPr>
          <p:cNvPr id="3431" name="Text Placeholder 35">
            <a:extLst>
              <a:ext uri="{FF2B5EF4-FFF2-40B4-BE49-F238E27FC236}">
                <a16:creationId xmlns:a16="http://schemas.microsoft.com/office/drawing/2014/main" id="{A6C75044-4EB2-472E-1DC9-1BD9A389BFCB}"/>
              </a:ext>
            </a:extLst>
          </p:cNvPr>
          <p:cNvSpPr txBox="1">
            <a:spLocks/>
          </p:cNvSpPr>
          <p:nvPr/>
        </p:nvSpPr>
        <p:spPr>
          <a:xfrm>
            <a:off x="5227320" y="3298051"/>
            <a:ext cx="1737360" cy="1737360"/>
          </a:xfrm>
          <a:prstGeom prst="ellipse">
            <a:avLst/>
          </a:prstGeom>
          <a:gradFill flip="none" rotWithShape="1">
            <a:gsLst>
              <a:gs pos="29000">
                <a:schemeClr val="accent1"/>
              </a:gs>
              <a:gs pos="100000">
                <a:schemeClr val="accent3"/>
              </a:gs>
            </a:gsLst>
            <a:lin ang="2700000" scaled="1"/>
            <a:tileRect/>
          </a:gradFill>
          <a:ln>
            <a:noFill/>
          </a:ln>
          <a:effectLst>
            <a:outerShdw blurRad="76200" dist="38100" dir="3900000" algn="ctr" rotWithShape="0">
              <a:srgbClr val="000000">
                <a:alpha val="35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R="0" lvl="0" indent="0" algn="ctr" fontAlgn="auto">
              <a:lnSpc>
                <a:spcPct val="100000"/>
              </a:lnSpc>
              <a:spcBef>
                <a:spcPts val="0"/>
              </a:spcBef>
              <a:spcAft>
                <a:spcPts val="0"/>
              </a:spcAft>
              <a:buClrTx/>
              <a:buSzTx/>
              <a:buFontTx/>
              <a:buNone/>
              <a:tabLst/>
              <a:defRPr sz="1200">
                <a:solidFill>
                  <a:srgbClr val="FFFFFF"/>
                </a:solidFill>
                <a:latin typeface="+mj-lt"/>
                <a:cs typeface="Segoe UI Semibold" panose="020B07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Text Semibold"/>
                <a:ea typeface="+mn-ea"/>
                <a:cs typeface="Segoe Sans Text Semibold" pitchFamily="2" charset="0"/>
              </a:rPr>
              <a:t>Model selection simplified</a:t>
            </a:r>
          </a:p>
        </p:txBody>
      </p:sp>
      <p:sp>
        <p:nvSpPr>
          <p:cNvPr id="14" name="Rectangle: Rounded Corners 13">
            <a:extLst>
              <a:ext uri="{FF2B5EF4-FFF2-40B4-BE49-F238E27FC236}">
                <a16:creationId xmlns:a16="http://schemas.microsoft.com/office/drawing/2014/main" id="{AB009C74-7A75-2BD6-2D3F-32C36900A997}"/>
              </a:ext>
              <a:ext uri="{C183D7F6-B498-43B3-948B-1728B52AA6E4}">
                <adec:decorative xmlns:adec="http://schemas.microsoft.com/office/drawing/2017/decorative" val="1"/>
              </a:ext>
            </a:extLst>
          </p:cNvPr>
          <p:cNvSpPr/>
          <p:nvPr/>
        </p:nvSpPr>
        <p:spPr bwMode="auto">
          <a:xfrm>
            <a:off x="4696968" y="2104566"/>
            <a:ext cx="2798064" cy="393192"/>
          </a:xfrm>
          <a:prstGeom prst="roundRect">
            <a:avLst>
              <a:gd name="adj" fmla="val 50000"/>
            </a:avLst>
          </a:prstGeom>
          <a:solidFill>
            <a:schemeClr val="bg1"/>
          </a:solidFill>
          <a:ln w="63897" cap="flat">
            <a:noFill/>
            <a:prstDash val="solid"/>
            <a:miter/>
          </a:ln>
          <a:effectLst>
            <a:outerShdw blurRad="1270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mn-cs"/>
              </a:rPr>
              <a:t>Model Router  </a:t>
            </a:r>
          </a:p>
        </p:txBody>
      </p:sp>
      <p:sp>
        <p:nvSpPr>
          <p:cNvPr id="3433" name="Text Placeholder 37">
            <a:extLst>
              <a:ext uri="{FF2B5EF4-FFF2-40B4-BE49-F238E27FC236}">
                <a16:creationId xmlns:a16="http://schemas.microsoft.com/office/drawing/2014/main" id="{F23D18CD-54FB-0C04-4F0B-9461FEB562E4}"/>
              </a:ext>
            </a:extLst>
          </p:cNvPr>
          <p:cNvSpPr txBox="1">
            <a:spLocks/>
          </p:cNvSpPr>
          <p:nvPr/>
        </p:nvSpPr>
        <p:spPr>
          <a:xfrm>
            <a:off x="7923750" y="3596542"/>
            <a:ext cx="2798064" cy="393192"/>
          </a:xfrm>
          <a:prstGeom prst="roundRect">
            <a:avLst>
              <a:gd name="adj" fmla="val 50000"/>
            </a:avLst>
          </a:prstGeom>
          <a:solidFill>
            <a:schemeClr val="bg1"/>
          </a:solidFill>
          <a:effectLst>
            <a:outerShdw blurRad="127000" dist="63500" dir="2700000" algn="tl" rotWithShape="0">
              <a:prstClr val="black">
                <a:alpha val="50000"/>
              </a:prstClr>
            </a:outerShdw>
          </a:effectLst>
        </p:spPr>
        <p:txBody>
          <a:bodyPr vert="horz" wrap="square" lIns="0" tIns="0" rIns="0" bIns="0" rtlCol="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800" b="1" kern="1200" spc="0" baseline="0" dirty="0" smtClean="0">
                <a:ln w="3175">
                  <a:noFill/>
                </a:ln>
                <a:gradFill>
                  <a:gsLst>
                    <a:gs pos="53147">
                      <a:srgbClr val="FFFFFF"/>
                    </a:gs>
                    <a:gs pos="28000">
                      <a:srgbClr val="FFFFFF"/>
                    </a:gs>
                  </a:gsLst>
                  <a:path path="circle">
                    <a:fillToRect l="100000" b="100000"/>
                  </a:path>
                </a:gradFill>
                <a:latin typeface="Segoe UI Variable Display Semib" pitchFamily="2" charset="0"/>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w="3175">
                  <a:noFill/>
                </a:ln>
                <a:solidFill>
                  <a:srgbClr val="000000"/>
                </a:solidFill>
                <a:effectLst/>
                <a:uLnTx/>
                <a:uFillTx/>
                <a:latin typeface="Segoe Sans Text"/>
                <a:ea typeface="+mn-ea"/>
                <a:cs typeface="Segoe Sans Text" pitchFamily="2" charset="0"/>
              </a:rPr>
              <a:t>Automated evaluation</a:t>
            </a:r>
          </a:p>
        </p:txBody>
      </p:sp>
      <p:sp>
        <p:nvSpPr>
          <p:cNvPr id="9" name="Rectangle: Rounded Corners 8">
            <a:extLst>
              <a:ext uri="{FF2B5EF4-FFF2-40B4-BE49-F238E27FC236}">
                <a16:creationId xmlns:a16="http://schemas.microsoft.com/office/drawing/2014/main" id="{2627494F-1850-1947-2923-8B2D4F52A03A}"/>
              </a:ext>
              <a:ext uri="{C183D7F6-B498-43B3-948B-1728B52AA6E4}">
                <adec:decorative xmlns:adec="http://schemas.microsoft.com/office/drawing/2017/decorative" val="1"/>
              </a:ext>
            </a:extLst>
          </p:cNvPr>
          <p:cNvSpPr/>
          <p:nvPr/>
        </p:nvSpPr>
        <p:spPr bwMode="auto">
          <a:xfrm>
            <a:off x="1470186" y="4698368"/>
            <a:ext cx="2798064" cy="393192"/>
          </a:xfrm>
          <a:prstGeom prst="roundRect">
            <a:avLst>
              <a:gd name="adj" fmla="val 50000"/>
            </a:avLst>
          </a:prstGeom>
          <a:solidFill>
            <a:schemeClr val="bg1"/>
          </a:solidFill>
          <a:ln w="63897" cap="flat">
            <a:noFill/>
            <a:prstDash val="solid"/>
            <a:miter/>
          </a:ln>
          <a:effectLst>
            <a:outerShdw blurRad="1270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mn-cs"/>
              </a:rPr>
              <a:t>AI templates</a:t>
            </a:r>
          </a:p>
        </p:txBody>
      </p:sp>
      <p:sp>
        <p:nvSpPr>
          <p:cNvPr id="10" name="Rectangle: Rounded Corners 9">
            <a:extLst>
              <a:ext uri="{FF2B5EF4-FFF2-40B4-BE49-F238E27FC236}">
                <a16:creationId xmlns:a16="http://schemas.microsoft.com/office/drawing/2014/main" id="{F4147E94-F2B6-7826-62D4-F2B670BB355A}"/>
              </a:ext>
              <a:ext uri="{C183D7F6-B498-43B3-948B-1728B52AA6E4}">
                <adec:decorative xmlns:adec="http://schemas.microsoft.com/office/drawing/2017/decorative" val="1"/>
              </a:ext>
            </a:extLst>
          </p:cNvPr>
          <p:cNvSpPr/>
          <p:nvPr/>
        </p:nvSpPr>
        <p:spPr bwMode="auto">
          <a:xfrm>
            <a:off x="7923750" y="4344374"/>
            <a:ext cx="2798064" cy="393192"/>
          </a:xfrm>
          <a:prstGeom prst="roundRect">
            <a:avLst>
              <a:gd name="adj" fmla="val 50000"/>
            </a:avLst>
          </a:prstGeom>
          <a:solidFill>
            <a:schemeClr val="bg1"/>
          </a:solidFill>
          <a:ln w="63897" cap="flat">
            <a:noFill/>
            <a:prstDash val="solid"/>
            <a:miter/>
          </a:ln>
          <a:effectLst>
            <a:outerShdw blurRad="1270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mn-cs"/>
              </a:rPr>
              <a:t>Performance monitoring</a:t>
            </a:r>
          </a:p>
        </p:txBody>
      </p:sp>
      <p:sp>
        <p:nvSpPr>
          <p:cNvPr id="15" name="Text Placeholder 34">
            <a:extLst>
              <a:ext uri="{FF2B5EF4-FFF2-40B4-BE49-F238E27FC236}">
                <a16:creationId xmlns:a16="http://schemas.microsoft.com/office/drawing/2014/main" id="{DC2159D8-652E-CA3E-0CE8-6F9E87887053}"/>
              </a:ext>
            </a:extLst>
          </p:cNvPr>
          <p:cNvSpPr txBox="1">
            <a:spLocks/>
          </p:cNvSpPr>
          <p:nvPr/>
        </p:nvSpPr>
        <p:spPr>
          <a:xfrm>
            <a:off x="1470186" y="3970135"/>
            <a:ext cx="2798064" cy="393192"/>
          </a:xfrm>
          <a:prstGeom prst="roundRect">
            <a:avLst>
              <a:gd name="adj" fmla="val 50000"/>
            </a:avLst>
          </a:prstGeom>
          <a:solidFill>
            <a:schemeClr val="bg1"/>
          </a:solidFill>
          <a:effectLst>
            <a:outerShdw blurRad="127000" dist="63500" dir="2700000" algn="tl" rotWithShape="0">
              <a:prstClr val="black">
                <a:alpha val="50000"/>
              </a:prstClr>
            </a:outerShdw>
          </a:effectLst>
        </p:spPr>
        <p:txBody>
          <a:bodyPr vert="horz" wrap="square" lIns="0" tIns="0" rIns="0" bIns="0" rtlCol="0" anchor="ctr" anchorCtr="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800" b="1" kern="1200" spc="0" baseline="0" dirty="0" smtClean="0">
                <a:ln w="3175">
                  <a:noFill/>
                </a:ln>
                <a:gradFill>
                  <a:gsLst>
                    <a:gs pos="53147">
                      <a:srgbClr val="FFFFFF"/>
                    </a:gs>
                    <a:gs pos="28000">
                      <a:srgbClr val="FFFFFF"/>
                    </a:gs>
                  </a:gsLst>
                  <a:path path="circle">
                    <a:fillToRect l="100000" b="100000"/>
                  </a:path>
                </a:gradFill>
                <a:latin typeface="Segoe UI Variable Display Semib" pitchFamily="2" charset="0"/>
                <a:ea typeface="+mn-ea"/>
                <a:cs typeface="Segoe UI"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w="3175">
                  <a:noFill/>
                </a:ln>
                <a:solidFill>
                  <a:srgbClr val="000000"/>
                </a:solidFill>
                <a:effectLst/>
                <a:uLnTx/>
                <a:uFillTx/>
                <a:latin typeface="Segoe Sans Text"/>
                <a:ea typeface="+mn-ea"/>
                <a:cs typeface="Segoe Sans Text" pitchFamily="2" charset="0"/>
              </a:rPr>
              <a:t>Model leaderboards</a:t>
            </a:r>
          </a:p>
        </p:txBody>
      </p:sp>
      <p:sp>
        <p:nvSpPr>
          <p:cNvPr id="21" name="Text Placeholder 34">
            <a:extLst>
              <a:ext uri="{FF2B5EF4-FFF2-40B4-BE49-F238E27FC236}">
                <a16:creationId xmlns:a16="http://schemas.microsoft.com/office/drawing/2014/main" id="{F2E85177-21F4-163D-E5B9-F61B57340120}"/>
              </a:ext>
            </a:extLst>
          </p:cNvPr>
          <p:cNvSpPr txBox="1">
            <a:spLocks/>
          </p:cNvSpPr>
          <p:nvPr/>
        </p:nvSpPr>
        <p:spPr>
          <a:xfrm>
            <a:off x="7923750" y="2848710"/>
            <a:ext cx="2798064" cy="393192"/>
          </a:xfrm>
          <a:prstGeom prst="roundRect">
            <a:avLst>
              <a:gd name="adj" fmla="val 50000"/>
            </a:avLst>
          </a:prstGeom>
          <a:solidFill>
            <a:schemeClr val="bg1"/>
          </a:solidFill>
          <a:effectLst>
            <a:outerShdw blurRad="127000" dist="63500" dir="2700000" algn="tl" rotWithShape="0">
              <a:prstClr val="black">
                <a:alpha val="50000"/>
              </a:prstClr>
            </a:outerShdw>
          </a:effectLst>
        </p:spPr>
        <p:txBody>
          <a:bodyPr vert="horz" wrap="square" lIns="0" tIns="0" rIns="0" bIns="0" rtlCol="0" anchor="ctr" anchorCtr="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800" b="1" kern="1200" spc="0" baseline="0" dirty="0" smtClean="0">
                <a:ln w="3175">
                  <a:noFill/>
                </a:ln>
                <a:gradFill>
                  <a:gsLst>
                    <a:gs pos="53147">
                      <a:srgbClr val="FFFFFF"/>
                    </a:gs>
                    <a:gs pos="28000">
                      <a:srgbClr val="FFFFFF"/>
                    </a:gs>
                  </a:gsLst>
                  <a:path path="circle">
                    <a:fillToRect l="100000" b="100000"/>
                  </a:path>
                </a:gradFill>
                <a:latin typeface="Segoe UI Variable Display Semib" pitchFamily="2" charset="0"/>
                <a:ea typeface="+mn-ea"/>
                <a:cs typeface="Segoe UI"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w="3175">
                  <a:noFill/>
                </a:ln>
                <a:solidFill>
                  <a:srgbClr val="000000"/>
                </a:solidFill>
                <a:effectLst/>
                <a:uLnTx/>
                <a:uFillTx/>
                <a:latin typeface="Segoe Sans Text"/>
                <a:ea typeface="+mn-ea"/>
                <a:cs typeface="Segoe Sans Text" pitchFamily="2" charset="0"/>
              </a:rPr>
              <a:t>A/B experimentation</a:t>
            </a:r>
          </a:p>
        </p:txBody>
      </p:sp>
      <p:cxnSp>
        <p:nvCxnSpPr>
          <p:cNvPr id="3" name="Straight Arrow Connector 2">
            <a:extLst>
              <a:ext uri="{FF2B5EF4-FFF2-40B4-BE49-F238E27FC236}">
                <a16:creationId xmlns:a16="http://schemas.microsoft.com/office/drawing/2014/main" id="{C6D798CC-51EE-E5E3-E8D6-CD87B96CD148}"/>
              </a:ext>
              <a:ext uri="{C183D7F6-B498-43B3-948B-1728B52AA6E4}">
                <adec:decorative xmlns:adec="http://schemas.microsoft.com/office/drawing/2017/decorative" val="1"/>
              </a:ext>
            </a:extLst>
          </p:cNvPr>
          <p:cNvCxnSpPr>
            <a:cxnSpLocks/>
          </p:cNvCxnSpPr>
          <p:nvPr/>
        </p:nvCxnSpPr>
        <p:spPr>
          <a:xfrm flipV="1">
            <a:off x="6096000" y="2738578"/>
            <a:ext cx="0" cy="412935"/>
          </a:xfrm>
          <a:prstGeom prst="straightConnector1">
            <a:avLst/>
          </a:prstGeom>
          <a:noFill/>
          <a:ln w="19050" cap="flat" cmpd="sng" algn="ctr">
            <a:solidFill>
              <a:srgbClr val="000000"/>
            </a:solidFill>
            <a:prstDash val="solid"/>
            <a:headEnd type="none" w="lg" len="med"/>
            <a:tailEnd type="arrow" w="lg" len="sm"/>
          </a:ln>
          <a:effectLst/>
        </p:spPr>
      </p:cxnSp>
      <p:cxnSp>
        <p:nvCxnSpPr>
          <p:cNvPr id="4" name="Straight Arrow Connector 3">
            <a:extLst>
              <a:ext uri="{FF2B5EF4-FFF2-40B4-BE49-F238E27FC236}">
                <a16:creationId xmlns:a16="http://schemas.microsoft.com/office/drawing/2014/main" id="{11BE26A6-E80D-20DE-78AA-213CC3A8786A}"/>
              </a:ext>
              <a:ext uri="{C183D7F6-B498-43B3-948B-1728B52AA6E4}">
                <adec:decorative xmlns:adec="http://schemas.microsoft.com/office/drawing/2017/decorative" val="1"/>
              </a:ext>
            </a:extLst>
          </p:cNvPr>
          <p:cNvCxnSpPr>
            <a:cxnSpLocks/>
          </p:cNvCxnSpPr>
          <p:nvPr/>
        </p:nvCxnSpPr>
        <p:spPr>
          <a:xfrm flipH="1">
            <a:off x="4494875" y="4166731"/>
            <a:ext cx="584516" cy="0"/>
          </a:xfrm>
          <a:prstGeom prst="straightConnector1">
            <a:avLst/>
          </a:prstGeom>
          <a:noFill/>
          <a:ln w="19050" cap="flat" cmpd="sng" algn="ctr">
            <a:solidFill>
              <a:srgbClr val="000000"/>
            </a:solidFill>
            <a:prstDash val="solid"/>
            <a:headEnd type="none" w="lg" len="med"/>
            <a:tailEnd type="arrow" w="lg" len="sm"/>
          </a:ln>
          <a:effectLst/>
        </p:spPr>
      </p:cxnSp>
      <p:cxnSp>
        <p:nvCxnSpPr>
          <p:cNvPr id="18" name="Straight Arrow Connector 17">
            <a:extLst>
              <a:ext uri="{FF2B5EF4-FFF2-40B4-BE49-F238E27FC236}">
                <a16:creationId xmlns:a16="http://schemas.microsoft.com/office/drawing/2014/main" id="{C442EB96-6427-A693-A742-F28DADF1B3B1}"/>
              </a:ext>
            </a:extLst>
          </p:cNvPr>
          <p:cNvCxnSpPr>
            <a:cxnSpLocks/>
          </p:cNvCxnSpPr>
          <p:nvPr/>
        </p:nvCxnSpPr>
        <p:spPr>
          <a:xfrm>
            <a:off x="586740" y="5894530"/>
            <a:ext cx="11018520" cy="0"/>
          </a:xfrm>
          <a:prstGeom prst="straightConnector1">
            <a:avLst/>
          </a:prstGeom>
          <a:ln>
            <a:solidFill>
              <a:schemeClr val="accent1"/>
            </a:solidFill>
            <a:headEnd type="none" w="lg" len="med"/>
            <a:tailEnd type="non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5FA9246-AFB2-1DE7-EBB1-5284C0B4D34F}"/>
              </a:ext>
            </a:extLst>
          </p:cNvPr>
          <p:cNvSpPr txBox="1"/>
          <p:nvPr/>
        </p:nvSpPr>
        <p:spPr>
          <a:xfrm>
            <a:off x="586740" y="6055547"/>
            <a:ext cx="2518318"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78D4"/>
                </a:solidFill>
                <a:effectLst/>
                <a:uLnTx/>
                <a:uFillTx/>
                <a:latin typeface="Segoe Sans Text Semibold"/>
                <a:ea typeface="+mn-ea"/>
                <a:cs typeface="+mn-cs"/>
              </a:rPr>
              <a:t>Select the best model</a:t>
            </a:r>
          </a:p>
        </p:txBody>
      </p:sp>
      <p:sp>
        <p:nvSpPr>
          <p:cNvPr id="27" name="TextBox 26">
            <a:extLst>
              <a:ext uri="{FF2B5EF4-FFF2-40B4-BE49-F238E27FC236}">
                <a16:creationId xmlns:a16="http://schemas.microsoft.com/office/drawing/2014/main" id="{88319674-CFFF-487E-42BB-B65521EC8F13}"/>
              </a:ext>
            </a:extLst>
          </p:cNvPr>
          <p:cNvSpPr txBox="1"/>
          <p:nvPr/>
        </p:nvSpPr>
        <p:spPr>
          <a:xfrm>
            <a:off x="8012930" y="6055547"/>
            <a:ext cx="3592330" cy="307777"/>
          </a:xfrm>
          <a:prstGeom prst="rect">
            <a:avLst/>
          </a:prstGeom>
          <a:noFill/>
          <a:ln>
            <a:noFill/>
          </a:ln>
        </p:spPr>
        <p:txBody>
          <a:bodyPr wrap="non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78D4"/>
                </a:solidFill>
                <a:effectLst/>
                <a:uLnTx/>
                <a:uFillTx/>
                <a:latin typeface="Segoe Sans Text Semibold"/>
                <a:ea typeface="+mn-ea"/>
                <a:cs typeface="+mn-cs"/>
              </a:rPr>
              <a:t>Continue using the best model</a:t>
            </a:r>
          </a:p>
        </p:txBody>
      </p:sp>
      <p:sp>
        <p:nvSpPr>
          <p:cNvPr id="5" name="Rectangle: Rounded Corners 4">
            <a:extLst>
              <a:ext uri="{FF2B5EF4-FFF2-40B4-BE49-F238E27FC236}">
                <a16:creationId xmlns:a16="http://schemas.microsoft.com/office/drawing/2014/main" id="{722A464D-5B68-6283-29A9-CEA8D6F7E360}"/>
              </a:ext>
              <a:ext uri="{C183D7F6-B498-43B3-948B-1728B52AA6E4}">
                <adec:decorative xmlns:adec="http://schemas.microsoft.com/office/drawing/2017/decorative" val="1"/>
              </a:ext>
            </a:extLst>
          </p:cNvPr>
          <p:cNvSpPr/>
          <p:nvPr/>
        </p:nvSpPr>
        <p:spPr bwMode="auto">
          <a:xfrm>
            <a:off x="7923750" y="5092207"/>
            <a:ext cx="2798064" cy="393192"/>
          </a:xfrm>
          <a:prstGeom prst="roundRect">
            <a:avLst>
              <a:gd name="adj" fmla="val 50000"/>
            </a:avLst>
          </a:prstGeom>
          <a:solidFill>
            <a:schemeClr val="bg1"/>
          </a:solidFill>
          <a:ln w="63897" cap="flat">
            <a:noFill/>
            <a:prstDash val="solid"/>
            <a:miter/>
          </a:ln>
          <a:effectLst>
            <a:outerShdw blurRad="1270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mn-cs"/>
              </a:rPr>
              <a:t>Model inference API</a:t>
            </a:r>
          </a:p>
        </p:txBody>
      </p:sp>
      <p:sp>
        <p:nvSpPr>
          <p:cNvPr id="6" name="Title 5">
            <a:extLst>
              <a:ext uri="{FF2B5EF4-FFF2-40B4-BE49-F238E27FC236}">
                <a16:creationId xmlns:a16="http://schemas.microsoft.com/office/drawing/2014/main" id="{CCC63664-8B1A-5505-2134-2614558C61AF}"/>
              </a:ext>
            </a:extLst>
          </p:cNvPr>
          <p:cNvSpPr>
            <a:spLocks noGrp="1"/>
          </p:cNvSpPr>
          <p:nvPr>
            <p:ph type="title"/>
          </p:nvPr>
        </p:nvSpPr>
        <p:spPr>
          <a:xfrm>
            <a:off x="588263" y="457200"/>
            <a:ext cx="11018520" cy="1077218"/>
          </a:xfrm>
        </p:spPr>
        <p:txBody>
          <a:bodyPr/>
          <a:lstStyle/>
          <a:p>
            <a:r>
              <a:rPr lang="en-US"/>
              <a:t>Model selection simplified</a:t>
            </a:r>
            <a:br>
              <a:rPr lang="en-US"/>
            </a:br>
            <a:br>
              <a:rPr kumimoji="0" lang="en-US" sz="1000" b="0" i="0" u="none" strike="noStrike" kern="1200" cap="none" spc="-50" normalizeH="0" baseline="0" noProof="0">
                <a:ln w="3175">
                  <a:noFill/>
                </a:ln>
                <a:solidFill>
                  <a:srgbClr val="0078D4"/>
                </a:solidFill>
                <a:effectLst/>
                <a:uLnTx/>
                <a:uFillTx/>
                <a:latin typeface="Segoe Sans Text Semibold"/>
                <a:ea typeface="+mn-ea"/>
                <a:cs typeface="Segoe Sans Text" pitchFamily="2" charset="0"/>
              </a:rPr>
            </a:br>
            <a:r>
              <a:rPr kumimoji="0" lang="en-US" sz="2400" b="0" i="0" u="none" strike="noStrike" kern="1200" cap="none" spc="-50" normalizeH="0" baseline="0" noProof="0">
                <a:ln w="3175">
                  <a:noFill/>
                </a:ln>
                <a:solidFill>
                  <a:srgbClr val="000000"/>
                </a:solidFill>
                <a:effectLst/>
                <a:uLnTx/>
                <a:uFillTx/>
                <a:latin typeface="Segoe Sans Text Semibold"/>
                <a:ea typeface="+mn-ea"/>
                <a:cs typeface="Segoe Sans Text" pitchFamily="2" charset="0"/>
              </a:rPr>
              <a:t>Use the best model throughout model lifecycle</a:t>
            </a:r>
            <a:endParaRPr lang="en-US"/>
          </a:p>
        </p:txBody>
      </p:sp>
    </p:spTree>
    <p:extLst>
      <p:ext uri="{BB962C8B-B14F-4D97-AF65-F5344CB8AC3E}">
        <p14:creationId xmlns:p14="http://schemas.microsoft.com/office/powerpoint/2010/main" val="4059562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F33DEB-9857-18E2-0D7D-2DAB0B9A05DB}"/>
              </a:ext>
            </a:extLst>
          </p:cNvPr>
          <p:cNvSpPr>
            <a:spLocks noGrp="1"/>
          </p:cNvSpPr>
          <p:nvPr>
            <p:ph type="title"/>
          </p:nvPr>
        </p:nvSpPr>
        <p:spPr>
          <a:xfrm>
            <a:off x="585216" y="2918853"/>
            <a:ext cx="9144000" cy="615553"/>
          </a:xfrm>
        </p:spPr>
        <p:txBody>
          <a:bodyPr/>
          <a:lstStyle/>
          <a:p>
            <a:r>
              <a:rPr lang="en-US"/>
              <a:t>Model Life Cycle Guidance</a:t>
            </a:r>
          </a:p>
        </p:txBody>
      </p:sp>
    </p:spTree>
    <p:extLst>
      <p:ext uri="{BB962C8B-B14F-4D97-AF65-F5344CB8AC3E}">
        <p14:creationId xmlns:p14="http://schemas.microsoft.com/office/powerpoint/2010/main" val="1558370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CA5FD-D254-8CC4-D821-B20017F261C0}"/>
              </a:ext>
            </a:extLst>
          </p:cNvPr>
          <p:cNvSpPr>
            <a:spLocks noGrp="1"/>
          </p:cNvSpPr>
          <p:nvPr>
            <p:ph type="title"/>
          </p:nvPr>
        </p:nvSpPr>
        <p:spPr/>
        <p:txBody>
          <a:bodyPr/>
          <a:lstStyle/>
          <a:p>
            <a:r>
              <a:rPr lang="en-US"/>
              <a:t>Model lifecycle stages</a:t>
            </a:r>
          </a:p>
        </p:txBody>
      </p:sp>
      <p:graphicFrame>
        <p:nvGraphicFramePr>
          <p:cNvPr id="4" name="Diagram 3">
            <a:extLst>
              <a:ext uri="{FF2B5EF4-FFF2-40B4-BE49-F238E27FC236}">
                <a16:creationId xmlns:a16="http://schemas.microsoft.com/office/drawing/2014/main" id="{E13306AC-A790-C56D-9A6B-BC48153414B1}"/>
              </a:ext>
            </a:extLst>
          </p:cNvPr>
          <p:cNvGraphicFramePr/>
          <p:nvPr>
            <p:extLst>
              <p:ext uri="{D42A27DB-BD31-4B8C-83A1-F6EECF244321}">
                <p14:modId xmlns:p14="http://schemas.microsoft.com/office/powerpoint/2010/main" val="3259279824"/>
              </p:ext>
            </p:extLst>
          </p:nvPr>
        </p:nvGraphicFramePr>
        <p:xfrm>
          <a:off x="588263" y="1327356"/>
          <a:ext cx="11269439" cy="51285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20333CFE-31AE-E1A3-84C5-B5BC19A024B0}"/>
              </a:ext>
            </a:extLst>
          </p:cNvPr>
          <p:cNvSpPr txBox="1"/>
          <p:nvPr/>
        </p:nvSpPr>
        <p:spPr>
          <a:xfrm>
            <a:off x="9321149" y="6556652"/>
            <a:ext cx="2870851" cy="215444"/>
          </a:xfrm>
          <a:prstGeom prst="rect">
            <a:avLst/>
          </a:prstGeom>
          <a:noFill/>
        </p:spPr>
        <p:txBody>
          <a:bodyPr wrap="none" lIns="0" tIns="0" rIns="0" bIns="0" rtlCol="0">
            <a:spAutoFit/>
          </a:bodyPr>
          <a:lstStyle/>
          <a:p>
            <a:pPr algn="l"/>
            <a:r>
              <a:rPr lang="en-US" sz="1400"/>
              <a:t>*Not used for Azure OpenAI Models</a:t>
            </a:r>
          </a:p>
        </p:txBody>
      </p:sp>
    </p:spTree>
    <p:extLst>
      <p:ext uri="{BB962C8B-B14F-4D97-AF65-F5344CB8AC3E}">
        <p14:creationId xmlns:p14="http://schemas.microsoft.com/office/powerpoint/2010/main" val="314345417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14560-B131-DE0C-4D0C-184970692C88}"/>
              </a:ext>
            </a:extLst>
          </p:cNvPr>
          <p:cNvSpPr>
            <a:spLocks noGrp="1"/>
          </p:cNvSpPr>
          <p:nvPr>
            <p:ph type="title"/>
          </p:nvPr>
        </p:nvSpPr>
        <p:spPr>
          <a:xfrm>
            <a:off x="588263" y="457200"/>
            <a:ext cx="11018520" cy="553998"/>
          </a:xfrm>
        </p:spPr>
        <p:txBody>
          <a:bodyPr wrap="square" anchor="t">
            <a:normAutofit/>
          </a:bodyPr>
          <a:lstStyle/>
          <a:p>
            <a:r>
              <a:rPr lang="en-US"/>
              <a:t>Model availability of Azure OpenAI Models</a:t>
            </a:r>
          </a:p>
        </p:txBody>
      </p:sp>
      <p:graphicFrame>
        <p:nvGraphicFramePr>
          <p:cNvPr id="5" name="Content Placeholder 2">
            <a:extLst>
              <a:ext uri="{FF2B5EF4-FFF2-40B4-BE49-F238E27FC236}">
                <a16:creationId xmlns:a16="http://schemas.microsoft.com/office/drawing/2014/main" id="{915FD171-C334-F5B6-E46A-9C58E2D82E15}"/>
              </a:ext>
            </a:extLst>
          </p:cNvPr>
          <p:cNvGraphicFramePr>
            <a:graphicFrameLocks noGrp="1"/>
          </p:cNvGraphicFramePr>
          <p:nvPr>
            <p:ph sz="quarter" idx="10"/>
            <p:extLst>
              <p:ext uri="{D42A27DB-BD31-4B8C-83A1-F6EECF244321}">
                <p14:modId xmlns:p14="http://schemas.microsoft.com/office/powerpoint/2010/main" val="1424136015"/>
              </p:ext>
            </p:extLst>
          </p:nvPr>
        </p:nvGraphicFramePr>
        <p:xfrm>
          <a:off x="584200" y="1435100"/>
          <a:ext cx="11018838" cy="48339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449217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64B48-9540-E7F6-E78A-94F9FDBEFB27}"/>
              </a:ext>
            </a:extLst>
          </p:cNvPr>
          <p:cNvSpPr>
            <a:spLocks noGrp="1"/>
          </p:cNvSpPr>
          <p:nvPr>
            <p:ph type="title"/>
          </p:nvPr>
        </p:nvSpPr>
        <p:spPr>
          <a:xfrm>
            <a:off x="588263" y="457200"/>
            <a:ext cx="11018520" cy="553998"/>
          </a:xfrm>
        </p:spPr>
        <p:txBody>
          <a:bodyPr wrap="square" anchor="t">
            <a:normAutofit/>
          </a:bodyPr>
          <a:lstStyle/>
          <a:p>
            <a:r>
              <a:rPr lang="en-US"/>
              <a:t>Terminology Specific to Azure OpenAI Models</a:t>
            </a:r>
          </a:p>
        </p:txBody>
      </p:sp>
      <p:graphicFrame>
        <p:nvGraphicFramePr>
          <p:cNvPr id="5" name="Content Placeholder 2">
            <a:extLst>
              <a:ext uri="{FF2B5EF4-FFF2-40B4-BE49-F238E27FC236}">
                <a16:creationId xmlns:a16="http://schemas.microsoft.com/office/drawing/2014/main" id="{DD5AF744-5510-D9BB-BD82-D70FA6A9435E}"/>
              </a:ext>
            </a:extLst>
          </p:cNvPr>
          <p:cNvGraphicFramePr>
            <a:graphicFrameLocks noGrp="1"/>
          </p:cNvGraphicFramePr>
          <p:nvPr>
            <p:ph sz="quarter" idx="10"/>
            <p:extLst>
              <p:ext uri="{D42A27DB-BD31-4B8C-83A1-F6EECF244321}">
                <p14:modId xmlns:p14="http://schemas.microsoft.com/office/powerpoint/2010/main" val="946653580"/>
              </p:ext>
            </p:extLst>
          </p:nvPr>
        </p:nvGraphicFramePr>
        <p:xfrm>
          <a:off x="584200" y="1435100"/>
          <a:ext cx="11018838" cy="48339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570090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66FD9-07E6-08EA-F119-51B4193BA8E8}"/>
              </a:ext>
            </a:extLst>
          </p:cNvPr>
          <p:cNvSpPr>
            <a:spLocks noGrp="1"/>
          </p:cNvSpPr>
          <p:nvPr>
            <p:ph type="title"/>
          </p:nvPr>
        </p:nvSpPr>
        <p:spPr>
          <a:xfrm>
            <a:off x="588263" y="457200"/>
            <a:ext cx="11018520" cy="553998"/>
          </a:xfrm>
        </p:spPr>
        <p:txBody>
          <a:bodyPr wrap="square" anchor="t">
            <a:normAutofit/>
          </a:bodyPr>
          <a:lstStyle/>
          <a:p>
            <a:r>
              <a:rPr lang="en-US"/>
              <a:t>Notifications for Foundry Models</a:t>
            </a:r>
          </a:p>
        </p:txBody>
      </p:sp>
      <p:graphicFrame>
        <p:nvGraphicFramePr>
          <p:cNvPr id="5" name="Content Placeholder 2">
            <a:extLst>
              <a:ext uri="{FF2B5EF4-FFF2-40B4-BE49-F238E27FC236}">
                <a16:creationId xmlns:a16="http://schemas.microsoft.com/office/drawing/2014/main" id="{2A7263AC-272F-D85D-37DB-EC256DB48ED0}"/>
              </a:ext>
            </a:extLst>
          </p:cNvPr>
          <p:cNvGraphicFramePr>
            <a:graphicFrameLocks noGrp="1"/>
          </p:cNvGraphicFramePr>
          <p:nvPr>
            <p:ph sz="quarter" idx="10"/>
            <p:extLst>
              <p:ext uri="{D42A27DB-BD31-4B8C-83A1-F6EECF244321}">
                <p14:modId xmlns:p14="http://schemas.microsoft.com/office/powerpoint/2010/main" val="4228920930"/>
              </p:ext>
            </p:extLst>
          </p:nvPr>
        </p:nvGraphicFramePr>
        <p:xfrm>
          <a:off x="584200" y="1435100"/>
          <a:ext cx="11018838" cy="48339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377744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C79FD-C586-75AD-AAE8-C5766D8B44A1}"/>
              </a:ext>
            </a:extLst>
          </p:cNvPr>
          <p:cNvSpPr>
            <a:spLocks noGrp="1"/>
          </p:cNvSpPr>
          <p:nvPr>
            <p:ph type="title"/>
          </p:nvPr>
        </p:nvSpPr>
        <p:spPr>
          <a:xfrm>
            <a:off x="588263" y="457200"/>
            <a:ext cx="11018520" cy="553998"/>
          </a:xfrm>
        </p:spPr>
        <p:txBody>
          <a:bodyPr wrap="square" anchor="t">
            <a:normAutofit/>
          </a:bodyPr>
          <a:lstStyle/>
          <a:p>
            <a:r>
              <a:rPr lang="en-US"/>
              <a:t>Notifications for Azure OpenAI in Foundry Models</a:t>
            </a:r>
          </a:p>
        </p:txBody>
      </p:sp>
      <p:graphicFrame>
        <p:nvGraphicFramePr>
          <p:cNvPr id="5" name="Content Placeholder 2">
            <a:extLst>
              <a:ext uri="{FF2B5EF4-FFF2-40B4-BE49-F238E27FC236}">
                <a16:creationId xmlns:a16="http://schemas.microsoft.com/office/drawing/2014/main" id="{700F11E1-D6D4-8B6E-5A0A-E4045A9B6D05}"/>
              </a:ext>
            </a:extLst>
          </p:cNvPr>
          <p:cNvGraphicFramePr>
            <a:graphicFrameLocks noGrp="1"/>
          </p:cNvGraphicFramePr>
          <p:nvPr>
            <p:ph sz="quarter" idx="10"/>
            <p:extLst>
              <p:ext uri="{D42A27DB-BD31-4B8C-83A1-F6EECF244321}">
                <p14:modId xmlns:p14="http://schemas.microsoft.com/office/powerpoint/2010/main" val="1550857603"/>
              </p:ext>
            </p:extLst>
          </p:nvPr>
        </p:nvGraphicFramePr>
        <p:xfrm>
          <a:off x="584200" y="1435100"/>
          <a:ext cx="11018838" cy="48339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075386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1942-B472-C805-B1D8-8C98B71C90A0}"/>
              </a:ext>
            </a:extLst>
          </p:cNvPr>
          <p:cNvSpPr>
            <a:spLocks noGrp="1"/>
          </p:cNvSpPr>
          <p:nvPr>
            <p:ph type="title"/>
          </p:nvPr>
        </p:nvSpPr>
        <p:spPr>
          <a:xfrm>
            <a:off x="588263" y="457200"/>
            <a:ext cx="11018520" cy="553998"/>
          </a:xfrm>
        </p:spPr>
        <p:txBody>
          <a:bodyPr wrap="square" anchor="t">
            <a:normAutofit/>
          </a:bodyPr>
          <a:lstStyle/>
          <a:p>
            <a:r>
              <a:rPr lang="en-US"/>
              <a:t>Notifications of upcoming retirements</a:t>
            </a:r>
          </a:p>
        </p:txBody>
      </p:sp>
      <p:graphicFrame>
        <p:nvGraphicFramePr>
          <p:cNvPr id="5" name="Content Placeholder 2">
            <a:extLst>
              <a:ext uri="{FF2B5EF4-FFF2-40B4-BE49-F238E27FC236}">
                <a16:creationId xmlns:a16="http://schemas.microsoft.com/office/drawing/2014/main" id="{E738B244-F7E4-F27C-C74F-EAB85C510220}"/>
              </a:ext>
            </a:extLst>
          </p:cNvPr>
          <p:cNvGraphicFramePr>
            <a:graphicFrameLocks noGrp="1"/>
          </p:cNvGraphicFramePr>
          <p:nvPr>
            <p:ph sz="quarter" idx="10"/>
            <p:extLst>
              <p:ext uri="{D42A27DB-BD31-4B8C-83A1-F6EECF244321}">
                <p14:modId xmlns:p14="http://schemas.microsoft.com/office/powerpoint/2010/main" val="2581555871"/>
              </p:ext>
            </p:extLst>
          </p:nvPr>
        </p:nvGraphicFramePr>
        <p:xfrm>
          <a:off x="584200" y="1435100"/>
          <a:ext cx="11018838" cy="48339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514787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5E4-2C81-72EB-AF70-B5971DDBAF9F}"/>
              </a:ext>
            </a:extLst>
          </p:cNvPr>
          <p:cNvSpPr>
            <a:spLocks noGrp="1"/>
          </p:cNvSpPr>
          <p:nvPr>
            <p:ph type="title"/>
          </p:nvPr>
        </p:nvSpPr>
        <p:spPr/>
        <p:txBody>
          <a:bodyPr/>
          <a:lstStyle/>
          <a:p>
            <a:r>
              <a:rPr lang="en-US"/>
              <a:t>Model version Notification</a:t>
            </a:r>
          </a:p>
        </p:txBody>
      </p:sp>
      <p:sp>
        <p:nvSpPr>
          <p:cNvPr id="3" name="Content Placeholder 2">
            <a:extLst>
              <a:ext uri="{FF2B5EF4-FFF2-40B4-BE49-F238E27FC236}">
                <a16:creationId xmlns:a16="http://schemas.microsoft.com/office/drawing/2014/main" id="{234A0579-1C94-FE5A-7D4B-902C8401895D}"/>
              </a:ext>
            </a:extLst>
          </p:cNvPr>
          <p:cNvSpPr>
            <a:spLocks noGrp="1"/>
          </p:cNvSpPr>
          <p:nvPr>
            <p:ph idx="1"/>
          </p:nvPr>
        </p:nvSpPr>
        <p:spPr/>
        <p:txBody>
          <a:bodyPr/>
          <a:lstStyle/>
          <a:p>
            <a:r>
              <a:rPr lang="en-US"/>
              <a:t>Azure publishes when new versions of models are released, and notifies customers at least two weeks before a new version becomes the default version of the model</a:t>
            </a:r>
          </a:p>
        </p:txBody>
      </p:sp>
    </p:spTree>
    <p:extLst>
      <p:ext uri="{BB962C8B-B14F-4D97-AF65-F5344CB8AC3E}">
        <p14:creationId xmlns:p14="http://schemas.microsoft.com/office/powerpoint/2010/main" val="9639214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6485BB-ADCD-4658-49E8-601CBC100B6C}"/>
              </a:ext>
            </a:extLst>
          </p:cNvPr>
          <p:cNvPicPr>
            <a:picLocks noChangeAspect="1"/>
          </p:cNvPicPr>
          <p:nvPr/>
        </p:nvPicPr>
        <p:blipFill>
          <a:blip r:embed="rId2"/>
          <a:stretch>
            <a:fillRect/>
          </a:stretch>
        </p:blipFill>
        <p:spPr>
          <a:xfrm>
            <a:off x="553538" y="64477"/>
            <a:ext cx="4194309" cy="6729046"/>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98D77FD5-3127-3E04-B902-F2BDD893AA8E}"/>
              </a:ext>
            </a:extLst>
          </p:cNvPr>
          <p:cNvPicPr>
            <a:picLocks noChangeAspect="1"/>
          </p:cNvPicPr>
          <p:nvPr/>
        </p:nvPicPr>
        <p:blipFill>
          <a:blip r:embed="rId3"/>
          <a:stretch>
            <a:fillRect/>
          </a:stretch>
        </p:blipFill>
        <p:spPr>
          <a:xfrm>
            <a:off x="6295294" y="225669"/>
            <a:ext cx="5134749" cy="64066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9842611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A57FE-2A05-0CE2-364F-02FFB369B166}"/>
              </a:ext>
            </a:extLst>
          </p:cNvPr>
          <p:cNvSpPr>
            <a:spLocks noGrp="1"/>
          </p:cNvSpPr>
          <p:nvPr>
            <p:ph type="title"/>
          </p:nvPr>
        </p:nvSpPr>
        <p:spPr>
          <a:xfrm>
            <a:off x="588263" y="457200"/>
            <a:ext cx="11018520" cy="553998"/>
          </a:xfrm>
        </p:spPr>
        <p:txBody>
          <a:bodyPr wrap="square" anchor="t">
            <a:normAutofit/>
          </a:bodyPr>
          <a:lstStyle/>
          <a:p>
            <a:r>
              <a:rPr lang="en-US"/>
              <a:t>Considerations for Azure public cloud</a:t>
            </a:r>
          </a:p>
        </p:txBody>
      </p:sp>
      <p:graphicFrame>
        <p:nvGraphicFramePr>
          <p:cNvPr id="5" name="Content Placeholder 2">
            <a:extLst>
              <a:ext uri="{FF2B5EF4-FFF2-40B4-BE49-F238E27FC236}">
                <a16:creationId xmlns:a16="http://schemas.microsoft.com/office/drawing/2014/main" id="{CF44445F-E22C-566E-5B69-3C1EB7975624}"/>
              </a:ext>
            </a:extLst>
          </p:cNvPr>
          <p:cNvGraphicFramePr>
            <a:graphicFrameLocks noGrp="1"/>
          </p:cNvGraphicFramePr>
          <p:nvPr>
            <p:ph sz="quarter" idx="10"/>
            <p:extLst>
              <p:ext uri="{D42A27DB-BD31-4B8C-83A1-F6EECF244321}">
                <p14:modId xmlns:p14="http://schemas.microsoft.com/office/powerpoint/2010/main" val="901087505"/>
              </p:ext>
            </p:extLst>
          </p:nvPr>
        </p:nvGraphicFramePr>
        <p:xfrm>
          <a:off x="584200" y="1435100"/>
          <a:ext cx="11018838" cy="48339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4492624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07931-D130-8D44-E4E6-20BE7E205848}"/>
              </a:ext>
            </a:extLst>
          </p:cNvPr>
          <p:cNvSpPr>
            <a:spLocks noGrp="1"/>
          </p:cNvSpPr>
          <p:nvPr>
            <p:ph type="title"/>
          </p:nvPr>
        </p:nvSpPr>
        <p:spPr>
          <a:xfrm>
            <a:off x="588263" y="457200"/>
            <a:ext cx="11018520" cy="553998"/>
          </a:xfrm>
        </p:spPr>
        <p:txBody>
          <a:bodyPr wrap="square" anchor="t">
            <a:normAutofit/>
          </a:bodyPr>
          <a:lstStyle/>
          <a:p>
            <a:r>
              <a:rPr lang="en-US"/>
              <a:t>Considerations for Azure public cloud</a:t>
            </a:r>
          </a:p>
        </p:txBody>
      </p:sp>
      <p:graphicFrame>
        <p:nvGraphicFramePr>
          <p:cNvPr id="5" name="Content Placeholder 2">
            <a:extLst>
              <a:ext uri="{FF2B5EF4-FFF2-40B4-BE49-F238E27FC236}">
                <a16:creationId xmlns:a16="http://schemas.microsoft.com/office/drawing/2014/main" id="{80A48177-9D86-9171-BD95-8E6D96712E77}"/>
              </a:ext>
            </a:extLst>
          </p:cNvPr>
          <p:cNvGraphicFramePr>
            <a:graphicFrameLocks noGrp="1"/>
          </p:cNvGraphicFramePr>
          <p:nvPr>
            <p:ph sz="quarter" idx="10"/>
            <p:extLst>
              <p:ext uri="{D42A27DB-BD31-4B8C-83A1-F6EECF244321}">
                <p14:modId xmlns:p14="http://schemas.microsoft.com/office/powerpoint/2010/main" val="1017087850"/>
              </p:ext>
            </p:extLst>
          </p:nvPr>
        </p:nvGraphicFramePr>
        <p:xfrm>
          <a:off x="584200" y="1435100"/>
          <a:ext cx="11018838" cy="48339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550709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9B642-AE4D-2547-4689-CC94E3655385}"/>
              </a:ext>
            </a:extLst>
          </p:cNvPr>
          <p:cNvSpPr>
            <a:spLocks noGrp="1"/>
          </p:cNvSpPr>
          <p:nvPr>
            <p:ph type="title"/>
          </p:nvPr>
        </p:nvSpPr>
        <p:spPr>
          <a:xfrm>
            <a:off x="588263" y="457200"/>
            <a:ext cx="11018520" cy="553998"/>
          </a:xfrm>
        </p:spPr>
        <p:txBody>
          <a:bodyPr wrap="square" anchor="t">
            <a:normAutofit/>
          </a:bodyPr>
          <a:lstStyle/>
          <a:p>
            <a:r>
              <a:rPr lang="en-US"/>
              <a:t>Special considerations for Azure Government clouds</a:t>
            </a:r>
          </a:p>
        </p:txBody>
      </p:sp>
      <p:graphicFrame>
        <p:nvGraphicFramePr>
          <p:cNvPr id="5" name="Content Placeholder 2">
            <a:extLst>
              <a:ext uri="{FF2B5EF4-FFF2-40B4-BE49-F238E27FC236}">
                <a16:creationId xmlns:a16="http://schemas.microsoft.com/office/drawing/2014/main" id="{ECAB6E41-E28C-7D33-EFC2-A112B0C35E30}"/>
              </a:ext>
            </a:extLst>
          </p:cNvPr>
          <p:cNvGraphicFramePr>
            <a:graphicFrameLocks noGrp="1"/>
          </p:cNvGraphicFramePr>
          <p:nvPr>
            <p:ph sz="quarter" idx="10"/>
            <p:extLst>
              <p:ext uri="{D42A27DB-BD31-4B8C-83A1-F6EECF244321}">
                <p14:modId xmlns:p14="http://schemas.microsoft.com/office/powerpoint/2010/main" val="1590724342"/>
              </p:ext>
            </p:extLst>
          </p:nvPr>
        </p:nvGraphicFramePr>
        <p:xfrm>
          <a:off x="584200" y="1435100"/>
          <a:ext cx="11018838" cy="48339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735415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D5303-73FC-E52D-86D6-96D5899680D3}"/>
              </a:ext>
            </a:extLst>
          </p:cNvPr>
          <p:cNvSpPr>
            <a:spLocks noGrp="1"/>
          </p:cNvSpPr>
          <p:nvPr>
            <p:ph type="title"/>
          </p:nvPr>
        </p:nvSpPr>
        <p:spPr/>
        <p:txBody>
          <a:bodyPr/>
          <a:lstStyle/>
          <a:p>
            <a:r>
              <a:rPr lang="en-US"/>
              <a:t>Special considerations for Azure Government clouds</a:t>
            </a:r>
          </a:p>
        </p:txBody>
      </p:sp>
      <p:sp>
        <p:nvSpPr>
          <p:cNvPr id="3" name="Content Placeholder 2">
            <a:extLst>
              <a:ext uri="{FF2B5EF4-FFF2-40B4-BE49-F238E27FC236}">
                <a16:creationId xmlns:a16="http://schemas.microsoft.com/office/drawing/2014/main" id="{78087180-0ACD-A13F-B6D3-01397B8BD1B3}"/>
              </a:ext>
            </a:extLst>
          </p:cNvPr>
          <p:cNvSpPr>
            <a:spLocks noGrp="1"/>
          </p:cNvSpPr>
          <p:nvPr>
            <p:ph sz="quarter" idx="10"/>
          </p:nvPr>
        </p:nvSpPr>
        <p:spPr>
          <a:xfrm>
            <a:off x="584200" y="1435100"/>
            <a:ext cx="11018838" cy="2671501"/>
          </a:xfrm>
        </p:spPr>
        <p:txBody>
          <a:bodyPr/>
          <a:lstStyle/>
          <a:p>
            <a:r>
              <a:rPr lang="en-US"/>
              <a:t>However, there's a 30-day overlap between new model versions, when more than two will be available. For example, if gpt-35-turbo 0125 or gpt-4o (2024-05-13) is updated to a future version. Another example is model family changes beyond version updates, like when moving from gpt-4 1106-preview to gpt-4o (2024-05-13).</a:t>
            </a:r>
          </a:p>
          <a:p>
            <a:endParaRPr lang="en-US"/>
          </a:p>
        </p:txBody>
      </p:sp>
    </p:spTree>
    <p:extLst>
      <p:ext uri="{BB962C8B-B14F-4D97-AF65-F5344CB8AC3E}">
        <p14:creationId xmlns:p14="http://schemas.microsoft.com/office/powerpoint/2010/main" val="2558895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E9107-AFDF-58D1-5155-87965F34F868}"/>
              </a:ext>
            </a:extLst>
          </p:cNvPr>
          <p:cNvSpPr>
            <a:spLocks noGrp="1"/>
          </p:cNvSpPr>
          <p:nvPr>
            <p:ph type="title"/>
          </p:nvPr>
        </p:nvSpPr>
        <p:spPr>
          <a:xfrm>
            <a:off x="588263" y="457200"/>
            <a:ext cx="11018520" cy="553998"/>
          </a:xfrm>
        </p:spPr>
        <p:txBody>
          <a:bodyPr wrap="square" anchor="t">
            <a:normAutofit/>
          </a:bodyPr>
          <a:lstStyle/>
          <a:p>
            <a:r>
              <a:rPr lang="en-US" sz="3300"/>
              <a:t>Preparation for model retirements and version upgrades</a:t>
            </a:r>
          </a:p>
        </p:txBody>
      </p:sp>
      <p:graphicFrame>
        <p:nvGraphicFramePr>
          <p:cNvPr id="5" name="Content Placeholder 2">
            <a:extLst>
              <a:ext uri="{FF2B5EF4-FFF2-40B4-BE49-F238E27FC236}">
                <a16:creationId xmlns:a16="http://schemas.microsoft.com/office/drawing/2014/main" id="{6BBDC9C6-120C-A59C-7150-5FE686E2CC46}"/>
              </a:ext>
            </a:extLst>
          </p:cNvPr>
          <p:cNvGraphicFramePr>
            <a:graphicFrameLocks noGrp="1"/>
          </p:cNvGraphicFramePr>
          <p:nvPr>
            <p:ph sz="quarter" idx="10"/>
            <p:extLst>
              <p:ext uri="{D42A27DB-BD31-4B8C-83A1-F6EECF244321}">
                <p14:modId xmlns:p14="http://schemas.microsoft.com/office/powerpoint/2010/main" val="4128697120"/>
              </p:ext>
            </p:extLst>
          </p:nvPr>
        </p:nvGraphicFramePr>
        <p:xfrm>
          <a:off x="584200" y="1435100"/>
          <a:ext cx="11018838" cy="48339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465479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341BE-F38B-FD8E-B09C-E194BD2C2A1A}"/>
              </a:ext>
            </a:extLst>
          </p:cNvPr>
          <p:cNvSpPr>
            <a:spLocks noGrp="1"/>
          </p:cNvSpPr>
          <p:nvPr>
            <p:ph type="title"/>
          </p:nvPr>
        </p:nvSpPr>
        <p:spPr>
          <a:xfrm>
            <a:off x="588263" y="457200"/>
            <a:ext cx="11018520" cy="553998"/>
          </a:xfrm>
        </p:spPr>
        <p:txBody>
          <a:bodyPr wrap="square" anchor="t">
            <a:normAutofit/>
          </a:bodyPr>
          <a:lstStyle/>
          <a:p>
            <a:r>
              <a:rPr lang="en-US"/>
              <a:t>Considerations for Fine Tuned Models</a:t>
            </a:r>
          </a:p>
        </p:txBody>
      </p:sp>
      <p:graphicFrame>
        <p:nvGraphicFramePr>
          <p:cNvPr id="5" name="Content Placeholder 2">
            <a:extLst>
              <a:ext uri="{FF2B5EF4-FFF2-40B4-BE49-F238E27FC236}">
                <a16:creationId xmlns:a16="http://schemas.microsoft.com/office/drawing/2014/main" id="{42762D06-BAEE-73F6-3FD1-F42D52E1C2B4}"/>
              </a:ext>
            </a:extLst>
          </p:cNvPr>
          <p:cNvGraphicFramePr>
            <a:graphicFrameLocks noGrp="1"/>
          </p:cNvGraphicFramePr>
          <p:nvPr>
            <p:ph sz="quarter" idx="10"/>
            <p:extLst>
              <p:ext uri="{D42A27DB-BD31-4B8C-83A1-F6EECF244321}">
                <p14:modId xmlns:p14="http://schemas.microsoft.com/office/powerpoint/2010/main" val="192806207"/>
              </p:ext>
            </p:extLst>
          </p:nvPr>
        </p:nvGraphicFramePr>
        <p:xfrm>
          <a:off x="584200" y="1435100"/>
          <a:ext cx="11018838" cy="48339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878650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F2C56-2FA0-DFB5-013B-5B78070B552A}"/>
              </a:ext>
            </a:extLst>
          </p:cNvPr>
          <p:cNvSpPr>
            <a:spLocks noGrp="1"/>
          </p:cNvSpPr>
          <p:nvPr>
            <p:ph type="title"/>
          </p:nvPr>
        </p:nvSpPr>
        <p:spPr>
          <a:xfrm>
            <a:off x="588263" y="457200"/>
            <a:ext cx="11018520" cy="1107996"/>
          </a:xfrm>
        </p:spPr>
        <p:txBody>
          <a:bodyPr/>
          <a:lstStyle/>
          <a:p>
            <a:r>
              <a:rPr lang="en-US"/>
              <a:t>Upcoming Azure OpenAI Model Deprecations &amp; Retirements</a:t>
            </a:r>
          </a:p>
        </p:txBody>
      </p:sp>
      <p:graphicFrame>
        <p:nvGraphicFramePr>
          <p:cNvPr id="4" name="Content Placeholder 3">
            <a:extLst>
              <a:ext uri="{FF2B5EF4-FFF2-40B4-BE49-F238E27FC236}">
                <a16:creationId xmlns:a16="http://schemas.microsoft.com/office/drawing/2014/main" id="{C80E8242-04BF-90DE-9BAC-5662E8E31EBA}"/>
              </a:ext>
            </a:extLst>
          </p:cNvPr>
          <p:cNvGraphicFramePr>
            <a:graphicFrameLocks noGrp="1"/>
          </p:cNvGraphicFramePr>
          <p:nvPr>
            <p:ph sz="quarter" idx="10"/>
            <p:extLst>
              <p:ext uri="{D42A27DB-BD31-4B8C-83A1-F6EECF244321}">
                <p14:modId xmlns:p14="http://schemas.microsoft.com/office/powerpoint/2010/main" val="552552200"/>
              </p:ext>
            </p:extLst>
          </p:nvPr>
        </p:nvGraphicFramePr>
        <p:xfrm>
          <a:off x="1387976" y="1674585"/>
          <a:ext cx="9411285" cy="4833944"/>
        </p:xfrm>
        <a:graphic>
          <a:graphicData uri="http://schemas.openxmlformats.org/drawingml/2006/table">
            <a:tbl>
              <a:tblPr firstRow="1" firstCol="1" bandRow="1"/>
              <a:tblGrid>
                <a:gridCol w="1639774">
                  <a:extLst>
                    <a:ext uri="{9D8B030D-6E8A-4147-A177-3AD203B41FA5}">
                      <a16:colId xmlns:a16="http://schemas.microsoft.com/office/drawing/2014/main" val="815200019"/>
                    </a:ext>
                  </a:extLst>
                </a:gridCol>
                <a:gridCol w="1018504">
                  <a:extLst>
                    <a:ext uri="{9D8B030D-6E8A-4147-A177-3AD203B41FA5}">
                      <a16:colId xmlns:a16="http://schemas.microsoft.com/office/drawing/2014/main" val="1131997911"/>
                    </a:ext>
                  </a:extLst>
                </a:gridCol>
                <a:gridCol w="1236890">
                  <a:extLst>
                    <a:ext uri="{9D8B030D-6E8A-4147-A177-3AD203B41FA5}">
                      <a16:colId xmlns:a16="http://schemas.microsoft.com/office/drawing/2014/main" val="1182276914"/>
                    </a:ext>
                  </a:extLst>
                </a:gridCol>
                <a:gridCol w="2178207">
                  <a:extLst>
                    <a:ext uri="{9D8B030D-6E8A-4147-A177-3AD203B41FA5}">
                      <a16:colId xmlns:a16="http://schemas.microsoft.com/office/drawing/2014/main" val="2276146947"/>
                    </a:ext>
                  </a:extLst>
                </a:gridCol>
                <a:gridCol w="1848747">
                  <a:extLst>
                    <a:ext uri="{9D8B030D-6E8A-4147-A177-3AD203B41FA5}">
                      <a16:colId xmlns:a16="http://schemas.microsoft.com/office/drawing/2014/main" val="2414883051"/>
                    </a:ext>
                  </a:extLst>
                </a:gridCol>
                <a:gridCol w="1489163">
                  <a:extLst>
                    <a:ext uri="{9D8B030D-6E8A-4147-A177-3AD203B41FA5}">
                      <a16:colId xmlns:a16="http://schemas.microsoft.com/office/drawing/2014/main" val="3700997562"/>
                    </a:ext>
                  </a:extLst>
                </a:gridCol>
              </a:tblGrid>
              <a:tr h="350364">
                <a:tc>
                  <a:txBody>
                    <a:bodyPr/>
                    <a:lstStyle/>
                    <a:p>
                      <a:pPr marL="0" marR="0">
                        <a:lnSpc>
                          <a:spcPct val="115000"/>
                        </a:lnSpc>
                        <a:spcAft>
                          <a:spcPts val="800"/>
                        </a:spcAft>
                        <a:buNone/>
                      </a:pPr>
                      <a:r>
                        <a:rPr lang="en-US" sz="1000" b="1" kern="100">
                          <a:effectLst/>
                          <a:latin typeface="Aptos" panose="020B0004020202020204" pitchFamily="34" charset="0"/>
                          <a:ea typeface="Aptos" panose="020B0004020202020204" pitchFamily="34" charset="0"/>
                          <a:cs typeface="Arial" panose="020B0604020202020204" pitchFamily="34" charset="0"/>
                        </a:rPr>
                        <a:t>Model Name</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b="1" kern="100">
                          <a:effectLst/>
                          <a:latin typeface="Aptos" panose="020B0004020202020204" pitchFamily="34" charset="0"/>
                          <a:ea typeface="Aptos" panose="020B0004020202020204" pitchFamily="34" charset="0"/>
                          <a:cs typeface="Arial" panose="020B0604020202020204" pitchFamily="34" charset="0"/>
                        </a:rPr>
                        <a:t>Model Version</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b="1" kern="100">
                          <a:effectLst/>
                          <a:latin typeface="Aptos" panose="020B0004020202020204" pitchFamily="34" charset="0"/>
                          <a:ea typeface="Aptos" panose="020B0004020202020204" pitchFamily="34" charset="0"/>
                          <a:cs typeface="Arial" panose="020B0604020202020204" pitchFamily="34" charset="0"/>
                        </a:rPr>
                        <a:t>Lifecycle Status</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b="1" kern="100">
                          <a:effectLst/>
                          <a:latin typeface="Aptos" panose="020B0004020202020204" pitchFamily="34" charset="0"/>
                          <a:ea typeface="Aptos" panose="020B0004020202020204" pitchFamily="34" charset="0"/>
                          <a:cs typeface="Arial" panose="020B0604020202020204" pitchFamily="34" charset="0"/>
                        </a:rPr>
                        <a:t>Deprecation Date* (No New Customers)</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b="1" kern="100">
                          <a:effectLst/>
                          <a:latin typeface="Aptos" panose="020B0004020202020204" pitchFamily="34" charset="0"/>
                          <a:ea typeface="Aptos" panose="020B0004020202020204" pitchFamily="34" charset="0"/>
                          <a:cs typeface="Arial" panose="020B0604020202020204" pitchFamily="34" charset="0"/>
                        </a:rPr>
                        <a:t>Retirement Date*</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b="1" kern="100">
                          <a:effectLst/>
                          <a:latin typeface="Aptos" panose="020B0004020202020204" pitchFamily="34" charset="0"/>
                          <a:ea typeface="Aptos" panose="020B0004020202020204" pitchFamily="34" charset="0"/>
                          <a:cs typeface="Arial" panose="020B0604020202020204" pitchFamily="34" charset="0"/>
                        </a:rPr>
                        <a:t>Replacement Model</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15480975"/>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gpt-5-chat</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2025-08-07</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Preview</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n/a</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2026-03-01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gpt-5.2-chat</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6250115"/>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gpt-5-chat</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2025-10-03</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Preview</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n/a</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2026-03-01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gpt-5.2-chat</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2893052"/>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gpt-4o</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2024-05-13</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Generally Available</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2025-05-13</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2026-03-31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gpt-5.1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4179789"/>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gpt-4o</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2024-08-06</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Generally Available</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2025-08-06</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2026-03-31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gpt-5.1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9193814"/>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gpt-4o-mini</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2024-07-18</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Generally Available</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2025-07-18</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2026-03-31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gpt-4.1-mini</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775525"/>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o1-pro</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2025-03-19</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Generally Available</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2026-03-19</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2026-09-18</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o3-pro</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544376"/>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o3-mini</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2025-01-31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Generally Available</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2026-01-31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2026-08-02</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o4-mini</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04215929"/>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gpt-5.1-chat</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2025-11-13</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Preview</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n/a</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No earlier than 2026-03-31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 </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1352734"/>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gpt-4o-audio-preview</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2024-12-17</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Preview</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n/a</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2026-02-02</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gpt-audio</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968124"/>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gpt-4o-realtime-preview</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2024-12-17</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Preview</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n/a</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2026-02-02</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gpt-realtime</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18453881"/>
                  </a:ext>
                </a:extLst>
              </a:tr>
              <a:tr h="350364">
                <a:tc>
                  <a:txBody>
                    <a:bodyPr/>
                    <a:lstStyle/>
                    <a:p>
                      <a:pPr marL="0" marR="0">
                        <a:lnSpc>
                          <a:spcPct val="115000"/>
                        </a:lnSpc>
                        <a:spcAft>
                          <a:spcPts val="800"/>
                        </a:spcAft>
                        <a:buNone/>
                      </a:pPr>
                      <a:r>
                        <a:rPr lang="it-IT" sz="1000" kern="100">
                          <a:effectLst/>
                          <a:latin typeface="Aptos" panose="020B0004020202020204" pitchFamily="34" charset="0"/>
                          <a:ea typeface="Aptos" panose="020B0004020202020204" pitchFamily="34" charset="0"/>
                          <a:cs typeface="Arial" panose="020B0604020202020204" pitchFamily="34" charset="0"/>
                        </a:rPr>
                        <a:t>gpt-4o-mini-audio-preview</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2024-12-17</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Preview</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n/a</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No earlier than February 28, 2026</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 </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1429176"/>
                  </a:ext>
                </a:extLst>
              </a:tr>
              <a:tr h="350364">
                <a:tc>
                  <a:txBody>
                    <a:bodyPr/>
                    <a:lstStyle/>
                    <a:p>
                      <a:pPr marL="0" marR="0">
                        <a:lnSpc>
                          <a:spcPct val="115000"/>
                        </a:lnSpc>
                        <a:spcAft>
                          <a:spcPts val="800"/>
                        </a:spcAft>
                        <a:buNone/>
                      </a:pPr>
                      <a:r>
                        <a:rPr lang="it-IT" sz="1000" kern="100">
                          <a:effectLst/>
                          <a:latin typeface="Aptos" panose="020B0004020202020204" pitchFamily="34" charset="0"/>
                          <a:ea typeface="Aptos" panose="020B0004020202020204" pitchFamily="34" charset="0"/>
                          <a:cs typeface="Arial" panose="020B0604020202020204" pitchFamily="34" charset="0"/>
                        </a:rPr>
                        <a:t>gpt-4o-mini-realtime-preview</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2024-12-17</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Preview</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n/a</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No earlier than February 28, 2026</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 </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9187819"/>
                  </a:ext>
                </a:extLst>
              </a:tr>
              <a:tr h="350364">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gpt-4o-transcribe</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2025-03-20</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Preview</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n/a</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No earlier than February 28, 2026</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 </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4355119"/>
                  </a:ext>
                </a:extLst>
              </a:tr>
              <a:tr h="350364">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gpt-4o-mini-tts</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2025-03-20</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Preview</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n/a</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No earlier than February 28, 2026</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 </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5222084"/>
                  </a:ext>
                </a:extLst>
              </a:tr>
              <a:tr h="350364">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gpt-4o-mini-transcribe</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2025-03-20</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Preview</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n/a</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No earlier than February 28, 2026</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 </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2826226"/>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tts</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001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Generally Available</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No earlier than February 28, 2026</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 </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 </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5313065"/>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tts-hd</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001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Generally Available</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No earlier than February 28, 2026</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 </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 </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8966168"/>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whisper</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001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Generally Available</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No earlier than February 28, 2026</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 </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 </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6169963"/>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dall-e-3</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3</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Generally Available</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n/a</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2026-02-18</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gpt-image-1-mini</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14047082"/>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gpt-image-1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2025-04-15</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Preview</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n/a</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No earlier than 2026-03-31</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gpt-image-1-mini</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7814732"/>
                  </a:ext>
                </a:extLst>
              </a:tr>
              <a:tr h="170735">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sora</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2025-05-02</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Preview</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n/a</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No earlier than 2026-02-28</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Arial" panose="020B0604020202020204" pitchFamily="34" charset="0"/>
                        </a:rPr>
                        <a:t>sora-2</a:t>
                      </a:r>
                    </a:p>
                  </a:txBody>
                  <a:tcPr marL="58575" marR="5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017853"/>
                  </a:ext>
                </a:extLst>
              </a:tr>
            </a:tbl>
          </a:graphicData>
        </a:graphic>
      </p:graphicFrame>
    </p:spTree>
    <p:extLst>
      <p:ext uri="{BB962C8B-B14F-4D97-AF65-F5344CB8AC3E}">
        <p14:creationId xmlns:p14="http://schemas.microsoft.com/office/powerpoint/2010/main" val="3758322575"/>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A9946-8176-C86C-EBF4-5E2F31B7F861}"/>
              </a:ext>
            </a:extLst>
          </p:cNvPr>
          <p:cNvSpPr>
            <a:spLocks noGrp="1"/>
          </p:cNvSpPr>
          <p:nvPr>
            <p:ph type="title"/>
          </p:nvPr>
        </p:nvSpPr>
        <p:spPr>
          <a:xfrm>
            <a:off x="588263" y="457200"/>
            <a:ext cx="11018520" cy="1107996"/>
          </a:xfrm>
        </p:spPr>
        <p:txBody>
          <a:bodyPr/>
          <a:lstStyle/>
          <a:p>
            <a:r>
              <a:rPr lang="en-US"/>
              <a:t>Upcoming Foundry Model Deprecations &amp; Retirements</a:t>
            </a:r>
          </a:p>
        </p:txBody>
      </p:sp>
      <p:graphicFrame>
        <p:nvGraphicFramePr>
          <p:cNvPr id="4" name="Content Placeholder 3">
            <a:extLst>
              <a:ext uri="{FF2B5EF4-FFF2-40B4-BE49-F238E27FC236}">
                <a16:creationId xmlns:a16="http://schemas.microsoft.com/office/drawing/2014/main" id="{B18CABE0-599D-A389-BCA3-2285954DC49F}"/>
              </a:ext>
            </a:extLst>
          </p:cNvPr>
          <p:cNvGraphicFramePr>
            <a:graphicFrameLocks noGrp="1"/>
          </p:cNvGraphicFramePr>
          <p:nvPr>
            <p:ph sz="quarter" idx="10"/>
          </p:nvPr>
        </p:nvGraphicFramePr>
        <p:xfrm>
          <a:off x="584200" y="3042063"/>
          <a:ext cx="11018838" cy="1620012"/>
        </p:xfrm>
        <a:graphic>
          <a:graphicData uri="http://schemas.openxmlformats.org/drawingml/2006/table">
            <a:tbl>
              <a:tblPr firstRow="1" firstCol="1" bandRow="1"/>
              <a:tblGrid>
                <a:gridCol w="1712327">
                  <a:extLst>
                    <a:ext uri="{9D8B030D-6E8A-4147-A177-3AD203B41FA5}">
                      <a16:colId xmlns:a16="http://schemas.microsoft.com/office/drawing/2014/main" val="4213737241"/>
                    </a:ext>
                  </a:extLst>
                </a:gridCol>
                <a:gridCol w="1727754">
                  <a:extLst>
                    <a:ext uri="{9D8B030D-6E8A-4147-A177-3AD203B41FA5}">
                      <a16:colId xmlns:a16="http://schemas.microsoft.com/office/drawing/2014/main" val="4188926773"/>
                    </a:ext>
                  </a:extLst>
                </a:gridCol>
                <a:gridCol w="1721142">
                  <a:extLst>
                    <a:ext uri="{9D8B030D-6E8A-4147-A177-3AD203B41FA5}">
                      <a16:colId xmlns:a16="http://schemas.microsoft.com/office/drawing/2014/main" val="1126980296"/>
                    </a:ext>
                  </a:extLst>
                </a:gridCol>
                <a:gridCol w="1954742">
                  <a:extLst>
                    <a:ext uri="{9D8B030D-6E8A-4147-A177-3AD203B41FA5}">
                      <a16:colId xmlns:a16="http://schemas.microsoft.com/office/drawing/2014/main" val="2498577966"/>
                    </a:ext>
                  </a:extLst>
                </a:gridCol>
                <a:gridCol w="1919482">
                  <a:extLst>
                    <a:ext uri="{9D8B030D-6E8A-4147-A177-3AD203B41FA5}">
                      <a16:colId xmlns:a16="http://schemas.microsoft.com/office/drawing/2014/main" val="1121004240"/>
                    </a:ext>
                  </a:extLst>
                </a:gridCol>
                <a:gridCol w="1983391">
                  <a:extLst>
                    <a:ext uri="{9D8B030D-6E8A-4147-A177-3AD203B41FA5}">
                      <a16:colId xmlns:a16="http://schemas.microsoft.com/office/drawing/2014/main" val="1547419082"/>
                    </a:ext>
                  </a:extLst>
                </a:gridCol>
              </a:tblGrid>
              <a:tr h="0">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b="1" kern="100">
                          <a:effectLst/>
                          <a:latin typeface="Aptos" panose="020B0004020202020204" pitchFamily="34" charset="0"/>
                          <a:ea typeface="Aptos" panose="020B0004020202020204" pitchFamily="34" charset="0"/>
                          <a:cs typeface="Arial" panose="020B0604020202020204" pitchFamily="34" charset="0"/>
                        </a:rPr>
                        <a:t>Model</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b="1" kern="100">
                          <a:effectLst/>
                          <a:latin typeface="Aptos" panose="020B0004020202020204" pitchFamily="34" charset="0"/>
                          <a:ea typeface="Aptos" panose="020B0004020202020204" pitchFamily="34" charset="0"/>
                          <a:cs typeface="Arial" panose="020B0604020202020204" pitchFamily="34" charset="0"/>
                        </a:rPr>
                        <a:t>Legacy date (UTC)</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b="1" kern="100">
                          <a:effectLst/>
                          <a:latin typeface="Aptos" panose="020B0004020202020204" pitchFamily="34" charset="0"/>
                          <a:ea typeface="Aptos" panose="020B0004020202020204" pitchFamily="34" charset="0"/>
                          <a:cs typeface="Arial" panose="020B0604020202020204" pitchFamily="34" charset="0"/>
                        </a:rPr>
                        <a:t>Deprecation date* (UTC)</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b="1" kern="100">
                          <a:effectLst/>
                          <a:latin typeface="Aptos" panose="020B0004020202020204" pitchFamily="34" charset="0"/>
                          <a:ea typeface="Aptos" panose="020B0004020202020204" pitchFamily="34" charset="0"/>
                          <a:cs typeface="Arial" panose="020B0604020202020204" pitchFamily="34" charset="0"/>
                        </a:rPr>
                        <a:t>Retirement date* (UTC)</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b="1" kern="100">
                          <a:effectLst/>
                          <a:latin typeface="Aptos" panose="020B0004020202020204" pitchFamily="34" charset="0"/>
                          <a:ea typeface="Aptos" panose="020B0004020202020204" pitchFamily="34" charset="0"/>
                          <a:cs typeface="Arial" panose="020B0604020202020204" pitchFamily="34" charset="0"/>
                        </a:rPr>
                        <a:t>Suggested replacement model</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7307657"/>
                  </a:ext>
                </a:extLst>
              </a:tr>
              <a:tr h="0">
                <a:tc>
                  <a:txBody>
                    <a:bodyPr/>
                    <a:lstStyle/>
                    <a:p>
                      <a:pPr marL="0" marR="0">
                        <a:lnSpc>
                          <a:spcPct val="115000"/>
                        </a:lnSpc>
                        <a:spcAft>
                          <a:spcPts val="800"/>
                        </a:spcAft>
                        <a:buNone/>
                      </a:pPr>
                      <a:r>
                        <a:rPr lang="en-US" sz="1200" b="1" kern="100">
                          <a:solidFill>
                            <a:srgbClr val="161616"/>
                          </a:solidFill>
                          <a:effectLst/>
                          <a:latin typeface="Segoe UI" panose="020B0502040204020203" pitchFamily="34" charset="0"/>
                          <a:ea typeface="Aptos" panose="020B0004020202020204" pitchFamily="34" charset="0"/>
                          <a:cs typeface="Arial" panose="020B0604020202020204" pitchFamily="34" charset="0"/>
                        </a:rPr>
                        <a:t>Cohere</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Cohere-rerank-v3.5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January 14, 2026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February 14, 2026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May 14, 2026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Cohere-rerank-v4.0-pro, Cohere-rerank-v4.0-fast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7092345"/>
                  </a:ext>
                </a:extLst>
              </a:tr>
              <a:tr h="0">
                <a:tc>
                  <a:txBody>
                    <a:bodyPr/>
                    <a:lstStyle/>
                    <a:p>
                      <a:pPr marL="0" marR="0">
                        <a:lnSpc>
                          <a:spcPct val="115000"/>
                        </a:lnSpc>
                        <a:spcAft>
                          <a:spcPts val="800"/>
                        </a:spcAft>
                        <a:buNone/>
                      </a:pPr>
                      <a:r>
                        <a:rPr lang="en-US" sz="1200" b="1" kern="100">
                          <a:solidFill>
                            <a:srgbClr val="161616"/>
                          </a:solidFill>
                          <a:effectLst/>
                          <a:latin typeface="Segoe UI" panose="020B0502040204020203" pitchFamily="34" charset="0"/>
                          <a:ea typeface="Aptos" panose="020B0004020202020204" pitchFamily="34" charset="0"/>
                          <a:cs typeface="Arial" panose="020B0604020202020204" pitchFamily="34" charset="0"/>
                        </a:rPr>
                        <a:t>Core42</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jais-30b-chat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September 30, 2025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October 31, 2025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January 30, 2026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N/A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098657"/>
                  </a:ext>
                </a:extLst>
              </a:tr>
              <a:tr h="0">
                <a:tc>
                  <a:txBody>
                    <a:bodyPr/>
                    <a:lstStyle/>
                    <a:p>
                      <a:pPr marL="0" marR="0">
                        <a:lnSpc>
                          <a:spcPct val="115000"/>
                        </a:lnSpc>
                        <a:spcAft>
                          <a:spcPts val="800"/>
                        </a:spcAft>
                        <a:buNone/>
                      </a:pPr>
                      <a:r>
                        <a:rPr lang="en-US" sz="1200" b="1" kern="100">
                          <a:solidFill>
                            <a:srgbClr val="161616"/>
                          </a:solidFill>
                          <a:effectLst/>
                          <a:latin typeface="Segoe UI" panose="020B0502040204020203" pitchFamily="34" charset="0"/>
                          <a:ea typeface="Aptos" panose="020B0004020202020204" pitchFamily="34" charset="0"/>
                          <a:cs typeface="Arial" panose="020B0604020202020204" pitchFamily="34" charset="0"/>
                        </a:rPr>
                        <a:t>Mistral AI</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Mistral-Nemo</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September 30, 2025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October 31, 2025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January 30, 2026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Mistral-small-2503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0588471"/>
                  </a:ext>
                </a:extLst>
              </a:tr>
              <a:tr h="0">
                <a:tc>
                  <a:txBody>
                    <a:bodyPr/>
                    <a:lstStyle/>
                    <a:p>
                      <a:pPr marL="0" marR="0">
                        <a:lnSpc>
                          <a:spcPct val="115000"/>
                        </a:lnSpc>
                        <a:spcAft>
                          <a:spcPts val="800"/>
                        </a:spcAft>
                        <a:buNone/>
                      </a:pPr>
                      <a:r>
                        <a:rPr lang="en-US" sz="1200" b="1" kern="100">
                          <a:solidFill>
                            <a:srgbClr val="161616"/>
                          </a:solidFill>
                          <a:effectLst/>
                          <a:latin typeface="Segoe UI" panose="020B0502040204020203" pitchFamily="34" charset="0"/>
                          <a:ea typeface="Aptos" panose="020B0004020202020204" pitchFamily="34" charset="0"/>
                          <a:cs typeface="Arial" panose="020B0604020202020204" pitchFamily="34" charset="0"/>
                        </a:rPr>
                        <a:t>Mistral AI</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Mistral-large-2411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September 30, 2025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October 31, 2025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January 30, 2026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Mistral-medium-2505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719628"/>
                  </a:ext>
                </a:extLst>
              </a:tr>
              <a:tr h="0">
                <a:tc>
                  <a:txBody>
                    <a:bodyPr/>
                    <a:lstStyle/>
                    <a:p>
                      <a:pPr marL="0" marR="0">
                        <a:lnSpc>
                          <a:spcPct val="115000"/>
                        </a:lnSpc>
                        <a:spcAft>
                          <a:spcPts val="800"/>
                        </a:spcAft>
                        <a:buNone/>
                      </a:pPr>
                      <a:r>
                        <a:rPr lang="en-US" sz="1200" b="1" kern="100">
                          <a:solidFill>
                            <a:srgbClr val="161616"/>
                          </a:solidFill>
                          <a:effectLst/>
                          <a:latin typeface="Segoe UI" panose="020B0502040204020203" pitchFamily="34" charset="0"/>
                          <a:ea typeface="Aptos" panose="020B0004020202020204" pitchFamily="34" charset="0"/>
                          <a:cs typeface="Arial" panose="020B0604020202020204" pitchFamily="34" charset="0"/>
                        </a:rPr>
                        <a:t>Mistral AI</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Mistral-ocr-2503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September 30, 2025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October 31, 2025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January 30, 2026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Mistral-document-ai-2505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5345720"/>
                  </a:ext>
                </a:extLst>
              </a:tr>
            </a:tbl>
          </a:graphicData>
        </a:graphic>
      </p:graphicFrame>
    </p:spTree>
    <p:extLst>
      <p:ext uri="{BB962C8B-B14F-4D97-AF65-F5344CB8AC3E}">
        <p14:creationId xmlns:p14="http://schemas.microsoft.com/office/powerpoint/2010/main" val="28126895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532E5-EAE5-80C0-A6EF-64098ABEA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10D91B-654E-2A55-219F-5650FF3B2336}"/>
              </a:ext>
            </a:extLst>
          </p:cNvPr>
          <p:cNvSpPr>
            <a:spLocks noGrp="1"/>
          </p:cNvSpPr>
          <p:nvPr>
            <p:ph type="title"/>
          </p:nvPr>
        </p:nvSpPr>
        <p:spPr>
          <a:xfrm>
            <a:off x="588263" y="457200"/>
            <a:ext cx="11018520" cy="1107996"/>
          </a:xfrm>
        </p:spPr>
        <p:txBody>
          <a:bodyPr/>
          <a:lstStyle/>
          <a:p>
            <a:r>
              <a:rPr lang="en-US"/>
              <a:t>Upcoming Deprecations &amp; Retirements in US Gov cloud</a:t>
            </a:r>
          </a:p>
        </p:txBody>
      </p:sp>
      <p:sp>
        <p:nvSpPr>
          <p:cNvPr id="5" name="Content Placeholder 4">
            <a:extLst>
              <a:ext uri="{FF2B5EF4-FFF2-40B4-BE49-F238E27FC236}">
                <a16:creationId xmlns:a16="http://schemas.microsoft.com/office/drawing/2014/main" id="{AF283842-C19E-F7A8-4991-9DCCF487EF7D}"/>
              </a:ext>
            </a:extLst>
          </p:cNvPr>
          <p:cNvSpPr>
            <a:spLocks noGrp="1"/>
          </p:cNvSpPr>
          <p:nvPr>
            <p:ph sz="quarter" idx="10"/>
          </p:nvPr>
        </p:nvSpPr>
        <p:spPr/>
        <p:txBody>
          <a:bodyPr/>
          <a:lstStyle/>
          <a:p>
            <a:endParaRPr lang="en-US"/>
          </a:p>
        </p:txBody>
      </p:sp>
      <p:graphicFrame>
        <p:nvGraphicFramePr>
          <p:cNvPr id="6" name="Content Placeholder 3">
            <a:extLst>
              <a:ext uri="{FF2B5EF4-FFF2-40B4-BE49-F238E27FC236}">
                <a16:creationId xmlns:a16="http://schemas.microsoft.com/office/drawing/2014/main" id="{4139131B-3E75-DF48-5BCA-A02788B791E8}"/>
              </a:ext>
            </a:extLst>
          </p:cNvPr>
          <p:cNvGraphicFramePr>
            <a:graphicFrameLocks/>
          </p:cNvGraphicFramePr>
          <p:nvPr>
            <p:extLst>
              <p:ext uri="{D42A27DB-BD31-4B8C-83A1-F6EECF244321}">
                <p14:modId xmlns:p14="http://schemas.microsoft.com/office/powerpoint/2010/main" val="974468071"/>
              </p:ext>
            </p:extLst>
          </p:nvPr>
        </p:nvGraphicFramePr>
        <p:xfrm>
          <a:off x="2593022" y="2822067"/>
          <a:ext cx="7005956" cy="606933"/>
        </p:xfrm>
        <a:graphic>
          <a:graphicData uri="http://schemas.openxmlformats.org/drawingml/2006/table">
            <a:tbl>
              <a:tblPr firstRow="1" firstCol="1" bandRow="1"/>
              <a:tblGrid>
                <a:gridCol w="1751489">
                  <a:extLst>
                    <a:ext uri="{9D8B030D-6E8A-4147-A177-3AD203B41FA5}">
                      <a16:colId xmlns:a16="http://schemas.microsoft.com/office/drawing/2014/main" val="1873769107"/>
                    </a:ext>
                  </a:extLst>
                </a:gridCol>
                <a:gridCol w="1751489">
                  <a:extLst>
                    <a:ext uri="{9D8B030D-6E8A-4147-A177-3AD203B41FA5}">
                      <a16:colId xmlns:a16="http://schemas.microsoft.com/office/drawing/2014/main" val="2110319535"/>
                    </a:ext>
                  </a:extLst>
                </a:gridCol>
                <a:gridCol w="1751489">
                  <a:extLst>
                    <a:ext uri="{9D8B030D-6E8A-4147-A177-3AD203B41FA5}">
                      <a16:colId xmlns:a16="http://schemas.microsoft.com/office/drawing/2014/main" val="2225439395"/>
                    </a:ext>
                  </a:extLst>
                </a:gridCol>
                <a:gridCol w="1751489">
                  <a:extLst>
                    <a:ext uri="{9D8B030D-6E8A-4147-A177-3AD203B41FA5}">
                      <a16:colId xmlns:a16="http://schemas.microsoft.com/office/drawing/2014/main" val="3898829068"/>
                    </a:ext>
                  </a:extLst>
                </a:gridCol>
              </a:tblGrid>
              <a:tr h="0">
                <a:tc>
                  <a:txBody>
                    <a:bodyPr/>
                    <a:lstStyle/>
                    <a:p>
                      <a:pPr marL="0" marR="0">
                        <a:lnSpc>
                          <a:spcPct val="115000"/>
                        </a:lnSpc>
                        <a:spcAft>
                          <a:spcPts val="800"/>
                        </a:spcAft>
                        <a:buNone/>
                      </a:pPr>
                      <a:r>
                        <a:rPr lang="en-US" sz="11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Model</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Version</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Azure Government Status</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Public Retirement date</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22247587"/>
                  </a:ext>
                </a:extLst>
              </a:tr>
              <a:tr h="0">
                <a:tc>
                  <a:txBody>
                    <a:bodyPr/>
                    <a:lstStyle/>
                    <a:p>
                      <a:pPr marL="0" marR="0">
                        <a:lnSpc>
                          <a:spcPct val="115000"/>
                        </a:lnSpc>
                        <a:spcAft>
                          <a:spcPts val="800"/>
                        </a:spcAft>
                        <a:buNone/>
                      </a:pPr>
                      <a:r>
                        <a:rPr lang="en-US" sz="11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gpt-35-turbo</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kern="100">
                          <a:solidFill>
                            <a:srgbClr val="000000"/>
                          </a:solidFill>
                          <a:effectLst/>
                          <a:latin typeface="Aptos" panose="020B0004020202020204" pitchFamily="34" charset="0"/>
                          <a:ea typeface="Aptos" panose="020B0004020202020204" pitchFamily="34" charset="0"/>
                          <a:cs typeface="Arial" panose="020B0604020202020204" pitchFamily="34" charset="0"/>
                        </a:rPr>
                        <a:t>1106</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kern="100">
                          <a:solidFill>
                            <a:srgbClr val="000000"/>
                          </a:solidFill>
                          <a:effectLst/>
                          <a:latin typeface="Aptos" panose="020B0004020202020204" pitchFamily="34" charset="0"/>
                          <a:ea typeface="Aptos" panose="020B0004020202020204" pitchFamily="34" charset="0"/>
                          <a:cs typeface="Arial" panose="020B0604020202020204" pitchFamily="34" charset="0"/>
                        </a:rPr>
                        <a:t>Retired</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kern="100">
                          <a:solidFill>
                            <a:srgbClr val="000000"/>
                          </a:solidFill>
                          <a:effectLst/>
                          <a:latin typeface="Aptos" panose="020B0004020202020204" pitchFamily="34" charset="0"/>
                          <a:ea typeface="Aptos" panose="020B0004020202020204" pitchFamily="34" charset="0"/>
                          <a:cs typeface="Arial" panose="020B0604020202020204" pitchFamily="34" charset="0"/>
                        </a:rPr>
                        <a:t>November 14, 2025</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72288629"/>
                  </a:ext>
                </a:extLst>
              </a:tr>
              <a:tr h="0">
                <a:tc>
                  <a:txBody>
                    <a:bodyPr/>
                    <a:lstStyle/>
                    <a:p>
                      <a:pPr marL="0" marR="0">
                        <a:lnSpc>
                          <a:spcPct val="115000"/>
                        </a:lnSpc>
                        <a:spcAft>
                          <a:spcPts val="800"/>
                        </a:spcAft>
                        <a:buNone/>
                      </a:pPr>
                      <a:r>
                        <a:rPr lang="en-US" sz="11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gpt-4</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kern="100">
                          <a:solidFill>
                            <a:srgbClr val="000000"/>
                          </a:solidFill>
                          <a:effectLst/>
                          <a:latin typeface="Aptos" panose="020B0004020202020204" pitchFamily="34" charset="0"/>
                          <a:ea typeface="Aptos" panose="020B0004020202020204" pitchFamily="34" charset="0"/>
                          <a:cs typeface="Arial" panose="020B0604020202020204" pitchFamily="34" charset="0"/>
                        </a:rPr>
                        <a:t>turbo-2024-04-09</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kern="100">
                          <a:solidFill>
                            <a:srgbClr val="000000"/>
                          </a:solidFill>
                          <a:effectLst/>
                          <a:latin typeface="Aptos" panose="020B0004020202020204" pitchFamily="34" charset="0"/>
                          <a:ea typeface="Aptos" panose="020B0004020202020204" pitchFamily="34" charset="0"/>
                          <a:cs typeface="Arial" panose="020B0604020202020204" pitchFamily="34" charset="0"/>
                        </a:rPr>
                        <a:t>Retired</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kern="100">
                          <a:solidFill>
                            <a:srgbClr val="000000"/>
                          </a:solidFill>
                          <a:effectLst/>
                          <a:latin typeface="Aptos" panose="020B0004020202020204" pitchFamily="34" charset="0"/>
                          <a:ea typeface="Aptos" panose="020B0004020202020204" pitchFamily="34" charset="0"/>
                          <a:cs typeface="Arial" panose="020B0604020202020204" pitchFamily="34" charset="0"/>
                        </a:rPr>
                        <a:t>November 14, 2025</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30917284"/>
                  </a:ext>
                </a:extLst>
              </a:tr>
            </a:tbl>
          </a:graphicData>
        </a:graphic>
      </p:graphicFrame>
      <p:sp>
        <p:nvSpPr>
          <p:cNvPr id="7" name="TextBox 6">
            <a:extLst>
              <a:ext uri="{FF2B5EF4-FFF2-40B4-BE49-F238E27FC236}">
                <a16:creationId xmlns:a16="http://schemas.microsoft.com/office/drawing/2014/main" id="{9BF2E65A-E78B-A9D6-C228-E631034032E3}"/>
              </a:ext>
            </a:extLst>
          </p:cNvPr>
          <p:cNvSpPr txBox="1"/>
          <p:nvPr/>
        </p:nvSpPr>
        <p:spPr>
          <a:xfrm>
            <a:off x="838200" y="1702379"/>
            <a:ext cx="6096000" cy="369332"/>
          </a:xfrm>
          <a:prstGeom prst="rect">
            <a:avLst/>
          </a:prstGeom>
          <a:noFill/>
        </p:spPr>
        <p:txBody>
          <a:bodyPr wrap="square">
            <a:spAutoFit/>
          </a:bodyPr>
          <a:lstStyle/>
          <a:p>
            <a:pPr algn="l">
              <a:spcBef>
                <a:spcPts val="2700"/>
              </a:spcBef>
              <a:spcAft>
                <a:spcPts val="450"/>
              </a:spcAft>
              <a:buNone/>
            </a:pPr>
            <a:r>
              <a:rPr lang="en-US" b="1" i="0">
                <a:solidFill>
                  <a:srgbClr val="161616"/>
                </a:solidFill>
                <a:effectLst/>
                <a:latin typeface="Segoe UI" panose="020B0502040204020203" pitchFamily="34" charset="0"/>
              </a:rPr>
              <a:t>Early Model Retirements</a:t>
            </a:r>
          </a:p>
        </p:txBody>
      </p:sp>
      <p:sp>
        <p:nvSpPr>
          <p:cNvPr id="8" name="TextBox 7">
            <a:extLst>
              <a:ext uri="{FF2B5EF4-FFF2-40B4-BE49-F238E27FC236}">
                <a16:creationId xmlns:a16="http://schemas.microsoft.com/office/drawing/2014/main" id="{F989F87E-8349-2545-7864-A4CF084328E4}"/>
              </a:ext>
            </a:extLst>
          </p:cNvPr>
          <p:cNvSpPr txBox="1"/>
          <p:nvPr/>
        </p:nvSpPr>
        <p:spPr>
          <a:xfrm>
            <a:off x="838200" y="3994690"/>
            <a:ext cx="6096000" cy="369332"/>
          </a:xfrm>
          <a:prstGeom prst="rect">
            <a:avLst/>
          </a:prstGeom>
          <a:noFill/>
        </p:spPr>
        <p:txBody>
          <a:bodyPr wrap="square">
            <a:spAutoFit/>
          </a:bodyPr>
          <a:lstStyle/>
          <a:p>
            <a:pPr algn="l">
              <a:spcBef>
                <a:spcPts val="2700"/>
              </a:spcBef>
              <a:spcAft>
                <a:spcPts val="450"/>
              </a:spcAft>
              <a:buNone/>
            </a:pPr>
            <a:r>
              <a:rPr lang="en-US" b="1" i="0">
                <a:solidFill>
                  <a:srgbClr val="161616"/>
                </a:solidFill>
                <a:effectLst/>
                <a:latin typeface="Segoe UI" panose="020B0502040204020203" pitchFamily="34" charset="0"/>
              </a:rPr>
              <a:t>Late Model Retirements</a:t>
            </a:r>
          </a:p>
        </p:txBody>
      </p:sp>
      <p:graphicFrame>
        <p:nvGraphicFramePr>
          <p:cNvPr id="9" name="Table 8">
            <a:extLst>
              <a:ext uri="{FF2B5EF4-FFF2-40B4-BE49-F238E27FC236}">
                <a16:creationId xmlns:a16="http://schemas.microsoft.com/office/drawing/2014/main" id="{5805BECC-5F96-8B1F-FBFC-E9D7B6E66A08}"/>
              </a:ext>
            </a:extLst>
          </p:cNvPr>
          <p:cNvGraphicFramePr>
            <a:graphicFrameLocks noGrp="1"/>
          </p:cNvGraphicFramePr>
          <p:nvPr>
            <p:extLst>
              <p:ext uri="{D42A27DB-BD31-4B8C-83A1-F6EECF244321}">
                <p14:modId xmlns:p14="http://schemas.microsoft.com/office/powerpoint/2010/main" val="3466795237"/>
              </p:ext>
            </p:extLst>
          </p:nvPr>
        </p:nvGraphicFramePr>
        <p:xfrm>
          <a:off x="2593021" y="4764096"/>
          <a:ext cx="7005957" cy="1175766"/>
        </p:xfrm>
        <a:graphic>
          <a:graphicData uri="http://schemas.openxmlformats.org/drawingml/2006/table">
            <a:tbl>
              <a:tblPr firstRow="1" firstCol="1" bandRow="1"/>
              <a:tblGrid>
                <a:gridCol w="1000851">
                  <a:extLst>
                    <a:ext uri="{9D8B030D-6E8A-4147-A177-3AD203B41FA5}">
                      <a16:colId xmlns:a16="http://schemas.microsoft.com/office/drawing/2014/main" val="2219150744"/>
                    </a:ext>
                  </a:extLst>
                </a:gridCol>
                <a:gridCol w="1000851">
                  <a:extLst>
                    <a:ext uri="{9D8B030D-6E8A-4147-A177-3AD203B41FA5}">
                      <a16:colId xmlns:a16="http://schemas.microsoft.com/office/drawing/2014/main" val="367504328"/>
                    </a:ext>
                  </a:extLst>
                </a:gridCol>
                <a:gridCol w="1000851">
                  <a:extLst>
                    <a:ext uri="{9D8B030D-6E8A-4147-A177-3AD203B41FA5}">
                      <a16:colId xmlns:a16="http://schemas.microsoft.com/office/drawing/2014/main" val="2886173439"/>
                    </a:ext>
                  </a:extLst>
                </a:gridCol>
                <a:gridCol w="1000851">
                  <a:extLst>
                    <a:ext uri="{9D8B030D-6E8A-4147-A177-3AD203B41FA5}">
                      <a16:colId xmlns:a16="http://schemas.microsoft.com/office/drawing/2014/main" val="3419010260"/>
                    </a:ext>
                  </a:extLst>
                </a:gridCol>
                <a:gridCol w="1000851">
                  <a:extLst>
                    <a:ext uri="{9D8B030D-6E8A-4147-A177-3AD203B41FA5}">
                      <a16:colId xmlns:a16="http://schemas.microsoft.com/office/drawing/2014/main" val="3384967183"/>
                    </a:ext>
                  </a:extLst>
                </a:gridCol>
                <a:gridCol w="1000851">
                  <a:extLst>
                    <a:ext uri="{9D8B030D-6E8A-4147-A177-3AD203B41FA5}">
                      <a16:colId xmlns:a16="http://schemas.microsoft.com/office/drawing/2014/main" val="3549941096"/>
                    </a:ext>
                  </a:extLst>
                </a:gridCol>
                <a:gridCol w="1000851">
                  <a:extLst>
                    <a:ext uri="{9D8B030D-6E8A-4147-A177-3AD203B41FA5}">
                      <a16:colId xmlns:a16="http://schemas.microsoft.com/office/drawing/2014/main" val="380073445"/>
                    </a:ext>
                  </a:extLst>
                </a:gridCol>
              </a:tblGrid>
              <a:tr h="0">
                <a:tc>
                  <a:txBody>
                    <a:bodyPr/>
                    <a:lstStyle/>
                    <a:p>
                      <a:pPr marL="0" marR="0">
                        <a:lnSpc>
                          <a:spcPct val="115000"/>
                        </a:lnSpc>
                        <a:spcAft>
                          <a:spcPts val="800"/>
                        </a:spcAft>
                        <a:buNone/>
                      </a:pPr>
                      <a:r>
                        <a:rPr lang="en-US" sz="11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Model</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Version</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Azure Government Status</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Public Retirement date</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Replacement Model</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Upgrade date</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Azure Government Retirement date</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31546702"/>
                  </a:ext>
                </a:extLst>
              </a:tr>
              <a:tr h="0">
                <a:tc>
                  <a:txBody>
                    <a:bodyPr/>
                    <a:lstStyle/>
                    <a:p>
                      <a:pPr marL="0" marR="0">
                        <a:lnSpc>
                          <a:spcPct val="115000"/>
                        </a:lnSpc>
                        <a:spcAft>
                          <a:spcPts val="800"/>
                        </a:spcAft>
                        <a:buNone/>
                      </a:pPr>
                      <a:r>
                        <a:rPr lang="en-US" sz="1100" kern="100">
                          <a:solidFill>
                            <a:srgbClr val="000000"/>
                          </a:solidFill>
                          <a:effectLst/>
                          <a:latin typeface="Aptos" panose="020B0004020202020204" pitchFamily="34" charset="0"/>
                          <a:ea typeface="Aptos" panose="020B0004020202020204" pitchFamily="34" charset="0"/>
                          <a:cs typeface="Arial" panose="020B0604020202020204" pitchFamily="34" charset="0"/>
                        </a:rPr>
                        <a:t>gpt-35-turbo</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kern="100">
                          <a:solidFill>
                            <a:srgbClr val="000000"/>
                          </a:solidFill>
                          <a:effectLst/>
                          <a:latin typeface="Aptos" panose="020B0004020202020204" pitchFamily="34" charset="0"/>
                          <a:ea typeface="Aptos" panose="020B0004020202020204" pitchFamily="34" charset="0"/>
                          <a:cs typeface="Arial" panose="020B0604020202020204" pitchFamily="34" charset="0"/>
                        </a:rPr>
                        <a:t>0125</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kern="100">
                          <a:solidFill>
                            <a:srgbClr val="000000"/>
                          </a:solidFill>
                          <a:effectLst/>
                          <a:latin typeface="Aptos" panose="020B0004020202020204" pitchFamily="34" charset="0"/>
                          <a:ea typeface="Aptos" panose="020B0004020202020204" pitchFamily="34" charset="0"/>
                          <a:cs typeface="Arial" panose="020B0604020202020204" pitchFamily="34" charset="0"/>
                        </a:rPr>
                        <a:t>Active</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kern="100">
                          <a:solidFill>
                            <a:srgbClr val="000000"/>
                          </a:solidFill>
                          <a:effectLst/>
                          <a:latin typeface="Aptos" panose="020B0004020202020204" pitchFamily="34" charset="0"/>
                          <a:ea typeface="Aptos" panose="020B0004020202020204" pitchFamily="34" charset="0"/>
                          <a:cs typeface="Arial" panose="020B0604020202020204" pitchFamily="34" charset="0"/>
                        </a:rPr>
                        <a:t>November 14, 2025</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kern="100">
                          <a:solidFill>
                            <a:srgbClr val="000000"/>
                          </a:solidFill>
                          <a:effectLst/>
                          <a:latin typeface="Aptos" panose="020B0004020202020204" pitchFamily="34" charset="0"/>
                          <a:ea typeface="Aptos" panose="020B0004020202020204" pitchFamily="34" charset="0"/>
                          <a:cs typeface="Arial" panose="020B0604020202020204" pitchFamily="34" charset="0"/>
                        </a:rPr>
                        <a:t>gpt-4.1-mini</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kern="100">
                          <a:solidFill>
                            <a:srgbClr val="000000"/>
                          </a:solidFill>
                          <a:effectLst/>
                          <a:latin typeface="Aptos" panose="020B0004020202020204" pitchFamily="34" charset="0"/>
                          <a:ea typeface="Aptos" panose="020B0004020202020204" pitchFamily="34" charset="0"/>
                          <a:cs typeface="Arial" panose="020B0604020202020204" pitchFamily="34" charset="0"/>
                        </a:rPr>
                        <a:t>January 16, 2026</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100" kern="100">
                          <a:solidFill>
                            <a:srgbClr val="000000"/>
                          </a:solidFill>
                          <a:effectLst/>
                          <a:latin typeface="Aptos" panose="020B0004020202020204" pitchFamily="34" charset="0"/>
                          <a:ea typeface="Aptos" panose="020B0004020202020204" pitchFamily="34" charset="0"/>
                          <a:cs typeface="Arial" panose="020B0604020202020204" pitchFamily="34" charset="0"/>
                        </a:rPr>
                        <a:t>February 15, 2026</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97686756"/>
                  </a:ext>
                </a:extLst>
              </a:tr>
            </a:tbl>
          </a:graphicData>
        </a:graphic>
      </p:graphicFrame>
    </p:spTree>
    <p:extLst>
      <p:ext uri="{BB962C8B-B14F-4D97-AF65-F5344CB8AC3E}">
        <p14:creationId xmlns:p14="http://schemas.microsoft.com/office/powerpoint/2010/main" val="76789255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93C9F-846C-A8DE-6F79-DE8D84D8BC64}"/>
              </a:ext>
            </a:extLst>
          </p:cNvPr>
          <p:cNvSpPr>
            <a:spLocks noGrp="1"/>
          </p:cNvSpPr>
          <p:nvPr>
            <p:ph type="title"/>
          </p:nvPr>
        </p:nvSpPr>
        <p:spPr>
          <a:xfrm>
            <a:off x="588263" y="457200"/>
            <a:ext cx="11018520" cy="1107996"/>
          </a:xfrm>
        </p:spPr>
        <p:txBody>
          <a:bodyPr/>
          <a:lstStyle/>
          <a:p>
            <a:r>
              <a:rPr lang="en-US"/>
              <a:t>Upcoming Deprecations &amp; Retirements for Fine Tuned Models</a:t>
            </a:r>
          </a:p>
        </p:txBody>
      </p:sp>
      <p:sp>
        <p:nvSpPr>
          <p:cNvPr id="3" name="Content Placeholder 2">
            <a:extLst>
              <a:ext uri="{FF2B5EF4-FFF2-40B4-BE49-F238E27FC236}">
                <a16:creationId xmlns:a16="http://schemas.microsoft.com/office/drawing/2014/main" id="{0CC67983-68EE-8FBD-BDAF-D3F478A8A044}"/>
              </a:ext>
            </a:extLst>
          </p:cNvPr>
          <p:cNvSpPr>
            <a:spLocks noGrp="1"/>
          </p:cNvSpPr>
          <p:nvPr>
            <p:ph sz="quarter" idx="10"/>
          </p:nvPr>
        </p:nvSpPr>
        <p:spPr>
          <a:xfrm>
            <a:off x="584200" y="1720479"/>
            <a:ext cx="11018838" cy="861774"/>
          </a:xfrm>
        </p:spPr>
        <p:txBody>
          <a:bodyPr/>
          <a:lstStyle/>
          <a:p>
            <a:r>
              <a:rPr lang="en-US"/>
              <a:t>Training retirement date if for existing customers only. Otherwise, training retirement occurs at base model retirement.</a:t>
            </a:r>
          </a:p>
        </p:txBody>
      </p:sp>
      <p:graphicFrame>
        <p:nvGraphicFramePr>
          <p:cNvPr id="8" name="Table 7">
            <a:extLst>
              <a:ext uri="{FF2B5EF4-FFF2-40B4-BE49-F238E27FC236}">
                <a16:creationId xmlns:a16="http://schemas.microsoft.com/office/drawing/2014/main" id="{C5BC1C0C-CF9A-3814-F0DA-C192A7D72787}"/>
              </a:ext>
            </a:extLst>
          </p:cNvPr>
          <p:cNvGraphicFramePr>
            <a:graphicFrameLocks noGrp="1"/>
          </p:cNvGraphicFramePr>
          <p:nvPr>
            <p:extLst>
              <p:ext uri="{D42A27DB-BD31-4B8C-83A1-F6EECF244321}">
                <p14:modId xmlns:p14="http://schemas.microsoft.com/office/powerpoint/2010/main" val="1451076193"/>
              </p:ext>
            </p:extLst>
          </p:nvPr>
        </p:nvGraphicFramePr>
        <p:xfrm>
          <a:off x="584200" y="3599311"/>
          <a:ext cx="11018838" cy="1286635"/>
        </p:xfrm>
        <a:graphic>
          <a:graphicData uri="http://schemas.openxmlformats.org/drawingml/2006/table">
            <a:tbl>
              <a:tblPr firstRow="1" firstCol="1" bandRow="1"/>
              <a:tblGrid>
                <a:gridCol w="2754415">
                  <a:extLst>
                    <a:ext uri="{9D8B030D-6E8A-4147-A177-3AD203B41FA5}">
                      <a16:colId xmlns:a16="http://schemas.microsoft.com/office/drawing/2014/main" val="2382644610"/>
                    </a:ext>
                  </a:extLst>
                </a:gridCol>
                <a:gridCol w="2754415">
                  <a:extLst>
                    <a:ext uri="{9D8B030D-6E8A-4147-A177-3AD203B41FA5}">
                      <a16:colId xmlns:a16="http://schemas.microsoft.com/office/drawing/2014/main" val="2990121357"/>
                    </a:ext>
                  </a:extLst>
                </a:gridCol>
                <a:gridCol w="2755004">
                  <a:extLst>
                    <a:ext uri="{9D8B030D-6E8A-4147-A177-3AD203B41FA5}">
                      <a16:colId xmlns:a16="http://schemas.microsoft.com/office/drawing/2014/main" val="468128960"/>
                    </a:ext>
                  </a:extLst>
                </a:gridCol>
                <a:gridCol w="2755004">
                  <a:extLst>
                    <a:ext uri="{9D8B030D-6E8A-4147-A177-3AD203B41FA5}">
                      <a16:colId xmlns:a16="http://schemas.microsoft.com/office/drawing/2014/main" val="1339752951"/>
                    </a:ext>
                  </a:extLst>
                </a:gridCol>
              </a:tblGrid>
              <a:tr h="183805">
                <a:tc>
                  <a:txBody>
                    <a:bodyPr/>
                    <a:lstStyle/>
                    <a:p>
                      <a:pPr marL="0" marR="0">
                        <a:lnSpc>
                          <a:spcPct val="115000"/>
                        </a:lnSpc>
                        <a:spcAft>
                          <a:spcPts val="800"/>
                        </a:spcAft>
                        <a:buNone/>
                      </a:pPr>
                      <a:r>
                        <a:rPr lang="en-US" sz="1100" b="1" kern="100">
                          <a:solidFill>
                            <a:srgbClr val="161616"/>
                          </a:solidFill>
                          <a:effectLst/>
                          <a:latin typeface="Segoe UI" panose="020B0502040204020203" pitchFamily="34" charset="0"/>
                          <a:ea typeface="Aptos" panose="020B0004020202020204" pitchFamily="34" charset="0"/>
                          <a:cs typeface="Arial" panose="020B0604020202020204" pitchFamily="34" charset="0"/>
                        </a:rPr>
                        <a:t>Model</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b="1" kern="100">
                          <a:solidFill>
                            <a:srgbClr val="161616"/>
                          </a:solidFill>
                          <a:effectLst/>
                          <a:latin typeface="Segoe UI" panose="020B0502040204020203" pitchFamily="34" charset="0"/>
                          <a:ea typeface="Aptos" panose="020B0004020202020204" pitchFamily="34" charset="0"/>
                          <a:cs typeface="Arial" panose="020B0604020202020204" pitchFamily="34" charset="0"/>
                        </a:rPr>
                        <a:t>Version</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b="1" kern="100">
                          <a:solidFill>
                            <a:srgbClr val="161616"/>
                          </a:solidFill>
                          <a:effectLst/>
                          <a:latin typeface="Segoe UI" panose="020B0502040204020203" pitchFamily="34" charset="0"/>
                          <a:ea typeface="Aptos" panose="020B0004020202020204" pitchFamily="34" charset="0"/>
                          <a:cs typeface="Arial" panose="020B0604020202020204" pitchFamily="34" charset="0"/>
                        </a:rPr>
                        <a:t>Training retirement date</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b="1" kern="100">
                          <a:solidFill>
                            <a:srgbClr val="161616"/>
                          </a:solidFill>
                          <a:effectLst/>
                          <a:latin typeface="Segoe UI" panose="020B0502040204020203" pitchFamily="34" charset="0"/>
                          <a:ea typeface="Aptos" panose="020B0004020202020204" pitchFamily="34" charset="0"/>
                          <a:cs typeface="Arial" panose="020B0604020202020204" pitchFamily="34" charset="0"/>
                        </a:rPr>
                        <a:t>Deployment retirement date</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8922417"/>
                  </a:ext>
                </a:extLst>
              </a:tr>
              <a:tr h="183805">
                <a:tc>
                  <a:txBody>
                    <a:bodyPr/>
                    <a:lstStyle/>
                    <a:p>
                      <a:pPr marL="0" marR="0">
                        <a:lnSpc>
                          <a:spcPct val="115000"/>
                        </a:lnSpc>
                        <a:spcAft>
                          <a:spcPts val="800"/>
                        </a:spcAft>
                        <a:buNone/>
                      </a:pPr>
                      <a:r>
                        <a:rPr lang="en-US" sz="800" kern="100">
                          <a:solidFill>
                            <a:srgbClr val="161616"/>
                          </a:solidFill>
                          <a:effectLst/>
                          <a:latin typeface="Consolas" panose="020B0609020204030204" pitchFamily="49" charset="0"/>
                          <a:ea typeface="Aptos" panose="020B0004020202020204" pitchFamily="34" charset="0"/>
                          <a:cs typeface="Arial" panose="020B0604020202020204" pitchFamily="34" charset="0"/>
                        </a:rPr>
                        <a:t>gpt-4o</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2024-08-06</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No earlier than 2026-09-31</a:t>
                      </a:r>
                      <a:r>
                        <a:rPr lang="en-US" sz="700" kern="100" baseline="30000">
                          <a:solidFill>
                            <a:srgbClr val="161616"/>
                          </a:solidFill>
                          <a:effectLst/>
                          <a:latin typeface="Segoe UI" panose="020B0502040204020203" pitchFamily="34" charset="0"/>
                          <a:ea typeface="Aptos" panose="020B0004020202020204" pitchFamily="34" charset="0"/>
                          <a:cs typeface="Arial" panose="020B0604020202020204" pitchFamily="34" charset="0"/>
                        </a:rPr>
                        <a:t>1</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2027-03-31</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6532681"/>
                  </a:ext>
                </a:extLst>
              </a:tr>
              <a:tr h="183805">
                <a:tc>
                  <a:txBody>
                    <a:bodyPr/>
                    <a:lstStyle/>
                    <a:p>
                      <a:pPr marL="0" marR="0">
                        <a:lnSpc>
                          <a:spcPct val="115000"/>
                        </a:lnSpc>
                        <a:spcAft>
                          <a:spcPts val="800"/>
                        </a:spcAft>
                        <a:buNone/>
                      </a:pPr>
                      <a:r>
                        <a:rPr lang="en-US" sz="800" kern="100">
                          <a:solidFill>
                            <a:srgbClr val="161616"/>
                          </a:solidFill>
                          <a:effectLst/>
                          <a:latin typeface="Consolas" panose="020B0609020204030204" pitchFamily="49" charset="0"/>
                          <a:ea typeface="Aptos" panose="020B0004020202020204" pitchFamily="34" charset="0"/>
                          <a:cs typeface="Arial" panose="020B0604020202020204" pitchFamily="34" charset="0"/>
                        </a:rPr>
                        <a:t>gpt-4o-mini</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2024-07-18</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No earlier than 2026-09-31</a:t>
                      </a:r>
                      <a:r>
                        <a:rPr lang="en-US" sz="700" kern="100" baseline="30000">
                          <a:solidFill>
                            <a:srgbClr val="161616"/>
                          </a:solidFill>
                          <a:effectLst/>
                          <a:latin typeface="Segoe UI" panose="020B0502040204020203" pitchFamily="34" charset="0"/>
                          <a:ea typeface="Aptos" panose="020B0004020202020204" pitchFamily="34" charset="0"/>
                          <a:cs typeface="Arial" panose="020B0604020202020204" pitchFamily="34" charset="0"/>
                        </a:rPr>
                        <a:t>1</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2027-03-31</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9116597"/>
                  </a:ext>
                </a:extLst>
              </a:tr>
              <a:tr h="183805">
                <a:tc>
                  <a:txBody>
                    <a:bodyPr/>
                    <a:lstStyle/>
                    <a:p>
                      <a:pPr marL="0" marR="0">
                        <a:lnSpc>
                          <a:spcPct val="115000"/>
                        </a:lnSpc>
                        <a:spcAft>
                          <a:spcPts val="800"/>
                        </a:spcAft>
                        <a:buNone/>
                      </a:pPr>
                      <a:r>
                        <a:rPr lang="en-US" sz="800" kern="100">
                          <a:solidFill>
                            <a:srgbClr val="161616"/>
                          </a:solidFill>
                          <a:effectLst/>
                          <a:latin typeface="Consolas" panose="020B0609020204030204" pitchFamily="49" charset="0"/>
                          <a:ea typeface="Aptos" panose="020B0004020202020204" pitchFamily="34" charset="0"/>
                          <a:cs typeface="Arial" panose="020B0604020202020204" pitchFamily="34" charset="0"/>
                        </a:rPr>
                        <a:t>gpt-4.1</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2025-04-14</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Base model retirement</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One year after training retirement</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3953181"/>
                  </a:ext>
                </a:extLst>
              </a:tr>
              <a:tr h="183805">
                <a:tc>
                  <a:txBody>
                    <a:bodyPr/>
                    <a:lstStyle/>
                    <a:p>
                      <a:pPr marL="0" marR="0">
                        <a:lnSpc>
                          <a:spcPct val="115000"/>
                        </a:lnSpc>
                        <a:spcAft>
                          <a:spcPts val="800"/>
                        </a:spcAft>
                        <a:buNone/>
                      </a:pPr>
                      <a:r>
                        <a:rPr lang="en-US" sz="800" kern="100">
                          <a:solidFill>
                            <a:srgbClr val="161616"/>
                          </a:solidFill>
                          <a:effectLst/>
                          <a:latin typeface="Consolas" panose="020B0609020204030204" pitchFamily="49" charset="0"/>
                          <a:ea typeface="Aptos" panose="020B0004020202020204" pitchFamily="34" charset="0"/>
                          <a:cs typeface="Arial" panose="020B0604020202020204" pitchFamily="34" charset="0"/>
                        </a:rPr>
                        <a:t>gpt-4.1-mini</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2025-04-14</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Base model retirement</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One year after training retirement</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6281445"/>
                  </a:ext>
                </a:extLst>
              </a:tr>
              <a:tr h="183805">
                <a:tc>
                  <a:txBody>
                    <a:bodyPr/>
                    <a:lstStyle/>
                    <a:p>
                      <a:pPr marL="0" marR="0">
                        <a:lnSpc>
                          <a:spcPct val="115000"/>
                        </a:lnSpc>
                        <a:spcAft>
                          <a:spcPts val="800"/>
                        </a:spcAft>
                        <a:buNone/>
                      </a:pPr>
                      <a:r>
                        <a:rPr lang="en-US" sz="800" kern="100">
                          <a:solidFill>
                            <a:srgbClr val="161616"/>
                          </a:solidFill>
                          <a:effectLst/>
                          <a:latin typeface="Consolas" panose="020B0609020204030204" pitchFamily="49" charset="0"/>
                          <a:ea typeface="Aptos" panose="020B0004020202020204" pitchFamily="34" charset="0"/>
                          <a:cs typeface="Arial" panose="020B0604020202020204" pitchFamily="34" charset="0"/>
                        </a:rPr>
                        <a:t>gpt-4.1-nano</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2025-04-14</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Base model retirement</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One year after training retirement</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7421299"/>
                  </a:ext>
                </a:extLst>
              </a:tr>
              <a:tr h="183805">
                <a:tc>
                  <a:txBody>
                    <a:bodyPr/>
                    <a:lstStyle/>
                    <a:p>
                      <a:pPr marL="0" marR="0">
                        <a:lnSpc>
                          <a:spcPct val="115000"/>
                        </a:lnSpc>
                        <a:spcAft>
                          <a:spcPts val="800"/>
                        </a:spcAft>
                        <a:buNone/>
                      </a:pPr>
                      <a:r>
                        <a:rPr lang="en-US" sz="800" kern="100">
                          <a:solidFill>
                            <a:srgbClr val="161616"/>
                          </a:solidFill>
                          <a:effectLst/>
                          <a:latin typeface="Consolas" panose="020B0609020204030204" pitchFamily="49" charset="0"/>
                          <a:ea typeface="Aptos" panose="020B0004020202020204" pitchFamily="34" charset="0"/>
                          <a:cs typeface="Arial" panose="020B0604020202020204" pitchFamily="34" charset="0"/>
                        </a:rPr>
                        <a:t>o4-mini</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2025-04-16</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Base model retirement</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100" kern="100">
                          <a:solidFill>
                            <a:srgbClr val="161616"/>
                          </a:solidFill>
                          <a:effectLst/>
                          <a:latin typeface="Segoe UI" panose="020B0502040204020203" pitchFamily="34" charset="0"/>
                          <a:ea typeface="Aptos" panose="020B0004020202020204" pitchFamily="34" charset="0"/>
                          <a:cs typeface="Arial" panose="020B0604020202020204" pitchFamily="34" charset="0"/>
                        </a:rPr>
                        <a:t>One year after training retirement</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3604" marR="636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57308"/>
                  </a:ext>
                </a:extLst>
              </a:tr>
            </a:tbl>
          </a:graphicData>
        </a:graphic>
      </p:graphicFrame>
    </p:spTree>
    <p:extLst>
      <p:ext uri="{BB962C8B-B14F-4D97-AF65-F5344CB8AC3E}">
        <p14:creationId xmlns:p14="http://schemas.microsoft.com/office/powerpoint/2010/main" val="3859954874"/>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B4961-E161-AF9C-B136-E1C71D7470E3}"/>
              </a:ext>
            </a:extLst>
          </p:cNvPr>
          <p:cNvSpPr>
            <a:spLocks noGrp="1"/>
          </p:cNvSpPr>
          <p:nvPr>
            <p:ph type="title"/>
          </p:nvPr>
        </p:nvSpPr>
        <p:spPr>
          <a:xfrm>
            <a:off x="585216" y="2918853"/>
            <a:ext cx="9144000" cy="615553"/>
          </a:xfrm>
        </p:spPr>
        <p:txBody>
          <a:bodyPr/>
          <a:lstStyle/>
          <a:p>
            <a:r>
              <a:rPr lang="en-US"/>
              <a:t>Standard Model Upgrades</a:t>
            </a:r>
          </a:p>
        </p:txBody>
      </p:sp>
    </p:spTree>
    <p:extLst>
      <p:ext uri="{BB962C8B-B14F-4D97-AF65-F5344CB8AC3E}">
        <p14:creationId xmlns:p14="http://schemas.microsoft.com/office/powerpoint/2010/main" val="1746888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05FBD-3589-B67A-88A7-809B28036841}"/>
              </a:ext>
            </a:extLst>
          </p:cNvPr>
          <p:cNvSpPr>
            <a:spLocks noGrp="1"/>
          </p:cNvSpPr>
          <p:nvPr>
            <p:ph type="title"/>
          </p:nvPr>
        </p:nvSpPr>
        <p:spPr/>
        <p:txBody>
          <a:bodyPr/>
          <a:lstStyle/>
          <a:p>
            <a:r>
              <a:rPr lang="en-US" sz="3600" spc="-50">
                <a:ln w="3175">
                  <a:noFill/>
                </a:ln>
                <a:solidFill>
                  <a:srgbClr val="0C7ED6"/>
                </a:solidFill>
                <a:ea typeface="+mn-ea"/>
                <a:cs typeface="Segoe Sans Text" pitchFamily="2" charset="0"/>
              </a:rPr>
              <a:t>Model updates</a:t>
            </a:r>
          </a:p>
        </p:txBody>
      </p:sp>
      <p:graphicFrame>
        <p:nvGraphicFramePr>
          <p:cNvPr id="5" name="Content Placeholder 2">
            <a:extLst>
              <a:ext uri="{FF2B5EF4-FFF2-40B4-BE49-F238E27FC236}">
                <a16:creationId xmlns:a16="http://schemas.microsoft.com/office/drawing/2014/main" id="{43E96804-1DBC-4720-2402-C324436A3DB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24746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B552E-7F77-DFA1-C333-D6791747D4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ABBEF-711A-C5EB-1447-3FFF1AD12A17}"/>
              </a:ext>
            </a:extLst>
          </p:cNvPr>
          <p:cNvSpPr>
            <a:spLocks noGrp="1"/>
          </p:cNvSpPr>
          <p:nvPr>
            <p:ph type="title"/>
          </p:nvPr>
        </p:nvSpPr>
        <p:spPr/>
        <p:txBody>
          <a:bodyPr/>
          <a:lstStyle/>
          <a:p>
            <a:r>
              <a:rPr lang="en-US" sz="3600" spc="-50">
                <a:ln w="3175">
                  <a:noFill/>
                </a:ln>
                <a:solidFill>
                  <a:srgbClr val="0C7ED6"/>
                </a:solidFill>
                <a:ea typeface="+mn-ea"/>
                <a:cs typeface="Segoe Sans Text" pitchFamily="2" charset="0"/>
              </a:rPr>
              <a:t>Model updates</a:t>
            </a:r>
          </a:p>
        </p:txBody>
      </p:sp>
      <p:graphicFrame>
        <p:nvGraphicFramePr>
          <p:cNvPr id="23" name="Content Placeholder 2">
            <a:extLst>
              <a:ext uri="{FF2B5EF4-FFF2-40B4-BE49-F238E27FC236}">
                <a16:creationId xmlns:a16="http://schemas.microsoft.com/office/drawing/2014/main" id="{A4806FA0-B9CC-593B-1457-F71266C06C9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651889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16F7E-ED9A-4B0C-3D16-C2355F843E05}"/>
              </a:ext>
            </a:extLst>
          </p:cNvPr>
          <p:cNvSpPr>
            <a:spLocks noGrp="1"/>
          </p:cNvSpPr>
          <p:nvPr>
            <p:ph type="title"/>
          </p:nvPr>
        </p:nvSpPr>
        <p:spPr/>
        <p:txBody>
          <a:bodyPr/>
          <a:lstStyle/>
          <a:p>
            <a:r>
              <a:rPr lang="en-US">
                <a:solidFill>
                  <a:srgbClr val="0C7ED6"/>
                </a:solidFill>
              </a:rPr>
              <a:t>Auto update to default</a:t>
            </a:r>
          </a:p>
        </p:txBody>
      </p:sp>
      <p:graphicFrame>
        <p:nvGraphicFramePr>
          <p:cNvPr id="7" name="Content Placeholder 2">
            <a:extLst>
              <a:ext uri="{FF2B5EF4-FFF2-40B4-BE49-F238E27FC236}">
                <a16:creationId xmlns:a16="http://schemas.microsoft.com/office/drawing/2014/main" id="{6E18A4BE-0B75-6830-32EF-309EDD69ACA8}"/>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2552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2D4A9-581C-5144-CB33-F4818AAAABC5}"/>
              </a:ext>
            </a:extLst>
          </p:cNvPr>
          <p:cNvSpPr>
            <a:spLocks noGrp="1"/>
          </p:cNvSpPr>
          <p:nvPr>
            <p:ph type="title"/>
          </p:nvPr>
        </p:nvSpPr>
        <p:spPr/>
        <p:txBody>
          <a:bodyPr/>
          <a:lstStyle/>
          <a:p>
            <a:r>
              <a:rPr lang="en-US">
                <a:solidFill>
                  <a:srgbClr val="0C7ED6"/>
                </a:solidFill>
              </a:rPr>
              <a:t>Specific model version</a:t>
            </a:r>
          </a:p>
        </p:txBody>
      </p:sp>
      <p:graphicFrame>
        <p:nvGraphicFramePr>
          <p:cNvPr id="5" name="Content Placeholder 2">
            <a:extLst>
              <a:ext uri="{FF2B5EF4-FFF2-40B4-BE49-F238E27FC236}">
                <a16:creationId xmlns:a16="http://schemas.microsoft.com/office/drawing/2014/main" id="{1BB28694-23A7-7BD5-0518-5BA5E2B855A5}"/>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718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2E57B-4E4F-37F4-4662-C241804DFA4E}"/>
              </a:ext>
            </a:extLst>
          </p:cNvPr>
          <p:cNvSpPr>
            <a:spLocks noGrp="1"/>
          </p:cNvSpPr>
          <p:nvPr>
            <p:ph type="title"/>
          </p:nvPr>
        </p:nvSpPr>
        <p:spPr/>
        <p:txBody>
          <a:bodyPr/>
          <a:lstStyle/>
          <a:p>
            <a:r>
              <a:rPr lang="en-US">
                <a:solidFill>
                  <a:srgbClr val="0C7ED6"/>
                </a:solidFill>
              </a:rPr>
              <a:t>Model deployment upgrade configuration</a:t>
            </a:r>
          </a:p>
        </p:txBody>
      </p:sp>
      <p:graphicFrame>
        <p:nvGraphicFramePr>
          <p:cNvPr id="4" name="Content Placeholder 3">
            <a:extLst>
              <a:ext uri="{FF2B5EF4-FFF2-40B4-BE49-F238E27FC236}">
                <a16:creationId xmlns:a16="http://schemas.microsoft.com/office/drawing/2014/main" id="{2B8CFC94-5937-AE0D-7166-CAFFA5849FFB}"/>
              </a:ext>
            </a:extLst>
          </p:cNvPr>
          <p:cNvGraphicFramePr>
            <a:graphicFrameLocks noGrp="1"/>
          </p:cNvGraphicFramePr>
          <p:nvPr>
            <p:ph idx="1"/>
            <p:extLst>
              <p:ext uri="{D42A27DB-BD31-4B8C-83A1-F6EECF244321}">
                <p14:modId xmlns:p14="http://schemas.microsoft.com/office/powerpoint/2010/main" val="2635579620"/>
              </p:ext>
            </p:extLst>
          </p:nvPr>
        </p:nvGraphicFramePr>
        <p:xfrm>
          <a:off x="838200" y="1690688"/>
          <a:ext cx="10515600" cy="1745488"/>
        </p:xfrm>
        <a:graphic>
          <a:graphicData uri="http://schemas.openxmlformats.org/drawingml/2006/table">
            <a:tbl>
              <a:tblPr firstRow="1" firstCol="1" bandRow="1"/>
              <a:tblGrid>
                <a:gridCol w="1268896">
                  <a:extLst>
                    <a:ext uri="{9D8B030D-6E8A-4147-A177-3AD203B41FA5}">
                      <a16:colId xmlns:a16="http://schemas.microsoft.com/office/drawing/2014/main" val="1787607697"/>
                    </a:ext>
                  </a:extLst>
                </a:gridCol>
                <a:gridCol w="3896139">
                  <a:extLst>
                    <a:ext uri="{9D8B030D-6E8A-4147-A177-3AD203B41FA5}">
                      <a16:colId xmlns:a16="http://schemas.microsoft.com/office/drawing/2014/main" val="1951682962"/>
                    </a:ext>
                  </a:extLst>
                </a:gridCol>
                <a:gridCol w="5350565">
                  <a:extLst>
                    <a:ext uri="{9D8B030D-6E8A-4147-A177-3AD203B41FA5}">
                      <a16:colId xmlns:a16="http://schemas.microsoft.com/office/drawing/2014/main" val="863618920"/>
                    </a:ext>
                  </a:extLst>
                </a:gridCol>
              </a:tblGrid>
              <a:tr h="0">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Option</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Read</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Update</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95745382"/>
                  </a:ext>
                </a:extLst>
              </a:tr>
              <a:tr h="0">
                <a:tc>
                  <a:txBody>
                    <a:bodyPr/>
                    <a:lstStyle/>
                    <a:p>
                      <a:pPr marL="0" marR="0">
                        <a:lnSpc>
                          <a:spcPct val="115000"/>
                        </a:lnSpc>
                        <a:spcAft>
                          <a:spcPts val="800"/>
                        </a:spcAft>
                        <a:buNone/>
                      </a:pPr>
                      <a:r>
                        <a:rPr lang="en-US" sz="1400" b="1" u="sng" kern="100">
                          <a:solidFill>
                            <a:srgbClr val="000000"/>
                          </a:solidFill>
                          <a:effectLst/>
                          <a:latin typeface="Aptos" panose="020B0004020202020204" pitchFamily="34" charset="0"/>
                          <a:ea typeface="Aptos" panose="020B0004020202020204" pitchFamily="34" charset="0"/>
                          <a:cs typeface="Arial" panose="020B0604020202020204" pitchFamily="34" charset="0"/>
                          <a:hlinkClick r:id="rId3"/>
                        </a:rPr>
                        <a:t>REST</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Yes. If versionUpgradeOption isn't returned, it means it's null</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Yes</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77481969"/>
                  </a:ext>
                </a:extLst>
              </a:tr>
              <a:tr h="0">
                <a:tc>
                  <a:txBody>
                    <a:bodyPr/>
                    <a:lstStyle/>
                    <a:p>
                      <a:pPr marL="0" marR="0">
                        <a:lnSpc>
                          <a:spcPct val="115000"/>
                        </a:lnSpc>
                        <a:spcAft>
                          <a:spcPts val="800"/>
                        </a:spcAft>
                        <a:buNone/>
                      </a:pPr>
                      <a:r>
                        <a:rPr lang="en-US" sz="1400" b="1" u="sng" kern="100">
                          <a:solidFill>
                            <a:srgbClr val="000000"/>
                          </a:solidFill>
                          <a:effectLst/>
                          <a:latin typeface="Aptos" panose="020B0004020202020204" pitchFamily="34" charset="0"/>
                          <a:ea typeface="Aptos" panose="020B0004020202020204" pitchFamily="34" charset="0"/>
                          <a:cs typeface="Arial" panose="020B0604020202020204" pitchFamily="34" charset="0"/>
                          <a:hlinkClick r:id="rId4"/>
                        </a:rPr>
                        <a:t>Azure PowerShell</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Yes.VersionUpgradeOption can be checked for $null</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Yes</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43576122"/>
                  </a:ext>
                </a:extLst>
              </a:tr>
              <a:tr h="0">
                <a:tc>
                  <a:txBody>
                    <a:bodyPr/>
                    <a:lstStyle/>
                    <a:p>
                      <a:pPr marL="0" marR="0">
                        <a:lnSpc>
                          <a:spcPct val="115000"/>
                        </a:lnSpc>
                        <a:spcAft>
                          <a:spcPts val="800"/>
                        </a:spcAft>
                        <a:buNone/>
                      </a:pPr>
                      <a:r>
                        <a:rPr lang="en-US" sz="1400" b="1" u="sng" kern="100">
                          <a:solidFill>
                            <a:srgbClr val="000000"/>
                          </a:solidFill>
                          <a:effectLst/>
                          <a:latin typeface="Aptos" panose="020B0004020202020204" pitchFamily="34" charset="0"/>
                          <a:ea typeface="Aptos" panose="020B0004020202020204" pitchFamily="34" charset="0"/>
                          <a:cs typeface="Arial" panose="020B0604020202020204" pitchFamily="34" charset="0"/>
                          <a:hlinkClick r:id="rId5"/>
                        </a:rPr>
                        <a:t>Azure CLI</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Yes. It shows null if versionUpgradeOption isn't set.</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400" b="1" i="1" kern="100">
                          <a:solidFill>
                            <a:srgbClr val="000000"/>
                          </a:solidFill>
                          <a:effectLst/>
                          <a:latin typeface="Aptos" panose="020B0004020202020204" pitchFamily="34" charset="0"/>
                          <a:ea typeface="Aptos" panose="020B0004020202020204" pitchFamily="34" charset="0"/>
                          <a:cs typeface="Arial" panose="020B0604020202020204" pitchFamily="34" charset="0"/>
                        </a:rPr>
                        <a:t>No.</a:t>
                      </a: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 It's currently not possible to update the version upgrade option.</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91227814"/>
                  </a:ext>
                </a:extLst>
              </a:tr>
            </a:tbl>
          </a:graphicData>
        </a:graphic>
      </p:graphicFrame>
      <p:graphicFrame>
        <p:nvGraphicFramePr>
          <p:cNvPr id="5" name="Table 4">
            <a:extLst>
              <a:ext uri="{FF2B5EF4-FFF2-40B4-BE49-F238E27FC236}">
                <a16:creationId xmlns:a16="http://schemas.microsoft.com/office/drawing/2014/main" id="{0E2728B9-CF70-496E-05F9-B54557E4C35C}"/>
              </a:ext>
            </a:extLst>
          </p:cNvPr>
          <p:cNvGraphicFramePr>
            <a:graphicFrameLocks noGrp="1"/>
          </p:cNvGraphicFramePr>
          <p:nvPr>
            <p:extLst>
              <p:ext uri="{D42A27DB-BD31-4B8C-83A1-F6EECF244321}">
                <p14:modId xmlns:p14="http://schemas.microsoft.com/office/powerpoint/2010/main" val="2945886139"/>
              </p:ext>
            </p:extLst>
          </p:nvPr>
        </p:nvGraphicFramePr>
        <p:xfrm>
          <a:off x="838200" y="3922801"/>
          <a:ext cx="10515600" cy="1990852"/>
        </p:xfrm>
        <a:graphic>
          <a:graphicData uri="http://schemas.openxmlformats.org/drawingml/2006/table">
            <a:tbl>
              <a:tblPr firstRow="1" firstCol="1" bandRow="1"/>
              <a:tblGrid>
                <a:gridCol w="2978426">
                  <a:extLst>
                    <a:ext uri="{9D8B030D-6E8A-4147-A177-3AD203B41FA5}">
                      <a16:colId xmlns:a16="http://schemas.microsoft.com/office/drawing/2014/main" val="3687736007"/>
                    </a:ext>
                  </a:extLst>
                </a:gridCol>
                <a:gridCol w="7537174">
                  <a:extLst>
                    <a:ext uri="{9D8B030D-6E8A-4147-A177-3AD203B41FA5}">
                      <a16:colId xmlns:a16="http://schemas.microsoft.com/office/drawing/2014/main" val="3153072319"/>
                    </a:ext>
                  </a:extLst>
                </a:gridCol>
              </a:tblGrid>
              <a:tr h="0">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Name</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Description</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06258690"/>
                  </a:ext>
                </a:extLst>
              </a:tr>
              <a:tr h="0">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OnceNewDefaultVersionAvailable</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Once a new version is designated as the default, the model deployment automatically upgrades to the default version within two weeks of that designation change being made.</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59199530"/>
                  </a:ext>
                </a:extLst>
              </a:tr>
              <a:tr h="0">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OnceCurrentVersionExpired</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Once the retirement date is reached the model deployment automatically upgrades to the current default version.</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05948863"/>
                  </a:ext>
                </a:extLst>
              </a:tr>
              <a:tr h="0">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NoAutoUpgrade</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US" sz="1400" b="1" kern="100">
                          <a:solidFill>
                            <a:srgbClr val="000000"/>
                          </a:solidFill>
                          <a:effectLst/>
                          <a:latin typeface="Aptos" panose="020B0004020202020204" pitchFamily="34" charset="0"/>
                          <a:ea typeface="Aptos" panose="020B0004020202020204" pitchFamily="34" charset="0"/>
                          <a:cs typeface="Arial" panose="020B0604020202020204" pitchFamily="34" charset="0"/>
                        </a:rPr>
                        <a:t>The model deployment never automatically upgrades. Once the retirement date is reached the model deployment stops working. You need to update your code referencing that deployment to point to a nonexpired model deployment.</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64682121"/>
                  </a:ext>
                </a:extLst>
              </a:tr>
            </a:tbl>
          </a:graphicData>
        </a:graphic>
      </p:graphicFrame>
    </p:spTree>
    <p:extLst>
      <p:ext uri="{BB962C8B-B14F-4D97-AF65-F5344CB8AC3E}">
        <p14:creationId xmlns:p14="http://schemas.microsoft.com/office/powerpoint/2010/main" val="42282252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F0D53-D695-1855-FF07-8DFDBA718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25E91A-D4FD-FAAB-509B-C09E4C3C1B11}"/>
              </a:ext>
            </a:extLst>
          </p:cNvPr>
          <p:cNvSpPr>
            <a:spLocks noGrp="1"/>
          </p:cNvSpPr>
          <p:nvPr>
            <p:ph type="title"/>
          </p:nvPr>
        </p:nvSpPr>
        <p:spPr>
          <a:xfrm>
            <a:off x="585216" y="2976817"/>
            <a:ext cx="9144000" cy="557589"/>
          </a:xfrm>
        </p:spPr>
        <p:txBody>
          <a:bodyPr/>
          <a:lstStyle/>
          <a:p>
            <a:r>
              <a:rPr lang="en-US"/>
              <a:t>Provisioned Model Migration</a:t>
            </a:r>
          </a:p>
        </p:txBody>
      </p:sp>
    </p:spTree>
    <p:extLst>
      <p:ext uri="{BB962C8B-B14F-4D97-AF65-F5344CB8AC3E}">
        <p14:creationId xmlns:p14="http://schemas.microsoft.com/office/powerpoint/2010/main" val="3800093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B0994-5CE3-66D9-23D2-5F03693472D3}"/>
              </a:ext>
            </a:extLst>
          </p:cNvPr>
          <p:cNvSpPr>
            <a:spLocks noGrp="1"/>
          </p:cNvSpPr>
          <p:nvPr>
            <p:ph type="title"/>
          </p:nvPr>
        </p:nvSpPr>
        <p:spPr/>
        <p:txBody>
          <a:bodyPr/>
          <a:lstStyle/>
          <a:p>
            <a:r>
              <a:rPr lang="en-US">
                <a:solidFill>
                  <a:srgbClr val="0C7ED6"/>
                </a:solidFill>
              </a:rPr>
              <a:t>Managing models on provisioned deployment types</a:t>
            </a:r>
          </a:p>
        </p:txBody>
      </p:sp>
      <p:graphicFrame>
        <p:nvGraphicFramePr>
          <p:cNvPr id="7" name="Content Placeholder 2">
            <a:extLst>
              <a:ext uri="{FF2B5EF4-FFF2-40B4-BE49-F238E27FC236}">
                <a16:creationId xmlns:a16="http://schemas.microsoft.com/office/drawing/2014/main" id="{1C6A018A-F901-AD90-A412-89B3BB7B7297}"/>
              </a:ext>
            </a:extLst>
          </p:cNvPr>
          <p:cNvGraphicFramePr>
            <a:graphicFrameLocks noGrp="1"/>
          </p:cNvGraphicFramePr>
          <p:nvPr>
            <p:ph idx="1"/>
            <p:extLst>
              <p:ext uri="{D42A27DB-BD31-4B8C-83A1-F6EECF244321}">
                <p14:modId xmlns:p14="http://schemas.microsoft.com/office/powerpoint/2010/main" val="183980132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151492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AF091-3008-129A-2A99-8306B8908DD1}"/>
              </a:ext>
            </a:extLst>
          </p:cNvPr>
          <p:cNvSpPr>
            <a:spLocks noGrp="1"/>
          </p:cNvSpPr>
          <p:nvPr>
            <p:ph type="title"/>
          </p:nvPr>
        </p:nvSpPr>
        <p:spPr/>
        <p:txBody>
          <a:bodyPr/>
          <a:lstStyle/>
          <a:p>
            <a:r>
              <a:rPr lang="en-US">
                <a:solidFill>
                  <a:srgbClr val="0C7ED6"/>
                </a:solidFill>
              </a:rPr>
              <a:t>Prerequisites</a:t>
            </a:r>
          </a:p>
        </p:txBody>
      </p:sp>
      <p:graphicFrame>
        <p:nvGraphicFramePr>
          <p:cNvPr id="13" name="Content Placeholder 2">
            <a:extLst>
              <a:ext uri="{FF2B5EF4-FFF2-40B4-BE49-F238E27FC236}">
                <a16:creationId xmlns:a16="http://schemas.microsoft.com/office/drawing/2014/main" id="{AE9E294C-E104-5A51-3CFD-F4517838430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4541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4B882-F0AB-1C04-7ACB-72837CE96F11}"/>
              </a:ext>
            </a:extLst>
          </p:cNvPr>
          <p:cNvSpPr>
            <a:spLocks noGrp="1"/>
          </p:cNvSpPr>
          <p:nvPr>
            <p:ph type="title"/>
          </p:nvPr>
        </p:nvSpPr>
        <p:spPr/>
        <p:txBody>
          <a:bodyPr/>
          <a:lstStyle/>
          <a:p>
            <a:r>
              <a:rPr lang="en-US">
                <a:solidFill>
                  <a:srgbClr val="0C7ED6"/>
                </a:solidFill>
              </a:rPr>
              <a:t>In-place migrations for provisioned deployments</a:t>
            </a:r>
          </a:p>
        </p:txBody>
      </p:sp>
      <p:graphicFrame>
        <p:nvGraphicFramePr>
          <p:cNvPr id="5" name="Content Placeholder 2">
            <a:extLst>
              <a:ext uri="{FF2B5EF4-FFF2-40B4-BE49-F238E27FC236}">
                <a16:creationId xmlns:a16="http://schemas.microsoft.com/office/drawing/2014/main" id="{4B5CA27C-36F2-13D2-43C5-128AFEEA0AC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19596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311A4-26B6-C7DD-25D2-D49A1A135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E65B9F-1C5F-AB93-621F-F47DB2576FF0}"/>
              </a:ext>
            </a:extLst>
          </p:cNvPr>
          <p:cNvSpPr>
            <a:spLocks noGrp="1"/>
          </p:cNvSpPr>
          <p:nvPr>
            <p:ph type="title"/>
          </p:nvPr>
        </p:nvSpPr>
        <p:spPr/>
        <p:txBody>
          <a:bodyPr/>
          <a:lstStyle/>
          <a:p>
            <a:r>
              <a:rPr lang="en-US">
                <a:solidFill>
                  <a:srgbClr val="0C7ED6"/>
                </a:solidFill>
              </a:rPr>
              <a:t>In-place migrations for provisioned deployments</a:t>
            </a:r>
          </a:p>
        </p:txBody>
      </p:sp>
      <p:graphicFrame>
        <p:nvGraphicFramePr>
          <p:cNvPr id="5" name="Content Placeholder 2">
            <a:extLst>
              <a:ext uri="{FF2B5EF4-FFF2-40B4-BE49-F238E27FC236}">
                <a16:creationId xmlns:a16="http://schemas.microsoft.com/office/drawing/2014/main" id="{F665B191-87CB-7EE3-E859-BC6F5312679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17527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BBA30-9918-A367-ACF6-FD56B35CB445}"/>
              </a:ext>
            </a:extLst>
          </p:cNvPr>
          <p:cNvSpPr>
            <a:spLocks noGrp="1"/>
          </p:cNvSpPr>
          <p:nvPr>
            <p:ph type="title"/>
          </p:nvPr>
        </p:nvSpPr>
        <p:spPr/>
        <p:txBody>
          <a:bodyPr/>
          <a:lstStyle/>
          <a:p>
            <a:r>
              <a:rPr lang="en-US">
                <a:solidFill>
                  <a:srgbClr val="0C7ED6"/>
                </a:solidFill>
              </a:rPr>
              <a:t>In-place migration: model version update</a:t>
            </a:r>
          </a:p>
        </p:txBody>
      </p:sp>
      <p:sp>
        <p:nvSpPr>
          <p:cNvPr id="3" name="Content Placeholder 2">
            <a:extLst>
              <a:ext uri="{FF2B5EF4-FFF2-40B4-BE49-F238E27FC236}">
                <a16:creationId xmlns:a16="http://schemas.microsoft.com/office/drawing/2014/main" id="{7B5D4301-7FE6-42E3-D4BF-4B8F39196E3C}"/>
              </a:ext>
            </a:extLst>
          </p:cNvPr>
          <p:cNvSpPr>
            <a:spLocks noGrp="1"/>
          </p:cNvSpPr>
          <p:nvPr>
            <p:ph idx="1"/>
          </p:nvPr>
        </p:nvSpPr>
        <p:spPr/>
        <p:txBody>
          <a:bodyPr>
            <a:normAutofit fontScale="85000" lnSpcReduction="10000"/>
          </a:bodyPr>
          <a:lstStyle/>
          <a:p>
            <a:r>
              <a:rPr lang="en-US"/>
              <a:t>In-place migrations that target updating an existing provisioned deployment to a new model version within the same model family are supported through Foundry, REST API, and Azure CLI. To perform an in-place migration targeting a model version update within Foundry, select </a:t>
            </a:r>
            <a:r>
              <a:rPr lang="en-US" b="1"/>
              <a:t>Deployments</a:t>
            </a:r>
            <a:r>
              <a:rPr lang="en-US"/>
              <a:t> &gt; under the deployment name column select the deployment name of the provisioned deployment you would like to migrate.</a:t>
            </a:r>
          </a:p>
          <a:p>
            <a:endParaRPr lang="en-US"/>
          </a:p>
          <a:p>
            <a:r>
              <a:rPr lang="en-US"/>
              <a:t>Selecting a deployment name opens the </a:t>
            </a:r>
            <a:r>
              <a:rPr lang="en-US" b="1"/>
              <a:t>Properties</a:t>
            </a:r>
            <a:r>
              <a:rPr lang="en-US"/>
              <a:t> for the model deployment. From this view, select the </a:t>
            </a:r>
            <a:r>
              <a:rPr lang="en-US" b="1"/>
              <a:t>edit</a:t>
            </a:r>
            <a:r>
              <a:rPr lang="en-US"/>
              <a:t> button, which will show the </a:t>
            </a:r>
            <a:r>
              <a:rPr lang="en-US" b="1"/>
              <a:t>Update deployment</a:t>
            </a:r>
            <a:r>
              <a:rPr lang="en-US"/>
              <a:t> dialogue box. Select the model version dropdown to set a new model version for the provisioned deployment. As noted, the provisioning state will change to "updating" during the migration and will revert to "succeeded" once the migration is complete.</a:t>
            </a:r>
          </a:p>
          <a:p>
            <a:endParaRPr lang="en-US"/>
          </a:p>
        </p:txBody>
      </p:sp>
    </p:spTree>
    <p:extLst>
      <p:ext uri="{BB962C8B-B14F-4D97-AF65-F5344CB8AC3E}">
        <p14:creationId xmlns:p14="http://schemas.microsoft.com/office/powerpoint/2010/main" val="37002529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6A32D-9B51-3FED-87A6-7BB33FE39AD1}"/>
              </a:ext>
            </a:extLst>
          </p:cNvPr>
          <p:cNvSpPr>
            <a:spLocks noGrp="1"/>
          </p:cNvSpPr>
          <p:nvPr>
            <p:ph type="title"/>
          </p:nvPr>
        </p:nvSpPr>
        <p:spPr/>
        <p:txBody>
          <a:bodyPr/>
          <a:lstStyle/>
          <a:p>
            <a:r>
              <a:rPr lang="en-US">
                <a:solidFill>
                  <a:srgbClr val="0C7ED6"/>
                </a:solidFill>
              </a:rPr>
              <a:t>In-place migration: model family change</a:t>
            </a:r>
          </a:p>
        </p:txBody>
      </p:sp>
      <p:sp>
        <p:nvSpPr>
          <p:cNvPr id="3" name="Content Placeholder 2">
            <a:extLst>
              <a:ext uri="{FF2B5EF4-FFF2-40B4-BE49-F238E27FC236}">
                <a16:creationId xmlns:a16="http://schemas.microsoft.com/office/drawing/2014/main" id="{C9738616-5CB5-FCF4-2FA4-7E509B131876}"/>
              </a:ext>
            </a:extLst>
          </p:cNvPr>
          <p:cNvSpPr>
            <a:spLocks noGrp="1"/>
          </p:cNvSpPr>
          <p:nvPr>
            <p:ph idx="1"/>
          </p:nvPr>
        </p:nvSpPr>
        <p:spPr/>
        <p:txBody>
          <a:bodyPr/>
          <a:lstStyle/>
          <a:p>
            <a:r>
              <a:rPr lang="en-US" dirty="0"/>
              <a:t>In-place migrations that target updating an existing provisioned deployment to a new model family are supported through REST API and Azure CLI.</a:t>
            </a:r>
          </a:p>
        </p:txBody>
      </p:sp>
    </p:spTree>
    <p:extLst>
      <p:ext uri="{BB962C8B-B14F-4D97-AF65-F5344CB8AC3E}">
        <p14:creationId xmlns:p14="http://schemas.microsoft.com/office/powerpoint/2010/main" val="10651623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81E52-3161-A919-DEB5-66D5A32525D2}"/>
              </a:ext>
            </a:extLst>
          </p:cNvPr>
          <p:cNvSpPr>
            <a:spLocks noGrp="1"/>
          </p:cNvSpPr>
          <p:nvPr>
            <p:ph type="title"/>
          </p:nvPr>
        </p:nvSpPr>
        <p:spPr/>
        <p:txBody>
          <a:bodyPr/>
          <a:lstStyle/>
          <a:p>
            <a:r>
              <a:rPr lang="en-US">
                <a:solidFill>
                  <a:srgbClr val="0C7ED6"/>
                </a:solidFill>
              </a:rPr>
              <a:t>Multi-deployment migrations for provisioned deployments</a:t>
            </a:r>
          </a:p>
        </p:txBody>
      </p:sp>
      <p:graphicFrame>
        <p:nvGraphicFramePr>
          <p:cNvPr id="5" name="Content Placeholder 2">
            <a:extLst>
              <a:ext uri="{FF2B5EF4-FFF2-40B4-BE49-F238E27FC236}">
                <a16:creationId xmlns:a16="http://schemas.microsoft.com/office/drawing/2014/main" id="{E2853CD1-F666-5C01-53AC-65705EED990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31893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AF65C-5455-DD0B-538F-52F82733888E}"/>
              </a:ext>
            </a:extLst>
          </p:cNvPr>
          <p:cNvSpPr>
            <a:spLocks noGrp="1"/>
          </p:cNvSpPr>
          <p:nvPr>
            <p:ph type="title"/>
          </p:nvPr>
        </p:nvSpPr>
        <p:spPr/>
        <p:txBody>
          <a:bodyPr/>
          <a:lstStyle/>
          <a:p>
            <a:r>
              <a:rPr lang="en-US" dirty="0">
                <a:solidFill>
                  <a:srgbClr val="0C7ED6"/>
                </a:solidFill>
              </a:rPr>
              <a:t>Available tools and example prompts for Foundry MCP Server (preview)</a:t>
            </a:r>
          </a:p>
        </p:txBody>
      </p:sp>
      <p:sp>
        <p:nvSpPr>
          <p:cNvPr id="3" name="Content Placeholder 2">
            <a:extLst>
              <a:ext uri="{FF2B5EF4-FFF2-40B4-BE49-F238E27FC236}">
                <a16:creationId xmlns:a16="http://schemas.microsoft.com/office/drawing/2014/main" id="{27F91F0F-86B8-0CC5-A2A3-348DC4271D71}"/>
              </a:ext>
            </a:extLst>
          </p:cNvPr>
          <p:cNvSpPr>
            <a:spLocks noGrp="1"/>
          </p:cNvSpPr>
          <p:nvPr>
            <p:ph idx="1"/>
          </p:nvPr>
        </p:nvSpPr>
        <p:spPr/>
        <p:txBody>
          <a:bodyPr/>
          <a:lstStyle/>
          <a:p>
            <a:r>
              <a:rPr lang="en-US" b="1" dirty="0" err="1"/>
              <a:t>model_deprecation_info_get</a:t>
            </a:r>
            <a:r>
              <a:rPr lang="en-US" b="1" dirty="0"/>
              <a:t> (read)</a:t>
            </a:r>
            <a:endParaRPr lang="en-US" dirty="0"/>
          </a:p>
          <a:p>
            <a:r>
              <a:rPr lang="en-US" dirty="0"/>
              <a:t>Get deployment info enriched with deprecation data.</a:t>
            </a:r>
          </a:p>
          <a:p>
            <a:r>
              <a:rPr lang="en-US" dirty="0"/>
              <a:t>Example prompts include:</a:t>
            </a:r>
          </a:p>
          <a:p>
            <a:r>
              <a:rPr lang="en-US" dirty="0"/>
              <a:t>"Check if my production deployment is using a deprecated model version."</a:t>
            </a:r>
          </a:p>
          <a:p>
            <a:r>
              <a:rPr lang="en-US" dirty="0"/>
              <a:t>"Get deprecation information for my legacy-chatbot deployment."</a:t>
            </a:r>
          </a:p>
          <a:p>
            <a:r>
              <a:rPr lang="en-US" dirty="0"/>
              <a:t>"Are any of my current deployments scheduled for retirement?"</a:t>
            </a:r>
          </a:p>
        </p:txBody>
      </p:sp>
    </p:spTree>
    <p:extLst>
      <p:ext uri="{BB962C8B-B14F-4D97-AF65-F5344CB8AC3E}">
        <p14:creationId xmlns:p14="http://schemas.microsoft.com/office/powerpoint/2010/main" val="42437932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1CC46-823E-1788-568D-3152A31851AE}"/>
              </a:ext>
            </a:extLst>
          </p:cNvPr>
          <p:cNvSpPr>
            <a:spLocks noGrp="1"/>
          </p:cNvSpPr>
          <p:nvPr>
            <p:ph type="title"/>
          </p:nvPr>
        </p:nvSpPr>
        <p:spPr/>
        <p:txBody>
          <a:bodyPr/>
          <a:lstStyle/>
          <a:p>
            <a:r>
              <a:rPr lang="en-US">
                <a:solidFill>
                  <a:srgbClr val="0C7ED6"/>
                </a:solidFill>
              </a:rPr>
              <a:t>Upgrade/switch models in Microsoft Foundry with Ask AI (preview)</a:t>
            </a:r>
          </a:p>
        </p:txBody>
      </p:sp>
      <p:pic>
        <p:nvPicPr>
          <p:cNvPr id="4" name="Picture 3" descr="Screenshot of Ask AI answering a question.">
            <a:extLst>
              <a:ext uri="{FF2B5EF4-FFF2-40B4-BE49-F238E27FC236}">
                <a16:creationId xmlns:a16="http://schemas.microsoft.com/office/drawing/2014/main" id="{46D564FF-05C0-93C3-BF27-0AF899946829}"/>
              </a:ext>
            </a:extLst>
          </p:cNvPr>
          <p:cNvPicPr>
            <a:picLocks noChangeAspect="1"/>
          </p:cNvPicPr>
          <p:nvPr/>
        </p:nvPicPr>
        <p:blipFill>
          <a:blip r:embed="rId3"/>
          <a:stretch>
            <a:fillRect/>
          </a:stretch>
        </p:blipFill>
        <p:spPr>
          <a:xfrm>
            <a:off x="1630016" y="1801248"/>
            <a:ext cx="8322365" cy="4375715"/>
          </a:xfrm>
          <a:prstGeom prst="rect">
            <a:avLst/>
          </a:prstGeom>
        </p:spPr>
      </p:pic>
    </p:spTree>
    <p:extLst>
      <p:ext uri="{BB962C8B-B14F-4D97-AF65-F5344CB8AC3E}">
        <p14:creationId xmlns:p14="http://schemas.microsoft.com/office/powerpoint/2010/main" val="29483735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B2161-377F-DDF0-3940-610624C3C73E}"/>
              </a:ext>
            </a:extLst>
          </p:cNvPr>
          <p:cNvSpPr>
            <a:spLocks noGrp="1"/>
          </p:cNvSpPr>
          <p:nvPr>
            <p:ph type="title"/>
          </p:nvPr>
        </p:nvSpPr>
        <p:spPr/>
        <p:txBody>
          <a:bodyPr/>
          <a:lstStyle/>
          <a:p>
            <a:r>
              <a:rPr lang="en-US">
                <a:solidFill>
                  <a:srgbClr val="0C7ED6"/>
                </a:solidFill>
              </a:rPr>
              <a:t>Upgrade/switch models in Microsoft Foundry with Ask AI (preview)</a:t>
            </a:r>
          </a:p>
        </p:txBody>
      </p:sp>
      <p:pic>
        <p:nvPicPr>
          <p:cNvPr id="4" name="Picture 3" descr="Screenshot of submit a new evaluation page with Ask AI showing a workflow and a creation wizard option.">
            <a:extLst>
              <a:ext uri="{FF2B5EF4-FFF2-40B4-BE49-F238E27FC236}">
                <a16:creationId xmlns:a16="http://schemas.microsoft.com/office/drawing/2014/main" id="{FFC96AB4-4E56-A33A-8673-22B7CD88637C}"/>
              </a:ext>
            </a:extLst>
          </p:cNvPr>
          <p:cNvPicPr>
            <a:picLocks noChangeAspect="1"/>
          </p:cNvPicPr>
          <p:nvPr/>
        </p:nvPicPr>
        <p:blipFill>
          <a:blip r:embed="rId2"/>
          <a:stretch>
            <a:fillRect/>
          </a:stretch>
        </p:blipFill>
        <p:spPr>
          <a:xfrm>
            <a:off x="2047461" y="1877972"/>
            <a:ext cx="8097078" cy="4246643"/>
          </a:xfrm>
          <a:prstGeom prst="rect">
            <a:avLst/>
          </a:prstGeom>
        </p:spPr>
      </p:pic>
    </p:spTree>
    <p:extLst>
      <p:ext uri="{BB962C8B-B14F-4D97-AF65-F5344CB8AC3E}">
        <p14:creationId xmlns:p14="http://schemas.microsoft.com/office/powerpoint/2010/main" val="41675160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661A0-7EA3-650E-B6E5-DC565D1690D6}"/>
              </a:ext>
            </a:extLst>
          </p:cNvPr>
          <p:cNvSpPr>
            <a:spLocks noGrp="1"/>
          </p:cNvSpPr>
          <p:nvPr>
            <p:ph type="title"/>
          </p:nvPr>
        </p:nvSpPr>
        <p:spPr/>
        <p:txBody>
          <a:bodyPr/>
          <a:lstStyle/>
          <a:p>
            <a:r>
              <a:rPr lang="en-US"/>
              <a:t>Preview Models</a:t>
            </a:r>
          </a:p>
        </p:txBody>
      </p:sp>
      <p:sp>
        <p:nvSpPr>
          <p:cNvPr id="3" name="Content Placeholder 2">
            <a:extLst>
              <a:ext uri="{FF2B5EF4-FFF2-40B4-BE49-F238E27FC236}">
                <a16:creationId xmlns:a16="http://schemas.microsoft.com/office/drawing/2014/main" id="{FDEA9466-7D73-C0AD-D31A-44B5A9041657}"/>
              </a:ext>
            </a:extLst>
          </p:cNvPr>
          <p:cNvSpPr>
            <a:spLocks noGrp="1"/>
          </p:cNvSpPr>
          <p:nvPr>
            <p:ph idx="1"/>
          </p:nvPr>
        </p:nvSpPr>
        <p:spPr/>
        <p:txBody>
          <a:bodyPr/>
          <a:lstStyle/>
          <a:p>
            <a:r>
              <a:rPr lang="en-US"/>
              <a:t>We don't recommend using preview models in production. We'll upgrade all deployments of preview models to either future preview versions or to the latest stable, generally available version. Models that are designated preview don't follow the standard Azure OpenAI model lifecycle.</a:t>
            </a:r>
          </a:p>
        </p:txBody>
      </p:sp>
    </p:spTree>
    <p:extLst>
      <p:ext uri="{BB962C8B-B14F-4D97-AF65-F5344CB8AC3E}">
        <p14:creationId xmlns:p14="http://schemas.microsoft.com/office/powerpoint/2010/main" val="19197228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5A839-E29D-6E10-855D-D23D08F47CC3}"/>
              </a:ext>
            </a:extLst>
          </p:cNvPr>
          <p:cNvSpPr>
            <a:spLocks noGrp="1"/>
          </p:cNvSpPr>
          <p:nvPr>
            <p:ph type="title"/>
          </p:nvPr>
        </p:nvSpPr>
        <p:spPr/>
        <p:txBody>
          <a:bodyPr/>
          <a:lstStyle/>
          <a:p>
            <a:r>
              <a:rPr lang="en-US"/>
              <a:t>Upgrading to reasoning model</a:t>
            </a:r>
          </a:p>
        </p:txBody>
      </p:sp>
      <p:sp>
        <p:nvSpPr>
          <p:cNvPr id="3" name="Content Placeholder 2">
            <a:extLst>
              <a:ext uri="{FF2B5EF4-FFF2-40B4-BE49-F238E27FC236}">
                <a16:creationId xmlns:a16="http://schemas.microsoft.com/office/drawing/2014/main" id="{258C1C45-832B-6A5F-BFEA-46034D4F10C8}"/>
              </a:ext>
            </a:extLst>
          </p:cNvPr>
          <p:cNvSpPr>
            <a:spLocks noGrp="1"/>
          </p:cNvSpPr>
          <p:nvPr>
            <p:ph idx="1"/>
          </p:nvPr>
        </p:nvSpPr>
        <p:spPr/>
        <p:txBody>
          <a:bodyPr/>
          <a:lstStyle/>
          <a:p>
            <a:r>
              <a:rPr lang="en-US"/>
              <a:t>If you upgrade from using gpt-5-chat (which is not a reasoning model) to gpt-5.1-chat make sure you remove any custom parameters like temperature from your code which are not supported by reasoning models.</a:t>
            </a:r>
          </a:p>
        </p:txBody>
      </p:sp>
    </p:spTree>
    <p:extLst>
      <p:ext uri="{BB962C8B-B14F-4D97-AF65-F5344CB8AC3E}">
        <p14:creationId xmlns:p14="http://schemas.microsoft.com/office/powerpoint/2010/main" val="27233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8B9BB-1EC5-3400-E04B-6038E6180C16}"/>
              </a:ext>
            </a:extLst>
          </p:cNvPr>
          <p:cNvSpPr>
            <a:spLocks noGrp="1"/>
          </p:cNvSpPr>
          <p:nvPr>
            <p:ph type="title"/>
          </p:nvPr>
        </p:nvSpPr>
        <p:spPr/>
        <p:txBody>
          <a:bodyPr/>
          <a:lstStyle/>
          <a:p>
            <a:r>
              <a:rPr lang="en-US"/>
              <a:t>Things to consider when upgrading model</a:t>
            </a:r>
          </a:p>
        </p:txBody>
      </p:sp>
      <p:graphicFrame>
        <p:nvGraphicFramePr>
          <p:cNvPr id="5" name="Content Placeholder 2">
            <a:extLst>
              <a:ext uri="{FF2B5EF4-FFF2-40B4-BE49-F238E27FC236}">
                <a16:creationId xmlns:a16="http://schemas.microsoft.com/office/drawing/2014/main" id="{7D64373E-72D6-0153-FB87-BE5D4584598C}"/>
              </a:ext>
            </a:extLst>
          </p:cNvPr>
          <p:cNvGraphicFramePr>
            <a:graphicFrameLocks noGrp="1"/>
          </p:cNvGraphicFramePr>
          <p:nvPr>
            <p:ph idx="1"/>
            <p:extLst>
              <p:ext uri="{D42A27DB-BD31-4B8C-83A1-F6EECF244321}">
                <p14:modId xmlns:p14="http://schemas.microsoft.com/office/powerpoint/2010/main" val="198438862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471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771180-A5C5-D68B-1BAD-F113AEFB0C3C}"/>
              </a:ext>
            </a:extLst>
          </p:cNvPr>
          <p:cNvSpPr>
            <a:spLocks noGrp="1"/>
          </p:cNvSpPr>
          <p:nvPr>
            <p:ph type="title"/>
          </p:nvPr>
        </p:nvSpPr>
        <p:spPr>
          <a:xfrm>
            <a:off x="585216" y="2918853"/>
            <a:ext cx="9144000" cy="615553"/>
          </a:xfrm>
        </p:spPr>
        <p:txBody>
          <a:bodyPr/>
          <a:lstStyle/>
          <a:p>
            <a:r>
              <a:rPr lang="en-US">
                <a:cs typeface="Segoe Sans Text"/>
              </a:rPr>
              <a:t> Resources</a:t>
            </a:r>
          </a:p>
        </p:txBody>
      </p:sp>
    </p:spTree>
    <p:extLst>
      <p:ext uri="{BB962C8B-B14F-4D97-AF65-F5344CB8AC3E}">
        <p14:creationId xmlns:p14="http://schemas.microsoft.com/office/powerpoint/2010/main" val="2498246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E9867-F83B-8783-A445-6F528A515B07}"/>
              </a:ext>
            </a:extLst>
          </p:cNvPr>
          <p:cNvSpPr>
            <a:spLocks noGrp="1"/>
          </p:cNvSpPr>
          <p:nvPr>
            <p:ph type="title"/>
          </p:nvPr>
        </p:nvSpPr>
        <p:spPr/>
        <p:txBody>
          <a:bodyPr/>
          <a:lstStyle/>
          <a:p>
            <a:r>
              <a:rPr lang="en-US"/>
              <a:t>Resources</a:t>
            </a:r>
          </a:p>
        </p:txBody>
      </p:sp>
      <p:sp>
        <p:nvSpPr>
          <p:cNvPr id="3" name="Content Placeholder 2">
            <a:extLst>
              <a:ext uri="{FF2B5EF4-FFF2-40B4-BE49-F238E27FC236}">
                <a16:creationId xmlns:a16="http://schemas.microsoft.com/office/drawing/2014/main" id="{A6F82CD4-53AD-AE07-4C7B-A5A5362CD62E}"/>
              </a:ext>
            </a:extLst>
          </p:cNvPr>
          <p:cNvSpPr>
            <a:spLocks noGrp="1"/>
          </p:cNvSpPr>
          <p:nvPr>
            <p:ph idx="1"/>
          </p:nvPr>
        </p:nvSpPr>
        <p:spPr/>
        <p:txBody>
          <a:bodyPr vert="horz" lIns="91440" tIns="45720" rIns="91440" bIns="45720" rtlCol="0" anchor="t">
            <a:normAutofit fontScale="92500" lnSpcReduction="20000"/>
          </a:bodyPr>
          <a:lstStyle/>
          <a:p>
            <a:pPr lvl="1"/>
            <a:r>
              <a:rPr lang="en-US" u="sng">
                <a:hlinkClick r:id="rId2"/>
              </a:rPr>
              <a:t>Deprecation for Foundry Models - Microsoft Foundry | Microsoft Learn</a:t>
            </a:r>
            <a:endParaRPr lang="en-US"/>
          </a:p>
          <a:p>
            <a:pPr lvl="1"/>
            <a:r>
              <a:rPr lang="en-US" u="sng">
                <a:hlinkClick r:id="rId3"/>
              </a:rPr>
              <a:t>Model versions in Microsoft Foundry Models - Microsoft Foundry | Microsoft Learn</a:t>
            </a:r>
            <a:endParaRPr lang="en-US"/>
          </a:p>
          <a:p>
            <a:pPr lvl="1"/>
            <a:r>
              <a:rPr lang="en-US" u="sng">
                <a:hlinkClick r:id="rId4"/>
              </a:rPr>
              <a:t>Upgrade/Switch Models in Microsoft Foundry with Ask AI - Microsoft Foundry | Microsoft Learn</a:t>
            </a:r>
            <a:endParaRPr lang="en-US"/>
          </a:p>
          <a:p>
            <a:pPr lvl="1"/>
            <a:r>
              <a:rPr lang="en-US" u="sng">
                <a:hlinkClick r:id="rId5"/>
              </a:rPr>
              <a:t>Explore available tools and example prompts for Foundry MCP Server (preview) for Model monitoring and operations</a:t>
            </a:r>
            <a:endParaRPr lang="en-US"/>
          </a:p>
          <a:p>
            <a:pPr lvl="1"/>
            <a:r>
              <a:rPr lang="en-US" u="sng">
                <a:hlinkClick r:id="rId6"/>
              </a:rPr>
              <a:t>Azure OpenAI in Microsoft Foundry Models retired models - Azure OpenAI | Microsoft Learn</a:t>
            </a:r>
            <a:endParaRPr lang="en-US"/>
          </a:p>
          <a:p>
            <a:pPr lvl="1"/>
            <a:r>
              <a:rPr lang="en-US" u="sng">
                <a:hlinkClick r:id="rId7"/>
              </a:rPr>
              <a:t>Azure OpenAI in Microsoft Foundry Model Retirements - Azure OpenAI | Microsoft Learn</a:t>
            </a:r>
            <a:endParaRPr lang="en-US"/>
          </a:p>
          <a:p>
            <a:pPr lvl="1"/>
            <a:r>
              <a:rPr lang="en-US" u="sng">
                <a:hlinkClick r:id="rId8"/>
              </a:rPr>
              <a:t>Azure OpenAI in Microsoft Foundry Models model versions - Azure OpenAI | Microsoft Learn</a:t>
            </a:r>
            <a:endParaRPr lang="en-US" u="sng"/>
          </a:p>
          <a:p>
            <a:pPr lvl="1"/>
            <a:r>
              <a:rPr lang="en-US" u="sng">
                <a:hlinkClick r:id="rId9"/>
              </a:rPr>
              <a:t>Azure OpenAI in Microsoft Foundry Models working with models - Azure OpenAI | Microsoft Learn</a:t>
            </a:r>
            <a:endParaRPr lang="en-US"/>
          </a:p>
          <a:p>
            <a:endParaRPr lang="en-US"/>
          </a:p>
          <a:p>
            <a:endParaRPr lang="en-US"/>
          </a:p>
        </p:txBody>
      </p:sp>
    </p:spTree>
    <p:extLst>
      <p:ext uri="{BB962C8B-B14F-4D97-AF65-F5344CB8AC3E}">
        <p14:creationId xmlns:p14="http://schemas.microsoft.com/office/powerpoint/2010/main" val="36863981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3785A4-C5D2-1CA7-1CE1-75B253409B45}"/>
              </a:ext>
            </a:extLst>
          </p:cNvPr>
          <p:cNvSpPr>
            <a:spLocks noGrp="1"/>
          </p:cNvSpPr>
          <p:nvPr>
            <p:ph type="title"/>
          </p:nvPr>
        </p:nvSpPr>
        <p:spPr>
          <a:xfrm>
            <a:off x="585216" y="2918853"/>
            <a:ext cx="9144000" cy="615553"/>
          </a:xfrm>
        </p:spPr>
        <p:txBody>
          <a:bodyPr/>
          <a:lstStyle/>
          <a:p>
            <a:r>
              <a:rPr lang="en-US"/>
              <a:t>Q&amp;A</a:t>
            </a:r>
          </a:p>
        </p:txBody>
      </p:sp>
    </p:spTree>
    <p:extLst>
      <p:ext uri="{BB962C8B-B14F-4D97-AF65-F5344CB8AC3E}">
        <p14:creationId xmlns:p14="http://schemas.microsoft.com/office/powerpoint/2010/main" val="4180158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FA8C8-0B1B-909A-E27A-518167FDDE68}"/>
              </a:ext>
            </a:extLst>
          </p:cNvPr>
          <p:cNvSpPr>
            <a:spLocks noGrp="1"/>
          </p:cNvSpPr>
          <p:nvPr>
            <p:ph type="title"/>
          </p:nvPr>
        </p:nvSpPr>
        <p:spPr>
          <a:xfrm>
            <a:off x="585216" y="2918853"/>
            <a:ext cx="9144000" cy="615553"/>
          </a:xfrm>
        </p:spPr>
        <p:txBody>
          <a:bodyPr/>
          <a:lstStyle/>
          <a:p>
            <a:r>
              <a:rPr lang="en-US"/>
              <a:t>Thank you</a:t>
            </a:r>
          </a:p>
        </p:txBody>
      </p:sp>
    </p:spTree>
    <p:extLst>
      <p:ext uri="{BB962C8B-B14F-4D97-AF65-F5344CB8AC3E}">
        <p14:creationId xmlns:p14="http://schemas.microsoft.com/office/powerpoint/2010/main" val="41775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IO_GUID" val="55a10cb0-526b-427f-b329-564b9d813585"/>
  <p:tag name="MIO_EKGUID" val="16198fbd-a8ef-4b10-90b5-600ff933c912"/>
  <p:tag name="MIO_UPDATE" val="True"/>
  <p:tag name="MIO_VERSION" val="30.03.2020 15:44:05"/>
  <p:tag name="MIO_DBID" val="12b0c59e-2253-4124-a5e9-470adf4cb168"/>
  <p:tag name="MIO_LASTDOWNLOADED" val="30.03.2020 15:44:51"/>
  <p:tag name="MIO_OBJECTNAME" val="Disclaimer"/>
  <p:tag name="MIO_LASTEDITORNAME" val="Devid Treuling"/>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AzureTemplate_2023_v09" id="{84C66EF3-53A2-9A4F-A8C8-B123E5EB98BF}" vid="{4F8F454D-D741-BE40-A1B6-EA401B48B1B9}"/>
    </a:ext>
  </a:extLst>
</a:theme>
</file>

<file path=ppt/theme/theme3.xml><?xml version="1.0" encoding="utf-8"?>
<a:theme xmlns:a="http://schemas.openxmlformats.org/drawingml/2006/main" name="1_Azure 2025 Template - LIGHT MOD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Azure PowerPoint Template - V4" id="{3B5CF8C7-8945-A342-BD6C-1080D81862B6}" vid="{8AAC9D8C-28CC-DC4B-8D5D-EC6191E4BD50}"/>
    </a:ext>
  </a:extLst>
</a:theme>
</file>

<file path=ppt/theme/theme4.xml><?xml version="1.0" encoding="utf-8"?>
<a:theme xmlns:a="http://schemas.openxmlformats.org/drawingml/2006/main" name="Azure 2025 Template - LIGHT MOD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Azure PowerPoint Template - V4" id="{3B5CF8C7-8945-A342-BD6C-1080D81862B6}" vid="{8AAC9D8C-28CC-DC4B-8D5D-EC6191E4BD50}"/>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a29421e1-74d8-4915-bb0d-c72892872ba0">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7" ma:contentTypeDescription="Create a new document." ma:contentTypeScope="" ma:versionID="4007c90499865d2939d15fb1a3d99b47">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5ef61196aa973a44edeb854a6b2e1910"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element name="HasDigitalSignature" ma:index="23" nillable="true" ma:displayName="Signed electronically" ma:internalName="HasDigitalSignature" ma:readOnly="true">
      <xsd:simpleType>
        <xsd:restriction base="dms:Boolean"/>
      </xsd:simpleType>
    </xsd:element>
    <xsd:element name="DigitalSignatureProvider" ma:index="24"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0DBC135-AC5C-4929-A84B-4B432D14D757}">
  <ds:schemaRefs>
    <ds:schemaRef ds:uri="http://schemas.microsoft.com/office/2006/metadata/properties"/>
    <ds:schemaRef ds:uri="http://schemas.microsoft.com/office/infopath/2007/PartnerControls"/>
    <ds:schemaRef ds:uri="http://schemas.microsoft.com/sharepoint/v3"/>
    <ds:schemaRef ds:uri="fe7a4c3d-94ce-45db-961b-252eaa2a0914"/>
    <ds:schemaRef ds:uri="230e9df3-be65-4c73-a93b-d1236ebd677e"/>
  </ds:schemaRefs>
</ds:datastoreItem>
</file>

<file path=customXml/itemProps2.xml><?xml version="1.0" encoding="utf-8"?>
<ds:datastoreItem xmlns:ds="http://schemas.openxmlformats.org/officeDocument/2006/customXml" ds:itemID="{DB166540-39BB-4F54-B559-CC4259FB1152}"/>
</file>

<file path=customXml/itemProps3.xml><?xml version="1.0" encoding="utf-8"?>
<ds:datastoreItem xmlns:ds="http://schemas.openxmlformats.org/officeDocument/2006/customXml" ds:itemID="{CC6ACE0F-56EF-4899-BEC4-D3761470D89D}">
  <ds:schemaRefs>
    <ds:schemaRef ds:uri="http://schemas.microsoft.com/sharepoint/v3/contenttype/forms"/>
  </ds:schemaRefs>
</ds:datastoreItem>
</file>

<file path=docMetadata/LabelInfo.xml><?xml version="1.0" encoding="utf-8"?>
<clbl:labelList xmlns:clbl="http://schemas.microsoft.com/office/2020/mipLabelMetadata">
  <clbl:label id="{1a19d03a-48bc-4359-8038-5b5f6d5847c3}"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1582</TotalTime>
  <Words>5927</Words>
  <Application>Microsoft Office PowerPoint</Application>
  <PresentationFormat>Widescreen</PresentationFormat>
  <Paragraphs>857</Paragraphs>
  <Slides>58</Slides>
  <Notes>26</Notes>
  <HiddenSlides>10</HiddenSlides>
  <MMClips>0</MMClips>
  <ScaleCrop>false</ScaleCrop>
  <HeadingPairs>
    <vt:vector size="4" baseType="variant">
      <vt:variant>
        <vt:lpstr>Theme</vt:lpstr>
      </vt:variant>
      <vt:variant>
        <vt:i4>4</vt:i4>
      </vt:variant>
      <vt:variant>
        <vt:lpstr>Slide Titles</vt:lpstr>
      </vt:variant>
      <vt:variant>
        <vt:i4>58</vt:i4>
      </vt:variant>
    </vt:vector>
  </HeadingPairs>
  <TitlesOfParts>
    <vt:vector size="62" baseType="lpstr">
      <vt:lpstr>Office Theme</vt:lpstr>
      <vt:lpstr>Azure 2023 Template</vt:lpstr>
      <vt:lpstr>1_Azure 2025 Template - LIGHT MODE</vt:lpstr>
      <vt:lpstr>Azure 2025 Template - LIGHT MODE</vt:lpstr>
      <vt:lpstr>Solution Optimization for Microsoft Foundry Lifecycle </vt:lpstr>
      <vt:lpstr>Conditions and terms of use</vt:lpstr>
      <vt:lpstr>Agenda</vt:lpstr>
      <vt:lpstr>PowerPoint Presentation</vt:lpstr>
      <vt:lpstr>Microsoft Foundry Models</vt:lpstr>
      <vt:lpstr>Microsoft Foundry Models Offering 11,000+ frontier and open models</vt:lpstr>
      <vt:lpstr>PowerPoint Presentation</vt:lpstr>
      <vt:lpstr>Models Direct from Azure</vt:lpstr>
      <vt:lpstr>Deployment Types</vt:lpstr>
      <vt:lpstr>Choosing the best offer type</vt:lpstr>
      <vt:lpstr>Choosing the best deployment location </vt:lpstr>
      <vt:lpstr>PowerPoint Presentation</vt:lpstr>
      <vt:lpstr>Models from Partner and Community  </vt:lpstr>
      <vt:lpstr>Models from Partner and Community</vt:lpstr>
      <vt:lpstr>Model selection simplified  Use the best model throughout model lifecycle</vt:lpstr>
      <vt:lpstr>Model Life Cycle Guidance</vt:lpstr>
      <vt:lpstr>Model lifecycle stages</vt:lpstr>
      <vt:lpstr>Model availability of Azure OpenAI Models</vt:lpstr>
      <vt:lpstr>Terminology Specific to Azure OpenAI Models</vt:lpstr>
      <vt:lpstr>Notifications for Foundry Models</vt:lpstr>
      <vt:lpstr>Notifications for Azure OpenAI in Foundry Models</vt:lpstr>
      <vt:lpstr>Notifications of upcoming retirements</vt:lpstr>
      <vt:lpstr>Model version Notification</vt:lpstr>
      <vt:lpstr>PowerPoint Presentation</vt:lpstr>
      <vt:lpstr>Considerations for Azure public cloud</vt:lpstr>
      <vt:lpstr>Considerations for Azure public cloud</vt:lpstr>
      <vt:lpstr>Special considerations for Azure Government clouds</vt:lpstr>
      <vt:lpstr>Special considerations for Azure Government clouds</vt:lpstr>
      <vt:lpstr>Preparation for model retirements and version upgrades</vt:lpstr>
      <vt:lpstr>Considerations for Fine Tuned Models</vt:lpstr>
      <vt:lpstr>Upcoming Azure OpenAI Model Deprecations &amp; Retirements</vt:lpstr>
      <vt:lpstr>Upcoming Foundry Model Deprecations &amp; Retirements</vt:lpstr>
      <vt:lpstr>Upcoming Deprecations &amp; Retirements in US Gov cloud</vt:lpstr>
      <vt:lpstr>Upcoming Deprecations &amp; Retirements for Fine Tuned Models</vt:lpstr>
      <vt:lpstr>Standard Model Upgrades</vt:lpstr>
      <vt:lpstr>Model updates</vt:lpstr>
      <vt:lpstr>Model updates</vt:lpstr>
      <vt:lpstr>Auto update to default</vt:lpstr>
      <vt:lpstr>Specific model version</vt:lpstr>
      <vt:lpstr>Model deployment upgrade configuration</vt:lpstr>
      <vt:lpstr>Provisioned Model Migration</vt:lpstr>
      <vt:lpstr>Managing models on provisioned deployment types</vt:lpstr>
      <vt:lpstr>Prerequisites</vt:lpstr>
      <vt:lpstr>In-place migrations for provisioned deployments</vt:lpstr>
      <vt:lpstr>In-place migrations for provisioned deployments</vt:lpstr>
      <vt:lpstr>In-place migration: model version update</vt:lpstr>
      <vt:lpstr>In-place migration: model family change</vt:lpstr>
      <vt:lpstr>Multi-deployment migrations for provisioned deployments</vt:lpstr>
      <vt:lpstr>Available tools and example prompts for Foundry MCP Server (preview)</vt:lpstr>
      <vt:lpstr>Upgrade/switch models in Microsoft Foundry with Ask AI (preview)</vt:lpstr>
      <vt:lpstr>Upgrade/switch models in Microsoft Foundry with Ask AI (preview)</vt:lpstr>
      <vt:lpstr>Preview Models</vt:lpstr>
      <vt:lpstr>Upgrading to reasoning model</vt:lpstr>
      <vt:lpstr>Things to consider when upgrading model</vt:lpstr>
      <vt:lpstr> Resources</vt:lpstr>
      <vt:lpstr>Resources</vt:lpstr>
      <vt:lpstr>Q&amp;A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Bilal Amjad</dc:creator>
  <cp:lastModifiedBy>Bilal Amjad</cp:lastModifiedBy>
  <cp:revision>16</cp:revision>
  <dcterms:created xsi:type="dcterms:W3CDTF">2026-01-23T07:51:09Z</dcterms:created>
  <dcterms:modified xsi:type="dcterms:W3CDTF">2026-08-07T14:26:52Z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Theme:8\Azure 2023 Template:6\1_Azure 2025 Template - LIGHT MODE:6\Azure 2025 Template - LIGHT MODE:6</vt:lpwstr>
  </property>
  <property fmtid="{D5CDD505-2E9C-101B-9397-08002B2CF9AE}" pid="3" name="ClassificationContentMarkingFooterText">
    <vt:lpwstr>Classified as Microsoft Confidential</vt:lpwstr>
  </property>
  <property fmtid="{D5CDD505-2E9C-101B-9397-08002B2CF9AE}" pid="4" name="ContentTypeId">
    <vt:lpwstr>0x0101001BD4B4487B57D443AED9979943B92646</vt:lpwstr>
  </property>
  <property fmtid="{D5CDD505-2E9C-101B-9397-08002B2CF9AE}" pid="5" name="MediaServiceImageTags">
    <vt:lpwstr/>
  </property>
  <property fmtid="{D5CDD505-2E9C-101B-9397-08002B2CF9AE}" pid="6" name="Order">
    <vt:lpwstr>26715600.0000000</vt:lpwstr>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lpwstr/>
  </property>
</Properties>
</file>